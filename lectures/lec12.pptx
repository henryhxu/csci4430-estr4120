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ink/ink1.xml" ContentType="application/inkml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ink/ink2.xml" ContentType="application/inkml+xml"/>
  <Override PartName="/ppt/notesSlides/notesSlide23.xml" ContentType="application/vnd.openxmlformats-officedocument.presentationml.notesSlide+xml"/>
  <Override PartName="/ppt/ink/ink3.xml" ContentType="application/inkml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722" r:id="rId1"/>
  </p:sldMasterIdLst>
  <p:notesMasterIdLst>
    <p:notesMasterId r:id="rId47"/>
  </p:notesMasterIdLst>
  <p:handoutMasterIdLst>
    <p:handoutMasterId r:id="rId48"/>
  </p:handoutMasterIdLst>
  <p:sldIdLst>
    <p:sldId id="638" r:id="rId2"/>
    <p:sldId id="487" r:id="rId3"/>
    <p:sldId id="514" r:id="rId4"/>
    <p:sldId id="515" r:id="rId5"/>
    <p:sldId id="516" r:id="rId6"/>
    <p:sldId id="517" r:id="rId7"/>
    <p:sldId id="519" r:id="rId8"/>
    <p:sldId id="520" r:id="rId9"/>
    <p:sldId id="521" r:id="rId10"/>
    <p:sldId id="518" r:id="rId11"/>
    <p:sldId id="523" r:id="rId12"/>
    <p:sldId id="524" r:id="rId13"/>
    <p:sldId id="522" r:id="rId14"/>
    <p:sldId id="526" r:id="rId15"/>
    <p:sldId id="531" r:id="rId16"/>
    <p:sldId id="530" r:id="rId17"/>
    <p:sldId id="533" r:id="rId18"/>
    <p:sldId id="534" r:id="rId19"/>
    <p:sldId id="535" r:id="rId20"/>
    <p:sldId id="536" r:id="rId21"/>
    <p:sldId id="539" r:id="rId22"/>
    <p:sldId id="540" r:id="rId23"/>
    <p:sldId id="541" r:id="rId24"/>
    <p:sldId id="542" r:id="rId25"/>
    <p:sldId id="543" r:id="rId26"/>
    <p:sldId id="544" r:id="rId27"/>
    <p:sldId id="545" r:id="rId28"/>
    <p:sldId id="554" r:id="rId29"/>
    <p:sldId id="555" r:id="rId30"/>
    <p:sldId id="556" r:id="rId31"/>
    <p:sldId id="557" r:id="rId32"/>
    <p:sldId id="558" r:id="rId33"/>
    <p:sldId id="537" r:id="rId34"/>
    <p:sldId id="546" r:id="rId35"/>
    <p:sldId id="547" r:id="rId36"/>
    <p:sldId id="548" r:id="rId37"/>
    <p:sldId id="549" r:id="rId38"/>
    <p:sldId id="550" r:id="rId39"/>
    <p:sldId id="551" r:id="rId40"/>
    <p:sldId id="552" r:id="rId41"/>
    <p:sldId id="553" r:id="rId42"/>
    <p:sldId id="538" r:id="rId43"/>
    <p:sldId id="527" r:id="rId44"/>
    <p:sldId id="528" r:id="rId45"/>
    <p:sldId id="512" r:id="rId46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9900"/>
    <a:srgbClr val="009900"/>
    <a:srgbClr val="D60093"/>
    <a:srgbClr val="333399"/>
    <a:srgbClr val="D3A600"/>
    <a:srgbClr val="FFCB05"/>
    <a:srgbClr val="00274C"/>
    <a:srgbClr val="FF3300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365"/>
    <p:restoredTop sz="96327"/>
  </p:normalViewPr>
  <p:slideViewPr>
    <p:cSldViewPr>
      <p:cViewPr varScale="1">
        <p:scale>
          <a:sx n="127" d="100"/>
          <a:sy n="127" d="100"/>
        </p:scale>
        <p:origin x="896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2" d="100"/>
          <a:sy n="82" d="100"/>
        </p:scale>
        <p:origin x="-1914" y="-9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/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/>
            </a:lvl1pPr>
          </a:lstStyle>
          <a:p>
            <a:endParaRPr lang="en-US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/>
            </a:lvl1pPr>
          </a:lstStyle>
          <a:p>
            <a:endParaRPr 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/>
            </a:lvl1pPr>
          </a:lstStyle>
          <a:p>
            <a:fld id="{B29687F7-08B4-A54B-BC56-F290ADA497A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8747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9T02:31:17.505"/>
    </inkml:context>
    <inkml:brush xml:id="br0">
      <inkml:brushProperty name="height" value="0.053" units="cm"/>
      <inkml:brushProperty name="color" value="#FF0000"/>
    </inkml:brush>
  </inkml:definitions>
  <inkml:trace contextRef="#ctx0" brushRef="#br0">19377 7720 7190,'0'-17'-596,"0"-1"1,0 7 1337,0-1 0,-8 9 1,-3-5-277,-4 0 0,-3 6 0,1-3 0,-2 3-225,-4 2 1,4 0 0,-6 2 0,2 3-93,0 7 1,-7 5 0,1 4 0,-4 4 167,-1 2 0,0 1-159,-1 7 1,6 1 0,1 2 0,-3 4 76,-1 2 1,3 2-158,0 6 1,8 7-104,-2 4 0,2 4 14,-2 1 1,4 7-143,-4-1 1,4 9 323,2-3 0,0 4-70,0 2 0,-1-2 5,1-4 0,6-1-32,-1-5 1,1-1 21,-6 7 1,5-8-14,1 3 1,5-10-1,-6 0 1,-1 4-41,-2 3 1,3-3 63,1-6 1,1-6 36,-1 6 1,-3 0-86,9 6 1,-1-8-3,6-3 1,0 1 1,0-2 0,0 2-109,0-1 0,0-7 183,0 1 1,0-1 128,0-5 0,0 4 11,0 2 1,0-9 126,0-2 1,2-5-170,4-2 0,-3-1 53,9-5 0,-1-3-158,6-8 1,6-1-161,0-5 0,8 3 120,-2-9 0,5 1-86,6-6 0,-2 0 35,8 0 1,2-6-128,10 1 1,-5-9 42,4 3 1,-3 1-78,-2-1 0,1 1 24,4-1 0,-5-5-142,0 5 1,-1-4 79,-5-3 1,6-4-1,3-3 1,1 0-123,-7 0 1,3 0 164,-6 2 1,6 2-49,5-7 1,-5 5 32,-1-6 0,-1 6 39,-10-6 0,6 3-20,-6-3 1,2-3 164,-2 3 1,-3-4-19,3-1 1,-4-6 112,-1 0 0,-1-8 137,0 2 0,7-3-114,-1-3 1,6-7-23,-6-4 1,0-4-299,-6-2 1,-1-7 193,-4-5 1,3-8-63,-3-3 0,-16 42 0,-1-1-90,-1-1 1,1 1 0,-2-4 0,-1-1-193,0-4 0,-1-1 1,-2-4-1,-1-1 78,2 0 0,-2 0 1,-4-1-1,0 0-183,-1 4 1,0 0 0,-4 2 0,-2 0 253,-4-2 1,-3 0 0,-3 0 0,-4 1 315,-5 4 1,-2 2-1,1 1 1,-3 3-111,-4 8 0,-3 2 0,0-1 1,-3 2 107,-5-1 1,-3 4 0,-6 2-1,-1 5-99,-3 3 0,-1 4 1,-4 7-1,0 5 313,1 5 1,1 3-1,-3 2 1,0 2 0,-3 2 1,0 2-1,3 2 1,2 3 79,5 1 1,3 3-1,-39 18-530,23-3 1,10 5 175,13 1 0,8 8-1134,15 4 1,7-4 477,16-2 1,12-4-4531,11-1 5086,19-1 0,13 2 0,8-3 0,2-6 0,2-2 0</inkml:trace>
  <inkml:trace contextRef="#ctx0" brushRef="#br0" timeOffset="1">20805 8012 7955,'-17'8'148,"0"-6"1,0 5 0,-2-1 351,-4 0 0,3 1 1,-4-3-1,1 2 573,0-2 1,6-1 129,5 3 0,10-6-531,2 0 1,21-9 0,17-14-1,10-6-270,11-3 0,6-5-872,4-3 1,2 2 167,4-8 0,1 2-1196,4-2 1,3 2 301,-9 4 0,1 4-764,-6-4 0,-10 11 401,-7 6 1559,-16 4 0,-19 2 0,-9 0 0</inkml:trace>
  <inkml:trace contextRef="#ctx0" brushRef="#br0" timeOffset="2">21494 7273 7955,'-27'0'0,"-6"0"1316,5 0 1,3 0-591,2 0 1,4 0 1895,2 0-1759,7 0 0,4 0 0,14 0 463,9 0 0,14 0-527,9 0 0,13 0-329,-1 0 0,3 7-209,-3 5 0,2 3-427,3 2 1,-3 0 180,3 1 0,-5 1-85,-7 4 1,-3-2 168,-7 7 1,-3-5-446,-3 6 0,-12-6-47,-11 6 1,-6-7-142,-6 7 1,-9-8-814,-8 2 0,-13-2 606,1 2 1,-5-4-1098,0 4 1,-2-4 929,-4-2 0,4 0 908,8 1 0,-1-1 0,1 0 0</inkml:trace>
  <inkml:trace contextRef="#ctx0" brushRef="#br0" timeOffset="3">22595 7462 7955,'10'-27'-525,"-3"-3"1,-7 7 0,-2 2 1297,-3 1 1,-7 3 0,-9 0 0,-4 0-65,-2 0 1,4 7 0,-5 4-1,-3 5-68,-1 1 0,5 1 1,2 5-1,2 6-327,0 3 1,0 10 0,8 1 0,2 3 35,1 0 1,8-1-215,-1 7 1,-3-3 85,2-3 0,0 2-22,6-9 0,6 1-47,0-5 1,7-7-226,-1 0 0,9-7-159,2 2 1,9-14 190,3-9 1,1-8-530,10-9 1,-6-8 287,6-4 0,0-5-612,5-7 1,-5-3 431,0-8 0,-8-5-216,3-1 0,-13 1 209,-5 5 1,-4 2 282,-1 4 1,-9 6 343,-3 11 0,-4-2-219,-2 8 1,-2 8 1001,-4 9 1,2 11-94,-7 6 736,7 5 1,-9 2-655,7 5 1,-2 13 410,2 16 0,3 7-685,-9 9 0,1 7 237,-7-1 1,7 8-378,0-2 1,5 4-224,-6 2 0,9-1-424,-3 1 0,-2-6 176,2 0 0,1-5-417,5 5 1,0-10 299,0-1 1,0-8-608,0-10 1,5-7 134,1-4 1,2-12 19,-2-5 1,-3-4-163,9-2 394,-8 0 0,9-8 253,-7-3 0,7-5-116,-1-1 0,1-6 134,-2 0 1,3-5-37,-8 5 0,5 0 0,-5 6 0,5-3-155,-5-2 1,7 2-200,-1-2 1,-3-3 174,3 2 1,-6-6 6,5 6 1,-1-2 266,1 2 0,4 4-103,-3-4 1,-3 10 54,3 2-52,-8 7 387,11-4 1,-13 16-37,4 3 0,1 6 101,-1 6 0,0 10-5,-6 7 0,-6 8-90,0-2 0,-5 1-334,5-1 1,-5 2 126,5-8 0,0 0-756,6-5 0,0-9 63,0-3-27,0-11 1,2-7-148,4-10 1,5-13-402,12-10 1,-4-12 311,4-6 1,-4-6-311,-1-5 1,-3-4-951,-4-8 1852,-3 0 0,-8-7 0,0-2 0</inkml:trace>
  <inkml:trace contextRef="#ctx0" brushRef="#br0" timeOffset="4">23060 6998 7955,'-18'0'682,"1"0"1013,0 0 838,7 0-1183,3 0-1294,7 0 11,0 0 1,7 0-740,5 0 1,9-6-430,2 0 1,6 0 718,-6 6 0,7 0-252,-1 0 0,3 0 634,3 0 0,-1 0 0,1 0 0</inkml:trace>
  <inkml:trace contextRef="#ctx0" brushRef="#br0" timeOffset="5">23593 7101 7955,'-17'-8'650,"7"4"-455,5-7 0,-3 5 529,2-5 1,0 5 250,6-6-852,0 1 0,0-6-92,0 0 1,0 5-405,0 1-149,0 7 0,0-6 48,0 5 249,0 3 0,-5-4 91,-1 12 0,-5 3 514,5 8 0,-8 1 144,3-1 1,-4 6 400,-3 0 0,1 5-147,0-5 0,0 8 378,0-3 0,-4-1 128,3 2 0,-3-2-603,10 1 0,-3 3-134,3-8 0,3 5-103,8-5 0,0 0 388,0-6-692,8 1 1,2-7-124,7 1 1,6-9-62,0 3 0,0-4 114,-6-2 1,0 6-345,0-1 0,6 1 176,0-6 0,0 6-734,-6 0 1,0 1 389,1-1 0,-1-2-267,0 7 0,-2-5 20,-3 6 1,1-7-166,-7 7 1,0-7 307,-6 7 0,0-6-27,0 5 1,-2-7-33,-4 2 1,-3 1 148,-9-1 0,1 5-101,0-5 1,-6 2 133,0-2 0,-6 1 145,6 5 1,-5 3 55,5-4 0,0-3-76,6-2-71,-1 3 343,9-7 1,9-4-256,11-15 0,12-8 42,6-9 0,11-2-102,6-4 0,-2-4 223,2-8 1,-6 0 87,6 1 1,0-3 41,5-3 0,-5 4-149,0-5 0,-8 5 1016,3 1 0,-7 10-456,-5 8 0,-10 9 3306,-8 13-2718,-7 5 0,4 16 506,-8 9 1,-8 12-740,-3 10 1,-5 14-119,-1-3 1,-2 10-339,-4-3 1,4 7-223,-4-2 1,-2 4-274,2 1 0,2-6 191,10-5 0,-3-11-940,9-6 1,-1-10-37,6-1-2530,0-8 2502,0-4 0,0-19-291,0-15 1,7-4 348,5-13 0,-3 1-598,3-13 1526,-8 1 0,3-7 0,-7 0 0</inkml:trace>
  <inkml:trace contextRef="#ctx0" brushRef="#br0" timeOffset="6">23782 7204 7955,'-19'0'547,"-4"0"1,4 0 764,-4 0 1,4 0 1023,2 0-77,0 0-1986,0 8 0,9-1-415,8 5 1,15 3-993,14-4 1,5-3 771,6-2 1,4-4-550,8-2 0,0 2 621,-1 3 1,1-3-1458,0 4 1,-3-4 1746,-3-2 0,4 0 0,-6 0 0</inkml:trace>
  <inkml:trace contextRef="#ctx0" brushRef="#br0" timeOffset="7">24385 7359 7955,'9'7'0,"7"-5"-694,-5 4 0,-3-2 788,-3 1 716,5-3 1,-8 4-113,4-12 0,-4-3-257,-2-8 1,0-1-43,0 1 1,-6 0-137,0 0 0,-7 5 89,1 1 1,1 0-117,-6-7 0,3 9 251,-9 3 1,2 4-93,-2 2 1,2 0 403,-8 0 0,7 8-295,-7 3 0,8 5-198,-2 1 0,-2 8 380,2 3 0,6-1-5,5 2 0,7-1-427,-7 7 1,8-3-33,-1-3 0,5-2-277,5-5 0,5-4-49,7-1 0,0-2-95,1-9 1,5 0 100,-1-6 1,1 0-441,-5 0 233,-1 0 1,0-6-584,0 0 299,-7-7 1,3 9 198,-7-8 0,2 3-1186,-3-3 1006,-3-3 1,6 6 78,-8-9 0,6 7 275,-1-1 343,1 1 1,0-6 113,0 0 1,-1 5-254,-5 1 1,0 5 712,0-5 1,2 7 52,4-2-460,-4 4 1,7 2 73,-3 0 1,-2 2-849,7 4 0,-5 3 303,6 8 0,-7 1-899,7-1 1,-3 2-40,3 4 1,1-4 503,-7 4 1,5-4-718,-5-2 518,8 0 195,-5 1 1,3-9 186,-1-3 0,-5-4 428,5-2 0,-7-8 0,4-1 0</inkml:trace>
  <inkml:trace contextRef="#ctx0" brushRef="#br0" timeOffset="8">24626 7410 8701,'0'10'5225,"-2"-1"-3568,-4-3-746,4-4-643,-13 13 0,11-5-344,-8 7 1,9-6 173,-3 1-77,-4-1 0,7 7-96,-9-1 1,8-6-162,-2 1 1,3-7-659,-3 7 1,4-6-217,-4 5 276,4-7 1,4 4 310,4-8 0,2-2 366,3-4 0,4-2-31,-3-3 0,1-4 609,-1 3 1,3-3-140,-3-2 0,-3-1 139,3 1 1,-9 6 1408,3-1-894,4 1 1,-6-4 685,7 3-674,-7-3-1231,11 13 305,-13-6 1,8 8-584,-5 0 1,-3 8-227,4 3 0,-4 5 426,-2 1 1,6 2-1257,-1 4 181,9-4 1,-5 6-1193,8-8 1982,1 0 1,-1-7 331,0-5 1,0-3 313,1-2 0,-1 0 0,0 0 0,0-2 0,0-3 0,1-5 0,-1-15 0,0-1 0</inkml:trace>
  <inkml:trace contextRef="#ctx0" brushRef="#br0" timeOffset="9">24953 7427 7955,'-12'0'-1232,"1"0"2129,-1 0 0,1 0-185,-1 0 1,6 0 1227,-5 0-623,7 0 0,-5 2-625,3 4 1,4-2 60,-4 7 1,4 1-298,2 5 0,-5 6 113,-1 0 0,0 7-162,6-1 1,0 4-371,0 1 1,6-2-155,0-3 0,7 2-238,-2-8 1,5-6-248,1-6 0,6-7 326,0 2 0,7-6-398,-1-6 0,4-4 241,1-7 0,0-6-100,1 0 0,-1-9 115,1-2 1,-9-1-274,-3-5 0,-3 4 17,-3 1 1,-2 1-80,-3 0 0,-7 7 301,-10 4 1,-5 6 149,-7 5 1,-6 5 946,0 7 1,-6 0-478,6 0 1,-5 7 1631,5 5 0,2 3-890,9 2 1,-1 0 514,7 1 1,0 1-311,6 4 1,0-4-43,0 4 1,0-4-765,0-2 1,8 0-314,3 0 1,5 1-1837,1-1 1,0 0 1156,0 0 1,0 0 682,1 1 0,7-1 0,1 0 0</inkml:trace>
  <inkml:trace contextRef="#ctx0" brushRef="#br0" timeOffset="10">21786 8769 7955,'0'-18'669,"-2"3"1,-3 2-1,-9 3 1,-5 2 0,-6 5-1,0 1 1593,0 2 1,1 7-1551,1 5 0,11 5 1,1 4-1,7 4-113,4 2 1,4 1-349,7 7 1,3-1-1,14 0 1,3 3 252,1 3 0,5-4-79,3 4 1,-4-9 195,4-3 0,-5-7-186,-7 2 0,3-9-353,-8-3 1,0-7 23,-6 2 0,-5-6-155,-1-6 1,-5-5-477,5-12 0,-5-4-716,5-7 0,-5-8-1321,6-4 1,-1 0 1313,6-6 1,1 10-566,-1-9 1,0 11 911,0-1 0,0 7 901,1 5 0,-1-3 0,0 5 0</inkml:trace>
  <inkml:trace contextRef="#ctx0" brushRef="#br0" timeOffset="11">22268 9112 7955,'10'0'4199,"5"0"-1570,-4 0 0,5-2-1386,1-3 1,10-12-180,7-12 1,8-6-527,10-5 0,-1-9 49,1-9 0,-2 1-139,-4 6 0,-1 1-742,-10 4 1,-12 6 222,-17 11-642,-5-3 0,-2 15 8,-5-1 1,-9 9-532,-8 9 1,-8 0-82,2 0 1,-9 2 691,-2 3 0,-2 5 176,2 7 1,1 0 137,-6 1 1,6 4 407,-1 1 1,4 8-128,1-2 0,7 3 854,-1 3 1,10-1-39,2 0 1,7 1 477,10-1 1,8-1-1096,3-5 1,12 3 7,6-8 1,9 0-1400,2-6 1,8-2 767,-2-3 0,4-5-757,1-7 1,1-2-220,0-3 0,5-5-2139,0-7 3366,1 0 1,1-8 0,2-2 0</inkml:trace>
  <inkml:trace contextRef="#ctx0" brushRef="#br0" timeOffset="12">23249 8717 7955,'17'-17'313,"-2"0"0,-3-1 465,-6 1 0,-4 0-571,-2 0 0,-8 1 1240,-4 5 1,-3 3-660,-2 8 0,-6 0 387,0 0 0,-8 10-558,3 7 1,1 2-168,-2 10 0,1 7-157,-7 10 0,1 4-27,-1 1 0,7 7-191,-1-1 1,14 6-202,-2-6 0,11-1-12,0-11 1,8-2-170,9-9 0,10-13-1022,20-4 1,3-13-65,7-4 1,1-15-284,-1-14 0,9-5 851,3-7 1,-2-4-2505,2-13 3329,-7-3 0,1-8 0,-7 1 0,1-1 0,5 0 0</inkml:trace>
  <inkml:trace contextRef="#ctx0" brushRef="#br0" timeOffset="13">23765 8236 7955,'10'-8'6628,"-3"6"-5791,-7-6 0,-2 18 1038,-3 7 0,1 10-946,-8 13 1,9 0-413,-3 12 1,2 5-160,-2 17 0,-1 5-314,-5 7 1,-3 0-562,3 0 0,3 0-243,-3 0 0,9-16-1261,-3-7 0,-2-15-77,2-8-641,1-11 687,5-12 0,0-17 2052,0-11 0,0-12 0,0-4 0</inkml:trace>
  <inkml:trace contextRef="#ctx0" brushRef="#br0" timeOffset="14">23301 8786 7955,'-18'0'3377,"1"0"-2617,0 0 0,7-2 853,5-4 0,5 4-750,5-4 0,9-1-377,14 1 1,5-7-473,19 1 0,-5-3-498,11-2 1,3 1-1546,2 5 1,-2-4 1088,2 3 0,-5 5-1081,5 1 1,-10 4 455,-1 2 1565,-16 0 0,-3 8 0,-6 1 0</inkml:trace>
  <inkml:trace contextRef="#ctx0" brushRef="#br0" timeOffset="15">24075 8906 7955,'9'23'0,"-3"0"0,-4 0 1036,-2-6 0,-2 0-395,-4 0 0,3 4 1387,-9-3 1,8 3 703,-1-10-257,3 4 304,2 3-2081,0-1 0,2-2-359,3-4 1,5-3-118,7-8 0,0-2-308,1-4 1,-1-5-221,0-12 0,0 2-308,0-8 0,1 1 209,-1-7 0,-8-5-557,-3 0 1,2-6-177,-3 6 0,1-8-572,-6 3 1,-2 3-170,-3 1 1,-5-1 997,-7 2 0,-6 2-260,0 9 1,-8 10 507,3 8 1,1 7 332,-2-2 0,10 12 300,2 6 0,7 9 0,10 1 0,0 9 0,0-2 0,16-3 0,7 3 0,7 0 0,5 5 0</inkml:trace>
  <inkml:trace contextRef="#ctx0" brushRef="#br0" timeOffset="16">24505 8717 7955,'10'0'3601,"-3"0"-247,-7 0 349,0 0-2055,-7 0 187,-3 0-1042,-7 0-551,0 8 1,1 1-153,5 8 1,1 1 145,5-1 0,-3 8-109,-3 3 1,-3 1 94,8 5 0,-7-3-431,2 9 0,1-2-22,-1 2 0,1-3-103,-1 3 0,-3-12-180,8-5 0,1-4-1380,5-1-1036,0-1 2164,0-8 1,2-11-253,3-15 1,5-8 469,7-9 1,-5-2-239,-1-4 1,0 1 306,7-7 0,-7 8 143,1-2 1,-9 4 244,3 1 1,2 1 180,-2 0 1,1 5 201,-1 0 0,-4 8 392,4-2 0,1 10 979,-1 2 1,7 1-678,-1-1 1,3 3-724,2 8 0,1 0-396,-1 0 0,0 0-476,0 0 0,-2 2 2,-3 4 0,3-3 402,-3 9 1,1-1-1529,-1 7 0,3-1 683,-4 0 1,3 0 28,-3 0 1,5 1 1020,-5-1 0,4 0 0,2 0 0</inkml:trace>
  <inkml:trace contextRef="#ctx0" brushRef="#br0" timeOffset="17">24935 8683 7955,'0'-18'87,"0"1"1,6 0 166,0 0 1,0-2 354,-6-4 1,0 4-166,0-4 0,0 4-80,0 1 0,0 1 80,0 0-536,-8 0 1,-2 2 108,-7 3 0,0 4-480,0 8 1,0 2 226,-1 4 1,1 4-130,0 7 1,0 2 618,-1 4 0,1 4-142,0 7 1,0 0 806,0 1 1,1-1-393,5 1 1,-2-1 302,7 0 0,-6-1-28,7-5 1,-1-1 142,6-4 1,0-4-167,0 4 0,0-9-199,0-3 0,0-5-80,0 5 1,2-7-109,3 2 1,-1-4-133,8-2 0,-6 0-38,5 0 0,0 0 36,7 0 0,-7 0 186,1 0 16,-1 0 0,6 5-25,0 1 1,-1 2-85,-5-3 0,3-1-441,-9 8 1,7-7 151,-6 7 1,5-6-544,-5 5 1,0 1 313,-6 5 0,-2-6-1068,-4 1 0,-6 5 548,-11 6 1,2 0-450,-7-6 0,-7 2-79,-5 4 1,-6-4-392,6 4 0,-8-10 1606,2-1 0,-11-1 0,-4 6 0</inkml:trace>
  <inkml:trace contextRef="#ctx0" brushRef="#br0" timeOffset="18">24144 8597 7955,'-12'11'379,"1"-1"47,-3-3 0,5 7 0,-3-5 0,1 5 548,1 3 0,-5-4 0,4 12 0,-5 0-390,-1 3 0,2 5 1,3 1-1,7-1-732,3-5 1,2 5-260,0-4 1,2-5-1,3-1 1,7-4-2352,3-1 2758,2-9 0,1 6 0,-1-5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4T07:05:09.873"/>
    </inkml:context>
    <inkml:brush xml:id="br0">
      <inkml:brushProperty name="width" value="0.09086" units="cm"/>
      <inkml:brushProperty name="height" value="0.09086" units="cm"/>
      <inkml:brushProperty name="color" value="#FF0000"/>
    </inkml:brush>
  </inkml:definitions>
  <inkml:trace contextRef="#ctx0" brushRef="#br0">15532 6133 8091,'-21'-15'370,"0"0"1,2 2 0,0 4 0,2 5-1,1 3 959,4 1 1,4 1-1,7 2 1,10 1-1,6-1 1,7 1-955,3 0 1,4 0-1,5-4 1,1 0 0,-1 0-1,0 0 1,0 0 0,1 1-578,-1 3 0,-1-2 0,-3 5 0,-3-1 0,-4 2-259,-4 4 0,-3 1 0,-5 6 0,-5 3 86,-6 3 0,-6 4 0,-11 5 0,-6 2 0,-6 1 196,-4 1 1,-2 0 0,-2-4 0,-3 2 352,0 2 0,-1-3 0,-1 3 0,5-3 303,6-5 1,3 2 0,6-5 0,3-3 57,4-4 0,7 0 1,5-5-1,1-1-325,2-1 0,7-1 0,3-1 0,5-1 0,3-1-263,2-1 0,3-6 0,2 2 1,3-3-216,1-1 1,-2 0 0,4-1 0,0-3 0,2-3-680,2-4 0,-1-4 0,0-1 0,-1-1 120,-2 1 0,0-5 0,-4 4 0,-2-1-352,-1 3 1,-6 2 0,-3 1 1178,-2 1 0,-7 0 0,-1-1 0</inkml:trace>
  <inkml:trace contextRef="#ctx0" brushRef="#br0" timeOffset="1">15532 6361 8220,'-6'0'2483,"-4"0"-1525,2 0 1,10 5 0,4 2 0,8 0 0,4 1-698,2 1 1,3 0 0,2 0-1,3-2 1,0 2 0,1 0-1479,0-1 0,-2 1 1217,3-6 0,-4 6 0,2-2 0</inkml:trace>
  <inkml:trace contextRef="#ctx0" brushRef="#br0" timeOffset="2">18239 6099 7731,'0'-12'573,"0"0"0,0-2 0,-1-2 0,-2 2 0,0 2 1706,0 0 0,3 6 1,3 1-1700,0 0 0,6 5 0,-1 0 0,2 6-852,1 4 0,5 2 0,-1 0 0,-1 2 0,-2 3-564,0 1 0,1 1 0,1 2 0,1 0-49,-1-2 1,-2-4-1,1 3 1,1-2 161,1-2 1,2-1 0,-3-3 0,2-2 722,2-5 0,1 4 0,4-1 0</inkml:trace>
  <inkml:trace contextRef="#ctx0" brushRef="#br0" timeOffset="3">18719 6156 8015,'11'-23'-16,"1"1"1,-1 2 167,0 1 0,5 0 0,-1-4 1,-1 2 196,-1 2 1,-2-2-1,-1 5 1,-1-1 807,-1 1 1,-7 2-728,-1 6 1,-5 3-1,-8 6 1,-2 3-232,-4 4 0,-3 6 1,-1 2-304,1 2 1,-1 1 0,1 4-304,3 0 0,-1-2 0,3 0 0,1-2 0,-2 1-1089,0 2 0,4-3 0,-1-2 190,2 0 1306,7 3 0,-9-7 0,2 3 0</inkml:trace>
  <inkml:trace contextRef="#ctx0" brushRef="#br0" timeOffset="4">18547 6247 10030,'0'7'3787,"0"-1"-2986,0-2 1,0-2-1,-1 5 1,-1-1 183,-2 0 1,0 6 0,4 5 0,-1 4-1,-2 5-516,-1 6 0,-3 5 0,2 10 0,0 1-303,0 2 0,1 3 0,3-4 1,-2 1-76,-1 1 0,0-9 0,4-2 0,0-6-228,0-3 0,0-6 0,0 1 0,0-5 0,0-3-330,0-2 1,0-4 0,0-5-843,0 2 0,2-4-226,1-1 1,4-8 0,4-4 364,1-6 0,-5-5 1170,1-8 0,5-7 0,4-7 0</inkml:trace>
  <inkml:trace contextRef="#ctx0" brushRef="#br0" timeOffset="5">20706 6259 7937,'-5'-12'1555,"-1"-3"1,-6 0-1,2 1 329,2 1 1,5 7 0,6 2 0,5 3 0,2 2-1298,2 3 1,4 6-1,2 6 1,1 3-1,0 4 1,1 4-1066,2 2 0,-3 3 0,0 5 0,1 3 0,0 2-586,0 1 0,1 4 1,-2-5-1,3 3 1,-1-1 127,-2-2 1,-2-4-1,-6-9 1,1-5-585,-1-4 0,-3-7 654,-1-1 0,-4-7 0,2-9-162,0-4 636,-4-2 0,8-6 1,-4-5 391,2-4 0,0-4 0,5-6 0,-1 1 0</inkml:trace>
  <inkml:trace contextRef="#ctx0" brushRef="#br0" timeOffset="6">21357 6144 7937,'-8'-17'351,"1"1"185,-2 4 1,-1 2 0,-2 2 0,0 7 0,-4 7 1429,-3 9 1,-7 12 0,-6 7-1467,-5 7 0,17-15 0,-2 1 0,-1 3 0,-2 0 0,0 2 1,-1 0-502,0 3 0,0 0 0,-1 2 0,-2 0 0,1-2 1,-1-2-1,3-2 0,0-1-832,2-3 1,0-2 0,-11 18 0,4-12 0,7-6-2130,5-4 2962,-3-10 0,10-1 0,-5-3 0</inkml:trace>
  <inkml:trace contextRef="#ctx0" brushRef="#br0" timeOffset="7">16355 6453 7919,'-28'0'1151,"4"-5"1,-2-2 0,6 0-349,5-1 1,8 6 0,9-2 0,8 3 0,8 1 29,3 0 1,8 0 0,6 0 0,5 0-442,5 0 0,2 0 1,1 0-1,4 0 1,2 0-352,5 0 0,2 3 0,-2 2 0,4 0-289,0 1 0,0-3 0,2-1 0,-5 0-508,-6 2 0,0 0 1,-7-4-81,-3 0 0,-6 0 0,-1-1 1,-5-2-188,-6-1 0,-3-5 1,-4 3-1,-4-2-665,-2 1 1688,-7-1 0,5-8 0,-5-2 0</inkml:trace>
  <inkml:trace contextRef="#ctx0" brushRef="#br0" timeOffset="8">17417 6087 7887,'-17'-6'824,"5"-4"0,-4 2 1293,4-2 1,2 2-569,2 1 0,4 4 0,8 1-450,4 4 0,3 6 0,4 6-718,4 1 1,4 5 0,2-2 0,3 1-792,2 0 307,-5 0 0,7 4 1,-4 0-82,1 0 1,1-2 0,3 0 0,-1-2-407,-2 1 1,-3 2 0,1-1 0,-3-2-23,-3-4 0,-11-2 0,0-1 0,-5 0 410,-4 3 1,-5-2 0,-6 2-1,-5-2 77,-5-2 0,-8 6 1,-3 2-1,-3 3-645,-2 0-607,-4 1 1,3 0 1376,-2 0 0,-7 0 0,-2 0 0</inkml:trace>
  <inkml:trace contextRef="#ctx0" brushRef="#br0" timeOffset="9">18947 6476 7867,'-30'-4'342,"-1"-1"1,1-2-1,1 0 1,3 0 0,6 4 1413,5 1 0,2 1 0,4-1-822,5-2 0,12 0 0,15 3 0,7-2-494,7-1 0,5 1 0,7 3 0,6-2 662,5-2-1051,3 3 1,-31-1 0,1-1 0,0 2 0,0 1 0,1-1 0,0-1-94,1 0 1,1 0 0,5 0-1,0 1 1,-1 0 0,0 2 0,0-1-1,0 0-112,-2 0 1,1 0 0,-2 0 0,0 0-1,-2 0 1,-1 0 0,1 0 0,-1 0-545,31 0 1,-7 0-1,-17 0-725,-7 0 676,-5 0 0,-7 3-964,-3 1 1158,-8 0 0,-11-4 0,-8 0 0,-2 0-1885,-1 0 1736,-6 0 1,3 0 701,-5 0 0,0 0 0,-4 0 0</inkml:trace>
  <inkml:trace contextRef="#ctx0" brushRef="#br0" timeOffset="10">20146 6064 7966,'-16'-6'1242,"3"-3"1,-2 5 0,2 2 975,2 1 0,3 1 1,1 0-1192,-2 0 1,4 5 0,2 2-1,6 5-803,4 3 1,6 1 0,5 5 0,6-2 0,4 1-348,4 2 1,2-3-1,3 0 1,2 1-1,0 0-482,1-1 1,-6 2 0,-4-6 0,1 0 96,-2 2 0,-6-5 0,-8 4 1,-4-4 496,-3 0 1,-3-1-1,-6 1 108,-3-1 0,-7 2 0,-10 2 0,-4 4 206,-6 2 1,-3 2-1,-4 0-1364,-4 0 266,-7 5 0,1-3 1,-6 6 794,0 0 0,3-3 0,0 0 0</inkml:trace>
  <inkml:trace contextRef="#ctx0" brushRef="#br0" timeOffset="11">19987 5985 8114,'0'-35'0,"1"6"0,1 4 1328,2 4 0,0 7 0,-5 11-1201,-3 6 0,-2 13 0,-7 7 0,-4 6 0,-6 5 0,-6 5-72,-4 7 1,13-19 0,0 2-1,-2 3 1,-1 1 0,-1 0-1,-1 1 1,-1 1 0,0 0-1,-1 0 1,0 2-120,1 1 1,0 0 0,-1 1 0,0 1 0,2-1 0,2-1 0,1-1 0,1-2-98,2-2 0,2-1 1,-11 21-1,10-6 1,6-5-386,3-2 1,6-7 0,-1-7 0,3-3-51,1-4 1,1-4 0,3-7 0,4-4 595,2-3 0,6-11 0,2-3 0</inkml:trace>
  <inkml:trace contextRef="#ctx0" brushRef="#br0" timeOffset="12">19507 5996 8248,'-15'-34'799,"-2"1"-213,-1 2 0,1 3 1,-2 5-1,5 2 1647,5 2-1940,4 7 0,6 14 1,3 9-1,3 8 183,3 7 1,3 8 0,1 9-1,3 5 157,0 5 1,6 5 0,-10-28 0,1 1-499,-2 1 0,1 0 0,2 2 1,-1-1-1,1 2 0,1-1 1,0 1-1,1 0-148,0 1 1,0 0 0,0 0-1,0-1 1,1 3 0,-1-1-1,-1-1 1,1 0-91,-2-2 1,0 0 0,8 24 0,-8-10 0,-2-5-993,-2-5 1,-3-5 0,-2-5 0,-1-6 1094,-2-4 0,-2-1 0,2-3 0,4 0 0,6 2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4T07:05:09.886"/>
    </inkml:context>
    <inkml:brush xml:id="br0">
      <inkml:brushProperty name="width" value="0.09086" units="cm"/>
      <inkml:brushProperty name="height" value="0.09086" units="cm"/>
      <inkml:brushProperty name="color" value="#FF0000"/>
    </inkml:brush>
  </inkml:definitions>
  <inkml:trace contextRef="#ctx0" brushRef="#br0">12266 5779 7932,'-11'-1'18,"-1"-3"0,1 3 376,-1-3 1,1 3 0,-1 2-479,1 3 0,1-2 0,1 7 0,3 2 0,-1 3-82,1 0 0,2 3 1,-2-1-1,-1 2 0,1 2 65,-3 2 1,-2 1 0,-3 0 0,-3 0 187,0-1 0,-2 5 0,-4 1 0,0 0 0,0 0 149,0-3 1,2 1-1,0-2 1,4 0-64,0-3 1,6-5 0,4 0-1,2-1 1,4 1 63,4-3 1,3 0 0,5-3 0,2-1-71,2-1 0,3-2 1,5 3-1,0-3-34,-1-1 1,3 3-1,0-4 1,2-2 0,-2 0 26,-1-2 1,-1 0 0,1 0-1,1 0-46,2 0 0,1 0 0,-3 0 0,3 0-19,1 0 1,1-2-1,0 0 1,-2-3 27,0-2 1,-4 4 0,3-5-1,-4 0 1,-4 1 86,-4-1 1,-8 4-1,-3-3-170,-2-2 0,-2-3 0,-3-1 0,-5-4 0,-7-2-576,-5-5 0,-3-2 0,-1-8 1,-1-5 535,-2-4 0,-5-13 0,18 27 0,-1 0 0</inkml:trace>
  <inkml:trace contextRef="#ctx0" brushRef="#br0" timeOffset="1">20009 10987 8394,'-7'-4'116,"-1"0"0,1 0 581,0-1 0,1 4 0,3-4 746,-1 0-482,1 4-1077,3-4-1282,5 5 1398,-4 0 0,9 5 0,-3 1 0</inkml:trace>
  <inkml:trace contextRef="#ctx0" brushRef="#br0" timeOffset="2">17520 16081 8109,'-12'0'188,"1"0"414,4-5 129,2 3 1,5-4-367,0 2 0,7 3 1,3-3-1,5 1 1,3 1-98,2-2 1,3-3 0,4 1 0,3 1-198,3 0 1,3-4-1,0 3 1,2-2 0,-1 2-203,-1 1 1,1 1 0,-2 3 0,-3-2-495,-3 0 1,-4-1 0,-4 5 624,-2 3 0,0 2 0,4 6 0</inkml:trace>
  <inkml:trace contextRef="#ctx0" brushRef="#br0" timeOffset="3">19495 13831 5776,'-6'0'0,"1"0"0</inkml:trace>
  <inkml:trace contextRef="#ctx0" brushRef="#br0" timeOffset="4">19518 13854 6328,'0'-12'0</inkml:trace>
  <inkml:trace contextRef="#ctx0" brushRef="#br0" timeOffset="5">19244 17143 6646,'0'-8'7,"0"0"300,0 6 1,0-4 780,0 2 1,0 1 1056,0-4-1763,0 4 0,1-6 0,3 4 0,5 0-190,5 0 1,5 0 0,8 2-1,3-2-83,3-1 0,3 2 1,1-2-1,2-1-229,1 1 1,-3 4 0,0-2 0,-5 3-204,-6 1 0,-3 0 0,-4 0 0,-5 1-123,-5 3 0,0-2 340,-5 6 1,-2-6 0,-5 2 34,-5-3 0,-2 3 1,-2 0-1,0-1 8,-4-2 1,3-1 0,-6 0 0,-2 0-135,0 0 1,-2 0 0,0-1 0,0-2 221,0-1 0,0-1 1,-1 3-1,-1-2 207,-2 1 0,1 1 0,3-1 0,0-1 111,0 2 0,0 1 0,2 1 0,2 0 784,3 0-929,9 0 0,3 0 0,8 0 0,5 0 0,5 1 117,5 3 0,7-3 1,5 3-198,2-3 1,1-1 0,0 0-1,1-1 1,0-3-52,3-4 1,-2 2 0,1-2-1,-4 1-257,-3 0 0,-5-2 1,2 6-1,-4-1-1782,-4-1 1417,-8 3 1,-12-1 0,-12 5 0,-8 3 103,-8 2 0,-4 4 0,-3 6 0,-1-1 350,-1 1 1,-4-1 0,3-2 0,0 1 214,-1-1 0,3-1 1,7-3-1,5-2 2816,4-5-2245,5-1 0,20-7 0,8-4 0,11-5-317,8-5 1,7-3 0,4-1 0,3 1-408,5-1 1,-3 1 0,3 3 0,0 4 0,1 2 38,1 2 0,1-1 0,4 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>
                <a:latin typeface="Times New Roman" charset="0"/>
              </a:defRPr>
            </a:lvl1pPr>
          </a:lstStyle>
          <a:p>
            <a:fld id="{C7E9A20B-E167-2E4E-BE18-AA9F5BF5FBB1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7154" tIns="48580" rIns="97154" bIns="4858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notes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343" name="Rectangle 7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68413" y="727075"/>
            <a:ext cx="4781550" cy="35861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</p:spTree>
    <p:extLst>
      <p:ext uri="{BB962C8B-B14F-4D97-AF65-F5344CB8AC3E}">
        <p14:creationId xmlns:p14="http://schemas.microsoft.com/office/powerpoint/2010/main" val="215147315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defTabSz="9652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65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14EF427-E3A8-D542-91D3-317F25033480}" type="slidenum">
              <a:rPr kumimoji="0" lang="en-US" sz="11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</a:rPr>
              <a:pPr marL="0" marR="0" lvl="0" indent="0" algn="r" defTabSz="965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1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ＭＳ Ｐゴシック" charset="0"/>
            </a:endParaRPr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8413" y="727075"/>
            <a:ext cx="4781550" cy="3586163"/>
          </a:xfrm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13302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7206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Shape 405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406" name="Shape 406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endParaRPr sz="2200" dirty="0"/>
          </a:p>
        </p:txBody>
      </p:sp>
    </p:spTree>
    <p:extLst>
      <p:ext uri="{BB962C8B-B14F-4D97-AF65-F5344CB8AC3E}">
        <p14:creationId xmlns:p14="http://schemas.microsoft.com/office/powerpoint/2010/main" val="16639813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Shape 1196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1197" name="Shape 119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endParaRPr sz="2200" dirty="0"/>
          </a:p>
        </p:txBody>
      </p:sp>
    </p:spTree>
    <p:extLst>
      <p:ext uri="{BB962C8B-B14F-4D97-AF65-F5344CB8AC3E}">
        <p14:creationId xmlns:p14="http://schemas.microsoft.com/office/powerpoint/2010/main" val="4434072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Shape 1196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1197" name="Shape 119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endParaRPr sz="2200" dirty="0"/>
          </a:p>
        </p:txBody>
      </p:sp>
    </p:spTree>
    <p:extLst>
      <p:ext uri="{BB962C8B-B14F-4D97-AF65-F5344CB8AC3E}">
        <p14:creationId xmlns:p14="http://schemas.microsoft.com/office/powerpoint/2010/main" val="20923826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4414" y="8685894"/>
            <a:ext cx="2972098" cy="45659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6493" tIns="43247" rIns="86493" bIns="43247"/>
          <a:lstStyle>
            <a:lvl1pPr defTabSz="905475" eaLnBrk="0" hangingPunct="0">
              <a:defRPr sz="1900" b="1">
                <a:solidFill>
                  <a:schemeClr val="tx1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1pPr>
            <a:lvl2pPr marL="702756" indent="-270291" defTabSz="905475" eaLnBrk="0" hangingPunct="0">
              <a:defRPr sz="1900" b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2pPr>
            <a:lvl3pPr marL="1081164" indent="-216233" defTabSz="905475" eaLnBrk="0" hangingPunct="0">
              <a:defRPr sz="1900" b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3pPr>
            <a:lvl4pPr marL="1513629" indent="-216233" defTabSz="905475" eaLnBrk="0" hangingPunct="0">
              <a:defRPr sz="1900" b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4pPr>
            <a:lvl5pPr marL="1946095" indent="-216233" defTabSz="905475" eaLnBrk="0" hangingPunct="0">
              <a:defRPr sz="1900" b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5pPr>
            <a:lvl6pPr marL="2378560" indent="-216233" algn="ctr" defTabSz="905475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6pPr>
            <a:lvl7pPr marL="2811026" indent="-216233" algn="ctr" defTabSz="905475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7pPr>
            <a:lvl8pPr marL="3243491" indent="-216233" algn="ctr" defTabSz="905475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8pPr>
            <a:lvl9pPr marL="3675957" indent="-216233" algn="ctr" defTabSz="905475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9pPr>
          </a:lstStyle>
          <a:p>
            <a:pPr eaLnBrk="1" hangingPunct="1"/>
            <a:fld id="{32F0FA2B-D0B2-2D43-954F-401FB3378438}" type="slidenum">
              <a:rPr lang="en-US" sz="1200" b="0">
                <a:latin typeface="Times New Roman" charset="0"/>
              </a:rPr>
              <a:pPr eaLnBrk="1" hangingPunct="1"/>
              <a:t>7</a:t>
            </a:fld>
            <a:endParaRPr lang="en-US" sz="1200" b="0">
              <a:latin typeface="Times New Roman" charset="0"/>
            </a:endParaRPr>
          </a:p>
        </p:txBody>
      </p:sp>
      <p:sp>
        <p:nvSpPr>
          <p:cNvPr id="4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02744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4414" y="8685894"/>
            <a:ext cx="2972098" cy="45659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6493" tIns="43247" rIns="86493" bIns="43247"/>
          <a:lstStyle>
            <a:lvl1pPr defTabSz="905475" eaLnBrk="0" hangingPunct="0">
              <a:defRPr sz="1900" b="1">
                <a:solidFill>
                  <a:schemeClr val="tx1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1pPr>
            <a:lvl2pPr marL="702756" indent="-270291" defTabSz="905475" eaLnBrk="0" hangingPunct="0">
              <a:defRPr sz="1900" b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2pPr>
            <a:lvl3pPr marL="1081164" indent="-216233" defTabSz="905475" eaLnBrk="0" hangingPunct="0">
              <a:defRPr sz="1900" b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3pPr>
            <a:lvl4pPr marL="1513629" indent="-216233" defTabSz="905475" eaLnBrk="0" hangingPunct="0">
              <a:defRPr sz="1900" b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4pPr>
            <a:lvl5pPr marL="1946095" indent="-216233" defTabSz="905475" eaLnBrk="0" hangingPunct="0">
              <a:defRPr sz="1900" b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5pPr>
            <a:lvl6pPr marL="2378560" indent="-216233" algn="ctr" defTabSz="905475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6pPr>
            <a:lvl7pPr marL="2811026" indent="-216233" algn="ctr" defTabSz="905475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7pPr>
            <a:lvl8pPr marL="3243491" indent="-216233" algn="ctr" defTabSz="905475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8pPr>
            <a:lvl9pPr marL="3675957" indent="-216233" algn="ctr" defTabSz="905475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9pPr>
          </a:lstStyle>
          <a:p>
            <a:pPr eaLnBrk="1" hangingPunct="1"/>
            <a:fld id="{32F0FA2B-D0B2-2D43-954F-401FB3378438}" type="slidenum">
              <a:rPr lang="en-US" sz="1200" b="0">
                <a:latin typeface="Times New Roman" charset="0"/>
              </a:rPr>
              <a:pPr eaLnBrk="1" hangingPunct="1"/>
              <a:t>8</a:t>
            </a:fld>
            <a:endParaRPr lang="en-US" sz="1200" b="0">
              <a:latin typeface="Times New Roman" charset="0"/>
            </a:endParaRPr>
          </a:p>
        </p:txBody>
      </p:sp>
      <p:sp>
        <p:nvSpPr>
          <p:cNvPr id="4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5268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4414" y="8685894"/>
            <a:ext cx="2972098" cy="45659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6493" tIns="43247" rIns="86493" bIns="43247"/>
          <a:lstStyle>
            <a:lvl1pPr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02756" indent="-270291"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081164" indent="-216233"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513629" indent="-216233"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1946095" indent="-216233"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378560" indent="-216233" algn="r" defTabSz="905475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811026" indent="-216233" algn="r" defTabSz="905475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243491" indent="-216233" algn="r" defTabSz="905475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675957" indent="-216233" algn="r" defTabSz="905475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87F9C297-3580-704A-834B-CEB0E741916A}" type="slidenum">
              <a:rPr lang="en-US" sz="1200" b="0">
                <a:latin typeface="Times New Roman" charset="0"/>
              </a:rPr>
              <a:pPr eaLnBrk="1" hangingPunct="1"/>
              <a:t>9</a:t>
            </a:fld>
            <a:endParaRPr lang="en-US" sz="1200" b="0">
              <a:latin typeface="Times New Roman" charset="0"/>
            </a:endParaRPr>
          </a:p>
        </p:txBody>
      </p:sp>
      <p:sp>
        <p:nvSpPr>
          <p:cNvPr id="77826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lIns="86493" tIns="43247" rIns="86493" bIns="43247"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65818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8151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Shape 1196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1197" name="Shape 119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endParaRPr sz="2200" dirty="0"/>
          </a:p>
        </p:txBody>
      </p:sp>
    </p:spTree>
    <p:extLst>
      <p:ext uri="{BB962C8B-B14F-4D97-AF65-F5344CB8AC3E}">
        <p14:creationId xmlns:p14="http://schemas.microsoft.com/office/powerpoint/2010/main" val="9924869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6" name="Shape 2496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2497" name="Shape 249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endParaRPr sz="2200" dirty="0"/>
          </a:p>
        </p:txBody>
      </p:sp>
    </p:spTree>
    <p:extLst>
      <p:ext uri="{BB962C8B-B14F-4D97-AF65-F5344CB8AC3E}">
        <p14:creationId xmlns:p14="http://schemas.microsoft.com/office/powerpoint/2010/main" val="17674177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1" name="Shape 254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2542" name="Shape 254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endParaRPr sz="2200" dirty="0"/>
          </a:p>
        </p:txBody>
      </p:sp>
    </p:spTree>
    <p:extLst>
      <p:ext uri="{BB962C8B-B14F-4D97-AF65-F5344CB8AC3E}">
        <p14:creationId xmlns:p14="http://schemas.microsoft.com/office/powerpoint/2010/main" val="1271085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6" name="Shape 2586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2587" name="Shape 258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endParaRPr sz="2200" dirty="0"/>
          </a:p>
        </p:txBody>
      </p:sp>
    </p:spTree>
    <p:extLst>
      <p:ext uri="{BB962C8B-B14F-4D97-AF65-F5344CB8AC3E}">
        <p14:creationId xmlns:p14="http://schemas.microsoft.com/office/powerpoint/2010/main" val="19664473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1" name="Shape 263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2632" name="Shape 263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endParaRPr sz="2200" dirty="0"/>
          </a:p>
        </p:txBody>
      </p:sp>
    </p:spTree>
    <p:extLst>
      <p:ext uri="{BB962C8B-B14F-4D97-AF65-F5344CB8AC3E}">
        <p14:creationId xmlns:p14="http://schemas.microsoft.com/office/powerpoint/2010/main" val="12928898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6" name="Shape 2676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2677" name="Shape 267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endParaRPr sz="2200" dirty="0"/>
          </a:p>
        </p:txBody>
      </p:sp>
    </p:spTree>
    <p:extLst>
      <p:ext uri="{BB962C8B-B14F-4D97-AF65-F5344CB8AC3E}">
        <p14:creationId xmlns:p14="http://schemas.microsoft.com/office/powerpoint/2010/main" val="7306189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1" name="Shape 272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2722" name="Shape 272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endParaRPr sz="2200" dirty="0"/>
          </a:p>
        </p:txBody>
      </p:sp>
    </p:spTree>
    <p:extLst>
      <p:ext uri="{BB962C8B-B14F-4D97-AF65-F5344CB8AC3E}">
        <p14:creationId xmlns:p14="http://schemas.microsoft.com/office/powerpoint/2010/main" val="18122329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6" name="Shape 2766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2767" name="Shape 276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endParaRPr sz="2200" dirty="0"/>
          </a:p>
        </p:txBody>
      </p:sp>
    </p:spTree>
    <p:extLst>
      <p:ext uri="{BB962C8B-B14F-4D97-AF65-F5344CB8AC3E}">
        <p14:creationId xmlns:p14="http://schemas.microsoft.com/office/powerpoint/2010/main" val="107893481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1" name="Shape 281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2812" name="Shape 281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3756758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6" name="Shape 2856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2857" name="Shape 285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endParaRPr sz="2200" dirty="0"/>
          </a:p>
        </p:txBody>
      </p:sp>
    </p:spTree>
    <p:extLst>
      <p:ext uri="{BB962C8B-B14F-4D97-AF65-F5344CB8AC3E}">
        <p14:creationId xmlns:p14="http://schemas.microsoft.com/office/powerpoint/2010/main" val="95138294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1" name="Shape 290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2902" name="Shape 290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endParaRPr sz="2200" dirty="0"/>
          </a:p>
        </p:txBody>
      </p:sp>
    </p:spTree>
    <p:extLst>
      <p:ext uri="{BB962C8B-B14F-4D97-AF65-F5344CB8AC3E}">
        <p14:creationId xmlns:p14="http://schemas.microsoft.com/office/powerpoint/2010/main" val="141099327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6" name="Shape 2946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2947" name="Shape 294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endParaRPr sz="2200" dirty="0"/>
          </a:p>
        </p:txBody>
      </p:sp>
    </p:spTree>
    <p:extLst>
      <p:ext uri="{BB962C8B-B14F-4D97-AF65-F5344CB8AC3E}">
        <p14:creationId xmlns:p14="http://schemas.microsoft.com/office/powerpoint/2010/main" val="130979342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2" name="Shape 2992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2993" name="Shape 299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endParaRPr sz="2200" dirty="0"/>
          </a:p>
        </p:txBody>
      </p:sp>
    </p:spTree>
    <p:extLst>
      <p:ext uri="{BB962C8B-B14F-4D97-AF65-F5344CB8AC3E}">
        <p14:creationId xmlns:p14="http://schemas.microsoft.com/office/powerpoint/2010/main" val="38762056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4" name="Shape 3044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3045" name="Shape 3045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endParaRPr sz="2200" dirty="0"/>
          </a:p>
        </p:txBody>
      </p:sp>
    </p:spTree>
    <p:extLst>
      <p:ext uri="{BB962C8B-B14F-4D97-AF65-F5344CB8AC3E}">
        <p14:creationId xmlns:p14="http://schemas.microsoft.com/office/powerpoint/2010/main" val="32785904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6" name="Shape 3086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3087" name="Shape 308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endParaRPr sz="2200" dirty="0"/>
          </a:p>
        </p:txBody>
      </p:sp>
    </p:spTree>
    <p:extLst>
      <p:ext uri="{BB962C8B-B14F-4D97-AF65-F5344CB8AC3E}">
        <p14:creationId xmlns:p14="http://schemas.microsoft.com/office/powerpoint/2010/main" val="44542556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7" name="Shape 3127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3128" name="Shape 3128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endParaRPr sz="2200" dirty="0"/>
          </a:p>
        </p:txBody>
      </p:sp>
    </p:spTree>
    <p:extLst>
      <p:ext uri="{BB962C8B-B14F-4D97-AF65-F5344CB8AC3E}">
        <p14:creationId xmlns:p14="http://schemas.microsoft.com/office/powerpoint/2010/main" val="185885261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9" name="Shape 3169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3170" name="Shape 3170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endParaRPr sz="2200" dirty="0"/>
          </a:p>
        </p:txBody>
      </p:sp>
    </p:spTree>
    <p:extLst>
      <p:ext uri="{BB962C8B-B14F-4D97-AF65-F5344CB8AC3E}">
        <p14:creationId xmlns:p14="http://schemas.microsoft.com/office/powerpoint/2010/main" val="14308082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0" name="Shape 3210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3211" name="Shape 3211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endParaRPr sz="2200" dirty="0"/>
          </a:p>
        </p:txBody>
      </p:sp>
    </p:spTree>
    <p:extLst>
      <p:ext uri="{BB962C8B-B14F-4D97-AF65-F5344CB8AC3E}">
        <p14:creationId xmlns:p14="http://schemas.microsoft.com/office/powerpoint/2010/main" val="154629193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3" name="Shape 3253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3254" name="Shape 3254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endParaRPr sz="2200" dirty="0"/>
          </a:p>
        </p:txBody>
      </p:sp>
    </p:spTree>
    <p:extLst>
      <p:ext uri="{BB962C8B-B14F-4D97-AF65-F5344CB8AC3E}">
        <p14:creationId xmlns:p14="http://schemas.microsoft.com/office/powerpoint/2010/main" val="91776027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Shape 1196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1197" name="Shape 119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endParaRPr sz="2200" dirty="0"/>
          </a:p>
        </p:txBody>
      </p:sp>
    </p:spTree>
    <p:extLst>
      <p:ext uri="{BB962C8B-B14F-4D97-AF65-F5344CB8AC3E}">
        <p14:creationId xmlns:p14="http://schemas.microsoft.com/office/powerpoint/2010/main" val="5353204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5010" y="8684684"/>
            <a:ext cx="2971800" cy="457200"/>
          </a:xfrm>
          <a:prstGeom prst="rect">
            <a:avLst/>
          </a:prstGeom>
          <a:noFill/>
        </p:spPr>
        <p:txBody>
          <a:bodyPr/>
          <a:lstStyle/>
          <a:p>
            <a:fld id="{42B0DAA6-02FB-6E4A-B752-815ED524F531}" type="slidenum">
              <a:rPr lang="en-US">
                <a:latin typeface="Times New Roman" charset="0"/>
              </a:rPr>
              <a:pPr/>
              <a:t>43</a:t>
            </a:fld>
            <a:endParaRPr lang="en-US">
              <a:latin typeface="Times New Roman" charset="0"/>
            </a:endParaRPr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ea typeface="ＭＳ Ｐゴシック" charset="-128"/>
              <a:cs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7177862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5010" y="8684684"/>
            <a:ext cx="2971800" cy="457200"/>
          </a:xfrm>
          <a:prstGeom prst="rect">
            <a:avLst/>
          </a:prstGeom>
          <a:noFill/>
        </p:spPr>
        <p:txBody>
          <a:bodyPr/>
          <a:lstStyle/>
          <a:p>
            <a:fld id="{DF86D6B3-6172-344F-AF2E-101ACF88B5E5}" type="slidenum">
              <a:rPr lang="en-US">
                <a:latin typeface="Times New Roman" charset="0"/>
              </a:rPr>
              <a:pPr/>
              <a:t>44</a:t>
            </a:fld>
            <a:endParaRPr lang="en-US">
              <a:latin typeface="Times New Roman" charset="0"/>
            </a:endParaRPr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ea typeface="ＭＳ Ｐゴシック" charset="-128"/>
              <a:cs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932500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7A6ABD5D-5C43-3B8B-4A47-61649E3D115D}"/>
              </a:ext>
            </a:extLst>
          </p:cNvPr>
          <p:cNvGrpSpPr/>
          <p:nvPr/>
        </p:nvGrpSpPr>
        <p:grpSpPr>
          <a:xfrm>
            <a:off x="-37202" y="-17808"/>
            <a:ext cx="9251052" cy="6875808"/>
            <a:chOff x="-37202" y="-17808"/>
            <a:chExt cx="9251052" cy="6875808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32FDF3C8-2579-FE76-C255-8D388A2880AF}"/>
                </a:ext>
              </a:extLst>
            </p:cNvPr>
            <p:cNvGrpSpPr/>
            <p:nvPr/>
          </p:nvGrpSpPr>
          <p:grpSpPr>
            <a:xfrm>
              <a:off x="-37202" y="-17808"/>
              <a:ext cx="9244426" cy="1548158"/>
              <a:chOff x="-37202" y="-17808"/>
              <a:chExt cx="9244426" cy="1548158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6D509864-1F3D-8C50-E36A-3487881676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40960" y="-11183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80E07DA5-2FB8-1986-62D0-9BB0764651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37202" y="-17808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766DB696-4315-02EB-D756-79083474CD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05111" y="-6350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6" name="Picture 5" descr="Diagram, schematic&#10;&#10;Description automatically generated">
                <a:extLst>
                  <a:ext uri="{FF2B5EF4-FFF2-40B4-BE49-F238E27FC236}">
                    <a16:creationId xmlns:a16="http://schemas.microsoft.com/office/drawing/2014/main" id="{0A6BFE68-C6E3-7A10-DCB8-5FD39DDBA1E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19824" y="-11183"/>
                <a:ext cx="787400" cy="952500"/>
              </a:xfrm>
              <a:prstGeom prst="rect">
                <a:avLst/>
              </a:prstGeom>
            </p:spPr>
          </p:pic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743C08E-B7FB-2D84-E28E-CC3A7E03C06F}"/>
                </a:ext>
              </a:extLst>
            </p:cNvPr>
            <p:cNvGrpSpPr/>
            <p:nvPr/>
          </p:nvGrpSpPr>
          <p:grpSpPr>
            <a:xfrm>
              <a:off x="-37202" y="769936"/>
              <a:ext cx="9251052" cy="6088064"/>
              <a:chOff x="-37202" y="769936"/>
              <a:chExt cx="9251052" cy="6088064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3BA3378A-AFC4-1653-B4E5-9C6B3D67661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57525" y="803132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153205CB-0D4F-3284-FBBF-4BC351A30A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20637" y="796507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C72CAB5D-6617-2E21-A6CA-E328F087A6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78163" y="2295524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5AC10B77-A31F-38D5-8382-985CF6E443F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" y="2288899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A3D89739-FD09-01B4-E7B4-C701FC01DE4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57525" y="3832224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73D27228-5C6E-DC91-30A7-0AFAC169367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20637" y="3825599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A5C2DA61-3005-968A-BDF3-075B1EEF41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11737" y="769936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66484D52-BFEA-C60D-525E-8A2E735CE5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98800" y="5321300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0EDF70D3-66A0-0672-CB97-8ED9B35050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15050" y="5321300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B6A4AD92-9E85-875E-19B0-E18A6D7FBE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11737" y="3810000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60FF33F9-2A42-D7B7-13B2-7D74E6EE83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05111" y="2295524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FF948A23-E96A-3660-C39C-A546002B613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5321300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20" name="Picture 19" descr="Diagram, schematic&#10;&#10;Description automatically generated">
                <a:extLst>
                  <a:ext uri="{FF2B5EF4-FFF2-40B4-BE49-F238E27FC236}">
                    <a16:creationId xmlns:a16="http://schemas.microsoft.com/office/drawing/2014/main" id="{8B622CB2-32C0-5EFC-FFC0-B7C19B9D93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16200000">
                <a:off x="898" y="5981700"/>
                <a:ext cx="825500" cy="901700"/>
              </a:xfrm>
              <a:prstGeom prst="rect">
                <a:avLst/>
              </a:prstGeom>
            </p:spPr>
          </p:pic>
        </p:grpSp>
      </p:grpSp>
      <p:sp>
        <p:nvSpPr>
          <p:cNvPr id="18440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Monotype Sorts" pitchFamily="96" charset="2"/>
              <a:buNone/>
              <a:defRPr/>
            </a:lvl1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18441" name="Rectangle 9"/>
          <p:cNvSpPr>
            <a:spLocks noGrp="1" noChangeArrowheads="1"/>
          </p:cNvSpPr>
          <p:nvPr>
            <p:ph type="ctrTitle"/>
          </p:nvPr>
        </p:nvSpPr>
        <p:spPr>
          <a:xfrm>
            <a:off x="685800" y="1143000"/>
            <a:ext cx="7772400" cy="20574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77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5844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29773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00200"/>
            <a:ext cx="3886200" cy="44196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600200"/>
            <a:ext cx="3886200" cy="44196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431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78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488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7463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16217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GB" noProof="0"/>
              <a:t>Click icon to add picture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87116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191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05600" y="152400"/>
            <a:ext cx="2133600" cy="58674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52400"/>
            <a:ext cx="6248400" cy="586740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6829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title style</a:t>
            </a:r>
            <a:endParaRPr/>
          </a:p>
        </p:txBody>
      </p:sp>
      <p:sp>
        <p:nvSpPr>
          <p:cNvPr id="11" name="Shape 11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2pPr marL="937584" indent="-401822">
              <a:spcBef>
                <a:spcPts val="1687"/>
              </a:spcBef>
              <a:buChar char="-"/>
              <a:defRPr sz="2500" i="1"/>
            </a:lvl2pPr>
            <a:lvl3pPr marL="1250112" indent="-401822">
              <a:spcBef>
                <a:spcPts val="1687"/>
              </a:spcBef>
              <a:buFont typeface="Gill Sans"/>
              <a:buChar char="-"/>
              <a:defRPr sz="2500" i="1">
                <a:latin typeface="Gill Sans"/>
                <a:ea typeface="Gill Sans"/>
                <a:cs typeface="Gill Sans"/>
                <a:sym typeface="Gill Sans"/>
              </a:defRPr>
            </a:lvl3pPr>
            <a:lvl4pPr marL="1562640" indent="-401822">
              <a:spcBef>
                <a:spcPts val="1687"/>
              </a:spcBef>
              <a:buFont typeface="Gill Sans"/>
              <a:buChar char="-"/>
              <a:defRPr sz="2500" i="1">
                <a:latin typeface="Gill Sans"/>
                <a:ea typeface="Gill Sans"/>
                <a:cs typeface="Gill Sans"/>
                <a:sym typeface="Gill Sans"/>
              </a:defRPr>
            </a:lvl4pPr>
            <a:lvl5pPr marL="1875168" indent="-401822">
              <a:spcBef>
                <a:spcPts val="1687"/>
              </a:spcBef>
              <a:buFont typeface="Gill Sans"/>
              <a:buChar char="-"/>
              <a:defRPr sz="2500" i="1">
                <a:latin typeface="Gill Sans"/>
                <a:ea typeface="Gill Sans"/>
                <a:cs typeface="Gill Sans"/>
                <a:sym typeface="Gill Sans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28109816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5D9187BA-81F8-B3C4-BE54-802E5CB4AADB}"/>
              </a:ext>
            </a:extLst>
          </p:cNvPr>
          <p:cNvGrpSpPr/>
          <p:nvPr/>
        </p:nvGrpSpPr>
        <p:grpSpPr>
          <a:xfrm>
            <a:off x="-37202" y="769936"/>
            <a:ext cx="9251052" cy="6088064"/>
            <a:chOff x="-37202" y="769936"/>
            <a:chExt cx="9251052" cy="6088064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EBC71FB7-FA16-2D27-CACE-D02A556CD8A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57525" y="803132"/>
              <a:ext cx="3098800" cy="153670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87861273-92E0-492B-CA3C-71BA2BBCFA7D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0637" y="796507"/>
              <a:ext cx="3098800" cy="153670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46201456-9595-A276-41A8-30205C2FEC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78163" y="2295524"/>
              <a:ext cx="3098800" cy="1536700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F482A01-0A49-6750-039E-5DF6F6D8CDA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" y="2288899"/>
              <a:ext cx="3098800" cy="153670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51AB3331-87E4-5291-9B07-04FBF9319AD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57525" y="3832224"/>
              <a:ext cx="3098800" cy="153670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4603EAB-DE9B-8605-F5EA-86EE04BB7AB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0637" y="3825599"/>
              <a:ext cx="3098800" cy="153670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D8BC458A-594C-2231-0980-29D3BCD49A3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11737" y="769936"/>
              <a:ext cx="3098800" cy="1536700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86605DDB-0D60-730A-9DC4-C473EFEB16DE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98800" y="5321300"/>
              <a:ext cx="3098800" cy="1536700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E3E6929-9A7F-4C0B-5CAA-0969F1F1AD35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15050" y="5321300"/>
              <a:ext cx="3098800" cy="153670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E51D58DE-9738-3628-3BB8-CDE6E50154C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11737" y="3810000"/>
              <a:ext cx="3098800" cy="153670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1567987B-DB8A-1727-6CAC-CEB7FF1A9C32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05111" y="2295524"/>
              <a:ext cx="3098800" cy="1536700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0D0A162-213F-2600-105C-FE0FC8A8E87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5321300"/>
              <a:ext cx="3098800" cy="1536700"/>
            </a:xfrm>
            <a:prstGeom prst="rect">
              <a:avLst/>
            </a:prstGeom>
          </p:spPr>
        </p:pic>
        <p:pic>
          <p:nvPicPr>
            <p:cNvPr id="19" name="Picture 18" descr="Diagram, schematic&#10;&#10;Description automatically generated">
              <a:extLst>
                <a:ext uri="{FF2B5EF4-FFF2-40B4-BE49-F238E27FC236}">
                  <a16:creationId xmlns:a16="http://schemas.microsoft.com/office/drawing/2014/main" id="{DB469211-2D9E-AB17-3FC0-B7AEAAB22126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98" y="5981700"/>
              <a:ext cx="825500" cy="901700"/>
            </a:xfrm>
            <a:prstGeom prst="rect">
              <a:avLst/>
            </a:prstGeom>
          </p:spPr>
        </p:pic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C3F89B2-E890-6C43-5892-22AD02C50523}"/>
              </a:ext>
            </a:extLst>
          </p:cNvPr>
          <p:cNvGrpSpPr/>
          <p:nvPr/>
        </p:nvGrpSpPr>
        <p:grpSpPr>
          <a:xfrm>
            <a:off x="-37202" y="-17808"/>
            <a:ext cx="9244426" cy="1548158"/>
            <a:chOff x="-37202" y="-17808"/>
            <a:chExt cx="9244426" cy="1548158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150C326B-E0CE-7E4B-AAB3-6C17E7E24BD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40960" y="-11183"/>
              <a:ext cx="3098800" cy="1536700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CE40EC80-B3CD-B537-331F-0ADE24D7A14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7202" y="-17808"/>
              <a:ext cx="3098800" cy="15367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4A493CE-633E-1F89-D9FA-C4320B1A38C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05111" y="-6350"/>
              <a:ext cx="3098800" cy="1536700"/>
            </a:xfrm>
            <a:prstGeom prst="rect">
              <a:avLst/>
            </a:prstGeom>
          </p:spPr>
        </p:pic>
        <p:pic>
          <p:nvPicPr>
            <p:cNvPr id="22" name="Picture 21" descr="Diagram, schematic&#10;&#10;Description automatically generated">
              <a:extLst>
                <a:ext uri="{FF2B5EF4-FFF2-40B4-BE49-F238E27FC236}">
                  <a16:creationId xmlns:a16="http://schemas.microsoft.com/office/drawing/2014/main" id="{63BA936B-D5C9-23EF-D13E-28E80A17AC3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19824" y="-11183"/>
              <a:ext cx="787400" cy="952500"/>
            </a:xfrm>
            <a:prstGeom prst="rect">
              <a:avLst/>
            </a:prstGeom>
          </p:spPr>
        </p:pic>
      </p:grpSp>
      <p:sp>
        <p:nvSpPr>
          <p:cNvPr id="1028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00200"/>
            <a:ext cx="7924800" cy="44196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52400"/>
            <a:ext cx="8534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37" name="Line 13"/>
          <p:cNvSpPr>
            <a:spLocks noChangeShapeType="1"/>
          </p:cNvSpPr>
          <p:nvPr/>
        </p:nvSpPr>
        <p:spPr bwMode="auto">
          <a:xfrm>
            <a:off x="0" y="1371600"/>
            <a:ext cx="8305800" cy="0"/>
          </a:xfrm>
          <a:prstGeom prst="line">
            <a:avLst/>
          </a:prstGeom>
          <a:noFill/>
          <a:ln w="44450">
            <a:solidFill>
              <a:srgbClr val="FFCB05"/>
            </a:solidFill>
            <a:round/>
            <a:headEnd/>
            <a:tailEnd/>
          </a:ln>
          <a:effectLst>
            <a:outerShdw dist="53882" dir="2700000" algn="ctr" rotWithShape="0">
              <a:srgbClr val="D3A600"/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endParaRPr lang="en-US" sz="1200"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7FC9C51-8850-8B4B-97BB-F12E7B15E3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EECS 489 – Lecture 13</a:t>
            </a:r>
          </a:p>
        </p:txBody>
      </p:sp>
    </p:spTree>
    <p:extLst>
      <p:ext uri="{BB962C8B-B14F-4D97-AF65-F5344CB8AC3E}">
        <p14:creationId xmlns:p14="http://schemas.microsoft.com/office/powerpoint/2010/main" val="2803010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  <p:sldLayoutId id="2147483734" r:id="rId1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500" b="0">
          <a:solidFill>
            <a:schemeClr val="tx1"/>
          </a:solidFill>
          <a:effectLst/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Wingdings" pitchFamily="2" charset="2"/>
        <a:buChar char="Ø"/>
        <a:defRPr sz="2800">
          <a:solidFill>
            <a:schemeClr val="accent2"/>
          </a:solidFill>
          <a:latin typeface="+mn-lt"/>
          <a:ea typeface="ＭＳ Ｐゴシック" charset="-128"/>
          <a:cs typeface="ＭＳ Ｐゴシック" charset="-128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Wingdings" pitchFamily="2" charset="2"/>
        <a:buChar char="q"/>
        <a:defRPr sz="2400">
          <a:solidFill>
            <a:schemeClr val="accent2"/>
          </a:solidFill>
          <a:latin typeface="+mn-lt"/>
          <a:ea typeface="ＭＳ Ｐゴシック" charset="-128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»"/>
        <a:defRPr sz="2400">
          <a:solidFill>
            <a:schemeClr val="accent2"/>
          </a:solidFill>
          <a:latin typeface="+mn-lt"/>
          <a:ea typeface="ＭＳ Ｐゴシック" charset="-128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charset="0"/>
        <a:buChar char="n"/>
        <a:defRPr sz="1200">
          <a:solidFill>
            <a:schemeClr val="accent2"/>
          </a:solidFill>
          <a:latin typeface="+mn-lt"/>
          <a:ea typeface="ＭＳ Ｐゴシック" charset="-128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charset="0"/>
        <a:buChar char="l"/>
        <a:defRPr sz="1200">
          <a:solidFill>
            <a:schemeClr val="accent2"/>
          </a:solidFill>
          <a:latin typeface="+mn-lt"/>
          <a:ea typeface="ＭＳ Ｐゴシック" charset="-128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38150" y="3733800"/>
            <a:ext cx="8248650" cy="1220647"/>
          </a:xfrm>
        </p:spPr>
        <p:txBody>
          <a:bodyPr/>
          <a:lstStyle/>
          <a:p>
            <a:r>
              <a:rPr lang="en-US" altLang="zh-CN" dirty="0">
                <a:latin typeface="Arial" charset="0"/>
                <a:ea typeface="ＭＳ Ｐゴシック" charset="0"/>
                <a:cs typeface="ＭＳ Ｐゴシック" charset="0"/>
              </a:rPr>
              <a:t>Hong</a:t>
            </a:r>
            <a:r>
              <a:rPr lang="zh-CN" altLang="en-US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dirty="0">
                <a:latin typeface="Arial" charset="0"/>
                <a:ea typeface="ＭＳ Ｐゴシック" charset="0"/>
                <a:cs typeface="ＭＳ Ｐゴシック" charset="0"/>
              </a:rPr>
              <a:t>Xu,</a:t>
            </a:r>
            <a:r>
              <a:rPr lang="zh-CN" altLang="en-US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dirty="0">
                <a:latin typeface="Arial" charset="0"/>
                <a:ea typeface="ＭＳ Ｐゴシック" charset="0"/>
                <a:cs typeface="ＭＳ Ｐゴシック" charset="0"/>
              </a:rPr>
              <a:t>Henry</a:t>
            </a: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None/>
            </a:pPr>
            <a:r>
              <a:rPr lang="en-US" altLang="zh-CN" dirty="0">
                <a:latin typeface="Arial" charset="0"/>
                <a:ea typeface="ＭＳ Ｐゴシック" charset="0"/>
                <a:cs typeface="ＭＳ Ｐゴシック" charset="0"/>
              </a:rPr>
              <a:t>CSE@CUHK,</a:t>
            </a:r>
            <a:r>
              <a:rPr lang="zh-CN" altLang="en-US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dirty="0">
                <a:latin typeface="Arial" charset="0"/>
                <a:ea typeface="ＭＳ Ｐゴシック" charset="0"/>
                <a:cs typeface="ＭＳ Ｐゴシック" charset="0"/>
              </a:rPr>
              <a:t>2025</a:t>
            </a: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None/>
            </a:pP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 algn="l"/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Material with thanks to Patri</a:t>
            </a:r>
            <a:r>
              <a:rPr lang="en-US" altLang="zh-CN" sz="1800" i="1" dirty="0">
                <a:latin typeface="Arial" charset="0"/>
                <a:ea typeface="ＭＳ Ｐゴシック" charset="0"/>
                <a:cs typeface="ＭＳ Ｐゴシック" charset="0"/>
              </a:rPr>
              <a:t>ck</a:t>
            </a:r>
            <a:r>
              <a:rPr lang="zh-CN" altLang="en-US" sz="1800" i="1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sz="1800" i="1" dirty="0">
                <a:latin typeface="Arial" charset="0"/>
                <a:ea typeface="ＭＳ Ｐゴシック" charset="0"/>
                <a:cs typeface="ＭＳ Ｐゴシック" charset="0"/>
              </a:rPr>
              <a:t>Lee,</a:t>
            </a:r>
            <a:r>
              <a:rPr lang="zh-CN" altLang="en-US" sz="1800" i="1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sz="1800" i="1" dirty="0" err="1">
                <a:latin typeface="Arial" charset="0"/>
                <a:ea typeface="ＭＳ Ｐゴシック" charset="0"/>
                <a:cs typeface="ＭＳ Ｐゴシック" charset="0"/>
              </a:rPr>
              <a:t>Mosharaf</a:t>
            </a:r>
            <a:r>
              <a:rPr lang="zh-CN" altLang="en-US" sz="1800" i="1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sz="1800" i="1" dirty="0">
                <a:latin typeface="Arial" charset="0"/>
                <a:ea typeface="ＭＳ Ｐゴシック" charset="0"/>
                <a:cs typeface="ＭＳ Ｐゴシック" charset="0"/>
              </a:rPr>
              <a:t>Chowdhury,</a:t>
            </a:r>
            <a:r>
              <a:rPr lang="zh-CN" altLang="en-US" sz="1800" i="1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Aditya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Akella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,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Sugih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Jamin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, Philip Levis, Sylvia Ratnasamy, Peter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Steenkiste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, and many other colleague</a:t>
            </a:r>
            <a:r>
              <a:rPr lang="en-US" altLang="zh-CN" sz="1800" i="1" dirty="0">
                <a:latin typeface="Arial" charset="0"/>
                <a:ea typeface="ＭＳ Ｐゴシック" charset="0"/>
                <a:cs typeface="ＭＳ Ｐゴシック" charset="0"/>
              </a:rPr>
              <a:t>s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.</a:t>
            </a:r>
          </a:p>
          <a:p>
            <a:pPr>
              <a:buFont typeface="Monotype Sorts" charset="0"/>
              <a:buNone/>
            </a:pP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None/>
            </a:pPr>
            <a:endParaRPr lang="en-US" dirty="0">
              <a:effectLst>
                <a:outerShdw blurRad="38100" dist="38100" dir="2700000" algn="tl">
                  <a:srgbClr val="DDDDDD"/>
                </a:outerShdw>
              </a:effectLst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74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-3858" y="1090432"/>
            <a:ext cx="9144000" cy="2286000"/>
          </a:xfrm>
        </p:spPr>
        <p:txBody>
          <a:bodyPr/>
          <a:lstStyle/>
          <a:p>
            <a:pPr algn="ctr"/>
            <a:r>
              <a:rPr lang="en-US" altLang="zh-CN" dirty="0">
                <a:effectLst/>
              </a:rPr>
              <a:t>CSCI4430</a:t>
            </a:r>
            <a:r>
              <a:rPr lang="zh-CN" altLang="en-US" b="1" dirty="0">
                <a:ea typeface="ＭＳ Ｐゴシック" charset="0"/>
              </a:rPr>
              <a:t> </a:t>
            </a:r>
            <a:r>
              <a:rPr lang="en-US" dirty="0"/>
              <a:t>Computer Networks</a:t>
            </a:r>
            <a:br>
              <a:rPr lang="en-US" dirty="0">
                <a:effectLst/>
                <a:latin typeface="Arial Black" charset="0"/>
                <a:ea typeface="ＭＳ Ｐゴシック" charset="0"/>
                <a:cs typeface="ＭＳ Ｐゴシック" charset="0"/>
              </a:rPr>
            </a:br>
            <a:br>
              <a:rPr lang="en-US" sz="2400" dirty="0">
                <a:latin typeface="Arial Black" charset="0"/>
                <a:ea typeface="ＭＳ Ｐゴシック" charset="0"/>
                <a:cs typeface="ＭＳ Ｐゴシック" charset="0"/>
              </a:rPr>
            </a:b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Lecture12:</a:t>
            </a:r>
            <a:r>
              <a:rPr lang="zh-CN" altLang="en-US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Network</a:t>
            </a:r>
            <a:r>
              <a:rPr lang="zh-CN" altLang="en-US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Layer</a:t>
            </a:r>
            <a:r>
              <a:rPr lang="zh-CN" altLang="en-US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–</a:t>
            </a:r>
            <a:r>
              <a:rPr lang="zh-CN" altLang="en-US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 </a:t>
            </a:r>
            <a:br>
              <a:rPr lang="en-HK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</a:b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Intra-Domain</a:t>
            </a:r>
            <a:r>
              <a:rPr lang="zh-CN" altLang="en-US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Routing</a:t>
            </a:r>
            <a:endParaRPr lang="en-US" b="1" dirty="0">
              <a:effectLst/>
              <a:latin typeface="Arial" panose="020B0604020202020204" pitchFamily="34" charset="0"/>
              <a:ea typeface="ＭＳ Ｐゴシック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Link-state routing</a:t>
            </a:r>
          </a:p>
          <a:p>
            <a:r>
              <a:rPr lang="en-US" dirty="0"/>
              <a:t>Distance-vector routing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2D8AAE-983E-5745-BE34-B97F76AE4FB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649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Shape 40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Recap: Least-cost path routing</a:t>
            </a:r>
          </a:p>
        </p:txBody>
      </p:sp>
      <p:sp>
        <p:nvSpPr>
          <p:cNvPr id="403" name="Shape 40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Given:</a:t>
            </a:r>
            <a:r>
              <a:rPr lang="en-US" dirty="0"/>
              <a:t> router graph &amp; link costs</a:t>
            </a:r>
          </a:p>
          <a:p>
            <a:r>
              <a:rPr lang="en-US" dirty="0">
                <a:solidFill>
                  <a:srgbClr val="0000FF"/>
                </a:solidFill>
              </a:rPr>
              <a:t>Goal:</a:t>
            </a:r>
            <a:r>
              <a:rPr lang="en-US" dirty="0"/>
              <a:t> find least-cost path                                            </a:t>
            </a:r>
          </a:p>
          <a:p>
            <a:pPr lvl="1"/>
            <a:r>
              <a:rPr lang="en-US" dirty="0"/>
              <a:t>From each source router to each destination router</a:t>
            </a:r>
          </a:p>
          <a:p>
            <a:endParaRPr lang="en-US" dirty="0"/>
          </a:p>
          <a:p>
            <a:r>
              <a:rPr lang="en-US" dirty="0"/>
              <a:t>Easy way to avoid loops</a:t>
            </a:r>
          </a:p>
          <a:p>
            <a:pPr lvl="1"/>
            <a:r>
              <a:rPr lang="en-US" dirty="0"/>
              <a:t>No reasonable cost metric is minimized by traversing a loop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024FB3A-0F8F-5948-AAC7-A9BCD37BF8F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156582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 Dijkstra’s algorithm</a:t>
            </a:r>
          </a:p>
        </p:txBody>
      </p:sp>
      <p:sp>
        <p:nvSpPr>
          <p:cNvPr id="12493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Network topology, link costs known to all nodes</a:t>
            </a:r>
          </a:p>
          <a:p>
            <a:pPr lvl="1"/>
            <a:r>
              <a:rPr lang="en-US" dirty="0"/>
              <a:t>All nodes have same info</a:t>
            </a:r>
          </a:p>
          <a:p>
            <a:r>
              <a:rPr lang="en-US" dirty="0"/>
              <a:t>Each node (“</a:t>
            </a:r>
            <a:r>
              <a:rPr lang="en-US" altLang="ja-JP" dirty="0"/>
              <a:t>src”) </a:t>
            </a:r>
            <a:r>
              <a:rPr lang="en-US" dirty="0"/>
              <a:t>computes least-cost paths </a:t>
            </a:r>
            <a:r>
              <a:rPr lang="en-US" altLang="ja-JP" dirty="0"/>
              <a:t>to all other nodes</a:t>
            </a:r>
          </a:p>
          <a:p>
            <a:pPr lvl="1"/>
            <a:r>
              <a:rPr lang="en-US" dirty="0"/>
              <a:t>After k iterations, know least-cost path to k destination</a:t>
            </a:r>
            <a:r>
              <a:rPr lang="en-US" altLang="ja-JP" dirty="0"/>
              <a:t>s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447186D-609B-A04F-88EA-B4735552F90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3724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3" name="Shape 119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From algorithm to protocol</a:t>
            </a:r>
          </a:p>
        </p:txBody>
      </p:sp>
      <p:sp>
        <p:nvSpPr>
          <p:cNvPr id="1194" name="Shape 119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Dijkstra’s is a local computation! </a:t>
            </a:r>
          </a:p>
          <a:p>
            <a:pPr lvl="1"/>
            <a:r>
              <a:rPr lang="en-US" dirty="0"/>
              <a:t>Computed by a node given complete network graph</a:t>
            </a:r>
          </a:p>
          <a:p>
            <a:r>
              <a:rPr lang="en-US" dirty="0"/>
              <a:t>Possibilities: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Option#1</a:t>
            </a:r>
            <a:r>
              <a:rPr lang="en-US" dirty="0"/>
              <a:t>: a separate machine runs the algorithm 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Option#2</a:t>
            </a:r>
            <a:r>
              <a:rPr lang="en-US" dirty="0"/>
              <a:t>: every router runs the algorithm</a:t>
            </a:r>
          </a:p>
          <a:p>
            <a:r>
              <a:rPr lang="en-US" dirty="0"/>
              <a:t>The Internet currently uses Option#2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99AF61-EDCD-1741-BABA-BF91951C102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049222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1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1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1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1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1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11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4" grpId="0" uiExpand="1" build="p" advAuto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3" name="Shape 119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Link-state routing</a:t>
            </a:r>
          </a:p>
        </p:txBody>
      </p:sp>
      <p:sp>
        <p:nvSpPr>
          <p:cNvPr id="1194" name="Shape 119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Every router knows its local “link state” </a:t>
            </a:r>
          </a:p>
          <a:p>
            <a:pPr lvl="1"/>
            <a:r>
              <a:rPr lang="en-US" dirty="0"/>
              <a:t>Router u: “(</a:t>
            </a:r>
            <a:r>
              <a:rPr lang="en-US" dirty="0" err="1"/>
              <a:t>u,v</a:t>
            </a:r>
            <a:r>
              <a:rPr lang="en-US" dirty="0"/>
              <a:t>) with cost=2; (</a:t>
            </a:r>
            <a:r>
              <a:rPr lang="en-US" dirty="0" err="1"/>
              <a:t>u,x</a:t>
            </a:r>
            <a:r>
              <a:rPr lang="en-US" dirty="0"/>
              <a:t>) with cost=1”</a:t>
            </a:r>
          </a:p>
          <a:p>
            <a:r>
              <a:rPr lang="en-US" dirty="0"/>
              <a:t>Each router floods its </a:t>
            </a:r>
            <a:r>
              <a:rPr lang="en-US" dirty="0">
                <a:solidFill>
                  <a:srgbClr val="0000FF"/>
                </a:solidFill>
              </a:rPr>
              <a:t>local link state to all other routers </a:t>
            </a:r>
            <a:r>
              <a:rPr lang="en-US" dirty="0"/>
              <a:t>in the network</a:t>
            </a:r>
          </a:p>
          <a:p>
            <a:pPr lvl="1"/>
            <a:r>
              <a:rPr lang="en-US" dirty="0"/>
              <a:t>Does so periodically or when its link state changes</a:t>
            </a:r>
          </a:p>
          <a:p>
            <a:r>
              <a:rPr lang="en-US" dirty="0"/>
              <a:t>Every router learns the entire network graph</a:t>
            </a:r>
          </a:p>
          <a:p>
            <a:pPr lvl="1"/>
            <a:r>
              <a:rPr lang="en-US" dirty="0"/>
              <a:t>Each runs Dijkstra’s Shortest-Path First (SPF) algorithm locally to compute forwarding table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F05399E-5EB2-9141-8616-FDF36CC714D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7527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Flooding link state</a:t>
            </a:r>
          </a:p>
        </p:txBody>
      </p:sp>
      <p:sp>
        <p:nvSpPr>
          <p:cNvPr id="4813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Flooding</a:t>
            </a:r>
          </a:p>
          <a:p>
            <a:pPr lvl="1"/>
            <a:r>
              <a:rPr lang="en-US" dirty="0"/>
              <a:t>A node sends its link-state info </a:t>
            </a:r>
            <a:r>
              <a:rPr lang="en-US" altLang="zh-CN" dirty="0"/>
              <a:t>on</a:t>
            </a:r>
            <a:r>
              <a:rPr lang="en-US" dirty="0"/>
              <a:t> all links</a:t>
            </a:r>
          </a:p>
          <a:p>
            <a:pPr lvl="1"/>
            <a:r>
              <a:rPr lang="en-US" dirty="0"/>
              <a:t>The next node forwards the info on links except the one the information arrived at</a:t>
            </a:r>
            <a:r>
              <a:rPr lang="zh-CN" altLang="en-US" dirty="0"/>
              <a:t> </a:t>
            </a:r>
            <a:r>
              <a:rPr lang="en-US" altLang="zh-CN" dirty="0"/>
              <a:t>(ingress</a:t>
            </a:r>
            <a:r>
              <a:rPr lang="zh-CN" altLang="en-US" dirty="0"/>
              <a:t> </a:t>
            </a:r>
            <a:r>
              <a:rPr lang="en-US" altLang="zh-CN"/>
              <a:t>port)</a:t>
            </a:r>
            <a:endParaRPr lang="en-US" dirty="0"/>
          </a:p>
          <a:p>
            <a:r>
              <a:rPr lang="en-US" dirty="0"/>
              <a:t>When to initiate flooding?</a:t>
            </a:r>
          </a:p>
          <a:p>
            <a:pPr lvl="1"/>
            <a:r>
              <a:rPr lang="en-US" dirty="0"/>
              <a:t>Topology change (e.g., link/node failure/recovery)</a:t>
            </a:r>
          </a:p>
          <a:p>
            <a:pPr lvl="1"/>
            <a:r>
              <a:rPr lang="en-US" dirty="0"/>
              <a:t>Configuration change (e.g., link cost change)</a:t>
            </a:r>
          </a:p>
          <a:p>
            <a:pPr lvl="1"/>
            <a:r>
              <a:rPr lang="en-US" dirty="0"/>
              <a:t>Periodically</a:t>
            </a:r>
          </a:p>
          <a:p>
            <a:pPr lvl="2"/>
            <a:r>
              <a:rPr lang="en-US" dirty="0"/>
              <a:t>To refresh link-state information (soft states)</a:t>
            </a:r>
          </a:p>
          <a:p>
            <a:pPr lvl="2"/>
            <a:r>
              <a:rPr lang="en-US" dirty="0"/>
              <a:t>Typically (say) every 30 minutes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40D8413-AC62-1A4B-A8DC-D659D3E60EF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579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Convergence</a:t>
            </a:r>
          </a:p>
        </p:txBody>
      </p:sp>
      <p:sp>
        <p:nvSpPr>
          <p:cNvPr id="4813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flood? </a:t>
            </a:r>
          </a:p>
          <a:p>
            <a:pPr lvl="1"/>
            <a:r>
              <a:rPr lang="en-US" dirty="0"/>
              <a:t>To get all the nodes in the network to </a:t>
            </a:r>
            <a:r>
              <a:rPr lang="en-US" dirty="0">
                <a:solidFill>
                  <a:srgbClr val="0000FF"/>
                </a:solidFill>
              </a:rPr>
              <a:t>converge </a:t>
            </a:r>
            <a:r>
              <a:rPr lang="en-US" dirty="0"/>
              <a:t>to the new topology</a:t>
            </a:r>
          </a:p>
          <a:p>
            <a:r>
              <a:rPr lang="en-US" dirty="0"/>
              <a:t>Upon convergence, all nodes will have </a:t>
            </a:r>
            <a:r>
              <a:rPr lang="en-US" dirty="0">
                <a:solidFill>
                  <a:srgbClr val="0000FF"/>
                </a:solidFill>
              </a:rPr>
              <a:t>consistent routing information</a:t>
            </a:r>
            <a:r>
              <a:rPr lang="en-US" dirty="0"/>
              <a:t> and can </a:t>
            </a:r>
            <a:r>
              <a:rPr lang="en-US" dirty="0">
                <a:solidFill>
                  <a:srgbClr val="0000FF"/>
                </a:solidFill>
              </a:rPr>
              <a:t>compute consistent forwarding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All nodes have the same link-state database</a:t>
            </a:r>
          </a:p>
          <a:p>
            <a:pPr lvl="1"/>
            <a:r>
              <a:rPr lang="en-US" dirty="0"/>
              <a:t>All nodes forward packets on shortest paths</a:t>
            </a:r>
          </a:p>
          <a:p>
            <a:pPr lvl="1"/>
            <a:r>
              <a:rPr lang="en-US" dirty="0"/>
              <a:t>The next router on the path forwards to the expected next hop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92A2A9-18CB-204E-8984-09FA0E4FF1C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723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Convergence delay</a:t>
            </a:r>
          </a:p>
        </p:txBody>
      </p:sp>
      <p:sp>
        <p:nvSpPr>
          <p:cNvPr id="9656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Time to achieve convergence</a:t>
            </a:r>
          </a:p>
          <a:p>
            <a:r>
              <a:rPr lang="en-US" dirty="0"/>
              <a:t>Sources of convergence delay</a:t>
            </a:r>
          </a:p>
          <a:p>
            <a:pPr lvl="1"/>
            <a:r>
              <a:rPr lang="en-US" dirty="0"/>
              <a:t>Time to detect failure</a:t>
            </a:r>
          </a:p>
          <a:p>
            <a:pPr lvl="1"/>
            <a:r>
              <a:rPr lang="en-US" dirty="0"/>
              <a:t>Time to flood link-state information</a:t>
            </a:r>
          </a:p>
          <a:p>
            <a:pPr lvl="1"/>
            <a:r>
              <a:rPr lang="en-US" dirty="0"/>
              <a:t>Time to re-compute forwarding tables</a:t>
            </a:r>
          </a:p>
          <a:p>
            <a:r>
              <a:rPr lang="en-US" dirty="0">
                <a:solidFill>
                  <a:srgbClr val="0000FF"/>
                </a:solidFill>
              </a:rPr>
              <a:t>What happens if it takes too long to converge?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563179-FBC2-6C42-B583-562757296DB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1021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itle 4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 from convergence delay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9D4E49B-B5A4-5649-A95C-C631C52DDC7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10</a:t>
            </a:fld>
            <a:endParaRPr lang="en-US"/>
          </a:p>
        </p:txBody>
      </p:sp>
      <p:grpSp>
        <p:nvGrpSpPr>
          <p:cNvPr id="45" name="Group 44"/>
          <p:cNvGrpSpPr>
            <a:grpSpLocks noChangeAspect="1"/>
          </p:cNvGrpSpPr>
          <p:nvPr/>
        </p:nvGrpSpPr>
        <p:grpSpPr>
          <a:xfrm>
            <a:off x="736641" y="1905000"/>
            <a:ext cx="3225759" cy="2743200"/>
            <a:chOff x="381000" y="1981200"/>
            <a:chExt cx="4029109" cy="3426372"/>
          </a:xfrm>
        </p:grpSpPr>
        <p:sp>
          <p:nvSpPr>
            <p:cNvPr id="8" name="Text Box 11"/>
            <p:cNvSpPr txBox="1">
              <a:spLocks noChangeArrowheads="1"/>
            </p:cNvSpPr>
            <p:nvPr/>
          </p:nvSpPr>
          <p:spPr bwMode="auto">
            <a:xfrm>
              <a:off x="1025587" y="3504032"/>
              <a:ext cx="311639" cy="3665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>
                  <a:solidFill>
                    <a:schemeClr val="accent2"/>
                  </a:solidFill>
                  <a:ea typeface="Arial" charset="0"/>
                  <a:cs typeface="Arial" charset="0"/>
                </a:rPr>
                <a:t>3</a:t>
              </a:r>
              <a:endParaRPr lang="en-US">
                <a:solidFill>
                  <a:schemeClr val="accent2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9" name="Text Box 12"/>
            <p:cNvSpPr txBox="1">
              <a:spLocks noChangeArrowheads="1"/>
            </p:cNvSpPr>
            <p:nvPr/>
          </p:nvSpPr>
          <p:spPr bwMode="auto">
            <a:xfrm>
              <a:off x="1757574" y="2934332"/>
              <a:ext cx="311638" cy="3665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>
                  <a:solidFill>
                    <a:schemeClr val="accent2"/>
                  </a:solidFill>
                  <a:ea typeface="Arial" charset="0"/>
                  <a:cs typeface="Arial" charset="0"/>
                </a:rPr>
                <a:t>4</a:t>
              </a:r>
              <a:endParaRPr lang="en-US">
                <a:solidFill>
                  <a:schemeClr val="accent2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10" name="Line 23"/>
            <p:cNvSpPr>
              <a:spLocks noChangeShapeType="1"/>
            </p:cNvSpPr>
            <p:nvPr/>
          </p:nvSpPr>
          <p:spPr bwMode="auto">
            <a:xfrm>
              <a:off x="1566243" y="2186366"/>
              <a:ext cx="0" cy="7449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11" name="Line 37"/>
            <p:cNvSpPr>
              <a:spLocks noChangeShapeType="1"/>
            </p:cNvSpPr>
            <p:nvPr/>
          </p:nvSpPr>
          <p:spPr bwMode="auto">
            <a:xfrm>
              <a:off x="754534" y="3944533"/>
              <a:ext cx="91607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12" name="Line 38"/>
            <p:cNvSpPr>
              <a:spLocks noChangeShapeType="1"/>
            </p:cNvSpPr>
            <p:nvPr/>
          </p:nvSpPr>
          <p:spPr bwMode="auto">
            <a:xfrm>
              <a:off x="1772069" y="2344303"/>
              <a:ext cx="0" cy="14333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13" name="Line 39"/>
            <p:cNvSpPr>
              <a:spLocks noChangeShapeType="1"/>
            </p:cNvSpPr>
            <p:nvPr/>
          </p:nvSpPr>
          <p:spPr bwMode="auto">
            <a:xfrm flipH="1">
              <a:off x="574799" y="2253414"/>
              <a:ext cx="976950" cy="16091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14" name="Text Box 40"/>
            <p:cNvSpPr txBox="1">
              <a:spLocks noChangeArrowheads="1"/>
            </p:cNvSpPr>
            <p:nvPr/>
          </p:nvSpPr>
          <p:spPr bwMode="auto">
            <a:xfrm>
              <a:off x="803816" y="2770435"/>
              <a:ext cx="313088" cy="369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>
                  <a:solidFill>
                    <a:schemeClr val="accent2"/>
                  </a:solidFill>
                  <a:ea typeface="Arial" charset="0"/>
                  <a:cs typeface="Arial" charset="0"/>
                </a:rPr>
                <a:t>5</a:t>
              </a:r>
              <a:endParaRPr lang="en-US">
                <a:solidFill>
                  <a:schemeClr val="accent2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15" name="Line 41"/>
            <p:cNvSpPr>
              <a:spLocks noChangeShapeType="1"/>
            </p:cNvSpPr>
            <p:nvPr/>
          </p:nvSpPr>
          <p:spPr bwMode="auto">
            <a:xfrm>
              <a:off x="1782215" y="4019031"/>
              <a:ext cx="13045" cy="10578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16" name="Text Box 42"/>
            <p:cNvSpPr txBox="1">
              <a:spLocks noChangeArrowheads="1"/>
            </p:cNvSpPr>
            <p:nvPr/>
          </p:nvSpPr>
          <p:spPr bwMode="auto">
            <a:xfrm>
              <a:off x="1792362" y="4318516"/>
              <a:ext cx="311638" cy="3665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>
                  <a:solidFill>
                    <a:schemeClr val="accent2"/>
                  </a:solidFill>
                  <a:ea typeface="Arial" charset="0"/>
                  <a:cs typeface="Arial" charset="0"/>
                </a:rPr>
                <a:t>3</a:t>
              </a:r>
              <a:endParaRPr lang="en-US">
                <a:solidFill>
                  <a:schemeClr val="accent2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17" name="Freeform 43"/>
            <p:cNvSpPr>
              <a:spLocks/>
            </p:cNvSpPr>
            <p:nvPr/>
          </p:nvSpPr>
          <p:spPr bwMode="auto">
            <a:xfrm>
              <a:off x="555955" y="4050321"/>
              <a:ext cx="1246553" cy="1190488"/>
            </a:xfrm>
            <a:custGeom>
              <a:avLst/>
              <a:gdLst>
                <a:gd name="T0" fmla="*/ 0 w 857"/>
                <a:gd name="T1" fmla="*/ 0 h 1152"/>
                <a:gd name="T2" fmla="*/ 562 w 857"/>
                <a:gd name="T3" fmla="*/ 1152 h 1152"/>
                <a:gd name="T4" fmla="*/ 857 w 857"/>
                <a:gd name="T5" fmla="*/ 772 h 1152"/>
                <a:gd name="T6" fmla="*/ 0 60000 65536"/>
                <a:gd name="T7" fmla="*/ 0 60000 65536"/>
                <a:gd name="T8" fmla="*/ 0 60000 65536"/>
                <a:gd name="T9" fmla="*/ 0 w 857"/>
                <a:gd name="T10" fmla="*/ 0 h 1152"/>
                <a:gd name="T11" fmla="*/ 857 w 857"/>
                <a:gd name="T12" fmla="*/ 1152 h 1152"/>
                <a:gd name="connsiteX0" fmla="*/ 0 w 10000"/>
                <a:gd name="connsiteY0" fmla="*/ 0 h 6928"/>
                <a:gd name="connsiteX1" fmla="*/ 3770 w 10000"/>
                <a:gd name="connsiteY1" fmla="*/ 6300 h 6928"/>
                <a:gd name="connsiteX2" fmla="*/ 10000 w 10000"/>
                <a:gd name="connsiteY2" fmla="*/ 6701 h 6928"/>
                <a:gd name="connsiteX0" fmla="*/ 0 w 10000"/>
                <a:gd name="connsiteY0" fmla="*/ 0 h 9871"/>
                <a:gd name="connsiteX1" fmla="*/ 1802 w 10000"/>
                <a:gd name="connsiteY1" fmla="*/ 7634 h 9871"/>
                <a:gd name="connsiteX2" fmla="*/ 10000 w 10000"/>
                <a:gd name="connsiteY2" fmla="*/ 9672 h 9871"/>
                <a:gd name="connsiteX0" fmla="*/ 0 w 10000"/>
                <a:gd name="connsiteY0" fmla="*/ 0 h 10136"/>
                <a:gd name="connsiteX1" fmla="*/ 1802 w 10000"/>
                <a:gd name="connsiteY1" fmla="*/ 7734 h 10136"/>
                <a:gd name="connsiteX2" fmla="*/ 10000 w 10000"/>
                <a:gd name="connsiteY2" fmla="*/ 9798 h 10136"/>
                <a:gd name="connsiteX0" fmla="*/ 0 w 10000"/>
                <a:gd name="connsiteY0" fmla="*/ 0 h 10136"/>
                <a:gd name="connsiteX1" fmla="*/ 1802 w 10000"/>
                <a:gd name="connsiteY1" fmla="*/ 7734 h 10136"/>
                <a:gd name="connsiteX2" fmla="*/ 10000 w 10000"/>
                <a:gd name="connsiteY2" fmla="*/ 9798 h 10136"/>
                <a:gd name="connsiteX0" fmla="*/ 32 w 10032"/>
                <a:gd name="connsiteY0" fmla="*/ 0 h 10136"/>
                <a:gd name="connsiteX1" fmla="*/ 1834 w 10032"/>
                <a:gd name="connsiteY1" fmla="*/ 7734 h 10136"/>
                <a:gd name="connsiteX2" fmla="*/ 10032 w 10032"/>
                <a:gd name="connsiteY2" fmla="*/ 9798 h 10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32" h="10136">
                  <a:moveTo>
                    <a:pt x="32" y="0"/>
                  </a:moveTo>
                  <a:cubicBezTo>
                    <a:pt x="62" y="4573"/>
                    <a:pt x="-465" y="5047"/>
                    <a:pt x="1834" y="7734"/>
                  </a:cubicBezTo>
                  <a:cubicBezTo>
                    <a:pt x="4132" y="9414"/>
                    <a:pt x="9320" y="10802"/>
                    <a:pt x="10032" y="9798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18" name="Text Box 44"/>
            <p:cNvSpPr txBox="1">
              <a:spLocks noChangeArrowheads="1"/>
            </p:cNvSpPr>
            <p:nvPr/>
          </p:nvSpPr>
          <p:spPr bwMode="auto">
            <a:xfrm>
              <a:off x="798018" y="4579261"/>
              <a:ext cx="313088" cy="3665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>
                  <a:solidFill>
                    <a:schemeClr val="accent2"/>
                  </a:solidFill>
                  <a:ea typeface="Arial" charset="0"/>
                  <a:cs typeface="Arial" charset="0"/>
                </a:rPr>
                <a:t>7</a:t>
              </a:r>
              <a:endParaRPr lang="en-US">
                <a:solidFill>
                  <a:schemeClr val="accent2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20" name="Text Box 46"/>
            <p:cNvSpPr txBox="1">
              <a:spLocks noChangeArrowheads="1"/>
            </p:cNvSpPr>
            <p:nvPr/>
          </p:nvSpPr>
          <p:spPr bwMode="auto">
            <a:xfrm>
              <a:off x="2433032" y="4559891"/>
              <a:ext cx="313088" cy="3665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>
                  <a:solidFill>
                    <a:schemeClr val="accent2"/>
                  </a:solidFill>
                  <a:ea typeface="Arial" charset="0"/>
                  <a:cs typeface="Arial" charset="0"/>
                </a:rPr>
                <a:t>4</a:t>
              </a:r>
              <a:endParaRPr lang="en-US">
                <a:solidFill>
                  <a:schemeClr val="accent2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21" name="Text Box 56"/>
            <p:cNvSpPr txBox="1">
              <a:spLocks noChangeArrowheads="1"/>
            </p:cNvSpPr>
            <p:nvPr/>
          </p:nvSpPr>
          <p:spPr bwMode="auto">
            <a:xfrm>
              <a:off x="2314175" y="3576145"/>
              <a:ext cx="313088" cy="3665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>
                  <a:solidFill>
                    <a:schemeClr val="accent2"/>
                  </a:solidFill>
                  <a:ea typeface="Arial" charset="0"/>
                  <a:cs typeface="Arial" charset="0"/>
                </a:rPr>
                <a:t>8</a:t>
              </a:r>
              <a:endParaRPr lang="en-US">
                <a:solidFill>
                  <a:schemeClr val="accent2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22" name="Line 65"/>
            <p:cNvSpPr>
              <a:spLocks noChangeShapeType="1"/>
            </p:cNvSpPr>
            <p:nvPr/>
          </p:nvSpPr>
          <p:spPr bwMode="auto">
            <a:xfrm>
              <a:off x="3511445" y="3934103"/>
              <a:ext cx="5102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23" name="Text Box 66"/>
            <p:cNvSpPr txBox="1">
              <a:spLocks noChangeArrowheads="1"/>
            </p:cNvSpPr>
            <p:nvPr/>
          </p:nvSpPr>
          <p:spPr bwMode="auto">
            <a:xfrm>
              <a:off x="3607111" y="3934103"/>
              <a:ext cx="313088" cy="369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>
                  <a:solidFill>
                    <a:schemeClr val="accent2"/>
                  </a:solidFill>
                  <a:ea typeface="Arial" charset="0"/>
                  <a:cs typeface="Arial" charset="0"/>
                </a:rPr>
                <a:t>2</a:t>
              </a:r>
              <a:endParaRPr lang="en-US">
                <a:solidFill>
                  <a:schemeClr val="accent2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24" name="Line 67"/>
            <p:cNvSpPr>
              <a:spLocks noChangeShapeType="1"/>
            </p:cNvSpPr>
            <p:nvPr/>
          </p:nvSpPr>
          <p:spPr bwMode="auto">
            <a:xfrm>
              <a:off x="1863386" y="2207225"/>
              <a:ext cx="1398748" cy="16955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25" name="Text Box 68"/>
            <p:cNvSpPr txBox="1">
              <a:spLocks noChangeArrowheads="1"/>
            </p:cNvSpPr>
            <p:nvPr/>
          </p:nvSpPr>
          <p:spPr bwMode="auto">
            <a:xfrm>
              <a:off x="2542515" y="2733184"/>
              <a:ext cx="313087" cy="3665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>
                  <a:solidFill>
                    <a:schemeClr val="accent2"/>
                  </a:solidFill>
                  <a:ea typeface="Arial" charset="0"/>
                  <a:cs typeface="Arial" charset="0"/>
                </a:rPr>
                <a:t>7</a:t>
              </a:r>
              <a:endParaRPr lang="en-US">
                <a:solidFill>
                  <a:schemeClr val="accent2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26" name="Freeform 69"/>
            <p:cNvSpPr>
              <a:spLocks/>
            </p:cNvSpPr>
            <p:nvPr/>
          </p:nvSpPr>
          <p:spPr bwMode="auto">
            <a:xfrm>
              <a:off x="1843094" y="2186366"/>
              <a:ext cx="40585" cy="20860"/>
            </a:xfrm>
            <a:custGeom>
              <a:avLst/>
              <a:gdLst>
                <a:gd name="T0" fmla="*/ 0 w 28"/>
                <a:gd name="T1" fmla="*/ 14 h 14"/>
                <a:gd name="T2" fmla="*/ 28 w 28"/>
                <a:gd name="T3" fmla="*/ 0 h 14"/>
                <a:gd name="T4" fmla="*/ 0 w 28"/>
                <a:gd name="T5" fmla="*/ 14 h 14"/>
                <a:gd name="T6" fmla="*/ 0 60000 65536"/>
                <a:gd name="T7" fmla="*/ 0 60000 65536"/>
                <a:gd name="T8" fmla="*/ 0 60000 65536"/>
                <a:gd name="T9" fmla="*/ 0 w 28"/>
                <a:gd name="T10" fmla="*/ 0 h 14"/>
                <a:gd name="T11" fmla="*/ 28 w 28"/>
                <a:gd name="T12" fmla="*/ 14 h 1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" h="14">
                  <a:moveTo>
                    <a:pt x="0" y="14"/>
                  </a:moveTo>
                  <a:cubicBezTo>
                    <a:pt x="9" y="9"/>
                    <a:pt x="28" y="0"/>
                    <a:pt x="28" y="0"/>
                  </a:cubicBezTo>
                  <a:cubicBezTo>
                    <a:pt x="28" y="0"/>
                    <a:pt x="9" y="9"/>
                    <a:pt x="0" y="14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27" name="Freeform 70"/>
            <p:cNvSpPr>
              <a:spLocks/>
            </p:cNvSpPr>
            <p:nvPr/>
          </p:nvSpPr>
          <p:spPr bwMode="auto">
            <a:xfrm>
              <a:off x="1863386" y="2220635"/>
              <a:ext cx="2362653" cy="1567451"/>
            </a:xfrm>
            <a:custGeom>
              <a:avLst/>
              <a:gdLst>
                <a:gd name="T0" fmla="*/ 0 w 1510"/>
                <a:gd name="T1" fmla="*/ 5 h 1052"/>
                <a:gd name="T2" fmla="*/ 1102 w 1510"/>
                <a:gd name="T3" fmla="*/ 174 h 1052"/>
                <a:gd name="T4" fmla="*/ 1510 w 1510"/>
                <a:gd name="T5" fmla="*/ 1052 h 1052"/>
                <a:gd name="T6" fmla="*/ 0 60000 65536"/>
                <a:gd name="T7" fmla="*/ 0 60000 65536"/>
                <a:gd name="T8" fmla="*/ 0 60000 65536"/>
                <a:gd name="T9" fmla="*/ 0 w 1510"/>
                <a:gd name="T10" fmla="*/ 0 h 1052"/>
                <a:gd name="T11" fmla="*/ 1510 w 1510"/>
                <a:gd name="T12" fmla="*/ 1052 h 105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10" h="1052">
                  <a:moveTo>
                    <a:pt x="0" y="5"/>
                  </a:moveTo>
                  <a:cubicBezTo>
                    <a:pt x="184" y="33"/>
                    <a:pt x="851" y="0"/>
                    <a:pt x="1102" y="174"/>
                  </a:cubicBezTo>
                  <a:cubicBezTo>
                    <a:pt x="1353" y="348"/>
                    <a:pt x="1425" y="869"/>
                    <a:pt x="1510" y="1052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28" name="Text Box 71"/>
            <p:cNvSpPr txBox="1">
              <a:spLocks noChangeArrowheads="1"/>
            </p:cNvSpPr>
            <p:nvPr/>
          </p:nvSpPr>
          <p:spPr bwMode="auto">
            <a:xfrm>
              <a:off x="3569424" y="2171554"/>
              <a:ext cx="311639" cy="3665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>
                  <a:solidFill>
                    <a:schemeClr val="accent2"/>
                  </a:solidFill>
                  <a:ea typeface="Arial" charset="0"/>
                  <a:cs typeface="Arial" charset="0"/>
                </a:rPr>
                <a:t>9</a:t>
              </a:r>
              <a:endParaRPr lang="en-US">
                <a:solidFill>
                  <a:schemeClr val="accent2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29" name="Oval 28"/>
            <p:cNvSpPr>
              <a:spLocks noChangeAspect="1"/>
            </p:cNvSpPr>
            <p:nvPr/>
          </p:nvSpPr>
          <p:spPr bwMode="auto">
            <a:xfrm>
              <a:off x="1552903" y="1981200"/>
              <a:ext cx="457200" cy="457200"/>
            </a:xfrm>
            <a:prstGeom prst="ellipse">
              <a:avLst/>
            </a:prstGeom>
            <a:solidFill>
              <a:srgbClr val="D3A600"/>
            </a:solidFill>
            <a:ln w="9525" cap="flat" cmpd="sng" algn="ctr">
              <a:noFill/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accent2"/>
                  </a:solidFill>
                  <a:effectLst/>
                  <a:latin typeface="Arial" charset="0"/>
                </a:rPr>
                <a:t>x</a:t>
              </a:r>
            </a:p>
          </p:txBody>
        </p:sp>
        <p:sp>
          <p:nvSpPr>
            <p:cNvPr id="30" name="Oval 29"/>
            <p:cNvSpPr>
              <a:spLocks noChangeAspect="1"/>
            </p:cNvSpPr>
            <p:nvPr/>
          </p:nvSpPr>
          <p:spPr bwMode="auto">
            <a:xfrm>
              <a:off x="381000" y="3720662"/>
              <a:ext cx="457200" cy="457200"/>
            </a:xfrm>
            <a:prstGeom prst="ellipse">
              <a:avLst/>
            </a:prstGeom>
            <a:solidFill>
              <a:srgbClr val="D3A600"/>
            </a:solidFill>
            <a:ln w="9525" cap="flat" cmpd="sng" algn="ctr">
              <a:noFill/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i="0" u="none" strike="noStrike" cap="none" normalizeH="0" baseline="0" dirty="0">
                  <a:ln>
                    <a:noFill/>
                  </a:ln>
                  <a:solidFill>
                    <a:srgbClr val="0000FF"/>
                  </a:solidFill>
                  <a:effectLst/>
                  <a:latin typeface="Arial" charset="0"/>
                </a:rPr>
                <a:t>u</a:t>
              </a:r>
            </a:p>
          </p:txBody>
        </p:sp>
        <p:sp>
          <p:nvSpPr>
            <p:cNvPr id="31" name="Oval 30"/>
            <p:cNvSpPr>
              <a:spLocks noChangeAspect="1"/>
            </p:cNvSpPr>
            <p:nvPr/>
          </p:nvSpPr>
          <p:spPr bwMode="auto">
            <a:xfrm>
              <a:off x="3952909" y="3720662"/>
              <a:ext cx="457200" cy="457200"/>
            </a:xfrm>
            <a:prstGeom prst="ellipse">
              <a:avLst/>
            </a:prstGeom>
            <a:solidFill>
              <a:srgbClr val="D3A600"/>
            </a:solidFill>
            <a:ln w="9525" cap="flat" cmpd="sng" algn="ctr">
              <a:noFill/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accent2"/>
                  </a:solidFill>
                  <a:effectLst/>
                  <a:latin typeface="Arial" charset="0"/>
                </a:rPr>
                <a:t>z</a:t>
              </a:r>
            </a:p>
          </p:txBody>
        </p:sp>
        <p:sp>
          <p:nvSpPr>
            <p:cNvPr id="32" name="Oval 31"/>
            <p:cNvSpPr>
              <a:spLocks noChangeAspect="1"/>
            </p:cNvSpPr>
            <p:nvPr/>
          </p:nvSpPr>
          <p:spPr bwMode="auto">
            <a:xfrm>
              <a:off x="1568668" y="4950372"/>
              <a:ext cx="457200" cy="457200"/>
            </a:xfrm>
            <a:prstGeom prst="ellipse">
              <a:avLst/>
            </a:prstGeom>
            <a:solidFill>
              <a:srgbClr val="D3A600"/>
            </a:solidFill>
            <a:ln w="9525" cap="flat" cmpd="sng" algn="ctr">
              <a:noFill/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accent2"/>
                  </a:solidFill>
                  <a:effectLst/>
                  <a:latin typeface="Arial" charset="0"/>
                </a:rPr>
                <a:t>v</a:t>
              </a:r>
            </a:p>
          </p:txBody>
        </p:sp>
        <p:sp>
          <p:nvSpPr>
            <p:cNvPr id="33" name="Oval 32"/>
            <p:cNvSpPr>
              <a:spLocks noChangeAspect="1"/>
            </p:cNvSpPr>
            <p:nvPr/>
          </p:nvSpPr>
          <p:spPr bwMode="auto">
            <a:xfrm>
              <a:off x="3086428" y="3720662"/>
              <a:ext cx="457200" cy="457200"/>
            </a:xfrm>
            <a:prstGeom prst="ellipse">
              <a:avLst/>
            </a:prstGeom>
            <a:solidFill>
              <a:srgbClr val="D3A600"/>
            </a:solidFill>
            <a:ln w="9525" cap="flat" cmpd="sng" algn="ctr">
              <a:noFill/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accent2"/>
                  </a:solidFill>
                  <a:effectLst/>
                  <a:latin typeface="Arial" charset="0"/>
                </a:rPr>
                <a:t>y</a:t>
              </a:r>
            </a:p>
          </p:txBody>
        </p:sp>
        <p:sp>
          <p:nvSpPr>
            <p:cNvPr id="34" name="Oval 33"/>
            <p:cNvSpPr>
              <a:spLocks noChangeAspect="1"/>
            </p:cNvSpPr>
            <p:nvPr/>
          </p:nvSpPr>
          <p:spPr bwMode="auto">
            <a:xfrm>
              <a:off x="1568668" y="3720662"/>
              <a:ext cx="457200" cy="457200"/>
            </a:xfrm>
            <a:prstGeom prst="ellipse">
              <a:avLst/>
            </a:prstGeom>
            <a:solidFill>
              <a:srgbClr val="D3A600"/>
            </a:solidFill>
            <a:ln w="9525" cap="flat" cmpd="sng" algn="ctr">
              <a:noFill/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accent2"/>
                  </a:solidFill>
                  <a:effectLst/>
                  <a:latin typeface="Arial" charset="0"/>
                </a:rPr>
                <a:t>w</a:t>
              </a:r>
            </a:p>
          </p:txBody>
        </p:sp>
        <p:sp>
          <p:nvSpPr>
            <p:cNvPr id="35" name="Line 37"/>
            <p:cNvSpPr>
              <a:spLocks noChangeShapeType="1"/>
            </p:cNvSpPr>
            <p:nvPr/>
          </p:nvSpPr>
          <p:spPr bwMode="auto">
            <a:xfrm>
              <a:off x="2010102" y="3944533"/>
              <a:ext cx="10972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</p:grpSp>
      <p:sp>
        <p:nvSpPr>
          <p:cNvPr id="38" name="Line 126"/>
          <p:cNvSpPr>
            <a:spLocks noChangeShapeType="1"/>
          </p:cNvSpPr>
          <p:nvPr/>
        </p:nvSpPr>
        <p:spPr bwMode="auto">
          <a:xfrm flipV="1">
            <a:off x="3246510" y="3468939"/>
            <a:ext cx="386781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0" name="Line 128"/>
          <p:cNvSpPr>
            <a:spLocks noChangeShapeType="1"/>
          </p:cNvSpPr>
          <p:nvPr/>
        </p:nvSpPr>
        <p:spPr bwMode="auto">
          <a:xfrm>
            <a:off x="1856655" y="3640351"/>
            <a:ext cx="7620" cy="658368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1" name="Line 129"/>
          <p:cNvSpPr>
            <a:spLocks noChangeShapeType="1"/>
          </p:cNvSpPr>
          <p:nvPr/>
        </p:nvSpPr>
        <p:spPr bwMode="auto">
          <a:xfrm flipV="1">
            <a:off x="955563" y="2110866"/>
            <a:ext cx="728980" cy="1193655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2" name="Line 130"/>
          <p:cNvSpPr>
            <a:spLocks noChangeShapeType="1"/>
          </p:cNvSpPr>
          <p:nvPr/>
        </p:nvSpPr>
        <p:spPr bwMode="auto">
          <a:xfrm flipV="1">
            <a:off x="1106184" y="3474182"/>
            <a:ext cx="585216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840830" y="4958029"/>
            <a:ext cx="31215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accent2"/>
                </a:solidFill>
              </a:rPr>
              <a:t>u</a:t>
            </a:r>
            <a:r>
              <a:rPr lang="en-US" sz="2000" b="0" dirty="0">
                <a:solidFill>
                  <a:schemeClr val="accent2"/>
                </a:solidFill>
              </a:rPr>
              <a:t> and </a:t>
            </a:r>
            <a:r>
              <a:rPr lang="en-US" sz="2000" dirty="0">
                <a:solidFill>
                  <a:schemeClr val="accent2"/>
                </a:solidFill>
              </a:rPr>
              <a:t>w</a:t>
            </a:r>
            <a:r>
              <a:rPr lang="en-US" sz="2000" b="0" dirty="0">
                <a:solidFill>
                  <a:schemeClr val="accent2"/>
                </a:solidFill>
              </a:rPr>
              <a:t> think that the path to </a:t>
            </a:r>
            <a:r>
              <a:rPr lang="en-US" sz="2000" dirty="0">
                <a:solidFill>
                  <a:schemeClr val="accent2"/>
                </a:solidFill>
              </a:rPr>
              <a:t>y</a:t>
            </a:r>
            <a:r>
              <a:rPr lang="en-US" sz="2000" b="0" dirty="0">
                <a:solidFill>
                  <a:schemeClr val="accent2"/>
                </a:solidFill>
              </a:rPr>
              <a:t> goes through </a:t>
            </a:r>
            <a:r>
              <a:rPr lang="en-US" sz="2000" dirty="0">
                <a:solidFill>
                  <a:schemeClr val="accent2"/>
                </a:solidFill>
              </a:rPr>
              <a:t>v</a:t>
            </a:r>
          </a:p>
        </p:txBody>
      </p:sp>
      <p:grpSp>
        <p:nvGrpSpPr>
          <p:cNvPr id="48" name="Group 47"/>
          <p:cNvGrpSpPr>
            <a:grpSpLocks noChangeAspect="1"/>
          </p:cNvGrpSpPr>
          <p:nvPr/>
        </p:nvGrpSpPr>
        <p:grpSpPr>
          <a:xfrm>
            <a:off x="5080041" y="1905000"/>
            <a:ext cx="3225759" cy="2743200"/>
            <a:chOff x="381000" y="1981200"/>
            <a:chExt cx="4032199" cy="3429000"/>
          </a:xfrm>
        </p:grpSpPr>
        <p:grpSp>
          <p:nvGrpSpPr>
            <p:cNvPr id="49" name="Group 48"/>
            <p:cNvGrpSpPr>
              <a:grpSpLocks noChangeAspect="1"/>
            </p:cNvGrpSpPr>
            <p:nvPr/>
          </p:nvGrpSpPr>
          <p:grpSpPr>
            <a:xfrm>
              <a:off x="381000" y="1981200"/>
              <a:ext cx="4032199" cy="3429000"/>
              <a:chOff x="381000" y="1981200"/>
              <a:chExt cx="4029109" cy="3426372"/>
            </a:xfrm>
          </p:grpSpPr>
          <p:sp>
            <p:nvSpPr>
              <p:cNvPr id="55" name="Text Box 11"/>
              <p:cNvSpPr txBox="1">
                <a:spLocks noChangeArrowheads="1"/>
              </p:cNvSpPr>
              <p:nvPr/>
            </p:nvSpPr>
            <p:spPr bwMode="auto">
              <a:xfrm>
                <a:off x="1025587" y="3504032"/>
                <a:ext cx="311639" cy="3665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1800">
                    <a:solidFill>
                      <a:schemeClr val="accent2"/>
                    </a:solidFill>
                    <a:ea typeface="Arial" charset="0"/>
                    <a:cs typeface="Arial" charset="0"/>
                  </a:rPr>
                  <a:t>3</a:t>
                </a:r>
                <a:endParaRPr lang="en-US">
                  <a:solidFill>
                    <a:schemeClr val="accent2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56" name="Text Box 12"/>
              <p:cNvSpPr txBox="1">
                <a:spLocks noChangeArrowheads="1"/>
              </p:cNvSpPr>
              <p:nvPr/>
            </p:nvSpPr>
            <p:spPr bwMode="auto">
              <a:xfrm>
                <a:off x="1757574" y="2934332"/>
                <a:ext cx="311638" cy="3665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1800">
                    <a:solidFill>
                      <a:schemeClr val="accent2"/>
                    </a:solidFill>
                    <a:ea typeface="Arial" charset="0"/>
                    <a:cs typeface="Arial" charset="0"/>
                  </a:rPr>
                  <a:t>4</a:t>
                </a:r>
                <a:endParaRPr lang="en-US">
                  <a:solidFill>
                    <a:schemeClr val="accent2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57" name="Line 23"/>
              <p:cNvSpPr>
                <a:spLocks noChangeShapeType="1"/>
              </p:cNvSpPr>
              <p:nvPr/>
            </p:nvSpPr>
            <p:spPr bwMode="auto">
              <a:xfrm>
                <a:off x="1566243" y="2186366"/>
                <a:ext cx="0" cy="74499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ea typeface="Arial" charset="0"/>
                  <a:cs typeface="Arial" charset="0"/>
                </a:endParaRPr>
              </a:p>
            </p:txBody>
          </p:sp>
          <p:sp>
            <p:nvSpPr>
              <p:cNvPr id="58" name="Line 37"/>
              <p:cNvSpPr>
                <a:spLocks noChangeShapeType="1"/>
              </p:cNvSpPr>
              <p:nvPr/>
            </p:nvSpPr>
            <p:spPr bwMode="auto">
              <a:xfrm>
                <a:off x="754534" y="3944533"/>
                <a:ext cx="91607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ea typeface="Arial" charset="0"/>
                  <a:cs typeface="Arial" charset="0"/>
                </a:endParaRPr>
              </a:p>
            </p:txBody>
          </p:sp>
          <p:sp>
            <p:nvSpPr>
              <p:cNvPr id="59" name="Line 38"/>
              <p:cNvSpPr>
                <a:spLocks noChangeShapeType="1"/>
              </p:cNvSpPr>
              <p:nvPr/>
            </p:nvSpPr>
            <p:spPr bwMode="auto">
              <a:xfrm>
                <a:off x="1772069" y="2344303"/>
                <a:ext cx="0" cy="143335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ea typeface="Arial" charset="0"/>
                  <a:cs typeface="Arial" charset="0"/>
                </a:endParaRPr>
              </a:p>
            </p:txBody>
          </p:sp>
          <p:sp>
            <p:nvSpPr>
              <p:cNvPr id="60" name="Line 39"/>
              <p:cNvSpPr>
                <a:spLocks noChangeShapeType="1"/>
              </p:cNvSpPr>
              <p:nvPr/>
            </p:nvSpPr>
            <p:spPr bwMode="auto">
              <a:xfrm flipH="1">
                <a:off x="574799" y="2253414"/>
                <a:ext cx="976950" cy="160917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ea typeface="Arial" charset="0"/>
                  <a:cs typeface="Arial" charset="0"/>
                </a:endParaRPr>
              </a:p>
            </p:txBody>
          </p:sp>
          <p:sp>
            <p:nvSpPr>
              <p:cNvPr id="61" name="Text Box 40"/>
              <p:cNvSpPr txBox="1">
                <a:spLocks noChangeArrowheads="1"/>
              </p:cNvSpPr>
              <p:nvPr/>
            </p:nvSpPr>
            <p:spPr bwMode="auto">
              <a:xfrm>
                <a:off x="803816" y="2770435"/>
                <a:ext cx="313088" cy="3695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1800">
                    <a:solidFill>
                      <a:schemeClr val="accent2"/>
                    </a:solidFill>
                    <a:ea typeface="Arial" charset="0"/>
                    <a:cs typeface="Arial" charset="0"/>
                  </a:rPr>
                  <a:t>5</a:t>
                </a:r>
                <a:endParaRPr lang="en-US">
                  <a:solidFill>
                    <a:schemeClr val="accent2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62" name="Line 41"/>
              <p:cNvSpPr>
                <a:spLocks noChangeShapeType="1"/>
              </p:cNvSpPr>
              <p:nvPr/>
            </p:nvSpPr>
            <p:spPr bwMode="auto">
              <a:xfrm>
                <a:off x="1782215" y="4019031"/>
                <a:ext cx="13045" cy="10578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ea typeface="Arial" charset="0"/>
                  <a:cs typeface="Arial" charset="0"/>
                </a:endParaRPr>
              </a:p>
            </p:txBody>
          </p:sp>
          <p:sp>
            <p:nvSpPr>
              <p:cNvPr id="63" name="Text Box 42"/>
              <p:cNvSpPr txBox="1">
                <a:spLocks noChangeArrowheads="1"/>
              </p:cNvSpPr>
              <p:nvPr/>
            </p:nvSpPr>
            <p:spPr bwMode="auto">
              <a:xfrm>
                <a:off x="1792362" y="4318516"/>
                <a:ext cx="311638" cy="3665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1800">
                    <a:solidFill>
                      <a:schemeClr val="accent2"/>
                    </a:solidFill>
                    <a:ea typeface="Arial" charset="0"/>
                    <a:cs typeface="Arial" charset="0"/>
                  </a:rPr>
                  <a:t>3</a:t>
                </a:r>
                <a:endParaRPr lang="en-US">
                  <a:solidFill>
                    <a:schemeClr val="accent2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64" name="Freeform 43"/>
              <p:cNvSpPr>
                <a:spLocks/>
              </p:cNvSpPr>
              <p:nvPr/>
            </p:nvSpPr>
            <p:spPr bwMode="auto">
              <a:xfrm>
                <a:off x="555955" y="4050321"/>
                <a:ext cx="1246553" cy="1190488"/>
              </a:xfrm>
              <a:custGeom>
                <a:avLst/>
                <a:gdLst>
                  <a:gd name="T0" fmla="*/ 0 w 857"/>
                  <a:gd name="T1" fmla="*/ 0 h 1152"/>
                  <a:gd name="T2" fmla="*/ 562 w 857"/>
                  <a:gd name="T3" fmla="*/ 1152 h 1152"/>
                  <a:gd name="T4" fmla="*/ 857 w 857"/>
                  <a:gd name="T5" fmla="*/ 772 h 1152"/>
                  <a:gd name="T6" fmla="*/ 0 60000 65536"/>
                  <a:gd name="T7" fmla="*/ 0 60000 65536"/>
                  <a:gd name="T8" fmla="*/ 0 60000 65536"/>
                  <a:gd name="T9" fmla="*/ 0 w 857"/>
                  <a:gd name="T10" fmla="*/ 0 h 1152"/>
                  <a:gd name="T11" fmla="*/ 857 w 857"/>
                  <a:gd name="T12" fmla="*/ 1152 h 1152"/>
                  <a:gd name="connsiteX0" fmla="*/ 0 w 10000"/>
                  <a:gd name="connsiteY0" fmla="*/ 0 h 6928"/>
                  <a:gd name="connsiteX1" fmla="*/ 3770 w 10000"/>
                  <a:gd name="connsiteY1" fmla="*/ 6300 h 6928"/>
                  <a:gd name="connsiteX2" fmla="*/ 10000 w 10000"/>
                  <a:gd name="connsiteY2" fmla="*/ 6701 h 6928"/>
                  <a:gd name="connsiteX0" fmla="*/ 0 w 10000"/>
                  <a:gd name="connsiteY0" fmla="*/ 0 h 9871"/>
                  <a:gd name="connsiteX1" fmla="*/ 1802 w 10000"/>
                  <a:gd name="connsiteY1" fmla="*/ 7634 h 9871"/>
                  <a:gd name="connsiteX2" fmla="*/ 10000 w 10000"/>
                  <a:gd name="connsiteY2" fmla="*/ 9672 h 9871"/>
                  <a:gd name="connsiteX0" fmla="*/ 0 w 10000"/>
                  <a:gd name="connsiteY0" fmla="*/ 0 h 10136"/>
                  <a:gd name="connsiteX1" fmla="*/ 1802 w 10000"/>
                  <a:gd name="connsiteY1" fmla="*/ 7734 h 10136"/>
                  <a:gd name="connsiteX2" fmla="*/ 10000 w 10000"/>
                  <a:gd name="connsiteY2" fmla="*/ 9798 h 10136"/>
                  <a:gd name="connsiteX0" fmla="*/ 0 w 10000"/>
                  <a:gd name="connsiteY0" fmla="*/ 0 h 10136"/>
                  <a:gd name="connsiteX1" fmla="*/ 1802 w 10000"/>
                  <a:gd name="connsiteY1" fmla="*/ 7734 h 10136"/>
                  <a:gd name="connsiteX2" fmla="*/ 10000 w 10000"/>
                  <a:gd name="connsiteY2" fmla="*/ 9798 h 10136"/>
                  <a:gd name="connsiteX0" fmla="*/ 32 w 10032"/>
                  <a:gd name="connsiteY0" fmla="*/ 0 h 10136"/>
                  <a:gd name="connsiteX1" fmla="*/ 1834 w 10032"/>
                  <a:gd name="connsiteY1" fmla="*/ 7734 h 10136"/>
                  <a:gd name="connsiteX2" fmla="*/ 10032 w 10032"/>
                  <a:gd name="connsiteY2" fmla="*/ 9798 h 101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32" h="10136">
                    <a:moveTo>
                      <a:pt x="32" y="0"/>
                    </a:moveTo>
                    <a:cubicBezTo>
                      <a:pt x="62" y="4573"/>
                      <a:pt x="-465" y="5047"/>
                      <a:pt x="1834" y="7734"/>
                    </a:cubicBezTo>
                    <a:cubicBezTo>
                      <a:pt x="4132" y="9414"/>
                      <a:pt x="9320" y="10802"/>
                      <a:pt x="10032" y="9798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>
                  <a:ea typeface="Arial" charset="0"/>
                  <a:cs typeface="Arial" charset="0"/>
                </a:endParaRPr>
              </a:p>
            </p:txBody>
          </p:sp>
          <p:sp>
            <p:nvSpPr>
              <p:cNvPr id="65" name="Text Box 44"/>
              <p:cNvSpPr txBox="1">
                <a:spLocks noChangeArrowheads="1"/>
              </p:cNvSpPr>
              <p:nvPr/>
            </p:nvSpPr>
            <p:spPr bwMode="auto">
              <a:xfrm>
                <a:off x="798018" y="4579261"/>
                <a:ext cx="313088" cy="3665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1800">
                    <a:solidFill>
                      <a:schemeClr val="accent2"/>
                    </a:solidFill>
                    <a:ea typeface="Arial" charset="0"/>
                    <a:cs typeface="Arial" charset="0"/>
                  </a:rPr>
                  <a:t>7</a:t>
                </a:r>
                <a:endParaRPr lang="en-US">
                  <a:solidFill>
                    <a:schemeClr val="accent2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67" name="Text Box 46"/>
              <p:cNvSpPr txBox="1">
                <a:spLocks noChangeArrowheads="1"/>
              </p:cNvSpPr>
              <p:nvPr/>
            </p:nvSpPr>
            <p:spPr bwMode="auto">
              <a:xfrm>
                <a:off x="2433032" y="4559891"/>
                <a:ext cx="313088" cy="3665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1800">
                    <a:solidFill>
                      <a:schemeClr val="accent2"/>
                    </a:solidFill>
                    <a:ea typeface="Arial" charset="0"/>
                    <a:cs typeface="Arial" charset="0"/>
                  </a:rPr>
                  <a:t>4</a:t>
                </a:r>
                <a:endParaRPr lang="en-US">
                  <a:solidFill>
                    <a:schemeClr val="accent2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68" name="Text Box 56"/>
              <p:cNvSpPr txBox="1">
                <a:spLocks noChangeArrowheads="1"/>
              </p:cNvSpPr>
              <p:nvPr/>
            </p:nvSpPr>
            <p:spPr bwMode="auto">
              <a:xfrm>
                <a:off x="2314175" y="3576145"/>
                <a:ext cx="313088" cy="3665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1800">
                    <a:solidFill>
                      <a:schemeClr val="accent2"/>
                    </a:solidFill>
                    <a:ea typeface="Arial" charset="0"/>
                    <a:cs typeface="Arial" charset="0"/>
                  </a:rPr>
                  <a:t>8</a:t>
                </a:r>
                <a:endParaRPr lang="en-US">
                  <a:solidFill>
                    <a:schemeClr val="accent2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69" name="Line 65"/>
              <p:cNvSpPr>
                <a:spLocks noChangeShapeType="1"/>
              </p:cNvSpPr>
              <p:nvPr/>
            </p:nvSpPr>
            <p:spPr bwMode="auto">
              <a:xfrm>
                <a:off x="3511445" y="3934103"/>
                <a:ext cx="51021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ea typeface="Arial" charset="0"/>
                  <a:cs typeface="Arial" charset="0"/>
                </a:endParaRPr>
              </a:p>
            </p:txBody>
          </p:sp>
          <p:sp>
            <p:nvSpPr>
              <p:cNvPr id="70" name="Text Box 66"/>
              <p:cNvSpPr txBox="1">
                <a:spLocks noChangeArrowheads="1"/>
              </p:cNvSpPr>
              <p:nvPr/>
            </p:nvSpPr>
            <p:spPr bwMode="auto">
              <a:xfrm>
                <a:off x="3607111" y="3934103"/>
                <a:ext cx="313088" cy="3695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1800">
                    <a:solidFill>
                      <a:schemeClr val="accent2"/>
                    </a:solidFill>
                    <a:ea typeface="Arial" charset="0"/>
                    <a:cs typeface="Arial" charset="0"/>
                  </a:rPr>
                  <a:t>2</a:t>
                </a:r>
                <a:endParaRPr lang="en-US">
                  <a:solidFill>
                    <a:schemeClr val="accent2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71" name="Line 67"/>
              <p:cNvSpPr>
                <a:spLocks noChangeShapeType="1"/>
              </p:cNvSpPr>
              <p:nvPr/>
            </p:nvSpPr>
            <p:spPr bwMode="auto">
              <a:xfrm>
                <a:off x="1863386" y="2207225"/>
                <a:ext cx="1398748" cy="16955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ea typeface="Arial" charset="0"/>
                  <a:cs typeface="Arial" charset="0"/>
                </a:endParaRPr>
              </a:p>
            </p:txBody>
          </p:sp>
          <p:sp>
            <p:nvSpPr>
              <p:cNvPr id="72" name="Text Box 68"/>
              <p:cNvSpPr txBox="1">
                <a:spLocks noChangeArrowheads="1"/>
              </p:cNvSpPr>
              <p:nvPr/>
            </p:nvSpPr>
            <p:spPr bwMode="auto">
              <a:xfrm>
                <a:off x="2542515" y="2733184"/>
                <a:ext cx="313087" cy="3665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1800">
                    <a:solidFill>
                      <a:schemeClr val="accent2"/>
                    </a:solidFill>
                    <a:ea typeface="Arial" charset="0"/>
                    <a:cs typeface="Arial" charset="0"/>
                  </a:rPr>
                  <a:t>7</a:t>
                </a:r>
                <a:endParaRPr lang="en-US">
                  <a:solidFill>
                    <a:schemeClr val="accent2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73" name="Freeform 69"/>
              <p:cNvSpPr>
                <a:spLocks/>
              </p:cNvSpPr>
              <p:nvPr/>
            </p:nvSpPr>
            <p:spPr bwMode="auto">
              <a:xfrm>
                <a:off x="1843094" y="2186366"/>
                <a:ext cx="40585" cy="20860"/>
              </a:xfrm>
              <a:custGeom>
                <a:avLst/>
                <a:gdLst>
                  <a:gd name="T0" fmla="*/ 0 w 28"/>
                  <a:gd name="T1" fmla="*/ 14 h 14"/>
                  <a:gd name="T2" fmla="*/ 28 w 28"/>
                  <a:gd name="T3" fmla="*/ 0 h 14"/>
                  <a:gd name="T4" fmla="*/ 0 w 28"/>
                  <a:gd name="T5" fmla="*/ 14 h 14"/>
                  <a:gd name="T6" fmla="*/ 0 60000 65536"/>
                  <a:gd name="T7" fmla="*/ 0 60000 65536"/>
                  <a:gd name="T8" fmla="*/ 0 60000 65536"/>
                  <a:gd name="T9" fmla="*/ 0 w 28"/>
                  <a:gd name="T10" fmla="*/ 0 h 14"/>
                  <a:gd name="T11" fmla="*/ 28 w 28"/>
                  <a:gd name="T12" fmla="*/ 14 h 1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8" h="14">
                    <a:moveTo>
                      <a:pt x="0" y="14"/>
                    </a:moveTo>
                    <a:cubicBezTo>
                      <a:pt x="9" y="9"/>
                      <a:pt x="28" y="0"/>
                      <a:pt x="28" y="0"/>
                    </a:cubicBezTo>
                    <a:cubicBezTo>
                      <a:pt x="28" y="0"/>
                      <a:pt x="9" y="9"/>
                      <a:pt x="0" y="14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ea typeface="Arial" charset="0"/>
                  <a:cs typeface="Arial" charset="0"/>
                </a:endParaRPr>
              </a:p>
            </p:txBody>
          </p:sp>
          <p:sp>
            <p:nvSpPr>
              <p:cNvPr id="74" name="Freeform 70"/>
              <p:cNvSpPr>
                <a:spLocks/>
              </p:cNvSpPr>
              <p:nvPr/>
            </p:nvSpPr>
            <p:spPr bwMode="auto">
              <a:xfrm>
                <a:off x="1863386" y="2220635"/>
                <a:ext cx="2362653" cy="1567451"/>
              </a:xfrm>
              <a:custGeom>
                <a:avLst/>
                <a:gdLst>
                  <a:gd name="T0" fmla="*/ 0 w 1510"/>
                  <a:gd name="T1" fmla="*/ 5 h 1052"/>
                  <a:gd name="T2" fmla="*/ 1102 w 1510"/>
                  <a:gd name="T3" fmla="*/ 174 h 1052"/>
                  <a:gd name="T4" fmla="*/ 1510 w 1510"/>
                  <a:gd name="T5" fmla="*/ 1052 h 1052"/>
                  <a:gd name="T6" fmla="*/ 0 60000 65536"/>
                  <a:gd name="T7" fmla="*/ 0 60000 65536"/>
                  <a:gd name="T8" fmla="*/ 0 60000 65536"/>
                  <a:gd name="T9" fmla="*/ 0 w 1510"/>
                  <a:gd name="T10" fmla="*/ 0 h 1052"/>
                  <a:gd name="T11" fmla="*/ 1510 w 1510"/>
                  <a:gd name="T12" fmla="*/ 1052 h 105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510" h="1052">
                    <a:moveTo>
                      <a:pt x="0" y="5"/>
                    </a:moveTo>
                    <a:cubicBezTo>
                      <a:pt x="184" y="33"/>
                      <a:pt x="851" y="0"/>
                      <a:pt x="1102" y="174"/>
                    </a:cubicBezTo>
                    <a:cubicBezTo>
                      <a:pt x="1353" y="348"/>
                      <a:pt x="1425" y="869"/>
                      <a:pt x="1510" y="1052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>
                  <a:ea typeface="Arial" charset="0"/>
                  <a:cs typeface="Arial" charset="0"/>
                </a:endParaRPr>
              </a:p>
            </p:txBody>
          </p:sp>
          <p:sp>
            <p:nvSpPr>
              <p:cNvPr id="75" name="Text Box 71"/>
              <p:cNvSpPr txBox="1">
                <a:spLocks noChangeArrowheads="1"/>
              </p:cNvSpPr>
              <p:nvPr/>
            </p:nvSpPr>
            <p:spPr bwMode="auto">
              <a:xfrm>
                <a:off x="3569424" y="2171554"/>
                <a:ext cx="311639" cy="3665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1800">
                    <a:solidFill>
                      <a:schemeClr val="accent2"/>
                    </a:solidFill>
                    <a:ea typeface="Arial" charset="0"/>
                    <a:cs typeface="Arial" charset="0"/>
                  </a:rPr>
                  <a:t>9</a:t>
                </a:r>
                <a:endParaRPr lang="en-US">
                  <a:solidFill>
                    <a:schemeClr val="accent2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76" name="Oval 75"/>
              <p:cNvSpPr>
                <a:spLocks noChangeAspect="1"/>
              </p:cNvSpPr>
              <p:nvPr/>
            </p:nvSpPr>
            <p:spPr bwMode="auto">
              <a:xfrm>
                <a:off x="1552903" y="1981200"/>
                <a:ext cx="457200" cy="457200"/>
              </a:xfrm>
              <a:prstGeom prst="ellipse">
                <a:avLst/>
              </a:prstGeom>
              <a:solidFill>
                <a:srgbClr val="D3A600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stealth" w="med" len="lg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600" b="0" i="0" u="none" strike="noStrike" cap="none" normalizeH="0" baseline="0" dirty="0">
                    <a:ln>
                      <a:noFill/>
                    </a:ln>
                    <a:solidFill>
                      <a:schemeClr val="accent2"/>
                    </a:solidFill>
                    <a:effectLst/>
                    <a:latin typeface="Arial" charset="0"/>
                  </a:rPr>
                  <a:t>x</a:t>
                </a:r>
              </a:p>
            </p:txBody>
          </p:sp>
          <p:sp>
            <p:nvSpPr>
              <p:cNvPr id="77" name="Oval 76"/>
              <p:cNvSpPr>
                <a:spLocks noChangeAspect="1"/>
              </p:cNvSpPr>
              <p:nvPr/>
            </p:nvSpPr>
            <p:spPr bwMode="auto">
              <a:xfrm>
                <a:off x="381000" y="3720662"/>
                <a:ext cx="457200" cy="457200"/>
              </a:xfrm>
              <a:prstGeom prst="ellipse">
                <a:avLst/>
              </a:prstGeom>
              <a:solidFill>
                <a:srgbClr val="D3A600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stealth" w="med" len="lg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i="0" u="none" strike="noStrike" cap="none" normalizeH="0" baseline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Arial" charset="0"/>
                  </a:rPr>
                  <a:t>u</a:t>
                </a:r>
              </a:p>
            </p:txBody>
          </p:sp>
          <p:sp>
            <p:nvSpPr>
              <p:cNvPr id="78" name="Oval 77"/>
              <p:cNvSpPr>
                <a:spLocks noChangeAspect="1"/>
              </p:cNvSpPr>
              <p:nvPr/>
            </p:nvSpPr>
            <p:spPr bwMode="auto">
              <a:xfrm>
                <a:off x="3952909" y="3720662"/>
                <a:ext cx="457200" cy="457200"/>
              </a:xfrm>
              <a:prstGeom prst="ellipse">
                <a:avLst/>
              </a:prstGeom>
              <a:solidFill>
                <a:srgbClr val="D3A600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stealth" w="med" len="lg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600" b="0" i="0" u="none" strike="noStrike" cap="none" normalizeH="0" baseline="0" dirty="0">
                    <a:ln>
                      <a:noFill/>
                    </a:ln>
                    <a:solidFill>
                      <a:schemeClr val="accent2"/>
                    </a:solidFill>
                    <a:effectLst/>
                    <a:latin typeface="Arial" charset="0"/>
                  </a:rPr>
                  <a:t>z</a:t>
                </a:r>
              </a:p>
            </p:txBody>
          </p:sp>
          <p:sp>
            <p:nvSpPr>
              <p:cNvPr id="79" name="Oval 78"/>
              <p:cNvSpPr>
                <a:spLocks noChangeAspect="1"/>
              </p:cNvSpPr>
              <p:nvPr/>
            </p:nvSpPr>
            <p:spPr bwMode="auto">
              <a:xfrm>
                <a:off x="1568668" y="4950372"/>
                <a:ext cx="457200" cy="457200"/>
              </a:xfrm>
              <a:prstGeom prst="ellipse">
                <a:avLst/>
              </a:prstGeom>
              <a:solidFill>
                <a:srgbClr val="D3A600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stealth" w="med" len="lg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600" b="0" i="0" u="none" strike="noStrike" cap="none" normalizeH="0" baseline="0" dirty="0">
                    <a:ln>
                      <a:noFill/>
                    </a:ln>
                    <a:solidFill>
                      <a:schemeClr val="accent2"/>
                    </a:solidFill>
                    <a:effectLst/>
                    <a:latin typeface="Arial" charset="0"/>
                  </a:rPr>
                  <a:t>v</a:t>
                </a:r>
              </a:p>
            </p:txBody>
          </p:sp>
          <p:sp>
            <p:nvSpPr>
              <p:cNvPr id="80" name="Oval 79"/>
              <p:cNvSpPr>
                <a:spLocks noChangeAspect="1"/>
              </p:cNvSpPr>
              <p:nvPr/>
            </p:nvSpPr>
            <p:spPr bwMode="auto">
              <a:xfrm>
                <a:off x="3086428" y="3720662"/>
                <a:ext cx="457200" cy="457200"/>
              </a:xfrm>
              <a:prstGeom prst="ellipse">
                <a:avLst/>
              </a:prstGeom>
              <a:solidFill>
                <a:srgbClr val="D3A600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stealth" w="med" len="lg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600" b="0" i="0" u="none" strike="noStrike" cap="none" normalizeH="0" baseline="0" dirty="0">
                    <a:ln>
                      <a:noFill/>
                    </a:ln>
                    <a:solidFill>
                      <a:schemeClr val="accent2"/>
                    </a:solidFill>
                    <a:effectLst/>
                    <a:latin typeface="Arial" charset="0"/>
                  </a:rPr>
                  <a:t>y</a:t>
                </a:r>
              </a:p>
            </p:txBody>
          </p:sp>
          <p:sp>
            <p:nvSpPr>
              <p:cNvPr id="81" name="Oval 80"/>
              <p:cNvSpPr>
                <a:spLocks noChangeAspect="1"/>
              </p:cNvSpPr>
              <p:nvPr/>
            </p:nvSpPr>
            <p:spPr bwMode="auto">
              <a:xfrm>
                <a:off x="1568668" y="3720662"/>
                <a:ext cx="457200" cy="457200"/>
              </a:xfrm>
              <a:prstGeom prst="ellipse">
                <a:avLst/>
              </a:prstGeom>
              <a:solidFill>
                <a:srgbClr val="D3A600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stealth" w="med" len="lg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600" b="0" i="0" u="none" strike="noStrike" cap="none" normalizeH="0" baseline="0" dirty="0">
                    <a:ln>
                      <a:noFill/>
                    </a:ln>
                    <a:solidFill>
                      <a:schemeClr val="accent2"/>
                    </a:solidFill>
                    <a:effectLst/>
                    <a:latin typeface="Arial" charset="0"/>
                  </a:rPr>
                  <a:t>w</a:t>
                </a:r>
              </a:p>
            </p:txBody>
          </p:sp>
          <p:sp>
            <p:nvSpPr>
              <p:cNvPr id="82" name="Line 37"/>
              <p:cNvSpPr>
                <a:spLocks noChangeShapeType="1"/>
              </p:cNvSpPr>
              <p:nvPr/>
            </p:nvSpPr>
            <p:spPr bwMode="auto">
              <a:xfrm>
                <a:off x="2010102" y="3944533"/>
                <a:ext cx="10972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ea typeface="Arial" charset="0"/>
                  <a:cs typeface="Arial" charset="0"/>
                </a:endParaRPr>
              </a:p>
            </p:txBody>
          </p:sp>
        </p:grpSp>
        <p:sp>
          <p:nvSpPr>
            <p:cNvPr id="50" name="Line 126"/>
            <p:cNvSpPr>
              <a:spLocks noChangeShapeType="1"/>
            </p:cNvSpPr>
            <p:nvPr/>
          </p:nvSpPr>
          <p:spPr bwMode="auto">
            <a:xfrm flipV="1">
              <a:off x="2011351" y="3944183"/>
              <a:ext cx="1098121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52" name="Line 128"/>
            <p:cNvSpPr>
              <a:spLocks noChangeShapeType="1"/>
            </p:cNvSpPr>
            <p:nvPr/>
          </p:nvSpPr>
          <p:spPr bwMode="auto">
            <a:xfrm>
              <a:off x="1781018" y="4150389"/>
              <a:ext cx="9525" cy="82296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stealth" w="lg" len="lg"/>
              <a:tailEnd type="non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</p:grpSp>
      <p:sp>
        <p:nvSpPr>
          <p:cNvPr id="83" name="Line 127"/>
          <p:cNvSpPr>
            <a:spLocks noChangeShapeType="1"/>
          </p:cNvSpPr>
          <p:nvPr/>
        </p:nvSpPr>
        <p:spPr bwMode="auto">
          <a:xfrm flipV="1">
            <a:off x="2002086" y="3553022"/>
            <a:ext cx="933319" cy="798786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5080041" y="4958029"/>
            <a:ext cx="31215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>
                <a:solidFill>
                  <a:schemeClr val="accent2"/>
                </a:solidFill>
              </a:rPr>
              <a:t>v</a:t>
            </a:r>
            <a:r>
              <a:rPr lang="en-US" sz="2000" b="0">
                <a:solidFill>
                  <a:schemeClr val="accent2"/>
                </a:solidFill>
              </a:rPr>
              <a:t> thinks </a:t>
            </a:r>
            <a:r>
              <a:rPr lang="en-US" sz="2000" b="0" dirty="0">
                <a:solidFill>
                  <a:schemeClr val="accent2"/>
                </a:solidFill>
              </a:rPr>
              <a:t>that the path to </a:t>
            </a:r>
            <a:r>
              <a:rPr lang="en-US" sz="2000" dirty="0">
                <a:solidFill>
                  <a:schemeClr val="accent2"/>
                </a:solidFill>
              </a:rPr>
              <a:t>y</a:t>
            </a:r>
            <a:r>
              <a:rPr lang="en-US" sz="2000" b="0" dirty="0">
                <a:solidFill>
                  <a:schemeClr val="accent2"/>
                </a:solidFill>
              </a:rPr>
              <a:t> goes </a:t>
            </a:r>
            <a:r>
              <a:rPr lang="en-US" sz="2000" b="0">
                <a:solidFill>
                  <a:schemeClr val="accent2"/>
                </a:solidFill>
              </a:rPr>
              <a:t>through </a:t>
            </a:r>
            <a:r>
              <a:rPr lang="en-US" sz="2000">
                <a:solidFill>
                  <a:schemeClr val="accent2"/>
                </a:solidFill>
              </a:rPr>
              <a:t>w</a:t>
            </a:r>
            <a:endParaRPr lang="en-US" sz="20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6058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83" grpId="0" animBg="1"/>
      <p:bldP spid="8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during convergence period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Looping packets</a:t>
            </a:r>
          </a:p>
          <a:p>
            <a:r>
              <a:rPr lang="en-US" dirty="0">
                <a:solidFill>
                  <a:srgbClr val="0000FF"/>
                </a:solidFill>
              </a:rPr>
              <a:t>Lost packets</a:t>
            </a:r>
            <a:r>
              <a:rPr lang="en-US" dirty="0"/>
              <a:t> due to black holes</a:t>
            </a:r>
          </a:p>
          <a:p>
            <a:r>
              <a:rPr lang="en-US" dirty="0">
                <a:solidFill>
                  <a:srgbClr val="0000FF"/>
                </a:solidFill>
              </a:rPr>
              <a:t>Out-of-order packets</a:t>
            </a:r>
            <a:r>
              <a:rPr lang="en-US" dirty="0"/>
              <a:t> reaching the destination</a:t>
            </a:r>
          </a:p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06BEC3-D712-B347-B472-4E53A429115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242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3" name="Shape 119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Link-state routing</a:t>
            </a:r>
          </a:p>
        </p:txBody>
      </p:sp>
      <p:sp>
        <p:nvSpPr>
          <p:cNvPr id="1194" name="Shape 119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Scalability?</a:t>
            </a:r>
          </a:p>
          <a:p>
            <a:r>
              <a:rPr lang="en-US" altLang="zh-CN" dirty="0"/>
              <a:t>N:</a:t>
            </a:r>
            <a:r>
              <a:rPr lang="zh-CN" altLang="en-US" dirty="0"/>
              <a:t> </a:t>
            </a:r>
            <a:r>
              <a:rPr lang="en-US" altLang="zh-CN" dirty="0"/>
              <a:t>number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nodes,</a:t>
            </a:r>
            <a:r>
              <a:rPr lang="zh-CN" altLang="en-US" dirty="0"/>
              <a:t> </a:t>
            </a:r>
            <a:r>
              <a:rPr lang="en-US" altLang="zh-CN" dirty="0"/>
              <a:t>E:</a:t>
            </a:r>
            <a:r>
              <a:rPr lang="zh-CN" altLang="en-US" dirty="0"/>
              <a:t> </a:t>
            </a:r>
            <a:r>
              <a:rPr lang="en-US" altLang="zh-CN" dirty="0"/>
              <a:t>number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edges</a:t>
            </a:r>
            <a:endParaRPr lang="en-US" dirty="0"/>
          </a:p>
          <a:p>
            <a:pPr lvl="1"/>
            <a:r>
              <a:rPr lang="en-US" dirty="0"/>
              <a:t>O(NE) messages </a:t>
            </a:r>
          </a:p>
          <a:p>
            <a:pPr lvl="1"/>
            <a:r>
              <a:rPr lang="en-US" dirty="0"/>
              <a:t>O(N</a:t>
            </a:r>
            <a:r>
              <a:rPr lang="en-US" baseline="30000" dirty="0"/>
              <a:t>2</a:t>
            </a:r>
            <a:r>
              <a:rPr lang="en-US" dirty="0"/>
              <a:t>) computation time </a:t>
            </a:r>
          </a:p>
          <a:p>
            <a:pPr lvl="1"/>
            <a:r>
              <a:rPr lang="en-US" dirty="0"/>
              <a:t>O(Network diameter) convergence delay</a:t>
            </a:r>
          </a:p>
          <a:p>
            <a:pPr lvl="1"/>
            <a:r>
              <a:rPr lang="en-US" dirty="0"/>
              <a:t>O(N) entries in forwarding table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62E1662-F4D3-7246-B69B-3593ED22BC5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0545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Link-state routing protocols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OSPF</a:t>
            </a:r>
            <a:r>
              <a:rPr lang="en-US" dirty="0"/>
              <a:t>: Open Shortest Path First</a:t>
            </a:r>
          </a:p>
          <a:p>
            <a:r>
              <a:rPr lang="en-US" dirty="0">
                <a:solidFill>
                  <a:srgbClr val="0000FF"/>
                </a:solidFill>
              </a:rPr>
              <a:t>IS-IS</a:t>
            </a:r>
            <a:r>
              <a:rPr lang="en-US" dirty="0"/>
              <a:t>: Intermediate System to Intermediate System</a:t>
            </a:r>
          </a:p>
          <a:p>
            <a:pPr lvl="1"/>
            <a:r>
              <a:rPr lang="en-US" dirty="0"/>
              <a:t>Similar to OSPF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BECAAD-AD35-2F4B-B3A0-FE59780ECA8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9561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OSPF: Open Shortest-Path First</a:t>
            </a:r>
          </a:p>
        </p:txBody>
      </p:sp>
      <p:sp>
        <p:nvSpPr>
          <p:cNvPr id="15770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>
                <a:solidFill>
                  <a:srgbClr val="0000FF"/>
                </a:solidFill>
              </a:rPr>
              <a:t>Open</a:t>
            </a:r>
            <a:r>
              <a:rPr lang="en-US" altLang="ja-JP" dirty="0"/>
              <a:t>: publicly available</a:t>
            </a:r>
          </a:p>
          <a:p>
            <a:r>
              <a:rPr lang="en-US" dirty="0"/>
              <a:t>Uses link-state algorithm </a:t>
            </a:r>
          </a:p>
          <a:p>
            <a:pPr lvl="1"/>
            <a:r>
              <a:rPr lang="en-US" dirty="0"/>
              <a:t>Link-state packet dissemination</a:t>
            </a:r>
          </a:p>
          <a:p>
            <a:pPr lvl="1"/>
            <a:r>
              <a:rPr lang="en-US" dirty="0"/>
              <a:t>Topology map at each node</a:t>
            </a:r>
          </a:p>
          <a:p>
            <a:pPr lvl="1"/>
            <a:r>
              <a:rPr lang="en-US" dirty="0"/>
              <a:t>Route computation using Dijkstra’</a:t>
            </a:r>
            <a:r>
              <a:rPr lang="en-US" altLang="ja-JP" dirty="0"/>
              <a:t>s algorithm</a:t>
            </a:r>
          </a:p>
          <a:p>
            <a:r>
              <a:rPr lang="en-US" dirty="0"/>
              <a:t>Router floods OSPF link-state advertisements to all other routers in entire AS</a:t>
            </a:r>
          </a:p>
          <a:p>
            <a:pPr lvl="1"/>
            <a:r>
              <a:rPr lang="en-US" dirty="0"/>
              <a:t>Carried in OSPF messages </a:t>
            </a:r>
            <a:r>
              <a:rPr lang="en-US" dirty="0">
                <a:solidFill>
                  <a:srgbClr val="0000FF"/>
                </a:solidFill>
              </a:rPr>
              <a:t>directly over IP</a:t>
            </a:r>
            <a:r>
              <a:rPr lang="en-US" dirty="0"/>
              <a:t> (rather than TCP or UDP)</a:t>
            </a:r>
          </a:p>
          <a:p>
            <a:pPr lvl="2"/>
            <a:r>
              <a:rPr lang="en-US" dirty="0"/>
              <a:t>Requires reliable transmission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D186CF5-551F-E14F-90E5-03A22064081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18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Distance-vector protocol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Link-state routing protocol</a:t>
            </a:r>
          </a:p>
          <a:p>
            <a:pPr lvl="1"/>
            <a:r>
              <a:rPr lang="en-US" dirty="0"/>
              <a:t>Each node </a:t>
            </a:r>
            <a:r>
              <a:rPr lang="en-US" dirty="0">
                <a:solidFill>
                  <a:srgbClr val="0000FF"/>
                </a:solidFill>
              </a:rPr>
              <a:t>broadcasts</a:t>
            </a:r>
            <a:r>
              <a:rPr lang="en-US" dirty="0"/>
              <a:t> its </a:t>
            </a:r>
            <a:r>
              <a:rPr lang="en-US" dirty="0">
                <a:solidFill>
                  <a:srgbClr val="0000FF"/>
                </a:solidFill>
              </a:rPr>
              <a:t>local</a:t>
            </a:r>
            <a:r>
              <a:rPr lang="en-US" dirty="0"/>
              <a:t> information</a:t>
            </a:r>
          </a:p>
          <a:p>
            <a:endParaRPr lang="en-US" dirty="0"/>
          </a:p>
          <a:p>
            <a:r>
              <a:rPr lang="en-US" dirty="0"/>
              <a:t>Distance-vector routing protocol</a:t>
            </a:r>
          </a:p>
          <a:p>
            <a:pPr lvl="1"/>
            <a:r>
              <a:rPr lang="en-US" dirty="0"/>
              <a:t>The opposite (sort of)</a:t>
            </a:r>
          </a:p>
          <a:p>
            <a:pPr lvl="1"/>
            <a:r>
              <a:rPr lang="en-US" dirty="0"/>
              <a:t>Each node </a:t>
            </a:r>
            <a:r>
              <a:rPr lang="en-US" dirty="0">
                <a:solidFill>
                  <a:srgbClr val="0000FF"/>
                </a:solidFill>
              </a:rPr>
              <a:t>tells its neighbors</a:t>
            </a:r>
            <a:r>
              <a:rPr lang="en-US" dirty="0"/>
              <a:t> about its </a:t>
            </a:r>
            <a:r>
              <a:rPr lang="en-US" dirty="0">
                <a:solidFill>
                  <a:srgbClr val="0000FF"/>
                </a:solidFill>
              </a:rPr>
              <a:t>global</a:t>
            </a:r>
            <a:r>
              <a:rPr lang="en-US" dirty="0"/>
              <a:t> view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1BBA3A-9F6E-1248-8489-0F2E995F258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932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Bellman-Ford equation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</a:t>
            </a:r>
          </a:p>
          <a:p>
            <a:pPr lvl="1"/>
            <a:r>
              <a:rPr lang="en-US" dirty="0"/>
              <a:t>d</a:t>
            </a:r>
            <a:r>
              <a:rPr lang="en-US" baseline="-25000" dirty="0"/>
              <a:t>x</a:t>
            </a:r>
            <a:r>
              <a:rPr lang="en-US" dirty="0"/>
              <a:t>(y) := cost of least-cost path from x to y</a:t>
            </a:r>
          </a:p>
          <a:p>
            <a:r>
              <a:rPr lang="en-US" dirty="0"/>
              <a:t>Then</a:t>
            </a:r>
          </a:p>
          <a:p>
            <a:pPr lvl="1"/>
            <a:r>
              <a:rPr lang="hr-HR" dirty="0"/>
              <a:t>d</a:t>
            </a:r>
            <a:r>
              <a:rPr lang="hr-HR" baseline="-25000" dirty="0"/>
              <a:t>x</a:t>
            </a:r>
            <a:r>
              <a:rPr lang="hr-HR" dirty="0"/>
              <a:t>(y) = min</a:t>
            </a:r>
            <a:r>
              <a:rPr lang="hr-HR" baseline="-25000" dirty="0"/>
              <a:t>v</a:t>
            </a:r>
            <a:r>
              <a:rPr lang="hr-HR" dirty="0"/>
              <a:t> {c(x, v) + d</a:t>
            </a:r>
            <a:r>
              <a:rPr lang="hr-HR" baseline="-25000" dirty="0"/>
              <a:t>v</a:t>
            </a:r>
            <a:r>
              <a:rPr lang="hr-HR" dirty="0"/>
              <a:t>(y) }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640F295-7334-A340-A35A-789119045B5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3017838" y="4364335"/>
            <a:ext cx="261481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b="0" dirty="0">
                <a:solidFill>
                  <a:schemeClr val="accent2"/>
                </a:solidFill>
                <a:ea typeface="Arial" charset="0"/>
                <a:cs typeface="Arial" charset="0"/>
              </a:rPr>
              <a:t>cost to neighbor v</a:t>
            </a: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2116138" y="4826000"/>
            <a:ext cx="485742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b="0" i="1" dirty="0">
                <a:solidFill>
                  <a:schemeClr val="accent2"/>
                </a:solidFill>
                <a:ea typeface="Arial" charset="0"/>
                <a:cs typeface="Arial" charset="0"/>
              </a:rPr>
              <a:t>min</a:t>
            </a:r>
            <a:r>
              <a:rPr lang="en-US" b="0" dirty="0">
                <a:solidFill>
                  <a:schemeClr val="accent2"/>
                </a:solidFill>
                <a:ea typeface="Arial" charset="0"/>
                <a:cs typeface="Arial" charset="0"/>
              </a:rPr>
              <a:t> taken over all neighbors v of x</a:t>
            </a:r>
          </a:p>
        </p:txBody>
      </p:sp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3974062" y="3925307"/>
            <a:ext cx="512993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b="0">
                <a:solidFill>
                  <a:schemeClr val="accent2"/>
                </a:solidFill>
                <a:ea typeface="Arial" charset="0"/>
                <a:cs typeface="Arial" charset="0"/>
              </a:rPr>
              <a:t>cost from neighbor v to destination y</a:t>
            </a:r>
          </a:p>
        </p:txBody>
      </p:sp>
      <p:sp>
        <p:nvSpPr>
          <p:cNvPr id="10" name="Line 10"/>
          <p:cNvSpPr>
            <a:spLocks noChangeShapeType="1"/>
          </p:cNvSpPr>
          <p:nvPr/>
        </p:nvSpPr>
        <p:spPr bwMode="auto">
          <a:xfrm>
            <a:off x="2568227" y="3505200"/>
            <a:ext cx="0" cy="1282700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endParaRPr lang="en-US" b="0">
              <a:ea typeface="Arial" charset="0"/>
              <a:cs typeface="Arial" charset="0"/>
            </a:endParaRPr>
          </a:p>
        </p:txBody>
      </p:sp>
      <p:sp>
        <p:nvSpPr>
          <p:cNvPr id="11" name="Line 11"/>
          <p:cNvSpPr>
            <a:spLocks noChangeShapeType="1"/>
          </p:cNvSpPr>
          <p:nvPr/>
        </p:nvSpPr>
        <p:spPr bwMode="auto">
          <a:xfrm>
            <a:off x="3352800" y="3505200"/>
            <a:ext cx="0" cy="892175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2" name="Line 13"/>
          <p:cNvSpPr>
            <a:spLocks noChangeShapeType="1"/>
          </p:cNvSpPr>
          <p:nvPr/>
        </p:nvSpPr>
        <p:spPr bwMode="auto">
          <a:xfrm>
            <a:off x="4572000" y="3505200"/>
            <a:ext cx="0" cy="434975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819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 animBg="1"/>
      <p:bldP spid="11" grpId="0" animBg="1"/>
      <p:bldP spid="1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Bellman-Ford example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112FDA0-539B-A84C-90DA-2184C22848B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133126" name="Text Box 73"/>
          <p:cNvSpPr txBox="1">
            <a:spLocks noChangeArrowheads="1"/>
          </p:cNvSpPr>
          <p:nvPr/>
        </p:nvSpPr>
        <p:spPr bwMode="auto">
          <a:xfrm>
            <a:off x="3765550" y="1770063"/>
            <a:ext cx="403187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b="0" dirty="0">
                <a:solidFill>
                  <a:srgbClr val="0000FF"/>
                </a:solidFill>
              </a:rPr>
              <a:t>d</a:t>
            </a:r>
            <a:r>
              <a:rPr lang="en-US" b="0" baseline="-25000" dirty="0">
                <a:solidFill>
                  <a:srgbClr val="0000FF"/>
                </a:solidFill>
              </a:rPr>
              <a:t>x</a:t>
            </a:r>
            <a:r>
              <a:rPr lang="en-US" b="0" dirty="0">
                <a:solidFill>
                  <a:srgbClr val="0000FF"/>
                </a:solidFill>
              </a:rPr>
              <a:t>(z) = 9, </a:t>
            </a:r>
            <a:r>
              <a:rPr lang="en-US" b="0" dirty="0" err="1">
                <a:solidFill>
                  <a:srgbClr val="0000FF"/>
                </a:solidFill>
              </a:rPr>
              <a:t>d</a:t>
            </a:r>
            <a:r>
              <a:rPr lang="en-US" b="0" baseline="-25000" dirty="0" err="1">
                <a:solidFill>
                  <a:srgbClr val="0000FF"/>
                </a:solidFill>
              </a:rPr>
              <a:t>w</a:t>
            </a:r>
            <a:r>
              <a:rPr lang="en-US" b="0" dirty="0">
                <a:solidFill>
                  <a:srgbClr val="0000FF"/>
                </a:solidFill>
              </a:rPr>
              <a:t>(z) = 9, d</a:t>
            </a:r>
            <a:r>
              <a:rPr lang="en-US" b="0" baseline="-25000" dirty="0">
                <a:solidFill>
                  <a:srgbClr val="0000FF"/>
                </a:solidFill>
              </a:rPr>
              <a:t>v</a:t>
            </a:r>
            <a:r>
              <a:rPr lang="en-US" b="0" dirty="0">
                <a:solidFill>
                  <a:srgbClr val="0000FF"/>
                </a:solidFill>
              </a:rPr>
              <a:t>(z) = 6</a:t>
            </a:r>
          </a:p>
        </p:txBody>
      </p:sp>
      <p:sp>
        <p:nvSpPr>
          <p:cNvPr id="133127" name="Text Box 74"/>
          <p:cNvSpPr txBox="1">
            <a:spLocks noChangeArrowheads="1"/>
          </p:cNvSpPr>
          <p:nvPr/>
        </p:nvSpPr>
        <p:spPr bwMode="auto">
          <a:xfrm>
            <a:off x="4275138" y="2928938"/>
            <a:ext cx="3285195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1379538" indent="-1379538"/>
            <a:r>
              <a:rPr lang="en-US" sz="2000" b="0" dirty="0">
                <a:solidFill>
                  <a:schemeClr val="accent2"/>
                </a:solidFill>
              </a:rPr>
              <a:t>d</a:t>
            </a:r>
            <a:r>
              <a:rPr lang="en-US" sz="2000" b="0" baseline="-25000" dirty="0">
                <a:solidFill>
                  <a:schemeClr val="accent2"/>
                </a:solidFill>
              </a:rPr>
              <a:t>u</a:t>
            </a:r>
            <a:r>
              <a:rPr lang="en-US" sz="2000" b="0" dirty="0">
                <a:solidFill>
                  <a:schemeClr val="accent2"/>
                </a:solidFill>
              </a:rPr>
              <a:t>(z) = min {c(</a:t>
            </a:r>
            <a:r>
              <a:rPr lang="en-US" sz="2000" b="0" dirty="0" err="1">
                <a:solidFill>
                  <a:schemeClr val="accent2"/>
                </a:solidFill>
              </a:rPr>
              <a:t>u,x</a:t>
            </a:r>
            <a:r>
              <a:rPr lang="en-US" sz="2000" b="0" dirty="0">
                <a:solidFill>
                  <a:schemeClr val="accent2"/>
                </a:solidFill>
              </a:rPr>
              <a:t>) + d</a:t>
            </a:r>
            <a:r>
              <a:rPr lang="en-US" sz="2000" b="0" baseline="-25000" dirty="0">
                <a:solidFill>
                  <a:schemeClr val="accent2"/>
                </a:solidFill>
              </a:rPr>
              <a:t>x</a:t>
            </a:r>
            <a:r>
              <a:rPr lang="en-US" sz="2000" b="0" dirty="0">
                <a:solidFill>
                  <a:schemeClr val="accent2"/>
                </a:solidFill>
              </a:rPr>
              <a:t>(z),</a:t>
            </a:r>
          </a:p>
          <a:p>
            <a:pPr marL="1435100" indent="-55563"/>
            <a:r>
              <a:rPr lang="en-US" sz="2000" b="0" dirty="0">
                <a:solidFill>
                  <a:schemeClr val="accent2"/>
                </a:solidFill>
              </a:rPr>
              <a:t>c(</a:t>
            </a:r>
            <a:r>
              <a:rPr lang="en-US" sz="2000" b="0" dirty="0" err="1">
                <a:solidFill>
                  <a:schemeClr val="accent2"/>
                </a:solidFill>
              </a:rPr>
              <a:t>u,w</a:t>
            </a:r>
            <a:r>
              <a:rPr lang="en-US" sz="2000" b="0" dirty="0">
                <a:solidFill>
                  <a:schemeClr val="accent2"/>
                </a:solidFill>
              </a:rPr>
              <a:t>) + </a:t>
            </a:r>
            <a:r>
              <a:rPr lang="en-US" sz="2000" b="0" dirty="0" err="1">
                <a:solidFill>
                  <a:schemeClr val="accent2"/>
                </a:solidFill>
              </a:rPr>
              <a:t>d</a:t>
            </a:r>
            <a:r>
              <a:rPr lang="en-US" sz="2000" b="0" baseline="-25000" dirty="0" err="1">
                <a:solidFill>
                  <a:schemeClr val="accent2"/>
                </a:solidFill>
              </a:rPr>
              <a:t>w</a:t>
            </a:r>
            <a:r>
              <a:rPr lang="en-US" sz="2000" b="0" dirty="0">
                <a:solidFill>
                  <a:schemeClr val="accent2"/>
                </a:solidFill>
              </a:rPr>
              <a:t>(z),</a:t>
            </a:r>
          </a:p>
          <a:p>
            <a:pPr indent="1379538"/>
            <a:r>
              <a:rPr lang="en-US" sz="2000" b="0" dirty="0">
                <a:solidFill>
                  <a:schemeClr val="accent2"/>
                </a:solidFill>
              </a:rPr>
              <a:t>c(</a:t>
            </a:r>
            <a:r>
              <a:rPr lang="en-US" sz="2000" b="0" dirty="0" err="1">
                <a:solidFill>
                  <a:schemeClr val="accent2"/>
                </a:solidFill>
              </a:rPr>
              <a:t>u,v</a:t>
            </a:r>
            <a:r>
              <a:rPr lang="en-US" sz="2000" b="0" dirty="0">
                <a:solidFill>
                  <a:schemeClr val="accent2"/>
                </a:solidFill>
              </a:rPr>
              <a:t>) + d</a:t>
            </a:r>
            <a:r>
              <a:rPr lang="en-US" sz="2000" b="0" baseline="-25000" dirty="0">
                <a:solidFill>
                  <a:schemeClr val="accent2"/>
                </a:solidFill>
              </a:rPr>
              <a:t>v</a:t>
            </a:r>
            <a:r>
              <a:rPr lang="en-US" sz="2000" b="0" dirty="0">
                <a:solidFill>
                  <a:schemeClr val="accent2"/>
                </a:solidFill>
              </a:rPr>
              <a:t>(z) }</a:t>
            </a:r>
          </a:p>
          <a:p>
            <a:r>
              <a:rPr lang="en-US" sz="2000" b="0" dirty="0">
                <a:solidFill>
                  <a:schemeClr val="accent2"/>
                </a:solidFill>
              </a:rPr>
              <a:t>         = min {5 + 9,</a:t>
            </a:r>
          </a:p>
          <a:p>
            <a:r>
              <a:rPr lang="en-US" sz="2000" b="0" dirty="0">
                <a:solidFill>
                  <a:schemeClr val="accent2"/>
                </a:solidFill>
              </a:rPr>
              <a:t>                    </a:t>
            </a:r>
            <a:r>
              <a:rPr lang="en-US" sz="2000" b="0" dirty="0">
                <a:solidFill>
                  <a:srgbClr val="0000FF"/>
                </a:solidFill>
              </a:rPr>
              <a:t>3 + 9,</a:t>
            </a:r>
          </a:p>
          <a:p>
            <a:r>
              <a:rPr lang="en-US" sz="2000" b="0" dirty="0">
                <a:solidFill>
                  <a:schemeClr val="accent2"/>
                </a:solidFill>
              </a:rPr>
              <a:t>                    7 + 6}  = </a:t>
            </a:r>
            <a:r>
              <a:rPr lang="en-US" sz="2000" b="0" dirty="0">
                <a:solidFill>
                  <a:srgbClr val="0000FF"/>
                </a:solidFill>
              </a:rPr>
              <a:t>12</a:t>
            </a:r>
          </a:p>
        </p:txBody>
      </p:sp>
      <p:sp>
        <p:nvSpPr>
          <p:cNvPr id="133128" name="Text Box 75"/>
          <p:cNvSpPr txBox="1">
            <a:spLocks noChangeArrowheads="1"/>
          </p:cNvSpPr>
          <p:nvPr/>
        </p:nvSpPr>
        <p:spPr bwMode="auto">
          <a:xfrm>
            <a:off x="596643" y="5061409"/>
            <a:ext cx="7785357" cy="7201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lnSpc>
                <a:spcPct val="85000"/>
              </a:lnSpc>
            </a:pPr>
            <a:r>
              <a:rPr lang="en-US" b="0" dirty="0">
                <a:solidFill>
                  <a:srgbClr val="0000FF"/>
                </a:solidFill>
                <a:ea typeface="Arial" charset="0"/>
                <a:cs typeface="Arial" charset="0"/>
              </a:rPr>
              <a:t>Neighbor achieving the minimum (w) is next hop in shortest path, used in forwarding table</a:t>
            </a:r>
          </a:p>
        </p:txBody>
      </p:sp>
      <p:sp>
        <p:nvSpPr>
          <p:cNvPr id="133129" name="Text Box 76"/>
          <p:cNvSpPr txBox="1">
            <a:spLocks noChangeArrowheads="1"/>
          </p:cNvSpPr>
          <p:nvPr/>
        </p:nvSpPr>
        <p:spPr bwMode="auto">
          <a:xfrm>
            <a:off x="3765550" y="2466975"/>
            <a:ext cx="27257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b="0">
                <a:solidFill>
                  <a:schemeClr val="accent2"/>
                </a:solidFill>
              </a:rPr>
              <a:t>B-F equation says:</a:t>
            </a:r>
          </a:p>
        </p:txBody>
      </p:sp>
      <p:grpSp>
        <p:nvGrpSpPr>
          <p:cNvPr id="83" name="Group 82"/>
          <p:cNvGrpSpPr>
            <a:grpSpLocks noChangeAspect="1"/>
          </p:cNvGrpSpPr>
          <p:nvPr/>
        </p:nvGrpSpPr>
        <p:grpSpPr>
          <a:xfrm>
            <a:off x="736641" y="1905000"/>
            <a:ext cx="3225759" cy="2743200"/>
            <a:chOff x="381000" y="1981200"/>
            <a:chExt cx="4029109" cy="3426372"/>
          </a:xfrm>
        </p:grpSpPr>
        <p:sp>
          <p:nvSpPr>
            <p:cNvPr id="84" name="Text Box 11"/>
            <p:cNvSpPr txBox="1">
              <a:spLocks noChangeArrowheads="1"/>
            </p:cNvSpPr>
            <p:nvPr/>
          </p:nvSpPr>
          <p:spPr bwMode="auto">
            <a:xfrm>
              <a:off x="1025587" y="3504032"/>
              <a:ext cx="311639" cy="3665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>
                  <a:solidFill>
                    <a:schemeClr val="accent2"/>
                  </a:solidFill>
                  <a:ea typeface="Arial" charset="0"/>
                  <a:cs typeface="Arial" charset="0"/>
                </a:rPr>
                <a:t>3</a:t>
              </a:r>
              <a:endParaRPr lang="en-US">
                <a:solidFill>
                  <a:schemeClr val="accent2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85" name="Text Box 12"/>
            <p:cNvSpPr txBox="1">
              <a:spLocks noChangeArrowheads="1"/>
            </p:cNvSpPr>
            <p:nvPr/>
          </p:nvSpPr>
          <p:spPr bwMode="auto">
            <a:xfrm>
              <a:off x="1757574" y="2934332"/>
              <a:ext cx="311638" cy="3665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>
                  <a:solidFill>
                    <a:schemeClr val="accent2"/>
                  </a:solidFill>
                  <a:ea typeface="Arial" charset="0"/>
                  <a:cs typeface="Arial" charset="0"/>
                </a:rPr>
                <a:t>4</a:t>
              </a:r>
              <a:endParaRPr lang="en-US">
                <a:solidFill>
                  <a:schemeClr val="accent2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86" name="Line 23"/>
            <p:cNvSpPr>
              <a:spLocks noChangeShapeType="1"/>
            </p:cNvSpPr>
            <p:nvPr/>
          </p:nvSpPr>
          <p:spPr bwMode="auto">
            <a:xfrm>
              <a:off x="1566243" y="2186366"/>
              <a:ext cx="0" cy="7449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87" name="Line 37"/>
            <p:cNvSpPr>
              <a:spLocks noChangeShapeType="1"/>
            </p:cNvSpPr>
            <p:nvPr/>
          </p:nvSpPr>
          <p:spPr bwMode="auto">
            <a:xfrm>
              <a:off x="754534" y="3944533"/>
              <a:ext cx="91607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88" name="Line 38"/>
            <p:cNvSpPr>
              <a:spLocks noChangeShapeType="1"/>
            </p:cNvSpPr>
            <p:nvPr/>
          </p:nvSpPr>
          <p:spPr bwMode="auto">
            <a:xfrm>
              <a:off x="1772069" y="2344303"/>
              <a:ext cx="0" cy="14333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89" name="Line 39"/>
            <p:cNvSpPr>
              <a:spLocks noChangeShapeType="1"/>
            </p:cNvSpPr>
            <p:nvPr/>
          </p:nvSpPr>
          <p:spPr bwMode="auto">
            <a:xfrm flipH="1">
              <a:off x="574799" y="2253414"/>
              <a:ext cx="976950" cy="16091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90" name="Text Box 40"/>
            <p:cNvSpPr txBox="1">
              <a:spLocks noChangeArrowheads="1"/>
            </p:cNvSpPr>
            <p:nvPr/>
          </p:nvSpPr>
          <p:spPr bwMode="auto">
            <a:xfrm>
              <a:off x="803816" y="2770435"/>
              <a:ext cx="313088" cy="369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>
                  <a:solidFill>
                    <a:schemeClr val="accent2"/>
                  </a:solidFill>
                  <a:ea typeface="Arial" charset="0"/>
                  <a:cs typeface="Arial" charset="0"/>
                </a:rPr>
                <a:t>5</a:t>
              </a:r>
              <a:endParaRPr lang="en-US">
                <a:solidFill>
                  <a:schemeClr val="accent2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91" name="Line 41"/>
            <p:cNvSpPr>
              <a:spLocks noChangeShapeType="1"/>
            </p:cNvSpPr>
            <p:nvPr/>
          </p:nvSpPr>
          <p:spPr bwMode="auto">
            <a:xfrm>
              <a:off x="1782215" y="4019031"/>
              <a:ext cx="13045" cy="10578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92" name="Text Box 42"/>
            <p:cNvSpPr txBox="1">
              <a:spLocks noChangeArrowheads="1"/>
            </p:cNvSpPr>
            <p:nvPr/>
          </p:nvSpPr>
          <p:spPr bwMode="auto">
            <a:xfrm>
              <a:off x="1792362" y="4318516"/>
              <a:ext cx="311638" cy="3665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>
                  <a:solidFill>
                    <a:schemeClr val="accent2"/>
                  </a:solidFill>
                  <a:ea typeface="Arial" charset="0"/>
                  <a:cs typeface="Arial" charset="0"/>
                </a:rPr>
                <a:t>3</a:t>
              </a:r>
              <a:endParaRPr lang="en-US">
                <a:solidFill>
                  <a:schemeClr val="accent2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93" name="Freeform 43"/>
            <p:cNvSpPr>
              <a:spLocks/>
            </p:cNvSpPr>
            <p:nvPr/>
          </p:nvSpPr>
          <p:spPr bwMode="auto">
            <a:xfrm>
              <a:off x="555955" y="4050321"/>
              <a:ext cx="1246553" cy="1190488"/>
            </a:xfrm>
            <a:custGeom>
              <a:avLst/>
              <a:gdLst>
                <a:gd name="T0" fmla="*/ 0 w 857"/>
                <a:gd name="T1" fmla="*/ 0 h 1152"/>
                <a:gd name="T2" fmla="*/ 562 w 857"/>
                <a:gd name="T3" fmla="*/ 1152 h 1152"/>
                <a:gd name="T4" fmla="*/ 857 w 857"/>
                <a:gd name="T5" fmla="*/ 772 h 1152"/>
                <a:gd name="T6" fmla="*/ 0 60000 65536"/>
                <a:gd name="T7" fmla="*/ 0 60000 65536"/>
                <a:gd name="T8" fmla="*/ 0 60000 65536"/>
                <a:gd name="T9" fmla="*/ 0 w 857"/>
                <a:gd name="T10" fmla="*/ 0 h 1152"/>
                <a:gd name="T11" fmla="*/ 857 w 857"/>
                <a:gd name="T12" fmla="*/ 1152 h 1152"/>
                <a:gd name="connsiteX0" fmla="*/ 0 w 10000"/>
                <a:gd name="connsiteY0" fmla="*/ 0 h 6928"/>
                <a:gd name="connsiteX1" fmla="*/ 3770 w 10000"/>
                <a:gd name="connsiteY1" fmla="*/ 6300 h 6928"/>
                <a:gd name="connsiteX2" fmla="*/ 10000 w 10000"/>
                <a:gd name="connsiteY2" fmla="*/ 6701 h 6928"/>
                <a:gd name="connsiteX0" fmla="*/ 0 w 10000"/>
                <a:gd name="connsiteY0" fmla="*/ 0 h 9871"/>
                <a:gd name="connsiteX1" fmla="*/ 1802 w 10000"/>
                <a:gd name="connsiteY1" fmla="*/ 7634 h 9871"/>
                <a:gd name="connsiteX2" fmla="*/ 10000 w 10000"/>
                <a:gd name="connsiteY2" fmla="*/ 9672 h 9871"/>
                <a:gd name="connsiteX0" fmla="*/ 0 w 10000"/>
                <a:gd name="connsiteY0" fmla="*/ 0 h 10136"/>
                <a:gd name="connsiteX1" fmla="*/ 1802 w 10000"/>
                <a:gd name="connsiteY1" fmla="*/ 7734 h 10136"/>
                <a:gd name="connsiteX2" fmla="*/ 10000 w 10000"/>
                <a:gd name="connsiteY2" fmla="*/ 9798 h 10136"/>
                <a:gd name="connsiteX0" fmla="*/ 0 w 10000"/>
                <a:gd name="connsiteY0" fmla="*/ 0 h 10136"/>
                <a:gd name="connsiteX1" fmla="*/ 1802 w 10000"/>
                <a:gd name="connsiteY1" fmla="*/ 7734 h 10136"/>
                <a:gd name="connsiteX2" fmla="*/ 10000 w 10000"/>
                <a:gd name="connsiteY2" fmla="*/ 9798 h 10136"/>
                <a:gd name="connsiteX0" fmla="*/ 32 w 10032"/>
                <a:gd name="connsiteY0" fmla="*/ 0 h 10136"/>
                <a:gd name="connsiteX1" fmla="*/ 1834 w 10032"/>
                <a:gd name="connsiteY1" fmla="*/ 7734 h 10136"/>
                <a:gd name="connsiteX2" fmla="*/ 10032 w 10032"/>
                <a:gd name="connsiteY2" fmla="*/ 9798 h 10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32" h="10136">
                  <a:moveTo>
                    <a:pt x="32" y="0"/>
                  </a:moveTo>
                  <a:cubicBezTo>
                    <a:pt x="62" y="4573"/>
                    <a:pt x="-465" y="5047"/>
                    <a:pt x="1834" y="7734"/>
                  </a:cubicBezTo>
                  <a:cubicBezTo>
                    <a:pt x="4132" y="9414"/>
                    <a:pt x="9320" y="10802"/>
                    <a:pt x="10032" y="9798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94" name="Text Box 44"/>
            <p:cNvSpPr txBox="1">
              <a:spLocks noChangeArrowheads="1"/>
            </p:cNvSpPr>
            <p:nvPr/>
          </p:nvSpPr>
          <p:spPr bwMode="auto">
            <a:xfrm>
              <a:off x="798018" y="4579261"/>
              <a:ext cx="313088" cy="3665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>
                  <a:solidFill>
                    <a:schemeClr val="accent2"/>
                  </a:solidFill>
                  <a:ea typeface="Arial" charset="0"/>
                  <a:cs typeface="Arial" charset="0"/>
                </a:rPr>
                <a:t>7</a:t>
              </a:r>
              <a:endParaRPr lang="en-US">
                <a:solidFill>
                  <a:schemeClr val="accent2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95" name="Text Box 46"/>
            <p:cNvSpPr txBox="1">
              <a:spLocks noChangeArrowheads="1"/>
            </p:cNvSpPr>
            <p:nvPr/>
          </p:nvSpPr>
          <p:spPr bwMode="auto">
            <a:xfrm>
              <a:off x="2433032" y="4559891"/>
              <a:ext cx="313088" cy="3665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>
                  <a:solidFill>
                    <a:schemeClr val="accent2"/>
                  </a:solidFill>
                  <a:ea typeface="Arial" charset="0"/>
                  <a:cs typeface="Arial" charset="0"/>
                </a:rPr>
                <a:t>4</a:t>
              </a:r>
              <a:endParaRPr lang="en-US">
                <a:solidFill>
                  <a:schemeClr val="accent2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96" name="Text Box 56"/>
            <p:cNvSpPr txBox="1">
              <a:spLocks noChangeArrowheads="1"/>
            </p:cNvSpPr>
            <p:nvPr/>
          </p:nvSpPr>
          <p:spPr bwMode="auto">
            <a:xfrm>
              <a:off x="2314175" y="3576145"/>
              <a:ext cx="313088" cy="3665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>
                  <a:solidFill>
                    <a:schemeClr val="accent2"/>
                  </a:solidFill>
                  <a:ea typeface="Arial" charset="0"/>
                  <a:cs typeface="Arial" charset="0"/>
                </a:rPr>
                <a:t>8</a:t>
              </a:r>
              <a:endParaRPr lang="en-US">
                <a:solidFill>
                  <a:schemeClr val="accent2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97" name="Line 65"/>
            <p:cNvSpPr>
              <a:spLocks noChangeShapeType="1"/>
            </p:cNvSpPr>
            <p:nvPr/>
          </p:nvSpPr>
          <p:spPr bwMode="auto">
            <a:xfrm>
              <a:off x="3511445" y="3934103"/>
              <a:ext cx="5102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98" name="Text Box 66"/>
            <p:cNvSpPr txBox="1">
              <a:spLocks noChangeArrowheads="1"/>
            </p:cNvSpPr>
            <p:nvPr/>
          </p:nvSpPr>
          <p:spPr bwMode="auto">
            <a:xfrm>
              <a:off x="3607111" y="3934103"/>
              <a:ext cx="313088" cy="369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>
                  <a:solidFill>
                    <a:schemeClr val="accent2"/>
                  </a:solidFill>
                  <a:ea typeface="Arial" charset="0"/>
                  <a:cs typeface="Arial" charset="0"/>
                </a:rPr>
                <a:t>2</a:t>
              </a:r>
              <a:endParaRPr lang="en-US">
                <a:solidFill>
                  <a:schemeClr val="accent2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99" name="Line 67"/>
            <p:cNvSpPr>
              <a:spLocks noChangeShapeType="1"/>
            </p:cNvSpPr>
            <p:nvPr/>
          </p:nvSpPr>
          <p:spPr bwMode="auto">
            <a:xfrm>
              <a:off x="1863386" y="2207225"/>
              <a:ext cx="1398748" cy="16955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100" name="Text Box 68"/>
            <p:cNvSpPr txBox="1">
              <a:spLocks noChangeArrowheads="1"/>
            </p:cNvSpPr>
            <p:nvPr/>
          </p:nvSpPr>
          <p:spPr bwMode="auto">
            <a:xfrm>
              <a:off x="2542515" y="2733184"/>
              <a:ext cx="313087" cy="3665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>
                  <a:solidFill>
                    <a:schemeClr val="accent2"/>
                  </a:solidFill>
                  <a:ea typeface="Arial" charset="0"/>
                  <a:cs typeface="Arial" charset="0"/>
                </a:rPr>
                <a:t>7</a:t>
              </a:r>
              <a:endParaRPr lang="en-US">
                <a:solidFill>
                  <a:schemeClr val="accent2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101" name="Freeform 69"/>
            <p:cNvSpPr>
              <a:spLocks/>
            </p:cNvSpPr>
            <p:nvPr/>
          </p:nvSpPr>
          <p:spPr bwMode="auto">
            <a:xfrm>
              <a:off x="1843094" y="2186366"/>
              <a:ext cx="40585" cy="20860"/>
            </a:xfrm>
            <a:custGeom>
              <a:avLst/>
              <a:gdLst>
                <a:gd name="T0" fmla="*/ 0 w 28"/>
                <a:gd name="T1" fmla="*/ 14 h 14"/>
                <a:gd name="T2" fmla="*/ 28 w 28"/>
                <a:gd name="T3" fmla="*/ 0 h 14"/>
                <a:gd name="T4" fmla="*/ 0 w 28"/>
                <a:gd name="T5" fmla="*/ 14 h 14"/>
                <a:gd name="T6" fmla="*/ 0 60000 65536"/>
                <a:gd name="T7" fmla="*/ 0 60000 65536"/>
                <a:gd name="T8" fmla="*/ 0 60000 65536"/>
                <a:gd name="T9" fmla="*/ 0 w 28"/>
                <a:gd name="T10" fmla="*/ 0 h 14"/>
                <a:gd name="T11" fmla="*/ 28 w 28"/>
                <a:gd name="T12" fmla="*/ 14 h 1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" h="14">
                  <a:moveTo>
                    <a:pt x="0" y="14"/>
                  </a:moveTo>
                  <a:cubicBezTo>
                    <a:pt x="9" y="9"/>
                    <a:pt x="28" y="0"/>
                    <a:pt x="28" y="0"/>
                  </a:cubicBezTo>
                  <a:cubicBezTo>
                    <a:pt x="28" y="0"/>
                    <a:pt x="9" y="9"/>
                    <a:pt x="0" y="14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102" name="Freeform 70"/>
            <p:cNvSpPr>
              <a:spLocks/>
            </p:cNvSpPr>
            <p:nvPr/>
          </p:nvSpPr>
          <p:spPr bwMode="auto">
            <a:xfrm>
              <a:off x="1863386" y="2220635"/>
              <a:ext cx="2362653" cy="1567451"/>
            </a:xfrm>
            <a:custGeom>
              <a:avLst/>
              <a:gdLst>
                <a:gd name="T0" fmla="*/ 0 w 1510"/>
                <a:gd name="T1" fmla="*/ 5 h 1052"/>
                <a:gd name="T2" fmla="*/ 1102 w 1510"/>
                <a:gd name="T3" fmla="*/ 174 h 1052"/>
                <a:gd name="T4" fmla="*/ 1510 w 1510"/>
                <a:gd name="T5" fmla="*/ 1052 h 1052"/>
                <a:gd name="T6" fmla="*/ 0 60000 65536"/>
                <a:gd name="T7" fmla="*/ 0 60000 65536"/>
                <a:gd name="T8" fmla="*/ 0 60000 65536"/>
                <a:gd name="T9" fmla="*/ 0 w 1510"/>
                <a:gd name="T10" fmla="*/ 0 h 1052"/>
                <a:gd name="T11" fmla="*/ 1510 w 1510"/>
                <a:gd name="T12" fmla="*/ 1052 h 105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10" h="1052">
                  <a:moveTo>
                    <a:pt x="0" y="5"/>
                  </a:moveTo>
                  <a:cubicBezTo>
                    <a:pt x="184" y="33"/>
                    <a:pt x="851" y="0"/>
                    <a:pt x="1102" y="174"/>
                  </a:cubicBezTo>
                  <a:cubicBezTo>
                    <a:pt x="1353" y="348"/>
                    <a:pt x="1425" y="869"/>
                    <a:pt x="1510" y="1052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103" name="Text Box 71"/>
            <p:cNvSpPr txBox="1">
              <a:spLocks noChangeArrowheads="1"/>
            </p:cNvSpPr>
            <p:nvPr/>
          </p:nvSpPr>
          <p:spPr bwMode="auto">
            <a:xfrm>
              <a:off x="3569424" y="2171554"/>
              <a:ext cx="311639" cy="3665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>
                  <a:solidFill>
                    <a:schemeClr val="accent2"/>
                  </a:solidFill>
                  <a:ea typeface="Arial" charset="0"/>
                  <a:cs typeface="Arial" charset="0"/>
                </a:rPr>
                <a:t>9</a:t>
              </a:r>
              <a:endParaRPr lang="en-US">
                <a:solidFill>
                  <a:schemeClr val="accent2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104" name="Oval 103"/>
            <p:cNvSpPr>
              <a:spLocks noChangeAspect="1"/>
            </p:cNvSpPr>
            <p:nvPr/>
          </p:nvSpPr>
          <p:spPr bwMode="auto">
            <a:xfrm>
              <a:off x="1552903" y="1981200"/>
              <a:ext cx="457200" cy="457200"/>
            </a:xfrm>
            <a:prstGeom prst="ellipse">
              <a:avLst/>
            </a:prstGeom>
            <a:solidFill>
              <a:srgbClr val="D3A600"/>
            </a:solidFill>
            <a:ln w="9525" cap="flat" cmpd="sng" algn="ctr">
              <a:noFill/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accent2"/>
                  </a:solidFill>
                  <a:effectLst/>
                  <a:latin typeface="Arial" charset="0"/>
                </a:rPr>
                <a:t>x</a:t>
              </a:r>
            </a:p>
          </p:txBody>
        </p:sp>
        <p:sp>
          <p:nvSpPr>
            <p:cNvPr id="105" name="Oval 104"/>
            <p:cNvSpPr>
              <a:spLocks noChangeAspect="1"/>
            </p:cNvSpPr>
            <p:nvPr/>
          </p:nvSpPr>
          <p:spPr bwMode="auto">
            <a:xfrm>
              <a:off x="381000" y="3720662"/>
              <a:ext cx="457200" cy="457200"/>
            </a:xfrm>
            <a:prstGeom prst="ellipse">
              <a:avLst/>
            </a:prstGeom>
            <a:solidFill>
              <a:srgbClr val="D3A600"/>
            </a:solidFill>
            <a:ln w="9525" cap="flat" cmpd="sng" algn="ctr">
              <a:noFill/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i="0" u="none" strike="noStrike" cap="none" normalizeH="0" baseline="0" dirty="0">
                  <a:ln>
                    <a:noFill/>
                  </a:ln>
                  <a:solidFill>
                    <a:srgbClr val="0000FF"/>
                  </a:solidFill>
                  <a:effectLst/>
                  <a:latin typeface="Arial" charset="0"/>
                </a:rPr>
                <a:t>u</a:t>
              </a:r>
            </a:p>
          </p:txBody>
        </p:sp>
        <p:sp>
          <p:nvSpPr>
            <p:cNvPr id="106" name="Oval 105"/>
            <p:cNvSpPr>
              <a:spLocks noChangeAspect="1"/>
            </p:cNvSpPr>
            <p:nvPr/>
          </p:nvSpPr>
          <p:spPr bwMode="auto">
            <a:xfrm>
              <a:off x="3952909" y="3720662"/>
              <a:ext cx="457200" cy="457200"/>
            </a:xfrm>
            <a:prstGeom prst="ellipse">
              <a:avLst/>
            </a:prstGeom>
            <a:solidFill>
              <a:srgbClr val="D3A600"/>
            </a:solidFill>
            <a:ln w="9525" cap="flat" cmpd="sng" algn="ctr">
              <a:noFill/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accent2"/>
                  </a:solidFill>
                  <a:effectLst/>
                  <a:latin typeface="Arial" charset="0"/>
                </a:rPr>
                <a:t>z</a:t>
              </a:r>
            </a:p>
          </p:txBody>
        </p:sp>
        <p:sp>
          <p:nvSpPr>
            <p:cNvPr id="107" name="Oval 106"/>
            <p:cNvSpPr>
              <a:spLocks noChangeAspect="1"/>
            </p:cNvSpPr>
            <p:nvPr/>
          </p:nvSpPr>
          <p:spPr bwMode="auto">
            <a:xfrm>
              <a:off x="1568668" y="4950372"/>
              <a:ext cx="457200" cy="457200"/>
            </a:xfrm>
            <a:prstGeom prst="ellipse">
              <a:avLst/>
            </a:prstGeom>
            <a:solidFill>
              <a:srgbClr val="D3A600"/>
            </a:solidFill>
            <a:ln w="9525" cap="flat" cmpd="sng" algn="ctr">
              <a:noFill/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accent2"/>
                  </a:solidFill>
                  <a:effectLst/>
                  <a:latin typeface="Arial" charset="0"/>
                </a:rPr>
                <a:t>v</a:t>
              </a:r>
            </a:p>
          </p:txBody>
        </p:sp>
        <p:sp>
          <p:nvSpPr>
            <p:cNvPr id="108" name="Oval 107"/>
            <p:cNvSpPr>
              <a:spLocks noChangeAspect="1"/>
            </p:cNvSpPr>
            <p:nvPr/>
          </p:nvSpPr>
          <p:spPr bwMode="auto">
            <a:xfrm>
              <a:off x="3086428" y="3720662"/>
              <a:ext cx="457200" cy="457200"/>
            </a:xfrm>
            <a:prstGeom prst="ellipse">
              <a:avLst/>
            </a:prstGeom>
            <a:solidFill>
              <a:srgbClr val="D3A600"/>
            </a:solidFill>
            <a:ln w="9525" cap="flat" cmpd="sng" algn="ctr">
              <a:noFill/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accent2"/>
                  </a:solidFill>
                  <a:effectLst/>
                  <a:latin typeface="Arial" charset="0"/>
                </a:rPr>
                <a:t>y</a:t>
              </a:r>
            </a:p>
          </p:txBody>
        </p:sp>
        <p:sp>
          <p:nvSpPr>
            <p:cNvPr id="109" name="Oval 108"/>
            <p:cNvSpPr>
              <a:spLocks noChangeAspect="1"/>
            </p:cNvSpPr>
            <p:nvPr/>
          </p:nvSpPr>
          <p:spPr bwMode="auto">
            <a:xfrm>
              <a:off x="1568668" y="3720662"/>
              <a:ext cx="457200" cy="457200"/>
            </a:xfrm>
            <a:prstGeom prst="ellipse">
              <a:avLst/>
            </a:prstGeom>
            <a:solidFill>
              <a:srgbClr val="D3A600"/>
            </a:solidFill>
            <a:ln w="9525" cap="flat" cmpd="sng" algn="ctr">
              <a:noFill/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accent2"/>
                  </a:solidFill>
                  <a:effectLst/>
                  <a:latin typeface="Arial" charset="0"/>
                </a:rPr>
                <a:t>w</a:t>
              </a:r>
            </a:p>
          </p:txBody>
        </p:sp>
        <p:sp>
          <p:nvSpPr>
            <p:cNvPr id="110" name="Line 37"/>
            <p:cNvSpPr>
              <a:spLocks noChangeShapeType="1"/>
            </p:cNvSpPr>
            <p:nvPr/>
          </p:nvSpPr>
          <p:spPr bwMode="auto">
            <a:xfrm>
              <a:off x="2010102" y="3944533"/>
              <a:ext cx="10972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</p:grpSp>
      <p:sp>
        <p:nvSpPr>
          <p:cNvPr id="115" name="Line 127"/>
          <p:cNvSpPr>
            <a:spLocks noChangeShapeType="1"/>
          </p:cNvSpPr>
          <p:nvPr/>
        </p:nvSpPr>
        <p:spPr bwMode="auto">
          <a:xfrm flipV="1">
            <a:off x="2002086" y="3553022"/>
            <a:ext cx="933319" cy="798786"/>
          </a:xfrm>
          <a:prstGeom prst="line">
            <a:avLst/>
          </a:prstGeom>
          <a:noFill/>
          <a:ln w="12700">
            <a:solidFill>
              <a:srgbClr val="333399"/>
            </a:solidFill>
            <a:round/>
            <a:headEnd type="none" w="med" len="med"/>
            <a:tailEnd type="non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>
              <a:ea typeface="Arial" charset="0"/>
              <a:cs typeface="Arial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3812290-C40F-DD06-9720-775B208D9D5F}"/>
                  </a:ext>
                </a:extLst>
              </p14:cNvPr>
              <p14:cNvContentPartPr/>
              <p14:nvPr/>
            </p14:nvContentPartPr>
            <p14:xfrm>
              <a:off x="6616440" y="2358360"/>
              <a:ext cx="2502360" cy="16156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3812290-C40F-DD06-9720-775B208D9D5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607080" y="2349000"/>
                <a:ext cx="2521080" cy="1634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50619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26" grpId="0"/>
      <p:bldP spid="133127" grpId="0"/>
      <p:bldP spid="133128" grpId="0"/>
      <p:bldP spid="13312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Distance vector algorithm </a:t>
            </a:r>
          </a:p>
        </p:txBody>
      </p:sp>
      <p:sp>
        <p:nvSpPr>
          <p:cNvPr id="134149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600200"/>
            <a:ext cx="8001000" cy="4419600"/>
          </a:xfrm>
        </p:spPr>
        <p:txBody>
          <a:bodyPr/>
          <a:lstStyle/>
          <a:p>
            <a:r>
              <a:rPr lang="en-US" dirty="0" err="1">
                <a:solidFill>
                  <a:srgbClr val="0000FF"/>
                </a:solidFill>
              </a:rPr>
              <a:t>D</a:t>
            </a:r>
            <a:r>
              <a:rPr lang="en-US" baseline="-25000" dirty="0" err="1">
                <a:solidFill>
                  <a:srgbClr val="0000FF"/>
                </a:solidFill>
              </a:rPr>
              <a:t>x</a:t>
            </a:r>
            <a:r>
              <a:rPr lang="en-US" dirty="0">
                <a:solidFill>
                  <a:srgbClr val="0000FF"/>
                </a:solidFill>
              </a:rPr>
              <a:t>(y)</a:t>
            </a:r>
            <a:r>
              <a:rPr lang="en-US" dirty="0"/>
              <a:t> is the estimate of least cost from x to y</a:t>
            </a:r>
          </a:p>
          <a:p>
            <a:pPr lvl="1"/>
            <a:r>
              <a:rPr lang="en-US" dirty="0"/>
              <a:t>x maintains its own distance vector </a:t>
            </a:r>
            <a:r>
              <a:rPr lang="en-US" b="1" dirty="0" err="1">
                <a:solidFill>
                  <a:srgbClr val="0000FF"/>
                </a:solidFill>
              </a:rPr>
              <a:t>D</a:t>
            </a:r>
            <a:r>
              <a:rPr lang="en-US" b="1" baseline="-25000" dirty="0" err="1">
                <a:solidFill>
                  <a:srgbClr val="0000FF"/>
                </a:solidFill>
              </a:rPr>
              <a:t>x</a:t>
            </a:r>
            <a:r>
              <a:rPr lang="en-US" dirty="0">
                <a:solidFill>
                  <a:srgbClr val="0000FF"/>
                </a:solidFill>
              </a:rPr>
              <a:t> = [</a:t>
            </a:r>
            <a:r>
              <a:rPr lang="en-US" dirty="0" err="1">
                <a:solidFill>
                  <a:srgbClr val="0000FF"/>
                </a:solidFill>
              </a:rPr>
              <a:t>D</a:t>
            </a:r>
            <a:r>
              <a:rPr lang="en-US" baseline="-25000" dirty="0" err="1">
                <a:solidFill>
                  <a:srgbClr val="0000FF"/>
                </a:solidFill>
              </a:rPr>
              <a:t>x</a:t>
            </a:r>
            <a:r>
              <a:rPr lang="en-US" dirty="0">
                <a:solidFill>
                  <a:srgbClr val="0000FF"/>
                </a:solidFill>
              </a:rPr>
              <a:t>(y): y </a:t>
            </a:r>
            <a:r>
              <a:rPr lang="en-US" dirty="0">
                <a:solidFill>
                  <a:srgbClr val="0000FF"/>
                </a:solidFill>
                <a:ea typeface="MS Mincho" charset="0"/>
                <a:cs typeface="MS Mincho" charset="0"/>
              </a:rPr>
              <a:t>∊</a:t>
            </a:r>
            <a:r>
              <a:rPr lang="en-US" dirty="0">
                <a:solidFill>
                  <a:srgbClr val="0000FF"/>
                </a:solidFill>
              </a:rPr>
              <a:t> N]</a:t>
            </a:r>
          </a:p>
          <a:p>
            <a:r>
              <a:rPr lang="en-US" dirty="0"/>
              <a:t>Node x:</a:t>
            </a:r>
          </a:p>
          <a:p>
            <a:pPr lvl="1"/>
            <a:r>
              <a:rPr lang="en-US" dirty="0"/>
              <a:t>Knows cost to each neighbor v: </a:t>
            </a:r>
            <a:r>
              <a:rPr lang="en-US" dirty="0">
                <a:solidFill>
                  <a:srgbClr val="0000FF"/>
                </a:solidFill>
              </a:rPr>
              <a:t>c(</a:t>
            </a:r>
            <a:r>
              <a:rPr lang="en-US" dirty="0" err="1">
                <a:solidFill>
                  <a:srgbClr val="0000FF"/>
                </a:solidFill>
              </a:rPr>
              <a:t>x,v</a:t>
            </a:r>
            <a:r>
              <a:rPr lang="en-US" dirty="0">
                <a:solidFill>
                  <a:srgbClr val="0000FF"/>
                </a:solidFill>
              </a:rPr>
              <a:t>)</a:t>
            </a:r>
          </a:p>
          <a:p>
            <a:pPr lvl="1"/>
            <a:r>
              <a:rPr lang="en-US" dirty="0"/>
              <a:t>Maintains its neighbors’</a:t>
            </a:r>
            <a:r>
              <a:rPr lang="en-US" altLang="ja-JP" dirty="0"/>
              <a:t> distance vectors</a:t>
            </a:r>
          </a:p>
          <a:p>
            <a:pPr lvl="2"/>
            <a:r>
              <a:rPr lang="en-US" altLang="ja-JP" dirty="0"/>
              <a:t>For each neighbor v, x has </a:t>
            </a:r>
            <a:r>
              <a:rPr lang="en-US" altLang="ja-JP" b="1" dirty="0" err="1">
                <a:solidFill>
                  <a:srgbClr val="0000FF"/>
                </a:solidFill>
              </a:rPr>
              <a:t>D</a:t>
            </a:r>
            <a:r>
              <a:rPr lang="en-US" altLang="ja-JP" b="1" baseline="-25000" dirty="0" err="1">
                <a:solidFill>
                  <a:srgbClr val="0000FF"/>
                </a:solidFill>
              </a:rPr>
              <a:t>v</a:t>
            </a:r>
            <a:r>
              <a:rPr lang="en-US" altLang="ja-JP" dirty="0">
                <a:solidFill>
                  <a:srgbClr val="0000FF"/>
                </a:solidFill>
              </a:rPr>
              <a:t> = [</a:t>
            </a:r>
            <a:r>
              <a:rPr lang="en-US" altLang="ja-JP" dirty="0" err="1">
                <a:solidFill>
                  <a:srgbClr val="0000FF"/>
                </a:solidFill>
              </a:rPr>
              <a:t>D</a:t>
            </a:r>
            <a:r>
              <a:rPr lang="en-US" altLang="ja-JP" baseline="-25000" dirty="0" err="1">
                <a:solidFill>
                  <a:srgbClr val="0000FF"/>
                </a:solidFill>
              </a:rPr>
              <a:t>v</a:t>
            </a:r>
            <a:r>
              <a:rPr lang="en-US" altLang="ja-JP" dirty="0">
                <a:solidFill>
                  <a:srgbClr val="0000FF"/>
                </a:solidFill>
              </a:rPr>
              <a:t>(y): y </a:t>
            </a:r>
            <a:r>
              <a:rPr lang="en-US" dirty="0">
                <a:solidFill>
                  <a:srgbClr val="0000FF"/>
                </a:solidFill>
                <a:ea typeface="MS Mincho" charset="0"/>
                <a:cs typeface="MS Mincho" charset="0"/>
              </a:rPr>
              <a:t>∊</a:t>
            </a:r>
            <a:r>
              <a:rPr lang="en-US" altLang="ja-JP" dirty="0">
                <a:solidFill>
                  <a:srgbClr val="0000FF"/>
                </a:solidFill>
              </a:rPr>
              <a:t> N]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D358FC8-99E2-CD4B-9E8D-B193B943C6F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381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20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Distance vector algorithm </a:t>
            </a:r>
          </a:p>
        </p:txBody>
      </p:sp>
      <p:sp>
        <p:nvSpPr>
          <p:cNvPr id="9011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From time-to-time, each node sends its own distance vector estimate to neighbors</a:t>
            </a:r>
          </a:p>
          <a:p>
            <a:r>
              <a:rPr lang="en-US" dirty="0"/>
              <a:t>When x receives new DV estimate from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dirty="0"/>
              <a:t>neighbor, it updates its own DV using B-F equation</a:t>
            </a:r>
          </a:p>
          <a:p>
            <a:pPr lvl="1"/>
            <a:r>
              <a:rPr lang="en-US" dirty="0" err="1">
                <a:solidFill>
                  <a:srgbClr val="0000FF"/>
                </a:solidFill>
                <a:cs typeface="Times New Roman" charset="0"/>
              </a:rPr>
              <a:t>D</a:t>
            </a:r>
            <a:r>
              <a:rPr lang="en-US" baseline="-30000" dirty="0" err="1">
                <a:solidFill>
                  <a:srgbClr val="0000FF"/>
                </a:solidFill>
                <a:cs typeface="Times New Roman" charset="0"/>
              </a:rPr>
              <a:t>x</a:t>
            </a:r>
            <a:r>
              <a:rPr lang="en-US" dirty="0">
                <a:solidFill>
                  <a:srgbClr val="0000FF"/>
                </a:solidFill>
                <a:cs typeface="Times New Roman" charset="0"/>
              </a:rPr>
              <a:t>(y) ← </a:t>
            </a:r>
            <a:r>
              <a:rPr lang="en-US" dirty="0" err="1">
                <a:solidFill>
                  <a:srgbClr val="0000FF"/>
                </a:solidFill>
                <a:cs typeface="Times New Roman" charset="0"/>
              </a:rPr>
              <a:t>min</a:t>
            </a:r>
            <a:r>
              <a:rPr lang="en-US" baseline="-30000" dirty="0" err="1">
                <a:solidFill>
                  <a:srgbClr val="0000FF"/>
                </a:solidFill>
                <a:cs typeface="Times New Roman" charset="0"/>
              </a:rPr>
              <a:t>v</a:t>
            </a:r>
            <a:r>
              <a:rPr lang="en-US" dirty="0">
                <a:solidFill>
                  <a:srgbClr val="0000FF"/>
                </a:solidFill>
                <a:cs typeface="Times New Roman" charset="0"/>
              </a:rPr>
              <a:t>{c(</a:t>
            </a:r>
            <a:r>
              <a:rPr lang="en-US" dirty="0" err="1">
                <a:solidFill>
                  <a:srgbClr val="0000FF"/>
                </a:solidFill>
                <a:cs typeface="Times New Roman" charset="0"/>
              </a:rPr>
              <a:t>x,v</a:t>
            </a:r>
            <a:r>
              <a:rPr lang="en-US" dirty="0">
                <a:solidFill>
                  <a:srgbClr val="0000FF"/>
                </a:solidFill>
                <a:cs typeface="Times New Roman" charset="0"/>
              </a:rPr>
              <a:t>) + </a:t>
            </a:r>
            <a:r>
              <a:rPr lang="en-US" dirty="0" err="1">
                <a:solidFill>
                  <a:srgbClr val="0000FF"/>
                </a:solidFill>
                <a:cs typeface="Times New Roman" charset="0"/>
              </a:rPr>
              <a:t>D</a:t>
            </a:r>
            <a:r>
              <a:rPr lang="en-US" baseline="-30000" dirty="0" err="1">
                <a:solidFill>
                  <a:srgbClr val="0000FF"/>
                </a:solidFill>
                <a:cs typeface="Times New Roman" charset="0"/>
              </a:rPr>
              <a:t>v</a:t>
            </a:r>
            <a:r>
              <a:rPr lang="en-US" dirty="0">
                <a:solidFill>
                  <a:srgbClr val="0000FF"/>
                </a:solidFill>
                <a:cs typeface="Times New Roman" charset="0"/>
              </a:rPr>
              <a:t>(y)}  for each node y </a:t>
            </a:r>
            <a:r>
              <a:rPr lang="en-US" dirty="0">
                <a:solidFill>
                  <a:srgbClr val="0000FF"/>
                </a:solidFill>
                <a:ea typeface="MS Mincho" charset="0"/>
                <a:cs typeface="MS Mincho" charset="0"/>
              </a:rPr>
              <a:t>∊</a:t>
            </a:r>
            <a:r>
              <a:rPr lang="en-US" dirty="0">
                <a:solidFill>
                  <a:srgbClr val="0000FF"/>
                </a:solidFill>
                <a:cs typeface="Times New Roman" charset="0"/>
              </a:rPr>
              <a:t> N</a:t>
            </a:r>
          </a:p>
          <a:p>
            <a:r>
              <a:rPr lang="en-US" dirty="0">
                <a:cs typeface="Times New Roman" charset="0"/>
              </a:rPr>
              <a:t>Eventually, the estimate </a:t>
            </a:r>
            <a:r>
              <a:rPr lang="en-US" dirty="0" err="1">
                <a:cs typeface="Times New Roman" charset="0"/>
              </a:rPr>
              <a:t>D</a:t>
            </a:r>
            <a:r>
              <a:rPr lang="en-US" baseline="-25000" dirty="0" err="1">
                <a:cs typeface="Times New Roman" charset="0"/>
              </a:rPr>
              <a:t>x</a:t>
            </a:r>
            <a:r>
              <a:rPr lang="en-US" dirty="0">
                <a:cs typeface="Times New Roman" charset="0"/>
              </a:rPr>
              <a:t>(y) </a:t>
            </a:r>
            <a:r>
              <a:rPr lang="en-US" dirty="0">
                <a:solidFill>
                  <a:srgbClr val="0000FF"/>
                </a:solidFill>
                <a:cs typeface="Times New Roman" charset="0"/>
              </a:rPr>
              <a:t>may</a:t>
            </a:r>
            <a:r>
              <a:rPr lang="en-US" dirty="0">
                <a:cs typeface="Times New Roman" charset="0"/>
              </a:rPr>
              <a:t> converge to the actual least cost d</a:t>
            </a:r>
            <a:r>
              <a:rPr lang="en-US" baseline="-25000" dirty="0">
                <a:cs typeface="Times New Roman" charset="0"/>
              </a:rPr>
              <a:t>x</a:t>
            </a:r>
            <a:r>
              <a:rPr lang="en-US" dirty="0">
                <a:cs typeface="Times New Roman" charset="0"/>
              </a:rPr>
              <a:t>(y)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1248F6B-A645-854C-BBE1-3059016962C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378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47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Distance vector algorithm </a:t>
            </a:r>
          </a:p>
        </p:txBody>
      </p:sp>
      <p:sp>
        <p:nvSpPr>
          <p:cNvPr id="136195" name="Rectangle 3"/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400" dirty="0">
                <a:solidFill>
                  <a:srgbClr val="0000FF"/>
                </a:solidFill>
              </a:rPr>
              <a:t>Iterative, asynchronous</a:t>
            </a:r>
          </a:p>
          <a:p>
            <a:pPr lvl="1"/>
            <a:r>
              <a:rPr lang="en-US" sz="2000" dirty="0"/>
              <a:t>Local iterations caused by</a:t>
            </a:r>
          </a:p>
          <a:p>
            <a:pPr lvl="2"/>
            <a:r>
              <a:rPr lang="en-US" sz="1600" dirty="0"/>
              <a:t>Local link cost change</a:t>
            </a:r>
          </a:p>
          <a:p>
            <a:pPr lvl="2"/>
            <a:r>
              <a:rPr lang="en-US" sz="1600" dirty="0"/>
              <a:t>DV update from neighbor</a:t>
            </a:r>
          </a:p>
          <a:p>
            <a:r>
              <a:rPr lang="en-US" sz="2400" dirty="0">
                <a:solidFill>
                  <a:srgbClr val="0000FF"/>
                </a:solidFill>
              </a:rPr>
              <a:t>Distributed</a:t>
            </a:r>
          </a:p>
          <a:p>
            <a:pPr lvl="1"/>
            <a:r>
              <a:rPr lang="en-US" sz="2000" dirty="0"/>
              <a:t>Each node notifies neighbors only when its DV changes</a:t>
            </a:r>
          </a:p>
          <a:p>
            <a:pPr lvl="2"/>
            <a:r>
              <a:rPr lang="en-US" sz="1600" dirty="0"/>
              <a:t>Neighbors then notify their neighbors if necessary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71D164-16D9-0744-9995-5060E6F56AA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F36FED86-94EF-254D-90EE-B810FE8299EE}" type="slidenum">
              <a:rPr lang="en-US" smtClean="0"/>
              <a:pPr/>
              <a:t>20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4737791" y="1600200"/>
            <a:ext cx="4080268" cy="4141788"/>
            <a:chOff x="4737791" y="1600200"/>
            <a:chExt cx="4080268" cy="4141788"/>
          </a:xfrm>
        </p:grpSpPr>
        <p:sp>
          <p:nvSpPr>
            <p:cNvPr id="136196" name="Text Box 4"/>
            <p:cNvSpPr txBox="1">
              <a:spLocks noChangeArrowheads="1"/>
            </p:cNvSpPr>
            <p:nvPr/>
          </p:nvSpPr>
          <p:spPr bwMode="auto">
            <a:xfrm>
              <a:off x="5293809" y="1956336"/>
              <a:ext cx="3524250" cy="33239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endParaRPr lang="en-US" sz="2000" b="0" dirty="0">
                <a:solidFill>
                  <a:schemeClr val="accent2"/>
                </a:solidFill>
                <a:ea typeface="Arial" charset="0"/>
                <a:cs typeface="Arial" charset="0"/>
              </a:endParaRPr>
            </a:p>
            <a:p>
              <a:pPr>
                <a:spcBef>
                  <a:spcPct val="50000"/>
                </a:spcBef>
              </a:pPr>
              <a:r>
                <a:rPr lang="en-US" sz="2000" b="0" i="1" dirty="0">
                  <a:solidFill>
                    <a:srgbClr val="0000FF"/>
                  </a:solidFill>
                  <a:ea typeface="Arial" charset="0"/>
                  <a:cs typeface="Arial" charset="0"/>
                </a:rPr>
                <a:t>Wait</a:t>
              </a:r>
              <a:r>
                <a:rPr lang="en-US" sz="2000" b="0" dirty="0">
                  <a:solidFill>
                    <a:srgbClr val="0000FF"/>
                  </a:solidFill>
                  <a:ea typeface="Arial" charset="0"/>
                  <a:cs typeface="Arial" charset="0"/>
                </a:rPr>
                <a:t> </a:t>
              </a:r>
              <a:r>
                <a:rPr lang="en-US" sz="2000" b="0" dirty="0">
                  <a:solidFill>
                    <a:schemeClr val="accent2"/>
                  </a:solidFill>
                  <a:ea typeface="Arial" charset="0"/>
                  <a:cs typeface="Arial" charset="0"/>
                </a:rPr>
                <a:t>for (change in local link cost OR </a:t>
              </a:r>
              <a:r>
                <a:rPr lang="en-US" sz="2000" b="0" dirty="0" err="1">
                  <a:solidFill>
                    <a:schemeClr val="accent2"/>
                  </a:solidFill>
                  <a:ea typeface="Arial" charset="0"/>
                  <a:cs typeface="Arial" charset="0"/>
                </a:rPr>
                <a:t>msg</a:t>
              </a:r>
              <a:r>
                <a:rPr lang="en-US" sz="2000" b="0" dirty="0">
                  <a:solidFill>
                    <a:schemeClr val="accent2"/>
                  </a:solidFill>
                  <a:ea typeface="Arial" charset="0"/>
                  <a:cs typeface="Arial" charset="0"/>
                </a:rPr>
                <a:t> from neighbor)</a:t>
              </a:r>
            </a:p>
            <a:p>
              <a:pPr>
                <a:spcBef>
                  <a:spcPct val="50000"/>
                </a:spcBef>
              </a:pPr>
              <a:endParaRPr lang="en-US" sz="2000" b="0" dirty="0">
                <a:solidFill>
                  <a:schemeClr val="accent2"/>
                </a:solidFill>
                <a:ea typeface="Arial" charset="0"/>
                <a:cs typeface="Arial" charset="0"/>
              </a:endParaRPr>
            </a:p>
            <a:p>
              <a:pPr>
                <a:spcBef>
                  <a:spcPct val="50000"/>
                </a:spcBef>
              </a:pPr>
              <a:r>
                <a:rPr lang="en-US" sz="2000" b="0" i="1" dirty="0">
                  <a:solidFill>
                    <a:srgbClr val="0000FF"/>
                  </a:solidFill>
                  <a:ea typeface="Arial" charset="0"/>
                  <a:cs typeface="Arial" charset="0"/>
                </a:rPr>
                <a:t>Recompute</a:t>
              </a:r>
              <a:r>
                <a:rPr lang="en-US" sz="2000" b="0" dirty="0">
                  <a:solidFill>
                    <a:srgbClr val="0000FF"/>
                  </a:solidFill>
                  <a:ea typeface="Arial" charset="0"/>
                  <a:cs typeface="Arial" charset="0"/>
                </a:rPr>
                <a:t> </a:t>
              </a:r>
              <a:r>
                <a:rPr lang="en-US" sz="2000" b="0" dirty="0">
                  <a:solidFill>
                    <a:schemeClr val="accent2"/>
                  </a:solidFill>
                  <a:ea typeface="Arial" charset="0"/>
                  <a:cs typeface="Arial" charset="0"/>
                </a:rPr>
                <a:t>estimates</a:t>
              </a:r>
            </a:p>
            <a:p>
              <a:pPr>
                <a:spcBef>
                  <a:spcPct val="50000"/>
                </a:spcBef>
              </a:pPr>
              <a:endParaRPr lang="en-US" sz="2000" b="0" dirty="0">
                <a:solidFill>
                  <a:schemeClr val="accent2"/>
                </a:solidFill>
                <a:ea typeface="Arial" charset="0"/>
                <a:cs typeface="Arial" charset="0"/>
              </a:endParaRPr>
            </a:p>
            <a:p>
              <a:pPr>
                <a:spcBef>
                  <a:spcPct val="50000"/>
                </a:spcBef>
              </a:pPr>
              <a:r>
                <a:rPr lang="en-US" sz="2000" b="0" i="1" dirty="0">
                  <a:solidFill>
                    <a:srgbClr val="0000FF"/>
                  </a:solidFill>
                  <a:ea typeface="Arial" charset="0"/>
                  <a:cs typeface="Arial" charset="0"/>
                </a:rPr>
                <a:t>Notify</a:t>
              </a:r>
              <a:r>
                <a:rPr lang="en-US" sz="2000" b="0" dirty="0">
                  <a:solidFill>
                    <a:srgbClr val="0000FF"/>
                  </a:solidFill>
                  <a:ea typeface="Arial" charset="0"/>
                  <a:cs typeface="Arial" charset="0"/>
                </a:rPr>
                <a:t> </a:t>
              </a:r>
              <a:r>
                <a:rPr lang="en-US" sz="2000" b="0" dirty="0">
                  <a:solidFill>
                    <a:schemeClr val="accent2"/>
                  </a:solidFill>
                  <a:ea typeface="Arial" charset="0"/>
                  <a:cs typeface="Arial" charset="0"/>
                </a:rPr>
                <a:t>neighbors if DV to any </a:t>
              </a:r>
              <a:r>
                <a:rPr lang="en-US" sz="2000" b="0" dirty="0" err="1">
                  <a:solidFill>
                    <a:schemeClr val="accent2"/>
                  </a:solidFill>
                  <a:ea typeface="Arial" charset="0"/>
                  <a:cs typeface="Arial" charset="0"/>
                </a:rPr>
                <a:t>dest</a:t>
              </a:r>
              <a:r>
                <a:rPr lang="en-US" sz="2000" b="0" dirty="0">
                  <a:solidFill>
                    <a:schemeClr val="accent2"/>
                  </a:solidFill>
                  <a:ea typeface="Arial" charset="0"/>
                  <a:cs typeface="Arial" charset="0"/>
                </a:rPr>
                <a:t> has changed</a:t>
              </a:r>
            </a:p>
          </p:txBody>
        </p:sp>
        <p:sp>
          <p:nvSpPr>
            <p:cNvPr id="136197" name="Line 5"/>
            <p:cNvSpPr>
              <a:spLocks noChangeShapeType="1"/>
            </p:cNvSpPr>
            <p:nvPr/>
          </p:nvSpPr>
          <p:spPr bwMode="auto">
            <a:xfrm>
              <a:off x="6781800" y="3143250"/>
              <a:ext cx="0" cy="590550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136198" name="Line 6"/>
            <p:cNvSpPr>
              <a:spLocks noChangeShapeType="1"/>
            </p:cNvSpPr>
            <p:nvPr/>
          </p:nvSpPr>
          <p:spPr bwMode="auto">
            <a:xfrm>
              <a:off x="6791325" y="4038600"/>
              <a:ext cx="0" cy="590550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136199" name="Freeform 7"/>
            <p:cNvSpPr>
              <a:spLocks/>
            </p:cNvSpPr>
            <p:nvPr/>
          </p:nvSpPr>
          <p:spPr bwMode="auto">
            <a:xfrm>
              <a:off x="5229225" y="2160588"/>
              <a:ext cx="1562100" cy="3581400"/>
            </a:xfrm>
            <a:custGeom>
              <a:avLst/>
              <a:gdLst>
                <a:gd name="T0" fmla="*/ 2147483647 w 978"/>
                <a:gd name="T1" fmla="*/ 2147483647 h 2256"/>
                <a:gd name="T2" fmla="*/ 2147483647 w 978"/>
                <a:gd name="T3" fmla="*/ 2147483647 h 2256"/>
                <a:gd name="T4" fmla="*/ 0 w 978"/>
                <a:gd name="T5" fmla="*/ 2147483647 h 2256"/>
                <a:gd name="T6" fmla="*/ 0 w 978"/>
                <a:gd name="T7" fmla="*/ 0 h 2256"/>
                <a:gd name="T8" fmla="*/ 2147483647 w 978"/>
                <a:gd name="T9" fmla="*/ 0 h 2256"/>
                <a:gd name="T10" fmla="*/ 2147483647 w 978"/>
                <a:gd name="T11" fmla="*/ 2147483647 h 225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78"/>
                <a:gd name="T19" fmla="*/ 0 h 2256"/>
                <a:gd name="T20" fmla="*/ 978 w 978"/>
                <a:gd name="T21" fmla="*/ 2256 h 225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78" h="2256">
                  <a:moveTo>
                    <a:pt x="960" y="2010"/>
                  </a:moveTo>
                  <a:lnTo>
                    <a:pt x="961" y="2256"/>
                  </a:lnTo>
                  <a:lnTo>
                    <a:pt x="0" y="2256"/>
                  </a:lnTo>
                  <a:lnTo>
                    <a:pt x="0" y="0"/>
                  </a:lnTo>
                  <a:lnTo>
                    <a:pt x="978" y="0"/>
                  </a:lnTo>
                  <a:lnTo>
                    <a:pt x="978" y="155"/>
                  </a:lnTo>
                </a:path>
              </a:pathLst>
            </a:custGeom>
            <a:noFill/>
            <a:ln w="19050" cap="flat" cmpd="sng">
              <a:solidFill>
                <a:srgbClr val="000099"/>
              </a:solidFill>
              <a:prstDash val="solid"/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136200" name="Text Box 8"/>
            <p:cNvSpPr txBox="1">
              <a:spLocks noChangeArrowheads="1"/>
            </p:cNvSpPr>
            <p:nvPr/>
          </p:nvSpPr>
          <p:spPr bwMode="auto">
            <a:xfrm>
              <a:off x="4737791" y="1600200"/>
              <a:ext cx="202170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b="0" dirty="0">
                  <a:solidFill>
                    <a:srgbClr val="0000FF"/>
                  </a:solidFill>
                  <a:ea typeface="Arial" charset="0"/>
                  <a:cs typeface="Arial" charset="0"/>
                </a:rPr>
                <a:t>@each node: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62908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3" name="Shape 2453"/>
          <p:cNvSpPr/>
          <p:nvPr/>
        </p:nvSpPr>
        <p:spPr>
          <a:xfrm flipH="1">
            <a:off x="2040086" y="2812097"/>
            <a:ext cx="2308421" cy="768709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454" name="Shape 2454"/>
          <p:cNvSpPr/>
          <p:nvPr/>
        </p:nvSpPr>
        <p:spPr>
          <a:xfrm>
            <a:off x="2107403" y="3821276"/>
            <a:ext cx="4865179" cy="1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455" name="Shape 2455"/>
          <p:cNvSpPr/>
          <p:nvPr/>
        </p:nvSpPr>
        <p:spPr>
          <a:xfrm>
            <a:off x="4654379" y="2812098"/>
            <a:ext cx="2320587" cy="823433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457" name="Shape 2457"/>
          <p:cNvSpPr/>
          <p:nvPr/>
        </p:nvSpPr>
        <p:spPr>
          <a:xfrm>
            <a:off x="1634133" y="3429000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424242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2953">
                <a:solidFill>
                  <a:schemeClr val="bg1"/>
                </a:solidFill>
              </a:rPr>
              <a:t>x</a:t>
            </a:r>
          </a:p>
        </p:txBody>
      </p:sp>
      <p:sp>
        <p:nvSpPr>
          <p:cNvPr id="2458" name="Shape 2458"/>
          <p:cNvSpPr/>
          <p:nvPr/>
        </p:nvSpPr>
        <p:spPr>
          <a:xfrm>
            <a:off x="6768703" y="3429000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008F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2953"/>
              <a:t>z</a:t>
            </a:r>
          </a:p>
        </p:txBody>
      </p:sp>
      <p:sp>
        <p:nvSpPr>
          <p:cNvPr id="2459" name="Shape 2459"/>
          <p:cNvSpPr/>
          <p:nvPr/>
        </p:nvSpPr>
        <p:spPr>
          <a:xfrm>
            <a:off x="4241602" y="2500313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FF93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2953"/>
              <a:t>y</a:t>
            </a:r>
          </a:p>
        </p:txBody>
      </p:sp>
      <p:sp>
        <p:nvSpPr>
          <p:cNvPr id="2460" name="Shape 2460"/>
          <p:cNvSpPr/>
          <p:nvPr/>
        </p:nvSpPr>
        <p:spPr>
          <a:xfrm>
            <a:off x="4375547" y="3290738"/>
            <a:ext cx="267891" cy="5265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 b="1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953" dirty="0"/>
              <a:t>7</a:t>
            </a:r>
          </a:p>
        </p:txBody>
      </p:sp>
      <p:sp>
        <p:nvSpPr>
          <p:cNvPr id="2461" name="Shape 2461"/>
          <p:cNvSpPr/>
          <p:nvPr/>
        </p:nvSpPr>
        <p:spPr>
          <a:xfrm>
            <a:off x="2911078" y="2589758"/>
            <a:ext cx="267891" cy="5265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 b="1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953"/>
              <a:t>2</a:t>
            </a:r>
          </a:p>
        </p:txBody>
      </p:sp>
      <p:sp>
        <p:nvSpPr>
          <p:cNvPr id="2462" name="Shape 2462"/>
          <p:cNvSpPr/>
          <p:nvPr/>
        </p:nvSpPr>
        <p:spPr>
          <a:xfrm>
            <a:off x="5822156" y="2661195"/>
            <a:ext cx="267891" cy="5265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 b="1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953"/>
              <a:t>1</a:t>
            </a:r>
          </a:p>
        </p:txBody>
      </p:sp>
      <p:grpSp>
        <p:nvGrpSpPr>
          <p:cNvPr id="2478" name="Group 2478"/>
          <p:cNvGrpSpPr/>
          <p:nvPr/>
        </p:nvGrpSpPr>
        <p:grpSpPr>
          <a:xfrm>
            <a:off x="3455789" y="535781"/>
            <a:ext cx="2107406" cy="1634133"/>
            <a:chOff x="0" y="0"/>
            <a:chExt cx="2997200" cy="2324100"/>
          </a:xfrm>
        </p:grpSpPr>
        <p:sp>
          <p:nvSpPr>
            <p:cNvPr id="2467" name="Shape 2467"/>
            <p:cNvSpPr/>
            <p:nvPr/>
          </p:nvSpPr>
          <p:spPr>
            <a:xfrm>
              <a:off x="0" y="0"/>
              <a:ext cx="2997200" cy="2311400"/>
            </a:xfrm>
            <a:prstGeom prst="rect">
              <a:avLst/>
            </a:prstGeom>
            <a:solidFill>
              <a:schemeClr val="bg1"/>
            </a:solidFill>
            <a:ln w="63500" cap="flat">
              <a:solidFill>
                <a:srgbClr val="FF93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4000">
                  <a:solidFill>
                    <a:srgbClr val="FF9300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2812">
                <a:solidFill>
                  <a:srgbClr val="FF9900"/>
                </a:solidFill>
              </a:endParaRPr>
            </a:p>
          </p:txBody>
        </p:sp>
        <p:grpSp>
          <p:nvGrpSpPr>
            <p:cNvPr id="2466" name="Group 2466"/>
            <p:cNvGrpSpPr/>
            <p:nvPr/>
          </p:nvGrpSpPr>
          <p:grpSpPr>
            <a:xfrm>
              <a:off x="1231900" y="1181100"/>
              <a:ext cx="1295400" cy="660400"/>
              <a:chOff x="0" y="0"/>
              <a:chExt cx="1295400" cy="660400"/>
            </a:xfrm>
          </p:grpSpPr>
          <p:sp>
            <p:nvSpPr>
              <p:cNvPr id="2463" name="Shape 2463"/>
              <p:cNvSpPr/>
              <p:nvPr/>
            </p:nvSpPr>
            <p:spPr>
              <a:xfrm>
                <a:off x="0" y="0"/>
                <a:ext cx="241300" cy="66040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35719" tIns="35719" rIns="35719" bIns="35719" numCol="1" anchor="ctr">
                <a:noAutofit/>
              </a:bodyPr>
              <a:lstStyle>
                <a:lvl1pPr algn="l">
                  <a:defRPr sz="3600">
                    <a:solidFill>
                      <a:srgbClr val="FF9300"/>
                    </a:solidFill>
                    <a:latin typeface="+mn-lt"/>
                    <a:ea typeface="+mn-ea"/>
                    <a:cs typeface="+mn-cs"/>
                    <a:sym typeface="Calibri"/>
                  </a:defRPr>
                </a:lvl1pPr>
              </a:lstStyle>
              <a:p>
                <a:pPr lvl="0">
                  <a:defRPr sz="1800">
                    <a:solidFill>
                      <a:srgbClr val="000000"/>
                    </a:solidFill>
                  </a:defRPr>
                </a:pPr>
                <a:r>
                  <a:rPr sz="2531">
                    <a:solidFill>
                      <a:srgbClr val="FF9900"/>
                    </a:solidFill>
                  </a:rPr>
                  <a:t>2</a:t>
                </a:r>
              </a:p>
            </p:txBody>
          </p:sp>
          <p:sp>
            <p:nvSpPr>
              <p:cNvPr id="2464" name="Shape 2464"/>
              <p:cNvSpPr/>
              <p:nvPr/>
            </p:nvSpPr>
            <p:spPr>
              <a:xfrm>
                <a:off x="546100" y="0"/>
                <a:ext cx="241300" cy="66040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35719" tIns="35719" rIns="35719" bIns="35719" numCol="1" anchor="ctr">
                <a:noAutofit/>
              </a:bodyPr>
              <a:lstStyle>
                <a:lvl1pPr algn="l">
                  <a:defRPr sz="3600">
                    <a:solidFill>
                      <a:srgbClr val="FF9300"/>
                    </a:solidFill>
                    <a:latin typeface="+mn-lt"/>
                    <a:ea typeface="+mn-ea"/>
                    <a:cs typeface="+mn-cs"/>
                    <a:sym typeface="Calibri"/>
                  </a:defRPr>
                </a:lvl1pPr>
              </a:lstStyle>
              <a:p>
                <a:pPr lvl="0">
                  <a:defRPr sz="1800">
                    <a:solidFill>
                      <a:srgbClr val="000000"/>
                    </a:solidFill>
                  </a:defRPr>
                </a:pPr>
                <a:r>
                  <a:rPr sz="2531">
                    <a:solidFill>
                      <a:srgbClr val="FF9900"/>
                    </a:solidFill>
                  </a:rPr>
                  <a:t>0</a:t>
                </a:r>
              </a:p>
            </p:txBody>
          </p:sp>
          <p:sp>
            <p:nvSpPr>
              <p:cNvPr id="2465" name="Shape 2465"/>
              <p:cNvSpPr/>
              <p:nvPr/>
            </p:nvSpPr>
            <p:spPr>
              <a:xfrm>
                <a:off x="1104900" y="0"/>
                <a:ext cx="190500" cy="66040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35719" tIns="35719" rIns="35719" bIns="35719" numCol="1" anchor="ctr">
                <a:noAutofit/>
              </a:bodyPr>
              <a:lstStyle>
                <a:lvl1pPr algn="l">
                  <a:defRPr sz="3600">
                    <a:solidFill>
                      <a:srgbClr val="FF9300"/>
                    </a:solidFill>
                    <a:latin typeface="+mn-lt"/>
                    <a:ea typeface="+mn-ea"/>
                    <a:cs typeface="+mn-cs"/>
                    <a:sym typeface="Calibri"/>
                  </a:defRPr>
                </a:lvl1pPr>
              </a:lstStyle>
              <a:p>
                <a:pPr lvl="0">
                  <a:defRPr sz="1800">
                    <a:solidFill>
                      <a:srgbClr val="000000"/>
                    </a:solidFill>
                  </a:defRPr>
                </a:pPr>
                <a:r>
                  <a:rPr sz="2531">
                    <a:solidFill>
                      <a:srgbClr val="FF9900"/>
                    </a:solidFill>
                  </a:rPr>
                  <a:t>1</a:t>
                </a:r>
              </a:p>
            </p:txBody>
          </p:sp>
        </p:grpSp>
        <p:sp>
          <p:nvSpPr>
            <p:cNvPr id="2468" name="Shape 2468"/>
            <p:cNvSpPr/>
            <p:nvPr/>
          </p:nvSpPr>
          <p:spPr>
            <a:xfrm>
              <a:off x="1219200" y="25400"/>
              <a:ext cx="381000" cy="596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FF93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FF9900"/>
                  </a:solidFill>
                </a:rPr>
                <a:t>x</a:t>
              </a:r>
            </a:p>
          </p:txBody>
        </p:sp>
        <p:sp>
          <p:nvSpPr>
            <p:cNvPr id="2469" name="Shape 2469"/>
            <p:cNvSpPr/>
            <p:nvPr/>
          </p:nvSpPr>
          <p:spPr>
            <a:xfrm flipV="1">
              <a:off x="88896" y="652173"/>
              <a:ext cx="2784760" cy="931"/>
            </a:xfrm>
            <a:prstGeom prst="line">
              <a:avLst/>
            </a:prstGeom>
            <a:noFill/>
            <a:ln w="38100" cap="flat">
              <a:solidFill>
                <a:srgbClr val="FF93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 sz="844">
                <a:solidFill>
                  <a:srgbClr val="FF9900"/>
                </a:solidFill>
              </a:endParaRPr>
            </a:p>
          </p:txBody>
        </p:sp>
        <p:sp>
          <p:nvSpPr>
            <p:cNvPr id="2470" name="Shape 2470"/>
            <p:cNvSpPr/>
            <p:nvPr/>
          </p:nvSpPr>
          <p:spPr>
            <a:xfrm flipV="1">
              <a:off x="904605" y="139584"/>
              <a:ext cx="983" cy="2046721"/>
            </a:xfrm>
            <a:prstGeom prst="line">
              <a:avLst/>
            </a:prstGeom>
            <a:noFill/>
            <a:ln w="38100" cap="flat">
              <a:solidFill>
                <a:srgbClr val="FF93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 sz="844">
                <a:solidFill>
                  <a:srgbClr val="FF9900"/>
                </a:solidFill>
              </a:endParaRPr>
            </a:p>
          </p:txBody>
        </p:sp>
        <p:sp>
          <p:nvSpPr>
            <p:cNvPr id="2471" name="Shape 2471"/>
            <p:cNvSpPr/>
            <p:nvPr/>
          </p:nvSpPr>
          <p:spPr>
            <a:xfrm>
              <a:off x="330200" y="1130300"/>
              <a:ext cx="3429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FF93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FF9900"/>
                  </a:solidFill>
                </a:rPr>
                <a:t>y</a:t>
              </a:r>
            </a:p>
          </p:txBody>
        </p:sp>
        <p:sp>
          <p:nvSpPr>
            <p:cNvPr id="2472" name="Shape 2472"/>
            <p:cNvSpPr/>
            <p:nvPr/>
          </p:nvSpPr>
          <p:spPr>
            <a:xfrm>
              <a:off x="1752600" y="25400"/>
              <a:ext cx="381000" cy="596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FF93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FF9900"/>
                  </a:solidFill>
                </a:rPr>
                <a:t>y</a:t>
              </a:r>
            </a:p>
          </p:txBody>
        </p:sp>
        <p:sp>
          <p:nvSpPr>
            <p:cNvPr id="2473" name="Shape 2473"/>
            <p:cNvSpPr/>
            <p:nvPr/>
          </p:nvSpPr>
          <p:spPr>
            <a:xfrm>
              <a:off x="2311400" y="25400"/>
              <a:ext cx="381000" cy="596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FF93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FF9900"/>
                  </a:solidFill>
                </a:rPr>
                <a:t>z</a:t>
              </a:r>
            </a:p>
          </p:txBody>
        </p:sp>
        <p:sp>
          <p:nvSpPr>
            <p:cNvPr id="2474" name="Shape 2474"/>
            <p:cNvSpPr/>
            <p:nvPr/>
          </p:nvSpPr>
          <p:spPr>
            <a:xfrm>
              <a:off x="330200" y="1600200"/>
              <a:ext cx="3429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FF93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FF9900"/>
                  </a:solidFill>
                </a:rPr>
                <a:t>z</a:t>
              </a:r>
            </a:p>
          </p:txBody>
        </p:sp>
        <p:sp>
          <p:nvSpPr>
            <p:cNvPr id="2475" name="Shape 2475"/>
            <p:cNvSpPr/>
            <p:nvPr/>
          </p:nvSpPr>
          <p:spPr>
            <a:xfrm>
              <a:off x="1206500" y="166370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FF93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FF9900"/>
                  </a:solidFill>
                </a:rPr>
                <a:t>3</a:t>
              </a:r>
            </a:p>
          </p:txBody>
        </p:sp>
        <p:sp>
          <p:nvSpPr>
            <p:cNvPr id="2476" name="Shape 2476"/>
            <p:cNvSpPr/>
            <p:nvPr/>
          </p:nvSpPr>
          <p:spPr>
            <a:xfrm>
              <a:off x="1765300" y="166370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 dirty="0">
                  <a:solidFill>
                    <a:srgbClr val="00B050"/>
                  </a:solidFill>
                </a:rPr>
                <a:t>1</a:t>
              </a:r>
            </a:p>
          </p:txBody>
        </p:sp>
        <p:sp>
          <p:nvSpPr>
            <p:cNvPr id="2477" name="Shape 2477"/>
            <p:cNvSpPr/>
            <p:nvPr/>
          </p:nvSpPr>
          <p:spPr>
            <a:xfrm>
              <a:off x="2298700" y="1663700"/>
              <a:ext cx="3048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 dirty="0">
                  <a:solidFill>
                    <a:srgbClr val="00B050"/>
                  </a:solidFill>
                </a:rPr>
                <a:t>0</a:t>
              </a:r>
            </a:p>
          </p:txBody>
        </p:sp>
      </p:grpSp>
      <p:grpSp>
        <p:nvGrpSpPr>
          <p:cNvPr id="2493" name="Group 2493"/>
          <p:cNvGrpSpPr/>
          <p:nvPr/>
        </p:nvGrpSpPr>
        <p:grpSpPr>
          <a:xfrm>
            <a:off x="6045399" y="4589859"/>
            <a:ext cx="2107406" cy="1625203"/>
            <a:chOff x="0" y="0"/>
            <a:chExt cx="2997200" cy="2311400"/>
          </a:xfrm>
        </p:grpSpPr>
        <p:sp>
          <p:nvSpPr>
            <p:cNvPr id="2479" name="Shape 2479"/>
            <p:cNvSpPr/>
            <p:nvPr/>
          </p:nvSpPr>
          <p:spPr>
            <a:xfrm>
              <a:off x="0" y="0"/>
              <a:ext cx="2997200" cy="2311400"/>
            </a:xfrm>
            <a:prstGeom prst="rect">
              <a:avLst/>
            </a:prstGeom>
            <a:noFill/>
            <a:ln w="63500" cap="flat">
              <a:solidFill>
                <a:srgbClr val="008F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4000">
                  <a:solidFill>
                    <a:srgbClr val="008F00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2812">
                <a:solidFill>
                  <a:srgbClr val="00B050"/>
                </a:solidFill>
              </a:endParaRPr>
            </a:p>
          </p:txBody>
        </p:sp>
        <p:sp>
          <p:nvSpPr>
            <p:cNvPr id="2480" name="Shape 2480"/>
            <p:cNvSpPr/>
            <p:nvPr/>
          </p:nvSpPr>
          <p:spPr>
            <a:xfrm>
              <a:off x="1219200" y="25400"/>
              <a:ext cx="381000" cy="596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B050"/>
                  </a:solidFill>
                </a:rPr>
                <a:t>x</a:t>
              </a:r>
            </a:p>
          </p:txBody>
        </p:sp>
        <p:sp>
          <p:nvSpPr>
            <p:cNvPr id="2481" name="Shape 2481"/>
            <p:cNvSpPr/>
            <p:nvPr/>
          </p:nvSpPr>
          <p:spPr>
            <a:xfrm flipV="1">
              <a:off x="88896" y="652173"/>
              <a:ext cx="2784760" cy="931"/>
            </a:xfrm>
            <a:prstGeom prst="line">
              <a:avLst/>
            </a:prstGeom>
            <a:noFill/>
            <a:ln w="38100" cap="flat">
              <a:solidFill>
                <a:srgbClr val="008F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 sz="844">
                <a:solidFill>
                  <a:srgbClr val="00B050"/>
                </a:solidFill>
              </a:endParaRPr>
            </a:p>
          </p:txBody>
        </p:sp>
        <p:sp>
          <p:nvSpPr>
            <p:cNvPr id="2482" name="Shape 2482"/>
            <p:cNvSpPr/>
            <p:nvPr/>
          </p:nvSpPr>
          <p:spPr>
            <a:xfrm flipV="1">
              <a:off x="904605" y="139584"/>
              <a:ext cx="983" cy="2046722"/>
            </a:xfrm>
            <a:prstGeom prst="line">
              <a:avLst/>
            </a:prstGeom>
            <a:noFill/>
            <a:ln w="38100" cap="flat">
              <a:solidFill>
                <a:srgbClr val="008F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 sz="844">
                <a:solidFill>
                  <a:srgbClr val="00B050"/>
                </a:solidFill>
              </a:endParaRPr>
            </a:p>
          </p:txBody>
        </p:sp>
        <p:sp>
          <p:nvSpPr>
            <p:cNvPr id="2483" name="Shape 2483"/>
            <p:cNvSpPr/>
            <p:nvPr/>
          </p:nvSpPr>
          <p:spPr>
            <a:xfrm>
              <a:off x="330200" y="1130300"/>
              <a:ext cx="3429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B050"/>
                  </a:solidFill>
                </a:rPr>
                <a:t>y</a:t>
              </a:r>
            </a:p>
          </p:txBody>
        </p:sp>
        <p:sp>
          <p:nvSpPr>
            <p:cNvPr id="2484" name="Shape 2484"/>
            <p:cNvSpPr/>
            <p:nvPr/>
          </p:nvSpPr>
          <p:spPr>
            <a:xfrm>
              <a:off x="1752600" y="25400"/>
              <a:ext cx="381000" cy="596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B050"/>
                  </a:solidFill>
                </a:rPr>
                <a:t>y</a:t>
              </a:r>
            </a:p>
          </p:txBody>
        </p:sp>
        <p:sp>
          <p:nvSpPr>
            <p:cNvPr id="2485" name="Shape 2485"/>
            <p:cNvSpPr/>
            <p:nvPr/>
          </p:nvSpPr>
          <p:spPr>
            <a:xfrm>
              <a:off x="2311400" y="25400"/>
              <a:ext cx="381000" cy="596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B050"/>
                  </a:solidFill>
                </a:rPr>
                <a:t>z</a:t>
              </a:r>
            </a:p>
          </p:txBody>
        </p:sp>
        <p:sp>
          <p:nvSpPr>
            <p:cNvPr id="2486" name="Shape 2486"/>
            <p:cNvSpPr/>
            <p:nvPr/>
          </p:nvSpPr>
          <p:spPr>
            <a:xfrm>
              <a:off x="330200" y="1600200"/>
              <a:ext cx="3429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B050"/>
                  </a:solidFill>
                </a:rPr>
                <a:t>z</a:t>
              </a:r>
            </a:p>
          </p:txBody>
        </p:sp>
        <p:sp>
          <p:nvSpPr>
            <p:cNvPr id="2487" name="Shape 2487"/>
            <p:cNvSpPr/>
            <p:nvPr/>
          </p:nvSpPr>
          <p:spPr>
            <a:xfrm>
              <a:off x="1206500" y="165100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FF93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FF9900"/>
                  </a:solidFill>
                </a:rPr>
                <a:t>3</a:t>
              </a:r>
            </a:p>
          </p:txBody>
        </p:sp>
        <p:sp>
          <p:nvSpPr>
            <p:cNvPr id="2488" name="Shape 2488"/>
            <p:cNvSpPr/>
            <p:nvPr/>
          </p:nvSpPr>
          <p:spPr>
            <a:xfrm>
              <a:off x="1765300" y="165100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B050"/>
                  </a:solidFill>
                </a:rPr>
                <a:t>1</a:t>
              </a:r>
            </a:p>
          </p:txBody>
        </p:sp>
        <p:sp>
          <p:nvSpPr>
            <p:cNvPr id="2489" name="Shape 2489"/>
            <p:cNvSpPr/>
            <p:nvPr/>
          </p:nvSpPr>
          <p:spPr>
            <a:xfrm>
              <a:off x="2298700" y="1651000"/>
              <a:ext cx="2794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B050"/>
                  </a:solidFill>
                </a:rPr>
                <a:t>0</a:t>
              </a:r>
            </a:p>
          </p:txBody>
        </p:sp>
        <p:sp>
          <p:nvSpPr>
            <p:cNvPr id="2490" name="Shape 2490"/>
            <p:cNvSpPr/>
            <p:nvPr/>
          </p:nvSpPr>
          <p:spPr>
            <a:xfrm>
              <a:off x="1181100" y="114300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FF93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FF9900"/>
                  </a:solidFill>
                </a:rPr>
                <a:t>2</a:t>
              </a:r>
            </a:p>
          </p:txBody>
        </p:sp>
        <p:sp>
          <p:nvSpPr>
            <p:cNvPr id="2491" name="Shape 2491"/>
            <p:cNvSpPr/>
            <p:nvPr/>
          </p:nvSpPr>
          <p:spPr>
            <a:xfrm>
              <a:off x="1727200" y="115570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FF93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FF9900"/>
                  </a:solidFill>
                </a:rPr>
                <a:t>0</a:t>
              </a:r>
            </a:p>
          </p:txBody>
        </p:sp>
        <p:sp>
          <p:nvSpPr>
            <p:cNvPr id="2492" name="Shape 2492"/>
            <p:cNvSpPr/>
            <p:nvPr/>
          </p:nvSpPr>
          <p:spPr>
            <a:xfrm>
              <a:off x="2286000" y="1143000"/>
              <a:ext cx="1905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FF93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FF9900"/>
                  </a:solidFill>
                </a:rPr>
                <a:t>1</a:t>
              </a:r>
            </a:p>
          </p:txBody>
        </p:sp>
      </p:grpSp>
      <p:sp>
        <p:nvSpPr>
          <p:cNvPr id="2494" name="Shape 2494"/>
          <p:cNvSpPr/>
          <p:nvPr/>
        </p:nvSpPr>
        <p:spPr>
          <a:xfrm flipV="1">
            <a:off x="2195539" y="2708237"/>
            <a:ext cx="1992807" cy="673431"/>
          </a:xfrm>
          <a:prstGeom prst="line">
            <a:avLst/>
          </a:prstGeom>
          <a:ln w="76200">
            <a:solidFill>
              <a:srgbClr val="942193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495" name="Shape 2495"/>
          <p:cNvSpPr/>
          <p:nvPr/>
        </p:nvSpPr>
        <p:spPr>
          <a:xfrm>
            <a:off x="2249816" y="2928896"/>
            <a:ext cx="4494121" cy="7694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21" extrusionOk="0">
                <a:moveTo>
                  <a:pt x="21600" y="21038"/>
                </a:moveTo>
                <a:cubicBezTo>
                  <a:pt x="21600" y="21038"/>
                  <a:pt x="13263" y="-179"/>
                  <a:pt x="10818" y="1"/>
                </a:cubicBezTo>
                <a:cubicBezTo>
                  <a:pt x="8512" y="171"/>
                  <a:pt x="0" y="21421"/>
                  <a:pt x="0" y="21421"/>
                </a:cubicBezTo>
              </a:path>
            </a:pathLst>
          </a:custGeom>
          <a:ln w="63500">
            <a:solidFill>
              <a:srgbClr val="942193"/>
            </a:solidFill>
            <a:miter lim="400000"/>
            <a:tailEnd type="stealth"/>
          </a:ln>
        </p:spPr>
        <p:txBody>
          <a:bodyPr lIns="0" tIns="0" rIns="0" bIns="0" anchor="ctr"/>
          <a:lstStyle/>
          <a:p>
            <a:pPr lvl="0"/>
            <a:endParaRPr sz="1125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B19EBB-9192-DF42-9657-83B4CBD3C40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384268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2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2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1000"/>
                                        <p:tgtEl>
                                          <p:spTgt spid="2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2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24" dur="1000" fill="hold"/>
                                        <p:tgtEl>
                                          <p:spTgt spid="24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3" grpId="0" animBg="1" advAuto="0"/>
      <p:bldP spid="2461" grpId="0" animBg="1" advAuto="0"/>
      <p:bldP spid="2478" grpId="0" advAuto="0"/>
      <p:bldP spid="2493" grpId="0" advAuto="0"/>
      <p:bldP spid="2494" grpId="0" animBg="1" advAuto="0"/>
      <p:bldP spid="2495" grpId="0" animBg="1" advAuto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9" name="Shape 2509"/>
          <p:cNvSpPr/>
          <p:nvPr/>
        </p:nvSpPr>
        <p:spPr>
          <a:xfrm>
            <a:off x="3455789" y="535781"/>
            <a:ext cx="2107406" cy="1625203"/>
          </a:xfrm>
          <a:prstGeom prst="rect">
            <a:avLst/>
          </a:prstGeom>
          <a:solidFill>
            <a:schemeClr val="bg1"/>
          </a:solidFill>
          <a:ln w="63500">
            <a:solidFill>
              <a:srgbClr val="FF9300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93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>
              <a:solidFill>
                <a:srgbClr val="FF9900"/>
              </a:solidFill>
            </a:endParaRPr>
          </a:p>
        </p:txBody>
      </p:sp>
      <p:sp>
        <p:nvSpPr>
          <p:cNvPr id="2499" name="Shape 2499"/>
          <p:cNvSpPr/>
          <p:nvPr/>
        </p:nvSpPr>
        <p:spPr>
          <a:xfrm>
            <a:off x="4705945" y="1366242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0</a:t>
            </a:r>
          </a:p>
        </p:txBody>
      </p:sp>
      <p:sp>
        <p:nvSpPr>
          <p:cNvPr id="2500" name="Shape 2500"/>
          <p:cNvSpPr/>
          <p:nvPr/>
        </p:nvSpPr>
        <p:spPr>
          <a:xfrm>
            <a:off x="5098852" y="1366242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1</a:t>
            </a:r>
          </a:p>
        </p:txBody>
      </p:sp>
      <p:sp>
        <p:nvSpPr>
          <p:cNvPr id="2501" name="Shape 2501"/>
          <p:cNvSpPr/>
          <p:nvPr/>
        </p:nvSpPr>
        <p:spPr>
          <a:xfrm>
            <a:off x="2107403" y="3821276"/>
            <a:ext cx="4865179" cy="1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502" name="Shape 2502"/>
          <p:cNvSpPr/>
          <p:nvPr/>
        </p:nvSpPr>
        <p:spPr>
          <a:xfrm>
            <a:off x="4654379" y="2812098"/>
            <a:ext cx="2320587" cy="823433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ABB4BE-684D-C448-A098-81ED3BA6B98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2504" name="Shape 2504"/>
          <p:cNvSpPr/>
          <p:nvPr/>
        </p:nvSpPr>
        <p:spPr>
          <a:xfrm>
            <a:off x="1634133" y="3429000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424242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2953" dirty="0">
                <a:solidFill>
                  <a:schemeClr val="bg1"/>
                </a:solidFill>
              </a:rPr>
              <a:t>x</a:t>
            </a:r>
          </a:p>
        </p:txBody>
      </p:sp>
      <p:sp>
        <p:nvSpPr>
          <p:cNvPr id="2505" name="Shape 2505"/>
          <p:cNvSpPr/>
          <p:nvPr/>
        </p:nvSpPr>
        <p:spPr>
          <a:xfrm>
            <a:off x="6768703" y="3429000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008F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2953"/>
              <a:t>z</a:t>
            </a:r>
          </a:p>
        </p:txBody>
      </p:sp>
      <p:sp>
        <p:nvSpPr>
          <p:cNvPr id="2506" name="Shape 2506"/>
          <p:cNvSpPr/>
          <p:nvPr/>
        </p:nvSpPr>
        <p:spPr>
          <a:xfrm>
            <a:off x="4241602" y="2500313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FF93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2953"/>
              <a:t>y</a:t>
            </a:r>
          </a:p>
        </p:txBody>
      </p:sp>
      <p:sp>
        <p:nvSpPr>
          <p:cNvPr id="2507" name="Shape 2507"/>
          <p:cNvSpPr/>
          <p:nvPr/>
        </p:nvSpPr>
        <p:spPr>
          <a:xfrm>
            <a:off x="4375547" y="3290738"/>
            <a:ext cx="267891" cy="5265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 b="1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953"/>
              <a:t>7</a:t>
            </a:r>
          </a:p>
        </p:txBody>
      </p:sp>
      <p:sp>
        <p:nvSpPr>
          <p:cNvPr id="2508" name="Shape 2508"/>
          <p:cNvSpPr/>
          <p:nvPr/>
        </p:nvSpPr>
        <p:spPr>
          <a:xfrm>
            <a:off x="5822156" y="2661195"/>
            <a:ext cx="267891" cy="5265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 b="1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953"/>
              <a:t>1</a:t>
            </a:r>
          </a:p>
        </p:txBody>
      </p:sp>
      <p:sp>
        <p:nvSpPr>
          <p:cNvPr id="2510" name="Shape 2510"/>
          <p:cNvSpPr/>
          <p:nvPr/>
        </p:nvSpPr>
        <p:spPr>
          <a:xfrm>
            <a:off x="4313039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x</a:t>
            </a:r>
          </a:p>
        </p:txBody>
      </p:sp>
      <p:sp>
        <p:nvSpPr>
          <p:cNvPr id="2511" name="Shape 2511"/>
          <p:cNvSpPr/>
          <p:nvPr/>
        </p:nvSpPr>
        <p:spPr>
          <a:xfrm flipV="1">
            <a:off x="3518294" y="994341"/>
            <a:ext cx="1958034" cy="655"/>
          </a:xfrm>
          <a:prstGeom prst="line">
            <a:avLst/>
          </a:prstGeom>
          <a:ln w="38100">
            <a:solidFill>
              <a:srgbClr val="FF9300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>
              <a:solidFill>
                <a:srgbClr val="FF9900"/>
              </a:solidFill>
            </a:endParaRPr>
          </a:p>
        </p:txBody>
      </p:sp>
      <p:sp>
        <p:nvSpPr>
          <p:cNvPr id="2512" name="Shape 2512"/>
          <p:cNvSpPr/>
          <p:nvPr/>
        </p:nvSpPr>
        <p:spPr>
          <a:xfrm flipV="1">
            <a:off x="4091840" y="633926"/>
            <a:ext cx="691" cy="1439101"/>
          </a:xfrm>
          <a:prstGeom prst="line">
            <a:avLst/>
          </a:prstGeom>
          <a:ln w="38100">
            <a:solidFill>
              <a:srgbClr val="FF9300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>
              <a:solidFill>
                <a:srgbClr val="FF9900"/>
              </a:solidFill>
            </a:endParaRPr>
          </a:p>
        </p:txBody>
      </p:sp>
      <p:sp>
        <p:nvSpPr>
          <p:cNvPr id="2513" name="Shape 2513"/>
          <p:cNvSpPr/>
          <p:nvPr/>
        </p:nvSpPr>
        <p:spPr>
          <a:xfrm>
            <a:off x="3687961" y="1330523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y</a:t>
            </a:r>
          </a:p>
        </p:txBody>
      </p:sp>
      <p:sp>
        <p:nvSpPr>
          <p:cNvPr id="2514" name="Shape 2514"/>
          <p:cNvSpPr/>
          <p:nvPr/>
        </p:nvSpPr>
        <p:spPr>
          <a:xfrm>
            <a:off x="4688086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y</a:t>
            </a:r>
          </a:p>
        </p:txBody>
      </p:sp>
      <p:sp>
        <p:nvSpPr>
          <p:cNvPr id="2515" name="Shape 2515"/>
          <p:cNvSpPr/>
          <p:nvPr/>
        </p:nvSpPr>
        <p:spPr>
          <a:xfrm>
            <a:off x="5080992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z</a:t>
            </a:r>
          </a:p>
        </p:txBody>
      </p:sp>
      <p:sp>
        <p:nvSpPr>
          <p:cNvPr id="2516" name="Shape 2516"/>
          <p:cNvSpPr/>
          <p:nvPr/>
        </p:nvSpPr>
        <p:spPr>
          <a:xfrm>
            <a:off x="3687961" y="1660922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z</a:t>
            </a:r>
          </a:p>
        </p:txBody>
      </p:sp>
      <p:sp>
        <p:nvSpPr>
          <p:cNvPr id="2517" name="Shape 2517"/>
          <p:cNvSpPr/>
          <p:nvPr/>
        </p:nvSpPr>
        <p:spPr>
          <a:xfrm>
            <a:off x="4304109" y="1705570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3</a:t>
            </a:r>
          </a:p>
        </p:txBody>
      </p:sp>
      <p:sp>
        <p:nvSpPr>
          <p:cNvPr id="2518" name="Shape 2518"/>
          <p:cNvSpPr/>
          <p:nvPr/>
        </p:nvSpPr>
        <p:spPr>
          <a:xfrm>
            <a:off x="4697016" y="1705570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2519" name="Shape 2519"/>
          <p:cNvSpPr/>
          <p:nvPr/>
        </p:nvSpPr>
        <p:spPr>
          <a:xfrm>
            <a:off x="5072062" y="1705570"/>
            <a:ext cx="214313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2536" name="Shape 2536"/>
          <p:cNvSpPr/>
          <p:nvPr/>
        </p:nvSpPr>
        <p:spPr>
          <a:xfrm flipV="1">
            <a:off x="4205507" y="1539271"/>
            <a:ext cx="1044506" cy="549740"/>
          </a:xfrm>
          <a:prstGeom prst="line">
            <a:avLst/>
          </a:prstGeom>
          <a:ln w="63500">
            <a:solidFill>
              <a:srgbClr val="942193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>
              <a:solidFill>
                <a:srgbClr val="FF9900"/>
              </a:solidFill>
            </a:endParaRPr>
          </a:p>
        </p:txBody>
      </p:sp>
      <p:sp>
        <p:nvSpPr>
          <p:cNvPr id="2537" name="Shape 2537"/>
          <p:cNvSpPr/>
          <p:nvPr/>
        </p:nvSpPr>
        <p:spPr>
          <a:xfrm>
            <a:off x="4277320" y="1366242"/>
            <a:ext cx="214313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rgbClr val="00B050"/>
                </a:solidFill>
              </a:rPr>
              <a:t>4</a:t>
            </a:r>
          </a:p>
        </p:txBody>
      </p:sp>
      <p:sp>
        <p:nvSpPr>
          <p:cNvPr id="2538" name="Shape 2538"/>
          <p:cNvSpPr/>
          <p:nvPr/>
        </p:nvSpPr>
        <p:spPr>
          <a:xfrm>
            <a:off x="6296158" y="1818563"/>
            <a:ext cx="2152055" cy="46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>
              <a:defRPr sz="3600"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531"/>
              <a:t>routing loop!</a:t>
            </a:r>
          </a:p>
        </p:txBody>
      </p:sp>
      <p:sp>
        <p:nvSpPr>
          <p:cNvPr id="2539" name="Shape 2539"/>
          <p:cNvSpPr/>
          <p:nvPr/>
        </p:nvSpPr>
        <p:spPr>
          <a:xfrm>
            <a:off x="2249816" y="2928896"/>
            <a:ext cx="4494121" cy="7694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21" extrusionOk="0">
                <a:moveTo>
                  <a:pt x="21600" y="21038"/>
                </a:moveTo>
                <a:cubicBezTo>
                  <a:pt x="21600" y="21038"/>
                  <a:pt x="13263" y="-179"/>
                  <a:pt x="10818" y="1"/>
                </a:cubicBezTo>
                <a:cubicBezTo>
                  <a:pt x="8512" y="171"/>
                  <a:pt x="0" y="21421"/>
                  <a:pt x="0" y="21421"/>
                </a:cubicBezTo>
              </a:path>
            </a:pathLst>
          </a:custGeom>
          <a:ln w="63500">
            <a:solidFill>
              <a:srgbClr val="942193"/>
            </a:solidFill>
            <a:miter lim="400000"/>
            <a:tailEnd type="stealth"/>
          </a:ln>
        </p:spPr>
        <p:txBody>
          <a:bodyPr lIns="0" tIns="0" rIns="0" bIns="0" anchor="ctr"/>
          <a:lstStyle/>
          <a:p>
            <a:pPr lvl="0"/>
            <a:endParaRPr sz="1125"/>
          </a:p>
        </p:txBody>
      </p:sp>
      <p:sp>
        <p:nvSpPr>
          <p:cNvPr id="2540" name="Shape 2540"/>
          <p:cNvSpPr/>
          <p:nvPr/>
        </p:nvSpPr>
        <p:spPr>
          <a:xfrm>
            <a:off x="2226445" y="2734954"/>
            <a:ext cx="4604188" cy="12344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74" h="18682" extrusionOk="0">
                <a:moveTo>
                  <a:pt x="12179" y="0"/>
                </a:moveTo>
                <a:cubicBezTo>
                  <a:pt x="12179" y="0"/>
                  <a:pt x="21413" y="10286"/>
                  <a:pt x="21473" y="13935"/>
                </a:cubicBezTo>
                <a:cubicBezTo>
                  <a:pt x="21600" y="21600"/>
                  <a:pt x="0" y="17679"/>
                  <a:pt x="0" y="17679"/>
                </a:cubicBezTo>
              </a:path>
            </a:pathLst>
          </a:custGeom>
          <a:ln w="63500">
            <a:solidFill>
              <a:srgbClr val="942193"/>
            </a:solidFill>
            <a:miter lim="400000"/>
            <a:tailEnd type="stealth"/>
          </a:ln>
        </p:spPr>
        <p:txBody>
          <a:bodyPr lIns="0" tIns="0" rIns="0" bIns="0" anchor="ctr"/>
          <a:lstStyle/>
          <a:p>
            <a:pPr lvl="0"/>
            <a:endParaRPr sz="1125"/>
          </a:p>
        </p:txBody>
      </p:sp>
      <p:grpSp>
        <p:nvGrpSpPr>
          <p:cNvPr id="45" name="Group 2493"/>
          <p:cNvGrpSpPr/>
          <p:nvPr/>
        </p:nvGrpSpPr>
        <p:grpSpPr>
          <a:xfrm>
            <a:off x="6045399" y="4589859"/>
            <a:ext cx="2107406" cy="1625203"/>
            <a:chOff x="0" y="0"/>
            <a:chExt cx="2997200" cy="2311400"/>
          </a:xfrm>
        </p:grpSpPr>
        <p:sp>
          <p:nvSpPr>
            <p:cNvPr id="46" name="Shape 2479"/>
            <p:cNvSpPr/>
            <p:nvPr/>
          </p:nvSpPr>
          <p:spPr>
            <a:xfrm>
              <a:off x="0" y="0"/>
              <a:ext cx="2997200" cy="2311400"/>
            </a:xfrm>
            <a:prstGeom prst="rect">
              <a:avLst/>
            </a:prstGeom>
            <a:noFill/>
            <a:ln w="63500" cap="flat">
              <a:solidFill>
                <a:srgbClr val="008F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4000">
                  <a:solidFill>
                    <a:srgbClr val="008F00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2812">
                <a:solidFill>
                  <a:srgbClr val="00B050"/>
                </a:solidFill>
              </a:endParaRPr>
            </a:p>
          </p:txBody>
        </p:sp>
        <p:sp>
          <p:nvSpPr>
            <p:cNvPr id="47" name="Shape 2480"/>
            <p:cNvSpPr/>
            <p:nvPr/>
          </p:nvSpPr>
          <p:spPr>
            <a:xfrm>
              <a:off x="1219200" y="25400"/>
              <a:ext cx="381000" cy="596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B050"/>
                  </a:solidFill>
                </a:rPr>
                <a:t>x</a:t>
              </a:r>
            </a:p>
          </p:txBody>
        </p:sp>
        <p:sp>
          <p:nvSpPr>
            <p:cNvPr id="48" name="Shape 2481"/>
            <p:cNvSpPr/>
            <p:nvPr/>
          </p:nvSpPr>
          <p:spPr>
            <a:xfrm flipV="1">
              <a:off x="88896" y="652173"/>
              <a:ext cx="2784760" cy="931"/>
            </a:xfrm>
            <a:prstGeom prst="line">
              <a:avLst/>
            </a:prstGeom>
            <a:noFill/>
            <a:ln w="38100" cap="flat">
              <a:solidFill>
                <a:srgbClr val="008F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 sz="844">
                <a:solidFill>
                  <a:srgbClr val="00B050"/>
                </a:solidFill>
              </a:endParaRPr>
            </a:p>
          </p:txBody>
        </p:sp>
        <p:sp>
          <p:nvSpPr>
            <p:cNvPr id="49" name="Shape 2482"/>
            <p:cNvSpPr/>
            <p:nvPr/>
          </p:nvSpPr>
          <p:spPr>
            <a:xfrm flipV="1">
              <a:off x="904605" y="139584"/>
              <a:ext cx="983" cy="2046722"/>
            </a:xfrm>
            <a:prstGeom prst="line">
              <a:avLst/>
            </a:prstGeom>
            <a:noFill/>
            <a:ln w="38100" cap="flat">
              <a:solidFill>
                <a:srgbClr val="008F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 sz="844">
                <a:solidFill>
                  <a:srgbClr val="00B050"/>
                </a:solidFill>
              </a:endParaRPr>
            </a:p>
          </p:txBody>
        </p:sp>
        <p:sp>
          <p:nvSpPr>
            <p:cNvPr id="50" name="Shape 2483"/>
            <p:cNvSpPr/>
            <p:nvPr/>
          </p:nvSpPr>
          <p:spPr>
            <a:xfrm>
              <a:off x="330200" y="1130300"/>
              <a:ext cx="3429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B050"/>
                  </a:solidFill>
                </a:rPr>
                <a:t>y</a:t>
              </a:r>
            </a:p>
          </p:txBody>
        </p:sp>
        <p:sp>
          <p:nvSpPr>
            <p:cNvPr id="51" name="Shape 2484"/>
            <p:cNvSpPr/>
            <p:nvPr/>
          </p:nvSpPr>
          <p:spPr>
            <a:xfrm>
              <a:off x="1752600" y="25400"/>
              <a:ext cx="381000" cy="596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B050"/>
                  </a:solidFill>
                </a:rPr>
                <a:t>y</a:t>
              </a:r>
            </a:p>
          </p:txBody>
        </p:sp>
        <p:sp>
          <p:nvSpPr>
            <p:cNvPr id="52" name="Shape 2485"/>
            <p:cNvSpPr/>
            <p:nvPr/>
          </p:nvSpPr>
          <p:spPr>
            <a:xfrm>
              <a:off x="2311400" y="25400"/>
              <a:ext cx="381000" cy="596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B050"/>
                  </a:solidFill>
                </a:rPr>
                <a:t>z</a:t>
              </a:r>
            </a:p>
          </p:txBody>
        </p:sp>
        <p:sp>
          <p:nvSpPr>
            <p:cNvPr id="53" name="Shape 2486"/>
            <p:cNvSpPr/>
            <p:nvPr/>
          </p:nvSpPr>
          <p:spPr>
            <a:xfrm>
              <a:off x="330200" y="1600200"/>
              <a:ext cx="3429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B050"/>
                  </a:solidFill>
                </a:rPr>
                <a:t>z</a:t>
              </a:r>
            </a:p>
          </p:txBody>
        </p:sp>
        <p:sp>
          <p:nvSpPr>
            <p:cNvPr id="54" name="Shape 2487"/>
            <p:cNvSpPr/>
            <p:nvPr/>
          </p:nvSpPr>
          <p:spPr>
            <a:xfrm>
              <a:off x="1206500" y="165100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FF93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FF9900"/>
                  </a:solidFill>
                </a:rPr>
                <a:t>3</a:t>
              </a:r>
            </a:p>
          </p:txBody>
        </p:sp>
        <p:sp>
          <p:nvSpPr>
            <p:cNvPr id="55" name="Shape 2488"/>
            <p:cNvSpPr/>
            <p:nvPr/>
          </p:nvSpPr>
          <p:spPr>
            <a:xfrm>
              <a:off x="1765300" y="165100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B050"/>
                  </a:solidFill>
                </a:rPr>
                <a:t>1</a:t>
              </a:r>
            </a:p>
          </p:txBody>
        </p:sp>
        <p:sp>
          <p:nvSpPr>
            <p:cNvPr id="56" name="Shape 2489"/>
            <p:cNvSpPr/>
            <p:nvPr/>
          </p:nvSpPr>
          <p:spPr>
            <a:xfrm>
              <a:off x="2298700" y="1651000"/>
              <a:ext cx="2794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B050"/>
                  </a:solidFill>
                </a:rPr>
                <a:t>0</a:t>
              </a:r>
            </a:p>
          </p:txBody>
        </p:sp>
        <p:sp>
          <p:nvSpPr>
            <p:cNvPr id="57" name="Shape 2490"/>
            <p:cNvSpPr/>
            <p:nvPr/>
          </p:nvSpPr>
          <p:spPr>
            <a:xfrm>
              <a:off x="1181100" y="114300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FF93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FF9900"/>
                  </a:solidFill>
                </a:rPr>
                <a:t>2</a:t>
              </a:r>
            </a:p>
          </p:txBody>
        </p:sp>
        <p:sp>
          <p:nvSpPr>
            <p:cNvPr id="58" name="Shape 2491"/>
            <p:cNvSpPr/>
            <p:nvPr/>
          </p:nvSpPr>
          <p:spPr>
            <a:xfrm>
              <a:off x="1727200" y="115570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FF93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FF9900"/>
                  </a:solidFill>
                </a:rPr>
                <a:t>0</a:t>
              </a:r>
            </a:p>
          </p:txBody>
        </p:sp>
        <p:sp>
          <p:nvSpPr>
            <p:cNvPr id="59" name="Shape 2492"/>
            <p:cNvSpPr/>
            <p:nvPr/>
          </p:nvSpPr>
          <p:spPr>
            <a:xfrm>
              <a:off x="2286000" y="1143000"/>
              <a:ext cx="1905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FF93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FF9900"/>
                  </a:solidFill>
                </a:rPr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96638279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1000"/>
                                        <p:tgtEl>
                                          <p:spTgt spid="2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2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2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2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36" grpId="0" animBg="1" advAuto="0"/>
      <p:bldP spid="2536" grpId="1" animBg="1" advAuto="0"/>
      <p:bldP spid="2537" grpId="0" animBg="1" advAuto="0"/>
      <p:bldP spid="2538" grpId="0" animBg="1" advAuto="0"/>
      <p:bldP spid="2540" grpId="0" animBg="1" advAuto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oup 2493"/>
          <p:cNvGrpSpPr/>
          <p:nvPr/>
        </p:nvGrpSpPr>
        <p:grpSpPr>
          <a:xfrm>
            <a:off x="6045399" y="4589859"/>
            <a:ext cx="2107406" cy="1625203"/>
            <a:chOff x="0" y="0"/>
            <a:chExt cx="2997200" cy="2311400"/>
          </a:xfrm>
        </p:grpSpPr>
        <p:sp>
          <p:nvSpPr>
            <p:cNvPr id="46" name="Shape 2479"/>
            <p:cNvSpPr/>
            <p:nvPr/>
          </p:nvSpPr>
          <p:spPr>
            <a:xfrm>
              <a:off x="0" y="0"/>
              <a:ext cx="2997200" cy="2311400"/>
            </a:xfrm>
            <a:prstGeom prst="rect">
              <a:avLst/>
            </a:prstGeom>
            <a:noFill/>
            <a:ln w="63500" cap="flat">
              <a:solidFill>
                <a:srgbClr val="008F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4000">
                  <a:solidFill>
                    <a:srgbClr val="008F00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2812">
                <a:solidFill>
                  <a:srgbClr val="00B050"/>
                </a:solidFill>
              </a:endParaRPr>
            </a:p>
          </p:txBody>
        </p:sp>
        <p:sp>
          <p:nvSpPr>
            <p:cNvPr id="47" name="Shape 2480"/>
            <p:cNvSpPr/>
            <p:nvPr/>
          </p:nvSpPr>
          <p:spPr>
            <a:xfrm>
              <a:off x="1219200" y="25400"/>
              <a:ext cx="381000" cy="596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B050"/>
                  </a:solidFill>
                </a:rPr>
                <a:t>x</a:t>
              </a:r>
            </a:p>
          </p:txBody>
        </p:sp>
        <p:sp>
          <p:nvSpPr>
            <p:cNvPr id="48" name="Shape 2481"/>
            <p:cNvSpPr/>
            <p:nvPr/>
          </p:nvSpPr>
          <p:spPr>
            <a:xfrm flipV="1">
              <a:off x="88896" y="652173"/>
              <a:ext cx="2784760" cy="931"/>
            </a:xfrm>
            <a:prstGeom prst="line">
              <a:avLst/>
            </a:prstGeom>
            <a:noFill/>
            <a:ln w="38100" cap="flat">
              <a:solidFill>
                <a:srgbClr val="008F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 sz="844">
                <a:solidFill>
                  <a:srgbClr val="00B050"/>
                </a:solidFill>
              </a:endParaRPr>
            </a:p>
          </p:txBody>
        </p:sp>
        <p:sp>
          <p:nvSpPr>
            <p:cNvPr id="49" name="Shape 2482"/>
            <p:cNvSpPr/>
            <p:nvPr/>
          </p:nvSpPr>
          <p:spPr>
            <a:xfrm flipV="1">
              <a:off x="904605" y="139584"/>
              <a:ext cx="983" cy="2046722"/>
            </a:xfrm>
            <a:prstGeom prst="line">
              <a:avLst/>
            </a:prstGeom>
            <a:noFill/>
            <a:ln w="38100" cap="flat">
              <a:solidFill>
                <a:srgbClr val="008F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 sz="844">
                <a:solidFill>
                  <a:srgbClr val="00B050"/>
                </a:solidFill>
              </a:endParaRPr>
            </a:p>
          </p:txBody>
        </p:sp>
        <p:sp>
          <p:nvSpPr>
            <p:cNvPr id="50" name="Shape 2483"/>
            <p:cNvSpPr/>
            <p:nvPr/>
          </p:nvSpPr>
          <p:spPr>
            <a:xfrm>
              <a:off x="330200" y="1130300"/>
              <a:ext cx="3429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B050"/>
                  </a:solidFill>
                </a:rPr>
                <a:t>y</a:t>
              </a:r>
            </a:p>
          </p:txBody>
        </p:sp>
        <p:sp>
          <p:nvSpPr>
            <p:cNvPr id="51" name="Shape 2484"/>
            <p:cNvSpPr/>
            <p:nvPr/>
          </p:nvSpPr>
          <p:spPr>
            <a:xfrm>
              <a:off x="1752600" y="25400"/>
              <a:ext cx="381000" cy="596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B050"/>
                  </a:solidFill>
                </a:rPr>
                <a:t>y</a:t>
              </a:r>
            </a:p>
          </p:txBody>
        </p:sp>
        <p:sp>
          <p:nvSpPr>
            <p:cNvPr id="52" name="Shape 2485"/>
            <p:cNvSpPr/>
            <p:nvPr/>
          </p:nvSpPr>
          <p:spPr>
            <a:xfrm>
              <a:off x="2311400" y="25400"/>
              <a:ext cx="381000" cy="596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B050"/>
                  </a:solidFill>
                </a:rPr>
                <a:t>z</a:t>
              </a:r>
            </a:p>
          </p:txBody>
        </p:sp>
        <p:sp>
          <p:nvSpPr>
            <p:cNvPr id="53" name="Shape 2486"/>
            <p:cNvSpPr/>
            <p:nvPr/>
          </p:nvSpPr>
          <p:spPr>
            <a:xfrm>
              <a:off x="330200" y="1600200"/>
              <a:ext cx="3429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B050"/>
                  </a:solidFill>
                </a:rPr>
                <a:t>z</a:t>
              </a:r>
            </a:p>
          </p:txBody>
        </p:sp>
        <p:sp>
          <p:nvSpPr>
            <p:cNvPr id="54" name="Shape 2487"/>
            <p:cNvSpPr/>
            <p:nvPr/>
          </p:nvSpPr>
          <p:spPr>
            <a:xfrm>
              <a:off x="1206500" y="165100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FF93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FF9900"/>
                  </a:solidFill>
                </a:rPr>
                <a:t>3</a:t>
              </a:r>
            </a:p>
          </p:txBody>
        </p:sp>
        <p:sp>
          <p:nvSpPr>
            <p:cNvPr id="55" name="Shape 2488"/>
            <p:cNvSpPr/>
            <p:nvPr/>
          </p:nvSpPr>
          <p:spPr>
            <a:xfrm>
              <a:off x="1765300" y="165100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B050"/>
                  </a:solidFill>
                </a:rPr>
                <a:t>1</a:t>
              </a:r>
            </a:p>
          </p:txBody>
        </p:sp>
        <p:sp>
          <p:nvSpPr>
            <p:cNvPr id="56" name="Shape 2489"/>
            <p:cNvSpPr/>
            <p:nvPr/>
          </p:nvSpPr>
          <p:spPr>
            <a:xfrm>
              <a:off x="2298700" y="1651000"/>
              <a:ext cx="2794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B050"/>
                  </a:solidFill>
                </a:rPr>
                <a:t>0</a:t>
              </a:r>
            </a:p>
          </p:txBody>
        </p:sp>
        <p:sp>
          <p:nvSpPr>
            <p:cNvPr id="57" name="Shape 2490"/>
            <p:cNvSpPr/>
            <p:nvPr/>
          </p:nvSpPr>
          <p:spPr>
            <a:xfrm>
              <a:off x="1181100" y="114300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FF93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lang="en-US" sz="2531" dirty="0">
                  <a:solidFill>
                    <a:srgbClr val="00B050"/>
                  </a:solidFill>
                </a:rPr>
                <a:t>4</a:t>
              </a:r>
              <a:endParaRPr sz="2531" dirty="0">
                <a:solidFill>
                  <a:srgbClr val="00B050"/>
                </a:solidFill>
              </a:endParaRPr>
            </a:p>
          </p:txBody>
        </p:sp>
        <p:sp>
          <p:nvSpPr>
            <p:cNvPr id="58" name="Shape 2491"/>
            <p:cNvSpPr/>
            <p:nvPr/>
          </p:nvSpPr>
          <p:spPr>
            <a:xfrm>
              <a:off x="1727200" y="115570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FF93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FF9900"/>
                  </a:solidFill>
                </a:rPr>
                <a:t>0</a:t>
              </a:r>
            </a:p>
          </p:txBody>
        </p:sp>
        <p:sp>
          <p:nvSpPr>
            <p:cNvPr id="59" name="Shape 2492"/>
            <p:cNvSpPr/>
            <p:nvPr/>
          </p:nvSpPr>
          <p:spPr>
            <a:xfrm>
              <a:off x="2286000" y="1143000"/>
              <a:ext cx="1905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FF93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FF9900"/>
                  </a:solidFill>
                </a:rPr>
                <a:t>1</a:t>
              </a:r>
            </a:p>
          </p:txBody>
        </p:sp>
      </p:grpSp>
      <p:sp>
        <p:nvSpPr>
          <p:cNvPr id="2546" name="Shape 2546"/>
          <p:cNvSpPr/>
          <p:nvPr/>
        </p:nvSpPr>
        <p:spPr>
          <a:xfrm>
            <a:off x="2107403" y="3821276"/>
            <a:ext cx="4865179" cy="1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547" name="Shape 2547"/>
          <p:cNvSpPr/>
          <p:nvPr/>
        </p:nvSpPr>
        <p:spPr>
          <a:xfrm>
            <a:off x="4654379" y="2812098"/>
            <a:ext cx="2320587" cy="823433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0050DB-D6EF-EB48-97D8-599518B1F15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2549" name="Shape 2549"/>
          <p:cNvSpPr/>
          <p:nvPr/>
        </p:nvSpPr>
        <p:spPr>
          <a:xfrm>
            <a:off x="1634133" y="3429000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424242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2953">
                <a:solidFill>
                  <a:schemeClr val="bg1"/>
                </a:solidFill>
              </a:rPr>
              <a:t>x</a:t>
            </a:r>
          </a:p>
        </p:txBody>
      </p:sp>
      <p:sp>
        <p:nvSpPr>
          <p:cNvPr id="2550" name="Shape 2550"/>
          <p:cNvSpPr/>
          <p:nvPr/>
        </p:nvSpPr>
        <p:spPr>
          <a:xfrm>
            <a:off x="6768703" y="3429000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008F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2953"/>
              <a:t>z</a:t>
            </a:r>
          </a:p>
        </p:txBody>
      </p:sp>
      <p:sp>
        <p:nvSpPr>
          <p:cNvPr id="2551" name="Shape 2551"/>
          <p:cNvSpPr/>
          <p:nvPr/>
        </p:nvSpPr>
        <p:spPr>
          <a:xfrm>
            <a:off x="4241602" y="2500313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FF93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2953"/>
              <a:t>y</a:t>
            </a:r>
          </a:p>
        </p:txBody>
      </p:sp>
      <p:sp>
        <p:nvSpPr>
          <p:cNvPr id="2552" name="Shape 2552"/>
          <p:cNvSpPr/>
          <p:nvPr/>
        </p:nvSpPr>
        <p:spPr>
          <a:xfrm>
            <a:off x="4375547" y="3290738"/>
            <a:ext cx="267891" cy="5265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 b="1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953"/>
              <a:t>7</a:t>
            </a:r>
          </a:p>
        </p:txBody>
      </p:sp>
      <p:sp>
        <p:nvSpPr>
          <p:cNvPr id="2553" name="Shape 2553"/>
          <p:cNvSpPr/>
          <p:nvPr/>
        </p:nvSpPr>
        <p:spPr>
          <a:xfrm>
            <a:off x="5822156" y="2661195"/>
            <a:ext cx="267891" cy="5265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 b="1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953"/>
              <a:t>1</a:t>
            </a:r>
          </a:p>
        </p:txBody>
      </p:sp>
      <p:sp>
        <p:nvSpPr>
          <p:cNvPr id="2582" name="Shape 2582"/>
          <p:cNvSpPr/>
          <p:nvPr/>
        </p:nvSpPr>
        <p:spPr>
          <a:xfrm>
            <a:off x="6296158" y="1818563"/>
            <a:ext cx="2152055" cy="46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>
              <a:defRPr sz="3600"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531"/>
              <a:t>routing loop!</a:t>
            </a:r>
          </a:p>
        </p:txBody>
      </p:sp>
      <p:sp>
        <p:nvSpPr>
          <p:cNvPr id="2583" name="Shape 2583"/>
          <p:cNvSpPr/>
          <p:nvPr/>
        </p:nvSpPr>
        <p:spPr>
          <a:xfrm>
            <a:off x="6830513" y="5552369"/>
            <a:ext cx="632201" cy="590971"/>
          </a:xfrm>
          <a:prstGeom prst="line">
            <a:avLst/>
          </a:prstGeom>
          <a:ln w="63500">
            <a:solidFill>
              <a:srgbClr val="942193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584" name="Shape 2584"/>
          <p:cNvSpPr/>
          <p:nvPr/>
        </p:nvSpPr>
        <p:spPr>
          <a:xfrm>
            <a:off x="2249816" y="2928896"/>
            <a:ext cx="4494121" cy="7694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21" extrusionOk="0">
                <a:moveTo>
                  <a:pt x="21600" y="21038"/>
                </a:moveTo>
                <a:cubicBezTo>
                  <a:pt x="21600" y="21038"/>
                  <a:pt x="13263" y="-179"/>
                  <a:pt x="10818" y="1"/>
                </a:cubicBezTo>
                <a:cubicBezTo>
                  <a:pt x="8512" y="171"/>
                  <a:pt x="0" y="21421"/>
                  <a:pt x="0" y="21421"/>
                </a:cubicBezTo>
              </a:path>
            </a:pathLst>
          </a:custGeom>
          <a:ln w="63500">
            <a:solidFill>
              <a:srgbClr val="942193"/>
            </a:solidFill>
            <a:miter lim="400000"/>
            <a:tailEnd type="stealth"/>
          </a:ln>
        </p:spPr>
        <p:txBody>
          <a:bodyPr lIns="0" tIns="0" rIns="0" bIns="0" anchor="ctr"/>
          <a:lstStyle/>
          <a:p>
            <a:pPr lvl="0"/>
            <a:endParaRPr sz="1125"/>
          </a:p>
        </p:txBody>
      </p:sp>
      <p:sp>
        <p:nvSpPr>
          <p:cNvPr id="2585" name="Shape 2585"/>
          <p:cNvSpPr/>
          <p:nvPr/>
        </p:nvSpPr>
        <p:spPr>
          <a:xfrm>
            <a:off x="2226445" y="2734954"/>
            <a:ext cx="4604188" cy="12344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74" h="18682" extrusionOk="0">
                <a:moveTo>
                  <a:pt x="12179" y="0"/>
                </a:moveTo>
                <a:cubicBezTo>
                  <a:pt x="12179" y="0"/>
                  <a:pt x="21413" y="10286"/>
                  <a:pt x="21473" y="13935"/>
                </a:cubicBezTo>
                <a:cubicBezTo>
                  <a:pt x="21600" y="21600"/>
                  <a:pt x="0" y="17679"/>
                  <a:pt x="0" y="17679"/>
                </a:cubicBezTo>
              </a:path>
            </a:pathLst>
          </a:custGeom>
          <a:ln w="63500">
            <a:solidFill>
              <a:srgbClr val="942193"/>
            </a:solidFill>
            <a:miter lim="400000"/>
            <a:tailEnd type="stealth"/>
          </a:ln>
        </p:spPr>
        <p:txBody>
          <a:bodyPr lIns="0" tIns="0" rIns="0" bIns="0" anchor="ctr"/>
          <a:lstStyle/>
          <a:p>
            <a:pPr lvl="0"/>
            <a:endParaRPr sz="1125"/>
          </a:p>
        </p:txBody>
      </p:sp>
      <p:sp>
        <p:nvSpPr>
          <p:cNvPr id="60" name="Shape 2509"/>
          <p:cNvSpPr/>
          <p:nvPr/>
        </p:nvSpPr>
        <p:spPr>
          <a:xfrm>
            <a:off x="3455789" y="535781"/>
            <a:ext cx="2107406" cy="1625203"/>
          </a:xfrm>
          <a:prstGeom prst="rect">
            <a:avLst/>
          </a:prstGeom>
          <a:solidFill>
            <a:schemeClr val="bg1"/>
          </a:solidFill>
          <a:ln w="63500">
            <a:solidFill>
              <a:srgbClr val="FF9300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93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>
              <a:solidFill>
                <a:srgbClr val="FF9900"/>
              </a:solidFill>
            </a:endParaRPr>
          </a:p>
        </p:txBody>
      </p:sp>
      <p:sp>
        <p:nvSpPr>
          <p:cNvPr id="61" name="Shape 2499"/>
          <p:cNvSpPr/>
          <p:nvPr/>
        </p:nvSpPr>
        <p:spPr>
          <a:xfrm>
            <a:off x="4705945" y="1366242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0</a:t>
            </a:r>
          </a:p>
        </p:txBody>
      </p:sp>
      <p:sp>
        <p:nvSpPr>
          <p:cNvPr id="62" name="Shape 2500"/>
          <p:cNvSpPr/>
          <p:nvPr/>
        </p:nvSpPr>
        <p:spPr>
          <a:xfrm>
            <a:off x="5098852" y="1366242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1</a:t>
            </a:r>
          </a:p>
        </p:txBody>
      </p:sp>
      <p:sp>
        <p:nvSpPr>
          <p:cNvPr id="63" name="Shape 2510"/>
          <p:cNvSpPr/>
          <p:nvPr/>
        </p:nvSpPr>
        <p:spPr>
          <a:xfrm>
            <a:off x="4313039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x</a:t>
            </a:r>
          </a:p>
        </p:txBody>
      </p:sp>
      <p:sp>
        <p:nvSpPr>
          <p:cNvPr id="64" name="Shape 2511"/>
          <p:cNvSpPr/>
          <p:nvPr/>
        </p:nvSpPr>
        <p:spPr>
          <a:xfrm flipV="1">
            <a:off x="3518294" y="994341"/>
            <a:ext cx="1958034" cy="655"/>
          </a:xfrm>
          <a:prstGeom prst="line">
            <a:avLst/>
          </a:prstGeom>
          <a:ln w="38100">
            <a:solidFill>
              <a:srgbClr val="FF9300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>
              <a:solidFill>
                <a:srgbClr val="FF9900"/>
              </a:solidFill>
            </a:endParaRPr>
          </a:p>
        </p:txBody>
      </p:sp>
      <p:sp>
        <p:nvSpPr>
          <p:cNvPr id="65" name="Shape 2512"/>
          <p:cNvSpPr/>
          <p:nvPr/>
        </p:nvSpPr>
        <p:spPr>
          <a:xfrm flipV="1">
            <a:off x="4091840" y="633926"/>
            <a:ext cx="691" cy="1439101"/>
          </a:xfrm>
          <a:prstGeom prst="line">
            <a:avLst/>
          </a:prstGeom>
          <a:ln w="38100">
            <a:solidFill>
              <a:srgbClr val="FF9300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>
              <a:solidFill>
                <a:srgbClr val="FF9900"/>
              </a:solidFill>
            </a:endParaRPr>
          </a:p>
        </p:txBody>
      </p:sp>
      <p:sp>
        <p:nvSpPr>
          <p:cNvPr id="66" name="Shape 2513"/>
          <p:cNvSpPr/>
          <p:nvPr/>
        </p:nvSpPr>
        <p:spPr>
          <a:xfrm>
            <a:off x="3687961" y="1330523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y</a:t>
            </a:r>
          </a:p>
        </p:txBody>
      </p:sp>
      <p:sp>
        <p:nvSpPr>
          <p:cNvPr id="67" name="Shape 2514"/>
          <p:cNvSpPr/>
          <p:nvPr/>
        </p:nvSpPr>
        <p:spPr>
          <a:xfrm>
            <a:off x="4688086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y</a:t>
            </a:r>
          </a:p>
        </p:txBody>
      </p:sp>
      <p:sp>
        <p:nvSpPr>
          <p:cNvPr id="68" name="Shape 2515"/>
          <p:cNvSpPr/>
          <p:nvPr/>
        </p:nvSpPr>
        <p:spPr>
          <a:xfrm>
            <a:off x="5080992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z</a:t>
            </a:r>
          </a:p>
        </p:txBody>
      </p:sp>
      <p:sp>
        <p:nvSpPr>
          <p:cNvPr id="69" name="Shape 2516"/>
          <p:cNvSpPr/>
          <p:nvPr/>
        </p:nvSpPr>
        <p:spPr>
          <a:xfrm>
            <a:off x="3687961" y="1660922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z</a:t>
            </a:r>
          </a:p>
        </p:txBody>
      </p:sp>
      <p:sp>
        <p:nvSpPr>
          <p:cNvPr id="70" name="Shape 2517"/>
          <p:cNvSpPr/>
          <p:nvPr/>
        </p:nvSpPr>
        <p:spPr>
          <a:xfrm>
            <a:off x="4304109" y="1705570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3</a:t>
            </a:r>
          </a:p>
        </p:txBody>
      </p:sp>
      <p:sp>
        <p:nvSpPr>
          <p:cNvPr id="71" name="Shape 2518"/>
          <p:cNvSpPr/>
          <p:nvPr/>
        </p:nvSpPr>
        <p:spPr>
          <a:xfrm>
            <a:off x="4697016" y="1705570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72" name="Shape 2519"/>
          <p:cNvSpPr/>
          <p:nvPr/>
        </p:nvSpPr>
        <p:spPr>
          <a:xfrm>
            <a:off x="5072062" y="1705570"/>
            <a:ext cx="214313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74" name="Shape 2537"/>
          <p:cNvSpPr/>
          <p:nvPr/>
        </p:nvSpPr>
        <p:spPr>
          <a:xfrm>
            <a:off x="4277320" y="1366242"/>
            <a:ext cx="214313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rgbClr val="00B050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714705153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7" dur="1000"/>
                                        <p:tgtEl>
                                          <p:spTgt spid="2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83" grpId="0" animBg="1" advAuto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roup 2493"/>
          <p:cNvGrpSpPr/>
          <p:nvPr/>
        </p:nvGrpSpPr>
        <p:grpSpPr>
          <a:xfrm>
            <a:off x="6045399" y="4589859"/>
            <a:ext cx="2107406" cy="1625203"/>
            <a:chOff x="0" y="0"/>
            <a:chExt cx="2997200" cy="2311400"/>
          </a:xfrm>
        </p:grpSpPr>
        <p:sp>
          <p:nvSpPr>
            <p:cNvPr id="60" name="Shape 2479"/>
            <p:cNvSpPr/>
            <p:nvPr/>
          </p:nvSpPr>
          <p:spPr>
            <a:xfrm>
              <a:off x="0" y="0"/>
              <a:ext cx="2997200" cy="2311400"/>
            </a:xfrm>
            <a:prstGeom prst="rect">
              <a:avLst/>
            </a:prstGeom>
            <a:noFill/>
            <a:ln w="63500" cap="flat">
              <a:solidFill>
                <a:srgbClr val="008F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4000">
                  <a:solidFill>
                    <a:srgbClr val="008F00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2812">
                <a:solidFill>
                  <a:srgbClr val="00B050"/>
                </a:solidFill>
              </a:endParaRPr>
            </a:p>
          </p:txBody>
        </p:sp>
        <p:sp>
          <p:nvSpPr>
            <p:cNvPr id="61" name="Shape 2480"/>
            <p:cNvSpPr/>
            <p:nvPr/>
          </p:nvSpPr>
          <p:spPr>
            <a:xfrm>
              <a:off x="1219200" y="25400"/>
              <a:ext cx="381000" cy="596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B050"/>
                  </a:solidFill>
                </a:rPr>
                <a:t>x</a:t>
              </a:r>
            </a:p>
          </p:txBody>
        </p:sp>
        <p:sp>
          <p:nvSpPr>
            <p:cNvPr id="62" name="Shape 2481"/>
            <p:cNvSpPr/>
            <p:nvPr/>
          </p:nvSpPr>
          <p:spPr>
            <a:xfrm flipV="1">
              <a:off x="88896" y="652173"/>
              <a:ext cx="2784760" cy="931"/>
            </a:xfrm>
            <a:prstGeom prst="line">
              <a:avLst/>
            </a:prstGeom>
            <a:noFill/>
            <a:ln w="38100" cap="flat">
              <a:solidFill>
                <a:srgbClr val="008F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 sz="844">
                <a:solidFill>
                  <a:srgbClr val="00B050"/>
                </a:solidFill>
              </a:endParaRPr>
            </a:p>
          </p:txBody>
        </p:sp>
        <p:sp>
          <p:nvSpPr>
            <p:cNvPr id="63" name="Shape 2482"/>
            <p:cNvSpPr/>
            <p:nvPr/>
          </p:nvSpPr>
          <p:spPr>
            <a:xfrm flipV="1">
              <a:off x="904605" y="139584"/>
              <a:ext cx="983" cy="2046722"/>
            </a:xfrm>
            <a:prstGeom prst="line">
              <a:avLst/>
            </a:prstGeom>
            <a:noFill/>
            <a:ln w="38100" cap="flat">
              <a:solidFill>
                <a:srgbClr val="008F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 sz="844">
                <a:solidFill>
                  <a:srgbClr val="00B050"/>
                </a:solidFill>
              </a:endParaRPr>
            </a:p>
          </p:txBody>
        </p:sp>
        <p:sp>
          <p:nvSpPr>
            <p:cNvPr id="64" name="Shape 2483"/>
            <p:cNvSpPr/>
            <p:nvPr/>
          </p:nvSpPr>
          <p:spPr>
            <a:xfrm>
              <a:off x="330200" y="1130300"/>
              <a:ext cx="3429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B050"/>
                  </a:solidFill>
                </a:rPr>
                <a:t>y</a:t>
              </a:r>
            </a:p>
          </p:txBody>
        </p:sp>
        <p:sp>
          <p:nvSpPr>
            <p:cNvPr id="65" name="Shape 2484"/>
            <p:cNvSpPr/>
            <p:nvPr/>
          </p:nvSpPr>
          <p:spPr>
            <a:xfrm>
              <a:off x="1752600" y="25400"/>
              <a:ext cx="381000" cy="596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B050"/>
                  </a:solidFill>
                </a:rPr>
                <a:t>y</a:t>
              </a:r>
            </a:p>
          </p:txBody>
        </p:sp>
        <p:sp>
          <p:nvSpPr>
            <p:cNvPr id="66" name="Shape 2485"/>
            <p:cNvSpPr/>
            <p:nvPr/>
          </p:nvSpPr>
          <p:spPr>
            <a:xfrm>
              <a:off x="2311400" y="25400"/>
              <a:ext cx="381000" cy="596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B050"/>
                  </a:solidFill>
                </a:rPr>
                <a:t>z</a:t>
              </a:r>
            </a:p>
          </p:txBody>
        </p:sp>
        <p:sp>
          <p:nvSpPr>
            <p:cNvPr id="67" name="Shape 2486"/>
            <p:cNvSpPr/>
            <p:nvPr/>
          </p:nvSpPr>
          <p:spPr>
            <a:xfrm>
              <a:off x="330200" y="1600200"/>
              <a:ext cx="3429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B050"/>
                  </a:solidFill>
                </a:rPr>
                <a:t>z</a:t>
              </a:r>
            </a:p>
          </p:txBody>
        </p:sp>
        <p:sp>
          <p:nvSpPr>
            <p:cNvPr id="68" name="Shape 2487"/>
            <p:cNvSpPr/>
            <p:nvPr/>
          </p:nvSpPr>
          <p:spPr>
            <a:xfrm>
              <a:off x="1206500" y="165100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FF93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lang="en-US" sz="2531" dirty="0">
                  <a:solidFill>
                    <a:srgbClr val="FF9900"/>
                  </a:solidFill>
                </a:rPr>
                <a:t>5</a:t>
              </a:r>
              <a:endParaRPr sz="2531" dirty="0">
                <a:solidFill>
                  <a:srgbClr val="FF9900"/>
                </a:solidFill>
              </a:endParaRPr>
            </a:p>
          </p:txBody>
        </p:sp>
        <p:sp>
          <p:nvSpPr>
            <p:cNvPr id="69" name="Shape 2488"/>
            <p:cNvSpPr/>
            <p:nvPr/>
          </p:nvSpPr>
          <p:spPr>
            <a:xfrm>
              <a:off x="1765300" y="165100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B050"/>
                  </a:solidFill>
                </a:rPr>
                <a:t>1</a:t>
              </a:r>
            </a:p>
          </p:txBody>
        </p:sp>
        <p:sp>
          <p:nvSpPr>
            <p:cNvPr id="70" name="Shape 2489"/>
            <p:cNvSpPr/>
            <p:nvPr/>
          </p:nvSpPr>
          <p:spPr>
            <a:xfrm>
              <a:off x="2298700" y="1651000"/>
              <a:ext cx="2794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B050"/>
                  </a:solidFill>
                </a:rPr>
                <a:t>0</a:t>
              </a:r>
            </a:p>
          </p:txBody>
        </p:sp>
        <p:sp>
          <p:nvSpPr>
            <p:cNvPr id="71" name="Shape 2490"/>
            <p:cNvSpPr/>
            <p:nvPr/>
          </p:nvSpPr>
          <p:spPr>
            <a:xfrm>
              <a:off x="1181100" y="114300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FF93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lang="en-US" sz="2531" dirty="0">
                  <a:solidFill>
                    <a:srgbClr val="00B050"/>
                  </a:solidFill>
                </a:rPr>
                <a:t>4</a:t>
              </a:r>
              <a:endParaRPr sz="2531" dirty="0">
                <a:solidFill>
                  <a:srgbClr val="00B050"/>
                </a:solidFill>
              </a:endParaRPr>
            </a:p>
          </p:txBody>
        </p:sp>
        <p:sp>
          <p:nvSpPr>
            <p:cNvPr id="72" name="Shape 2491"/>
            <p:cNvSpPr/>
            <p:nvPr/>
          </p:nvSpPr>
          <p:spPr>
            <a:xfrm>
              <a:off x="1727200" y="115570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FF93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FF9900"/>
                  </a:solidFill>
                </a:rPr>
                <a:t>0</a:t>
              </a:r>
            </a:p>
          </p:txBody>
        </p:sp>
        <p:sp>
          <p:nvSpPr>
            <p:cNvPr id="73" name="Shape 2492"/>
            <p:cNvSpPr/>
            <p:nvPr/>
          </p:nvSpPr>
          <p:spPr>
            <a:xfrm>
              <a:off x="2286000" y="1143000"/>
              <a:ext cx="1905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FF93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FF9900"/>
                  </a:solidFill>
                </a:rPr>
                <a:t>1</a:t>
              </a:r>
            </a:p>
          </p:txBody>
        </p:sp>
      </p:grpSp>
      <p:sp>
        <p:nvSpPr>
          <p:cNvPr id="2591" name="Shape 2591"/>
          <p:cNvSpPr/>
          <p:nvPr/>
        </p:nvSpPr>
        <p:spPr>
          <a:xfrm>
            <a:off x="2107403" y="3821276"/>
            <a:ext cx="4865179" cy="1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592" name="Shape 2592"/>
          <p:cNvSpPr/>
          <p:nvPr/>
        </p:nvSpPr>
        <p:spPr>
          <a:xfrm>
            <a:off x="4654379" y="2812098"/>
            <a:ext cx="2320587" cy="823433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F48C6D-1147-8C48-9A8B-36B60525B31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2594" name="Shape 2594"/>
          <p:cNvSpPr/>
          <p:nvPr/>
        </p:nvSpPr>
        <p:spPr>
          <a:xfrm>
            <a:off x="1634133" y="3429000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424242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2953" dirty="0">
                <a:solidFill>
                  <a:schemeClr val="bg1"/>
                </a:solidFill>
              </a:rPr>
              <a:t>x</a:t>
            </a:r>
          </a:p>
        </p:txBody>
      </p:sp>
      <p:sp>
        <p:nvSpPr>
          <p:cNvPr id="2595" name="Shape 2595"/>
          <p:cNvSpPr/>
          <p:nvPr/>
        </p:nvSpPr>
        <p:spPr>
          <a:xfrm>
            <a:off x="6768703" y="3429000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008F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2953"/>
              <a:t>z</a:t>
            </a:r>
          </a:p>
        </p:txBody>
      </p:sp>
      <p:sp>
        <p:nvSpPr>
          <p:cNvPr id="2596" name="Shape 2596"/>
          <p:cNvSpPr/>
          <p:nvPr/>
        </p:nvSpPr>
        <p:spPr>
          <a:xfrm>
            <a:off x="4241602" y="2500313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FF93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2953"/>
              <a:t>y</a:t>
            </a:r>
          </a:p>
        </p:txBody>
      </p:sp>
      <p:sp>
        <p:nvSpPr>
          <p:cNvPr id="2597" name="Shape 2597"/>
          <p:cNvSpPr/>
          <p:nvPr/>
        </p:nvSpPr>
        <p:spPr>
          <a:xfrm>
            <a:off x="4375547" y="3290738"/>
            <a:ext cx="267891" cy="5265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 b="1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953"/>
              <a:t>7</a:t>
            </a:r>
          </a:p>
        </p:txBody>
      </p:sp>
      <p:sp>
        <p:nvSpPr>
          <p:cNvPr id="2598" name="Shape 2598"/>
          <p:cNvSpPr/>
          <p:nvPr/>
        </p:nvSpPr>
        <p:spPr>
          <a:xfrm>
            <a:off x="5822156" y="2661195"/>
            <a:ext cx="267891" cy="5265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 b="1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953"/>
              <a:t>1</a:t>
            </a:r>
          </a:p>
        </p:txBody>
      </p:sp>
      <p:sp>
        <p:nvSpPr>
          <p:cNvPr id="2627" name="Shape 2627"/>
          <p:cNvSpPr/>
          <p:nvPr/>
        </p:nvSpPr>
        <p:spPr>
          <a:xfrm>
            <a:off x="6296158" y="1818563"/>
            <a:ext cx="2152055" cy="46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>
              <a:defRPr sz="3600"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531"/>
              <a:t>routing loop!</a:t>
            </a:r>
          </a:p>
        </p:txBody>
      </p:sp>
      <p:sp>
        <p:nvSpPr>
          <p:cNvPr id="2628" name="Shape 2628"/>
          <p:cNvSpPr/>
          <p:nvPr/>
        </p:nvSpPr>
        <p:spPr>
          <a:xfrm>
            <a:off x="6830513" y="5552369"/>
            <a:ext cx="632201" cy="590971"/>
          </a:xfrm>
          <a:prstGeom prst="line">
            <a:avLst/>
          </a:prstGeom>
          <a:ln w="63500">
            <a:solidFill>
              <a:srgbClr val="942193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629" name="Shape 2629"/>
          <p:cNvSpPr/>
          <p:nvPr/>
        </p:nvSpPr>
        <p:spPr>
          <a:xfrm>
            <a:off x="2249816" y="2928896"/>
            <a:ext cx="4494121" cy="7694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21" extrusionOk="0">
                <a:moveTo>
                  <a:pt x="21600" y="21038"/>
                </a:moveTo>
                <a:cubicBezTo>
                  <a:pt x="21600" y="21038"/>
                  <a:pt x="13263" y="-179"/>
                  <a:pt x="10818" y="1"/>
                </a:cubicBezTo>
                <a:cubicBezTo>
                  <a:pt x="8512" y="171"/>
                  <a:pt x="0" y="21421"/>
                  <a:pt x="0" y="21421"/>
                </a:cubicBezTo>
              </a:path>
            </a:pathLst>
          </a:custGeom>
          <a:ln w="63500">
            <a:solidFill>
              <a:srgbClr val="942193"/>
            </a:solidFill>
            <a:miter lim="400000"/>
            <a:tailEnd type="stealth"/>
          </a:ln>
        </p:spPr>
        <p:txBody>
          <a:bodyPr lIns="0" tIns="0" rIns="0" bIns="0" anchor="ctr"/>
          <a:lstStyle/>
          <a:p>
            <a:pPr lvl="0"/>
            <a:endParaRPr sz="1125"/>
          </a:p>
        </p:txBody>
      </p:sp>
      <p:sp>
        <p:nvSpPr>
          <p:cNvPr id="2630" name="Shape 2630"/>
          <p:cNvSpPr/>
          <p:nvPr/>
        </p:nvSpPr>
        <p:spPr>
          <a:xfrm>
            <a:off x="2226445" y="2734954"/>
            <a:ext cx="4604188" cy="12344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74" h="18682" extrusionOk="0">
                <a:moveTo>
                  <a:pt x="12179" y="0"/>
                </a:moveTo>
                <a:cubicBezTo>
                  <a:pt x="12179" y="0"/>
                  <a:pt x="21413" y="10286"/>
                  <a:pt x="21473" y="13935"/>
                </a:cubicBezTo>
                <a:cubicBezTo>
                  <a:pt x="21600" y="21600"/>
                  <a:pt x="0" y="17679"/>
                  <a:pt x="0" y="17679"/>
                </a:cubicBezTo>
              </a:path>
            </a:pathLst>
          </a:custGeom>
          <a:ln w="63500">
            <a:solidFill>
              <a:srgbClr val="942193"/>
            </a:solidFill>
            <a:miter lim="400000"/>
            <a:tailEnd type="stealth"/>
          </a:ln>
        </p:spPr>
        <p:txBody>
          <a:bodyPr lIns="0" tIns="0" rIns="0" bIns="0" anchor="ctr"/>
          <a:lstStyle/>
          <a:p>
            <a:pPr lvl="0"/>
            <a:endParaRPr sz="1125"/>
          </a:p>
        </p:txBody>
      </p:sp>
      <p:sp>
        <p:nvSpPr>
          <p:cNvPr id="45" name="Shape 2509"/>
          <p:cNvSpPr/>
          <p:nvPr/>
        </p:nvSpPr>
        <p:spPr>
          <a:xfrm>
            <a:off x="3455789" y="535781"/>
            <a:ext cx="2107406" cy="1625203"/>
          </a:xfrm>
          <a:prstGeom prst="rect">
            <a:avLst/>
          </a:prstGeom>
          <a:solidFill>
            <a:schemeClr val="bg1"/>
          </a:solidFill>
          <a:ln w="63500">
            <a:solidFill>
              <a:srgbClr val="FF9300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93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>
              <a:solidFill>
                <a:srgbClr val="FF9900"/>
              </a:solidFill>
            </a:endParaRPr>
          </a:p>
        </p:txBody>
      </p:sp>
      <p:sp>
        <p:nvSpPr>
          <p:cNvPr id="46" name="Shape 2499"/>
          <p:cNvSpPr/>
          <p:nvPr/>
        </p:nvSpPr>
        <p:spPr>
          <a:xfrm>
            <a:off x="4705945" y="1366242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0</a:t>
            </a:r>
          </a:p>
        </p:txBody>
      </p:sp>
      <p:sp>
        <p:nvSpPr>
          <p:cNvPr id="47" name="Shape 2500"/>
          <p:cNvSpPr/>
          <p:nvPr/>
        </p:nvSpPr>
        <p:spPr>
          <a:xfrm>
            <a:off x="5098852" y="1366242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1</a:t>
            </a:r>
          </a:p>
        </p:txBody>
      </p:sp>
      <p:sp>
        <p:nvSpPr>
          <p:cNvPr id="48" name="Shape 2510"/>
          <p:cNvSpPr/>
          <p:nvPr/>
        </p:nvSpPr>
        <p:spPr>
          <a:xfrm>
            <a:off x="4313039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x</a:t>
            </a:r>
          </a:p>
        </p:txBody>
      </p:sp>
      <p:sp>
        <p:nvSpPr>
          <p:cNvPr id="49" name="Shape 2511"/>
          <p:cNvSpPr/>
          <p:nvPr/>
        </p:nvSpPr>
        <p:spPr>
          <a:xfrm flipV="1">
            <a:off x="3518294" y="994341"/>
            <a:ext cx="1958034" cy="655"/>
          </a:xfrm>
          <a:prstGeom prst="line">
            <a:avLst/>
          </a:prstGeom>
          <a:ln w="38100">
            <a:solidFill>
              <a:srgbClr val="FF9300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>
              <a:solidFill>
                <a:srgbClr val="FF9900"/>
              </a:solidFill>
            </a:endParaRPr>
          </a:p>
        </p:txBody>
      </p:sp>
      <p:sp>
        <p:nvSpPr>
          <p:cNvPr id="50" name="Shape 2512"/>
          <p:cNvSpPr/>
          <p:nvPr/>
        </p:nvSpPr>
        <p:spPr>
          <a:xfrm flipV="1">
            <a:off x="4091840" y="633926"/>
            <a:ext cx="691" cy="1439101"/>
          </a:xfrm>
          <a:prstGeom prst="line">
            <a:avLst/>
          </a:prstGeom>
          <a:ln w="38100">
            <a:solidFill>
              <a:srgbClr val="FF9300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>
              <a:solidFill>
                <a:srgbClr val="FF9900"/>
              </a:solidFill>
            </a:endParaRPr>
          </a:p>
        </p:txBody>
      </p:sp>
      <p:sp>
        <p:nvSpPr>
          <p:cNvPr id="51" name="Shape 2513"/>
          <p:cNvSpPr/>
          <p:nvPr/>
        </p:nvSpPr>
        <p:spPr>
          <a:xfrm>
            <a:off x="3687961" y="1330523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y</a:t>
            </a:r>
          </a:p>
        </p:txBody>
      </p:sp>
      <p:sp>
        <p:nvSpPr>
          <p:cNvPr id="52" name="Shape 2514"/>
          <p:cNvSpPr/>
          <p:nvPr/>
        </p:nvSpPr>
        <p:spPr>
          <a:xfrm>
            <a:off x="4688086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y</a:t>
            </a:r>
          </a:p>
        </p:txBody>
      </p:sp>
      <p:sp>
        <p:nvSpPr>
          <p:cNvPr id="53" name="Shape 2515"/>
          <p:cNvSpPr/>
          <p:nvPr/>
        </p:nvSpPr>
        <p:spPr>
          <a:xfrm>
            <a:off x="5080992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z</a:t>
            </a:r>
          </a:p>
        </p:txBody>
      </p:sp>
      <p:sp>
        <p:nvSpPr>
          <p:cNvPr id="54" name="Shape 2516"/>
          <p:cNvSpPr/>
          <p:nvPr/>
        </p:nvSpPr>
        <p:spPr>
          <a:xfrm>
            <a:off x="3687961" y="1660922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z</a:t>
            </a:r>
          </a:p>
        </p:txBody>
      </p:sp>
      <p:sp>
        <p:nvSpPr>
          <p:cNvPr id="55" name="Shape 2517"/>
          <p:cNvSpPr/>
          <p:nvPr/>
        </p:nvSpPr>
        <p:spPr>
          <a:xfrm>
            <a:off x="4304109" y="1705570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3</a:t>
            </a:r>
          </a:p>
        </p:txBody>
      </p:sp>
      <p:sp>
        <p:nvSpPr>
          <p:cNvPr id="56" name="Shape 2518"/>
          <p:cNvSpPr/>
          <p:nvPr/>
        </p:nvSpPr>
        <p:spPr>
          <a:xfrm>
            <a:off x="4697016" y="1705570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57" name="Shape 2519"/>
          <p:cNvSpPr/>
          <p:nvPr/>
        </p:nvSpPr>
        <p:spPr>
          <a:xfrm>
            <a:off x="5072062" y="1705570"/>
            <a:ext cx="214313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58" name="Shape 2537"/>
          <p:cNvSpPr/>
          <p:nvPr/>
        </p:nvSpPr>
        <p:spPr>
          <a:xfrm>
            <a:off x="4277320" y="1366242"/>
            <a:ext cx="214313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rgbClr val="00B050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07754716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6" dur="1000" fill="hold"/>
                                        <p:tgtEl>
                                          <p:spTgt spid="26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28" grpId="0" animBg="1" advAuto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4" name="Shape 2644"/>
          <p:cNvSpPr/>
          <p:nvPr/>
        </p:nvSpPr>
        <p:spPr>
          <a:xfrm>
            <a:off x="3455789" y="535781"/>
            <a:ext cx="2107406" cy="1625203"/>
          </a:xfrm>
          <a:prstGeom prst="rect">
            <a:avLst/>
          </a:prstGeom>
          <a:solidFill>
            <a:schemeClr val="bg1"/>
          </a:solidFill>
          <a:ln w="63500">
            <a:solidFill>
              <a:srgbClr val="FF9300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93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>
              <a:solidFill>
                <a:srgbClr val="FF9900"/>
              </a:solidFill>
            </a:endParaRPr>
          </a:p>
        </p:txBody>
      </p:sp>
      <p:sp>
        <p:nvSpPr>
          <p:cNvPr id="2634" name="Shape 2634"/>
          <p:cNvSpPr/>
          <p:nvPr/>
        </p:nvSpPr>
        <p:spPr>
          <a:xfrm>
            <a:off x="4705945" y="1366242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0</a:t>
            </a:r>
          </a:p>
        </p:txBody>
      </p:sp>
      <p:sp>
        <p:nvSpPr>
          <p:cNvPr id="2635" name="Shape 2635"/>
          <p:cNvSpPr/>
          <p:nvPr/>
        </p:nvSpPr>
        <p:spPr>
          <a:xfrm>
            <a:off x="5098852" y="1366242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1</a:t>
            </a:r>
          </a:p>
        </p:txBody>
      </p:sp>
      <p:sp>
        <p:nvSpPr>
          <p:cNvPr id="2636" name="Shape 2636"/>
          <p:cNvSpPr/>
          <p:nvPr/>
        </p:nvSpPr>
        <p:spPr>
          <a:xfrm>
            <a:off x="2107403" y="3821276"/>
            <a:ext cx="4865179" cy="1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637" name="Shape 2637"/>
          <p:cNvSpPr/>
          <p:nvPr/>
        </p:nvSpPr>
        <p:spPr>
          <a:xfrm>
            <a:off x="4654379" y="2812098"/>
            <a:ext cx="2320587" cy="823433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16F775-A8B3-7D4D-8217-5D8D06B5998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2639" name="Shape 2639"/>
          <p:cNvSpPr/>
          <p:nvPr/>
        </p:nvSpPr>
        <p:spPr>
          <a:xfrm>
            <a:off x="1634133" y="3429000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424242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2953">
                <a:solidFill>
                  <a:schemeClr val="bg1"/>
                </a:solidFill>
              </a:rPr>
              <a:t>x</a:t>
            </a:r>
          </a:p>
        </p:txBody>
      </p:sp>
      <p:sp>
        <p:nvSpPr>
          <p:cNvPr id="2640" name="Shape 2640"/>
          <p:cNvSpPr/>
          <p:nvPr/>
        </p:nvSpPr>
        <p:spPr>
          <a:xfrm>
            <a:off x="6768703" y="3429000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008F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2953"/>
              <a:t>z</a:t>
            </a:r>
          </a:p>
        </p:txBody>
      </p:sp>
      <p:sp>
        <p:nvSpPr>
          <p:cNvPr id="2641" name="Shape 2641"/>
          <p:cNvSpPr/>
          <p:nvPr/>
        </p:nvSpPr>
        <p:spPr>
          <a:xfrm>
            <a:off x="4241602" y="2500313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FF93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2953"/>
              <a:t>y</a:t>
            </a:r>
          </a:p>
        </p:txBody>
      </p:sp>
      <p:sp>
        <p:nvSpPr>
          <p:cNvPr id="2642" name="Shape 2642"/>
          <p:cNvSpPr/>
          <p:nvPr/>
        </p:nvSpPr>
        <p:spPr>
          <a:xfrm>
            <a:off x="4375547" y="3290738"/>
            <a:ext cx="267891" cy="5265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 b="1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953"/>
              <a:t>7</a:t>
            </a:r>
          </a:p>
        </p:txBody>
      </p:sp>
      <p:sp>
        <p:nvSpPr>
          <p:cNvPr id="2643" name="Shape 2643"/>
          <p:cNvSpPr/>
          <p:nvPr/>
        </p:nvSpPr>
        <p:spPr>
          <a:xfrm>
            <a:off x="5822156" y="2661195"/>
            <a:ext cx="267891" cy="5265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 b="1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953"/>
              <a:t>1</a:t>
            </a:r>
          </a:p>
        </p:txBody>
      </p:sp>
      <p:sp>
        <p:nvSpPr>
          <p:cNvPr id="2645" name="Shape 2645"/>
          <p:cNvSpPr/>
          <p:nvPr/>
        </p:nvSpPr>
        <p:spPr>
          <a:xfrm>
            <a:off x="4313039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x</a:t>
            </a:r>
          </a:p>
        </p:txBody>
      </p:sp>
      <p:sp>
        <p:nvSpPr>
          <p:cNvPr id="2646" name="Shape 2646"/>
          <p:cNvSpPr/>
          <p:nvPr/>
        </p:nvSpPr>
        <p:spPr>
          <a:xfrm flipV="1">
            <a:off x="3518294" y="994341"/>
            <a:ext cx="1958034" cy="655"/>
          </a:xfrm>
          <a:prstGeom prst="line">
            <a:avLst/>
          </a:prstGeom>
          <a:ln w="38100">
            <a:solidFill>
              <a:srgbClr val="FF9300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>
              <a:solidFill>
                <a:srgbClr val="FF9900"/>
              </a:solidFill>
            </a:endParaRPr>
          </a:p>
        </p:txBody>
      </p:sp>
      <p:sp>
        <p:nvSpPr>
          <p:cNvPr id="2647" name="Shape 2647"/>
          <p:cNvSpPr/>
          <p:nvPr/>
        </p:nvSpPr>
        <p:spPr>
          <a:xfrm flipV="1">
            <a:off x="4091840" y="633926"/>
            <a:ext cx="691" cy="1439101"/>
          </a:xfrm>
          <a:prstGeom prst="line">
            <a:avLst/>
          </a:prstGeom>
          <a:ln w="38100">
            <a:solidFill>
              <a:srgbClr val="FF9300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>
              <a:solidFill>
                <a:srgbClr val="FF9900"/>
              </a:solidFill>
            </a:endParaRPr>
          </a:p>
        </p:txBody>
      </p:sp>
      <p:sp>
        <p:nvSpPr>
          <p:cNvPr id="2648" name="Shape 2648"/>
          <p:cNvSpPr/>
          <p:nvPr/>
        </p:nvSpPr>
        <p:spPr>
          <a:xfrm>
            <a:off x="3687961" y="1330523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y</a:t>
            </a:r>
          </a:p>
        </p:txBody>
      </p:sp>
      <p:sp>
        <p:nvSpPr>
          <p:cNvPr id="2649" name="Shape 2649"/>
          <p:cNvSpPr/>
          <p:nvPr/>
        </p:nvSpPr>
        <p:spPr>
          <a:xfrm>
            <a:off x="4688086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y</a:t>
            </a:r>
          </a:p>
        </p:txBody>
      </p:sp>
      <p:sp>
        <p:nvSpPr>
          <p:cNvPr id="2650" name="Shape 2650"/>
          <p:cNvSpPr/>
          <p:nvPr/>
        </p:nvSpPr>
        <p:spPr>
          <a:xfrm>
            <a:off x="5080992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z</a:t>
            </a:r>
          </a:p>
        </p:txBody>
      </p:sp>
      <p:sp>
        <p:nvSpPr>
          <p:cNvPr id="2651" name="Shape 2651"/>
          <p:cNvSpPr/>
          <p:nvPr/>
        </p:nvSpPr>
        <p:spPr>
          <a:xfrm>
            <a:off x="3687961" y="1660922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z</a:t>
            </a:r>
          </a:p>
        </p:txBody>
      </p:sp>
      <p:sp>
        <p:nvSpPr>
          <p:cNvPr id="2652" name="Shape 2652"/>
          <p:cNvSpPr/>
          <p:nvPr/>
        </p:nvSpPr>
        <p:spPr>
          <a:xfrm>
            <a:off x="4304109" y="1705570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5</a:t>
            </a:r>
          </a:p>
        </p:txBody>
      </p:sp>
      <p:sp>
        <p:nvSpPr>
          <p:cNvPr id="2653" name="Shape 2653"/>
          <p:cNvSpPr/>
          <p:nvPr/>
        </p:nvSpPr>
        <p:spPr>
          <a:xfrm>
            <a:off x="4697016" y="1705570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2654" name="Shape 2654"/>
          <p:cNvSpPr/>
          <p:nvPr/>
        </p:nvSpPr>
        <p:spPr>
          <a:xfrm>
            <a:off x="5072062" y="1705570"/>
            <a:ext cx="214313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2655" name="Shape 2655"/>
          <p:cNvSpPr/>
          <p:nvPr/>
        </p:nvSpPr>
        <p:spPr>
          <a:xfrm>
            <a:off x="6045399" y="4589859"/>
            <a:ext cx="2107406" cy="1625203"/>
          </a:xfrm>
          <a:prstGeom prst="rect">
            <a:avLst/>
          </a:prstGeom>
          <a:ln w="63500">
            <a:solidFill>
              <a:srgbClr val="008F00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008F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>
              <a:solidFill>
                <a:srgbClr val="00B050"/>
              </a:solidFill>
            </a:endParaRPr>
          </a:p>
        </p:txBody>
      </p:sp>
      <p:sp>
        <p:nvSpPr>
          <p:cNvPr id="2656" name="Shape 2656"/>
          <p:cNvSpPr/>
          <p:nvPr/>
        </p:nvSpPr>
        <p:spPr>
          <a:xfrm>
            <a:off x="6902648" y="4607719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B050"/>
                </a:solidFill>
              </a:rPr>
              <a:t>x</a:t>
            </a:r>
          </a:p>
        </p:txBody>
      </p:sp>
      <p:sp>
        <p:nvSpPr>
          <p:cNvPr id="2657" name="Shape 2657"/>
          <p:cNvSpPr/>
          <p:nvPr/>
        </p:nvSpPr>
        <p:spPr>
          <a:xfrm flipV="1">
            <a:off x="6107904" y="5048419"/>
            <a:ext cx="1958034" cy="655"/>
          </a:xfrm>
          <a:prstGeom prst="line">
            <a:avLst/>
          </a:prstGeom>
          <a:ln w="38100">
            <a:solidFill>
              <a:srgbClr val="008F00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>
              <a:solidFill>
                <a:srgbClr val="00B050"/>
              </a:solidFill>
            </a:endParaRPr>
          </a:p>
        </p:txBody>
      </p:sp>
      <p:sp>
        <p:nvSpPr>
          <p:cNvPr id="2658" name="Shape 2658"/>
          <p:cNvSpPr/>
          <p:nvPr/>
        </p:nvSpPr>
        <p:spPr>
          <a:xfrm flipV="1">
            <a:off x="6681449" y="4688005"/>
            <a:ext cx="691" cy="1439101"/>
          </a:xfrm>
          <a:prstGeom prst="line">
            <a:avLst/>
          </a:prstGeom>
          <a:ln w="38100">
            <a:solidFill>
              <a:srgbClr val="008F00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>
              <a:solidFill>
                <a:srgbClr val="00B050"/>
              </a:solidFill>
            </a:endParaRPr>
          </a:p>
        </p:txBody>
      </p:sp>
      <p:sp>
        <p:nvSpPr>
          <p:cNvPr id="2659" name="Shape 2659"/>
          <p:cNvSpPr/>
          <p:nvPr/>
        </p:nvSpPr>
        <p:spPr>
          <a:xfrm>
            <a:off x="6277570" y="5384601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B050"/>
                </a:solidFill>
              </a:rPr>
              <a:t>y</a:t>
            </a:r>
          </a:p>
        </p:txBody>
      </p:sp>
      <p:sp>
        <p:nvSpPr>
          <p:cNvPr id="2660" name="Shape 2660"/>
          <p:cNvSpPr/>
          <p:nvPr/>
        </p:nvSpPr>
        <p:spPr>
          <a:xfrm>
            <a:off x="7277695" y="4607719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B050"/>
                </a:solidFill>
              </a:rPr>
              <a:t>y</a:t>
            </a:r>
          </a:p>
        </p:txBody>
      </p:sp>
      <p:sp>
        <p:nvSpPr>
          <p:cNvPr id="2661" name="Shape 2661"/>
          <p:cNvSpPr/>
          <p:nvPr/>
        </p:nvSpPr>
        <p:spPr>
          <a:xfrm>
            <a:off x="7670601" y="4607719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B050"/>
                </a:solidFill>
              </a:rPr>
              <a:t>z</a:t>
            </a:r>
          </a:p>
        </p:txBody>
      </p:sp>
      <p:sp>
        <p:nvSpPr>
          <p:cNvPr id="2662" name="Shape 2662"/>
          <p:cNvSpPr/>
          <p:nvPr/>
        </p:nvSpPr>
        <p:spPr>
          <a:xfrm>
            <a:off x="6277570" y="5715000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B050"/>
                </a:solidFill>
              </a:rPr>
              <a:t>z</a:t>
            </a:r>
          </a:p>
        </p:txBody>
      </p:sp>
      <p:grpSp>
        <p:nvGrpSpPr>
          <p:cNvPr id="2666" name="Group 2666"/>
          <p:cNvGrpSpPr/>
          <p:nvPr/>
        </p:nvGrpSpPr>
        <p:grpSpPr>
          <a:xfrm>
            <a:off x="6893719" y="5750719"/>
            <a:ext cx="964406" cy="464344"/>
            <a:chOff x="0" y="0"/>
            <a:chExt cx="1371600" cy="660400"/>
          </a:xfrm>
        </p:grpSpPr>
        <p:sp>
          <p:nvSpPr>
            <p:cNvPr id="2663" name="Shape 2663"/>
            <p:cNvSpPr/>
            <p:nvPr/>
          </p:nvSpPr>
          <p:spPr>
            <a:xfrm>
              <a:off x="0" y="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FF93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 dirty="0">
                  <a:solidFill>
                    <a:srgbClr val="FF9900"/>
                  </a:solidFill>
                </a:rPr>
                <a:t>5</a:t>
              </a:r>
            </a:p>
          </p:txBody>
        </p:sp>
        <p:sp>
          <p:nvSpPr>
            <p:cNvPr id="2664" name="Shape 2664"/>
            <p:cNvSpPr/>
            <p:nvPr/>
          </p:nvSpPr>
          <p:spPr>
            <a:xfrm>
              <a:off x="558800" y="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B050"/>
                  </a:solidFill>
                </a:rPr>
                <a:t>1</a:t>
              </a:r>
            </a:p>
          </p:txBody>
        </p:sp>
        <p:sp>
          <p:nvSpPr>
            <p:cNvPr id="2665" name="Shape 2665"/>
            <p:cNvSpPr/>
            <p:nvPr/>
          </p:nvSpPr>
          <p:spPr>
            <a:xfrm>
              <a:off x="1092200" y="0"/>
              <a:ext cx="2794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B050"/>
                  </a:solidFill>
                </a:rPr>
                <a:t>0</a:t>
              </a:r>
            </a:p>
          </p:txBody>
        </p:sp>
      </p:grpSp>
      <p:grpSp>
        <p:nvGrpSpPr>
          <p:cNvPr id="2670" name="Group 2670"/>
          <p:cNvGrpSpPr/>
          <p:nvPr/>
        </p:nvGrpSpPr>
        <p:grpSpPr>
          <a:xfrm>
            <a:off x="6875859" y="5393531"/>
            <a:ext cx="910828" cy="473273"/>
            <a:chOff x="0" y="0"/>
            <a:chExt cx="1295400" cy="673100"/>
          </a:xfrm>
        </p:grpSpPr>
        <p:sp>
          <p:nvSpPr>
            <p:cNvPr id="2667" name="Shape 2667"/>
            <p:cNvSpPr/>
            <p:nvPr/>
          </p:nvSpPr>
          <p:spPr>
            <a:xfrm>
              <a:off x="0" y="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B050"/>
                  </a:solidFill>
                </a:rPr>
                <a:t>4</a:t>
              </a:r>
            </a:p>
          </p:txBody>
        </p:sp>
        <p:sp>
          <p:nvSpPr>
            <p:cNvPr id="2668" name="Shape 2668"/>
            <p:cNvSpPr/>
            <p:nvPr/>
          </p:nvSpPr>
          <p:spPr>
            <a:xfrm>
              <a:off x="546100" y="1270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FF93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 dirty="0">
                  <a:solidFill>
                    <a:srgbClr val="FF9900"/>
                  </a:solidFill>
                </a:rPr>
                <a:t>0</a:t>
              </a:r>
            </a:p>
          </p:txBody>
        </p:sp>
        <p:sp>
          <p:nvSpPr>
            <p:cNvPr id="2669" name="Shape 2669"/>
            <p:cNvSpPr/>
            <p:nvPr/>
          </p:nvSpPr>
          <p:spPr>
            <a:xfrm>
              <a:off x="1104900" y="0"/>
              <a:ext cx="1905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FF93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 dirty="0">
                  <a:solidFill>
                    <a:srgbClr val="FF9900"/>
                  </a:solidFill>
                </a:rPr>
                <a:t>1</a:t>
              </a:r>
            </a:p>
          </p:txBody>
        </p:sp>
      </p:grpSp>
      <p:sp>
        <p:nvSpPr>
          <p:cNvPr id="2671" name="Shape 2671"/>
          <p:cNvSpPr/>
          <p:nvPr/>
        </p:nvSpPr>
        <p:spPr>
          <a:xfrm>
            <a:off x="4277320" y="1366242"/>
            <a:ext cx="214313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B050"/>
                </a:solidFill>
              </a:rPr>
              <a:t>4</a:t>
            </a:r>
          </a:p>
        </p:txBody>
      </p:sp>
      <p:sp>
        <p:nvSpPr>
          <p:cNvPr id="2672" name="Shape 2672"/>
          <p:cNvSpPr/>
          <p:nvPr/>
        </p:nvSpPr>
        <p:spPr>
          <a:xfrm>
            <a:off x="6296158" y="1818563"/>
            <a:ext cx="2152055" cy="46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>
              <a:defRPr sz="3600"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531"/>
              <a:t>routing loop!</a:t>
            </a:r>
          </a:p>
        </p:txBody>
      </p:sp>
      <p:sp>
        <p:nvSpPr>
          <p:cNvPr id="2673" name="Shape 2673"/>
          <p:cNvSpPr/>
          <p:nvPr/>
        </p:nvSpPr>
        <p:spPr>
          <a:xfrm flipV="1">
            <a:off x="4205507" y="1539271"/>
            <a:ext cx="1044506" cy="549740"/>
          </a:xfrm>
          <a:prstGeom prst="line">
            <a:avLst/>
          </a:prstGeom>
          <a:ln w="63500">
            <a:solidFill>
              <a:srgbClr val="942193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>
              <a:solidFill>
                <a:srgbClr val="FF9900"/>
              </a:solidFill>
            </a:endParaRPr>
          </a:p>
        </p:txBody>
      </p:sp>
      <p:sp>
        <p:nvSpPr>
          <p:cNvPr id="2674" name="Shape 2674"/>
          <p:cNvSpPr/>
          <p:nvPr/>
        </p:nvSpPr>
        <p:spPr>
          <a:xfrm>
            <a:off x="2249816" y="2928896"/>
            <a:ext cx="4494121" cy="7694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21" extrusionOk="0">
                <a:moveTo>
                  <a:pt x="21600" y="21038"/>
                </a:moveTo>
                <a:cubicBezTo>
                  <a:pt x="21600" y="21038"/>
                  <a:pt x="13263" y="-179"/>
                  <a:pt x="10818" y="1"/>
                </a:cubicBezTo>
                <a:cubicBezTo>
                  <a:pt x="8512" y="171"/>
                  <a:pt x="0" y="21421"/>
                  <a:pt x="0" y="21421"/>
                </a:cubicBezTo>
              </a:path>
            </a:pathLst>
          </a:custGeom>
          <a:ln w="63500">
            <a:solidFill>
              <a:srgbClr val="942193"/>
            </a:solidFill>
            <a:miter lim="400000"/>
            <a:tailEnd type="stealth"/>
          </a:ln>
        </p:spPr>
        <p:txBody>
          <a:bodyPr lIns="0" tIns="0" rIns="0" bIns="0" anchor="ctr"/>
          <a:lstStyle/>
          <a:p>
            <a:pPr lvl="0"/>
            <a:endParaRPr sz="1125"/>
          </a:p>
        </p:txBody>
      </p:sp>
      <p:sp>
        <p:nvSpPr>
          <p:cNvPr id="2675" name="Shape 2675"/>
          <p:cNvSpPr/>
          <p:nvPr/>
        </p:nvSpPr>
        <p:spPr>
          <a:xfrm>
            <a:off x="2226445" y="2734954"/>
            <a:ext cx="4604188" cy="12344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74" h="18682" extrusionOk="0">
                <a:moveTo>
                  <a:pt x="12179" y="0"/>
                </a:moveTo>
                <a:cubicBezTo>
                  <a:pt x="12179" y="0"/>
                  <a:pt x="21413" y="10286"/>
                  <a:pt x="21473" y="13935"/>
                </a:cubicBezTo>
                <a:cubicBezTo>
                  <a:pt x="21600" y="21600"/>
                  <a:pt x="0" y="17679"/>
                  <a:pt x="0" y="17679"/>
                </a:cubicBezTo>
              </a:path>
            </a:pathLst>
          </a:custGeom>
          <a:ln w="63500">
            <a:solidFill>
              <a:srgbClr val="942193"/>
            </a:solidFill>
            <a:miter lim="400000"/>
            <a:tailEnd type="stealth"/>
          </a:ln>
        </p:spPr>
        <p:txBody>
          <a:bodyPr lIns="0" tIns="0" rIns="0" bIns="0" anchor="ctr"/>
          <a:lstStyle/>
          <a:p>
            <a:pPr lvl="0"/>
            <a:endParaRPr sz="1125"/>
          </a:p>
        </p:txBody>
      </p:sp>
    </p:spTree>
    <p:extLst>
      <p:ext uri="{BB962C8B-B14F-4D97-AF65-F5344CB8AC3E}">
        <p14:creationId xmlns:p14="http://schemas.microsoft.com/office/powerpoint/2010/main" val="1359933306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1000"/>
                                        <p:tgtEl>
                                          <p:spTgt spid="2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73" grpId="0" animBg="1" advAuto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9" name="Shape 2689"/>
          <p:cNvSpPr/>
          <p:nvPr/>
        </p:nvSpPr>
        <p:spPr>
          <a:xfrm>
            <a:off x="3455789" y="535781"/>
            <a:ext cx="2107406" cy="1625203"/>
          </a:xfrm>
          <a:prstGeom prst="rect">
            <a:avLst/>
          </a:prstGeom>
          <a:solidFill>
            <a:schemeClr val="bg1"/>
          </a:solidFill>
          <a:ln w="63500">
            <a:solidFill>
              <a:srgbClr val="FF9300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93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>
              <a:solidFill>
                <a:srgbClr val="FF9900"/>
              </a:solidFill>
            </a:endParaRPr>
          </a:p>
        </p:txBody>
      </p:sp>
      <p:sp>
        <p:nvSpPr>
          <p:cNvPr id="2679" name="Shape 2679"/>
          <p:cNvSpPr/>
          <p:nvPr/>
        </p:nvSpPr>
        <p:spPr>
          <a:xfrm>
            <a:off x="4705945" y="1366242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0</a:t>
            </a:r>
          </a:p>
        </p:txBody>
      </p:sp>
      <p:sp>
        <p:nvSpPr>
          <p:cNvPr id="2680" name="Shape 2680"/>
          <p:cNvSpPr/>
          <p:nvPr/>
        </p:nvSpPr>
        <p:spPr>
          <a:xfrm>
            <a:off x="5098852" y="1366242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1</a:t>
            </a:r>
          </a:p>
        </p:txBody>
      </p:sp>
      <p:sp>
        <p:nvSpPr>
          <p:cNvPr id="2681" name="Shape 2681"/>
          <p:cNvSpPr/>
          <p:nvPr/>
        </p:nvSpPr>
        <p:spPr>
          <a:xfrm>
            <a:off x="2107403" y="3821276"/>
            <a:ext cx="4865179" cy="1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682" name="Shape 2682"/>
          <p:cNvSpPr/>
          <p:nvPr/>
        </p:nvSpPr>
        <p:spPr>
          <a:xfrm>
            <a:off x="4654379" y="2812098"/>
            <a:ext cx="2320587" cy="823433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839CBD-35CB-0145-91F6-A23356E1336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2684" name="Shape 2684"/>
          <p:cNvSpPr/>
          <p:nvPr/>
        </p:nvSpPr>
        <p:spPr>
          <a:xfrm>
            <a:off x="1634133" y="3429000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424242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2953">
                <a:solidFill>
                  <a:schemeClr val="bg1"/>
                </a:solidFill>
              </a:rPr>
              <a:t>x</a:t>
            </a:r>
          </a:p>
        </p:txBody>
      </p:sp>
      <p:sp>
        <p:nvSpPr>
          <p:cNvPr id="2685" name="Shape 2685"/>
          <p:cNvSpPr/>
          <p:nvPr/>
        </p:nvSpPr>
        <p:spPr>
          <a:xfrm>
            <a:off x="6768703" y="3429000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008F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2953"/>
              <a:t>z</a:t>
            </a:r>
          </a:p>
        </p:txBody>
      </p:sp>
      <p:sp>
        <p:nvSpPr>
          <p:cNvPr id="2686" name="Shape 2686"/>
          <p:cNvSpPr/>
          <p:nvPr/>
        </p:nvSpPr>
        <p:spPr>
          <a:xfrm>
            <a:off x="4241602" y="2500313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FF93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2953"/>
              <a:t>y</a:t>
            </a:r>
          </a:p>
        </p:txBody>
      </p:sp>
      <p:sp>
        <p:nvSpPr>
          <p:cNvPr id="2687" name="Shape 2687"/>
          <p:cNvSpPr/>
          <p:nvPr/>
        </p:nvSpPr>
        <p:spPr>
          <a:xfrm>
            <a:off x="4375547" y="3290738"/>
            <a:ext cx="267891" cy="5265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 b="1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953"/>
              <a:t>7</a:t>
            </a:r>
          </a:p>
        </p:txBody>
      </p:sp>
      <p:sp>
        <p:nvSpPr>
          <p:cNvPr id="2688" name="Shape 2688"/>
          <p:cNvSpPr/>
          <p:nvPr/>
        </p:nvSpPr>
        <p:spPr>
          <a:xfrm>
            <a:off x="5822156" y="2661195"/>
            <a:ext cx="267891" cy="5265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 b="1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953"/>
              <a:t>1</a:t>
            </a:r>
          </a:p>
        </p:txBody>
      </p:sp>
      <p:sp>
        <p:nvSpPr>
          <p:cNvPr id="2690" name="Shape 2690"/>
          <p:cNvSpPr/>
          <p:nvPr/>
        </p:nvSpPr>
        <p:spPr>
          <a:xfrm>
            <a:off x="4313039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x</a:t>
            </a:r>
          </a:p>
        </p:txBody>
      </p:sp>
      <p:sp>
        <p:nvSpPr>
          <p:cNvPr id="2691" name="Shape 2691"/>
          <p:cNvSpPr/>
          <p:nvPr/>
        </p:nvSpPr>
        <p:spPr>
          <a:xfrm flipV="1">
            <a:off x="3518294" y="994341"/>
            <a:ext cx="1958034" cy="655"/>
          </a:xfrm>
          <a:prstGeom prst="line">
            <a:avLst/>
          </a:prstGeom>
          <a:ln w="38100">
            <a:solidFill>
              <a:srgbClr val="FF9300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>
              <a:solidFill>
                <a:srgbClr val="FF9900"/>
              </a:solidFill>
            </a:endParaRPr>
          </a:p>
        </p:txBody>
      </p:sp>
      <p:sp>
        <p:nvSpPr>
          <p:cNvPr id="2692" name="Shape 2692"/>
          <p:cNvSpPr/>
          <p:nvPr/>
        </p:nvSpPr>
        <p:spPr>
          <a:xfrm flipV="1">
            <a:off x="4091840" y="633926"/>
            <a:ext cx="691" cy="1439101"/>
          </a:xfrm>
          <a:prstGeom prst="line">
            <a:avLst/>
          </a:prstGeom>
          <a:ln w="38100">
            <a:solidFill>
              <a:srgbClr val="FF9300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>
              <a:solidFill>
                <a:srgbClr val="FF9900"/>
              </a:solidFill>
            </a:endParaRPr>
          </a:p>
        </p:txBody>
      </p:sp>
      <p:sp>
        <p:nvSpPr>
          <p:cNvPr id="2693" name="Shape 2693"/>
          <p:cNvSpPr/>
          <p:nvPr/>
        </p:nvSpPr>
        <p:spPr>
          <a:xfrm>
            <a:off x="3687961" y="1330523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y</a:t>
            </a:r>
          </a:p>
        </p:txBody>
      </p:sp>
      <p:sp>
        <p:nvSpPr>
          <p:cNvPr id="2694" name="Shape 2694"/>
          <p:cNvSpPr/>
          <p:nvPr/>
        </p:nvSpPr>
        <p:spPr>
          <a:xfrm>
            <a:off x="4688086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y</a:t>
            </a:r>
          </a:p>
        </p:txBody>
      </p:sp>
      <p:sp>
        <p:nvSpPr>
          <p:cNvPr id="2695" name="Shape 2695"/>
          <p:cNvSpPr/>
          <p:nvPr/>
        </p:nvSpPr>
        <p:spPr>
          <a:xfrm>
            <a:off x="5080992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z</a:t>
            </a:r>
          </a:p>
        </p:txBody>
      </p:sp>
      <p:sp>
        <p:nvSpPr>
          <p:cNvPr id="2696" name="Shape 2696"/>
          <p:cNvSpPr/>
          <p:nvPr/>
        </p:nvSpPr>
        <p:spPr>
          <a:xfrm>
            <a:off x="3687961" y="1660922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z</a:t>
            </a:r>
          </a:p>
        </p:txBody>
      </p:sp>
      <p:sp>
        <p:nvSpPr>
          <p:cNvPr id="2697" name="Shape 2697"/>
          <p:cNvSpPr/>
          <p:nvPr/>
        </p:nvSpPr>
        <p:spPr>
          <a:xfrm>
            <a:off x="4304109" y="1705570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5</a:t>
            </a:r>
          </a:p>
        </p:txBody>
      </p:sp>
      <p:sp>
        <p:nvSpPr>
          <p:cNvPr id="2698" name="Shape 2698"/>
          <p:cNvSpPr/>
          <p:nvPr/>
        </p:nvSpPr>
        <p:spPr>
          <a:xfrm>
            <a:off x="4697016" y="1705570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rgbClr val="009900"/>
                </a:solidFill>
              </a:rPr>
              <a:t>1</a:t>
            </a:r>
          </a:p>
        </p:txBody>
      </p:sp>
      <p:sp>
        <p:nvSpPr>
          <p:cNvPr id="2699" name="Shape 2699"/>
          <p:cNvSpPr/>
          <p:nvPr/>
        </p:nvSpPr>
        <p:spPr>
          <a:xfrm>
            <a:off x="5072062" y="1705570"/>
            <a:ext cx="214313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0</a:t>
            </a:r>
          </a:p>
        </p:txBody>
      </p:sp>
      <p:sp>
        <p:nvSpPr>
          <p:cNvPr id="2700" name="Shape 2700"/>
          <p:cNvSpPr/>
          <p:nvPr/>
        </p:nvSpPr>
        <p:spPr>
          <a:xfrm>
            <a:off x="6045399" y="4589859"/>
            <a:ext cx="2107406" cy="1625203"/>
          </a:xfrm>
          <a:prstGeom prst="rect">
            <a:avLst/>
          </a:prstGeom>
          <a:ln w="63500">
            <a:solidFill>
              <a:srgbClr val="008F00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008F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>
              <a:solidFill>
                <a:srgbClr val="009900"/>
              </a:solidFill>
            </a:endParaRPr>
          </a:p>
        </p:txBody>
      </p:sp>
      <p:sp>
        <p:nvSpPr>
          <p:cNvPr id="2701" name="Shape 2701"/>
          <p:cNvSpPr/>
          <p:nvPr/>
        </p:nvSpPr>
        <p:spPr>
          <a:xfrm>
            <a:off x="6902648" y="4607719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x</a:t>
            </a:r>
          </a:p>
        </p:txBody>
      </p:sp>
      <p:sp>
        <p:nvSpPr>
          <p:cNvPr id="2702" name="Shape 2702"/>
          <p:cNvSpPr/>
          <p:nvPr/>
        </p:nvSpPr>
        <p:spPr>
          <a:xfrm flipV="1">
            <a:off x="6107904" y="5048419"/>
            <a:ext cx="1958034" cy="655"/>
          </a:xfrm>
          <a:prstGeom prst="line">
            <a:avLst/>
          </a:prstGeom>
          <a:ln w="38100">
            <a:solidFill>
              <a:srgbClr val="008F00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>
              <a:solidFill>
                <a:srgbClr val="009900"/>
              </a:solidFill>
            </a:endParaRPr>
          </a:p>
        </p:txBody>
      </p:sp>
      <p:sp>
        <p:nvSpPr>
          <p:cNvPr id="2703" name="Shape 2703"/>
          <p:cNvSpPr/>
          <p:nvPr/>
        </p:nvSpPr>
        <p:spPr>
          <a:xfrm flipV="1">
            <a:off x="6681449" y="4688005"/>
            <a:ext cx="691" cy="1439101"/>
          </a:xfrm>
          <a:prstGeom prst="line">
            <a:avLst/>
          </a:prstGeom>
          <a:ln w="38100">
            <a:solidFill>
              <a:srgbClr val="008F00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>
              <a:solidFill>
                <a:srgbClr val="009900"/>
              </a:solidFill>
            </a:endParaRPr>
          </a:p>
        </p:txBody>
      </p:sp>
      <p:sp>
        <p:nvSpPr>
          <p:cNvPr id="2704" name="Shape 2704"/>
          <p:cNvSpPr/>
          <p:nvPr/>
        </p:nvSpPr>
        <p:spPr>
          <a:xfrm>
            <a:off x="6277570" y="5384601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y</a:t>
            </a:r>
          </a:p>
        </p:txBody>
      </p:sp>
      <p:sp>
        <p:nvSpPr>
          <p:cNvPr id="2705" name="Shape 2705"/>
          <p:cNvSpPr/>
          <p:nvPr/>
        </p:nvSpPr>
        <p:spPr>
          <a:xfrm>
            <a:off x="7277695" y="4607719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y</a:t>
            </a:r>
          </a:p>
        </p:txBody>
      </p:sp>
      <p:sp>
        <p:nvSpPr>
          <p:cNvPr id="2706" name="Shape 2706"/>
          <p:cNvSpPr/>
          <p:nvPr/>
        </p:nvSpPr>
        <p:spPr>
          <a:xfrm>
            <a:off x="7670601" y="4607719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z</a:t>
            </a:r>
          </a:p>
        </p:txBody>
      </p:sp>
      <p:sp>
        <p:nvSpPr>
          <p:cNvPr id="2707" name="Shape 2707"/>
          <p:cNvSpPr/>
          <p:nvPr/>
        </p:nvSpPr>
        <p:spPr>
          <a:xfrm>
            <a:off x="6277570" y="5715000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z</a:t>
            </a:r>
          </a:p>
        </p:txBody>
      </p:sp>
      <p:grpSp>
        <p:nvGrpSpPr>
          <p:cNvPr id="2711" name="Group 2711"/>
          <p:cNvGrpSpPr/>
          <p:nvPr/>
        </p:nvGrpSpPr>
        <p:grpSpPr>
          <a:xfrm>
            <a:off x="6893719" y="5750719"/>
            <a:ext cx="964406" cy="464344"/>
            <a:chOff x="0" y="0"/>
            <a:chExt cx="1371600" cy="660400"/>
          </a:xfrm>
        </p:grpSpPr>
        <p:sp>
          <p:nvSpPr>
            <p:cNvPr id="2708" name="Shape 2708"/>
            <p:cNvSpPr/>
            <p:nvPr/>
          </p:nvSpPr>
          <p:spPr>
            <a:xfrm>
              <a:off x="0" y="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FF93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 dirty="0">
                  <a:solidFill>
                    <a:srgbClr val="FF9900"/>
                  </a:solidFill>
                </a:rPr>
                <a:t>5</a:t>
              </a:r>
            </a:p>
          </p:txBody>
        </p:sp>
        <p:sp>
          <p:nvSpPr>
            <p:cNvPr id="2709" name="Shape 2709"/>
            <p:cNvSpPr/>
            <p:nvPr/>
          </p:nvSpPr>
          <p:spPr>
            <a:xfrm>
              <a:off x="558800" y="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9900"/>
                  </a:solidFill>
                </a:rPr>
                <a:t>1</a:t>
              </a:r>
            </a:p>
          </p:txBody>
        </p:sp>
        <p:sp>
          <p:nvSpPr>
            <p:cNvPr id="2710" name="Shape 2710"/>
            <p:cNvSpPr/>
            <p:nvPr/>
          </p:nvSpPr>
          <p:spPr>
            <a:xfrm>
              <a:off x="1092200" y="0"/>
              <a:ext cx="2794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9900"/>
                  </a:solidFill>
                </a:rPr>
                <a:t>0</a:t>
              </a:r>
            </a:p>
          </p:txBody>
        </p:sp>
      </p:grpSp>
      <p:grpSp>
        <p:nvGrpSpPr>
          <p:cNvPr id="2715" name="Group 2715"/>
          <p:cNvGrpSpPr/>
          <p:nvPr/>
        </p:nvGrpSpPr>
        <p:grpSpPr>
          <a:xfrm>
            <a:off x="6875859" y="5393531"/>
            <a:ext cx="910828" cy="473273"/>
            <a:chOff x="0" y="0"/>
            <a:chExt cx="1295400" cy="673100"/>
          </a:xfrm>
        </p:grpSpPr>
        <p:sp>
          <p:nvSpPr>
            <p:cNvPr id="2712" name="Shape 2712"/>
            <p:cNvSpPr/>
            <p:nvPr/>
          </p:nvSpPr>
          <p:spPr>
            <a:xfrm>
              <a:off x="0" y="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9900"/>
                  </a:solidFill>
                </a:rPr>
                <a:t>4</a:t>
              </a:r>
            </a:p>
          </p:txBody>
        </p:sp>
        <p:sp>
          <p:nvSpPr>
            <p:cNvPr id="2713" name="Shape 2713"/>
            <p:cNvSpPr/>
            <p:nvPr/>
          </p:nvSpPr>
          <p:spPr>
            <a:xfrm>
              <a:off x="546100" y="1270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FF93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 dirty="0">
                  <a:solidFill>
                    <a:srgbClr val="FF9900"/>
                  </a:solidFill>
                </a:rPr>
                <a:t>0</a:t>
              </a:r>
            </a:p>
          </p:txBody>
        </p:sp>
        <p:sp>
          <p:nvSpPr>
            <p:cNvPr id="2714" name="Shape 2714"/>
            <p:cNvSpPr/>
            <p:nvPr/>
          </p:nvSpPr>
          <p:spPr>
            <a:xfrm>
              <a:off x="1104900" y="0"/>
              <a:ext cx="1905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FF93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 dirty="0">
                  <a:solidFill>
                    <a:srgbClr val="FF9900"/>
                  </a:solidFill>
                </a:rPr>
                <a:t>1</a:t>
              </a:r>
            </a:p>
          </p:txBody>
        </p:sp>
      </p:grpSp>
      <p:sp>
        <p:nvSpPr>
          <p:cNvPr id="2716" name="Shape 2716"/>
          <p:cNvSpPr/>
          <p:nvPr/>
        </p:nvSpPr>
        <p:spPr>
          <a:xfrm>
            <a:off x="4277320" y="1366242"/>
            <a:ext cx="214313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rgbClr val="009900"/>
                </a:solidFill>
              </a:rPr>
              <a:t>6</a:t>
            </a:r>
          </a:p>
        </p:txBody>
      </p:sp>
      <p:sp>
        <p:nvSpPr>
          <p:cNvPr id="2717" name="Shape 2717"/>
          <p:cNvSpPr/>
          <p:nvPr/>
        </p:nvSpPr>
        <p:spPr>
          <a:xfrm>
            <a:off x="6296158" y="1818563"/>
            <a:ext cx="2152055" cy="46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>
              <a:defRPr sz="3600"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531"/>
              <a:t>routing loop!</a:t>
            </a:r>
          </a:p>
        </p:txBody>
      </p:sp>
      <p:sp>
        <p:nvSpPr>
          <p:cNvPr id="2718" name="Shape 2718"/>
          <p:cNvSpPr/>
          <p:nvPr/>
        </p:nvSpPr>
        <p:spPr>
          <a:xfrm flipV="1">
            <a:off x="4205507" y="1539271"/>
            <a:ext cx="1044506" cy="549740"/>
          </a:xfrm>
          <a:prstGeom prst="line">
            <a:avLst/>
          </a:prstGeom>
          <a:ln w="63500">
            <a:solidFill>
              <a:srgbClr val="942193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>
              <a:solidFill>
                <a:srgbClr val="FF9900"/>
              </a:solidFill>
            </a:endParaRPr>
          </a:p>
        </p:txBody>
      </p:sp>
      <p:sp>
        <p:nvSpPr>
          <p:cNvPr id="2719" name="Shape 2719"/>
          <p:cNvSpPr/>
          <p:nvPr/>
        </p:nvSpPr>
        <p:spPr>
          <a:xfrm>
            <a:off x="2249816" y="2928896"/>
            <a:ext cx="4494121" cy="7694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21" extrusionOk="0">
                <a:moveTo>
                  <a:pt x="21600" y="21038"/>
                </a:moveTo>
                <a:cubicBezTo>
                  <a:pt x="21600" y="21038"/>
                  <a:pt x="13263" y="-179"/>
                  <a:pt x="10818" y="1"/>
                </a:cubicBezTo>
                <a:cubicBezTo>
                  <a:pt x="8512" y="171"/>
                  <a:pt x="0" y="21421"/>
                  <a:pt x="0" y="21421"/>
                </a:cubicBezTo>
              </a:path>
            </a:pathLst>
          </a:custGeom>
          <a:ln w="63500">
            <a:solidFill>
              <a:srgbClr val="942193"/>
            </a:solidFill>
            <a:miter lim="400000"/>
            <a:tailEnd type="stealth"/>
          </a:ln>
        </p:spPr>
        <p:txBody>
          <a:bodyPr lIns="0" tIns="0" rIns="0" bIns="0" anchor="ctr"/>
          <a:lstStyle/>
          <a:p>
            <a:pPr lvl="0"/>
            <a:endParaRPr sz="1125"/>
          </a:p>
        </p:txBody>
      </p:sp>
      <p:sp>
        <p:nvSpPr>
          <p:cNvPr id="2720" name="Shape 2720"/>
          <p:cNvSpPr/>
          <p:nvPr/>
        </p:nvSpPr>
        <p:spPr>
          <a:xfrm>
            <a:off x="2226445" y="2734954"/>
            <a:ext cx="4604188" cy="12344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74" h="18682" extrusionOk="0">
                <a:moveTo>
                  <a:pt x="12179" y="0"/>
                </a:moveTo>
                <a:cubicBezTo>
                  <a:pt x="12179" y="0"/>
                  <a:pt x="21413" y="10286"/>
                  <a:pt x="21473" y="13935"/>
                </a:cubicBezTo>
                <a:cubicBezTo>
                  <a:pt x="21600" y="21600"/>
                  <a:pt x="0" y="17679"/>
                  <a:pt x="0" y="17679"/>
                </a:cubicBezTo>
              </a:path>
            </a:pathLst>
          </a:custGeom>
          <a:ln w="63500">
            <a:solidFill>
              <a:srgbClr val="942193"/>
            </a:solidFill>
            <a:miter lim="400000"/>
            <a:tailEnd type="stealth"/>
          </a:ln>
        </p:spPr>
        <p:txBody>
          <a:bodyPr lIns="0" tIns="0" rIns="0" bIns="0" anchor="ctr"/>
          <a:lstStyle/>
          <a:p>
            <a:pPr lvl="0"/>
            <a:endParaRPr sz="1125"/>
          </a:p>
        </p:txBody>
      </p:sp>
    </p:spTree>
    <p:extLst>
      <p:ext uri="{BB962C8B-B14F-4D97-AF65-F5344CB8AC3E}">
        <p14:creationId xmlns:p14="http://schemas.microsoft.com/office/powerpoint/2010/main" val="200711701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6" dur="1000" fill="hold"/>
                                        <p:tgtEl>
                                          <p:spTgt spid="27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18" grpId="0" animBg="1" advAuto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" name="Shape 2734"/>
          <p:cNvSpPr/>
          <p:nvPr/>
        </p:nvSpPr>
        <p:spPr>
          <a:xfrm>
            <a:off x="3455789" y="535781"/>
            <a:ext cx="2107406" cy="1625203"/>
          </a:xfrm>
          <a:prstGeom prst="rect">
            <a:avLst/>
          </a:prstGeom>
          <a:solidFill>
            <a:schemeClr val="bg1"/>
          </a:solidFill>
          <a:ln w="63500">
            <a:solidFill>
              <a:srgbClr val="FF9300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93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>
              <a:solidFill>
                <a:srgbClr val="FF9900"/>
              </a:solidFill>
            </a:endParaRPr>
          </a:p>
        </p:txBody>
      </p:sp>
      <p:sp>
        <p:nvSpPr>
          <p:cNvPr id="2724" name="Shape 2724"/>
          <p:cNvSpPr/>
          <p:nvPr/>
        </p:nvSpPr>
        <p:spPr>
          <a:xfrm>
            <a:off x="4705945" y="1366242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0</a:t>
            </a:r>
          </a:p>
        </p:txBody>
      </p:sp>
      <p:sp>
        <p:nvSpPr>
          <p:cNvPr id="2725" name="Shape 2725"/>
          <p:cNvSpPr/>
          <p:nvPr/>
        </p:nvSpPr>
        <p:spPr>
          <a:xfrm>
            <a:off x="5098852" y="1366242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1</a:t>
            </a:r>
          </a:p>
        </p:txBody>
      </p:sp>
      <p:sp>
        <p:nvSpPr>
          <p:cNvPr id="2726" name="Shape 2726"/>
          <p:cNvSpPr/>
          <p:nvPr/>
        </p:nvSpPr>
        <p:spPr>
          <a:xfrm>
            <a:off x="2107403" y="3821276"/>
            <a:ext cx="4865179" cy="1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727" name="Shape 2727"/>
          <p:cNvSpPr/>
          <p:nvPr/>
        </p:nvSpPr>
        <p:spPr>
          <a:xfrm>
            <a:off x="4654379" y="2812098"/>
            <a:ext cx="2320587" cy="823433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12AE9C-F375-2D4C-BEEF-E0C8B5C79D5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2729" name="Shape 2729"/>
          <p:cNvSpPr/>
          <p:nvPr/>
        </p:nvSpPr>
        <p:spPr>
          <a:xfrm>
            <a:off x="1634133" y="3429000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424242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2953" dirty="0">
                <a:solidFill>
                  <a:schemeClr val="bg1"/>
                </a:solidFill>
              </a:rPr>
              <a:t>x</a:t>
            </a:r>
          </a:p>
        </p:txBody>
      </p:sp>
      <p:sp>
        <p:nvSpPr>
          <p:cNvPr id="2730" name="Shape 2730"/>
          <p:cNvSpPr/>
          <p:nvPr/>
        </p:nvSpPr>
        <p:spPr>
          <a:xfrm>
            <a:off x="6768703" y="3429000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008F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2953"/>
              <a:t>z</a:t>
            </a:r>
          </a:p>
        </p:txBody>
      </p:sp>
      <p:sp>
        <p:nvSpPr>
          <p:cNvPr id="2731" name="Shape 2731"/>
          <p:cNvSpPr/>
          <p:nvPr/>
        </p:nvSpPr>
        <p:spPr>
          <a:xfrm>
            <a:off x="4241602" y="2500313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FF93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2953"/>
              <a:t>y</a:t>
            </a:r>
          </a:p>
        </p:txBody>
      </p:sp>
      <p:sp>
        <p:nvSpPr>
          <p:cNvPr id="2732" name="Shape 2732"/>
          <p:cNvSpPr/>
          <p:nvPr/>
        </p:nvSpPr>
        <p:spPr>
          <a:xfrm>
            <a:off x="4375547" y="3290738"/>
            <a:ext cx="267891" cy="5265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 b="1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953" dirty="0"/>
              <a:t>7</a:t>
            </a:r>
          </a:p>
        </p:txBody>
      </p:sp>
      <p:sp>
        <p:nvSpPr>
          <p:cNvPr id="2733" name="Shape 2733"/>
          <p:cNvSpPr/>
          <p:nvPr/>
        </p:nvSpPr>
        <p:spPr>
          <a:xfrm>
            <a:off x="5822156" y="2661195"/>
            <a:ext cx="267891" cy="5265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 b="1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953"/>
              <a:t>1</a:t>
            </a:r>
          </a:p>
        </p:txBody>
      </p:sp>
      <p:sp>
        <p:nvSpPr>
          <p:cNvPr id="2735" name="Shape 2735"/>
          <p:cNvSpPr/>
          <p:nvPr/>
        </p:nvSpPr>
        <p:spPr>
          <a:xfrm>
            <a:off x="4313039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x</a:t>
            </a:r>
          </a:p>
        </p:txBody>
      </p:sp>
      <p:sp>
        <p:nvSpPr>
          <p:cNvPr id="2736" name="Shape 2736"/>
          <p:cNvSpPr/>
          <p:nvPr/>
        </p:nvSpPr>
        <p:spPr>
          <a:xfrm flipV="1">
            <a:off x="3518294" y="994341"/>
            <a:ext cx="1958034" cy="655"/>
          </a:xfrm>
          <a:prstGeom prst="line">
            <a:avLst/>
          </a:prstGeom>
          <a:ln w="38100">
            <a:solidFill>
              <a:srgbClr val="FF9300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>
              <a:solidFill>
                <a:srgbClr val="FF9900"/>
              </a:solidFill>
            </a:endParaRPr>
          </a:p>
        </p:txBody>
      </p:sp>
      <p:sp>
        <p:nvSpPr>
          <p:cNvPr id="2737" name="Shape 2737"/>
          <p:cNvSpPr/>
          <p:nvPr/>
        </p:nvSpPr>
        <p:spPr>
          <a:xfrm flipV="1">
            <a:off x="4091840" y="633926"/>
            <a:ext cx="691" cy="1439101"/>
          </a:xfrm>
          <a:prstGeom prst="line">
            <a:avLst/>
          </a:prstGeom>
          <a:ln w="38100">
            <a:solidFill>
              <a:srgbClr val="FF9300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>
              <a:solidFill>
                <a:srgbClr val="FF9900"/>
              </a:solidFill>
            </a:endParaRPr>
          </a:p>
        </p:txBody>
      </p:sp>
      <p:sp>
        <p:nvSpPr>
          <p:cNvPr id="2738" name="Shape 2738"/>
          <p:cNvSpPr/>
          <p:nvPr/>
        </p:nvSpPr>
        <p:spPr>
          <a:xfrm>
            <a:off x="3687961" y="1330523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y</a:t>
            </a:r>
          </a:p>
        </p:txBody>
      </p:sp>
      <p:sp>
        <p:nvSpPr>
          <p:cNvPr id="2739" name="Shape 2739"/>
          <p:cNvSpPr/>
          <p:nvPr/>
        </p:nvSpPr>
        <p:spPr>
          <a:xfrm>
            <a:off x="4688086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y</a:t>
            </a:r>
          </a:p>
        </p:txBody>
      </p:sp>
      <p:sp>
        <p:nvSpPr>
          <p:cNvPr id="2740" name="Shape 2740"/>
          <p:cNvSpPr/>
          <p:nvPr/>
        </p:nvSpPr>
        <p:spPr>
          <a:xfrm>
            <a:off x="5080992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z</a:t>
            </a:r>
          </a:p>
        </p:txBody>
      </p:sp>
      <p:sp>
        <p:nvSpPr>
          <p:cNvPr id="2741" name="Shape 2741"/>
          <p:cNvSpPr/>
          <p:nvPr/>
        </p:nvSpPr>
        <p:spPr>
          <a:xfrm>
            <a:off x="3687961" y="1660922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z</a:t>
            </a:r>
          </a:p>
        </p:txBody>
      </p:sp>
      <p:sp>
        <p:nvSpPr>
          <p:cNvPr id="2742" name="Shape 2742"/>
          <p:cNvSpPr/>
          <p:nvPr/>
        </p:nvSpPr>
        <p:spPr>
          <a:xfrm>
            <a:off x="4304109" y="1705570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5</a:t>
            </a:r>
          </a:p>
        </p:txBody>
      </p:sp>
      <p:sp>
        <p:nvSpPr>
          <p:cNvPr id="2743" name="Shape 2743"/>
          <p:cNvSpPr/>
          <p:nvPr/>
        </p:nvSpPr>
        <p:spPr>
          <a:xfrm>
            <a:off x="4697016" y="1705570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rgbClr val="009900"/>
                </a:solidFill>
              </a:rPr>
              <a:t>1</a:t>
            </a:r>
          </a:p>
        </p:txBody>
      </p:sp>
      <p:sp>
        <p:nvSpPr>
          <p:cNvPr id="2744" name="Shape 2744"/>
          <p:cNvSpPr/>
          <p:nvPr/>
        </p:nvSpPr>
        <p:spPr>
          <a:xfrm>
            <a:off x="5072062" y="1705570"/>
            <a:ext cx="214313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rgbClr val="009900"/>
                </a:solidFill>
              </a:rPr>
              <a:t>0</a:t>
            </a:r>
          </a:p>
        </p:txBody>
      </p:sp>
      <p:sp>
        <p:nvSpPr>
          <p:cNvPr id="2745" name="Shape 2745"/>
          <p:cNvSpPr/>
          <p:nvPr/>
        </p:nvSpPr>
        <p:spPr>
          <a:xfrm>
            <a:off x="6045399" y="4589859"/>
            <a:ext cx="2107406" cy="1625203"/>
          </a:xfrm>
          <a:prstGeom prst="rect">
            <a:avLst/>
          </a:prstGeom>
          <a:ln w="63500">
            <a:solidFill>
              <a:srgbClr val="008F00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008F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>
              <a:solidFill>
                <a:srgbClr val="009900"/>
              </a:solidFill>
            </a:endParaRPr>
          </a:p>
        </p:txBody>
      </p:sp>
      <p:sp>
        <p:nvSpPr>
          <p:cNvPr id="2746" name="Shape 2746"/>
          <p:cNvSpPr/>
          <p:nvPr/>
        </p:nvSpPr>
        <p:spPr>
          <a:xfrm>
            <a:off x="6902648" y="4607719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x</a:t>
            </a:r>
          </a:p>
        </p:txBody>
      </p:sp>
      <p:sp>
        <p:nvSpPr>
          <p:cNvPr id="2747" name="Shape 2747"/>
          <p:cNvSpPr/>
          <p:nvPr/>
        </p:nvSpPr>
        <p:spPr>
          <a:xfrm flipV="1">
            <a:off x="6107904" y="5048419"/>
            <a:ext cx="1958034" cy="655"/>
          </a:xfrm>
          <a:prstGeom prst="line">
            <a:avLst/>
          </a:prstGeom>
          <a:ln w="38100">
            <a:solidFill>
              <a:srgbClr val="008F00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>
              <a:solidFill>
                <a:srgbClr val="009900"/>
              </a:solidFill>
            </a:endParaRPr>
          </a:p>
        </p:txBody>
      </p:sp>
      <p:sp>
        <p:nvSpPr>
          <p:cNvPr id="2748" name="Shape 2748"/>
          <p:cNvSpPr/>
          <p:nvPr/>
        </p:nvSpPr>
        <p:spPr>
          <a:xfrm flipV="1">
            <a:off x="6681449" y="4688005"/>
            <a:ext cx="691" cy="1439101"/>
          </a:xfrm>
          <a:prstGeom prst="line">
            <a:avLst/>
          </a:prstGeom>
          <a:ln w="38100">
            <a:solidFill>
              <a:srgbClr val="008F00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>
              <a:solidFill>
                <a:srgbClr val="009900"/>
              </a:solidFill>
            </a:endParaRPr>
          </a:p>
        </p:txBody>
      </p:sp>
      <p:sp>
        <p:nvSpPr>
          <p:cNvPr id="2749" name="Shape 2749"/>
          <p:cNvSpPr/>
          <p:nvPr/>
        </p:nvSpPr>
        <p:spPr>
          <a:xfrm>
            <a:off x="6277570" y="5384601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y</a:t>
            </a:r>
          </a:p>
        </p:txBody>
      </p:sp>
      <p:sp>
        <p:nvSpPr>
          <p:cNvPr id="2750" name="Shape 2750"/>
          <p:cNvSpPr/>
          <p:nvPr/>
        </p:nvSpPr>
        <p:spPr>
          <a:xfrm>
            <a:off x="7277695" y="4607719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y</a:t>
            </a:r>
          </a:p>
        </p:txBody>
      </p:sp>
      <p:sp>
        <p:nvSpPr>
          <p:cNvPr id="2751" name="Shape 2751"/>
          <p:cNvSpPr/>
          <p:nvPr/>
        </p:nvSpPr>
        <p:spPr>
          <a:xfrm>
            <a:off x="7670601" y="4607719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rgbClr val="009900"/>
                </a:solidFill>
              </a:rPr>
              <a:t>z</a:t>
            </a:r>
          </a:p>
        </p:txBody>
      </p:sp>
      <p:sp>
        <p:nvSpPr>
          <p:cNvPr id="2752" name="Shape 2752"/>
          <p:cNvSpPr/>
          <p:nvPr/>
        </p:nvSpPr>
        <p:spPr>
          <a:xfrm>
            <a:off x="6277570" y="5715000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z</a:t>
            </a:r>
          </a:p>
        </p:txBody>
      </p:sp>
      <p:grpSp>
        <p:nvGrpSpPr>
          <p:cNvPr id="2756" name="Group 2756"/>
          <p:cNvGrpSpPr/>
          <p:nvPr/>
        </p:nvGrpSpPr>
        <p:grpSpPr>
          <a:xfrm>
            <a:off x="6893719" y="5750719"/>
            <a:ext cx="964406" cy="464344"/>
            <a:chOff x="0" y="0"/>
            <a:chExt cx="1371600" cy="660400"/>
          </a:xfrm>
        </p:grpSpPr>
        <p:sp>
          <p:nvSpPr>
            <p:cNvPr id="2753" name="Shape 2753"/>
            <p:cNvSpPr/>
            <p:nvPr/>
          </p:nvSpPr>
          <p:spPr>
            <a:xfrm>
              <a:off x="0" y="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FF93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 dirty="0">
                  <a:solidFill>
                    <a:srgbClr val="FF9900"/>
                  </a:solidFill>
                </a:rPr>
                <a:t>5</a:t>
              </a:r>
            </a:p>
          </p:txBody>
        </p:sp>
        <p:sp>
          <p:nvSpPr>
            <p:cNvPr id="2754" name="Shape 2754"/>
            <p:cNvSpPr/>
            <p:nvPr/>
          </p:nvSpPr>
          <p:spPr>
            <a:xfrm>
              <a:off x="558800" y="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9900"/>
                  </a:solidFill>
                </a:rPr>
                <a:t>1</a:t>
              </a:r>
            </a:p>
          </p:txBody>
        </p:sp>
        <p:sp>
          <p:nvSpPr>
            <p:cNvPr id="2755" name="Shape 2755"/>
            <p:cNvSpPr/>
            <p:nvPr/>
          </p:nvSpPr>
          <p:spPr>
            <a:xfrm>
              <a:off x="1092200" y="0"/>
              <a:ext cx="2794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9900"/>
                  </a:solidFill>
                </a:rPr>
                <a:t>0</a:t>
              </a:r>
            </a:p>
          </p:txBody>
        </p:sp>
      </p:grpSp>
      <p:grpSp>
        <p:nvGrpSpPr>
          <p:cNvPr id="2760" name="Group 2760"/>
          <p:cNvGrpSpPr/>
          <p:nvPr/>
        </p:nvGrpSpPr>
        <p:grpSpPr>
          <a:xfrm>
            <a:off x="6875859" y="5393531"/>
            <a:ext cx="910828" cy="473273"/>
            <a:chOff x="0" y="0"/>
            <a:chExt cx="1295400" cy="673100"/>
          </a:xfrm>
        </p:grpSpPr>
        <p:sp>
          <p:nvSpPr>
            <p:cNvPr id="2757" name="Shape 2757"/>
            <p:cNvSpPr/>
            <p:nvPr/>
          </p:nvSpPr>
          <p:spPr>
            <a:xfrm>
              <a:off x="0" y="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9900"/>
                  </a:solidFill>
                </a:rPr>
                <a:t>6</a:t>
              </a:r>
            </a:p>
          </p:txBody>
        </p:sp>
        <p:sp>
          <p:nvSpPr>
            <p:cNvPr id="2758" name="Shape 2758"/>
            <p:cNvSpPr/>
            <p:nvPr/>
          </p:nvSpPr>
          <p:spPr>
            <a:xfrm>
              <a:off x="546100" y="1270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FF93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 dirty="0">
                  <a:solidFill>
                    <a:srgbClr val="FF9900"/>
                  </a:solidFill>
                </a:rPr>
                <a:t>0</a:t>
              </a:r>
            </a:p>
          </p:txBody>
        </p:sp>
        <p:sp>
          <p:nvSpPr>
            <p:cNvPr id="2759" name="Shape 2759"/>
            <p:cNvSpPr/>
            <p:nvPr/>
          </p:nvSpPr>
          <p:spPr>
            <a:xfrm>
              <a:off x="1104900" y="0"/>
              <a:ext cx="1905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FF93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 dirty="0">
                  <a:solidFill>
                    <a:srgbClr val="FF9900"/>
                  </a:solidFill>
                </a:rPr>
                <a:t>1</a:t>
              </a:r>
            </a:p>
          </p:txBody>
        </p:sp>
      </p:grpSp>
      <p:sp>
        <p:nvSpPr>
          <p:cNvPr id="2761" name="Shape 2761"/>
          <p:cNvSpPr/>
          <p:nvPr/>
        </p:nvSpPr>
        <p:spPr>
          <a:xfrm>
            <a:off x="4277320" y="1366242"/>
            <a:ext cx="214313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rgbClr val="009900"/>
                </a:solidFill>
              </a:rPr>
              <a:t>6</a:t>
            </a:r>
          </a:p>
        </p:txBody>
      </p:sp>
      <p:sp>
        <p:nvSpPr>
          <p:cNvPr id="2762" name="Shape 2762"/>
          <p:cNvSpPr/>
          <p:nvPr/>
        </p:nvSpPr>
        <p:spPr>
          <a:xfrm>
            <a:off x="6296158" y="1818563"/>
            <a:ext cx="2152055" cy="46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>
              <a:defRPr sz="3600"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531"/>
              <a:t>routing loop!</a:t>
            </a:r>
          </a:p>
        </p:txBody>
      </p:sp>
      <p:sp>
        <p:nvSpPr>
          <p:cNvPr id="2764" name="Shape 2764"/>
          <p:cNvSpPr/>
          <p:nvPr/>
        </p:nvSpPr>
        <p:spPr>
          <a:xfrm>
            <a:off x="2249816" y="2928896"/>
            <a:ext cx="4494121" cy="7694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21" extrusionOk="0">
                <a:moveTo>
                  <a:pt x="21600" y="21038"/>
                </a:moveTo>
                <a:cubicBezTo>
                  <a:pt x="21600" y="21038"/>
                  <a:pt x="13263" y="-179"/>
                  <a:pt x="10818" y="1"/>
                </a:cubicBezTo>
                <a:cubicBezTo>
                  <a:pt x="8512" y="171"/>
                  <a:pt x="0" y="21421"/>
                  <a:pt x="0" y="21421"/>
                </a:cubicBezTo>
              </a:path>
            </a:pathLst>
          </a:custGeom>
          <a:ln w="63500">
            <a:solidFill>
              <a:srgbClr val="942193"/>
            </a:solidFill>
            <a:miter lim="400000"/>
            <a:tailEnd type="stealth"/>
          </a:ln>
        </p:spPr>
        <p:txBody>
          <a:bodyPr lIns="0" tIns="0" rIns="0" bIns="0" anchor="ctr"/>
          <a:lstStyle/>
          <a:p>
            <a:pPr lvl="0"/>
            <a:endParaRPr sz="1125"/>
          </a:p>
        </p:txBody>
      </p:sp>
      <p:sp>
        <p:nvSpPr>
          <p:cNvPr id="2765" name="Shape 2765"/>
          <p:cNvSpPr/>
          <p:nvPr/>
        </p:nvSpPr>
        <p:spPr>
          <a:xfrm>
            <a:off x="2226445" y="2734954"/>
            <a:ext cx="4604188" cy="12344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74" h="18682" extrusionOk="0">
                <a:moveTo>
                  <a:pt x="12179" y="0"/>
                </a:moveTo>
                <a:cubicBezTo>
                  <a:pt x="12179" y="0"/>
                  <a:pt x="21413" y="10286"/>
                  <a:pt x="21473" y="13935"/>
                </a:cubicBezTo>
                <a:cubicBezTo>
                  <a:pt x="21600" y="21600"/>
                  <a:pt x="0" y="17679"/>
                  <a:pt x="0" y="17679"/>
                </a:cubicBezTo>
              </a:path>
            </a:pathLst>
          </a:custGeom>
          <a:ln w="63500">
            <a:solidFill>
              <a:srgbClr val="942193"/>
            </a:solidFill>
            <a:miter lim="400000"/>
            <a:tailEnd type="stealth"/>
          </a:ln>
        </p:spPr>
        <p:txBody>
          <a:bodyPr lIns="0" tIns="0" rIns="0" bIns="0" anchor="ctr"/>
          <a:lstStyle/>
          <a:p>
            <a:pPr lvl="0"/>
            <a:endParaRPr sz="1125"/>
          </a:p>
        </p:txBody>
      </p:sp>
      <p:sp>
        <p:nvSpPr>
          <p:cNvPr id="51" name="Shape 2808"/>
          <p:cNvSpPr/>
          <p:nvPr/>
        </p:nvSpPr>
        <p:spPr>
          <a:xfrm>
            <a:off x="6830513" y="5552369"/>
            <a:ext cx="632201" cy="590971"/>
          </a:xfrm>
          <a:prstGeom prst="line">
            <a:avLst/>
          </a:prstGeom>
          <a:ln w="63500">
            <a:solidFill>
              <a:srgbClr val="942193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</p:spTree>
    <p:extLst>
      <p:ext uri="{BB962C8B-B14F-4D97-AF65-F5344CB8AC3E}">
        <p14:creationId xmlns:p14="http://schemas.microsoft.com/office/powerpoint/2010/main" val="438070618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 advAuto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9" name="Shape 2779"/>
          <p:cNvSpPr/>
          <p:nvPr/>
        </p:nvSpPr>
        <p:spPr>
          <a:xfrm>
            <a:off x="3455789" y="535781"/>
            <a:ext cx="2107406" cy="1625203"/>
          </a:xfrm>
          <a:prstGeom prst="rect">
            <a:avLst/>
          </a:prstGeom>
          <a:solidFill>
            <a:schemeClr val="bg1"/>
          </a:solidFill>
          <a:ln w="63500">
            <a:solidFill>
              <a:srgbClr val="FF9300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93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>
              <a:solidFill>
                <a:srgbClr val="FF9900"/>
              </a:solidFill>
            </a:endParaRPr>
          </a:p>
        </p:txBody>
      </p:sp>
      <p:sp>
        <p:nvSpPr>
          <p:cNvPr id="2769" name="Shape 2769"/>
          <p:cNvSpPr/>
          <p:nvPr/>
        </p:nvSpPr>
        <p:spPr>
          <a:xfrm>
            <a:off x="4705945" y="1366242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0</a:t>
            </a:r>
          </a:p>
        </p:txBody>
      </p:sp>
      <p:sp>
        <p:nvSpPr>
          <p:cNvPr id="2770" name="Shape 2770"/>
          <p:cNvSpPr/>
          <p:nvPr/>
        </p:nvSpPr>
        <p:spPr>
          <a:xfrm>
            <a:off x="5098852" y="1366242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1</a:t>
            </a:r>
          </a:p>
        </p:txBody>
      </p:sp>
      <p:sp>
        <p:nvSpPr>
          <p:cNvPr id="2771" name="Shape 2771"/>
          <p:cNvSpPr/>
          <p:nvPr/>
        </p:nvSpPr>
        <p:spPr>
          <a:xfrm>
            <a:off x="2107403" y="3821276"/>
            <a:ext cx="4865179" cy="1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772" name="Shape 2772"/>
          <p:cNvSpPr/>
          <p:nvPr/>
        </p:nvSpPr>
        <p:spPr>
          <a:xfrm>
            <a:off x="4654379" y="2812098"/>
            <a:ext cx="2320587" cy="823433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DBF545-6AEF-E64E-8A85-ACEDD789036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2774" name="Shape 2774"/>
          <p:cNvSpPr/>
          <p:nvPr/>
        </p:nvSpPr>
        <p:spPr>
          <a:xfrm>
            <a:off x="1634133" y="3429000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424242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2953">
                <a:solidFill>
                  <a:schemeClr val="bg1"/>
                </a:solidFill>
              </a:rPr>
              <a:t>x</a:t>
            </a:r>
          </a:p>
        </p:txBody>
      </p:sp>
      <p:sp>
        <p:nvSpPr>
          <p:cNvPr id="2775" name="Shape 2775"/>
          <p:cNvSpPr/>
          <p:nvPr/>
        </p:nvSpPr>
        <p:spPr>
          <a:xfrm>
            <a:off x="6768703" y="3429000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008F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2953"/>
              <a:t>z</a:t>
            </a:r>
          </a:p>
        </p:txBody>
      </p:sp>
      <p:sp>
        <p:nvSpPr>
          <p:cNvPr id="2776" name="Shape 2776"/>
          <p:cNvSpPr/>
          <p:nvPr/>
        </p:nvSpPr>
        <p:spPr>
          <a:xfrm>
            <a:off x="4241602" y="2500313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FF93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2953"/>
              <a:t>y</a:t>
            </a:r>
          </a:p>
        </p:txBody>
      </p:sp>
      <p:sp>
        <p:nvSpPr>
          <p:cNvPr id="2777" name="Shape 2777"/>
          <p:cNvSpPr/>
          <p:nvPr/>
        </p:nvSpPr>
        <p:spPr>
          <a:xfrm>
            <a:off x="4375547" y="3290738"/>
            <a:ext cx="267891" cy="5265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 b="1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953"/>
              <a:t>7</a:t>
            </a:r>
          </a:p>
        </p:txBody>
      </p:sp>
      <p:sp>
        <p:nvSpPr>
          <p:cNvPr id="2778" name="Shape 2778"/>
          <p:cNvSpPr/>
          <p:nvPr/>
        </p:nvSpPr>
        <p:spPr>
          <a:xfrm>
            <a:off x="5822156" y="2661195"/>
            <a:ext cx="267891" cy="5265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 b="1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953"/>
              <a:t>1</a:t>
            </a:r>
          </a:p>
        </p:txBody>
      </p:sp>
      <p:sp>
        <p:nvSpPr>
          <p:cNvPr id="2780" name="Shape 2780"/>
          <p:cNvSpPr/>
          <p:nvPr/>
        </p:nvSpPr>
        <p:spPr>
          <a:xfrm>
            <a:off x="4313039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x</a:t>
            </a:r>
          </a:p>
        </p:txBody>
      </p:sp>
      <p:sp>
        <p:nvSpPr>
          <p:cNvPr id="2781" name="Shape 2781"/>
          <p:cNvSpPr/>
          <p:nvPr/>
        </p:nvSpPr>
        <p:spPr>
          <a:xfrm flipV="1">
            <a:off x="3518294" y="994341"/>
            <a:ext cx="1958034" cy="655"/>
          </a:xfrm>
          <a:prstGeom prst="line">
            <a:avLst/>
          </a:prstGeom>
          <a:ln w="38100">
            <a:solidFill>
              <a:srgbClr val="FF9300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>
              <a:solidFill>
                <a:srgbClr val="FF9900"/>
              </a:solidFill>
            </a:endParaRPr>
          </a:p>
        </p:txBody>
      </p:sp>
      <p:sp>
        <p:nvSpPr>
          <p:cNvPr id="2782" name="Shape 2782"/>
          <p:cNvSpPr/>
          <p:nvPr/>
        </p:nvSpPr>
        <p:spPr>
          <a:xfrm flipV="1">
            <a:off x="4091840" y="633926"/>
            <a:ext cx="691" cy="1439101"/>
          </a:xfrm>
          <a:prstGeom prst="line">
            <a:avLst/>
          </a:prstGeom>
          <a:ln w="38100">
            <a:solidFill>
              <a:srgbClr val="FF9300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>
              <a:solidFill>
                <a:srgbClr val="FF9900"/>
              </a:solidFill>
            </a:endParaRPr>
          </a:p>
        </p:txBody>
      </p:sp>
      <p:sp>
        <p:nvSpPr>
          <p:cNvPr id="2783" name="Shape 2783"/>
          <p:cNvSpPr/>
          <p:nvPr/>
        </p:nvSpPr>
        <p:spPr>
          <a:xfrm>
            <a:off x="3687961" y="1330523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y</a:t>
            </a:r>
          </a:p>
        </p:txBody>
      </p:sp>
      <p:sp>
        <p:nvSpPr>
          <p:cNvPr id="2784" name="Shape 2784"/>
          <p:cNvSpPr/>
          <p:nvPr/>
        </p:nvSpPr>
        <p:spPr>
          <a:xfrm>
            <a:off x="4688086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y</a:t>
            </a:r>
          </a:p>
        </p:txBody>
      </p:sp>
      <p:sp>
        <p:nvSpPr>
          <p:cNvPr id="2785" name="Shape 2785"/>
          <p:cNvSpPr/>
          <p:nvPr/>
        </p:nvSpPr>
        <p:spPr>
          <a:xfrm>
            <a:off x="5080992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z</a:t>
            </a:r>
          </a:p>
        </p:txBody>
      </p:sp>
      <p:sp>
        <p:nvSpPr>
          <p:cNvPr id="2786" name="Shape 2786"/>
          <p:cNvSpPr/>
          <p:nvPr/>
        </p:nvSpPr>
        <p:spPr>
          <a:xfrm>
            <a:off x="3687961" y="1660922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z</a:t>
            </a:r>
          </a:p>
        </p:txBody>
      </p:sp>
      <p:sp>
        <p:nvSpPr>
          <p:cNvPr id="2787" name="Shape 2787"/>
          <p:cNvSpPr/>
          <p:nvPr/>
        </p:nvSpPr>
        <p:spPr>
          <a:xfrm>
            <a:off x="4304109" y="1705570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5</a:t>
            </a:r>
          </a:p>
        </p:txBody>
      </p:sp>
      <p:sp>
        <p:nvSpPr>
          <p:cNvPr id="2788" name="Shape 2788"/>
          <p:cNvSpPr/>
          <p:nvPr/>
        </p:nvSpPr>
        <p:spPr>
          <a:xfrm>
            <a:off x="4697016" y="1705570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rgbClr val="009900"/>
                </a:solidFill>
              </a:rPr>
              <a:t>1</a:t>
            </a:r>
          </a:p>
        </p:txBody>
      </p:sp>
      <p:sp>
        <p:nvSpPr>
          <p:cNvPr id="2789" name="Shape 2789"/>
          <p:cNvSpPr/>
          <p:nvPr/>
        </p:nvSpPr>
        <p:spPr>
          <a:xfrm>
            <a:off x="5072062" y="1705570"/>
            <a:ext cx="214313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rgbClr val="009900"/>
                </a:solidFill>
              </a:rPr>
              <a:t>0</a:t>
            </a:r>
          </a:p>
        </p:txBody>
      </p:sp>
      <p:sp>
        <p:nvSpPr>
          <p:cNvPr id="2790" name="Shape 2790"/>
          <p:cNvSpPr/>
          <p:nvPr/>
        </p:nvSpPr>
        <p:spPr>
          <a:xfrm>
            <a:off x="6045399" y="4589859"/>
            <a:ext cx="2107406" cy="1625203"/>
          </a:xfrm>
          <a:prstGeom prst="rect">
            <a:avLst/>
          </a:prstGeom>
          <a:ln w="63500">
            <a:solidFill>
              <a:srgbClr val="008F00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008F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>
              <a:solidFill>
                <a:srgbClr val="009900"/>
              </a:solidFill>
            </a:endParaRPr>
          </a:p>
        </p:txBody>
      </p:sp>
      <p:sp>
        <p:nvSpPr>
          <p:cNvPr id="2791" name="Shape 2791"/>
          <p:cNvSpPr/>
          <p:nvPr/>
        </p:nvSpPr>
        <p:spPr>
          <a:xfrm>
            <a:off x="6902648" y="4607719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x</a:t>
            </a:r>
          </a:p>
        </p:txBody>
      </p:sp>
      <p:sp>
        <p:nvSpPr>
          <p:cNvPr id="2792" name="Shape 2792"/>
          <p:cNvSpPr/>
          <p:nvPr/>
        </p:nvSpPr>
        <p:spPr>
          <a:xfrm flipV="1">
            <a:off x="6107904" y="5048419"/>
            <a:ext cx="1958034" cy="655"/>
          </a:xfrm>
          <a:prstGeom prst="line">
            <a:avLst/>
          </a:prstGeom>
          <a:ln w="38100">
            <a:solidFill>
              <a:srgbClr val="008F00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>
              <a:solidFill>
                <a:srgbClr val="009900"/>
              </a:solidFill>
            </a:endParaRPr>
          </a:p>
        </p:txBody>
      </p:sp>
      <p:sp>
        <p:nvSpPr>
          <p:cNvPr id="2793" name="Shape 2793"/>
          <p:cNvSpPr/>
          <p:nvPr/>
        </p:nvSpPr>
        <p:spPr>
          <a:xfrm flipV="1">
            <a:off x="6681449" y="4688005"/>
            <a:ext cx="691" cy="1439101"/>
          </a:xfrm>
          <a:prstGeom prst="line">
            <a:avLst/>
          </a:prstGeom>
          <a:ln w="38100">
            <a:solidFill>
              <a:srgbClr val="008F00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>
              <a:solidFill>
                <a:srgbClr val="009900"/>
              </a:solidFill>
            </a:endParaRPr>
          </a:p>
        </p:txBody>
      </p:sp>
      <p:sp>
        <p:nvSpPr>
          <p:cNvPr id="2794" name="Shape 2794"/>
          <p:cNvSpPr/>
          <p:nvPr/>
        </p:nvSpPr>
        <p:spPr>
          <a:xfrm>
            <a:off x="6277570" y="5384601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y</a:t>
            </a:r>
          </a:p>
        </p:txBody>
      </p:sp>
      <p:sp>
        <p:nvSpPr>
          <p:cNvPr id="2795" name="Shape 2795"/>
          <p:cNvSpPr/>
          <p:nvPr/>
        </p:nvSpPr>
        <p:spPr>
          <a:xfrm>
            <a:off x="7277695" y="4607719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y</a:t>
            </a:r>
          </a:p>
        </p:txBody>
      </p:sp>
      <p:sp>
        <p:nvSpPr>
          <p:cNvPr id="2796" name="Shape 2796"/>
          <p:cNvSpPr/>
          <p:nvPr/>
        </p:nvSpPr>
        <p:spPr>
          <a:xfrm>
            <a:off x="7670601" y="4607719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z</a:t>
            </a:r>
          </a:p>
        </p:txBody>
      </p:sp>
      <p:sp>
        <p:nvSpPr>
          <p:cNvPr id="2797" name="Shape 2797"/>
          <p:cNvSpPr/>
          <p:nvPr/>
        </p:nvSpPr>
        <p:spPr>
          <a:xfrm>
            <a:off x="6277570" y="5715000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z</a:t>
            </a:r>
          </a:p>
        </p:txBody>
      </p:sp>
      <p:grpSp>
        <p:nvGrpSpPr>
          <p:cNvPr id="2801" name="Group 2801"/>
          <p:cNvGrpSpPr/>
          <p:nvPr/>
        </p:nvGrpSpPr>
        <p:grpSpPr>
          <a:xfrm>
            <a:off x="6893719" y="5750719"/>
            <a:ext cx="964406" cy="464344"/>
            <a:chOff x="0" y="0"/>
            <a:chExt cx="1371600" cy="660400"/>
          </a:xfrm>
        </p:grpSpPr>
        <p:sp>
          <p:nvSpPr>
            <p:cNvPr id="2798" name="Shape 2798"/>
            <p:cNvSpPr/>
            <p:nvPr/>
          </p:nvSpPr>
          <p:spPr>
            <a:xfrm>
              <a:off x="0" y="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FF93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 dirty="0">
                  <a:solidFill>
                    <a:srgbClr val="FF9900"/>
                  </a:solidFill>
                </a:rPr>
                <a:t>7</a:t>
              </a:r>
            </a:p>
          </p:txBody>
        </p:sp>
        <p:sp>
          <p:nvSpPr>
            <p:cNvPr id="2799" name="Shape 2799"/>
            <p:cNvSpPr/>
            <p:nvPr/>
          </p:nvSpPr>
          <p:spPr>
            <a:xfrm>
              <a:off x="558800" y="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9900"/>
                  </a:solidFill>
                </a:rPr>
                <a:t>1</a:t>
              </a:r>
            </a:p>
          </p:txBody>
        </p:sp>
        <p:sp>
          <p:nvSpPr>
            <p:cNvPr id="2800" name="Shape 2800"/>
            <p:cNvSpPr/>
            <p:nvPr/>
          </p:nvSpPr>
          <p:spPr>
            <a:xfrm>
              <a:off x="1092200" y="0"/>
              <a:ext cx="2794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9900"/>
                  </a:solidFill>
                </a:rPr>
                <a:t>0</a:t>
              </a:r>
            </a:p>
          </p:txBody>
        </p:sp>
      </p:grpSp>
      <p:grpSp>
        <p:nvGrpSpPr>
          <p:cNvPr id="2805" name="Group 2805"/>
          <p:cNvGrpSpPr/>
          <p:nvPr/>
        </p:nvGrpSpPr>
        <p:grpSpPr>
          <a:xfrm>
            <a:off x="6875859" y="5393531"/>
            <a:ext cx="910828" cy="473273"/>
            <a:chOff x="0" y="0"/>
            <a:chExt cx="1295400" cy="673100"/>
          </a:xfrm>
        </p:grpSpPr>
        <p:sp>
          <p:nvSpPr>
            <p:cNvPr id="2802" name="Shape 2802"/>
            <p:cNvSpPr/>
            <p:nvPr/>
          </p:nvSpPr>
          <p:spPr>
            <a:xfrm>
              <a:off x="0" y="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9900"/>
                  </a:solidFill>
                </a:rPr>
                <a:t>6</a:t>
              </a:r>
            </a:p>
          </p:txBody>
        </p:sp>
        <p:sp>
          <p:nvSpPr>
            <p:cNvPr id="2803" name="Shape 2803"/>
            <p:cNvSpPr/>
            <p:nvPr/>
          </p:nvSpPr>
          <p:spPr>
            <a:xfrm>
              <a:off x="546100" y="1270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FF93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 dirty="0">
                  <a:solidFill>
                    <a:srgbClr val="FF9900"/>
                  </a:solidFill>
                </a:rPr>
                <a:t>0</a:t>
              </a:r>
            </a:p>
          </p:txBody>
        </p:sp>
        <p:sp>
          <p:nvSpPr>
            <p:cNvPr id="2804" name="Shape 2804"/>
            <p:cNvSpPr/>
            <p:nvPr/>
          </p:nvSpPr>
          <p:spPr>
            <a:xfrm>
              <a:off x="1104900" y="0"/>
              <a:ext cx="1905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FF93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 dirty="0">
                  <a:solidFill>
                    <a:srgbClr val="FF9900"/>
                  </a:solidFill>
                </a:rPr>
                <a:t>1</a:t>
              </a:r>
            </a:p>
          </p:txBody>
        </p:sp>
      </p:grpSp>
      <p:sp>
        <p:nvSpPr>
          <p:cNvPr id="2806" name="Shape 2806"/>
          <p:cNvSpPr/>
          <p:nvPr/>
        </p:nvSpPr>
        <p:spPr>
          <a:xfrm>
            <a:off x="4277320" y="1366242"/>
            <a:ext cx="214313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rgbClr val="009900"/>
                </a:solidFill>
              </a:rPr>
              <a:t>6</a:t>
            </a:r>
          </a:p>
        </p:txBody>
      </p:sp>
      <p:sp>
        <p:nvSpPr>
          <p:cNvPr id="2807" name="Shape 2807"/>
          <p:cNvSpPr/>
          <p:nvPr/>
        </p:nvSpPr>
        <p:spPr>
          <a:xfrm>
            <a:off x="6296158" y="1818563"/>
            <a:ext cx="2152055" cy="46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>
              <a:defRPr sz="3600"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531"/>
              <a:t>routing loop!</a:t>
            </a:r>
          </a:p>
        </p:txBody>
      </p:sp>
      <p:sp>
        <p:nvSpPr>
          <p:cNvPr id="2808" name="Shape 2808"/>
          <p:cNvSpPr/>
          <p:nvPr/>
        </p:nvSpPr>
        <p:spPr>
          <a:xfrm>
            <a:off x="6830513" y="5552369"/>
            <a:ext cx="632201" cy="590971"/>
          </a:xfrm>
          <a:prstGeom prst="line">
            <a:avLst/>
          </a:prstGeom>
          <a:ln w="63500">
            <a:solidFill>
              <a:srgbClr val="942193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>
              <a:solidFill>
                <a:srgbClr val="009900"/>
              </a:solidFill>
            </a:endParaRPr>
          </a:p>
        </p:txBody>
      </p:sp>
      <p:sp>
        <p:nvSpPr>
          <p:cNvPr id="2809" name="Shape 2809"/>
          <p:cNvSpPr/>
          <p:nvPr/>
        </p:nvSpPr>
        <p:spPr>
          <a:xfrm>
            <a:off x="2249816" y="2928896"/>
            <a:ext cx="4494121" cy="7694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21" extrusionOk="0">
                <a:moveTo>
                  <a:pt x="21600" y="21038"/>
                </a:moveTo>
                <a:cubicBezTo>
                  <a:pt x="21600" y="21038"/>
                  <a:pt x="13263" y="-179"/>
                  <a:pt x="10818" y="1"/>
                </a:cubicBezTo>
                <a:cubicBezTo>
                  <a:pt x="8512" y="171"/>
                  <a:pt x="0" y="21421"/>
                  <a:pt x="0" y="21421"/>
                </a:cubicBezTo>
              </a:path>
            </a:pathLst>
          </a:custGeom>
          <a:ln w="63500">
            <a:solidFill>
              <a:srgbClr val="942193"/>
            </a:solidFill>
            <a:miter lim="400000"/>
            <a:tailEnd type="stealth"/>
          </a:ln>
        </p:spPr>
        <p:txBody>
          <a:bodyPr lIns="0" tIns="0" rIns="0" bIns="0" anchor="ctr"/>
          <a:lstStyle/>
          <a:p>
            <a:pPr lvl="0"/>
            <a:endParaRPr sz="1125"/>
          </a:p>
        </p:txBody>
      </p:sp>
      <p:sp>
        <p:nvSpPr>
          <p:cNvPr id="2810" name="Shape 2810"/>
          <p:cNvSpPr/>
          <p:nvPr/>
        </p:nvSpPr>
        <p:spPr>
          <a:xfrm>
            <a:off x="2226445" y="2734954"/>
            <a:ext cx="4604188" cy="12344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74" h="18682" extrusionOk="0">
                <a:moveTo>
                  <a:pt x="12179" y="0"/>
                </a:moveTo>
                <a:cubicBezTo>
                  <a:pt x="12179" y="0"/>
                  <a:pt x="21413" y="10286"/>
                  <a:pt x="21473" y="13935"/>
                </a:cubicBezTo>
                <a:cubicBezTo>
                  <a:pt x="21600" y="21600"/>
                  <a:pt x="0" y="17679"/>
                  <a:pt x="0" y="17679"/>
                </a:cubicBezTo>
              </a:path>
            </a:pathLst>
          </a:custGeom>
          <a:ln w="63500">
            <a:solidFill>
              <a:srgbClr val="942193"/>
            </a:solidFill>
            <a:miter lim="400000"/>
            <a:tailEnd type="stealth"/>
          </a:ln>
        </p:spPr>
        <p:txBody>
          <a:bodyPr lIns="0" tIns="0" rIns="0" bIns="0" anchor="ctr"/>
          <a:lstStyle/>
          <a:p>
            <a:pPr lvl="0"/>
            <a:endParaRPr sz="1125"/>
          </a:p>
        </p:txBody>
      </p:sp>
    </p:spTree>
    <p:extLst>
      <p:ext uri="{BB962C8B-B14F-4D97-AF65-F5344CB8AC3E}">
        <p14:creationId xmlns:p14="http://schemas.microsoft.com/office/powerpoint/2010/main" val="477677839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6" dur="1000" fill="hold"/>
                                        <p:tgtEl>
                                          <p:spTgt spid="28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08" grpId="0" animBg="1" advAuto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4" name="Shape 2824"/>
          <p:cNvSpPr/>
          <p:nvPr/>
        </p:nvSpPr>
        <p:spPr>
          <a:xfrm>
            <a:off x="3455789" y="535781"/>
            <a:ext cx="2107406" cy="1625203"/>
          </a:xfrm>
          <a:prstGeom prst="rect">
            <a:avLst/>
          </a:prstGeom>
          <a:solidFill>
            <a:schemeClr val="bg1"/>
          </a:solidFill>
          <a:ln w="63500">
            <a:solidFill>
              <a:srgbClr val="FF9300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93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>
              <a:solidFill>
                <a:srgbClr val="FF9900"/>
              </a:solidFill>
            </a:endParaRPr>
          </a:p>
        </p:txBody>
      </p:sp>
      <p:sp>
        <p:nvSpPr>
          <p:cNvPr id="2814" name="Shape 2814"/>
          <p:cNvSpPr/>
          <p:nvPr/>
        </p:nvSpPr>
        <p:spPr>
          <a:xfrm>
            <a:off x="4705945" y="1366242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0</a:t>
            </a:r>
          </a:p>
        </p:txBody>
      </p:sp>
      <p:sp>
        <p:nvSpPr>
          <p:cNvPr id="2815" name="Shape 2815"/>
          <p:cNvSpPr/>
          <p:nvPr/>
        </p:nvSpPr>
        <p:spPr>
          <a:xfrm>
            <a:off x="5098852" y="1366242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1</a:t>
            </a:r>
          </a:p>
        </p:txBody>
      </p:sp>
      <p:sp>
        <p:nvSpPr>
          <p:cNvPr id="2816" name="Shape 2816"/>
          <p:cNvSpPr/>
          <p:nvPr/>
        </p:nvSpPr>
        <p:spPr>
          <a:xfrm>
            <a:off x="2107403" y="3821276"/>
            <a:ext cx="4865179" cy="1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817" name="Shape 2817"/>
          <p:cNvSpPr/>
          <p:nvPr/>
        </p:nvSpPr>
        <p:spPr>
          <a:xfrm>
            <a:off x="4654379" y="2812098"/>
            <a:ext cx="2320587" cy="823433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B70F95-D8AE-9A43-9A2D-BE5701BF7AF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2819" name="Shape 2819"/>
          <p:cNvSpPr/>
          <p:nvPr/>
        </p:nvSpPr>
        <p:spPr>
          <a:xfrm>
            <a:off x="1634133" y="3429000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424242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2953">
                <a:solidFill>
                  <a:schemeClr val="bg1"/>
                </a:solidFill>
              </a:rPr>
              <a:t>x</a:t>
            </a:r>
          </a:p>
        </p:txBody>
      </p:sp>
      <p:sp>
        <p:nvSpPr>
          <p:cNvPr id="2820" name="Shape 2820"/>
          <p:cNvSpPr/>
          <p:nvPr/>
        </p:nvSpPr>
        <p:spPr>
          <a:xfrm>
            <a:off x="6768703" y="3429000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008F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2953"/>
              <a:t>z</a:t>
            </a:r>
          </a:p>
        </p:txBody>
      </p:sp>
      <p:sp>
        <p:nvSpPr>
          <p:cNvPr id="2821" name="Shape 2821"/>
          <p:cNvSpPr/>
          <p:nvPr/>
        </p:nvSpPr>
        <p:spPr>
          <a:xfrm>
            <a:off x="4241602" y="2500313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FF93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2953"/>
              <a:t>y</a:t>
            </a:r>
          </a:p>
        </p:txBody>
      </p:sp>
      <p:sp>
        <p:nvSpPr>
          <p:cNvPr id="2822" name="Shape 2822"/>
          <p:cNvSpPr/>
          <p:nvPr/>
        </p:nvSpPr>
        <p:spPr>
          <a:xfrm>
            <a:off x="4375547" y="3290738"/>
            <a:ext cx="267891" cy="5265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 b="1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953"/>
              <a:t>7</a:t>
            </a:r>
          </a:p>
        </p:txBody>
      </p:sp>
      <p:sp>
        <p:nvSpPr>
          <p:cNvPr id="2823" name="Shape 2823"/>
          <p:cNvSpPr/>
          <p:nvPr/>
        </p:nvSpPr>
        <p:spPr>
          <a:xfrm>
            <a:off x="5822156" y="2661195"/>
            <a:ext cx="267891" cy="5265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 b="1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953"/>
              <a:t>1</a:t>
            </a:r>
          </a:p>
        </p:txBody>
      </p:sp>
      <p:sp>
        <p:nvSpPr>
          <p:cNvPr id="2825" name="Shape 2825"/>
          <p:cNvSpPr/>
          <p:nvPr/>
        </p:nvSpPr>
        <p:spPr>
          <a:xfrm>
            <a:off x="4313039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x</a:t>
            </a:r>
          </a:p>
        </p:txBody>
      </p:sp>
      <p:sp>
        <p:nvSpPr>
          <p:cNvPr id="2826" name="Shape 2826"/>
          <p:cNvSpPr/>
          <p:nvPr/>
        </p:nvSpPr>
        <p:spPr>
          <a:xfrm flipV="1">
            <a:off x="3518294" y="994341"/>
            <a:ext cx="1958034" cy="655"/>
          </a:xfrm>
          <a:prstGeom prst="line">
            <a:avLst/>
          </a:prstGeom>
          <a:ln w="38100">
            <a:solidFill>
              <a:srgbClr val="FF9300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>
              <a:solidFill>
                <a:srgbClr val="FF9900"/>
              </a:solidFill>
            </a:endParaRPr>
          </a:p>
        </p:txBody>
      </p:sp>
      <p:sp>
        <p:nvSpPr>
          <p:cNvPr id="2827" name="Shape 2827"/>
          <p:cNvSpPr/>
          <p:nvPr/>
        </p:nvSpPr>
        <p:spPr>
          <a:xfrm flipV="1">
            <a:off x="4091840" y="633926"/>
            <a:ext cx="691" cy="1439101"/>
          </a:xfrm>
          <a:prstGeom prst="line">
            <a:avLst/>
          </a:prstGeom>
          <a:ln w="38100">
            <a:solidFill>
              <a:srgbClr val="FF9300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>
              <a:solidFill>
                <a:srgbClr val="FF9900"/>
              </a:solidFill>
            </a:endParaRPr>
          </a:p>
        </p:txBody>
      </p:sp>
      <p:sp>
        <p:nvSpPr>
          <p:cNvPr id="2828" name="Shape 2828"/>
          <p:cNvSpPr/>
          <p:nvPr/>
        </p:nvSpPr>
        <p:spPr>
          <a:xfrm>
            <a:off x="3687961" y="1330523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y</a:t>
            </a:r>
          </a:p>
        </p:txBody>
      </p:sp>
      <p:sp>
        <p:nvSpPr>
          <p:cNvPr id="2829" name="Shape 2829"/>
          <p:cNvSpPr/>
          <p:nvPr/>
        </p:nvSpPr>
        <p:spPr>
          <a:xfrm>
            <a:off x="4688086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y</a:t>
            </a:r>
          </a:p>
        </p:txBody>
      </p:sp>
      <p:sp>
        <p:nvSpPr>
          <p:cNvPr id="2830" name="Shape 2830"/>
          <p:cNvSpPr/>
          <p:nvPr/>
        </p:nvSpPr>
        <p:spPr>
          <a:xfrm>
            <a:off x="5080992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z</a:t>
            </a:r>
          </a:p>
        </p:txBody>
      </p:sp>
      <p:sp>
        <p:nvSpPr>
          <p:cNvPr id="2831" name="Shape 2831"/>
          <p:cNvSpPr/>
          <p:nvPr/>
        </p:nvSpPr>
        <p:spPr>
          <a:xfrm>
            <a:off x="3687961" y="1660922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z</a:t>
            </a:r>
          </a:p>
        </p:txBody>
      </p:sp>
      <p:sp>
        <p:nvSpPr>
          <p:cNvPr id="2832" name="Shape 2832"/>
          <p:cNvSpPr/>
          <p:nvPr/>
        </p:nvSpPr>
        <p:spPr>
          <a:xfrm>
            <a:off x="4304109" y="1705570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7</a:t>
            </a:r>
          </a:p>
        </p:txBody>
      </p:sp>
      <p:sp>
        <p:nvSpPr>
          <p:cNvPr id="2833" name="Shape 2833"/>
          <p:cNvSpPr/>
          <p:nvPr/>
        </p:nvSpPr>
        <p:spPr>
          <a:xfrm>
            <a:off x="4697016" y="1705570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rgbClr val="009900"/>
                </a:solidFill>
              </a:rPr>
              <a:t>1</a:t>
            </a:r>
          </a:p>
        </p:txBody>
      </p:sp>
      <p:sp>
        <p:nvSpPr>
          <p:cNvPr id="2834" name="Shape 2834"/>
          <p:cNvSpPr/>
          <p:nvPr/>
        </p:nvSpPr>
        <p:spPr>
          <a:xfrm>
            <a:off x="5072062" y="1705570"/>
            <a:ext cx="214313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rgbClr val="009900"/>
                </a:solidFill>
              </a:rPr>
              <a:t>0</a:t>
            </a:r>
          </a:p>
        </p:txBody>
      </p:sp>
      <p:sp>
        <p:nvSpPr>
          <p:cNvPr id="2835" name="Shape 2835"/>
          <p:cNvSpPr/>
          <p:nvPr/>
        </p:nvSpPr>
        <p:spPr>
          <a:xfrm>
            <a:off x="6045399" y="4589859"/>
            <a:ext cx="2107406" cy="1625203"/>
          </a:xfrm>
          <a:prstGeom prst="rect">
            <a:avLst/>
          </a:prstGeom>
          <a:ln w="63500">
            <a:solidFill>
              <a:srgbClr val="008F00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008F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>
              <a:solidFill>
                <a:srgbClr val="009900"/>
              </a:solidFill>
            </a:endParaRPr>
          </a:p>
        </p:txBody>
      </p:sp>
      <p:sp>
        <p:nvSpPr>
          <p:cNvPr id="2836" name="Shape 2836"/>
          <p:cNvSpPr/>
          <p:nvPr/>
        </p:nvSpPr>
        <p:spPr>
          <a:xfrm>
            <a:off x="6902648" y="4607719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x</a:t>
            </a:r>
          </a:p>
        </p:txBody>
      </p:sp>
      <p:sp>
        <p:nvSpPr>
          <p:cNvPr id="2837" name="Shape 2837"/>
          <p:cNvSpPr/>
          <p:nvPr/>
        </p:nvSpPr>
        <p:spPr>
          <a:xfrm flipV="1">
            <a:off x="6107904" y="5048419"/>
            <a:ext cx="1958034" cy="655"/>
          </a:xfrm>
          <a:prstGeom prst="line">
            <a:avLst/>
          </a:prstGeom>
          <a:ln w="38100">
            <a:solidFill>
              <a:srgbClr val="008F00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>
              <a:solidFill>
                <a:srgbClr val="009900"/>
              </a:solidFill>
            </a:endParaRPr>
          </a:p>
        </p:txBody>
      </p:sp>
      <p:sp>
        <p:nvSpPr>
          <p:cNvPr id="2838" name="Shape 2838"/>
          <p:cNvSpPr/>
          <p:nvPr/>
        </p:nvSpPr>
        <p:spPr>
          <a:xfrm flipV="1">
            <a:off x="6681449" y="4688005"/>
            <a:ext cx="691" cy="1439101"/>
          </a:xfrm>
          <a:prstGeom prst="line">
            <a:avLst/>
          </a:prstGeom>
          <a:ln w="38100">
            <a:solidFill>
              <a:srgbClr val="008F00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>
              <a:solidFill>
                <a:srgbClr val="009900"/>
              </a:solidFill>
            </a:endParaRPr>
          </a:p>
        </p:txBody>
      </p:sp>
      <p:sp>
        <p:nvSpPr>
          <p:cNvPr id="2839" name="Shape 2839"/>
          <p:cNvSpPr/>
          <p:nvPr/>
        </p:nvSpPr>
        <p:spPr>
          <a:xfrm>
            <a:off x="6277570" y="5384601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y</a:t>
            </a:r>
          </a:p>
        </p:txBody>
      </p:sp>
      <p:sp>
        <p:nvSpPr>
          <p:cNvPr id="2840" name="Shape 2840"/>
          <p:cNvSpPr/>
          <p:nvPr/>
        </p:nvSpPr>
        <p:spPr>
          <a:xfrm>
            <a:off x="7277695" y="4607719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y</a:t>
            </a:r>
          </a:p>
        </p:txBody>
      </p:sp>
      <p:sp>
        <p:nvSpPr>
          <p:cNvPr id="2841" name="Shape 2841"/>
          <p:cNvSpPr/>
          <p:nvPr/>
        </p:nvSpPr>
        <p:spPr>
          <a:xfrm>
            <a:off x="7670601" y="4607719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z</a:t>
            </a:r>
          </a:p>
        </p:txBody>
      </p:sp>
      <p:sp>
        <p:nvSpPr>
          <p:cNvPr id="2842" name="Shape 2842"/>
          <p:cNvSpPr/>
          <p:nvPr/>
        </p:nvSpPr>
        <p:spPr>
          <a:xfrm>
            <a:off x="6277570" y="5715000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z</a:t>
            </a:r>
          </a:p>
        </p:txBody>
      </p:sp>
      <p:grpSp>
        <p:nvGrpSpPr>
          <p:cNvPr id="2846" name="Group 2846"/>
          <p:cNvGrpSpPr/>
          <p:nvPr/>
        </p:nvGrpSpPr>
        <p:grpSpPr>
          <a:xfrm>
            <a:off x="6893719" y="5750719"/>
            <a:ext cx="964406" cy="464344"/>
            <a:chOff x="0" y="0"/>
            <a:chExt cx="1371600" cy="660400"/>
          </a:xfrm>
        </p:grpSpPr>
        <p:sp>
          <p:nvSpPr>
            <p:cNvPr id="2843" name="Shape 2843"/>
            <p:cNvSpPr/>
            <p:nvPr/>
          </p:nvSpPr>
          <p:spPr>
            <a:xfrm>
              <a:off x="0" y="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FF93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 dirty="0">
                  <a:solidFill>
                    <a:srgbClr val="FF9900"/>
                  </a:solidFill>
                </a:rPr>
                <a:t>7</a:t>
              </a:r>
            </a:p>
          </p:txBody>
        </p:sp>
        <p:sp>
          <p:nvSpPr>
            <p:cNvPr id="2844" name="Shape 2844"/>
            <p:cNvSpPr/>
            <p:nvPr/>
          </p:nvSpPr>
          <p:spPr>
            <a:xfrm>
              <a:off x="558800" y="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9900"/>
                  </a:solidFill>
                </a:rPr>
                <a:t>1</a:t>
              </a:r>
            </a:p>
          </p:txBody>
        </p:sp>
        <p:sp>
          <p:nvSpPr>
            <p:cNvPr id="2845" name="Shape 2845"/>
            <p:cNvSpPr/>
            <p:nvPr/>
          </p:nvSpPr>
          <p:spPr>
            <a:xfrm>
              <a:off x="1092200" y="0"/>
              <a:ext cx="2794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9900"/>
                  </a:solidFill>
                </a:rPr>
                <a:t>0</a:t>
              </a:r>
            </a:p>
          </p:txBody>
        </p:sp>
      </p:grpSp>
      <p:grpSp>
        <p:nvGrpSpPr>
          <p:cNvPr id="2850" name="Group 2850"/>
          <p:cNvGrpSpPr/>
          <p:nvPr/>
        </p:nvGrpSpPr>
        <p:grpSpPr>
          <a:xfrm>
            <a:off x="6875859" y="5393531"/>
            <a:ext cx="910828" cy="473273"/>
            <a:chOff x="0" y="0"/>
            <a:chExt cx="1295400" cy="673100"/>
          </a:xfrm>
        </p:grpSpPr>
        <p:sp>
          <p:nvSpPr>
            <p:cNvPr id="2847" name="Shape 2847"/>
            <p:cNvSpPr/>
            <p:nvPr/>
          </p:nvSpPr>
          <p:spPr>
            <a:xfrm>
              <a:off x="0" y="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9900"/>
                  </a:solidFill>
                </a:rPr>
                <a:t>6</a:t>
              </a:r>
            </a:p>
          </p:txBody>
        </p:sp>
        <p:sp>
          <p:nvSpPr>
            <p:cNvPr id="2848" name="Shape 2848"/>
            <p:cNvSpPr/>
            <p:nvPr/>
          </p:nvSpPr>
          <p:spPr>
            <a:xfrm>
              <a:off x="546100" y="1270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FF93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 dirty="0">
                  <a:solidFill>
                    <a:srgbClr val="FF9900"/>
                  </a:solidFill>
                </a:rPr>
                <a:t>0</a:t>
              </a:r>
            </a:p>
          </p:txBody>
        </p:sp>
        <p:sp>
          <p:nvSpPr>
            <p:cNvPr id="2849" name="Shape 2849"/>
            <p:cNvSpPr/>
            <p:nvPr/>
          </p:nvSpPr>
          <p:spPr>
            <a:xfrm>
              <a:off x="1104900" y="0"/>
              <a:ext cx="1905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FF93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 dirty="0">
                  <a:solidFill>
                    <a:srgbClr val="FF9900"/>
                  </a:solidFill>
                </a:rPr>
                <a:t>1</a:t>
              </a:r>
            </a:p>
          </p:txBody>
        </p:sp>
      </p:grpSp>
      <p:sp>
        <p:nvSpPr>
          <p:cNvPr id="2851" name="Shape 2851"/>
          <p:cNvSpPr/>
          <p:nvPr/>
        </p:nvSpPr>
        <p:spPr>
          <a:xfrm>
            <a:off x="4277320" y="1366242"/>
            <a:ext cx="214313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rgbClr val="009900"/>
                </a:solidFill>
              </a:rPr>
              <a:t>6</a:t>
            </a:r>
          </a:p>
        </p:txBody>
      </p:sp>
      <p:sp>
        <p:nvSpPr>
          <p:cNvPr id="2852" name="Shape 2852"/>
          <p:cNvSpPr/>
          <p:nvPr/>
        </p:nvSpPr>
        <p:spPr>
          <a:xfrm>
            <a:off x="6296158" y="1818563"/>
            <a:ext cx="2152055" cy="46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>
              <a:defRPr sz="3600"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531"/>
              <a:t>routing loop!</a:t>
            </a:r>
          </a:p>
        </p:txBody>
      </p:sp>
      <p:sp>
        <p:nvSpPr>
          <p:cNvPr id="2853" name="Shape 2853"/>
          <p:cNvSpPr/>
          <p:nvPr/>
        </p:nvSpPr>
        <p:spPr>
          <a:xfrm flipV="1">
            <a:off x="4205507" y="1539271"/>
            <a:ext cx="1044506" cy="549740"/>
          </a:xfrm>
          <a:prstGeom prst="line">
            <a:avLst/>
          </a:prstGeom>
          <a:ln w="63500">
            <a:solidFill>
              <a:srgbClr val="942193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>
              <a:solidFill>
                <a:srgbClr val="FF9900"/>
              </a:solidFill>
            </a:endParaRPr>
          </a:p>
        </p:txBody>
      </p:sp>
      <p:sp>
        <p:nvSpPr>
          <p:cNvPr id="2854" name="Shape 2854"/>
          <p:cNvSpPr/>
          <p:nvPr/>
        </p:nvSpPr>
        <p:spPr>
          <a:xfrm>
            <a:off x="2249816" y="2928896"/>
            <a:ext cx="4494121" cy="7694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21" extrusionOk="0">
                <a:moveTo>
                  <a:pt x="21600" y="21038"/>
                </a:moveTo>
                <a:cubicBezTo>
                  <a:pt x="21600" y="21038"/>
                  <a:pt x="13263" y="-179"/>
                  <a:pt x="10818" y="1"/>
                </a:cubicBezTo>
                <a:cubicBezTo>
                  <a:pt x="8512" y="171"/>
                  <a:pt x="0" y="21421"/>
                  <a:pt x="0" y="21421"/>
                </a:cubicBezTo>
              </a:path>
            </a:pathLst>
          </a:custGeom>
          <a:ln w="63500">
            <a:solidFill>
              <a:srgbClr val="942193"/>
            </a:solidFill>
            <a:miter lim="400000"/>
            <a:tailEnd type="stealth"/>
          </a:ln>
        </p:spPr>
        <p:txBody>
          <a:bodyPr lIns="0" tIns="0" rIns="0" bIns="0" anchor="ctr"/>
          <a:lstStyle/>
          <a:p>
            <a:pPr lvl="0"/>
            <a:endParaRPr sz="1125"/>
          </a:p>
        </p:txBody>
      </p:sp>
      <p:sp>
        <p:nvSpPr>
          <p:cNvPr id="2855" name="Shape 2855"/>
          <p:cNvSpPr/>
          <p:nvPr/>
        </p:nvSpPr>
        <p:spPr>
          <a:xfrm>
            <a:off x="2226445" y="2734954"/>
            <a:ext cx="4604188" cy="12344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74" h="18682" extrusionOk="0">
                <a:moveTo>
                  <a:pt x="12179" y="0"/>
                </a:moveTo>
                <a:cubicBezTo>
                  <a:pt x="12179" y="0"/>
                  <a:pt x="21413" y="10286"/>
                  <a:pt x="21473" y="13935"/>
                </a:cubicBezTo>
                <a:cubicBezTo>
                  <a:pt x="21600" y="21600"/>
                  <a:pt x="0" y="17679"/>
                  <a:pt x="0" y="17679"/>
                </a:cubicBezTo>
              </a:path>
            </a:pathLst>
          </a:custGeom>
          <a:ln w="63500">
            <a:solidFill>
              <a:srgbClr val="942193"/>
            </a:solidFill>
            <a:miter lim="400000"/>
            <a:tailEnd type="stealth"/>
          </a:ln>
        </p:spPr>
        <p:txBody>
          <a:bodyPr lIns="0" tIns="0" rIns="0" bIns="0" anchor="ctr"/>
          <a:lstStyle/>
          <a:p>
            <a:pPr lvl="0"/>
            <a:endParaRPr sz="1125"/>
          </a:p>
        </p:txBody>
      </p:sp>
    </p:spTree>
    <p:extLst>
      <p:ext uri="{BB962C8B-B14F-4D97-AF65-F5344CB8AC3E}">
        <p14:creationId xmlns:p14="http://schemas.microsoft.com/office/powerpoint/2010/main" val="831221069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1000"/>
                                        <p:tgtEl>
                                          <p:spTgt spid="2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53" grpId="0" animBg="1" advAuto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9" name="Shape 2869"/>
          <p:cNvSpPr/>
          <p:nvPr/>
        </p:nvSpPr>
        <p:spPr>
          <a:xfrm>
            <a:off x="3455789" y="535781"/>
            <a:ext cx="2107406" cy="1625203"/>
          </a:xfrm>
          <a:prstGeom prst="rect">
            <a:avLst/>
          </a:prstGeom>
          <a:solidFill>
            <a:schemeClr val="bg1"/>
          </a:solidFill>
          <a:ln w="63500">
            <a:solidFill>
              <a:srgbClr val="FF9300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93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>
              <a:solidFill>
                <a:srgbClr val="FF9900"/>
              </a:solidFill>
            </a:endParaRPr>
          </a:p>
        </p:txBody>
      </p:sp>
      <p:sp>
        <p:nvSpPr>
          <p:cNvPr id="2859" name="Shape 2859"/>
          <p:cNvSpPr/>
          <p:nvPr/>
        </p:nvSpPr>
        <p:spPr>
          <a:xfrm>
            <a:off x="4705945" y="1366242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0</a:t>
            </a:r>
          </a:p>
        </p:txBody>
      </p:sp>
      <p:sp>
        <p:nvSpPr>
          <p:cNvPr id="2860" name="Shape 2860"/>
          <p:cNvSpPr/>
          <p:nvPr/>
        </p:nvSpPr>
        <p:spPr>
          <a:xfrm>
            <a:off x="5098852" y="1366242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1</a:t>
            </a:r>
          </a:p>
        </p:txBody>
      </p:sp>
      <p:sp>
        <p:nvSpPr>
          <p:cNvPr id="2861" name="Shape 2861"/>
          <p:cNvSpPr/>
          <p:nvPr/>
        </p:nvSpPr>
        <p:spPr>
          <a:xfrm>
            <a:off x="2107403" y="3821276"/>
            <a:ext cx="4865179" cy="1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862" name="Shape 2862"/>
          <p:cNvSpPr/>
          <p:nvPr/>
        </p:nvSpPr>
        <p:spPr>
          <a:xfrm>
            <a:off x="4654379" y="2812098"/>
            <a:ext cx="2320587" cy="823433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1AC4253-97B3-BD48-B118-71912766E47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2864" name="Shape 2864"/>
          <p:cNvSpPr/>
          <p:nvPr/>
        </p:nvSpPr>
        <p:spPr>
          <a:xfrm>
            <a:off x="1634133" y="3429000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424242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2953">
                <a:solidFill>
                  <a:schemeClr val="bg1"/>
                </a:solidFill>
              </a:rPr>
              <a:t>x</a:t>
            </a:r>
          </a:p>
        </p:txBody>
      </p:sp>
      <p:sp>
        <p:nvSpPr>
          <p:cNvPr id="2865" name="Shape 2865"/>
          <p:cNvSpPr/>
          <p:nvPr/>
        </p:nvSpPr>
        <p:spPr>
          <a:xfrm>
            <a:off x="6768703" y="3429000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008F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2953"/>
              <a:t>z</a:t>
            </a:r>
          </a:p>
        </p:txBody>
      </p:sp>
      <p:sp>
        <p:nvSpPr>
          <p:cNvPr id="2866" name="Shape 2866"/>
          <p:cNvSpPr/>
          <p:nvPr/>
        </p:nvSpPr>
        <p:spPr>
          <a:xfrm>
            <a:off x="4241602" y="2500313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FF93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2953"/>
              <a:t>y</a:t>
            </a:r>
          </a:p>
        </p:txBody>
      </p:sp>
      <p:sp>
        <p:nvSpPr>
          <p:cNvPr id="2867" name="Shape 2867"/>
          <p:cNvSpPr/>
          <p:nvPr/>
        </p:nvSpPr>
        <p:spPr>
          <a:xfrm>
            <a:off x="4375547" y="3290738"/>
            <a:ext cx="267891" cy="5265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 b="1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953"/>
              <a:t>7</a:t>
            </a:r>
          </a:p>
        </p:txBody>
      </p:sp>
      <p:sp>
        <p:nvSpPr>
          <p:cNvPr id="2868" name="Shape 2868"/>
          <p:cNvSpPr/>
          <p:nvPr/>
        </p:nvSpPr>
        <p:spPr>
          <a:xfrm>
            <a:off x="5822156" y="2661195"/>
            <a:ext cx="267891" cy="5265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 b="1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953"/>
              <a:t>1</a:t>
            </a:r>
          </a:p>
        </p:txBody>
      </p:sp>
      <p:sp>
        <p:nvSpPr>
          <p:cNvPr id="2870" name="Shape 2870"/>
          <p:cNvSpPr/>
          <p:nvPr/>
        </p:nvSpPr>
        <p:spPr>
          <a:xfrm>
            <a:off x="4313039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x</a:t>
            </a:r>
          </a:p>
        </p:txBody>
      </p:sp>
      <p:sp>
        <p:nvSpPr>
          <p:cNvPr id="2871" name="Shape 2871"/>
          <p:cNvSpPr/>
          <p:nvPr/>
        </p:nvSpPr>
        <p:spPr>
          <a:xfrm flipV="1">
            <a:off x="3518294" y="994341"/>
            <a:ext cx="1958034" cy="655"/>
          </a:xfrm>
          <a:prstGeom prst="line">
            <a:avLst/>
          </a:prstGeom>
          <a:ln w="38100">
            <a:solidFill>
              <a:srgbClr val="FF9300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>
              <a:solidFill>
                <a:srgbClr val="FF9900"/>
              </a:solidFill>
            </a:endParaRPr>
          </a:p>
        </p:txBody>
      </p:sp>
      <p:sp>
        <p:nvSpPr>
          <p:cNvPr id="2872" name="Shape 2872"/>
          <p:cNvSpPr/>
          <p:nvPr/>
        </p:nvSpPr>
        <p:spPr>
          <a:xfrm flipV="1">
            <a:off x="4091840" y="633926"/>
            <a:ext cx="691" cy="1439101"/>
          </a:xfrm>
          <a:prstGeom prst="line">
            <a:avLst/>
          </a:prstGeom>
          <a:ln w="38100">
            <a:solidFill>
              <a:srgbClr val="FF9300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>
              <a:solidFill>
                <a:srgbClr val="FF9900"/>
              </a:solidFill>
            </a:endParaRPr>
          </a:p>
        </p:txBody>
      </p:sp>
      <p:sp>
        <p:nvSpPr>
          <p:cNvPr id="2873" name="Shape 2873"/>
          <p:cNvSpPr/>
          <p:nvPr/>
        </p:nvSpPr>
        <p:spPr>
          <a:xfrm>
            <a:off x="3687961" y="1330523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y</a:t>
            </a:r>
          </a:p>
        </p:txBody>
      </p:sp>
      <p:sp>
        <p:nvSpPr>
          <p:cNvPr id="2874" name="Shape 2874"/>
          <p:cNvSpPr/>
          <p:nvPr/>
        </p:nvSpPr>
        <p:spPr>
          <a:xfrm>
            <a:off x="4688086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y</a:t>
            </a:r>
          </a:p>
        </p:txBody>
      </p:sp>
      <p:sp>
        <p:nvSpPr>
          <p:cNvPr id="2875" name="Shape 2875"/>
          <p:cNvSpPr/>
          <p:nvPr/>
        </p:nvSpPr>
        <p:spPr>
          <a:xfrm>
            <a:off x="5080992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z</a:t>
            </a:r>
          </a:p>
        </p:txBody>
      </p:sp>
      <p:sp>
        <p:nvSpPr>
          <p:cNvPr id="2876" name="Shape 2876"/>
          <p:cNvSpPr/>
          <p:nvPr/>
        </p:nvSpPr>
        <p:spPr>
          <a:xfrm>
            <a:off x="3687961" y="1660922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z</a:t>
            </a:r>
          </a:p>
        </p:txBody>
      </p:sp>
      <p:sp>
        <p:nvSpPr>
          <p:cNvPr id="2877" name="Shape 2877"/>
          <p:cNvSpPr/>
          <p:nvPr/>
        </p:nvSpPr>
        <p:spPr>
          <a:xfrm>
            <a:off x="4304109" y="1705570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7</a:t>
            </a:r>
          </a:p>
        </p:txBody>
      </p:sp>
      <p:sp>
        <p:nvSpPr>
          <p:cNvPr id="2878" name="Shape 2878"/>
          <p:cNvSpPr/>
          <p:nvPr/>
        </p:nvSpPr>
        <p:spPr>
          <a:xfrm>
            <a:off x="4697016" y="1705570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rgbClr val="009900"/>
                </a:solidFill>
              </a:rPr>
              <a:t>1</a:t>
            </a:r>
          </a:p>
        </p:txBody>
      </p:sp>
      <p:sp>
        <p:nvSpPr>
          <p:cNvPr id="2879" name="Shape 2879"/>
          <p:cNvSpPr/>
          <p:nvPr/>
        </p:nvSpPr>
        <p:spPr>
          <a:xfrm>
            <a:off x="5072062" y="1705570"/>
            <a:ext cx="214313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rgbClr val="009900"/>
                </a:solidFill>
              </a:rPr>
              <a:t>0</a:t>
            </a:r>
          </a:p>
        </p:txBody>
      </p:sp>
      <p:sp>
        <p:nvSpPr>
          <p:cNvPr id="2880" name="Shape 2880"/>
          <p:cNvSpPr/>
          <p:nvPr/>
        </p:nvSpPr>
        <p:spPr>
          <a:xfrm>
            <a:off x="6045399" y="4589859"/>
            <a:ext cx="2107406" cy="1625203"/>
          </a:xfrm>
          <a:prstGeom prst="rect">
            <a:avLst/>
          </a:prstGeom>
          <a:ln w="63500">
            <a:solidFill>
              <a:srgbClr val="008F00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008F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>
              <a:solidFill>
                <a:srgbClr val="009900"/>
              </a:solidFill>
            </a:endParaRPr>
          </a:p>
        </p:txBody>
      </p:sp>
      <p:sp>
        <p:nvSpPr>
          <p:cNvPr id="2881" name="Shape 2881"/>
          <p:cNvSpPr/>
          <p:nvPr/>
        </p:nvSpPr>
        <p:spPr>
          <a:xfrm>
            <a:off x="6902648" y="4607719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x</a:t>
            </a:r>
          </a:p>
        </p:txBody>
      </p:sp>
      <p:sp>
        <p:nvSpPr>
          <p:cNvPr id="2882" name="Shape 2882"/>
          <p:cNvSpPr/>
          <p:nvPr/>
        </p:nvSpPr>
        <p:spPr>
          <a:xfrm flipV="1">
            <a:off x="6107904" y="5048419"/>
            <a:ext cx="1958034" cy="655"/>
          </a:xfrm>
          <a:prstGeom prst="line">
            <a:avLst/>
          </a:prstGeom>
          <a:ln w="38100">
            <a:solidFill>
              <a:srgbClr val="008F00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>
              <a:solidFill>
                <a:srgbClr val="009900"/>
              </a:solidFill>
            </a:endParaRPr>
          </a:p>
        </p:txBody>
      </p:sp>
      <p:sp>
        <p:nvSpPr>
          <p:cNvPr id="2883" name="Shape 2883"/>
          <p:cNvSpPr/>
          <p:nvPr/>
        </p:nvSpPr>
        <p:spPr>
          <a:xfrm flipV="1">
            <a:off x="6681449" y="4688005"/>
            <a:ext cx="691" cy="1439101"/>
          </a:xfrm>
          <a:prstGeom prst="line">
            <a:avLst/>
          </a:prstGeom>
          <a:ln w="38100">
            <a:solidFill>
              <a:srgbClr val="008F00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>
              <a:solidFill>
                <a:srgbClr val="009900"/>
              </a:solidFill>
            </a:endParaRPr>
          </a:p>
        </p:txBody>
      </p:sp>
      <p:sp>
        <p:nvSpPr>
          <p:cNvPr id="2884" name="Shape 2884"/>
          <p:cNvSpPr/>
          <p:nvPr/>
        </p:nvSpPr>
        <p:spPr>
          <a:xfrm>
            <a:off x="6277570" y="5384601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y</a:t>
            </a:r>
          </a:p>
        </p:txBody>
      </p:sp>
      <p:sp>
        <p:nvSpPr>
          <p:cNvPr id="2885" name="Shape 2885"/>
          <p:cNvSpPr/>
          <p:nvPr/>
        </p:nvSpPr>
        <p:spPr>
          <a:xfrm>
            <a:off x="7277695" y="4607719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y</a:t>
            </a:r>
          </a:p>
        </p:txBody>
      </p:sp>
      <p:sp>
        <p:nvSpPr>
          <p:cNvPr id="2886" name="Shape 2886"/>
          <p:cNvSpPr/>
          <p:nvPr/>
        </p:nvSpPr>
        <p:spPr>
          <a:xfrm>
            <a:off x="7670601" y="4607719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z</a:t>
            </a:r>
          </a:p>
        </p:txBody>
      </p:sp>
      <p:sp>
        <p:nvSpPr>
          <p:cNvPr id="2887" name="Shape 2887"/>
          <p:cNvSpPr/>
          <p:nvPr/>
        </p:nvSpPr>
        <p:spPr>
          <a:xfrm>
            <a:off x="6277570" y="5715000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z</a:t>
            </a:r>
          </a:p>
        </p:txBody>
      </p:sp>
      <p:grpSp>
        <p:nvGrpSpPr>
          <p:cNvPr id="2891" name="Group 2891"/>
          <p:cNvGrpSpPr/>
          <p:nvPr/>
        </p:nvGrpSpPr>
        <p:grpSpPr>
          <a:xfrm>
            <a:off x="6893719" y="5750719"/>
            <a:ext cx="964406" cy="464344"/>
            <a:chOff x="0" y="0"/>
            <a:chExt cx="1371600" cy="660400"/>
          </a:xfrm>
        </p:grpSpPr>
        <p:sp>
          <p:nvSpPr>
            <p:cNvPr id="2888" name="Shape 2888"/>
            <p:cNvSpPr/>
            <p:nvPr/>
          </p:nvSpPr>
          <p:spPr>
            <a:xfrm>
              <a:off x="0" y="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FF93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 dirty="0">
                  <a:solidFill>
                    <a:srgbClr val="FF9900"/>
                  </a:solidFill>
                </a:rPr>
                <a:t>7</a:t>
              </a:r>
            </a:p>
          </p:txBody>
        </p:sp>
        <p:sp>
          <p:nvSpPr>
            <p:cNvPr id="2889" name="Shape 2889"/>
            <p:cNvSpPr/>
            <p:nvPr/>
          </p:nvSpPr>
          <p:spPr>
            <a:xfrm>
              <a:off x="558800" y="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9900"/>
                  </a:solidFill>
                </a:rPr>
                <a:t>1</a:t>
              </a:r>
            </a:p>
          </p:txBody>
        </p:sp>
        <p:sp>
          <p:nvSpPr>
            <p:cNvPr id="2890" name="Shape 2890"/>
            <p:cNvSpPr/>
            <p:nvPr/>
          </p:nvSpPr>
          <p:spPr>
            <a:xfrm>
              <a:off x="1092200" y="0"/>
              <a:ext cx="2794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9900"/>
                  </a:solidFill>
                </a:rPr>
                <a:t>0</a:t>
              </a:r>
            </a:p>
          </p:txBody>
        </p:sp>
      </p:grpSp>
      <p:grpSp>
        <p:nvGrpSpPr>
          <p:cNvPr id="2895" name="Group 2895"/>
          <p:cNvGrpSpPr/>
          <p:nvPr/>
        </p:nvGrpSpPr>
        <p:grpSpPr>
          <a:xfrm>
            <a:off x="6875859" y="5393531"/>
            <a:ext cx="910828" cy="473273"/>
            <a:chOff x="0" y="0"/>
            <a:chExt cx="1295400" cy="673100"/>
          </a:xfrm>
        </p:grpSpPr>
        <p:sp>
          <p:nvSpPr>
            <p:cNvPr id="2892" name="Shape 2892"/>
            <p:cNvSpPr/>
            <p:nvPr/>
          </p:nvSpPr>
          <p:spPr>
            <a:xfrm>
              <a:off x="0" y="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9900"/>
                  </a:solidFill>
                </a:rPr>
                <a:t>6</a:t>
              </a:r>
            </a:p>
          </p:txBody>
        </p:sp>
        <p:sp>
          <p:nvSpPr>
            <p:cNvPr id="2893" name="Shape 2893"/>
            <p:cNvSpPr/>
            <p:nvPr/>
          </p:nvSpPr>
          <p:spPr>
            <a:xfrm>
              <a:off x="546100" y="1270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FF93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 dirty="0">
                  <a:solidFill>
                    <a:srgbClr val="FF9900"/>
                  </a:solidFill>
                </a:rPr>
                <a:t>0</a:t>
              </a:r>
            </a:p>
          </p:txBody>
        </p:sp>
        <p:sp>
          <p:nvSpPr>
            <p:cNvPr id="2894" name="Shape 2894"/>
            <p:cNvSpPr/>
            <p:nvPr/>
          </p:nvSpPr>
          <p:spPr>
            <a:xfrm>
              <a:off x="1104900" y="0"/>
              <a:ext cx="1905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FF93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 dirty="0">
                  <a:solidFill>
                    <a:srgbClr val="FF9900"/>
                  </a:solidFill>
                </a:rPr>
                <a:t>1</a:t>
              </a:r>
            </a:p>
          </p:txBody>
        </p:sp>
      </p:grpSp>
      <p:sp>
        <p:nvSpPr>
          <p:cNvPr id="2896" name="Shape 2896"/>
          <p:cNvSpPr/>
          <p:nvPr/>
        </p:nvSpPr>
        <p:spPr>
          <a:xfrm>
            <a:off x="4277320" y="1366242"/>
            <a:ext cx="214313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rgbClr val="009900"/>
                </a:solidFill>
              </a:rPr>
              <a:t>8</a:t>
            </a:r>
          </a:p>
        </p:txBody>
      </p:sp>
      <p:sp>
        <p:nvSpPr>
          <p:cNvPr id="2897" name="Shape 2897"/>
          <p:cNvSpPr/>
          <p:nvPr/>
        </p:nvSpPr>
        <p:spPr>
          <a:xfrm>
            <a:off x="6296158" y="1818563"/>
            <a:ext cx="2152055" cy="46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>
              <a:defRPr sz="3600"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531"/>
              <a:t>routing loop!</a:t>
            </a:r>
          </a:p>
        </p:txBody>
      </p:sp>
      <p:sp>
        <p:nvSpPr>
          <p:cNvPr id="2898" name="Shape 2898"/>
          <p:cNvSpPr/>
          <p:nvPr/>
        </p:nvSpPr>
        <p:spPr>
          <a:xfrm flipV="1">
            <a:off x="4205507" y="1539271"/>
            <a:ext cx="1044506" cy="549740"/>
          </a:xfrm>
          <a:prstGeom prst="line">
            <a:avLst/>
          </a:prstGeom>
          <a:ln w="63500">
            <a:solidFill>
              <a:srgbClr val="942193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>
              <a:solidFill>
                <a:srgbClr val="FF9900"/>
              </a:solidFill>
            </a:endParaRPr>
          </a:p>
        </p:txBody>
      </p:sp>
      <p:sp>
        <p:nvSpPr>
          <p:cNvPr id="2899" name="Shape 2899"/>
          <p:cNvSpPr/>
          <p:nvPr/>
        </p:nvSpPr>
        <p:spPr>
          <a:xfrm>
            <a:off x="2249816" y="2928896"/>
            <a:ext cx="4494121" cy="7694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21" extrusionOk="0">
                <a:moveTo>
                  <a:pt x="21600" y="21038"/>
                </a:moveTo>
                <a:cubicBezTo>
                  <a:pt x="21600" y="21038"/>
                  <a:pt x="13263" y="-179"/>
                  <a:pt x="10818" y="1"/>
                </a:cubicBezTo>
                <a:cubicBezTo>
                  <a:pt x="8512" y="171"/>
                  <a:pt x="0" y="21421"/>
                  <a:pt x="0" y="21421"/>
                </a:cubicBezTo>
              </a:path>
            </a:pathLst>
          </a:custGeom>
          <a:ln w="63500">
            <a:solidFill>
              <a:srgbClr val="942193"/>
            </a:solidFill>
            <a:miter lim="400000"/>
            <a:tailEnd type="stealth"/>
          </a:ln>
        </p:spPr>
        <p:txBody>
          <a:bodyPr lIns="0" tIns="0" rIns="0" bIns="0" anchor="ctr"/>
          <a:lstStyle/>
          <a:p>
            <a:pPr lvl="0"/>
            <a:endParaRPr sz="1125"/>
          </a:p>
        </p:txBody>
      </p:sp>
      <p:sp>
        <p:nvSpPr>
          <p:cNvPr id="2900" name="Shape 2900"/>
          <p:cNvSpPr/>
          <p:nvPr/>
        </p:nvSpPr>
        <p:spPr>
          <a:xfrm>
            <a:off x="2226445" y="2734954"/>
            <a:ext cx="4604188" cy="12344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74" h="18682" extrusionOk="0">
                <a:moveTo>
                  <a:pt x="12179" y="0"/>
                </a:moveTo>
                <a:cubicBezTo>
                  <a:pt x="12179" y="0"/>
                  <a:pt x="21413" y="10286"/>
                  <a:pt x="21473" y="13935"/>
                </a:cubicBezTo>
                <a:cubicBezTo>
                  <a:pt x="21600" y="21600"/>
                  <a:pt x="0" y="17679"/>
                  <a:pt x="0" y="17679"/>
                </a:cubicBezTo>
              </a:path>
            </a:pathLst>
          </a:custGeom>
          <a:ln w="63500">
            <a:solidFill>
              <a:srgbClr val="942193"/>
            </a:solidFill>
            <a:miter lim="400000"/>
            <a:tailEnd type="stealth"/>
          </a:ln>
        </p:spPr>
        <p:txBody>
          <a:bodyPr lIns="0" tIns="0" rIns="0" bIns="0" anchor="ctr"/>
          <a:lstStyle/>
          <a:p>
            <a:pPr lvl="0"/>
            <a:endParaRPr sz="1125"/>
          </a:p>
        </p:txBody>
      </p:sp>
    </p:spTree>
    <p:extLst>
      <p:ext uri="{BB962C8B-B14F-4D97-AF65-F5344CB8AC3E}">
        <p14:creationId xmlns:p14="http://schemas.microsoft.com/office/powerpoint/2010/main" val="1877455121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6" dur="1000" fill="hold"/>
                                        <p:tgtEl>
                                          <p:spTgt spid="28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98" grpId="0" animBg="1" advAuto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4" name="Shape 2914"/>
          <p:cNvSpPr/>
          <p:nvPr/>
        </p:nvSpPr>
        <p:spPr>
          <a:xfrm>
            <a:off x="3455789" y="535781"/>
            <a:ext cx="2107406" cy="1625203"/>
          </a:xfrm>
          <a:prstGeom prst="rect">
            <a:avLst/>
          </a:prstGeom>
          <a:solidFill>
            <a:schemeClr val="bg1"/>
          </a:solidFill>
          <a:ln w="63500">
            <a:solidFill>
              <a:srgbClr val="FF9300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93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>
              <a:solidFill>
                <a:srgbClr val="FF9900"/>
              </a:solidFill>
            </a:endParaRPr>
          </a:p>
        </p:txBody>
      </p:sp>
      <p:sp>
        <p:nvSpPr>
          <p:cNvPr id="2904" name="Shape 2904"/>
          <p:cNvSpPr/>
          <p:nvPr/>
        </p:nvSpPr>
        <p:spPr>
          <a:xfrm>
            <a:off x="4705945" y="1366242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0</a:t>
            </a:r>
          </a:p>
        </p:txBody>
      </p:sp>
      <p:sp>
        <p:nvSpPr>
          <p:cNvPr id="2905" name="Shape 2905"/>
          <p:cNvSpPr/>
          <p:nvPr/>
        </p:nvSpPr>
        <p:spPr>
          <a:xfrm>
            <a:off x="5098852" y="1366242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1</a:t>
            </a:r>
          </a:p>
        </p:txBody>
      </p:sp>
      <p:sp>
        <p:nvSpPr>
          <p:cNvPr id="2906" name="Shape 2906"/>
          <p:cNvSpPr/>
          <p:nvPr/>
        </p:nvSpPr>
        <p:spPr>
          <a:xfrm>
            <a:off x="2107403" y="3821276"/>
            <a:ext cx="4865179" cy="1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907" name="Shape 2907"/>
          <p:cNvSpPr/>
          <p:nvPr/>
        </p:nvSpPr>
        <p:spPr>
          <a:xfrm>
            <a:off x="4654379" y="2812098"/>
            <a:ext cx="2320587" cy="823433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2998C1-A07B-4D45-B4E5-C290A44D509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2909" name="Shape 2909"/>
          <p:cNvSpPr/>
          <p:nvPr/>
        </p:nvSpPr>
        <p:spPr>
          <a:xfrm>
            <a:off x="1634133" y="3429000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424242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2953">
                <a:solidFill>
                  <a:schemeClr val="bg1"/>
                </a:solidFill>
              </a:rPr>
              <a:t>x</a:t>
            </a:r>
          </a:p>
        </p:txBody>
      </p:sp>
      <p:sp>
        <p:nvSpPr>
          <p:cNvPr id="2910" name="Shape 2910"/>
          <p:cNvSpPr/>
          <p:nvPr/>
        </p:nvSpPr>
        <p:spPr>
          <a:xfrm>
            <a:off x="6768703" y="3429000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008F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2953"/>
              <a:t>z</a:t>
            </a:r>
          </a:p>
        </p:txBody>
      </p:sp>
      <p:sp>
        <p:nvSpPr>
          <p:cNvPr id="2911" name="Shape 2911"/>
          <p:cNvSpPr/>
          <p:nvPr/>
        </p:nvSpPr>
        <p:spPr>
          <a:xfrm>
            <a:off x="4241602" y="2500313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FF93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2953"/>
              <a:t>y</a:t>
            </a:r>
          </a:p>
        </p:txBody>
      </p:sp>
      <p:sp>
        <p:nvSpPr>
          <p:cNvPr id="2912" name="Shape 2912"/>
          <p:cNvSpPr/>
          <p:nvPr/>
        </p:nvSpPr>
        <p:spPr>
          <a:xfrm>
            <a:off x="4375547" y="3290738"/>
            <a:ext cx="267891" cy="5265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 b="1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953"/>
              <a:t>7</a:t>
            </a:r>
          </a:p>
        </p:txBody>
      </p:sp>
      <p:sp>
        <p:nvSpPr>
          <p:cNvPr id="2913" name="Shape 2913"/>
          <p:cNvSpPr/>
          <p:nvPr/>
        </p:nvSpPr>
        <p:spPr>
          <a:xfrm>
            <a:off x="5822156" y="2661195"/>
            <a:ext cx="267891" cy="5265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 b="1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953"/>
              <a:t>1</a:t>
            </a:r>
          </a:p>
        </p:txBody>
      </p:sp>
      <p:sp>
        <p:nvSpPr>
          <p:cNvPr id="2915" name="Shape 2915"/>
          <p:cNvSpPr/>
          <p:nvPr/>
        </p:nvSpPr>
        <p:spPr>
          <a:xfrm>
            <a:off x="4313039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x</a:t>
            </a:r>
          </a:p>
        </p:txBody>
      </p:sp>
      <p:sp>
        <p:nvSpPr>
          <p:cNvPr id="2916" name="Shape 2916"/>
          <p:cNvSpPr/>
          <p:nvPr/>
        </p:nvSpPr>
        <p:spPr>
          <a:xfrm flipV="1">
            <a:off x="3518294" y="994341"/>
            <a:ext cx="1958034" cy="655"/>
          </a:xfrm>
          <a:prstGeom prst="line">
            <a:avLst/>
          </a:prstGeom>
          <a:ln w="38100">
            <a:solidFill>
              <a:srgbClr val="FF9300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>
              <a:solidFill>
                <a:srgbClr val="FF9900"/>
              </a:solidFill>
            </a:endParaRPr>
          </a:p>
        </p:txBody>
      </p:sp>
      <p:sp>
        <p:nvSpPr>
          <p:cNvPr id="2917" name="Shape 2917"/>
          <p:cNvSpPr/>
          <p:nvPr/>
        </p:nvSpPr>
        <p:spPr>
          <a:xfrm flipV="1">
            <a:off x="4091840" y="633926"/>
            <a:ext cx="691" cy="1439101"/>
          </a:xfrm>
          <a:prstGeom prst="line">
            <a:avLst/>
          </a:prstGeom>
          <a:ln w="38100">
            <a:solidFill>
              <a:srgbClr val="FF9300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>
              <a:solidFill>
                <a:srgbClr val="FF9900"/>
              </a:solidFill>
            </a:endParaRPr>
          </a:p>
        </p:txBody>
      </p:sp>
      <p:sp>
        <p:nvSpPr>
          <p:cNvPr id="2918" name="Shape 2918"/>
          <p:cNvSpPr/>
          <p:nvPr/>
        </p:nvSpPr>
        <p:spPr>
          <a:xfrm>
            <a:off x="3687961" y="1330523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y</a:t>
            </a:r>
          </a:p>
        </p:txBody>
      </p:sp>
      <p:sp>
        <p:nvSpPr>
          <p:cNvPr id="2919" name="Shape 2919"/>
          <p:cNvSpPr/>
          <p:nvPr/>
        </p:nvSpPr>
        <p:spPr>
          <a:xfrm>
            <a:off x="4688086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y</a:t>
            </a:r>
          </a:p>
        </p:txBody>
      </p:sp>
      <p:sp>
        <p:nvSpPr>
          <p:cNvPr id="2920" name="Shape 2920"/>
          <p:cNvSpPr/>
          <p:nvPr/>
        </p:nvSpPr>
        <p:spPr>
          <a:xfrm>
            <a:off x="5080992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z</a:t>
            </a:r>
          </a:p>
        </p:txBody>
      </p:sp>
      <p:sp>
        <p:nvSpPr>
          <p:cNvPr id="2921" name="Shape 2921"/>
          <p:cNvSpPr/>
          <p:nvPr/>
        </p:nvSpPr>
        <p:spPr>
          <a:xfrm>
            <a:off x="3687961" y="1660922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z</a:t>
            </a:r>
          </a:p>
        </p:txBody>
      </p:sp>
      <p:sp>
        <p:nvSpPr>
          <p:cNvPr id="2922" name="Shape 2922"/>
          <p:cNvSpPr/>
          <p:nvPr/>
        </p:nvSpPr>
        <p:spPr>
          <a:xfrm>
            <a:off x="4304109" y="1705570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7</a:t>
            </a:r>
          </a:p>
        </p:txBody>
      </p:sp>
      <p:sp>
        <p:nvSpPr>
          <p:cNvPr id="2923" name="Shape 2923"/>
          <p:cNvSpPr/>
          <p:nvPr/>
        </p:nvSpPr>
        <p:spPr>
          <a:xfrm>
            <a:off x="4697016" y="1705570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1</a:t>
            </a:r>
          </a:p>
        </p:txBody>
      </p:sp>
      <p:sp>
        <p:nvSpPr>
          <p:cNvPr id="2924" name="Shape 2924"/>
          <p:cNvSpPr/>
          <p:nvPr/>
        </p:nvSpPr>
        <p:spPr>
          <a:xfrm>
            <a:off x="5072062" y="1705570"/>
            <a:ext cx="214313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0</a:t>
            </a:r>
          </a:p>
        </p:txBody>
      </p:sp>
      <p:sp>
        <p:nvSpPr>
          <p:cNvPr id="2925" name="Shape 2925"/>
          <p:cNvSpPr/>
          <p:nvPr/>
        </p:nvSpPr>
        <p:spPr>
          <a:xfrm>
            <a:off x="6045399" y="4589859"/>
            <a:ext cx="2107406" cy="1625203"/>
          </a:xfrm>
          <a:prstGeom prst="rect">
            <a:avLst/>
          </a:prstGeom>
          <a:ln w="63500">
            <a:solidFill>
              <a:srgbClr val="008F00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008F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>
              <a:solidFill>
                <a:srgbClr val="009900"/>
              </a:solidFill>
            </a:endParaRPr>
          </a:p>
        </p:txBody>
      </p:sp>
      <p:sp>
        <p:nvSpPr>
          <p:cNvPr id="2926" name="Shape 2926"/>
          <p:cNvSpPr/>
          <p:nvPr/>
        </p:nvSpPr>
        <p:spPr>
          <a:xfrm>
            <a:off x="6902648" y="4607719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x</a:t>
            </a:r>
          </a:p>
        </p:txBody>
      </p:sp>
      <p:sp>
        <p:nvSpPr>
          <p:cNvPr id="2927" name="Shape 2927"/>
          <p:cNvSpPr/>
          <p:nvPr/>
        </p:nvSpPr>
        <p:spPr>
          <a:xfrm flipV="1">
            <a:off x="6107904" y="5048419"/>
            <a:ext cx="1958034" cy="655"/>
          </a:xfrm>
          <a:prstGeom prst="line">
            <a:avLst/>
          </a:prstGeom>
          <a:ln w="38100">
            <a:solidFill>
              <a:srgbClr val="008F00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>
              <a:solidFill>
                <a:srgbClr val="009900"/>
              </a:solidFill>
            </a:endParaRPr>
          </a:p>
        </p:txBody>
      </p:sp>
      <p:sp>
        <p:nvSpPr>
          <p:cNvPr id="2928" name="Shape 2928"/>
          <p:cNvSpPr/>
          <p:nvPr/>
        </p:nvSpPr>
        <p:spPr>
          <a:xfrm flipV="1">
            <a:off x="6681449" y="4688005"/>
            <a:ext cx="691" cy="1439101"/>
          </a:xfrm>
          <a:prstGeom prst="line">
            <a:avLst/>
          </a:prstGeom>
          <a:ln w="38100">
            <a:solidFill>
              <a:srgbClr val="008F00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>
              <a:solidFill>
                <a:srgbClr val="009900"/>
              </a:solidFill>
            </a:endParaRPr>
          </a:p>
        </p:txBody>
      </p:sp>
      <p:sp>
        <p:nvSpPr>
          <p:cNvPr id="2929" name="Shape 2929"/>
          <p:cNvSpPr/>
          <p:nvPr/>
        </p:nvSpPr>
        <p:spPr>
          <a:xfrm>
            <a:off x="6277570" y="5384601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y</a:t>
            </a:r>
          </a:p>
        </p:txBody>
      </p:sp>
      <p:sp>
        <p:nvSpPr>
          <p:cNvPr id="2930" name="Shape 2930"/>
          <p:cNvSpPr/>
          <p:nvPr/>
        </p:nvSpPr>
        <p:spPr>
          <a:xfrm>
            <a:off x="7277695" y="4607719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y</a:t>
            </a:r>
          </a:p>
        </p:txBody>
      </p:sp>
      <p:sp>
        <p:nvSpPr>
          <p:cNvPr id="2931" name="Shape 2931"/>
          <p:cNvSpPr/>
          <p:nvPr/>
        </p:nvSpPr>
        <p:spPr>
          <a:xfrm>
            <a:off x="7670601" y="4607719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z</a:t>
            </a:r>
          </a:p>
        </p:txBody>
      </p:sp>
      <p:sp>
        <p:nvSpPr>
          <p:cNvPr id="2932" name="Shape 2932"/>
          <p:cNvSpPr/>
          <p:nvPr/>
        </p:nvSpPr>
        <p:spPr>
          <a:xfrm>
            <a:off x="6277570" y="5715000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z</a:t>
            </a:r>
          </a:p>
        </p:txBody>
      </p:sp>
      <p:grpSp>
        <p:nvGrpSpPr>
          <p:cNvPr id="2936" name="Group 2936"/>
          <p:cNvGrpSpPr/>
          <p:nvPr/>
        </p:nvGrpSpPr>
        <p:grpSpPr>
          <a:xfrm>
            <a:off x="6893719" y="5750719"/>
            <a:ext cx="964406" cy="464344"/>
            <a:chOff x="0" y="0"/>
            <a:chExt cx="1371600" cy="660400"/>
          </a:xfrm>
        </p:grpSpPr>
        <p:sp>
          <p:nvSpPr>
            <p:cNvPr id="2933" name="Shape 2933"/>
            <p:cNvSpPr/>
            <p:nvPr/>
          </p:nvSpPr>
          <p:spPr>
            <a:xfrm>
              <a:off x="0" y="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FF93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 dirty="0">
                  <a:solidFill>
                    <a:srgbClr val="FF9900"/>
                  </a:solidFill>
                </a:rPr>
                <a:t>7</a:t>
              </a:r>
            </a:p>
          </p:txBody>
        </p:sp>
        <p:sp>
          <p:nvSpPr>
            <p:cNvPr id="2934" name="Shape 2934"/>
            <p:cNvSpPr/>
            <p:nvPr/>
          </p:nvSpPr>
          <p:spPr>
            <a:xfrm>
              <a:off x="558800" y="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9900"/>
                  </a:solidFill>
                </a:rPr>
                <a:t>1</a:t>
              </a:r>
            </a:p>
          </p:txBody>
        </p:sp>
        <p:sp>
          <p:nvSpPr>
            <p:cNvPr id="2935" name="Shape 2935"/>
            <p:cNvSpPr/>
            <p:nvPr/>
          </p:nvSpPr>
          <p:spPr>
            <a:xfrm>
              <a:off x="1092200" y="0"/>
              <a:ext cx="2794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9900"/>
                  </a:solidFill>
                </a:rPr>
                <a:t>0</a:t>
              </a:r>
            </a:p>
          </p:txBody>
        </p:sp>
      </p:grpSp>
      <p:grpSp>
        <p:nvGrpSpPr>
          <p:cNvPr id="2940" name="Group 2940"/>
          <p:cNvGrpSpPr/>
          <p:nvPr/>
        </p:nvGrpSpPr>
        <p:grpSpPr>
          <a:xfrm>
            <a:off x="6875859" y="5393531"/>
            <a:ext cx="910828" cy="473273"/>
            <a:chOff x="0" y="0"/>
            <a:chExt cx="1295400" cy="673100"/>
          </a:xfrm>
        </p:grpSpPr>
        <p:sp>
          <p:nvSpPr>
            <p:cNvPr id="2937" name="Shape 2937"/>
            <p:cNvSpPr/>
            <p:nvPr/>
          </p:nvSpPr>
          <p:spPr>
            <a:xfrm>
              <a:off x="0" y="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9900"/>
                  </a:solidFill>
                </a:rPr>
                <a:t>8</a:t>
              </a:r>
            </a:p>
          </p:txBody>
        </p:sp>
        <p:sp>
          <p:nvSpPr>
            <p:cNvPr id="2938" name="Shape 2938"/>
            <p:cNvSpPr/>
            <p:nvPr/>
          </p:nvSpPr>
          <p:spPr>
            <a:xfrm>
              <a:off x="546100" y="1270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FF93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 dirty="0">
                  <a:solidFill>
                    <a:srgbClr val="FF9900"/>
                  </a:solidFill>
                </a:rPr>
                <a:t>0</a:t>
              </a:r>
            </a:p>
          </p:txBody>
        </p:sp>
        <p:sp>
          <p:nvSpPr>
            <p:cNvPr id="2939" name="Shape 2939"/>
            <p:cNvSpPr/>
            <p:nvPr/>
          </p:nvSpPr>
          <p:spPr>
            <a:xfrm>
              <a:off x="1104900" y="0"/>
              <a:ext cx="1905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FF93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 dirty="0">
                  <a:solidFill>
                    <a:srgbClr val="FF9900"/>
                  </a:solidFill>
                </a:rPr>
                <a:t>1</a:t>
              </a:r>
            </a:p>
          </p:txBody>
        </p:sp>
      </p:grpSp>
      <p:sp>
        <p:nvSpPr>
          <p:cNvPr id="2941" name="Shape 2941"/>
          <p:cNvSpPr/>
          <p:nvPr/>
        </p:nvSpPr>
        <p:spPr>
          <a:xfrm>
            <a:off x="4277320" y="1366242"/>
            <a:ext cx="214313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rgbClr val="009900"/>
                </a:solidFill>
              </a:rPr>
              <a:t>8</a:t>
            </a:r>
          </a:p>
        </p:txBody>
      </p:sp>
      <p:sp>
        <p:nvSpPr>
          <p:cNvPr id="2942" name="Shape 2942"/>
          <p:cNvSpPr/>
          <p:nvPr/>
        </p:nvSpPr>
        <p:spPr>
          <a:xfrm>
            <a:off x="6296158" y="1818563"/>
            <a:ext cx="2152055" cy="46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>
              <a:defRPr sz="3600"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531"/>
              <a:t>routing loop!</a:t>
            </a:r>
          </a:p>
        </p:txBody>
      </p:sp>
      <p:sp>
        <p:nvSpPr>
          <p:cNvPr id="2943" name="Shape 2943"/>
          <p:cNvSpPr/>
          <p:nvPr/>
        </p:nvSpPr>
        <p:spPr>
          <a:xfrm>
            <a:off x="6830513" y="5552369"/>
            <a:ext cx="632201" cy="590971"/>
          </a:xfrm>
          <a:prstGeom prst="line">
            <a:avLst/>
          </a:prstGeom>
          <a:ln w="63500">
            <a:solidFill>
              <a:srgbClr val="942193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>
              <a:solidFill>
                <a:srgbClr val="009900"/>
              </a:solidFill>
            </a:endParaRPr>
          </a:p>
        </p:txBody>
      </p:sp>
      <p:sp>
        <p:nvSpPr>
          <p:cNvPr id="2944" name="Shape 2944"/>
          <p:cNvSpPr/>
          <p:nvPr/>
        </p:nvSpPr>
        <p:spPr>
          <a:xfrm>
            <a:off x="2249816" y="2928896"/>
            <a:ext cx="4494121" cy="7694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21" extrusionOk="0">
                <a:moveTo>
                  <a:pt x="21600" y="21038"/>
                </a:moveTo>
                <a:cubicBezTo>
                  <a:pt x="21600" y="21038"/>
                  <a:pt x="13263" y="-179"/>
                  <a:pt x="10818" y="1"/>
                </a:cubicBezTo>
                <a:cubicBezTo>
                  <a:pt x="8512" y="171"/>
                  <a:pt x="0" y="21421"/>
                  <a:pt x="0" y="21421"/>
                </a:cubicBezTo>
              </a:path>
            </a:pathLst>
          </a:custGeom>
          <a:ln w="63500">
            <a:solidFill>
              <a:srgbClr val="942193"/>
            </a:solidFill>
            <a:miter lim="400000"/>
            <a:tailEnd type="stealth"/>
          </a:ln>
        </p:spPr>
        <p:txBody>
          <a:bodyPr lIns="0" tIns="0" rIns="0" bIns="0" anchor="ctr"/>
          <a:lstStyle/>
          <a:p>
            <a:pPr lvl="0"/>
            <a:endParaRPr sz="1125"/>
          </a:p>
        </p:txBody>
      </p:sp>
      <p:sp>
        <p:nvSpPr>
          <p:cNvPr id="2945" name="Shape 2945"/>
          <p:cNvSpPr/>
          <p:nvPr/>
        </p:nvSpPr>
        <p:spPr>
          <a:xfrm>
            <a:off x="2226445" y="2734954"/>
            <a:ext cx="4604188" cy="12344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74" h="18682" extrusionOk="0">
                <a:moveTo>
                  <a:pt x="12179" y="0"/>
                </a:moveTo>
                <a:cubicBezTo>
                  <a:pt x="12179" y="0"/>
                  <a:pt x="21413" y="10286"/>
                  <a:pt x="21473" y="13935"/>
                </a:cubicBezTo>
                <a:cubicBezTo>
                  <a:pt x="21600" y="21600"/>
                  <a:pt x="0" y="17679"/>
                  <a:pt x="0" y="17679"/>
                </a:cubicBezTo>
              </a:path>
            </a:pathLst>
          </a:custGeom>
          <a:ln w="63500">
            <a:solidFill>
              <a:srgbClr val="942193"/>
            </a:solidFill>
            <a:miter lim="400000"/>
            <a:tailEnd type="stealth"/>
          </a:ln>
        </p:spPr>
        <p:txBody>
          <a:bodyPr lIns="0" tIns="0" rIns="0" bIns="0" anchor="ctr"/>
          <a:lstStyle/>
          <a:p>
            <a:pPr lvl="0"/>
            <a:endParaRPr sz="1125"/>
          </a:p>
        </p:txBody>
      </p:sp>
    </p:spTree>
    <p:extLst>
      <p:ext uri="{BB962C8B-B14F-4D97-AF65-F5344CB8AC3E}">
        <p14:creationId xmlns:p14="http://schemas.microsoft.com/office/powerpoint/2010/main" val="2049559558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7" dur="1000"/>
                                        <p:tgtEl>
                                          <p:spTgt spid="2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43" grpId="0" animBg="1" advAuto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9" name="Shape 2959"/>
          <p:cNvSpPr/>
          <p:nvPr/>
        </p:nvSpPr>
        <p:spPr>
          <a:xfrm>
            <a:off x="3455789" y="535781"/>
            <a:ext cx="2107406" cy="1625203"/>
          </a:xfrm>
          <a:prstGeom prst="rect">
            <a:avLst/>
          </a:prstGeom>
          <a:solidFill>
            <a:schemeClr val="bg1"/>
          </a:solidFill>
          <a:ln w="63500">
            <a:solidFill>
              <a:srgbClr val="FF9300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93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>
              <a:solidFill>
                <a:srgbClr val="FF9900"/>
              </a:solidFill>
            </a:endParaRPr>
          </a:p>
        </p:txBody>
      </p:sp>
      <p:sp>
        <p:nvSpPr>
          <p:cNvPr id="2949" name="Shape 2949"/>
          <p:cNvSpPr/>
          <p:nvPr/>
        </p:nvSpPr>
        <p:spPr>
          <a:xfrm>
            <a:off x="4705945" y="1366242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0</a:t>
            </a:r>
          </a:p>
        </p:txBody>
      </p:sp>
      <p:sp>
        <p:nvSpPr>
          <p:cNvPr id="2950" name="Shape 2950"/>
          <p:cNvSpPr/>
          <p:nvPr/>
        </p:nvSpPr>
        <p:spPr>
          <a:xfrm>
            <a:off x="5098852" y="1366242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1</a:t>
            </a:r>
          </a:p>
        </p:txBody>
      </p:sp>
      <p:sp>
        <p:nvSpPr>
          <p:cNvPr id="2951" name="Shape 2951"/>
          <p:cNvSpPr/>
          <p:nvPr/>
        </p:nvSpPr>
        <p:spPr>
          <a:xfrm>
            <a:off x="2107403" y="3821276"/>
            <a:ext cx="4865179" cy="1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952" name="Shape 2952"/>
          <p:cNvSpPr/>
          <p:nvPr/>
        </p:nvSpPr>
        <p:spPr>
          <a:xfrm>
            <a:off x="4654379" y="2812098"/>
            <a:ext cx="2320587" cy="823433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60FD90-8C9E-4E41-B36A-9783E8222FA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2954" name="Shape 2954"/>
          <p:cNvSpPr/>
          <p:nvPr/>
        </p:nvSpPr>
        <p:spPr>
          <a:xfrm>
            <a:off x="1634133" y="3429000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424242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2953">
                <a:solidFill>
                  <a:schemeClr val="bg1"/>
                </a:solidFill>
              </a:rPr>
              <a:t>x</a:t>
            </a:r>
          </a:p>
        </p:txBody>
      </p:sp>
      <p:sp>
        <p:nvSpPr>
          <p:cNvPr id="2955" name="Shape 2955"/>
          <p:cNvSpPr/>
          <p:nvPr/>
        </p:nvSpPr>
        <p:spPr>
          <a:xfrm>
            <a:off x="6768703" y="3429000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008F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2953"/>
              <a:t>z</a:t>
            </a:r>
          </a:p>
        </p:txBody>
      </p:sp>
      <p:sp>
        <p:nvSpPr>
          <p:cNvPr id="2956" name="Shape 2956"/>
          <p:cNvSpPr/>
          <p:nvPr/>
        </p:nvSpPr>
        <p:spPr>
          <a:xfrm>
            <a:off x="4241602" y="2500313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FF93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2953"/>
              <a:t>y</a:t>
            </a:r>
          </a:p>
        </p:txBody>
      </p:sp>
      <p:sp>
        <p:nvSpPr>
          <p:cNvPr id="2957" name="Shape 2957"/>
          <p:cNvSpPr/>
          <p:nvPr/>
        </p:nvSpPr>
        <p:spPr>
          <a:xfrm>
            <a:off x="4375547" y="3290738"/>
            <a:ext cx="267891" cy="5265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 b="1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953"/>
              <a:t>7</a:t>
            </a:r>
          </a:p>
        </p:txBody>
      </p:sp>
      <p:sp>
        <p:nvSpPr>
          <p:cNvPr id="2958" name="Shape 2958"/>
          <p:cNvSpPr/>
          <p:nvPr/>
        </p:nvSpPr>
        <p:spPr>
          <a:xfrm>
            <a:off x="5822156" y="2661195"/>
            <a:ext cx="267891" cy="5265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 b="1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953"/>
              <a:t>1</a:t>
            </a:r>
          </a:p>
        </p:txBody>
      </p:sp>
      <p:sp>
        <p:nvSpPr>
          <p:cNvPr id="2960" name="Shape 2960"/>
          <p:cNvSpPr/>
          <p:nvPr/>
        </p:nvSpPr>
        <p:spPr>
          <a:xfrm>
            <a:off x="4313039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x</a:t>
            </a:r>
          </a:p>
        </p:txBody>
      </p:sp>
      <p:sp>
        <p:nvSpPr>
          <p:cNvPr id="2961" name="Shape 2961"/>
          <p:cNvSpPr/>
          <p:nvPr/>
        </p:nvSpPr>
        <p:spPr>
          <a:xfrm flipV="1">
            <a:off x="3518294" y="994341"/>
            <a:ext cx="1958034" cy="655"/>
          </a:xfrm>
          <a:prstGeom prst="line">
            <a:avLst/>
          </a:prstGeom>
          <a:ln w="38100">
            <a:solidFill>
              <a:srgbClr val="FF9300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>
              <a:solidFill>
                <a:srgbClr val="FF9900"/>
              </a:solidFill>
            </a:endParaRPr>
          </a:p>
        </p:txBody>
      </p:sp>
      <p:sp>
        <p:nvSpPr>
          <p:cNvPr id="2962" name="Shape 2962"/>
          <p:cNvSpPr/>
          <p:nvPr/>
        </p:nvSpPr>
        <p:spPr>
          <a:xfrm flipV="1">
            <a:off x="4091840" y="633926"/>
            <a:ext cx="691" cy="1439101"/>
          </a:xfrm>
          <a:prstGeom prst="line">
            <a:avLst/>
          </a:prstGeom>
          <a:ln w="38100">
            <a:solidFill>
              <a:srgbClr val="FF9300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>
              <a:solidFill>
                <a:srgbClr val="FF9900"/>
              </a:solidFill>
            </a:endParaRPr>
          </a:p>
        </p:txBody>
      </p:sp>
      <p:sp>
        <p:nvSpPr>
          <p:cNvPr id="2963" name="Shape 2963"/>
          <p:cNvSpPr/>
          <p:nvPr/>
        </p:nvSpPr>
        <p:spPr>
          <a:xfrm>
            <a:off x="3687961" y="1330523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y</a:t>
            </a:r>
          </a:p>
        </p:txBody>
      </p:sp>
      <p:sp>
        <p:nvSpPr>
          <p:cNvPr id="2964" name="Shape 2964"/>
          <p:cNvSpPr/>
          <p:nvPr/>
        </p:nvSpPr>
        <p:spPr>
          <a:xfrm>
            <a:off x="4688086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y</a:t>
            </a:r>
          </a:p>
        </p:txBody>
      </p:sp>
      <p:sp>
        <p:nvSpPr>
          <p:cNvPr id="2965" name="Shape 2965"/>
          <p:cNvSpPr/>
          <p:nvPr/>
        </p:nvSpPr>
        <p:spPr>
          <a:xfrm>
            <a:off x="5080992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z</a:t>
            </a:r>
          </a:p>
        </p:txBody>
      </p:sp>
      <p:sp>
        <p:nvSpPr>
          <p:cNvPr id="2966" name="Shape 2966"/>
          <p:cNvSpPr/>
          <p:nvPr/>
        </p:nvSpPr>
        <p:spPr>
          <a:xfrm>
            <a:off x="3687961" y="1660922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z</a:t>
            </a:r>
          </a:p>
        </p:txBody>
      </p:sp>
      <p:sp>
        <p:nvSpPr>
          <p:cNvPr id="2967" name="Shape 2967"/>
          <p:cNvSpPr/>
          <p:nvPr/>
        </p:nvSpPr>
        <p:spPr>
          <a:xfrm>
            <a:off x="4304109" y="1705570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7</a:t>
            </a:r>
          </a:p>
        </p:txBody>
      </p:sp>
      <p:sp>
        <p:nvSpPr>
          <p:cNvPr id="2968" name="Shape 2968"/>
          <p:cNvSpPr/>
          <p:nvPr/>
        </p:nvSpPr>
        <p:spPr>
          <a:xfrm>
            <a:off x="4697016" y="1705570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rgbClr val="009900"/>
                </a:solidFill>
              </a:rPr>
              <a:t>1</a:t>
            </a:r>
          </a:p>
        </p:txBody>
      </p:sp>
      <p:sp>
        <p:nvSpPr>
          <p:cNvPr id="2969" name="Shape 2969"/>
          <p:cNvSpPr/>
          <p:nvPr/>
        </p:nvSpPr>
        <p:spPr>
          <a:xfrm>
            <a:off x="5072062" y="1705570"/>
            <a:ext cx="214313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rgbClr val="009900"/>
                </a:solidFill>
              </a:rPr>
              <a:t>0</a:t>
            </a:r>
          </a:p>
        </p:txBody>
      </p:sp>
      <p:sp>
        <p:nvSpPr>
          <p:cNvPr id="2970" name="Shape 2970"/>
          <p:cNvSpPr/>
          <p:nvPr/>
        </p:nvSpPr>
        <p:spPr>
          <a:xfrm>
            <a:off x="6045399" y="4589859"/>
            <a:ext cx="2107406" cy="1625203"/>
          </a:xfrm>
          <a:prstGeom prst="rect">
            <a:avLst/>
          </a:prstGeom>
          <a:ln w="63500">
            <a:solidFill>
              <a:srgbClr val="008F00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008F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>
              <a:solidFill>
                <a:srgbClr val="009900"/>
              </a:solidFill>
            </a:endParaRPr>
          </a:p>
        </p:txBody>
      </p:sp>
      <p:sp>
        <p:nvSpPr>
          <p:cNvPr id="2971" name="Shape 2971"/>
          <p:cNvSpPr/>
          <p:nvPr/>
        </p:nvSpPr>
        <p:spPr>
          <a:xfrm>
            <a:off x="6902648" y="4607719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x</a:t>
            </a:r>
          </a:p>
        </p:txBody>
      </p:sp>
      <p:sp>
        <p:nvSpPr>
          <p:cNvPr id="2972" name="Shape 2972"/>
          <p:cNvSpPr/>
          <p:nvPr/>
        </p:nvSpPr>
        <p:spPr>
          <a:xfrm flipV="1">
            <a:off x="6107904" y="5048419"/>
            <a:ext cx="1958034" cy="655"/>
          </a:xfrm>
          <a:prstGeom prst="line">
            <a:avLst/>
          </a:prstGeom>
          <a:ln w="38100">
            <a:solidFill>
              <a:srgbClr val="008F00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>
              <a:solidFill>
                <a:srgbClr val="009900"/>
              </a:solidFill>
            </a:endParaRPr>
          </a:p>
        </p:txBody>
      </p:sp>
      <p:sp>
        <p:nvSpPr>
          <p:cNvPr id="2973" name="Shape 2973"/>
          <p:cNvSpPr/>
          <p:nvPr/>
        </p:nvSpPr>
        <p:spPr>
          <a:xfrm flipV="1">
            <a:off x="6681449" y="4688005"/>
            <a:ext cx="691" cy="1439101"/>
          </a:xfrm>
          <a:prstGeom prst="line">
            <a:avLst/>
          </a:prstGeom>
          <a:ln w="38100">
            <a:solidFill>
              <a:srgbClr val="008F00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>
              <a:solidFill>
                <a:srgbClr val="009900"/>
              </a:solidFill>
            </a:endParaRPr>
          </a:p>
        </p:txBody>
      </p:sp>
      <p:sp>
        <p:nvSpPr>
          <p:cNvPr id="2974" name="Shape 2974"/>
          <p:cNvSpPr/>
          <p:nvPr/>
        </p:nvSpPr>
        <p:spPr>
          <a:xfrm>
            <a:off x="6277570" y="5384601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y</a:t>
            </a:r>
          </a:p>
        </p:txBody>
      </p:sp>
      <p:sp>
        <p:nvSpPr>
          <p:cNvPr id="2975" name="Shape 2975"/>
          <p:cNvSpPr/>
          <p:nvPr/>
        </p:nvSpPr>
        <p:spPr>
          <a:xfrm>
            <a:off x="7277695" y="4607719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y</a:t>
            </a:r>
          </a:p>
        </p:txBody>
      </p:sp>
      <p:sp>
        <p:nvSpPr>
          <p:cNvPr id="2976" name="Shape 2976"/>
          <p:cNvSpPr/>
          <p:nvPr/>
        </p:nvSpPr>
        <p:spPr>
          <a:xfrm>
            <a:off x="7670601" y="4607719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z</a:t>
            </a:r>
          </a:p>
        </p:txBody>
      </p:sp>
      <p:sp>
        <p:nvSpPr>
          <p:cNvPr id="2977" name="Shape 2977"/>
          <p:cNvSpPr/>
          <p:nvPr/>
        </p:nvSpPr>
        <p:spPr>
          <a:xfrm>
            <a:off x="6277570" y="5715000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z</a:t>
            </a:r>
          </a:p>
        </p:txBody>
      </p:sp>
      <p:grpSp>
        <p:nvGrpSpPr>
          <p:cNvPr id="2981" name="Group 2981"/>
          <p:cNvGrpSpPr/>
          <p:nvPr/>
        </p:nvGrpSpPr>
        <p:grpSpPr>
          <a:xfrm>
            <a:off x="6893719" y="5750719"/>
            <a:ext cx="964406" cy="464344"/>
            <a:chOff x="0" y="0"/>
            <a:chExt cx="1371600" cy="660400"/>
          </a:xfrm>
        </p:grpSpPr>
        <p:sp>
          <p:nvSpPr>
            <p:cNvPr id="2978" name="Shape 2978"/>
            <p:cNvSpPr/>
            <p:nvPr/>
          </p:nvSpPr>
          <p:spPr>
            <a:xfrm>
              <a:off x="0" y="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9900"/>
                  </a:solidFill>
                </a:rPr>
                <a:t>7</a:t>
              </a:r>
            </a:p>
          </p:txBody>
        </p:sp>
        <p:sp>
          <p:nvSpPr>
            <p:cNvPr id="2979" name="Shape 2979"/>
            <p:cNvSpPr/>
            <p:nvPr/>
          </p:nvSpPr>
          <p:spPr>
            <a:xfrm>
              <a:off x="558800" y="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9900"/>
                  </a:solidFill>
                </a:rPr>
                <a:t>1</a:t>
              </a:r>
            </a:p>
          </p:txBody>
        </p:sp>
        <p:sp>
          <p:nvSpPr>
            <p:cNvPr id="2980" name="Shape 2980"/>
            <p:cNvSpPr/>
            <p:nvPr/>
          </p:nvSpPr>
          <p:spPr>
            <a:xfrm>
              <a:off x="1092200" y="0"/>
              <a:ext cx="2794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9900"/>
                  </a:solidFill>
                </a:rPr>
                <a:t>0</a:t>
              </a:r>
            </a:p>
          </p:txBody>
        </p:sp>
      </p:grpSp>
      <p:grpSp>
        <p:nvGrpSpPr>
          <p:cNvPr id="2985" name="Group 2985"/>
          <p:cNvGrpSpPr/>
          <p:nvPr/>
        </p:nvGrpSpPr>
        <p:grpSpPr>
          <a:xfrm>
            <a:off x="6875859" y="5393531"/>
            <a:ext cx="910828" cy="473273"/>
            <a:chOff x="0" y="0"/>
            <a:chExt cx="1295400" cy="673100"/>
          </a:xfrm>
        </p:grpSpPr>
        <p:sp>
          <p:nvSpPr>
            <p:cNvPr id="2982" name="Shape 2982"/>
            <p:cNvSpPr/>
            <p:nvPr/>
          </p:nvSpPr>
          <p:spPr>
            <a:xfrm>
              <a:off x="0" y="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9900"/>
                  </a:solidFill>
                </a:rPr>
                <a:t>8</a:t>
              </a:r>
            </a:p>
          </p:txBody>
        </p:sp>
        <p:sp>
          <p:nvSpPr>
            <p:cNvPr id="2983" name="Shape 2983"/>
            <p:cNvSpPr/>
            <p:nvPr/>
          </p:nvSpPr>
          <p:spPr>
            <a:xfrm>
              <a:off x="546100" y="1270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FF93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 dirty="0">
                  <a:solidFill>
                    <a:srgbClr val="FF9900"/>
                  </a:solidFill>
                </a:rPr>
                <a:t>0</a:t>
              </a:r>
            </a:p>
          </p:txBody>
        </p:sp>
        <p:sp>
          <p:nvSpPr>
            <p:cNvPr id="2984" name="Shape 2984"/>
            <p:cNvSpPr/>
            <p:nvPr/>
          </p:nvSpPr>
          <p:spPr>
            <a:xfrm>
              <a:off x="1104900" y="0"/>
              <a:ext cx="1905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FF93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 dirty="0">
                  <a:solidFill>
                    <a:srgbClr val="FF9900"/>
                  </a:solidFill>
                </a:rPr>
                <a:t>1</a:t>
              </a:r>
            </a:p>
          </p:txBody>
        </p:sp>
      </p:grpSp>
      <p:sp>
        <p:nvSpPr>
          <p:cNvPr id="2986" name="Shape 2986"/>
          <p:cNvSpPr/>
          <p:nvPr/>
        </p:nvSpPr>
        <p:spPr>
          <a:xfrm>
            <a:off x="4277320" y="1366242"/>
            <a:ext cx="214313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rgbClr val="009900"/>
                </a:solidFill>
              </a:rPr>
              <a:t>8</a:t>
            </a:r>
          </a:p>
        </p:txBody>
      </p:sp>
      <p:sp>
        <p:nvSpPr>
          <p:cNvPr id="2987" name="Shape 2987"/>
          <p:cNvSpPr/>
          <p:nvPr/>
        </p:nvSpPr>
        <p:spPr>
          <a:xfrm>
            <a:off x="6296158" y="1818563"/>
            <a:ext cx="2152055" cy="46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>
              <a:defRPr sz="3600"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531"/>
              <a:t>routing loop!</a:t>
            </a:r>
          </a:p>
        </p:txBody>
      </p:sp>
      <p:sp>
        <p:nvSpPr>
          <p:cNvPr id="2988" name="Shape 2988"/>
          <p:cNvSpPr/>
          <p:nvPr/>
        </p:nvSpPr>
        <p:spPr>
          <a:xfrm flipH="1" flipV="1">
            <a:off x="2259208" y="3711014"/>
            <a:ext cx="4470989" cy="2"/>
          </a:xfrm>
          <a:prstGeom prst="line">
            <a:avLst/>
          </a:prstGeom>
          <a:ln w="63500">
            <a:solidFill>
              <a:srgbClr val="942193"/>
            </a:solidFill>
            <a:miter lim="400000"/>
            <a:tailEnd type="stealth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989" name="Shape 2989"/>
          <p:cNvSpPr/>
          <p:nvPr/>
        </p:nvSpPr>
        <p:spPr>
          <a:xfrm>
            <a:off x="2249816" y="2928896"/>
            <a:ext cx="4494121" cy="7694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21" extrusionOk="0">
                <a:moveTo>
                  <a:pt x="21600" y="21038"/>
                </a:moveTo>
                <a:cubicBezTo>
                  <a:pt x="21600" y="21038"/>
                  <a:pt x="13263" y="-179"/>
                  <a:pt x="10818" y="1"/>
                </a:cubicBezTo>
                <a:cubicBezTo>
                  <a:pt x="8512" y="171"/>
                  <a:pt x="0" y="21421"/>
                  <a:pt x="0" y="21421"/>
                </a:cubicBezTo>
              </a:path>
            </a:pathLst>
          </a:custGeom>
          <a:ln w="63500">
            <a:solidFill>
              <a:srgbClr val="942193"/>
            </a:solidFill>
            <a:miter lim="400000"/>
            <a:tailEnd type="stealth"/>
          </a:ln>
        </p:spPr>
        <p:txBody>
          <a:bodyPr lIns="0" tIns="0" rIns="0" bIns="0" anchor="ctr"/>
          <a:lstStyle/>
          <a:p>
            <a:pPr lvl="0"/>
            <a:endParaRPr sz="1125"/>
          </a:p>
        </p:txBody>
      </p:sp>
      <p:sp>
        <p:nvSpPr>
          <p:cNvPr id="2990" name="Shape 2990"/>
          <p:cNvSpPr/>
          <p:nvPr/>
        </p:nvSpPr>
        <p:spPr>
          <a:xfrm>
            <a:off x="2226445" y="2734954"/>
            <a:ext cx="4604188" cy="12344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74" h="18682" extrusionOk="0">
                <a:moveTo>
                  <a:pt x="12179" y="0"/>
                </a:moveTo>
                <a:cubicBezTo>
                  <a:pt x="12179" y="0"/>
                  <a:pt x="21413" y="10286"/>
                  <a:pt x="21473" y="13935"/>
                </a:cubicBezTo>
                <a:cubicBezTo>
                  <a:pt x="21600" y="21600"/>
                  <a:pt x="0" y="17679"/>
                  <a:pt x="0" y="17679"/>
                </a:cubicBezTo>
              </a:path>
            </a:pathLst>
          </a:custGeom>
          <a:ln w="63500">
            <a:solidFill>
              <a:srgbClr val="942193"/>
            </a:solidFill>
            <a:miter lim="400000"/>
            <a:tailEnd type="stealth"/>
          </a:ln>
        </p:spPr>
        <p:txBody>
          <a:bodyPr lIns="0" tIns="0" rIns="0" bIns="0" anchor="ctr"/>
          <a:lstStyle/>
          <a:p>
            <a:pPr lvl="0"/>
            <a:endParaRPr sz="1125"/>
          </a:p>
        </p:txBody>
      </p:sp>
      <p:sp>
        <p:nvSpPr>
          <p:cNvPr id="2991" name="Shape 2991"/>
          <p:cNvSpPr/>
          <p:nvPr/>
        </p:nvSpPr>
        <p:spPr>
          <a:xfrm>
            <a:off x="839391" y="4619740"/>
            <a:ext cx="3473648" cy="851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>
              <a:defRPr sz="3600"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lang="en-US" sz="2531" dirty="0">
                <a:solidFill>
                  <a:srgbClr val="0000FF"/>
                </a:solidFill>
              </a:rPr>
              <a:t>C</a:t>
            </a:r>
            <a:r>
              <a:rPr sz="2531" dirty="0">
                <a:solidFill>
                  <a:srgbClr val="0000FF"/>
                </a:solidFill>
              </a:rPr>
              <a:t>ount-to-infinity scenario</a:t>
            </a:r>
          </a:p>
        </p:txBody>
      </p:sp>
    </p:spTree>
    <p:extLst>
      <p:ext uri="{BB962C8B-B14F-4D97-AF65-F5344CB8AC3E}">
        <p14:creationId xmlns:p14="http://schemas.microsoft.com/office/powerpoint/2010/main" val="1990729032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6" dur="1000" fill="hold"/>
                                        <p:tgtEl>
                                          <p:spTgt spid="29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2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1000"/>
                                        <p:tgtEl>
                                          <p:spTgt spid="2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2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87" grpId="0" animBg="1" advAuto="0"/>
      <p:bldP spid="2988" grpId="0" animBg="1" advAuto="0"/>
      <p:bldP spid="2989" grpId="0" animBg="1" advAuto="0"/>
      <p:bldP spid="2991" grpId="0" animBg="1" advAuto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Problems with Bellman-Ford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Routing loops</a:t>
            </a:r>
          </a:p>
          <a:p>
            <a:pPr lvl="1"/>
            <a:r>
              <a:rPr lang="en-US" dirty="0"/>
              <a:t>z routes through y, y routes through x</a:t>
            </a:r>
          </a:p>
          <a:p>
            <a:pPr lvl="1"/>
            <a:r>
              <a:rPr lang="en-US" dirty="0"/>
              <a:t>y loses connectivity to x</a:t>
            </a:r>
          </a:p>
          <a:p>
            <a:pPr lvl="1"/>
            <a:r>
              <a:rPr lang="en-US" dirty="0"/>
              <a:t>y decides to route through z</a:t>
            </a:r>
          </a:p>
          <a:p>
            <a:r>
              <a:rPr lang="en-US" dirty="0"/>
              <a:t>Can take a very long time to resolve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Count-to-infinity scenario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8136601-E35D-0340-B635-DE03CC84F7F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79466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Poisoned reverse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</a:t>
            </a:r>
            <a:r>
              <a:rPr lang="en-US" dirty="0">
                <a:solidFill>
                  <a:srgbClr val="0000FF"/>
                </a:solidFill>
              </a:rPr>
              <a:t>heuristic</a:t>
            </a:r>
            <a:r>
              <a:rPr lang="en-US" dirty="0"/>
              <a:t> to avoid count-to-infinity</a:t>
            </a:r>
          </a:p>
          <a:p>
            <a:pPr lvl="1"/>
            <a:r>
              <a:rPr lang="en-US" dirty="0"/>
              <a:t>If z routes to x through y, </a:t>
            </a:r>
          </a:p>
          <a:p>
            <a:pPr lvl="2"/>
            <a:r>
              <a:rPr lang="en-US" dirty="0"/>
              <a:t>z advertises to y that its cost to x is infinite</a:t>
            </a:r>
          </a:p>
          <a:p>
            <a:pPr lvl="1"/>
            <a:r>
              <a:rPr lang="en-US" dirty="0"/>
              <a:t>y never decides to route to x through z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92AD50C-F49B-5A49-9A5E-17EA3361BE4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34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E5C776D-3969-2C41-A25E-743E50661CEA}"/>
                  </a:ext>
                </a:extLst>
              </p14:cNvPr>
              <p14:cNvContentPartPr/>
              <p14:nvPr/>
            </p14:nvContentPartPr>
            <p14:xfrm>
              <a:off x="5542200" y="2086200"/>
              <a:ext cx="2146680" cy="4798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E5C776D-3969-2C41-A25E-743E50661CE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526000" y="2070000"/>
                <a:ext cx="2179080" cy="512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405350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5" name="Shape 3015"/>
          <p:cNvSpPr/>
          <p:nvPr/>
        </p:nvSpPr>
        <p:spPr>
          <a:xfrm>
            <a:off x="3455789" y="535781"/>
            <a:ext cx="2107406" cy="1625203"/>
          </a:xfrm>
          <a:prstGeom prst="rect">
            <a:avLst/>
          </a:prstGeom>
          <a:solidFill>
            <a:schemeClr val="bg1"/>
          </a:solidFill>
          <a:ln w="63500">
            <a:solidFill>
              <a:srgbClr val="FF9300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93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>
              <a:solidFill>
                <a:srgbClr val="FF9900"/>
              </a:solidFill>
            </a:endParaRPr>
          </a:p>
        </p:txBody>
      </p:sp>
      <p:sp>
        <p:nvSpPr>
          <p:cNvPr id="3001" name="Shape 3001"/>
          <p:cNvSpPr/>
          <p:nvPr/>
        </p:nvSpPr>
        <p:spPr>
          <a:xfrm flipH="1">
            <a:off x="2040086" y="2812097"/>
            <a:ext cx="2308421" cy="768709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3002" name="Shape 3002"/>
          <p:cNvSpPr/>
          <p:nvPr/>
        </p:nvSpPr>
        <p:spPr>
          <a:xfrm>
            <a:off x="2107403" y="3821276"/>
            <a:ext cx="4865179" cy="1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3003" name="Shape 3003"/>
          <p:cNvSpPr/>
          <p:nvPr/>
        </p:nvSpPr>
        <p:spPr>
          <a:xfrm>
            <a:off x="4654379" y="2812098"/>
            <a:ext cx="2320587" cy="823433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3005" name="Shape 3005"/>
          <p:cNvSpPr/>
          <p:nvPr/>
        </p:nvSpPr>
        <p:spPr>
          <a:xfrm>
            <a:off x="1634133" y="3429000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424242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2953">
                <a:solidFill>
                  <a:schemeClr val="bg1"/>
                </a:solidFill>
              </a:rPr>
              <a:t>x</a:t>
            </a:r>
          </a:p>
        </p:txBody>
      </p:sp>
      <p:sp>
        <p:nvSpPr>
          <p:cNvPr id="3006" name="Shape 3006"/>
          <p:cNvSpPr/>
          <p:nvPr/>
        </p:nvSpPr>
        <p:spPr>
          <a:xfrm>
            <a:off x="6768703" y="3429000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008F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2953"/>
              <a:t>z</a:t>
            </a:r>
          </a:p>
        </p:txBody>
      </p:sp>
      <p:sp>
        <p:nvSpPr>
          <p:cNvPr id="3007" name="Shape 3007"/>
          <p:cNvSpPr/>
          <p:nvPr/>
        </p:nvSpPr>
        <p:spPr>
          <a:xfrm>
            <a:off x="4241602" y="2500313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FF93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2953"/>
              <a:t>y</a:t>
            </a:r>
          </a:p>
        </p:txBody>
      </p:sp>
      <p:sp>
        <p:nvSpPr>
          <p:cNvPr id="3008" name="Shape 3008"/>
          <p:cNvSpPr/>
          <p:nvPr/>
        </p:nvSpPr>
        <p:spPr>
          <a:xfrm>
            <a:off x="4375547" y="3290738"/>
            <a:ext cx="267891" cy="5265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 b="1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953"/>
              <a:t>7</a:t>
            </a:r>
          </a:p>
        </p:txBody>
      </p:sp>
      <p:sp>
        <p:nvSpPr>
          <p:cNvPr id="3009" name="Shape 3009"/>
          <p:cNvSpPr/>
          <p:nvPr/>
        </p:nvSpPr>
        <p:spPr>
          <a:xfrm>
            <a:off x="2911078" y="2589758"/>
            <a:ext cx="267891" cy="5265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 b="1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953"/>
              <a:t>2</a:t>
            </a:r>
          </a:p>
        </p:txBody>
      </p:sp>
      <p:sp>
        <p:nvSpPr>
          <p:cNvPr id="3010" name="Shape 3010"/>
          <p:cNvSpPr/>
          <p:nvPr/>
        </p:nvSpPr>
        <p:spPr>
          <a:xfrm>
            <a:off x="5822156" y="2661195"/>
            <a:ext cx="267891" cy="5265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 b="1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953"/>
              <a:t>1</a:t>
            </a:r>
          </a:p>
        </p:txBody>
      </p:sp>
      <p:grpSp>
        <p:nvGrpSpPr>
          <p:cNvPr id="3014" name="Group 3014"/>
          <p:cNvGrpSpPr/>
          <p:nvPr/>
        </p:nvGrpSpPr>
        <p:grpSpPr>
          <a:xfrm>
            <a:off x="4321969" y="1366242"/>
            <a:ext cx="910828" cy="464344"/>
            <a:chOff x="0" y="0"/>
            <a:chExt cx="1295400" cy="660400"/>
          </a:xfrm>
        </p:grpSpPr>
        <p:sp>
          <p:nvSpPr>
            <p:cNvPr id="3011" name="Shape 3011"/>
            <p:cNvSpPr/>
            <p:nvPr/>
          </p:nvSpPr>
          <p:spPr>
            <a:xfrm>
              <a:off x="0" y="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FF93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FF9900"/>
                  </a:solidFill>
                </a:rPr>
                <a:t>2</a:t>
              </a:r>
            </a:p>
          </p:txBody>
        </p:sp>
        <p:sp>
          <p:nvSpPr>
            <p:cNvPr id="3012" name="Shape 3012"/>
            <p:cNvSpPr/>
            <p:nvPr/>
          </p:nvSpPr>
          <p:spPr>
            <a:xfrm>
              <a:off x="546100" y="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FF93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FF9900"/>
                  </a:solidFill>
                </a:rPr>
                <a:t>0</a:t>
              </a:r>
            </a:p>
          </p:txBody>
        </p:sp>
        <p:sp>
          <p:nvSpPr>
            <p:cNvPr id="3013" name="Shape 3013"/>
            <p:cNvSpPr/>
            <p:nvPr/>
          </p:nvSpPr>
          <p:spPr>
            <a:xfrm>
              <a:off x="1104900" y="0"/>
              <a:ext cx="1905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FF93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FF9900"/>
                  </a:solidFill>
                </a:rPr>
                <a:t>1</a:t>
              </a:r>
            </a:p>
          </p:txBody>
        </p:sp>
      </p:grpSp>
      <p:sp>
        <p:nvSpPr>
          <p:cNvPr id="3016" name="Shape 3016"/>
          <p:cNvSpPr/>
          <p:nvPr/>
        </p:nvSpPr>
        <p:spPr>
          <a:xfrm>
            <a:off x="4313039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x</a:t>
            </a:r>
          </a:p>
        </p:txBody>
      </p:sp>
      <p:sp>
        <p:nvSpPr>
          <p:cNvPr id="3017" name="Shape 3017"/>
          <p:cNvSpPr/>
          <p:nvPr/>
        </p:nvSpPr>
        <p:spPr>
          <a:xfrm flipV="1">
            <a:off x="3518294" y="994341"/>
            <a:ext cx="1958034" cy="655"/>
          </a:xfrm>
          <a:prstGeom prst="line">
            <a:avLst/>
          </a:prstGeom>
          <a:ln w="38100">
            <a:solidFill>
              <a:srgbClr val="FF9300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>
              <a:solidFill>
                <a:srgbClr val="FF9900"/>
              </a:solidFill>
            </a:endParaRPr>
          </a:p>
        </p:txBody>
      </p:sp>
      <p:sp>
        <p:nvSpPr>
          <p:cNvPr id="3018" name="Shape 3018"/>
          <p:cNvSpPr/>
          <p:nvPr/>
        </p:nvSpPr>
        <p:spPr>
          <a:xfrm flipV="1">
            <a:off x="4091840" y="633926"/>
            <a:ext cx="691" cy="1439101"/>
          </a:xfrm>
          <a:prstGeom prst="line">
            <a:avLst/>
          </a:prstGeom>
          <a:ln w="38100">
            <a:solidFill>
              <a:srgbClr val="FF9300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>
              <a:solidFill>
                <a:srgbClr val="FF9900"/>
              </a:solidFill>
            </a:endParaRPr>
          </a:p>
        </p:txBody>
      </p:sp>
      <p:sp>
        <p:nvSpPr>
          <p:cNvPr id="3019" name="Shape 3019"/>
          <p:cNvSpPr/>
          <p:nvPr/>
        </p:nvSpPr>
        <p:spPr>
          <a:xfrm>
            <a:off x="3687961" y="1330523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y</a:t>
            </a:r>
          </a:p>
        </p:txBody>
      </p:sp>
      <p:sp>
        <p:nvSpPr>
          <p:cNvPr id="3020" name="Shape 3020"/>
          <p:cNvSpPr/>
          <p:nvPr/>
        </p:nvSpPr>
        <p:spPr>
          <a:xfrm>
            <a:off x="4688086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y</a:t>
            </a:r>
          </a:p>
        </p:txBody>
      </p:sp>
      <p:sp>
        <p:nvSpPr>
          <p:cNvPr id="3021" name="Shape 3021"/>
          <p:cNvSpPr/>
          <p:nvPr/>
        </p:nvSpPr>
        <p:spPr>
          <a:xfrm>
            <a:off x="5080992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z</a:t>
            </a:r>
          </a:p>
        </p:txBody>
      </p:sp>
      <p:sp>
        <p:nvSpPr>
          <p:cNvPr id="3022" name="Shape 3022"/>
          <p:cNvSpPr/>
          <p:nvPr/>
        </p:nvSpPr>
        <p:spPr>
          <a:xfrm>
            <a:off x="3687961" y="1660922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z</a:t>
            </a:r>
          </a:p>
        </p:txBody>
      </p:sp>
      <p:sp>
        <p:nvSpPr>
          <p:cNvPr id="3023" name="Shape 3023"/>
          <p:cNvSpPr/>
          <p:nvPr/>
        </p:nvSpPr>
        <p:spPr>
          <a:xfrm>
            <a:off x="4179094" y="1634133"/>
            <a:ext cx="437555" cy="5357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4800"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3375" dirty="0">
                <a:solidFill>
                  <a:srgbClr val="0000FF"/>
                </a:solidFill>
              </a:rPr>
              <a:t>∞</a:t>
            </a:r>
          </a:p>
        </p:txBody>
      </p:sp>
      <p:sp>
        <p:nvSpPr>
          <p:cNvPr id="3024" name="Shape 3024"/>
          <p:cNvSpPr/>
          <p:nvPr/>
        </p:nvSpPr>
        <p:spPr>
          <a:xfrm>
            <a:off x="4697016" y="1705570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rgbClr val="009900"/>
                </a:solidFill>
              </a:rPr>
              <a:t>1</a:t>
            </a:r>
          </a:p>
        </p:txBody>
      </p:sp>
      <p:sp>
        <p:nvSpPr>
          <p:cNvPr id="3025" name="Shape 3025"/>
          <p:cNvSpPr/>
          <p:nvPr/>
        </p:nvSpPr>
        <p:spPr>
          <a:xfrm>
            <a:off x="5072062" y="1705570"/>
            <a:ext cx="214313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rgbClr val="009900"/>
                </a:solidFill>
              </a:rPr>
              <a:t>0</a:t>
            </a:r>
          </a:p>
        </p:txBody>
      </p:sp>
      <p:grpSp>
        <p:nvGrpSpPr>
          <p:cNvPr id="3040" name="Group 3040"/>
          <p:cNvGrpSpPr/>
          <p:nvPr/>
        </p:nvGrpSpPr>
        <p:grpSpPr>
          <a:xfrm>
            <a:off x="6045399" y="4589859"/>
            <a:ext cx="2107406" cy="1625203"/>
            <a:chOff x="0" y="0"/>
            <a:chExt cx="2997200" cy="2311400"/>
          </a:xfrm>
        </p:grpSpPr>
        <p:sp>
          <p:nvSpPr>
            <p:cNvPr id="3026" name="Shape 3026"/>
            <p:cNvSpPr/>
            <p:nvPr/>
          </p:nvSpPr>
          <p:spPr>
            <a:xfrm>
              <a:off x="0" y="0"/>
              <a:ext cx="2997200" cy="2311400"/>
            </a:xfrm>
            <a:prstGeom prst="rect">
              <a:avLst/>
            </a:prstGeom>
            <a:noFill/>
            <a:ln w="63500" cap="flat">
              <a:solidFill>
                <a:srgbClr val="008F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4000">
                  <a:solidFill>
                    <a:srgbClr val="008F00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2812">
                <a:solidFill>
                  <a:srgbClr val="009900"/>
                </a:solidFill>
              </a:endParaRPr>
            </a:p>
          </p:txBody>
        </p:sp>
        <p:sp>
          <p:nvSpPr>
            <p:cNvPr id="3027" name="Shape 3027"/>
            <p:cNvSpPr/>
            <p:nvPr/>
          </p:nvSpPr>
          <p:spPr>
            <a:xfrm>
              <a:off x="1219200" y="25400"/>
              <a:ext cx="381000" cy="596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9900"/>
                  </a:solidFill>
                </a:rPr>
                <a:t>x</a:t>
              </a:r>
            </a:p>
          </p:txBody>
        </p:sp>
        <p:sp>
          <p:nvSpPr>
            <p:cNvPr id="3028" name="Shape 3028"/>
            <p:cNvSpPr/>
            <p:nvPr/>
          </p:nvSpPr>
          <p:spPr>
            <a:xfrm flipV="1">
              <a:off x="88896" y="652173"/>
              <a:ext cx="2784760" cy="931"/>
            </a:xfrm>
            <a:prstGeom prst="line">
              <a:avLst/>
            </a:prstGeom>
            <a:noFill/>
            <a:ln w="38100" cap="flat">
              <a:solidFill>
                <a:srgbClr val="008F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 sz="844">
                <a:solidFill>
                  <a:srgbClr val="009900"/>
                </a:solidFill>
              </a:endParaRPr>
            </a:p>
          </p:txBody>
        </p:sp>
        <p:sp>
          <p:nvSpPr>
            <p:cNvPr id="3029" name="Shape 3029"/>
            <p:cNvSpPr/>
            <p:nvPr/>
          </p:nvSpPr>
          <p:spPr>
            <a:xfrm flipV="1">
              <a:off x="904605" y="139584"/>
              <a:ext cx="983" cy="2046722"/>
            </a:xfrm>
            <a:prstGeom prst="line">
              <a:avLst/>
            </a:prstGeom>
            <a:noFill/>
            <a:ln w="38100" cap="flat">
              <a:solidFill>
                <a:srgbClr val="008F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 sz="844">
                <a:solidFill>
                  <a:srgbClr val="009900"/>
                </a:solidFill>
              </a:endParaRPr>
            </a:p>
          </p:txBody>
        </p:sp>
        <p:sp>
          <p:nvSpPr>
            <p:cNvPr id="3030" name="Shape 3030"/>
            <p:cNvSpPr/>
            <p:nvPr/>
          </p:nvSpPr>
          <p:spPr>
            <a:xfrm>
              <a:off x="330200" y="1130300"/>
              <a:ext cx="3429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9900"/>
                  </a:solidFill>
                </a:rPr>
                <a:t>y</a:t>
              </a:r>
            </a:p>
          </p:txBody>
        </p:sp>
        <p:sp>
          <p:nvSpPr>
            <p:cNvPr id="3031" name="Shape 3031"/>
            <p:cNvSpPr/>
            <p:nvPr/>
          </p:nvSpPr>
          <p:spPr>
            <a:xfrm>
              <a:off x="1752600" y="25400"/>
              <a:ext cx="381000" cy="596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9900"/>
                  </a:solidFill>
                </a:rPr>
                <a:t>y</a:t>
              </a:r>
            </a:p>
          </p:txBody>
        </p:sp>
        <p:sp>
          <p:nvSpPr>
            <p:cNvPr id="3032" name="Shape 3032"/>
            <p:cNvSpPr/>
            <p:nvPr/>
          </p:nvSpPr>
          <p:spPr>
            <a:xfrm>
              <a:off x="2311400" y="25400"/>
              <a:ext cx="381000" cy="596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9900"/>
                  </a:solidFill>
                </a:rPr>
                <a:t>z</a:t>
              </a:r>
            </a:p>
          </p:txBody>
        </p:sp>
        <p:sp>
          <p:nvSpPr>
            <p:cNvPr id="3033" name="Shape 3033"/>
            <p:cNvSpPr/>
            <p:nvPr/>
          </p:nvSpPr>
          <p:spPr>
            <a:xfrm>
              <a:off x="330200" y="1600200"/>
              <a:ext cx="3429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9900"/>
                  </a:solidFill>
                </a:rPr>
                <a:t>z</a:t>
              </a:r>
            </a:p>
          </p:txBody>
        </p:sp>
        <p:sp>
          <p:nvSpPr>
            <p:cNvPr id="3034" name="Shape 3034"/>
            <p:cNvSpPr/>
            <p:nvPr/>
          </p:nvSpPr>
          <p:spPr>
            <a:xfrm>
              <a:off x="1206500" y="165100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FF93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 dirty="0">
                  <a:solidFill>
                    <a:srgbClr val="FF9900"/>
                  </a:solidFill>
                </a:rPr>
                <a:t>3</a:t>
              </a:r>
            </a:p>
          </p:txBody>
        </p:sp>
        <p:sp>
          <p:nvSpPr>
            <p:cNvPr id="3035" name="Shape 3035"/>
            <p:cNvSpPr/>
            <p:nvPr/>
          </p:nvSpPr>
          <p:spPr>
            <a:xfrm>
              <a:off x="1765300" y="165100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9900"/>
                  </a:solidFill>
                </a:rPr>
                <a:t>1</a:t>
              </a:r>
            </a:p>
          </p:txBody>
        </p:sp>
        <p:sp>
          <p:nvSpPr>
            <p:cNvPr id="3036" name="Shape 3036"/>
            <p:cNvSpPr/>
            <p:nvPr/>
          </p:nvSpPr>
          <p:spPr>
            <a:xfrm>
              <a:off x="2298700" y="1651000"/>
              <a:ext cx="2794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9900"/>
                  </a:solidFill>
                </a:rPr>
                <a:t>0</a:t>
              </a:r>
            </a:p>
          </p:txBody>
        </p:sp>
        <p:sp>
          <p:nvSpPr>
            <p:cNvPr id="3037" name="Shape 3037"/>
            <p:cNvSpPr/>
            <p:nvPr/>
          </p:nvSpPr>
          <p:spPr>
            <a:xfrm>
              <a:off x="1181100" y="114300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FF93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 dirty="0">
                  <a:solidFill>
                    <a:srgbClr val="FF9900"/>
                  </a:solidFill>
                </a:rPr>
                <a:t>2</a:t>
              </a:r>
            </a:p>
          </p:txBody>
        </p:sp>
        <p:sp>
          <p:nvSpPr>
            <p:cNvPr id="3038" name="Shape 3038"/>
            <p:cNvSpPr/>
            <p:nvPr/>
          </p:nvSpPr>
          <p:spPr>
            <a:xfrm>
              <a:off x="1727200" y="115570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FF93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 dirty="0">
                  <a:solidFill>
                    <a:srgbClr val="FF9900"/>
                  </a:solidFill>
                </a:rPr>
                <a:t>0</a:t>
              </a:r>
            </a:p>
          </p:txBody>
        </p:sp>
        <p:sp>
          <p:nvSpPr>
            <p:cNvPr id="3039" name="Shape 3039"/>
            <p:cNvSpPr/>
            <p:nvPr/>
          </p:nvSpPr>
          <p:spPr>
            <a:xfrm>
              <a:off x="2286000" y="1143000"/>
              <a:ext cx="1905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FF93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FF9900"/>
                  </a:solidFill>
                </a:rPr>
                <a:t>1</a:t>
              </a:r>
            </a:p>
          </p:txBody>
        </p:sp>
      </p:grpSp>
      <p:sp>
        <p:nvSpPr>
          <p:cNvPr id="3041" name="Shape 3041"/>
          <p:cNvSpPr/>
          <p:nvPr/>
        </p:nvSpPr>
        <p:spPr>
          <a:xfrm flipV="1">
            <a:off x="2195539" y="2708237"/>
            <a:ext cx="1992807" cy="673431"/>
          </a:xfrm>
          <a:prstGeom prst="line">
            <a:avLst/>
          </a:prstGeom>
          <a:ln w="76200">
            <a:solidFill>
              <a:srgbClr val="942193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3042" name="Shape 3042"/>
          <p:cNvSpPr/>
          <p:nvPr/>
        </p:nvSpPr>
        <p:spPr>
          <a:xfrm>
            <a:off x="2249816" y="2928896"/>
            <a:ext cx="4494121" cy="7694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21" extrusionOk="0">
                <a:moveTo>
                  <a:pt x="21600" y="21038"/>
                </a:moveTo>
                <a:cubicBezTo>
                  <a:pt x="21600" y="21038"/>
                  <a:pt x="13263" y="-179"/>
                  <a:pt x="10818" y="1"/>
                </a:cubicBezTo>
                <a:cubicBezTo>
                  <a:pt x="8512" y="171"/>
                  <a:pt x="0" y="21421"/>
                  <a:pt x="0" y="21421"/>
                </a:cubicBezTo>
              </a:path>
            </a:pathLst>
          </a:custGeom>
          <a:ln w="63500">
            <a:solidFill>
              <a:srgbClr val="942193"/>
            </a:solidFill>
            <a:miter lim="400000"/>
            <a:tailEnd type="stealth"/>
          </a:ln>
        </p:spPr>
        <p:txBody>
          <a:bodyPr lIns="0" tIns="0" rIns="0" bIns="0" anchor="ctr"/>
          <a:lstStyle/>
          <a:p>
            <a:pPr lvl="0"/>
            <a:endParaRPr sz="1125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4E3AEE-E091-8541-AEFB-5E01C343575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E2893C13-EE0C-EE4E-AB27-289AE4B3B289}" type="slidenum">
              <a:rPr lang="en-US" altLang="x-none" smtClean="0"/>
              <a:pPr/>
              <a:t>35</a:t>
            </a:fld>
            <a:endParaRPr lang="en-US" altLang="x-none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9B9E17E-0532-8B4E-A449-936CBFB2668C}"/>
                  </a:ext>
                </a:extLst>
              </p14:cNvPr>
              <p14:cNvContentPartPr/>
              <p14:nvPr/>
            </p14:nvContentPartPr>
            <p14:xfrm>
              <a:off x="4264560" y="2076480"/>
              <a:ext cx="2939040" cy="4095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9B9E17E-0532-8B4E-A449-936CBFB2668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48360" y="2060280"/>
                <a:ext cx="2971440" cy="4127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83524578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10" dur="1000" fill="hold"/>
                                        <p:tgtEl>
                                          <p:spTgt spid="30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01" grpId="0" animBg="1" advAuto="0"/>
      <p:bldP spid="3009" grpId="0" animBg="1" advAuto="0"/>
      <p:bldP spid="3023" grpId="0" animBg="1" advAuto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7" name="Shape 3057"/>
          <p:cNvSpPr/>
          <p:nvPr/>
        </p:nvSpPr>
        <p:spPr>
          <a:xfrm>
            <a:off x="3455789" y="535781"/>
            <a:ext cx="2107406" cy="1625203"/>
          </a:xfrm>
          <a:prstGeom prst="rect">
            <a:avLst/>
          </a:prstGeom>
          <a:solidFill>
            <a:schemeClr val="bg1"/>
          </a:solidFill>
          <a:ln w="63500">
            <a:solidFill>
              <a:srgbClr val="FF9300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93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>
              <a:solidFill>
                <a:srgbClr val="FF9900"/>
              </a:solidFill>
            </a:endParaRPr>
          </a:p>
        </p:txBody>
      </p:sp>
      <p:sp>
        <p:nvSpPr>
          <p:cNvPr id="3047" name="Shape 3047"/>
          <p:cNvSpPr/>
          <p:nvPr/>
        </p:nvSpPr>
        <p:spPr>
          <a:xfrm>
            <a:off x="2107403" y="3821276"/>
            <a:ext cx="4865179" cy="1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3048" name="Shape 3048"/>
          <p:cNvSpPr/>
          <p:nvPr/>
        </p:nvSpPr>
        <p:spPr>
          <a:xfrm>
            <a:off x="4654379" y="2812098"/>
            <a:ext cx="2320587" cy="823433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3050" name="Shape 3050"/>
          <p:cNvSpPr/>
          <p:nvPr/>
        </p:nvSpPr>
        <p:spPr>
          <a:xfrm>
            <a:off x="1634133" y="3429000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424242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2953">
                <a:solidFill>
                  <a:schemeClr val="bg1"/>
                </a:solidFill>
              </a:rPr>
              <a:t>x</a:t>
            </a:r>
          </a:p>
        </p:txBody>
      </p:sp>
      <p:sp>
        <p:nvSpPr>
          <p:cNvPr id="3051" name="Shape 3051"/>
          <p:cNvSpPr/>
          <p:nvPr/>
        </p:nvSpPr>
        <p:spPr>
          <a:xfrm>
            <a:off x="6768703" y="3429000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008F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2953"/>
              <a:t>z</a:t>
            </a:r>
          </a:p>
        </p:txBody>
      </p:sp>
      <p:sp>
        <p:nvSpPr>
          <p:cNvPr id="3052" name="Shape 3052"/>
          <p:cNvSpPr/>
          <p:nvPr/>
        </p:nvSpPr>
        <p:spPr>
          <a:xfrm>
            <a:off x="4241602" y="2500313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FF93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2953"/>
              <a:t>y</a:t>
            </a:r>
          </a:p>
        </p:txBody>
      </p:sp>
      <p:sp>
        <p:nvSpPr>
          <p:cNvPr id="3053" name="Shape 3053"/>
          <p:cNvSpPr/>
          <p:nvPr/>
        </p:nvSpPr>
        <p:spPr>
          <a:xfrm>
            <a:off x="4375547" y="3290738"/>
            <a:ext cx="267891" cy="5265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 b="1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953"/>
              <a:t>7</a:t>
            </a:r>
          </a:p>
        </p:txBody>
      </p:sp>
      <p:sp>
        <p:nvSpPr>
          <p:cNvPr id="3054" name="Shape 3054"/>
          <p:cNvSpPr/>
          <p:nvPr/>
        </p:nvSpPr>
        <p:spPr>
          <a:xfrm>
            <a:off x="5822156" y="2661195"/>
            <a:ext cx="267891" cy="5265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 b="1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953"/>
              <a:t>1</a:t>
            </a:r>
          </a:p>
        </p:txBody>
      </p:sp>
      <p:sp>
        <p:nvSpPr>
          <p:cNvPr id="3055" name="Shape 3055"/>
          <p:cNvSpPr/>
          <p:nvPr/>
        </p:nvSpPr>
        <p:spPr>
          <a:xfrm>
            <a:off x="4705945" y="1366242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0</a:t>
            </a:r>
          </a:p>
        </p:txBody>
      </p:sp>
      <p:sp>
        <p:nvSpPr>
          <p:cNvPr id="3056" name="Shape 3056"/>
          <p:cNvSpPr/>
          <p:nvPr/>
        </p:nvSpPr>
        <p:spPr>
          <a:xfrm>
            <a:off x="5098852" y="1366242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1</a:t>
            </a:r>
          </a:p>
        </p:txBody>
      </p:sp>
      <p:sp>
        <p:nvSpPr>
          <p:cNvPr id="3058" name="Shape 3058"/>
          <p:cNvSpPr/>
          <p:nvPr/>
        </p:nvSpPr>
        <p:spPr>
          <a:xfrm>
            <a:off x="4313039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x</a:t>
            </a:r>
          </a:p>
        </p:txBody>
      </p:sp>
      <p:sp>
        <p:nvSpPr>
          <p:cNvPr id="3059" name="Shape 3059"/>
          <p:cNvSpPr/>
          <p:nvPr/>
        </p:nvSpPr>
        <p:spPr>
          <a:xfrm flipV="1">
            <a:off x="3518294" y="994341"/>
            <a:ext cx="1958034" cy="655"/>
          </a:xfrm>
          <a:prstGeom prst="line">
            <a:avLst/>
          </a:prstGeom>
          <a:ln w="38100">
            <a:solidFill>
              <a:srgbClr val="FF9300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>
              <a:solidFill>
                <a:srgbClr val="FF9900"/>
              </a:solidFill>
            </a:endParaRPr>
          </a:p>
        </p:txBody>
      </p:sp>
      <p:sp>
        <p:nvSpPr>
          <p:cNvPr id="3060" name="Shape 3060"/>
          <p:cNvSpPr/>
          <p:nvPr/>
        </p:nvSpPr>
        <p:spPr>
          <a:xfrm flipV="1">
            <a:off x="4091840" y="633926"/>
            <a:ext cx="691" cy="1439101"/>
          </a:xfrm>
          <a:prstGeom prst="line">
            <a:avLst/>
          </a:prstGeom>
          <a:ln w="38100">
            <a:solidFill>
              <a:srgbClr val="FF9300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>
              <a:solidFill>
                <a:srgbClr val="FF9900"/>
              </a:solidFill>
            </a:endParaRPr>
          </a:p>
        </p:txBody>
      </p:sp>
      <p:sp>
        <p:nvSpPr>
          <p:cNvPr id="3061" name="Shape 3061"/>
          <p:cNvSpPr/>
          <p:nvPr/>
        </p:nvSpPr>
        <p:spPr>
          <a:xfrm>
            <a:off x="3687961" y="1330523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y</a:t>
            </a:r>
          </a:p>
        </p:txBody>
      </p:sp>
      <p:sp>
        <p:nvSpPr>
          <p:cNvPr id="3062" name="Shape 3062"/>
          <p:cNvSpPr/>
          <p:nvPr/>
        </p:nvSpPr>
        <p:spPr>
          <a:xfrm>
            <a:off x="4688086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y</a:t>
            </a:r>
          </a:p>
        </p:txBody>
      </p:sp>
      <p:sp>
        <p:nvSpPr>
          <p:cNvPr id="3063" name="Shape 3063"/>
          <p:cNvSpPr/>
          <p:nvPr/>
        </p:nvSpPr>
        <p:spPr>
          <a:xfrm>
            <a:off x="5080992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z</a:t>
            </a:r>
          </a:p>
        </p:txBody>
      </p:sp>
      <p:sp>
        <p:nvSpPr>
          <p:cNvPr id="3064" name="Shape 3064"/>
          <p:cNvSpPr/>
          <p:nvPr/>
        </p:nvSpPr>
        <p:spPr>
          <a:xfrm>
            <a:off x="3687961" y="1660922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z</a:t>
            </a:r>
          </a:p>
        </p:txBody>
      </p:sp>
      <p:sp>
        <p:nvSpPr>
          <p:cNvPr id="3065" name="Shape 3065"/>
          <p:cNvSpPr/>
          <p:nvPr/>
        </p:nvSpPr>
        <p:spPr>
          <a:xfrm>
            <a:off x="4697016" y="1705570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rgbClr val="009900"/>
                </a:solidFill>
              </a:rPr>
              <a:t>1</a:t>
            </a:r>
          </a:p>
        </p:txBody>
      </p:sp>
      <p:sp>
        <p:nvSpPr>
          <p:cNvPr id="3066" name="Shape 3066"/>
          <p:cNvSpPr/>
          <p:nvPr/>
        </p:nvSpPr>
        <p:spPr>
          <a:xfrm>
            <a:off x="5072062" y="1705570"/>
            <a:ext cx="214313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rgbClr val="009900"/>
                </a:solidFill>
              </a:rPr>
              <a:t>0</a:t>
            </a:r>
          </a:p>
        </p:txBody>
      </p:sp>
      <p:grpSp>
        <p:nvGrpSpPr>
          <p:cNvPr id="3081" name="Group 3081"/>
          <p:cNvGrpSpPr/>
          <p:nvPr/>
        </p:nvGrpSpPr>
        <p:grpSpPr>
          <a:xfrm>
            <a:off x="6045399" y="4589859"/>
            <a:ext cx="2107406" cy="1625203"/>
            <a:chOff x="0" y="0"/>
            <a:chExt cx="2997200" cy="2311400"/>
          </a:xfrm>
        </p:grpSpPr>
        <p:sp>
          <p:nvSpPr>
            <p:cNvPr id="3067" name="Shape 3067"/>
            <p:cNvSpPr/>
            <p:nvPr/>
          </p:nvSpPr>
          <p:spPr>
            <a:xfrm>
              <a:off x="0" y="0"/>
              <a:ext cx="2997200" cy="2311400"/>
            </a:xfrm>
            <a:prstGeom prst="rect">
              <a:avLst/>
            </a:prstGeom>
            <a:noFill/>
            <a:ln w="63500" cap="flat">
              <a:solidFill>
                <a:srgbClr val="008F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4000">
                  <a:solidFill>
                    <a:srgbClr val="008F00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2812">
                <a:solidFill>
                  <a:srgbClr val="009900"/>
                </a:solidFill>
              </a:endParaRPr>
            </a:p>
          </p:txBody>
        </p:sp>
        <p:sp>
          <p:nvSpPr>
            <p:cNvPr id="3068" name="Shape 3068"/>
            <p:cNvSpPr/>
            <p:nvPr/>
          </p:nvSpPr>
          <p:spPr>
            <a:xfrm>
              <a:off x="1219200" y="25400"/>
              <a:ext cx="381000" cy="596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9900"/>
                  </a:solidFill>
                </a:rPr>
                <a:t>x</a:t>
              </a:r>
            </a:p>
          </p:txBody>
        </p:sp>
        <p:sp>
          <p:nvSpPr>
            <p:cNvPr id="3069" name="Shape 3069"/>
            <p:cNvSpPr/>
            <p:nvPr/>
          </p:nvSpPr>
          <p:spPr>
            <a:xfrm flipV="1">
              <a:off x="88896" y="652173"/>
              <a:ext cx="2784760" cy="931"/>
            </a:xfrm>
            <a:prstGeom prst="line">
              <a:avLst/>
            </a:prstGeom>
            <a:noFill/>
            <a:ln w="38100" cap="flat">
              <a:solidFill>
                <a:srgbClr val="008F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 sz="844">
                <a:solidFill>
                  <a:srgbClr val="009900"/>
                </a:solidFill>
              </a:endParaRPr>
            </a:p>
          </p:txBody>
        </p:sp>
        <p:sp>
          <p:nvSpPr>
            <p:cNvPr id="3070" name="Shape 3070"/>
            <p:cNvSpPr/>
            <p:nvPr/>
          </p:nvSpPr>
          <p:spPr>
            <a:xfrm flipV="1">
              <a:off x="904605" y="139584"/>
              <a:ext cx="983" cy="2046722"/>
            </a:xfrm>
            <a:prstGeom prst="line">
              <a:avLst/>
            </a:prstGeom>
            <a:noFill/>
            <a:ln w="38100" cap="flat">
              <a:solidFill>
                <a:srgbClr val="008F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 sz="844">
                <a:solidFill>
                  <a:srgbClr val="009900"/>
                </a:solidFill>
              </a:endParaRPr>
            </a:p>
          </p:txBody>
        </p:sp>
        <p:sp>
          <p:nvSpPr>
            <p:cNvPr id="3071" name="Shape 3071"/>
            <p:cNvSpPr/>
            <p:nvPr/>
          </p:nvSpPr>
          <p:spPr>
            <a:xfrm>
              <a:off x="330200" y="1130300"/>
              <a:ext cx="3429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9900"/>
                  </a:solidFill>
                </a:rPr>
                <a:t>y</a:t>
              </a:r>
            </a:p>
          </p:txBody>
        </p:sp>
        <p:sp>
          <p:nvSpPr>
            <p:cNvPr id="3072" name="Shape 3072"/>
            <p:cNvSpPr/>
            <p:nvPr/>
          </p:nvSpPr>
          <p:spPr>
            <a:xfrm>
              <a:off x="1752600" y="25400"/>
              <a:ext cx="381000" cy="596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9900"/>
                  </a:solidFill>
                </a:rPr>
                <a:t>y</a:t>
              </a:r>
            </a:p>
          </p:txBody>
        </p:sp>
        <p:sp>
          <p:nvSpPr>
            <p:cNvPr id="3073" name="Shape 3073"/>
            <p:cNvSpPr/>
            <p:nvPr/>
          </p:nvSpPr>
          <p:spPr>
            <a:xfrm>
              <a:off x="2311400" y="25400"/>
              <a:ext cx="381000" cy="596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9900"/>
                  </a:solidFill>
                </a:rPr>
                <a:t>z</a:t>
              </a:r>
            </a:p>
          </p:txBody>
        </p:sp>
        <p:sp>
          <p:nvSpPr>
            <p:cNvPr id="3074" name="Shape 3074"/>
            <p:cNvSpPr/>
            <p:nvPr/>
          </p:nvSpPr>
          <p:spPr>
            <a:xfrm>
              <a:off x="330200" y="1600200"/>
              <a:ext cx="3429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9900"/>
                  </a:solidFill>
                </a:rPr>
                <a:t>z</a:t>
              </a:r>
            </a:p>
          </p:txBody>
        </p:sp>
        <p:sp>
          <p:nvSpPr>
            <p:cNvPr id="3075" name="Shape 3075"/>
            <p:cNvSpPr/>
            <p:nvPr/>
          </p:nvSpPr>
          <p:spPr>
            <a:xfrm>
              <a:off x="1206500" y="165100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FF93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 dirty="0">
                  <a:solidFill>
                    <a:srgbClr val="FF9900"/>
                  </a:solidFill>
                </a:rPr>
                <a:t>3</a:t>
              </a:r>
            </a:p>
          </p:txBody>
        </p:sp>
        <p:sp>
          <p:nvSpPr>
            <p:cNvPr id="3076" name="Shape 3076"/>
            <p:cNvSpPr/>
            <p:nvPr/>
          </p:nvSpPr>
          <p:spPr>
            <a:xfrm>
              <a:off x="1765300" y="165100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9900"/>
                  </a:solidFill>
                </a:rPr>
                <a:t>1</a:t>
              </a:r>
            </a:p>
          </p:txBody>
        </p:sp>
        <p:sp>
          <p:nvSpPr>
            <p:cNvPr id="3077" name="Shape 3077"/>
            <p:cNvSpPr/>
            <p:nvPr/>
          </p:nvSpPr>
          <p:spPr>
            <a:xfrm>
              <a:off x="2298700" y="1651000"/>
              <a:ext cx="2794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008F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>
                  <a:solidFill>
                    <a:srgbClr val="009900"/>
                  </a:solidFill>
                </a:rPr>
                <a:t>0</a:t>
              </a:r>
            </a:p>
          </p:txBody>
        </p:sp>
        <p:sp>
          <p:nvSpPr>
            <p:cNvPr id="3078" name="Shape 3078"/>
            <p:cNvSpPr/>
            <p:nvPr/>
          </p:nvSpPr>
          <p:spPr>
            <a:xfrm>
              <a:off x="1181100" y="114300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FF93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 dirty="0">
                  <a:solidFill>
                    <a:srgbClr val="FF9900"/>
                  </a:solidFill>
                </a:rPr>
                <a:t>2</a:t>
              </a:r>
            </a:p>
          </p:txBody>
        </p:sp>
        <p:sp>
          <p:nvSpPr>
            <p:cNvPr id="3079" name="Shape 3079"/>
            <p:cNvSpPr/>
            <p:nvPr/>
          </p:nvSpPr>
          <p:spPr>
            <a:xfrm>
              <a:off x="1727200" y="1155700"/>
              <a:ext cx="2413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FF93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 dirty="0">
                  <a:solidFill>
                    <a:srgbClr val="FF9900"/>
                  </a:solidFill>
                </a:rPr>
                <a:t>0</a:t>
              </a:r>
            </a:p>
          </p:txBody>
        </p:sp>
        <p:sp>
          <p:nvSpPr>
            <p:cNvPr id="3080" name="Shape 3080"/>
            <p:cNvSpPr/>
            <p:nvPr/>
          </p:nvSpPr>
          <p:spPr>
            <a:xfrm>
              <a:off x="2286000" y="1143000"/>
              <a:ext cx="190500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FF93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531" dirty="0">
                  <a:solidFill>
                    <a:srgbClr val="FF9900"/>
                  </a:solidFill>
                </a:rPr>
                <a:t>1</a:t>
              </a:r>
            </a:p>
          </p:txBody>
        </p:sp>
      </p:grpSp>
      <p:sp>
        <p:nvSpPr>
          <p:cNvPr id="3082" name="Shape 3082"/>
          <p:cNvSpPr/>
          <p:nvPr/>
        </p:nvSpPr>
        <p:spPr>
          <a:xfrm>
            <a:off x="2249816" y="2928896"/>
            <a:ext cx="4494121" cy="7694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21" extrusionOk="0">
                <a:moveTo>
                  <a:pt x="21600" y="21038"/>
                </a:moveTo>
                <a:cubicBezTo>
                  <a:pt x="21600" y="21038"/>
                  <a:pt x="13263" y="-179"/>
                  <a:pt x="10818" y="1"/>
                </a:cubicBezTo>
                <a:cubicBezTo>
                  <a:pt x="8512" y="171"/>
                  <a:pt x="0" y="21421"/>
                  <a:pt x="0" y="21421"/>
                </a:cubicBezTo>
              </a:path>
            </a:pathLst>
          </a:custGeom>
          <a:ln w="63500">
            <a:solidFill>
              <a:srgbClr val="942193"/>
            </a:solidFill>
            <a:miter lim="400000"/>
            <a:tailEnd type="stealth"/>
          </a:ln>
        </p:spPr>
        <p:txBody>
          <a:bodyPr lIns="0" tIns="0" rIns="0" bIns="0" anchor="ctr"/>
          <a:lstStyle/>
          <a:p>
            <a:pPr lvl="0"/>
            <a:endParaRPr sz="1125"/>
          </a:p>
        </p:txBody>
      </p:sp>
      <p:sp>
        <p:nvSpPr>
          <p:cNvPr id="3083" name="Shape 3083"/>
          <p:cNvSpPr/>
          <p:nvPr/>
        </p:nvSpPr>
        <p:spPr>
          <a:xfrm>
            <a:off x="4179094" y="1651992"/>
            <a:ext cx="437555" cy="482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4600"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3234" dirty="0">
                <a:solidFill>
                  <a:srgbClr val="0000FF"/>
                </a:solidFill>
              </a:rPr>
              <a:t>∞</a:t>
            </a:r>
          </a:p>
        </p:txBody>
      </p:sp>
      <p:sp>
        <p:nvSpPr>
          <p:cNvPr id="3085" name="Shape 3085"/>
          <p:cNvSpPr/>
          <p:nvPr/>
        </p:nvSpPr>
        <p:spPr>
          <a:xfrm>
            <a:off x="4170164" y="1357313"/>
            <a:ext cx="437555" cy="482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4600"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3234" dirty="0">
                <a:solidFill>
                  <a:srgbClr val="0000FF"/>
                </a:solidFill>
              </a:rPr>
              <a:t>∞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678EA1B-BF89-4F4F-AC09-AE144FD74F7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E2893C13-EE0C-EE4E-AB27-289AE4B3B289}" type="slidenum">
              <a:rPr lang="en-US" altLang="x-none" smtClean="0"/>
              <a:pPr/>
              <a:t>36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2031364339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85" grpId="0" animBg="1" advAuto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9" name="Shape 3099"/>
          <p:cNvSpPr/>
          <p:nvPr/>
        </p:nvSpPr>
        <p:spPr>
          <a:xfrm>
            <a:off x="3455789" y="535781"/>
            <a:ext cx="2107406" cy="1625203"/>
          </a:xfrm>
          <a:prstGeom prst="rect">
            <a:avLst/>
          </a:prstGeom>
          <a:solidFill>
            <a:schemeClr val="bg1"/>
          </a:solidFill>
          <a:ln w="63500">
            <a:solidFill>
              <a:srgbClr val="FF9300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93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>
              <a:solidFill>
                <a:srgbClr val="FF9900"/>
              </a:solidFill>
            </a:endParaRPr>
          </a:p>
        </p:txBody>
      </p:sp>
      <p:sp>
        <p:nvSpPr>
          <p:cNvPr id="3089" name="Shape 3089"/>
          <p:cNvSpPr/>
          <p:nvPr/>
        </p:nvSpPr>
        <p:spPr>
          <a:xfrm>
            <a:off x="2107403" y="3821276"/>
            <a:ext cx="4865179" cy="1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3090" name="Shape 3090"/>
          <p:cNvSpPr/>
          <p:nvPr/>
        </p:nvSpPr>
        <p:spPr>
          <a:xfrm>
            <a:off x="4654379" y="2812098"/>
            <a:ext cx="2320587" cy="823433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3092" name="Shape 3092"/>
          <p:cNvSpPr/>
          <p:nvPr/>
        </p:nvSpPr>
        <p:spPr>
          <a:xfrm>
            <a:off x="1634133" y="3429000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424242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2953">
                <a:solidFill>
                  <a:schemeClr val="bg1"/>
                </a:solidFill>
              </a:rPr>
              <a:t>x</a:t>
            </a:r>
          </a:p>
        </p:txBody>
      </p:sp>
      <p:sp>
        <p:nvSpPr>
          <p:cNvPr id="3093" name="Shape 3093"/>
          <p:cNvSpPr/>
          <p:nvPr/>
        </p:nvSpPr>
        <p:spPr>
          <a:xfrm>
            <a:off x="6768703" y="3429000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008F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2953"/>
              <a:t>z</a:t>
            </a:r>
          </a:p>
        </p:txBody>
      </p:sp>
      <p:sp>
        <p:nvSpPr>
          <p:cNvPr id="3094" name="Shape 3094"/>
          <p:cNvSpPr/>
          <p:nvPr/>
        </p:nvSpPr>
        <p:spPr>
          <a:xfrm>
            <a:off x="4241602" y="2500313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FF93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2953"/>
              <a:t>y</a:t>
            </a:r>
          </a:p>
        </p:txBody>
      </p:sp>
      <p:sp>
        <p:nvSpPr>
          <p:cNvPr id="3095" name="Shape 3095"/>
          <p:cNvSpPr/>
          <p:nvPr/>
        </p:nvSpPr>
        <p:spPr>
          <a:xfrm>
            <a:off x="4375547" y="3290738"/>
            <a:ext cx="267891" cy="5265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 b="1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953"/>
              <a:t>7</a:t>
            </a:r>
          </a:p>
        </p:txBody>
      </p:sp>
      <p:sp>
        <p:nvSpPr>
          <p:cNvPr id="3096" name="Shape 3096"/>
          <p:cNvSpPr/>
          <p:nvPr/>
        </p:nvSpPr>
        <p:spPr>
          <a:xfrm>
            <a:off x="5822156" y="2661195"/>
            <a:ext cx="267891" cy="5265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 b="1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953"/>
              <a:t>1</a:t>
            </a:r>
          </a:p>
        </p:txBody>
      </p:sp>
      <p:sp>
        <p:nvSpPr>
          <p:cNvPr id="3097" name="Shape 3097"/>
          <p:cNvSpPr/>
          <p:nvPr/>
        </p:nvSpPr>
        <p:spPr>
          <a:xfrm>
            <a:off x="4705945" y="1366242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0</a:t>
            </a:r>
          </a:p>
        </p:txBody>
      </p:sp>
      <p:sp>
        <p:nvSpPr>
          <p:cNvPr id="3098" name="Shape 3098"/>
          <p:cNvSpPr/>
          <p:nvPr/>
        </p:nvSpPr>
        <p:spPr>
          <a:xfrm>
            <a:off x="5098852" y="1366242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1</a:t>
            </a:r>
          </a:p>
        </p:txBody>
      </p:sp>
      <p:sp>
        <p:nvSpPr>
          <p:cNvPr id="3100" name="Shape 3100"/>
          <p:cNvSpPr/>
          <p:nvPr/>
        </p:nvSpPr>
        <p:spPr>
          <a:xfrm>
            <a:off x="4313039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x</a:t>
            </a:r>
          </a:p>
        </p:txBody>
      </p:sp>
      <p:sp>
        <p:nvSpPr>
          <p:cNvPr id="3101" name="Shape 3101"/>
          <p:cNvSpPr/>
          <p:nvPr/>
        </p:nvSpPr>
        <p:spPr>
          <a:xfrm flipV="1">
            <a:off x="3518294" y="994341"/>
            <a:ext cx="1958034" cy="655"/>
          </a:xfrm>
          <a:prstGeom prst="line">
            <a:avLst/>
          </a:prstGeom>
          <a:ln w="38100">
            <a:solidFill>
              <a:srgbClr val="FF9300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>
              <a:solidFill>
                <a:srgbClr val="FF9900"/>
              </a:solidFill>
            </a:endParaRPr>
          </a:p>
        </p:txBody>
      </p:sp>
      <p:sp>
        <p:nvSpPr>
          <p:cNvPr id="3102" name="Shape 3102"/>
          <p:cNvSpPr/>
          <p:nvPr/>
        </p:nvSpPr>
        <p:spPr>
          <a:xfrm flipV="1">
            <a:off x="4091840" y="633926"/>
            <a:ext cx="691" cy="1439101"/>
          </a:xfrm>
          <a:prstGeom prst="line">
            <a:avLst/>
          </a:prstGeom>
          <a:ln w="38100">
            <a:solidFill>
              <a:srgbClr val="FF9300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>
              <a:solidFill>
                <a:srgbClr val="FF9900"/>
              </a:solidFill>
            </a:endParaRPr>
          </a:p>
        </p:txBody>
      </p:sp>
      <p:sp>
        <p:nvSpPr>
          <p:cNvPr id="3103" name="Shape 3103"/>
          <p:cNvSpPr/>
          <p:nvPr/>
        </p:nvSpPr>
        <p:spPr>
          <a:xfrm>
            <a:off x="3687961" y="1330523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y</a:t>
            </a:r>
          </a:p>
        </p:txBody>
      </p:sp>
      <p:sp>
        <p:nvSpPr>
          <p:cNvPr id="3104" name="Shape 3104"/>
          <p:cNvSpPr/>
          <p:nvPr/>
        </p:nvSpPr>
        <p:spPr>
          <a:xfrm>
            <a:off x="4688086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y</a:t>
            </a:r>
          </a:p>
        </p:txBody>
      </p:sp>
      <p:sp>
        <p:nvSpPr>
          <p:cNvPr id="3105" name="Shape 3105"/>
          <p:cNvSpPr/>
          <p:nvPr/>
        </p:nvSpPr>
        <p:spPr>
          <a:xfrm>
            <a:off x="5080992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z</a:t>
            </a:r>
          </a:p>
        </p:txBody>
      </p:sp>
      <p:sp>
        <p:nvSpPr>
          <p:cNvPr id="3106" name="Shape 3106"/>
          <p:cNvSpPr/>
          <p:nvPr/>
        </p:nvSpPr>
        <p:spPr>
          <a:xfrm>
            <a:off x="3687961" y="1660922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z</a:t>
            </a:r>
          </a:p>
        </p:txBody>
      </p:sp>
      <p:sp>
        <p:nvSpPr>
          <p:cNvPr id="3107" name="Shape 3107"/>
          <p:cNvSpPr/>
          <p:nvPr/>
        </p:nvSpPr>
        <p:spPr>
          <a:xfrm>
            <a:off x="4697016" y="1705570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rgbClr val="009900"/>
                </a:solidFill>
              </a:rPr>
              <a:t>1</a:t>
            </a:r>
          </a:p>
        </p:txBody>
      </p:sp>
      <p:sp>
        <p:nvSpPr>
          <p:cNvPr id="3108" name="Shape 3108"/>
          <p:cNvSpPr/>
          <p:nvPr/>
        </p:nvSpPr>
        <p:spPr>
          <a:xfrm>
            <a:off x="5072062" y="1705570"/>
            <a:ext cx="214313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0</a:t>
            </a:r>
          </a:p>
        </p:txBody>
      </p:sp>
      <p:sp>
        <p:nvSpPr>
          <p:cNvPr id="3109" name="Shape 3109"/>
          <p:cNvSpPr/>
          <p:nvPr/>
        </p:nvSpPr>
        <p:spPr>
          <a:xfrm>
            <a:off x="6045399" y="4589859"/>
            <a:ext cx="2107406" cy="1625203"/>
          </a:xfrm>
          <a:prstGeom prst="rect">
            <a:avLst/>
          </a:prstGeom>
          <a:ln w="63500">
            <a:solidFill>
              <a:srgbClr val="008F00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008F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>
              <a:solidFill>
                <a:srgbClr val="009900"/>
              </a:solidFill>
            </a:endParaRPr>
          </a:p>
        </p:txBody>
      </p:sp>
      <p:sp>
        <p:nvSpPr>
          <p:cNvPr id="3110" name="Shape 3110"/>
          <p:cNvSpPr/>
          <p:nvPr/>
        </p:nvSpPr>
        <p:spPr>
          <a:xfrm>
            <a:off x="6902648" y="4607719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x</a:t>
            </a:r>
          </a:p>
        </p:txBody>
      </p:sp>
      <p:sp>
        <p:nvSpPr>
          <p:cNvPr id="3111" name="Shape 3111"/>
          <p:cNvSpPr/>
          <p:nvPr/>
        </p:nvSpPr>
        <p:spPr>
          <a:xfrm flipV="1">
            <a:off x="6107904" y="5048419"/>
            <a:ext cx="1958034" cy="655"/>
          </a:xfrm>
          <a:prstGeom prst="line">
            <a:avLst/>
          </a:prstGeom>
          <a:ln w="38100">
            <a:solidFill>
              <a:srgbClr val="008F00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>
              <a:solidFill>
                <a:srgbClr val="009900"/>
              </a:solidFill>
            </a:endParaRPr>
          </a:p>
        </p:txBody>
      </p:sp>
      <p:sp>
        <p:nvSpPr>
          <p:cNvPr id="3112" name="Shape 3112"/>
          <p:cNvSpPr/>
          <p:nvPr/>
        </p:nvSpPr>
        <p:spPr>
          <a:xfrm flipV="1">
            <a:off x="6681449" y="4688005"/>
            <a:ext cx="691" cy="1439101"/>
          </a:xfrm>
          <a:prstGeom prst="line">
            <a:avLst/>
          </a:prstGeom>
          <a:ln w="38100">
            <a:solidFill>
              <a:srgbClr val="008F00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>
              <a:solidFill>
                <a:srgbClr val="009900"/>
              </a:solidFill>
            </a:endParaRPr>
          </a:p>
        </p:txBody>
      </p:sp>
      <p:sp>
        <p:nvSpPr>
          <p:cNvPr id="3113" name="Shape 3113"/>
          <p:cNvSpPr/>
          <p:nvPr/>
        </p:nvSpPr>
        <p:spPr>
          <a:xfrm>
            <a:off x="6277570" y="5384601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y</a:t>
            </a:r>
          </a:p>
        </p:txBody>
      </p:sp>
      <p:sp>
        <p:nvSpPr>
          <p:cNvPr id="3114" name="Shape 3114"/>
          <p:cNvSpPr/>
          <p:nvPr/>
        </p:nvSpPr>
        <p:spPr>
          <a:xfrm>
            <a:off x="7277695" y="4607719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y</a:t>
            </a:r>
          </a:p>
        </p:txBody>
      </p:sp>
      <p:sp>
        <p:nvSpPr>
          <p:cNvPr id="3115" name="Shape 3115"/>
          <p:cNvSpPr/>
          <p:nvPr/>
        </p:nvSpPr>
        <p:spPr>
          <a:xfrm>
            <a:off x="7670601" y="4607719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z</a:t>
            </a:r>
          </a:p>
        </p:txBody>
      </p:sp>
      <p:sp>
        <p:nvSpPr>
          <p:cNvPr id="3116" name="Shape 3116"/>
          <p:cNvSpPr/>
          <p:nvPr/>
        </p:nvSpPr>
        <p:spPr>
          <a:xfrm>
            <a:off x="6277570" y="5715000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z</a:t>
            </a:r>
          </a:p>
        </p:txBody>
      </p:sp>
      <p:sp>
        <p:nvSpPr>
          <p:cNvPr id="3117" name="Shape 3117"/>
          <p:cNvSpPr/>
          <p:nvPr/>
        </p:nvSpPr>
        <p:spPr>
          <a:xfrm>
            <a:off x="6893719" y="5750719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rgbClr val="FF9900"/>
                </a:solidFill>
              </a:rPr>
              <a:t>3</a:t>
            </a:r>
          </a:p>
        </p:txBody>
      </p:sp>
      <p:sp>
        <p:nvSpPr>
          <p:cNvPr id="3118" name="Shape 3118"/>
          <p:cNvSpPr/>
          <p:nvPr/>
        </p:nvSpPr>
        <p:spPr>
          <a:xfrm>
            <a:off x="7286625" y="5750719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1</a:t>
            </a:r>
          </a:p>
        </p:txBody>
      </p:sp>
      <p:sp>
        <p:nvSpPr>
          <p:cNvPr id="3119" name="Shape 3119"/>
          <p:cNvSpPr/>
          <p:nvPr/>
        </p:nvSpPr>
        <p:spPr>
          <a:xfrm>
            <a:off x="7661672" y="5750719"/>
            <a:ext cx="196453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0</a:t>
            </a:r>
          </a:p>
        </p:txBody>
      </p:sp>
      <p:sp>
        <p:nvSpPr>
          <p:cNvPr id="3120" name="Shape 3120"/>
          <p:cNvSpPr/>
          <p:nvPr/>
        </p:nvSpPr>
        <p:spPr>
          <a:xfrm>
            <a:off x="7259836" y="5402461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rgbClr val="FF9900"/>
                </a:solidFill>
              </a:rPr>
              <a:t>0</a:t>
            </a:r>
          </a:p>
        </p:txBody>
      </p:sp>
      <p:sp>
        <p:nvSpPr>
          <p:cNvPr id="3121" name="Shape 3121"/>
          <p:cNvSpPr/>
          <p:nvPr/>
        </p:nvSpPr>
        <p:spPr>
          <a:xfrm>
            <a:off x="7652742" y="5393531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rgbClr val="FF9900"/>
                </a:solidFill>
              </a:rPr>
              <a:t>1</a:t>
            </a:r>
          </a:p>
        </p:txBody>
      </p:sp>
      <p:sp>
        <p:nvSpPr>
          <p:cNvPr id="3122" name="Shape 3122"/>
          <p:cNvSpPr/>
          <p:nvPr/>
        </p:nvSpPr>
        <p:spPr>
          <a:xfrm>
            <a:off x="2249816" y="2928896"/>
            <a:ext cx="4494121" cy="7694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21" extrusionOk="0">
                <a:moveTo>
                  <a:pt x="21600" y="21038"/>
                </a:moveTo>
                <a:cubicBezTo>
                  <a:pt x="21600" y="21038"/>
                  <a:pt x="13263" y="-179"/>
                  <a:pt x="10818" y="1"/>
                </a:cubicBezTo>
                <a:cubicBezTo>
                  <a:pt x="8512" y="171"/>
                  <a:pt x="0" y="21421"/>
                  <a:pt x="0" y="21421"/>
                </a:cubicBezTo>
              </a:path>
            </a:pathLst>
          </a:custGeom>
          <a:ln w="63500">
            <a:solidFill>
              <a:srgbClr val="942193"/>
            </a:solidFill>
            <a:miter lim="400000"/>
            <a:tailEnd type="stealth"/>
          </a:ln>
        </p:spPr>
        <p:txBody>
          <a:bodyPr lIns="0" tIns="0" rIns="0" bIns="0" anchor="ctr"/>
          <a:lstStyle/>
          <a:p>
            <a:pPr lvl="0"/>
            <a:endParaRPr sz="1125"/>
          </a:p>
        </p:txBody>
      </p:sp>
      <p:sp>
        <p:nvSpPr>
          <p:cNvPr id="3123" name="Shape 3123"/>
          <p:cNvSpPr/>
          <p:nvPr/>
        </p:nvSpPr>
        <p:spPr>
          <a:xfrm>
            <a:off x="4179094" y="1651992"/>
            <a:ext cx="437555" cy="482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4600"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3234" dirty="0">
                <a:solidFill>
                  <a:srgbClr val="0000FF"/>
                </a:solidFill>
              </a:rPr>
              <a:t>∞</a:t>
            </a:r>
          </a:p>
        </p:txBody>
      </p:sp>
      <p:sp>
        <p:nvSpPr>
          <p:cNvPr id="3125" name="Shape 3125"/>
          <p:cNvSpPr/>
          <p:nvPr/>
        </p:nvSpPr>
        <p:spPr>
          <a:xfrm>
            <a:off x="4170164" y="1357313"/>
            <a:ext cx="437555" cy="482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4600"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3234" dirty="0">
                <a:solidFill>
                  <a:srgbClr val="0000FF"/>
                </a:solidFill>
              </a:rPr>
              <a:t>∞</a:t>
            </a:r>
          </a:p>
        </p:txBody>
      </p:sp>
      <p:sp>
        <p:nvSpPr>
          <p:cNvPr id="3126" name="Shape 3126"/>
          <p:cNvSpPr/>
          <p:nvPr/>
        </p:nvSpPr>
        <p:spPr>
          <a:xfrm>
            <a:off x="6768703" y="5375672"/>
            <a:ext cx="437555" cy="482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4600"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3234" dirty="0">
                <a:solidFill>
                  <a:srgbClr val="0000FF"/>
                </a:solidFill>
              </a:rPr>
              <a:t>∞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3EBAF45-151E-C349-9C4F-29D7A2E0E84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E2893C13-EE0C-EE4E-AB27-289AE4B3B289}" type="slidenum">
              <a:rPr lang="en-US" altLang="x-none" smtClean="0"/>
              <a:pPr/>
              <a:t>37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39511127"/>
      </p:ext>
    </p:extLst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0" name="Shape 3140"/>
          <p:cNvSpPr/>
          <p:nvPr/>
        </p:nvSpPr>
        <p:spPr>
          <a:xfrm>
            <a:off x="3455789" y="535781"/>
            <a:ext cx="2107406" cy="1625203"/>
          </a:xfrm>
          <a:prstGeom prst="rect">
            <a:avLst/>
          </a:prstGeom>
          <a:solidFill>
            <a:schemeClr val="bg1"/>
          </a:solidFill>
          <a:ln w="63500">
            <a:solidFill>
              <a:srgbClr val="FF9300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93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>
              <a:solidFill>
                <a:srgbClr val="FF9900"/>
              </a:solidFill>
            </a:endParaRPr>
          </a:p>
        </p:txBody>
      </p:sp>
      <p:sp>
        <p:nvSpPr>
          <p:cNvPr id="3130" name="Shape 3130"/>
          <p:cNvSpPr/>
          <p:nvPr/>
        </p:nvSpPr>
        <p:spPr>
          <a:xfrm>
            <a:off x="2107403" y="3821276"/>
            <a:ext cx="4865179" cy="1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3131" name="Shape 3131"/>
          <p:cNvSpPr/>
          <p:nvPr/>
        </p:nvSpPr>
        <p:spPr>
          <a:xfrm>
            <a:off x="4654379" y="2812098"/>
            <a:ext cx="2320587" cy="823433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3133" name="Shape 3133"/>
          <p:cNvSpPr/>
          <p:nvPr/>
        </p:nvSpPr>
        <p:spPr>
          <a:xfrm>
            <a:off x="1634133" y="3429000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424242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2953">
                <a:solidFill>
                  <a:schemeClr val="bg1"/>
                </a:solidFill>
              </a:rPr>
              <a:t>x</a:t>
            </a:r>
          </a:p>
        </p:txBody>
      </p:sp>
      <p:sp>
        <p:nvSpPr>
          <p:cNvPr id="3134" name="Shape 3134"/>
          <p:cNvSpPr/>
          <p:nvPr/>
        </p:nvSpPr>
        <p:spPr>
          <a:xfrm>
            <a:off x="6768703" y="3429000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008F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2953"/>
              <a:t>z</a:t>
            </a:r>
          </a:p>
        </p:txBody>
      </p:sp>
      <p:sp>
        <p:nvSpPr>
          <p:cNvPr id="3135" name="Shape 3135"/>
          <p:cNvSpPr/>
          <p:nvPr/>
        </p:nvSpPr>
        <p:spPr>
          <a:xfrm>
            <a:off x="4241602" y="2500313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FF93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2953"/>
              <a:t>y</a:t>
            </a:r>
          </a:p>
        </p:txBody>
      </p:sp>
      <p:sp>
        <p:nvSpPr>
          <p:cNvPr id="3136" name="Shape 3136"/>
          <p:cNvSpPr/>
          <p:nvPr/>
        </p:nvSpPr>
        <p:spPr>
          <a:xfrm>
            <a:off x="4375547" y="3290738"/>
            <a:ext cx="267891" cy="5265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 b="1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953"/>
              <a:t>7</a:t>
            </a:r>
          </a:p>
        </p:txBody>
      </p:sp>
      <p:sp>
        <p:nvSpPr>
          <p:cNvPr id="3137" name="Shape 3137"/>
          <p:cNvSpPr/>
          <p:nvPr/>
        </p:nvSpPr>
        <p:spPr>
          <a:xfrm>
            <a:off x="5822156" y="2661195"/>
            <a:ext cx="267891" cy="5265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 b="1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953"/>
              <a:t>1</a:t>
            </a:r>
          </a:p>
        </p:txBody>
      </p:sp>
      <p:sp>
        <p:nvSpPr>
          <p:cNvPr id="3138" name="Shape 3138"/>
          <p:cNvSpPr/>
          <p:nvPr/>
        </p:nvSpPr>
        <p:spPr>
          <a:xfrm>
            <a:off x="4705945" y="1366242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0</a:t>
            </a:r>
          </a:p>
        </p:txBody>
      </p:sp>
      <p:sp>
        <p:nvSpPr>
          <p:cNvPr id="3139" name="Shape 3139"/>
          <p:cNvSpPr/>
          <p:nvPr/>
        </p:nvSpPr>
        <p:spPr>
          <a:xfrm>
            <a:off x="5098852" y="1366242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1</a:t>
            </a:r>
          </a:p>
        </p:txBody>
      </p:sp>
      <p:sp>
        <p:nvSpPr>
          <p:cNvPr id="3141" name="Shape 3141"/>
          <p:cNvSpPr/>
          <p:nvPr/>
        </p:nvSpPr>
        <p:spPr>
          <a:xfrm>
            <a:off x="4313039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x</a:t>
            </a:r>
          </a:p>
        </p:txBody>
      </p:sp>
      <p:sp>
        <p:nvSpPr>
          <p:cNvPr id="3142" name="Shape 3142"/>
          <p:cNvSpPr/>
          <p:nvPr/>
        </p:nvSpPr>
        <p:spPr>
          <a:xfrm flipV="1">
            <a:off x="3518294" y="994341"/>
            <a:ext cx="1958034" cy="655"/>
          </a:xfrm>
          <a:prstGeom prst="line">
            <a:avLst/>
          </a:prstGeom>
          <a:ln w="38100">
            <a:solidFill>
              <a:srgbClr val="FF9300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>
              <a:solidFill>
                <a:srgbClr val="FF9900"/>
              </a:solidFill>
            </a:endParaRPr>
          </a:p>
        </p:txBody>
      </p:sp>
      <p:sp>
        <p:nvSpPr>
          <p:cNvPr id="3143" name="Shape 3143"/>
          <p:cNvSpPr/>
          <p:nvPr/>
        </p:nvSpPr>
        <p:spPr>
          <a:xfrm flipV="1">
            <a:off x="4091840" y="633926"/>
            <a:ext cx="691" cy="1439101"/>
          </a:xfrm>
          <a:prstGeom prst="line">
            <a:avLst/>
          </a:prstGeom>
          <a:ln w="38100">
            <a:solidFill>
              <a:srgbClr val="FF9300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>
              <a:solidFill>
                <a:srgbClr val="FF9900"/>
              </a:solidFill>
            </a:endParaRPr>
          </a:p>
        </p:txBody>
      </p:sp>
      <p:sp>
        <p:nvSpPr>
          <p:cNvPr id="3144" name="Shape 3144"/>
          <p:cNvSpPr/>
          <p:nvPr/>
        </p:nvSpPr>
        <p:spPr>
          <a:xfrm>
            <a:off x="3687961" y="1330523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y</a:t>
            </a:r>
          </a:p>
        </p:txBody>
      </p:sp>
      <p:sp>
        <p:nvSpPr>
          <p:cNvPr id="3145" name="Shape 3145"/>
          <p:cNvSpPr/>
          <p:nvPr/>
        </p:nvSpPr>
        <p:spPr>
          <a:xfrm>
            <a:off x="4688086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y</a:t>
            </a:r>
          </a:p>
        </p:txBody>
      </p:sp>
      <p:sp>
        <p:nvSpPr>
          <p:cNvPr id="3146" name="Shape 3146"/>
          <p:cNvSpPr/>
          <p:nvPr/>
        </p:nvSpPr>
        <p:spPr>
          <a:xfrm>
            <a:off x="5080992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z</a:t>
            </a:r>
          </a:p>
        </p:txBody>
      </p:sp>
      <p:sp>
        <p:nvSpPr>
          <p:cNvPr id="3147" name="Shape 3147"/>
          <p:cNvSpPr/>
          <p:nvPr/>
        </p:nvSpPr>
        <p:spPr>
          <a:xfrm>
            <a:off x="3687961" y="1660922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z</a:t>
            </a:r>
          </a:p>
        </p:txBody>
      </p:sp>
      <p:sp>
        <p:nvSpPr>
          <p:cNvPr id="3148" name="Shape 3148"/>
          <p:cNvSpPr/>
          <p:nvPr/>
        </p:nvSpPr>
        <p:spPr>
          <a:xfrm>
            <a:off x="4697016" y="1705570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rgbClr val="009900"/>
                </a:solidFill>
              </a:rPr>
              <a:t>1</a:t>
            </a:r>
          </a:p>
        </p:txBody>
      </p:sp>
      <p:sp>
        <p:nvSpPr>
          <p:cNvPr id="3149" name="Shape 3149"/>
          <p:cNvSpPr/>
          <p:nvPr/>
        </p:nvSpPr>
        <p:spPr>
          <a:xfrm>
            <a:off x="5072062" y="1705570"/>
            <a:ext cx="214313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rgbClr val="009900"/>
                </a:solidFill>
              </a:rPr>
              <a:t>0</a:t>
            </a:r>
          </a:p>
        </p:txBody>
      </p:sp>
      <p:sp>
        <p:nvSpPr>
          <p:cNvPr id="3150" name="Shape 3150"/>
          <p:cNvSpPr/>
          <p:nvPr/>
        </p:nvSpPr>
        <p:spPr>
          <a:xfrm>
            <a:off x="6045399" y="4589859"/>
            <a:ext cx="2107406" cy="1625203"/>
          </a:xfrm>
          <a:prstGeom prst="rect">
            <a:avLst/>
          </a:prstGeom>
          <a:ln w="63500">
            <a:solidFill>
              <a:srgbClr val="008F00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008F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>
              <a:solidFill>
                <a:srgbClr val="009900"/>
              </a:solidFill>
            </a:endParaRPr>
          </a:p>
        </p:txBody>
      </p:sp>
      <p:sp>
        <p:nvSpPr>
          <p:cNvPr id="3151" name="Shape 3151"/>
          <p:cNvSpPr/>
          <p:nvPr/>
        </p:nvSpPr>
        <p:spPr>
          <a:xfrm>
            <a:off x="6902648" y="4607719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x</a:t>
            </a:r>
          </a:p>
        </p:txBody>
      </p:sp>
      <p:sp>
        <p:nvSpPr>
          <p:cNvPr id="3152" name="Shape 3152"/>
          <p:cNvSpPr/>
          <p:nvPr/>
        </p:nvSpPr>
        <p:spPr>
          <a:xfrm flipV="1">
            <a:off x="6107904" y="5048419"/>
            <a:ext cx="1958034" cy="655"/>
          </a:xfrm>
          <a:prstGeom prst="line">
            <a:avLst/>
          </a:prstGeom>
          <a:ln w="38100">
            <a:solidFill>
              <a:srgbClr val="008F00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>
              <a:solidFill>
                <a:srgbClr val="009900"/>
              </a:solidFill>
            </a:endParaRPr>
          </a:p>
        </p:txBody>
      </p:sp>
      <p:sp>
        <p:nvSpPr>
          <p:cNvPr id="3153" name="Shape 3153"/>
          <p:cNvSpPr/>
          <p:nvPr/>
        </p:nvSpPr>
        <p:spPr>
          <a:xfrm flipV="1">
            <a:off x="6681449" y="4688005"/>
            <a:ext cx="691" cy="1439101"/>
          </a:xfrm>
          <a:prstGeom prst="line">
            <a:avLst/>
          </a:prstGeom>
          <a:ln w="38100">
            <a:solidFill>
              <a:srgbClr val="008F00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>
              <a:solidFill>
                <a:srgbClr val="009900"/>
              </a:solidFill>
            </a:endParaRPr>
          </a:p>
        </p:txBody>
      </p:sp>
      <p:sp>
        <p:nvSpPr>
          <p:cNvPr id="3154" name="Shape 3154"/>
          <p:cNvSpPr/>
          <p:nvPr/>
        </p:nvSpPr>
        <p:spPr>
          <a:xfrm>
            <a:off x="6277570" y="5384601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y</a:t>
            </a:r>
          </a:p>
        </p:txBody>
      </p:sp>
      <p:sp>
        <p:nvSpPr>
          <p:cNvPr id="3155" name="Shape 3155"/>
          <p:cNvSpPr/>
          <p:nvPr/>
        </p:nvSpPr>
        <p:spPr>
          <a:xfrm>
            <a:off x="7277695" y="4607719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y</a:t>
            </a:r>
          </a:p>
        </p:txBody>
      </p:sp>
      <p:sp>
        <p:nvSpPr>
          <p:cNvPr id="3156" name="Shape 3156"/>
          <p:cNvSpPr/>
          <p:nvPr/>
        </p:nvSpPr>
        <p:spPr>
          <a:xfrm>
            <a:off x="7670601" y="4607719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z</a:t>
            </a:r>
          </a:p>
        </p:txBody>
      </p:sp>
      <p:sp>
        <p:nvSpPr>
          <p:cNvPr id="3157" name="Shape 3157"/>
          <p:cNvSpPr/>
          <p:nvPr/>
        </p:nvSpPr>
        <p:spPr>
          <a:xfrm>
            <a:off x="6277570" y="5715000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z</a:t>
            </a:r>
          </a:p>
        </p:txBody>
      </p:sp>
      <p:sp>
        <p:nvSpPr>
          <p:cNvPr id="3158" name="Shape 3158"/>
          <p:cNvSpPr/>
          <p:nvPr/>
        </p:nvSpPr>
        <p:spPr>
          <a:xfrm>
            <a:off x="6893719" y="5750719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7</a:t>
            </a:r>
          </a:p>
        </p:txBody>
      </p:sp>
      <p:sp>
        <p:nvSpPr>
          <p:cNvPr id="3159" name="Shape 3159"/>
          <p:cNvSpPr/>
          <p:nvPr/>
        </p:nvSpPr>
        <p:spPr>
          <a:xfrm>
            <a:off x="7286625" y="5750719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1</a:t>
            </a:r>
          </a:p>
        </p:txBody>
      </p:sp>
      <p:sp>
        <p:nvSpPr>
          <p:cNvPr id="3160" name="Shape 3160"/>
          <p:cNvSpPr/>
          <p:nvPr/>
        </p:nvSpPr>
        <p:spPr>
          <a:xfrm>
            <a:off x="7661672" y="5750719"/>
            <a:ext cx="196453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0</a:t>
            </a:r>
          </a:p>
        </p:txBody>
      </p:sp>
      <p:sp>
        <p:nvSpPr>
          <p:cNvPr id="3161" name="Shape 3161"/>
          <p:cNvSpPr/>
          <p:nvPr/>
        </p:nvSpPr>
        <p:spPr>
          <a:xfrm>
            <a:off x="7259836" y="5402461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rgbClr val="FF9900"/>
                </a:solidFill>
              </a:rPr>
              <a:t>0</a:t>
            </a:r>
          </a:p>
        </p:txBody>
      </p:sp>
      <p:sp>
        <p:nvSpPr>
          <p:cNvPr id="3162" name="Shape 3162"/>
          <p:cNvSpPr/>
          <p:nvPr/>
        </p:nvSpPr>
        <p:spPr>
          <a:xfrm>
            <a:off x="7652742" y="5393531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rgbClr val="FF9900"/>
                </a:solidFill>
              </a:rPr>
              <a:t>1</a:t>
            </a:r>
          </a:p>
        </p:txBody>
      </p:sp>
      <p:sp>
        <p:nvSpPr>
          <p:cNvPr id="3163" name="Shape 3163"/>
          <p:cNvSpPr/>
          <p:nvPr/>
        </p:nvSpPr>
        <p:spPr>
          <a:xfrm>
            <a:off x="2249816" y="2928896"/>
            <a:ext cx="4494121" cy="7694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21" extrusionOk="0">
                <a:moveTo>
                  <a:pt x="21600" y="21038"/>
                </a:moveTo>
                <a:cubicBezTo>
                  <a:pt x="21600" y="21038"/>
                  <a:pt x="13263" y="-179"/>
                  <a:pt x="10818" y="1"/>
                </a:cubicBezTo>
                <a:cubicBezTo>
                  <a:pt x="8512" y="171"/>
                  <a:pt x="0" y="21421"/>
                  <a:pt x="0" y="21421"/>
                </a:cubicBezTo>
              </a:path>
            </a:pathLst>
          </a:custGeom>
          <a:ln w="63500">
            <a:solidFill>
              <a:srgbClr val="942193"/>
            </a:solidFill>
            <a:miter lim="400000"/>
            <a:tailEnd type="stealth"/>
          </a:ln>
        </p:spPr>
        <p:txBody>
          <a:bodyPr lIns="0" tIns="0" rIns="0" bIns="0" anchor="ctr"/>
          <a:lstStyle/>
          <a:p>
            <a:pPr lvl="0"/>
            <a:endParaRPr sz="1125"/>
          </a:p>
        </p:txBody>
      </p:sp>
      <p:sp>
        <p:nvSpPr>
          <p:cNvPr id="3164" name="Shape 3164"/>
          <p:cNvSpPr/>
          <p:nvPr/>
        </p:nvSpPr>
        <p:spPr>
          <a:xfrm>
            <a:off x="4179094" y="1651992"/>
            <a:ext cx="437555" cy="482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4600"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3234" dirty="0">
                <a:solidFill>
                  <a:srgbClr val="0000FF"/>
                </a:solidFill>
              </a:rPr>
              <a:t>∞</a:t>
            </a:r>
          </a:p>
        </p:txBody>
      </p:sp>
      <p:sp>
        <p:nvSpPr>
          <p:cNvPr id="3166" name="Shape 3166"/>
          <p:cNvSpPr/>
          <p:nvPr/>
        </p:nvSpPr>
        <p:spPr>
          <a:xfrm>
            <a:off x="4170164" y="1357313"/>
            <a:ext cx="437555" cy="482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4600"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3234" dirty="0">
                <a:solidFill>
                  <a:srgbClr val="0000FF"/>
                </a:solidFill>
              </a:rPr>
              <a:t>∞</a:t>
            </a:r>
          </a:p>
        </p:txBody>
      </p:sp>
      <p:sp>
        <p:nvSpPr>
          <p:cNvPr id="3167" name="Shape 3167"/>
          <p:cNvSpPr/>
          <p:nvPr/>
        </p:nvSpPr>
        <p:spPr>
          <a:xfrm>
            <a:off x="6768703" y="5375672"/>
            <a:ext cx="437555" cy="482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4600"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3234" dirty="0">
                <a:solidFill>
                  <a:srgbClr val="0000FF"/>
                </a:solidFill>
              </a:rPr>
              <a:t>∞</a:t>
            </a:r>
          </a:p>
        </p:txBody>
      </p:sp>
      <p:sp>
        <p:nvSpPr>
          <p:cNvPr id="3168" name="Shape 3168"/>
          <p:cNvSpPr/>
          <p:nvPr/>
        </p:nvSpPr>
        <p:spPr>
          <a:xfrm flipH="1" flipV="1">
            <a:off x="2259208" y="3711014"/>
            <a:ext cx="4470989" cy="2"/>
          </a:xfrm>
          <a:prstGeom prst="line">
            <a:avLst/>
          </a:prstGeom>
          <a:ln w="63500">
            <a:solidFill>
              <a:srgbClr val="942193"/>
            </a:solidFill>
            <a:miter lim="400000"/>
            <a:tailEnd type="stealth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D80FC42-A1FB-C743-9003-7CA162E0CF1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E2893C13-EE0C-EE4E-AB27-289AE4B3B289}" type="slidenum">
              <a:rPr lang="en-US" altLang="x-none" smtClean="0"/>
              <a:pPr/>
              <a:t>38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43753328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10" dur="1000" fill="hold"/>
                                        <p:tgtEl>
                                          <p:spTgt spid="31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3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1000"/>
                                        <p:tgtEl>
                                          <p:spTgt spid="3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58" grpId="0" animBg="1" advAuto="0"/>
      <p:bldP spid="3163" grpId="0" animBg="1" advAuto="0"/>
      <p:bldP spid="3168" grpId="0" animBg="1" advAuto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2" name="Shape 3182"/>
          <p:cNvSpPr/>
          <p:nvPr/>
        </p:nvSpPr>
        <p:spPr>
          <a:xfrm>
            <a:off x="3455789" y="535781"/>
            <a:ext cx="2107406" cy="1625203"/>
          </a:xfrm>
          <a:prstGeom prst="rect">
            <a:avLst/>
          </a:prstGeom>
          <a:solidFill>
            <a:schemeClr val="bg1"/>
          </a:solidFill>
          <a:ln w="63500">
            <a:solidFill>
              <a:srgbClr val="FF9300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93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>
              <a:solidFill>
                <a:srgbClr val="FF9900"/>
              </a:solidFill>
            </a:endParaRPr>
          </a:p>
        </p:txBody>
      </p:sp>
      <p:sp>
        <p:nvSpPr>
          <p:cNvPr id="3172" name="Shape 3172"/>
          <p:cNvSpPr/>
          <p:nvPr/>
        </p:nvSpPr>
        <p:spPr>
          <a:xfrm>
            <a:off x="2107403" y="3821276"/>
            <a:ext cx="4865179" cy="1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3173" name="Shape 3173"/>
          <p:cNvSpPr/>
          <p:nvPr/>
        </p:nvSpPr>
        <p:spPr>
          <a:xfrm>
            <a:off x="4654379" y="2812098"/>
            <a:ext cx="2320587" cy="823433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3175" name="Shape 3175"/>
          <p:cNvSpPr/>
          <p:nvPr/>
        </p:nvSpPr>
        <p:spPr>
          <a:xfrm>
            <a:off x="1634133" y="3429000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424242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2953">
                <a:solidFill>
                  <a:schemeClr val="bg1"/>
                </a:solidFill>
              </a:rPr>
              <a:t>x</a:t>
            </a:r>
          </a:p>
        </p:txBody>
      </p:sp>
      <p:sp>
        <p:nvSpPr>
          <p:cNvPr id="3176" name="Shape 3176"/>
          <p:cNvSpPr/>
          <p:nvPr/>
        </p:nvSpPr>
        <p:spPr>
          <a:xfrm>
            <a:off x="6768703" y="3429000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008F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2953"/>
              <a:t>z</a:t>
            </a:r>
          </a:p>
        </p:txBody>
      </p:sp>
      <p:sp>
        <p:nvSpPr>
          <p:cNvPr id="3177" name="Shape 3177"/>
          <p:cNvSpPr/>
          <p:nvPr/>
        </p:nvSpPr>
        <p:spPr>
          <a:xfrm>
            <a:off x="4241602" y="2500313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FF93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2953"/>
              <a:t>y</a:t>
            </a:r>
          </a:p>
        </p:txBody>
      </p:sp>
      <p:sp>
        <p:nvSpPr>
          <p:cNvPr id="3178" name="Shape 3178"/>
          <p:cNvSpPr/>
          <p:nvPr/>
        </p:nvSpPr>
        <p:spPr>
          <a:xfrm>
            <a:off x="4375547" y="3290738"/>
            <a:ext cx="267891" cy="5265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 b="1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953"/>
              <a:t>7</a:t>
            </a:r>
          </a:p>
        </p:txBody>
      </p:sp>
      <p:sp>
        <p:nvSpPr>
          <p:cNvPr id="3179" name="Shape 3179"/>
          <p:cNvSpPr/>
          <p:nvPr/>
        </p:nvSpPr>
        <p:spPr>
          <a:xfrm>
            <a:off x="5822156" y="2661195"/>
            <a:ext cx="267891" cy="5265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 b="1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953"/>
              <a:t>1</a:t>
            </a:r>
          </a:p>
        </p:txBody>
      </p:sp>
      <p:sp>
        <p:nvSpPr>
          <p:cNvPr id="3180" name="Shape 3180"/>
          <p:cNvSpPr/>
          <p:nvPr/>
        </p:nvSpPr>
        <p:spPr>
          <a:xfrm>
            <a:off x="4705945" y="1366242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0</a:t>
            </a:r>
          </a:p>
        </p:txBody>
      </p:sp>
      <p:sp>
        <p:nvSpPr>
          <p:cNvPr id="3181" name="Shape 3181"/>
          <p:cNvSpPr/>
          <p:nvPr/>
        </p:nvSpPr>
        <p:spPr>
          <a:xfrm>
            <a:off x="5098852" y="1366242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1</a:t>
            </a:r>
          </a:p>
        </p:txBody>
      </p:sp>
      <p:sp>
        <p:nvSpPr>
          <p:cNvPr id="3183" name="Shape 3183"/>
          <p:cNvSpPr/>
          <p:nvPr/>
        </p:nvSpPr>
        <p:spPr>
          <a:xfrm>
            <a:off x="4313039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x</a:t>
            </a:r>
          </a:p>
        </p:txBody>
      </p:sp>
      <p:sp>
        <p:nvSpPr>
          <p:cNvPr id="3184" name="Shape 3184"/>
          <p:cNvSpPr/>
          <p:nvPr/>
        </p:nvSpPr>
        <p:spPr>
          <a:xfrm flipV="1">
            <a:off x="3518294" y="994341"/>
            <a:ext cx="1958034" cy="655"/>
          </a:xfrm>
          <a:prstGeom prst="line">
            <a:avLst/>
          </a:prstGeom>
          <a:ln w="38100">
            <a:solidFill>
              <a:srgbClr val="FF9300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>
              <a:solidFill>
                <a:srgbClr val="FF9900"/>
              </a:solidFill>
            </a:endParaRPr>
          </a:p>
        </p:txBody>
      </p:sp>
      <p:sp>
        <p:nvSpPr>
          <p:cNvPr id="3185" name="Shape 3185"/>
          <p:cNvSpPr/>
          <p:nvPr/>
        </p:nvSpPr>
        <p:spPr>
          <a:xfrm flipV="1">
            <a:off x="4091840" y="633926"/>
            <a:ext cx="691" cy="1439101"/>
          </a:xfrm>
          <a:prstGeom prst="line">
            <a:avLst/>
          </a:prstGeom>
          <a:ln w="38100">
            <a:solidFill>
              <a:srgbClr val="FF9300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>
              <a:solidFill>
                <a:srgbClr val="FF9900"/>
              </a:solidFill>
            </a:endParaRPr>
          </a:p>
        </p:txBody>
      </p:sp>
      <p:sp>
        <p:nvSpPr>
          <p:cNvPr id="3186" name="Shape 3186"/>
          <p:cNvSpPr/>
          <p:nvPr/>
        </p:nvSpPr>
        <p:spPr>
          <a:xfrm>
            <a:off x="3687961" y="1330523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y</a:t>
            </a:r>
          </a:p>
        </p:txBody>
      </p:sp>
      <p:sp>
        <p:nvSpPr>
          <p:cNvPr id="3187" name="Shape 3187"/>
          <p:cNvSpPr/>
          <p:nvPr/>
        </p:nvSpPr>
        <p:spPr>
          <a:xfrm>
            <a:off x="4688086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y</a:t>
            </a:r>
          </a:p>
        </p:txBody>
      </p:sp>
      <p:sp>
        <p:nvSpPr>
          <p:cNvPr id="3188" name="Shape 3188"/>
          <p:cNvSpPr/>
          <p:nvPr/>
        </p:nvSpPr>
        <p:spPr>
          <a:xfrm>
            <a:off x="5080992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z</a:t>
            </a:r>
          </a:p>
        </p:txBody>
      </p:sp>
      <p:sp>
        <p:nvSpPr>
          <p:cNvPr id="3189" name="Shape 3189"/>
          <p:cNvSpPr/>
          <p:nvPr/>
        </p:nvSpPr>
        <p:spPr>
          <a:xfrm>
            <a:off x="3687961" y="1660922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z</a:t>
            </a:r>
          </a:p>
        </p:txBody>
      </p:sp>
      <p:sp>
        <p:nvSpPr>
          <p:cNvPr id="3190" name="Shape 3190"/>
          <p:cNvSpPr/>
          <p:nvPr/>
        </p:nvSpPr>
        <p:spPr>
          <a:xfrm>
            <a:off x="4697016" y="1705570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rgbClr val="009900"/>
                </a:solidFill>
              </a:rPr>
              <a:t>1</a:t>
            </a:r>
          </a:p>
        </p:txBody>
      </p:sp>
      <p:sp>
        <p:nvSpPr>
          <p:cNvPr id="3191" name="Shape 3191"/>
          <p:cNvSpPr/>
          <p:nvPr/>
        </p:nvSpPr>
        <p:spPr>
          <a:xfrm>
            <a:off x="5072062" y="1705570"/>
            <a:ext cx="214313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rgbClr val="009900"/>
                </a:solidFill>
              </a:rPr>
              <a:t>0</a:t>
            </a:r>
          </a:p>
        </p:txBody>
      </p:sp>
      <p:sp>
        <p:nvSpPr>
          <p:cNvPr id="3192" name="Shape 3192"/>
          <p:cNvSpPr/>
          <p:nvPr/>
        </p:nvSpPr>
        <p:spPr>
          <a:xfrm>
            <a:off x="6045399" y="4589859"/>
            <a:ext cx="2107406" cy="1625203"/>
          </a:xfrm>
          <a:prstGeom prst="rect">
            <a:avLst/>
          </a:prstGeom>
          <a:ln w="63500">
            <a:solidFill>
              <a:srgbClr val="008F00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008F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>
              <a:solidFill>
                <a:srgbClr val="009900"/>
              </a:solidFill>
            </a:endParaRPr>
          </a:p>
        </p:txBody>
      </p:sp>
      <p:sp>
        <p:nvSpPr>
          <p:cNvPr id="3193" name="Shape 3193"/>
          <p:cNvSpPr/>
          <p:nvPr/>
        </p:nvSpPr>
        <p:spPr>
          <a:xfrm>
            <a:off x="6902648" y="4607719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x</a:t>
            </a:r>
          </a:p>
        </p:txBody>
      </p:sp>
      <p:sp>
        <p:nvSpPr>
          <p:cNvPr id="3194" name="Shape 3194"/>
          <p:cNvSpPr/>
          <p:nvPr/>
        </p:nvSpPr>
        <p:spPr>
          <a:xfrm flipV="1">
            <a:off x="6107904" y="5048419"/>
            <a:ext cx="1958034" cy="655"/>
          </a:xfrm>
          <a:prstGeom prst="line">
            <a:avLst/>
          </a:prstGeom>
          <a:ln w="38100">
            <a:solidFill>
              <a:srgbClr val="008F00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>
              <a:solidFill>
                <a:srgbClr val="009900"/>
              </a:solidFill>
            </a:endParaRPr>
          </a:p>
        </p:txBody>
      </p:sp>
      <p:sp>
        <p:nvSpPr>
          <p:cNvPr id="3195" name="Shape 3195"/>
          <p:cNvSpPr/>
          <p:nvPr/>
        </p:nvSpPr>
        <p:spPr>
          <a:xfrm flipV="1">
            <a:off x="6681449" y="4688005"/>
            <a:ext cx="691" cy="1439101"/>
          </a:xfrm>
          <a:prstGeom prst="line">
            <a:avLst/>
          </a:prstGeom>
          <a:ln w="38100">
            <a:solidFill>
              <a:srgbClr val="008F00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>
              <a:solidFill>
                <a:srgbClr val="009900"/>
              </a:solidFill>
            </a:endParaRPr>
          </a:p>
        </p:txBody>
      </p:sp>
      <p:sp>
        <p:nvSpPr>
          <p:cNvPr id="3196" name="Shape 3196"/>
          <p:cNvSpPr/>
          <p:nvPr/>
        </p:nvSpPr>
        <p:spPr>
          <a:xfrm>
            <a:off x="6277570" y="5384601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y</a:t>
            </a:r>
          </a:p>
        </p:txBody>
      </p:sp>
      <p:sp>
        <p:nvSpPr>
          <p:cNvPr id="3197" name="Shape 3197"/>
          <p:cNvSpPr/>
          <p:nvPr/>
        </p:nvSpPr>
        <p:spPr>
          <a:xfrm>
            <a:off x="7277695" y="4607719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y</a:t>
            </a:r>
          </a:p>
        </p:txBody>
      </p:sp>
      <p:sp>
        <p:nvSpPr>
          <p:cNvPr id="3198" name="Shape 3198"/>
          <p:cNvSpPr/>
          <p:nvPr/>
        </p:nvSpPr>
        <p:spPr>
          <a:xfrm>
            <a:off x="7670601" y="4607719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z</a:t>
            </a:r>
          </a:p>
        </p:txBody>
      </p:sp>
      <p:sp>
        <p:nvSpPr>
          <p:cNvPr id="3199" name="Shape 3199"/>
          <p:cNvSpPr/>
          <p:nvPr/>
        </p:nvSpPr>
        <p:spPr>
          <a:xfrm>
            <a:off x="6277570" y="5715000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z</a:t>
            </a:r>
          </a:p>
        </p:txBody>
      </p:sp>
      <p:sp>
        <p:nvSpPr>
          <p:cNvPr id="3200" name="Shape 3200"/>
          <p:cNvSpPr/>
          <p:nvPr/>
        </p:nvSpPr>
        <p:spPr>
          <a:xfrm>
            <a:off x="6893719" y="5750719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7</a:t>
            </a:r>
          </a:p>
        </p:txBody>
      </p:sp>
      <p:sp>
        <p:nvSpPr>
          <p:cNvPr id="3201" name="Shape 3201"/>
          <p:cNvSpPr/>
          <p:nvPr/>
        </p:nvSpPr>
        <p:spPr>
          <a:xfrm>
            <a:off x="7286625" y="5750719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1</a:t>
            </a:r>
          </a:p>
        </p:txBody>
      </p:sp>
      <p:sp>
        <p:nvSpPr>
          <p:cNvPr id="3202" name="Shape 3202"/>
          <p:cNvSpPr/>
          <p:nvPr/>
        </p:nvSpPr>
        <p:spPr>
          <a:xfrm>
            <a:off x="7661672" y="5750719"/>
            <a:ext cx="196453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0</a:t>
            </a:r>
          </a:p>
        </p:txBody>
      </p:sp>
      <p:sp>
        <p:nvSpPr>
          <p:cNvPr id="3203" name="Shape 3203"/>
          <p:cNvSpPr/>
          <p:nvPr/>
        </p:nvSpPr>
        <p:spPr>
          <a:xfrm>
            <a:off x="7259836" y="5402461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rgbClr val="FF9900"/>
                </a:solidFill>
              </a:rPr>
              <a:t>0</a:t>
            </a:r>
          </a:p>
        </p:txBody>
      </p:sp>
      <p:sp>
        <p:nvSpPr>
          <p:cNvPr id="3204" name="Shape 3204"/>
          <p:cNvSpPr/>
          <p:nvPr/>
        </p:nvSpPr>
        <p:spPr>
          <a:xfrm>
            <a:off x="7652742" y="5393531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rgbClr val="FF9900"/>
                </a:solidFill>
              </a:rPr>
              <a:t>1</a:t>
            </a:r>
          </a:p>
        </p:txBody>
      </p:sp>
      <p:sp>
        <p:nvSpPr>
          <p:cNvPr id="3206" name="Shape 3206"/>
          <p:cNvSpPr/>
          <p:nvPr/>
        </p:nvSpPr>
        <p:spPr>
          <a:xfrm>
            <a:off x="4170164" y="1357313"/>
            <a:ext cx="437555" cy="482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4600"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3234" dirty="0">
                <a:solidFill>
                  <a:srgbClr val="0000FF"/>
                </a:solidFill>
              </a:rPr>
              <a:t>∞</a:t>
            </a:r>
          </a:p>
        </p:txBody>
      </p:sp>
      <p:sp>
        <p:nvSpPr>
          <p:cNvPr id="3207" name="Shape 3207"/>
          <p:cNvSpPr/>
          <p:nvPr/>
        </p:nvSpPr>
        <p:spPr>
          <a:xfrm>
            <a:off x="6768703" y="5375672"/>
            <a:ext cx="437555" cy="482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4600"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3234" dirty="0">
                <a:solidFill>
                  <a:srgbClr val="0000FF"/>
                </a:solidFill>
              </a:rPr>
              <a:t>∞</a:t>
            </a:r>
          </a:p>
        </p:txBody>
      </p:sp>
      <p:sp>
        <p:nvSpPr>
          <p:cNvPr id="3208" name="Shape 3208"/>
          <p:cNvSpPr/>
          <p:nvPr/>
        </p:nvSpPr>
        <p:spPr>
          <a:xfrm flipH="1" flipV="1">
            <a:off x="2259208" y="3711014"/>
            <a:ext cx="4470989" cy="2"/>
          </a:xfrm>
          <a:prstGeom prst="line">
            <a:avLst/>
          </a:prstGeom>
          <a:ln w="63500">
            <a:solidFill>
              <a:srgbClr val="942193"/>
            </a:solidFill>
            <a:miter lim="400000"/>
            <a:tailEnd type="stealth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3209" name="Shape 3209"/>
          <p:cNvSpPr/>
          <p:nvPr/>
        </p:nvSpPr>
        <p:spPr>
          <a:xfrm>
            <a:off x="4286250" y="1696641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rgbClr val="009900"/>
                </a:solidFill>
              </a:rPr>
              <a:t>7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3828BDB-ACA3-B643-A1DA-7D80C7D8620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E2893C13-EE0C-EE4E-AB27-289AE4B3B289}" type="slidenum">
              <a:rPr lang="en-US" altLang="x-none" smtClean="0"/>
              <a:pPr/>
              <a:t>39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725157554"/>
      </p:ext>
    </p:extLst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3" name="Shape 3223"/>
          <p:cNvSpPr/>
          <p:nvPr/>
        </p:nvSpPr>
        <p:spPr>
          <a:xfrm>
            <a:off x="3455789" y="535781"/>
            <a:ext cx="2107406" cy="1625203"/>
          </a:xfrm>
          <a:prstGeom prst="rect">
            <a:avLst/>
          </a:prstGeom>
          <a:solidFill>
            <a:schemeClr val="bg1"/>
          </a:solidFill>
          <a:ln w="63500">
            <a:solidFill>
              <a:srgbClr val="FF9300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93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>
              <a:solidFill>
                <a:srgbClr val="FF9900"/>
              </a:solidFill>
            </a:endParaRPr>
          </a:p>
        </p:txBody>
      </p:sp>
      <p:sp>
        <p:nvSpPr>
          <p:cNvPr id="3213" name="Shape 3213"/>
          <p:cNvSpPr/>
          <p:nvPr/>
        </p:nvSpPr>
        <p:spPr>
          <a:xfrm>
            <a:off x="2107403" y="3821276"/>
            <a:ext cx="4865179" cy="1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3214" name="Shape 3214"/>
          <p:cNvSpPr/>
          <p:nvPr/>
        </p:nvSpPr>
        <p:spPr>
          <a:xfrm>
            <a:off x="4654379" y="2812098"/>
            <a:ext cx="2320587" cy="823433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3216" name="Shape 3216"/>
          <p:cNvSpPr/>
          <p:nvPr/>
        </p:nvSpPr>
        <p:spPr>
          <a:xfrm>
            <a:off x="1634133" y="3429000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424242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2953">
                <a:solidFill>
                  <a:schemeClr val="bg1"/>
                </a:solidFill>
              </a:rPr>
              <a:t>x</a:t>
            </a:r>
          </a:p>
        </p:txBody>
      </p:sp>
      <p:sp>
        <p:nvSpPr>
          <p:cNvPr id="3217" name="Shape 3217"/>
          <p:cNvSpPr/>
          <p:nvPr/>
        </p:nvSpPr>
        <p:spPr>
          <a:xfrm>
            <a:off x="6768703" y="3429000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008F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2953"/>
              <a:t>z</a:t>
            </a:r>
          </a:p>
        </p:txBody>
      </p:sp>
      <p:sp>
        <p:nvSpPr>
          <p:cNvPr id="3218" name="Shape 3218"/>
          <p:cNvSpPr/>
          <p:nvPr/>
        </p:nvSpPr>
        <p:spPr>
          <a:xfrm>
            <a:off x="4241602" y="2500313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FF93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2953"/>
              <a:t>y</a:t>
            </a:r>
          </a:p>
        </p:txBody>
      </p:sp>
      <p:sp>
        <p:nvSpPr>
          <p:cNvPr id="3219" name="Shape 3219"/>
          <p:cNvSpPr/>
          <p:nvPr/>
        </p:nvSpPr>
        <p:spPr>
          <a:xfrm>
            <a:off x="4375547" y="3290738"/>
            <a:ext cx="267891" cy="5265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 b="1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953"/>
              <a:t>7</a:t>
            </a:r>
          </a:p>
        </p:txBody>
      </p:sp>
      <p:sp>
        <p:nvSpPr>
          <p:cNvPr id="3220" name="Shape 3220"/>
          <p:cNvSpPr/>
          <p:nvPr/>
        </p:nvSpPr>
        <p:spPr>
          <a:xfrm>
            <a:off x="5822156" y="2661195"/>
            <a:ext cx="267891" cy="5265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 b="1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953"/>
              <a:t>1</a:t>
            </a:r>
          </a:p>
        </p:txBody>
      </p:sp>
      <p:sp>
        <p:nvSpPr>
          <p:cNvPr id="3221" name="Shape 3221"/>
          <p:cNvSpPr/>
          <p:nvPr/>
        </p:nvSpPr>
        <p:spPr>
          <a:xfrm>
            <a:off x="4705945" y="1366242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0</a:t>
            </a:r>
          </a:p>
        </p:txBody>
      </p:sp>
      <p:sp>
        <p:nvSpPr>
          <p:cNvPr id="3222" name="Shape 3222"/>
          <p:cNvSpPr/>
          <p:nvPr/>
        </p:nvSpPr>
        <p:spPr>
          <a:xfrm>
            <a:off x="5098852" y="1366242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1</a:t>
            </a:r>
          </a:p>
        </p:txBody>
      </p:sp>
      <p:sp>
        <p:nvSpPr>
          <p:cNvPr id="3224" name="Shape 3224"/>
          <p:cNvSpPr/>
          <p:nvPr/>
        </p:nvSpPr>
        <p:spPr>
          <a:xfrm>
            <a:off x="4313039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x</a:t>
            </a:r>
          </a:p>
        </p:txBody>
      </p:sp>
      <p:sp>
        <p:nvSpPr>
          <p:cNvPr id="3225" name="Shape 3225"/>
          <p:cNvSpPr/>
          <p:nvPr/>
        </p:nvSpPr>
        <p:spPr>
          <a:xfrm flipV="1">
            <a:off x="3518294" y="994341"/>
            <a:ext cx="1958034" cy="655"/>
          </a:xfrm>
          <a:prstGeom prst="line">
            <a:avLst/>
          </a:prstGeom>
          <a:ln w="38100">
            <a:solidFill>
              <a:srgbClr val="FF9300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>
              <a:solidFill>
                <a:srgbClr val="FF9900"/>
              </a:solidFill>
            </a:endParaRPr>
          </a:p>
        </p:txBody>
      </p:sp>
      <p:sp>
        <p:nvSpPr>
          <p:cNvPr id="3226" name="Shape 3226"/>
          <p:cNvSpPr/>
          <p:nvPr/>
        </p:nvSpPr>
        <p:spPr>
          <a:xfrm flipV="1">
            <a:off x="4091840" y="633926"/>
            <a:ext cx="691" cy="1439101"/>
          </a:xfrm>
          <a:prstGeom prst="line">
            <a:avLst/>
          </a:prstGeom>
          <a:ln w="38100">
            <a:solidFill>
              <a:srgbClr val="FF9300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>
              <a:solidFill>
                <a:srgbClr val="FF9900"/>
              </a:solidFill>
            </a:endParaRPr>
          </a:p>
        </p:txBody>
      </p:sp>
      <p:sp>
        <p:nvSpPr>
          <p:cNvPr id="3227" name="Shape 3227"/>
          <p:cNvSpPr/>
          <p:nvPr/>
        </p:nvSpPr>
        <p:spPr>
          <a:xfrm>
            <a:off x="3687961" y="1330523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y</a:t>
            </a:r>
          </a:p>
        </p:txBody>
      </p:sp>
      <p:sp>
        <p:nvSpPr>
          <p:cNvPr id="3228" name="Shape 3228"/>
          <p:cNvSpPr/>
          <p:nvPr/>
        </p:nvSpPr>
        <p:spPr>
          <a:xfrm>
            <a:off x="4688086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y</a:t>
            </a:r>
          </a:p>
        </p:txBody>
      </p:sp>
      <p:sp>
        <p:nvSpPr>
          <p:cNvPr id="3229" name="Shape 3229"/>
          <p:cNvSpPr/>
          <p:nvPr/>
        </p:nvSpPr>
        <p:spPr>
          <a:xfrm>
            <a:off x="5080992" y="553641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z</a:t>
            </a:r>
          </a:p>
        </p:txBody>
      </p:sp>
      <p:sp>
        <p:nvSpPr>
          <p:cNvPr id="3230" name="Shape 3230"/>
          <p:cNvSpPr/>
          <p:nvPr/>
        </p:nvSpPr>
        <p:spPr>
          <a:xfrm>
            <a:off x="3687961" y="1660922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FF9900"/>
                </a:solidFill>
              </a:rPr>
              <a:t>z</a:t>
            </a:r>
          </a:p>
        </p:txBody>
      </p:sp>
      <p:sp>
        <p:nvSpPr>
          <p:cNvPr id="3231" name="Shape 3231"/>
          <p:cNvSpPr/>
          <p:nvPr/>
        </p:nvSpPr>
        <p:spPr>
          <a:xfrm>
            <a:off x="4697016" y="1705570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rgbClr val="009900"/>
                </a:solidFill>
              </a:rPr>
              <a:t>1</a:t>
            </a:r>
          </a:p>
        </p:txBody>
      </p:sp>
      <p:sp>
        <p:nvSpPr>
          <p:cNvPr id="3232" name="Shape 3232"/>
          <p:cNvSpPr/>
          <p:nvPr/>
        </p:nvSpPr>
        <p:spPr>
          <a:xfrm>
            <a:off x="5072062" y="1705570"/>
            <a:ext cx="214313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rgbClr val="009900"/>
                </a:solidFill>
              </a:rPr>
              <a:t>0</a:t>
            </a:r>
          </a:p>
        </p:txBody>
      </p:sp>
      <p:sp>
        <p:nvSpPr>
          <p:cNvPr id="3233" name="Shape 3233"/>
          <p:cNvSpPr/>
          <p:nvPr/>
        </p:nvSpPr>
        <p:spPr>
          <a:xfrm>
            <a:off x="6045399" y="4589859"/>
            <a:ext cx="2107406" cy="1625203"/>
          </a:xfrm>
          <a:prstGeom prst="rect">
            <a:avLst/>
          </a:prstGeom>
          <a:ln w="63500">
            <a:solidFill>
              <a:srgbClr val="008F00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008F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>
              <a:solidFill>
                <a:srgbClr val="009900"/>
              </a:solidFill>
            </a:endParaRPr>
          </a:p>
        </p:txBody>
      </p:sp>
      <p:sp>
        <p:nvSpPr>
          <p:cNvPr id="3234" name="Shape 3234"/>
          <p:cNvSpPr/>
          <p:nvPr/>
        </p:nvSpPr>
        <p:spPr>
          <a:xfrm>
            <a:off x="6902648" y="4607719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x</a:t>
            </a:r>
          </a:p>
        </p:txBody>
      </p:sp>
      <p:sp>
        <p:nvSpPr>
          <p:cNvPr id="3235" name="Shape 3235"/>
          <p:cNvSpPr/>
          <p:nvPr/>
        </p:nvSpPr>
        <p:spPr>
          <a:xfrm flipV="1">
            <a:off x="6107904" y="5048419"/>
            <a:ext cx="1958034" cy="655"/>
          </a:xfrm>
          <a:prstGeom prst="line">
            <a:avLst/>
          </a:prstGeom>
          <a:ln w="38100">
            <a:solidFill>
              <a:srgbClr val="008F00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>
              <a:solidFill>
                <a:srgbClr val="009900"/>
              </a:solidFill>
            </a:endParaRPr>
          </a:p>
        </p:txBody>
      </p:sp>
      <p:sp>
        <p:nvSpPr>
          <p:cNvPr id="3236" name="Shape 3236"/>
          <p:cNvSpPr/>
          <p:nvPr/>
        </p:nvSpPr>
        <p:spPr>
          <a:xfrm flipV="1">
            <a:off x="6681449" y="4688005"/>
            <a:ext cx="691" cy="1439101"/>
          </a:xfrm>
          <a:prstGeom prst="line">
            <a:avLst/>
          </a:prstGeom>
          <a:ln w="38100">
            <a:solidFill>
              <a:srgbClr val="008F00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>
              <a:solidFill>
                <a:srgbClr val="009900"/>
              </a:solidFill>
            </a:endParaRPr>
          </a:p>
        </p:txBody>
      </p:sp>
      <p:sp>
        <p:nvSpPr>
          <p:cNvPr id="3237" name="Shape 3237"/>
          <p:cNvSpPr/>
          <p:nvPr/>
        </p:nvSpPr>
        <p:spPr>
          <a:xfrm>
            <a:off x="6277570" y="5384601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y</a:t>
            </a:r>
          </a:p>
        </p:txBody>
      </p:sp>
      <p:sp>
        <p:nvSpPr>
          <p:cNvPr id="3238" name="Shape 3238"/>
          <p:cNvSpPr/>
          <p:nvPr/>
        </p:nvSpPr>
        <p:spPr>
          <a:xfrm>
            <a:off x="7277695" y="4607719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y</a:t>
            </a:r>
          </a:p>
        </p:txBody>
      </p:sp>
      <p:sp>
        <p:nvSpPr>
          <p:cNvPr id="3239" name="Shape 3239"/>
          <p:cNvSpPr/>
          <p:nvPr/>
        </p:nvSpPr>
        <p:spPr>
          <a:xfrm>
            <a:off x="7670601" y="4607719"/>
            <a:ext cx="267891" cy="419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z</a:t>
            </a:r>
          </a:p>
        </p:txBody>
      </p:sp>
      <p:sp>
        <p:nvSpPr>
          <p:cNvPr id="3240" name="Shape 3240"/>
          <p:cNvSpPr/>
          <p:nvPr/>
        </p:nvSpPr>
        <p:spPr>
          <a:xfrm>
            <a:off x="6277570" y="5715000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z</a:t>
            </a:r>
          </a:p>
        </p:txBody>
      </p:sp>
      <p:sp>
        <p:nvSpPr>
          <p:cNvPr id="3241" name="Shape 3241"/>
          <p:cNvSpPr/>
          <p:nvPr/>
        </p:nvSpPr>
        <p:spPr>
          <a:xfrm>
            <a:off x="6893719" y="5750719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7</a:t>
            </a:r>
          </a:p>
        </p:txBody>
      </p:sp>
      <p:sp>
        <p:nvSpPr>
          <p:cNvPr id="3242" name="Shape 3242"/>
          <p:cNvSpPr/>
          <p:nvPr/>
        </p:nvSpPr>
        <p:spPr>
          <a:xfrm>
            <a:off x="7286625" y="5750719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1</a:t>
            </a:r>
          </a:p>
        </p:txBody>
      </p:sp>
      <p:sp>
        <p:nvSpPr>
          <p:cNvPr id="3243" name="Shape 3243"/>
          <p:cNvSpPr/>
          <p:nvPr/>
        </p:nvSpPr>
        <p:spPr>
          <a:xfrm>
            <a:off x="7661672" y="5750719"/>
            <a:ext cx="196453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>
                <a:solidFill>
                  <a:srgbClr val="009900"/>
                </a:solidFill>
              </a:rPr>
              <a:t>0</a:t>
            </a:r>
          </a:p>
        </p:txBody>
      </p:sp>
      <p:sp>
        <p:nvSpPr>
          <p:cNvPr id="3244" name="Shape 3244"/>
          <p:cNvSpPr/>
          <p:nvPr/>
        </p:nvSpPr>
        <p:spPr>
          <a:xfrm>
            <a:off x="7259836" y="5402461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rgbClr val="FF9900"/>
                </a:solidFill>
              </a:rPr>
              <a:t>0</a:t>
            </a:r>
          </a:p>
        </p:txBody>
      </p:sp>
      <p:sp>
        <p:nvSpPr>
          <p:cNvPr id="3245" name="Shape 3245"/>
          <p:cNvSpPr/>
          <p:nvPr/>
        </p:nvSpPr>
        <p:spPr>
          <a:xfrm>
            <a:off x="7652742" y="5393531"/>
            <a:ext cx="133945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FF93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rgbClr val="FF9900"/>
                </a:solidFill>
              </a:rPr>
              <a:t>1</a:t>
            </a:r>
          </a:p>
        </p:txBody>
      </p:sp>
      <p:sp>
        <p:nvSpPr>
          <p:cNvPr id="3247" name="Shape 3247"/>
          <p:cNvSpPr/>
          <p:nvPr/>
        </p:nvSpPr>
        <p:spPr>
          <a:xfrm>
            <a:off x="6768703" y="5375672"/>
            <a:ext cx="437555" cy="482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4600"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3234" dirty="0">
                <a:solidFill>
                  <a:srgbClr val="0000FF"/>
                </a:solidFill>
              </a:rPr>
              <a:t>∞</a:t>
            </a:r>
          </a:p>
        </p:txBody>
      </p:sp>
      <p:sp>
        <p:nvSpPr>
          <p:cNvPr id="3248" name="Shape 3248"/>
          <p:cNvSpPr/>
          <p:nvPr/>
        </p:nvSpPr>
        <p:spPr>
          <a:xfrm flipH="1" flipV="1">
            <a:off x="2259208" y="3711014"/>
            <a:ext cx="4470989" cy="2"/>
          </a:xfrm>
          <a:prstGeom prst="line">
            <a:avLst/>
          </a:prstGeom>
          <a:ln w="63500">
            <a:solidFill>
              <a:srgbClr val="942193"/>
            </a:solidFill>
            <a:miter lim="400000"/>
            <a:tailEnd type="stealth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3249" name="Shape 3249"/>
          <p:cNvSpPr/>
          <p:nvPr/>
        </p:nvSpPr>
        <p:spPr>
          <a:xfrm>
            <a:off x="4286250" y="1696641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rgbClr val="009900"/>
                </a:solidFill>
              </a:rPr>
              <a:t>7</a:t>
            </a:r>
          </a:p>
        </p:txBody>
      </p:sp>
      <p:sp>
        <p:nvSpPr>
          <p:cNvPr id="3250" name="Shape 3250"/>
          <p:cNvSpPr/>
          <p:nvPr/>
        </p:nvSpPr>
        <p:spPr>
          <a:xfrm flipV="1">
            <a:off x="4205507" y="1539271"/>
            <a:ext cx="1044506" cy="549740"/>
          </a:xfrm>
          <a:prstGeom prst="line">
            <a:avLst/>
          </a:prstGeom>
          <a:ln w="63500">
            <a:solidFill>
              <a:srgbClr val="942193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>
              <a:solidFill>
                <a:srgbClr val="FF9900"/>
              </a:solidFill>
            </a:endParaRPr>
          </a:p>
        </p:txBody>
      </p:sp>
      <p:sp>
        <p:nvSpPr>
          <p:cNvPr id="3251" name="Shape 3251"/>
          <p:cNvSpPr/>
          <p:nvPr/>
        </p:nvSpPr>
        <p:spPr>
          <a:xfrm>
            <a:off x="4295180" y="1384101"/>
            <a:ext cx="16966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/>
          <a:lstStyle>
            <a:lvl1pPr algn="l">
              <a:defRPr sz="3600">
                <a:solidFill>
                  <a:srgbClr val="008F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rgbClr val="009900"/>
                </a:solidFill>
              </a:rPr>
              <a:t>8</a:t>
            </a:r>
          </a:p>
        </p:txBody>
      </p:sp>
      <p:sp>
        <p:nvSpPr>
          <p:cNvPr id="3252" name="Shape 3252"/>
          <p:cNvSpPr/>
          <p:nvPr/>
        </p:nvSpPr>
        <p:spPr>
          <a:xfrm>
            <a:off x="2226445" y="2734954"/>
            <a:ext cx="4604188" cy="12344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74" h="18682" extrusionOk="0">
                <a:moveTo>
                  <a:pt x="12179" y="0"/>
                </a:moveTo>
                <a:cubicBezTo>
                  <a:pt x="12179" y="0"/>
                  <a:pt x="21413" y="10286"/>
                  <a:pt x="21473" y="13935"/>
                </a:cubicBezTo>
                <a:cubicBezTo>
                  <a:pt x="21600" y="21600"/>
                  <a:pt x="0" y="17679"/>
                  <a:pt x="0" y="17679"/>
                </a:cubicBezTo>
              </a:path>
            </a:pathLst>
          </a:custGeom>
          <a:ln w="63500">
            <a:solidFill>
              <a:srgbClr val="942193"/>
            </a:solidFill>
            <a:miter lim="400000"/>
            <a:tailEnd type="stealth"/>
          </a:ln>
        </p:spPr>
        <p:txBody>
          <a:bodyPr lIns="0" tIns="0" rIns="0" bIns="0" anchor="ctr"/>
          <a:lstStyle/>
          <a:p>
            <a:pPr lvl="0"/>
            <a:endParaRPr sz="1125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3AB19C2-2D75-A943-8088-1923089A6E7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E2893C13-EE0C-EE4E-AB27-289AE4B3B289}" type="slidenum">
              <a:rPr lang="en-US" altLang="x-none" smtClean="0"/>
              <a:pPr/>
              <a:t>40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828871970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1000"/>
                                        <p:tgtEl>
                                          <p:spTgt spid="3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3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15" dur="1000" fill="hold"/>
                                        <p:tgtEl>
                                          <p:spTgt spid="32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3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1000"/>
                                        <p:tgtEl>
                                          <p:spTgt spid="3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50" grpId="0" animBg="1" advAuto="0"/>
      <p:bldP spid="3250" grpId="1" animBg="1" advAuto="0"/>
      <p:bldP spid="3251" grpId="0" animBg="1" advAuto="0"/>
      <p:bldP spid="3252" grpId="0" animBg="1" advAuto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Poisoned reverse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</a:t>
            </a:r>
            <a:r>
              <a:rPr lang="en-US" dirty="0">
                <a:solidFill>
                  <a:srgbClr val="0000FF"/>
                </a:solidFill>
              </a:rPr>
              <a:t>heuristic</a:t>
            </a:r>
            <a:r>
              <a:rPr lang="en-US" dirty="0"/>
              <a:t> to avoid count-to-infinity</a:t>
            </a:r>
          </a:p>
          <a:p>
            <a:pPr lvl="1"/>
            <a:r>
              <a:rPr lang="en-US" dirty="0"/>
              <a:t>If z routes to x through y, </a:t>
            </a:r>
          </a:p>
          <a:p>
            <a:pPr lvl="2"/>
            <a:r>
              <a:rPr lang="en-US" dirty="0"/>
              <a:t>z advertises to y that its cost to x is infinite</a:t>
            </a:r>
          </a:p>
          <a:p>
            <a:pPr lvl="1"/>
            <a:r>
              <a:rPr lang="en-US" dirty="0"/>
              <a:t>y never decides to route to x through z</a:t>
            </a:r>
          </a:p>
          <a:p>
            <a:r>
              <a:rPr lang="en-US" dirty="0">
                <a:solidFill>
                  <a:srgbClr val="0000FF"/>
                </a:solidFill>
              </a:rPr>
              <a:t>Not guaranteed</a:t>
            </a:r>
          </a:p>
          <a:p>
            <a:r>
              <a:rPr lang="en-US" dirty="0">
                <a:solidFill>
                  <a:srgbClr val="0000FF"/>
                </a:solidFill>
              </a:rPr>
              <a:t>Loop-free routing </a:t>
            </a:r>
            <a:r>
              <a:rPr lang="en-US" dirty="0"/>
              <a:t>examples include</a:t>
            </a:r>
          </a:p>
          <a:p>
            <a:pPr lvl="1"/>
            <a:r>
              <a:rPr lang="en-US" dirty="0"/>
              <a:t>Path vector</a:t>
            </a:r>
          </a:p>
          <a:p>
            <a:pPr lvl="1"/>
            <a:r>
              <a:rPr lang="en-US" dirty="0"/>
              <a:t>Source tracing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152C11-D41E-3F42-AA35-4614C29D60C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701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3" name="Shape 119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Distance-vector routing</a:t>
            </a:r>
          </a:p>
        </p:txBody>
      </p:sp>
      <p:sp>
        <p:nvSpPr>
          <p:cNvPr id="1194" name="Shape 119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Scalability?</a:t>
            </a:r>
          </a:p>
          <a:p>
            <a:pPr lvl="1"/>
            <a:r>
              <a:rPr lang="en-US" dirty="0"/>
              <a:t>Requires fewer messages than Link-State</a:t>
            </a:r>
          </a:p>
          <a:p>
            <a:pPr lvl="1"/>
            <a:r>
              <a:rPr lang="en-US" dirty="0"/>
              <a:t>O(N) update time on arrival of a new DV from neighbor</a:t>
            </a:r>
          </a:p>
          <a:p>
            <a:pPr lvl="1"/>
            <a:r>
              <a:rPr lang="en-US" dirty="0"/>
              <a:t>O(network diameter) convergence time </a:t>
            </a:r>
          </a:p>
          <a:p>
            <a:pPr lvl="1"/>
            <a:r>
              <a:rPr lang="en-US" dirty="0"/>
              <a:t>O(N) entries in forwarding table</a:t>
            </a:r>
          </a:p>
          <a:p>
            <a:endParaRPr lang="en-US" dirty="0"/>
          </a:p>
          <a:p>
            <a:r>
              <a:rPr lang="en-US" dirty="0"/>
              <a:t>RIP is a protocol that implements DV (IETF RFC 2080)</a:t>
            </a:r>
          </a:p>
          <a:p>
            <a:pPr lvl="1"/>
            <a:r>
              <a:rPr lang="en-US" altLang="zh-CN" dirty="0"/>
              <a:t>Routing</a:t>
            </a:r>
            <a:r>
              <a:rPr lang="zh-CN" altLang="en-US" dirty="0"/>
              <a:t> </a:t>
            </a:r>
            <a:r>
              <a:rPr lang="en-US" altLang="zh-CN" dirty="0"/>
              <a:t>Information</a:t>
            </a:r>
            <a:r>
              <a:rPr lang="zh-CN" altLang="en-US" dirty="0"/>
              <a:t> </a:t>
            </a:r>
            <a:r>
              <a:rPr lang="en-US" altLang="zh-CN" dirty="0"/>
              <a:t>Protocol,</a:t>
            </a:r>
            <a:r>
              <a:rPr lang="zh-CN" altLang="en-US" dirty="0"/>
              <a:t> </a:t>
            </a:r>
            <a:r>
              <a:rPr lang="en-US" altLang="zh-CN" dirty="0"/>
              <a:t>RIP</a:t>
            </a:r>
            <a:endParaRPr lang="en-US" dirty="0"/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7FFA2A3-0B5D-7040-8864-AF6E4FB8888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68707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of LS and DV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</a:rPr>
              <a:t>Messaging complexity</a:t>
            </a:r>
          </a:p>
          <a:p>
            <a:r>
              <a:rPr lang="en-US" dirty="0"/>
              <a:t>LS: with N nodes, E links,         O(NE) messages sent  </a:t>
            </a:r>
          </a:p>
          <a:p>
            <a:r>
              <a:rPr lang="en-US" dirty="0"/>
              <a:t>DV: exchange between neighbors only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</a:rPr>
              <a:t>Speed of convergence</a:t>
            </a:r>
          </a:p>
          <a:p>
            <a:r>
              <a:rPr lang="en-US" dirty="0"/>
              <a:t>LS: relatively fast</a:t>
            </a:r>
          </a:p>
          <a:p>
            <a:r>
              <a:rPr lang="en-US" dirty="0"/>
              <a:t>DV: convergence time varies</a:t>
            </a:r>
          </a:p>
          <a:p>
            <a:pPr lvl="1"/>
            <a:r>
              <a:rPr lang="en-US" dirty="0"/>
              <a:t>Count-to-infinity problem</a:t>
            </a:r>
          </a:p>
        </p:txBody>
      </p:sp>
      <p:sp>
        <p:nvSpPr>
          <p:cNvPr id="46084" name="Rectangle 4"/>
          <p:cNvSpPr>
            <a:spLocks noGrp="1" noChangeArrowheads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</a:rPr>
              <a:t>Robustness: what happens if router malfunctions?</a:t>
            </a:r>
          </a:p>
          <a:p>
            <a:r>
              <a:rPr lang="en-US" dirty="0"/>
              <a:t>LS: </a:t>
            </a:r>
          </a:p>
          <a:p>
            <a:pPr lvl="1"/>
            <a:r>
              <a:rPr lang="en-US" dirty="0"/>
              <a:t>Node can advertise incorrect </a:t>
            </a:r>
            <a:r>
              <a:rPr lang="en-US" dirty="0">
                <a:solidFill>
                  <a:srgbClr val="0000FF"/>
                </a:solidFill>
              </a:rPr>
              <a:t>link</a:t>
            </a:r>
            <a:r>
              <a:rPr lang="en-US" dirty="0"/>
              <a:t> cost</a:t>
            </a:r>
          </a:p>
          <a:p>
            <a:pPr lvl="1"/>
            <a:r>
              <a:rPr lang="en-US" dirty="0"/>
              <a:t>Each node computes its </a:t>
            </a:r>
            <a:r>
              <a:rPr lang="en-US" i="1" dirty="0"/>
              <a:t>own</a:t>
            </a:r>
            <a:r>
              <a:rPr lang="en-US" dirty="0"/>
              <a:t> table</a:t>
            </a:r>
          </a:p>
          <a:p>
            <a:r>
              <a:rPr lang="en-US" dirty="0"/>
              <a:t>DV:</a:t>
            </a:r>
          </a:p>
          <a:p>
            <a:pPr lvl="1"/>
            <a:r>
              <a:rPr lang="en-US" dirty="0"/>
              <a:t>Node can advertise incorrect </a:t>
            </a:r>
            <a:r>
              <a:rPr lang="en-US" dirty="0">
                <a:solidFill>
                  <a:srgbClr val="0000FF"/>
                </a:solidFill>
              </a:rPr>
              <a:t>path</a:t>
            </a:r>
            <a:r>
              <a:rPr lang="en-US" dirty="0"/>
              <a:t> cost</a:t>
            </a:r>
          </a:p>
          <a:p>
            <a:pPr lvl="1"/>
            <a:r>
              <a:rPr lang="en-US" dirty="0"/>
              <a:t>Each node’s table used by others (error propagates)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C9A172-AE33-3E40-B2DB-DD782C767FE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F36FED86-94EF-254D-90EE-B810FE8299EE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525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4" grpId="0" uiExpand="1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Similarities between LS and DV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Both are shortest-path based routing</a:t>
            </a:r>
          </a:p>
          <a:p>
            <a:pPr lvl="1"/>
            <a:r>
              <a:rPr lang="en-US" dirty="0"/>
              <a:t>Minimizing cost metric (link weights) is a common optimization goal</a:t>
            </a:r>
          </a:p>
          <a:p>
            <a:pPr lvl="2"/>
            <a:r>
              <a:rPr lang="en-US" dirty="0"/>
              <a:t>Routers share a common view as to what makes a path “good” and how to measure the “goodness”</a:t>
            </a:r>
          </a:p>
          <a:p>
            <a:r>
              <a:rPr lang="en-US" dirty="0"/>
              <a:t>Due to shared goal, commonly used inside an organization</a:t>
            </a:r>
          </a:p>
          <a:p>
            <a:pPr lvl="1"/>
            <a:r>
              <a:rPr lang="en-US" dirty="0"/>
              <a:t>RIP and OSPF are mostly used for </a:t>
            </a:r>
            <a:r>
              <a:rPr lang="en-US" dirty="0">
                <a:solidFill>
                  <a:srgbClr val="0000FF"/>
                </a:solidFill>
              </a:rPr>
              <a:t>intra</a:t>
            </a:r>
            <a:r>
              <a:rPr lang="en-US" dirty="0"/>
              <a:t>-domain routing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AD1E3E9-8974-854A-9851-1FD0D568541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801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Intra-AS routing</a:t>
            </a:r>
          </a:p>
          <a:p>
            <a:pPr lvl="1"/>
            <a:r>
              <a:rPr lang="en-US" dirty="0"/>
              <a:t>Link-state routing </a:t>
            </a:r>
          </a:p>
          <a:p>
            <a:pPr lvl="1"/>
            <a:r>
              <a:rPr lang="en-US" dirty="0"/>
              <a:t>Distance-vector routing</a:t>
            </a:r>
          </a:p>
          <a:p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5E4524-8537-E142-B6CC-E0AC29193F4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38130"/>
      </p:ext>
    </p:extLst>
  </p:cSld>
  <p:clrMapOvr>
    <a:masterClrMapping/>
  </p:clrMapOvr>
</p:sld>
</file>

<file path=ppt/theme/theme1.xml><?xml version="1.0" encoding="utf-8"?>
<a:theme xmlns:a="http://schemas.openxmlformats.org/drawingml/2006/main" name="Theme2">
  <a:themeElements>
    <a:clrScheme name="">
      <a:dk1>
        <a:srgbClr val="333399"/>
      </a:dk1>
      <a:lt1>
        <a:srgbClr val="FFFFFF"/>
      </a:lt1>
      <a:dk2>
        <a:srgbClr val="CC0000"/>
      </a:dk2>
      <a:lt2>
        <a:srgbClr val="CECECE"/>
      </a:lt2>
      <a:accent1>
        <a:srgbClr val="EBEBEB"/>
      </a:accent1>
      <a:accent2>
        <a:srgbClr val="232323"/>
      </a:accent2>
      <a:accent3>
        <a:srgbClr val="FFFFFF"/>
      </a:accent3>
      <a:accent4>
        <a:srgbClr val="2A2A82"/>
      </a:accent4>
      <a:accent5>
        <a:srgbClr val="F3F3F3"/>
      </a:accent5>
      <a:accent6>
        <a:srgbClr val="1F1F1F"/>
      </a:accent6>
      <a:hlink>
        <a:srgbClr val="9C9C9C"/>
      </a:hlink>
      <a:folHlink>
        <a:srgbClr val="676767"/>
      </a:folHlink>
    </a:clrScheme>
    <a:fontScheme name="dbllineb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accent2"/>
          </a:solidFill>
          <a:prstDash val="solid"/>
          <a:round/>
          <a:headEnd type="none" w="med" len="med"/>
          <a:tailEnd type="stealth" w="med" len="lg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accent2"/>
          </a:solidFill>
          <a:prstDash val="solid"/>
          <a:round/>
          <a:headEnd type="none" w="med" len="med"/>
          <a:tailEnd type="stealth" w="med" len="lg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bllineb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bllineb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2" id="{0F973FCD-1283-E74E-85B6-E8C3DE479C92}" vid="{42684C02-3BAE-2C44-AB2F-41432E78F1E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Theme2</Template>
  <TotalTime>1490454629</TotalTime>
  <Pages>7</Pages>
  <Words>1952</Words>
  <Application>Microsoft Macintosh PowerPoint</Application>
  <PresentationFormat>On-screen Show (4:3)</PresentationFormat>
  <Paragraphs>809</Paragraphs>
  <Slides>45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5" baseType="lpstr">
      <vt:lpstr>MS Mincho</vt:lpstr>
      <vt:lpstr>ＭＳ Ｐゴシック</vt:lpstr>
      <vt:lpstr>Arial</vt:lpstr>
      <vt:lpstr>Arial Black</vt:lpstr>
      <vt:lpstr>Gill Sans</vt:lpstr>
      <vt:lpstr>Helvetica Neue</vt:lpstr>
      <vt:lpstr>Monotype Sorts</vt:lpstr>
      <vt:lpstr>Times New Roman</vt:lpstr>
      <vt:lpstr>Wingdings</vt:lpstr>
      <vt:lpstr>Theme2</vt:lpstr>
      <vt:lpstr>CSCI4430 Computer Networks  Lecture12: Network Layer –  Intra-Domain Routing</vt:lpstr>
      <vt:lpstr>Agenda</vt:lpstr>
      <vt:lpstr>Recap: Least-cost path routing</vt:lpstr>
      <vt:lpstr>Recap: Dijkstra’s algorithm</vt:lpstr>
      <vt:lpstr>From algorithm to protocol</vt:lpstr>
      <vt:lpstr>Link-state routing</vt:lpstr>
      <vt:lpstr>Flooding link state</vt:lpstr>
      <vt:lpstr>Convergence</vt:lpstr>
      <vt:lpstr>Convergence delay</vt:lpstr>
      <vt:lpstr>Loop from convergence delay</vt:lpstr>
      <vt:lpstr>Performance during convergence period</vt:lpstr>
      <vt:lpstr>Link-state routing</vt:lpstr>
      <vt:lpstr>Link-state routing protocols</vt:lpstr>
      <vt:lpstr>OSPF: Open Shortest-Path First</vt:lpstr>
      <vt:lpstr>Distance-vector protocol</vt:lpstr>
      <vt:lpstr>Bellman-Ford equation</vt:lpstr>
      <vt:lpstr>Bellman-Ford example </vt:lpstr>
      <vt:lpstr>Distance vector algorithm </vt:lpstr>
      <vt:lpstr>Distance vector algorithm </vt:lpstr>
      <vt:lpstr>Distance vector algorithm 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Problems with Bellman-Ford</vt:lpstr>
      <vt:lpstr>Poisoned reverse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Poisoned reverse</vt:lpstr>
      <vt:lpstr>Distance-vector routing</vt:lpstr>
      <vt:lpstr>Comparison of LS and DV</vt:lpstr>
      <vt:lpstr>Similarities between LS and DV</vt:lpstr>
      <vt:lpstr>Summary</vt:lpstr>
    </vt:vector>
  </TitlesOfParts>
  <Manager/>
  <Company>UC Riverside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CS153: Lecture 3 - Processes</dc:title>
  <dc:subject/>
  <dc:creator>Harsha V. Madhyastha</dc:creator>
  <cp:keywords/>
  <dc:description/>
  <cp:lastModifiedBy>Hong Xu</cp:lastModifiedBy>
  <cp:revision>1314</cp:revision>
  <cp:lastPrinted>1999-09-08T17:25:07Z</cp:lastPrinted>
  <dcterms:created xsi:type="dcterms:W3CDTF">2014-01-14T18:15:50Z</dcterms:created>
  <dcterms:modified xsi:type="dcterms:W3CDTF">2025-03-19T02:56:10Z</dcterms:modified>
  <cp:category/>
</cp:coreProperties>
</file>
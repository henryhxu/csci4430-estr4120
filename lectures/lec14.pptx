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40"/>
  </p:notesMasterIdLst>
  <p:handoutMasterIdLst>
    <p:handoutMasterId r:id="rId41"/>
  </p:handoutMasterIdLst>
  <p:sldIdLst>
    <p:sldId id="638" r:id="rId2"/>
    <p:sldId id="487" r:id="rId3"/>
    <p:sldId id="557" r:id="rId4"/>
    <p:sldId id="558" r:id="rId5"/>
    <p:sldId id="560" r:id="rId6"/>
    <p:sldId id="561" r:id="rId7"/>
    <p:sldId id="592" r:id="rId8"/>
    <p:sldId id="566" r:id="rId9"/>
    <p:sldId id="570" r:id="rId10"/>
    <p:sldId id="598" r:id="rId11"/>
    <p:sldId id="569" r:id="rId12"/>
    <p:sldId id="524" r:id="rId13"/>
    <p:sldId id="586" r:id="rId14"/>
    <p:sldId id="587" r:id="rId15"/>
    <p:sldId id="571" r:id="rId16"/>
    <p:sldId id="597" r:id="rId17"/>
    <p:sldId id="574" r:id="rId18"/>
    <p:sldId id="577" r:id="rId19"/>
    <p:sldId id="582" r:id="rId20"/>
    <p:sldId id="602" r:id="rId21"/>
    <p:sldId id="603" r:id="rId22"/>
    <p:sldId id="599" r:id="rId23"/>
    <p:sldId id="606" r:id="rId24"/>
    <p:sldId id="527" r:id="rId25"/>
    <p:sldId id="529" r:id="rId26"/>
    <p:sldId id="532" r:id="rId27"/>
    <p:sldId id="548" r:id="rId28"/>
    <p:sldId id="607" r:id="rId29"/>
    <p:sldId id="609" r:id="rId30"/>
    <p:sldId id="608" r:id="rId31"/>
    <p:sldId id="610" r:id="rId32"/>
    <p:sldId id="611" r:id="rId33"/>
    <p:sldId id="612" r:id="rId34"/>
    <p:sldId id="613" r:id="rId35"/>
    <p:sldId id="616" r:id="rId36"/>
    <p:sldId id="617" r:id="rId37"/>
    <p:sldId id="639" r:id="rId38"/>
    <p:sldId id="595" r:id="rId39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CB05"/>
    <a:srgbClr val="D3A600"/>
    <a:srgbClr val="333399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840"/>
    <p:restoredTop sz="94726"/>
  </p:normalViewPr>
  <p:slideViewPr>
    <p:cSldViewPr>
      <p:cViewPr varScale="1">
        <p:scale>
          <a:sx n="120" d="100"/>
          <a:sy n="120" d="100"/>
        </p:scale>
        <p:origin x="237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D6AF786-1F47-0B4B-A763-80AC864C6FF4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7447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D6AF786-1F47-0B4B-A763-80AC864C6FF4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786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D6AF786-1F47-0B4B-A763-80AC864C6FF4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4571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D6AF786-1F47-0B4B-A763-80AC864C6FF4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846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D6AF786-1F47-0B4B-A763-80AC864C6FF4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9684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50E609E-E8D3-7341-9173-2B1EA0EA0FF7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15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D6AF786-1F47-0B4B-A763-80AC864C6FF4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8230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D6AF786-1F47-0B4B-A763-80AC864C6FF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4834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50E609E-E8D3-7341-9173-2B1EA0EA0FF7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1432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50E609E-E8D3-7341-9173-2B1EA0EA0FF7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7025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D6AF786-1F47-0B4B-A763-80AC864C6FF4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1541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50E609E-E8D3-7341-9173-2B1EA0EA0FF7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3890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D6AF786-1F47-0B4B-A763-80AC864C6FF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34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6788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966788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966788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966788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966788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91990D45-ECB8-7D48-BC53-6AE82CC0A61C}" type="slidenum">
              <a:rPr lang="de-DE" altLang="x-none" sz="1300">
                <a:latin typeface="Times New Roman" charset="0"/>
              </a:rPr>
              <a:pPr/>
              <a:t>25</a:t>
            </a:fld>
            <a:endParaRPr lang="de-DE" altLang="x-none" sz="1300">
              <a:latin typeface="Times New Roman" charset="0"/>
            </a:endParaRPr>
          </a:p>
        </p:txBody>
      </p:sp>
      <p:sp>
        <p:nvSpPr>
          <p:cNvPr id="1208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083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defTabSz="482600">
              <a:spcBef>
                <a:spcPct val="0"/>
              </a:spcBef>
            </a:pPr>
            <a:r>
              <a:rPr lang="en-US" altLang="x-none">
                <a:latin typeface="Times New Roman" charset="0"/>
                <a:ea typeface="ＭＳ Ｐゴシック" charset="-128"/>
              </a:rPr>
              <a:t>Now I</a:t>
            </a:r>
            <a:r>
              <a:rPr lang="en-US" altLang="en-US">
                <a:latin typeface="Times New Roman" charset="0"/>
                <a:ea typeface="ＭＳ Ｐゴシック" charset="-128"/>
              </a:rPr>
              <a:t>’</a:t>
            </a:r>
            <a:r>
              <a:rPr lang="en-US" altLang="x-none">
                <a:latin typeface="Times New Roman" charset="0"/>
                <a:ea typeface="ＭＳ Ｐゴシック" charset="-128"/>
              </a:rPr>
              <a:t>ll describe the API that tries to meet these goals.</a:t>
            </a:r>
          </a:p>
        </p:txBody>
      </p:sp>
      <p:sp>
        <p:nvSpPr>
          <p:cNvPr id="120836" name="Slide Number Placeholder 3"/>
          <p:cNvSpPr txBox="1">
            <a:spLocks noGrp="1"/>
          </p:cNvSpPr>
          <p:nvPr/>
        </p:nvSpPr>
        <p:spPr bwMode="auto"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6661" tIns="48331" rIns="96661" bIns="48331" anchor="b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r"/>
            <a:fld id="{CB38DDA0-F65C-3F40-AFE7-C77E2CF682DC}" type="slidenum">
              <a:rPr lang="en-US" altLang="x-none" sz="1300">
                <a:latin typeface="Calibri" charset="0"/>
              </a:rPr>
              <a:pPr algn="r"/>
              <a:t>25</a:t>
            </a:fld>
            <a:endParaRPr lang="en-US" altLang="x-none" sz="1300">
              <a:latin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1171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556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342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19878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667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256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19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2511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0015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9735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015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9602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80552310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EECS 489 – Lecture 16</a:t>
            </a:r>
          </a:p>
        </p:txBody>
      </p:sp>
    </p:spTree>
    <p:extLst>
      <p:ext uri="{BB962C8B-B14F-4D97-AF65-F5344CB8AC3E}">
        <p14:creationId xmlns:p14="http://schemas.microsoft.com/office/powerpoint/2010/main" val="2631827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Patri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ck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Lee,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14: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Network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Software-Defined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Networking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Software-defined networking</a:t>
            </a:r>
          </a:p>
          <a:p>
            <a:r>
              <a:rPr lang="en-US" dirty="0"/>
              <a:t>Programmable networks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field of networking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N</a:t>
            </a:r>
            <a:r>
              <a:rPr lang="en-US" dirty="0"/>
              <a:t>etworking is largely the study of the Internet</a:t>
            </a:r>
          </a:p>
          <a:p>
            <a:pPr lvl="1"/>
            <a:r>
              <a:rPr lang="en-US" dirty="0"/>
              <a:t>Ma</a:t>
            </a:r>
            <a:r>
              <a:rPr lang="en-US" altLang="zh-CN" dirty="0"/>
              <a:t>ybe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today…</a:t>
            </a:r>
            <a:endParaRPr lang="en-US" dirty="0"/>
          </a:p>
          <a:p>
            <a:pPr lvl="1"/>
            <a:r>
              <a:rPr lang="en-US" dirty="0"/>
              <a:t>Perhaps the only history class many will take in CS</a:t>
            </a:r>
            <a:endParaRPr lang="en-US" dirty="0">
              <a:solidFill>
                <a:srgbClr val="0000FF"/>
              </a:solidFill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112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an artifact, not a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Other fields in “systems”: OS, DB, etc.</a:t>
            </a:r>
          </a:p>
          <a:p>
            <a:pPr lvl="1"/>
            <a:r>
              <a:rPr lang="en-US" dirty="0"/>
              <a:t>Teach basic principles</a:t>
            </a:r>
          </a:p>
          <a:p>
            <a:pPr lvl="1"/>
            <a:r>
              <a:rPr lang="en-US" dirty="0"/>
              <a:t>Are easily managed</a:t>
            </a:r>
          </a:p>
          <a:p>
            <a:pPr lvl="1"/>
            <a:r>
              <a:rPr lang="en-US" dirty="0"/>
              <a:t>Continue to evolve </a:t>
            </a:r>
          </a:p>
          <a:p>
            <a:r>
              <a:rPr lang="en-US" dirty="0"/>
              <a:t>Networking:</a:t>
            </a:r>
          </a:p>
          <a:p>
            <a:pPr lvl="1"/>
            <a:r>
              <a:rPr lang="en-US" dirty="0"/>
              <a:t>Teach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b="1" dirty="0"/>
              <a:t>big bag </a:t>
            </a:r>
            <a:r>
              <a:rPr lang="en-US" dirty="0"/>
              <a:t>of protocols</a:t>
            </a:r>
          </a:p>
          <a:p>
            <a:pPr lvl="1"/>
            <a:r>
              <a:rPr lang="en-US" dirty="0"/>
              <a:t>Notoriously difficult to manage</a:t>
            </a:r>
          </a:p>
          <a:p>
            <a:pPr lvl="1"/>
            <a:r>
              <a:rPr lang="en-US" dirty="0"/>
              <a:t>Evolves very slowly</a:t>
            </a:r>
          </a:p>
          <a:p>
            <a:r>
              <a:rPr lang="en-US" dirty="0">
                <a:solidFill>
                  <a:srgbClr val="0000FF"/>
                </a:solidFill>
              </a:rPr>
              <a:t>Networks are much more primitive and less understood than other computer systems</a:t>
            </a:r>
          </a:p>
          <a:p>
            <a:endParaRPr lang="en-US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92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tale of two planes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Data plane</a:t>
            </a:r>
            <a:r>
              <a:rPr lang="en-US" dirty="0"/>
              <a:t>: forwarding packets</a:t>
            </a:r>
          </a:p>
          <a:p>
            <a:pPr lvl="1"/>
            <a:r>
              <a:rPr lang="en-US" dirty="0"/>
              <a:t>Based on local forwarding state</a:t>
            </a:r>
          </a:p>
          <a:p>
            <a:r>
              <a:rPr lang="en-US" b="1" dirty="0"/>
              <a:t>Control plane</a:t>
            </a:r>
            <a:r>
              <a:rPr lang="en-US" dirty="0"/>
              <a:t>: computing that forwarding state</a:t>
            </a:r>
          </a:p>
          <a:p>
            <a:pPr lvl="1"/>
            <a:r>
              <a:rPr lang="en-US" dirty="0"/>
              <a:t>Involves coordination with rest of system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078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Original goals for the control plane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Basic connectivity</a:t>
            </a:r>
            <a:r>
              <a:rPr lang="en-US" dirty="0"/>
              <a:t>: route packets to destination</a:t>
            </a:r>
          </a:p>
          <a:p>
            <a:pPr lvl="1"/>
            <a:r>
              <a:rPr lang="en-US" dirty="0"/>
              <a:t>Local state computed by routing protocols</a:t>
            </a:r>
          </a:p>
          <a:p>
            <a:pPr lvl="1"/>
            <a:r>
              <a:rPr lang="en-US" dirty="0"/>
              <a:t>Globally distributed algorithms</a:t>
            </a:r>
          </a:p>
          <a:p>
            <a:r>
              <a:rPr lang="en-US" b="1" dirty="0"/>
              <a:t>Inter-domain policy</a:t>
            </a:r>
            <a:r>
              <a:rPr lang="en-US" dirty="0"/>
              <a:t>: find policy-compliant paths</a:t>
            </a:r>
          </a:p>
          <a:p>
            <a:pPr lvl="1"/>
            <a:r>
              <a:rPr lang="en-US" dirty="0"/>
              <a:t>Done by globally distributed BGP</a:t>
            </a:r>
          </a:p>
          <a:p>
            <a:r>
              <a:rPr lang="en-US" dirty="0"/>
              <a:t>What other goals are there in running a network?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309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Extended roles of the control plane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Performs various </a:t>
            </a:r>
            <a:r>
              <a:rPr lang="en-US" dirty="0">
                <a:solidFill>
                  <a:srgbClr val="0000FF"/>
                </a:solidFill>
              </a:rPr>
              <a:t>network management</a:t>
            </a:r>
            <a:r>
              <a:rPr lang="en-US" dirty="0"/>
              <a:t> tasks</a:t>
            </a:r>
          </a:p>
          <a:p>
            <a:pPr lvl="1"/>
            <a:r>
              <a:rPr lang="en-US" dirty="0"/>
              <a:t>For example,</a:t>
            </a:r>
          </a:p>
          <a:p>
            <a:pPr lvl="2"/>
            <a:r>
              <a:rPr lang="en-US" dirty="0"/>
              <a:t>Where to route?</a:t>
            </a:r>
          </a:p>
          <a:p>
            <a:pPr lvl="2"/>
            <a:r>
              <a:rPr lang="en-US" dirty="0"/>
              <a:t>How much to route?</a:t>
            </a:r>
          </a:p>
          <a:p>
            <a:pPr lvl="2"/>
            <a:r>
              <a:rPr lang="en-US" dirty="0"/>
              <a:t>At what rate to route?</a:t>
            </a:r>
          </a:p>
          <a:p>
            <a:pPr lvl="2"/>
            <a:r>
              <a:rPr lang="en-US" dirty="0"/>
              <a:t>Should we route at all?</a:t>
            </a:r>
          </a:p>
          <a:p>
            <a:pPr lvl="2"/>
            <a:r>
              <a:rPr lang="en-US" dirty="0"/>
              <a:t>…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548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Bottom line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different control plane mechanisms</a:t>
            </a:r>
          </a:p>
          <a:p>
            <a:r>
              <a:rPr lang="en-US" dirty="0"/>
              <a:t>Each designed from scratch for their intended goal</a:t>
            </a:r>
          </a:p>
          <a:p>
            <a:r>
              <a:rPr lang="en-US" dirty="0"/>
              <a:t>Encompassing a wide variety of implementations</a:t>
            </a:r>
          </a:p>
          <a:p>
            <a:pPr lvl="1"/>
            <a:r>
              <a:rPr lang="en-US" dirty="0"/>
              <a:t>Distributed, manual, centralized,…</a:t>
            </a:r>
          </a:p>
          <a:p>
            <a:r>
              <a:rPr lang="en-US" dirty="0"/>
              <a:t>None of them particularly well designed</a:t>
            </a:r>
          </a:p>
          <a:p>
            <a:r>
              <a:rPr lang="en-US" dirty="0">
                <a:solidFill>
                  <a:srgbClr val="0000FF"/>
                </a:solidFill>
              </a:rPr>
              <a:t>Network control plane is a complicated mess!</a:t>
            </a:r>
          </a:p>
          <a:p>
            <a:pPr lvl="5"/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70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“The Power of Abstraction”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600200"/>
            <a:ext cx="5105400" cy="4419600"/>
          </a:xfrm>
        </p:spPr>
        <p:txBody>
          <a:bodyPr/>
          <a:lstStyle/>
          <a:p>
            <a:r>
              <a:rPr lang="en-US" dirty="0"/>
              <a:t>“Modularity based on abstraction is the way things get done”</a:t>
            </a:r>
          </a:p>
          <a:p>
            <a:pPr lvl="1"/>
            <a:r>
              <a:rPr lang="en-US" dirty="0"/>
              <a:t>Barbara </a:t>
            </a:r>
            <a:r>
              <a:rPr lang="en-US" dirty="0" err="1"/>
              <a:t>Liskov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Turing</a:t>
            </a:r>
            <a:r>
              <a:rPr lang="zh-CN" altLang="en-US" dirty="0"/>
              <a:t> </a:t>
            </a:r>
            <a:r>
              <a:rPr lang="en-US" altLang="zh-CN" dirty="0"/>
              <a:t>Award</a:t>
            </a:r>
            <a:r>
              <a:rPr lang="zh-CN" altLang="en-US" dirty="0"/>
              <a:t> </a:t>
            </a:r>
            <a:r>
              <a:rPr lang="en-US" altLang="zh-CN" dirty="0"/>
              <a:t>(2008</a:t>
            </a:r>
            <a:r>
              <a:rPr lang="zh-CN" altLang="en-US" dirty="0"/>
              <a:t>）</a:t>
            </a:r>
            <a:endParaRPr lang="en-US" dirty="0"/>
          </a:p>
          <a:p>
            <a:r>
              <a:rPr lang="en-US" dirty="0"/>
              <a:t>Abstractions </a:t>
            </a:r>
            <a:r>
              <a:rPr lang="en-US" dirty="0">
                <a:sym typeface="Wingdings"/>
              </a:rPr>
              <a:t> Interfaces  Modularity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4678AC-2462-6170-E979-857E2F5A9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828800"/>
            <a:ext cx="2166257" cy="3032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881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Analogy: Mainframe to PC evolution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dirty="0"/>
              <a:t>Vertical integration, closed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Specialized application</a:t>
            </a:r>
          </a:p>
          <a:p>
            <a:r>
              <a:rPr lang="en-US" sz="2400" dirty="0"/>
              <a:t>Specialized operating system</a:t>
            </a:r>
          </a:p>
          <a:p>
            <a:r>
              <a:rPr lang="en-US" sz="2400" dirty="0"/>
              <a:t>Specialized hardware</a:t>
            </a:r>
          </a:p>
          <a:p>
            <a:endParaRPr lang="en-US" sz="2400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2000" dirty="0"/>
              <a:t>Open interfaces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sz="2400" dirty="0"/>
              <a:t>Arbitrary applications</a:t>
            </a:r>
          </a:p>
          <a:p>
            <a:r>
              <a:rPr lang="en-US" sz="2400" dirty="0"/>
              <a:t>Commodity operating systems</a:t>
            </a:r>
          </a:p>
          <a:p>
            <a:r>
              <a:rPr lang="en-US" sz="2400" dirty="0"/>
              <a:t>Microprocessor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1987350" y="4724400"/>
            <a:ext cx="51693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</a:rPr>
              <a:t>We want the same for networking!</a:t>
            </a:r>
          </a:p>
        </p:txBody>
      </p:sp>
    </p:spTree>
    <p:extLst>
      <p:ext uri="{BB962C8B-B14F-4D97-AF65-F5344CB8AC3E}">
        <p14:creationId xmlns:p14="http://schemas.microsoft.com/office/powerpoint/2010/main" val="189796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/>
              <a:t>Many control plane mechanisms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Variety of goals, no modularity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Routing</a:t>
            </a:r>
            <a:r>
              <a:rPr lang="en-US" dirty="0"/>
              <a:t>: distributed routing algorithms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Isolation</a:t>
            </a:r>
            <a:r>
              <a:rPr lang="en-US" dirty="0"/>
              <a:t>: ACLs, Firewalls,…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Traffic engineering</a:t>
            </a:r>
            <a:r>
              <a:rPr lang="en-US" dirty="0"/>
              <a:t>: adjusting weights,…</a:t>
            </a:r>
          </a:p>
          <a:p>
            <a:r>
              <a:rPr lang="en-US" dirty="0"/>
              <a:t>Control Plane: mechanism without abstraction</a:t>
            </a:r>
          </a:p>
          <a:p>
            <a:pPr lvl="1"/>
            <a:r>
              <a:rPr lang="en-US" dirty="0"/>
              <a:t>Too many mechanisms, not enough functionality</a:t>
            </a:r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33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fully decentralized control plane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966845"/>
          </a:xfrm>
        </p:spPr>
        <p:txBody>
          <a:bodyPr/>
          <a:lstStyle/>
          <a:p>
            <a:r>
              <a:rPr lang="en-US" dirty="0"/>
              <a:t>Individual routing algorithm components in every router interact in the control plane</a:t>
            </a:r>
          </a:p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  <p:grpSp>
        <p:nvGrpSpPr>
          <p:cNvPr id="254" name="Group 37"/>
          <p:cNvGrpSpPr>
            <a:grpSpLocks noChangeAspect="1"/>
          </p:cNvGrpSpPr>
          <p:nvPr/>
        </p:nvGrpSpPr>
        <p:grpSpPr bwMode="auto">
          <a:xfrm>
            <a:off x="762000" y="5605384"/>
            <a:ext cx="1529905" cy="402607"/>
            <a:chOff x="885372" y="3276600"/>
            <a:chExt cx="1172028" cy="228600"/>
          </a:xfrm>
        </p:grpSpPr>
        <p:sp>
          <p:nvSpPr>
            <p:cNvPr id="255" name="Rectangle 254"/>
            <p:cNvSpPr/>
            <p:nvPr/>
          </p:nvSpPr>
          <p:spPr>
            <a:xfrm>
              <a:off x="885372" y="3276600"/>
              <a:ext cx="791633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900" dirty="0"/>
                <a:t>111010010</a:t>
              </a:r>
              <a:endParaRPr lang="en-US" dirty="0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1677005" y="3276600"/>
              <a:ext cx="380395" cy="228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800" dirty="0">
                  <a:solidFill>
                    <a:schemeClr val="tx1"/>
                  </a:solidFill>
                </a:rPr>
                <a:t>MIT</a:t>
              </a:r>
            </a:p>
          </p:txBody>
        </p:sp>
      </p:grpSp>
      <p:graphicFrame>
        <p:nvGraphicFramePr>
          <p:cNvPr id="261" name="Table 2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256882"/>
              </p:ext>
            </p:extLst>
          </p:nvPr>
        </p:nvGraphicFramePr>
        <p:xfrm>
          <a:off x="2694150" y="4792585"/>
          <a:ext cx="771833" cy="685800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364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3240"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bg1"/>
                          </a:solidFill>
                        </a:rPr>
                        <a:t>Dst</a:t>
                      </a:r>
                    </a:p>
                  </a:txBody>
                  <a:tcPr marL="42430" marR="42430" marT="21220" marB="212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rgbClr val="FFFFFF"/>
                          </a:solidFill>
                        </a:rPr>
                        <a:t>Next</a:t>
                      </a:r>
                      <a:r>
                        <a:rPr lang="en-US" sz="500" baseline="0" dirty="0">
                          <a:solidFill>
                            <a:srgbClr val="FFFFFF"/>
                          </a:solidFill>
                        </a:rPr>
                        <a:t> Hop</a:t>
                      </a:r>
                      <a:endParaRPr lang="en-US" sz="500" dirty="0">
                        <a:solidFill>
                          <a:srgbClr val="FFFFFF"/>
                        </a:solidFill>
                      </a:endParaRPr>
                    </a:p>
                  </a:txBody>
                  <a:tcPr marL="42430" marR="42430" marT="21220" marB="2122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640"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UMICH</a:t>
                      </a:r>
                    </a:p>
                  </a:txBody>
                  <a:tcPr marL="42430" marR="42430" marT="21220" marB="212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2430" marR="42430" marT="21220" marB="2122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640"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UCB</a:t>
                      </a:r>
                    </a:p>
                  </a:txBody>
                  <a:tcPr marL="42430" marR="42430" marT="21220" marB="212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2430" marR="42430" marT="21220" marB="2122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640">
                <a:tc>
                  <a:txBody>
                    <a:bodyPr/>
                    <a:lstStyle/>
                    <a:p>
                      <a:r>
                        <a:rPr lang="en-US" sz="500" b="0" dirty="0">
                          <a:solidFill>
                            <a:srgbClr val="333399"/>
                          </a:solidFill>
                        </a:rPr>
                        <a:t>MIT</a:t>
                      </a:r>
                    </a:p>
                  </a:txBody>
                  <a:tcPr marL="42430" marR="42430" marT="21220" marB="212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500" b="0" dirty="0">
                          <a:solidFill>
                            <a:srgbClr val="333399"/>
                          </a:solidFill>
                        </a:rPr>
                        <a:t>0</a:t>
                      </a:r>
                    </a:p>
                  </a:txBody>
                  <a:tcPr marL="42430" marR="42430" marT="21220" marB="2122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640"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NYU</a:t>
                      </a:r>
                    </a:p>
                  </a:txBody>
                  <a:tcPr marL="42430" marR="42430" marT="21220" marB="212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2430" marR="42430" marT="21220" marB="2122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8" name="Group 7"/>
          <p:cNvGrpSpPr/>
          <p:nvPr/>
        </p:nvGrpSpPr>
        <p:grpSpPr>
          <a:xfrm>
            <a:off x="2713528" y="4538235"/>
            <a:ext cx="3896475" cy="2167365"/>
            <a:chOff x="2713528" y="4538235"/>
            <a:chExt cx="3896475" cy="2167365"/>
          </a:xfrm>
        </p:grpSpPr>
        <p:sp>
          <p:nvSpPr>
            <p:cNvPr id="247" name="Cube 246"/>
            <p:cNvSpPr/>
            <p:nvPr/>
          </p:nvSpPr>
          <p:spPr bwMode="auto">
            <a:xfrm>
              <a:off x="3550194" y="4538235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248" name="Cube 247"/>
            <p:cNvSpPr/>
            <p:nvPr/>
          </p:nvSpPr>
          <p:spPr bwMode="auto">
            <a:xfrm>
              <a:off x="5972543" y="4538235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249" name="Cube 248"/>
            <p:cNvSpPr/>
            <p:nvPr/>
          </p:nvSpPr>
          <p:spPr bwMode="auto">
            <a:xfrm>
              <a:off x="4697623" y="5175696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250" name="Straight Connector 249"/>
            <p:cNvCxnSpPr>
              <a:stCxn id="281" idx="1"/>
            </p:cNvCxnSpPr>
            <p:nvPr/>
          </p:nvCxnSpPr>
          <p:spPr bwMode="auto">
            <a:xfrm flipH="1" flipV="1">
              <a:off x="4060164" y="4761347"/>
              <a:ext cx="908379" cy="509968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1" name="Straight Connector 250"/>
            <p:cNvCxnSpPr>
              <a:stCxn id="269" idx="2"/>
              <a:endCxn id="281" idx="5"/>
            </p:cNvCxnSpPr>
            <p:nvPr/>
          </p:nvCxnSpPr>
          <p:spPr bwMode="auto">
            <a:xfrm flipH="1">
              <a:off x="5335083" y="4777283"/>
              <a:ext cx="637460" cy="541841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2" name="Straight Connector 251"/>
            <p:cNvCxnSpPr>
              <a:endCxn id="281" idx="3"/>
            </p:cNvCxnSpPr>
            <p:nvPr/>
          </p:nvCxnSpPr>
          <p:spPr bwMode="auto">
            <a:xfrm flipV="1">
              <a:off x="4421440" y="5558172"/>
              <a:ext cx="547104" cy="830819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3" name="Straight Connector 252"/>
            <p:cNvCxnSpPr/>
            <p:nvPr/>
          </p:nvCxnSpPr>
          <p:spPr bwMode="auto">
            <a:xfrm>
              <a:off x="4968543" y="5558172"/>
              <a:ext cx="621524" cy="749016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7" name="Cube 256"/>
            <p:cNvSpPr/>
            <p:nvPr/>
          </p:nvSpPr>
          <p:spPr bwMode="auto">
            <a:xfrm>
              <a:off x="4060162" y="6323124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258" name="Cube 257"/>
            <p:cNvSpPr/>
            <p:nvPr/>
          </p:nvSpPr>
          <p:spPr bwMode="auto">
            <a:xfrm>
              <a:off x="5590067" y="6068140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259" name="Cube 258"/>
            <p:cNvSpPr/>
            <p:nvPr/>
          </p:nvSpPr>
          <p:spPr bwMode="auto">
            <a:xfrm>
              <a:off x="2713528" y="5581849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260" name="Straight Connector 259"/>
            <p:cNvCxnSpPr>
              <a:stCxn id="267" idx="3"/>
            </p:cNvCxnSpPr>
            <p:nvPr/>
          </p:nvCxnSpPr>
          <p:spPr bwMode="auto">
            <a:xfrm flipH="1">
              <a:off x="3350988" y="4920711"/>
              <a:ext cx="470127" cy="804567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2" name="Straight Connector 261"/>
            <p:cNvCxnSpPr>
              <a:endCxn id="269" idx="3"/>
            </p:cNvCxnSpPr>
            <p:nvPr/>
          </p:nvCxnSpPr>
          <p:spPr bwMode="auto">
            <a:xfrm flipV="1">
              <a:off x="5956607" y="4920711"/>
              <a:ext cx="286857" cy="1147429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263" name="Table 2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527216"/>
              </p:ext>
            </p:extLst>
          </p:nvPr>
        </p:nvGraphicFramePr>
        <p:xfrm>
          <a:off x="5744829" y="5669727"/>
          <a:ext cx="411643" cy="365761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9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061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bg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rgbClr val="FFFFFF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64" name="Table 2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986525"/>
              </p:ext>
            </p:extLst>
          </p:nvPr>
        </p:nvGraphicFramePr>
        <p:xfrm>
          <a:off x="4215619" y="5885259"/>
          <a:ext cx="411643" cy="365761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9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061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bg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rgbClr val="FFFFFF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65" name="Table 2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519763"/>
              </p:ext>
            </p:extLst>
          </p:nvPr>
        </p:nvGraphicFramePr>
        <p:xfrm>
          <a:off x="6100035" y="4139822"/>
          <a:ext cx="411643" cy="365761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9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061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bg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rgbClr val="FFFFFF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66" name="Table 2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042739"/>
              </p:ext>
            </p:extLst>
          </p:nvPr>
        </p:nvGraphicFramePr>
        <p:xfrm>
          <a:off x="4822743" y="4766064"/>
          <a:ext cx="411643" cy="365761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9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061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bg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rgbClr val="FFFFFF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67" name="Table 2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2677033"/>
              </p:ext>
            </p:extLst>
          </p:nvPr>
        </p:nvGraphicFramePr>
        <p:xfrm>
          <a:off x="3664684" y="4098432"/>
          <a:ext cx="411643" cy="365761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9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061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bg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rgbClr val="FFFFFF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849378" y="2655191"/>
            <a:ext cx="3624775" cy="1084430"/>
            <a:chOff x="2849378" y="2655191"/>
            <a:chExt cx="3624775" cy="1084430"/>
          </a:xfrm>
        </p:grpSpPr>
        <p:sp>
          <p:nvSpPr>
            <p:cNvPr id="269" name="Oval 268"/>
            <p:cNvSpPr>
              <a:spLocks noChangeAspect="1"/>
            </p:cNvSpPr>
            <p:nvPr/>
          </p:nvSpPr>
          <p:spPr bwMode="auto">
            <a:xfrm>
              <a:off x="2849378" y="3371612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0" name="Oval 269"/>
            <p:cNvSpPr>
              <a:spLocks noChangeAspect="1"/>
            </p:cNvSpPr>
            <p:nvPr/>
          </p:nvSpPr>
          <p:spPr bwMode="auto">
            <a:xfrm>
              <a:off x="3636353" y="2655191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1" name="Oval 270"/>
            <p:cNvSpPr>
              <a:spLocks noChangeAspect="1"/>
            </p:cNvSpPr>
            <p:nvPr/>
          </p:nvSpPr>
          <p:spPr bwMode="auto">
            <a:xfrm>
              <a:off x="4196483" y="3373861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6" name="Oval 275"/>
            <p:cNvSpPr>
              <a:spLocks noChangeAspect="1"/>
            </p:cNvSpPr>
            <p:nvPr/>
          </p:nvSpPr>
          <p:spPr bwMode="auto">
            <a:xfrm>
              <a:off x="4845684" y="2661695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7" name="Oval 276"/>
            <p:cNvSpPr>
              <a:spLocks noChangeAspect="1"/>
            </p:cNvSpPr>
            <p:nvPr/>
          </p:nvSpPr>
          <p:spPr bwMode="auto">
            <a:xfrm>
              <a:off x="5734275" y="3371612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8" name="Oval 277"/>
            <p:cNvSpPr>
              <a:spLocks noChangeAspect="1"/>
            </p:cNvSpPr>
            <p:nvPr/>
          </p:nvSpPr>
          <p:spPr bwMode="auto">
            <a:xfrm>
              <a:off x="6108393" y="2655191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cxnSp>
          <p:nvCxnSpPr>
            <p:cNvPr id="279" name="Straight Connector 278"/>
            <p:cNvCxnSpPr/>
            <p:nvPr/>
          </p:nvCxnSpPr>
          <p:spPr bwMode="auto">
            <a:xfrm flipH="1">
              <a:off x="3161574" y="2967387"/>
              <a:ext cx="528343" cy="457789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280" name="Straight Connector 279"/>
            <p:cNvCxnSpPr/>
            <p:nvPr/>
          </p:nvCxnSpPr>
          <p:spPr bwMode="auto">
            <a:xfrm flipH="1" flipV="1">
              <a:off x="4002113" y="2838071"/>
              <a:ext cx="843571" cy="6504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281" name="Straight Connector 280"/>
            <p:cNvCxnSpPr/>
            <p:nvPr/>
          </p:nvCxnSpPr>
          <p:spPr bwMode="auto">
            <a:xfrm flipH="1">
              <a:off x="4508679" y="2973891"/>
              <a:ext cx="390569" cy="453534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282" name="Straight Connector 281"/>
            <p:cNvCxnSpPr/>
            <p:nvPr/>
          </p:nvCxnSpPr>
          <p:spPr bwMode="auto">
            <a:xfrm>
              <a:off x="5157880" y="2973891"/>
              <a:ext cx="629959" cy="451285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283" name="Straight Connector 282"/>
            <p:cNvCxnSpPr/>
            <p:nvPr/>
          </p:nvCxnSpPr>
          <p:spPr bwMode="auto">
            <a:xfrm flipH="1">
              <a:off x="6046471" y="2967387"/>
              <a:ext cx="115486" cy="457789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284" name="Straight Connector 283"/>
            <p:cNvCxnSpPr/>
            <p:nvPr/>
          </p:nvCxnSpPr>
          <p:spPr bwMode="auto">
            <a:xfrm flipV="1">
              <a:off x="5211444" y="2838071"/>
              <a:ext cx="896949" cy="6504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</p:grpSp>
      <p:cxnSp>
        <p:nvCxnSpPr>
          <p:cNvPr id="285" name="Straight Connector 284"/>
          <p:cNvCxnSpPr/>
          <p:nvPr/>
        </p:nvCxnSpPr>
        <p:spPr bwMode="auto">
          <a:xfrm>
            <a:off x="1752600" y="3886200"/>
            <a:ext cx="6858000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ysDash"/>
            <a:round/>
            <a:headEnd type="none" w="med" len="med"/>
            <a:tailEnd type="none" w="med" len="med"/>
          </a:ln>
          <a:effectLst/>
        </p:spPr>
      </p:cxnSp>
      <p:sp>
        <p:nvSpPr>
          <p:cNvPr id="286" name="TextBox 285"/>
          <p:cNvSpPr txBox="1"/>
          <p:nvPr/>
        </p:nvSpPr>
        <p:spPr>
          <a:xfrm>
            <a:off x="7467600" y="307282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Control</a:t>
            </a:r>
          </a:p>
          <a:p>
            <a:pPr algn="ctr"/>
            <a:r>
              <a:rPr lang="en-US" dirty="0"/>
              <a:t>Plane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558971" y="4038600"/>
            <a:ext cx="7312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Data</a:t>
            </a:r>
          </a:p>
          <a:p>
            <a:pPr algn="ctr"/>
            <a:r>
              <a:rPr lang="en-US" dirty="0"/>
              <a:t>Plane</a:t>
            </a:r>
          </a:p>
        </p:txBody>
      </p:sp>
    </p:spTree>
    <p:extLst>
      <p:ext uri="{BB962C8B-B14F-4D97-AF65-F5344CB8AC3E}">
        <p14:creationId xmlns:p14="http://schemas.microsoft.com/office/powerpoint/2010/main" val="13252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" grpId="0"/>
      <p:bldP spid="28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Logically centralized </a:t>
            </a:r>
            <a:br>
              <a:rPr lang="en-US" dirty="0"/>
            </a:br>
            <a:r>
              <a:rPr lang="en-US" dirty="0"/>
              <a:t>control plane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966845"/>
          </a:xfrm>
        </p:spPr>
        <p:txBody>
          <a:bodyPr/>
          <a:lstStyle/>
          <a:p>
            <a:r>
              <a:rPr lang="en-US" dirty="0"/>
              <a:t>A distinct (typically remote) controller interacts with local control agents (CAs)</a:t>
            </a:r>
          </a:p>
        </p:txBody>
      </p:sp>
      <p:sp>
        <p:nvSpPr>
          <p:cNvPr id="38" name="Slide Number Placeholder 3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  <p:grpSp>
        <p:nvGrpSpPr>
          <p:cNvPr id="254" name="Group 37"/>
          <p:cNvGrpSpPr>
            <a:grpSpLocks noChangeAspect="1"/>
          </p:cNvGrpSpPr>
          <p:nvPr/>
        </p:nvGrpSpPr>
        <p:grpSpPr bwMode="auto">
          <a:xfrm>
            <a:off x="762000" y="5605384"/>
            <a:ext cx="1529905" cy="402607"/>
            <a:chOff x="885372" y="3276600"/>
            <a:chExt cx="1172028" cy="228600"/>
          </a:xfrm>
        </p:grpSpPr>
        <p:sp>
          <p:nvSpPr>
            <p:cNvPr id="255" name="Rectangle 254"/>
            <p:cNvSpPr/>
            <p:nvPr/>
          </p:nvSpPr>
          <p:spPr>
            <a:xfrm>
              <a:off x="885372" y="3276600"/>
              <a:ext cx="791633" cy="2286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900" dirty="0"/>
                <a:t>111010010</a:t>
              </a:r>
              <a:endParaRPr lang="en-US" dirty="0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1677005" y="3276600"/>
              <a:ext cx="380395" cy="228600"/>
            </a:xfrm>
            <a:prstGeom prst="rect">
              <a:avLst/>
            </a:prstGeom>
            <a:solidFill>
              <a:schemeClr val="accent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anchor="ctr"/>
            <a:lstStyle/>
            <a:p>
              <a:pPr algn="ctr">
                <a:defRPr/>
              </a:pPr>
              <a:r>
                <a:rPr lang="en-US" sz="800" dirty="0">
                  <a:solidFill>
                    <a:schemeClr val="tx1"/>
                  </a:solidFill>
                </a:rPr>
                <a:t>MIT</a:t>
              </a:r>
            </a:p>
          </p:txBody>
        </p:sp>
      </p:grp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694150" y="4792585"/>
          <a:ext cx="771833" cy="685800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364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3240"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bg1"/>
                          </a:solidFill>
                        </a:rPr>
                        <a:t>Dst</a:t>
                      </a:r>
                    </a:p>
                  </a:txBody>
                  <a:tcPr marL="42430" marR="42430" marT="21220" marB="212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rgbClr val="FFFFFF"/>
                          </a:solidFill>
                        </a:rPr>
                        <a:t>Next</a:t>
                      </a:r>
                      <a:r>
                        <a:rPr lang="en-US" sz="500" baseline="0" dirty="0">
                          <a:solidFill>
                            <a:srgbClr val="FFFFFF"/>
                          </a:solidFill>
                        </a:rPr>
                        <a:t> Hop</a:t>
                      </a:r>
                      <a:endParaRPr lang="en-US" sz="500" dirty="0">
                        <a:solidFill>
                          <a:srgbClr val="FFFFFF"/>
                        </a:solidFill>
                      </a:endParaRPr>
                    </a:p>
                  </a:txBody>
                  <a:tcPr marL="42430" marR="42430" marT="21220" marB="2122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0640"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UMICH</a:t>
                      </a:r>
                    </a:p>
                  </a:txBody>
                  <a:tcPr marL="42430" marR="42430" marT="21220" marB="212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2430" marR="42430" marT="21220" marB="2122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0640"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UCB</a:t>
                      </a:r>
                    </a:p>
                  </a:txBody>
                  <a:tcPr marL="42430" marR="42430" marT="21220" marB="212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2430" marR="42430" marT="21220" marB="2122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640">
                <a:tc>
                  <a:txBody>
                    <a:bodyPr/>
                    <a:lstStyle/>
                    <a:p>
                      <a:r>
                        <a:rPr lang="en-US" sz="500" b="0" dirty="0">
                          <a:solidFill>
                            <a:srgbClr val="333399"/>
                          </a:solidFill>
                        </a:rPr>
                        <a:t>MIT</a:t>
                      </a:r>
                    </a:p>
                  </a:txBody>
                  <a:tcPr marL="42430" marR="42430" marT="21220" marB="212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500" b="0" dirty="0">
                          <a:solidFill>
                            <a:srgbClr val="333399"/>
                          </a:solidFill>
                        </a:rPr>
                        <a:t>0</a:t>
                      </a:r>
                    </a:p>
                  </a:txBody>
                  <a:tcPr marL="42430" marR="42430" marT="21220" marB="2122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0640"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NYU</a:t>
                      </a:r>
                    </a:p>
                  </a:txBody>
                  <a:tcPr marL="42430" marR="42430" marT="21220" marB="2122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marL="42430" marR="42430" marT="21220" marB="21220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8" name="Group 7"/>
          <p:cNvGrpSpPr/>
          <p:nvPr/>
        </p:nvGrpSpPr>
        <p:grpSpPr>
          <a:xfrm>
            <a:off x="2713528" y="4538235"/>
            <a:ext cx="3896475" cy="2167365"/>
            <a:chOff x="2713528" y="4538235"/>
            <a:chExt cx="3896475" cy="2167365"/>
          </a:xfrm>
        </p:grpSpPr>
        <p:sp>
          <p:nvSpPr>
            <p:cNvPr id="247" name="Cube 246"/>
            <p:cNvSpPr/>
            <p:nvPr/>
          </p:nvSpPr>
          <p:spPr bwMode="auto">
            <a:xfrm>
              <a:off x="3550194" y="4538235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248" name="Cube 247"/>
            <p:cNvSpPr/>
            <p:nvPr/>
          </p:nvSpPr>
          <p:spPr bwMode="auto">
            <a:xfrm>
              <a:off x="5972543" y="4538235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249" name="Cube 248"/>
            <p:cNvSpPr/>
            <p:nvPr/>
          </p:nvSpPr>
          <p:spPr bwMode="auto">
            <a:xfrm>
              <a:off x="4697623" y="5175696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250" name="Straight Connector 249"/>
            <p:cNvCxnSpPr>
              <a:stCxn id="281" idx="1"/>
            </p:cNvCxnSpPr>
            <p:nvPr/>
          </p:nvCxnSpPr>
          <p:spPr bwMode="auto">
            <a:xfrm flipH="1" flipV="1">
              <a:off x="4060164" y="4761347"/>
              <a:ext cx="908379" cy="509968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1" name="Straight Connector 250"/>
            <p:cNvCxnSpPr>
              <a:stCxn id="269" idx="2"/>
              <a:endCxn id="281" idx="5"/>
            </p:cNvCxnSpPr>
            <p:nvPr/>
          </p:nvCxnSpPr>
          <p:spPr bwMode="auto">
            <a:xfrm flipH="1">
              <a:off x="5335083" y="4777283"/>
              <a:ext cx="637460" cy="541841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2" name="Straight Connector 251"/>
            <p:cNvCxnSpPr>
              <a:endCxn id="281" idx="3"/>
            </p:cNvCxnSpPr>
            <p:nvPr/>
          </p:nvCxnSpPr>
          <p:spPr bwMode="auto">
            <a:xfrm flipV="1">
              <a:off x="4421440" y="5558172"/>
              <a:ext cx="547104" cy="830819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3" name="Straight Connector 252"/>
            <p:cNvCxnSpPr/>
            <p:nvPr/>
          </p:nvCxnSpPr>
          <p:spPr bwMode="auto">
            <a:xfrm>
              <a:off x="4968543" y="5558172"/>
              <a:ext cx="621524" cy="749016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7" name="Cube 256"/>
            <p:cNvSpPr/>
            <p:nvPr/>
          </p:nvSpPr>
          <p:spPr bwMode="auto">
            <a:xfrm>
              <a:off x="4060162" y="6323124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258" name="Cube 257"/>
            <p:cNvSpPr/>
            <p:nvPr/>
          </p:nvSpPr>
          <p:spPr bwMode="auto">
            <a:xfrm>
              <a:off x="5590067" y="6068140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259" name="Cube 258"/>
            <p:cNvSpPr/>
            <p:nvPr/>
          </p:nvSpPr>
          <p:spPr bwMode="auto">
            <a:xfrm>
              <a:off x="2713528" y="5581849"/>
              <a:ext cx="637460" cy="382476"/>
            </a:xfrm>
            <a:prstGeom prst="cube">
              <a:avLst/>
            </a:prstGeom>
            <a:solidFill>
              <a:schemeClr val="tx1"/>
            </a:solidFill>
            <a:ln w="9525" cap="flat" cmpd="sng" algn="ctr">
              <a:solidFill>
                <a:srgbClr val="00009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260" name="Straight Connector 259"/>
            <p:cNvCxnSpPr>
              <a:stCxn id="267" idx="3"/>
            </p:cNvCxnSpPr>
            <p:nvPr/>
          </p:nvCxnSpPr>
          <p:spPr bwMode="auto">
            <a:xfrm flipH="1">
              <a:off x="3350988" y="4920711"/>
              <a:ext cx="470127" cy="804567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2" name="Straight Connector 261"/>
            <p:cNvCxnSpPr>
              <a:endCxn id="269" idx="3"/>
            </p:cNvCxnSpPr>
            <p:nvPr/>
          </p:nvCxnSpPr>
          <p:spPr bwMode="auto">
            <a:xfrm flipV="1">
              <a:off x="5956607" y="4920711"/>
              <a:ext cx="286857" cy="1147429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263" name="Table 262"/>
          <p:cNvGraphicFramePr>
            <a:graphicFrameLocks noGrp="1"/>
          </p:cNvGraphicFramePr>
          <p:nvPr/>
        </p:nvGraphicFramePr>
        <p:xfrm>
          <a:off x="5744829" y="5669727"/>
          <a:ext cx="411643" cy="365761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9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061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bg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rgbClr val="FFFFFF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4215619" y="5885259"/>
          <a:ext cx="411643" cy="365761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9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061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bg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rgbClr val="FFFFFF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65" name="Table 264"/>
          <p:cNvGraphicFramePr>
            <a:graphicFrameLocks noGrp="1"/>
          </p:cNvGraphicFramePr>
          <p:nvPr/>
        </p:nvGraphicFramePr>
        <p:xfrm>
          <a:off x="6100035" y="4139822"/>
          <a:ext cx="411643" cy="365761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9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061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bg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rgbClr val="FFFFFF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66" name="Table 265"/>
          <p:cNvGraphicFramePr>
            <a:graphicFrameLocks noGrp="1"/>
          </p:cNvGraphicFramePr>
          <p:nvPr/>
        </p:nvGraphicFramePr>
        <p:xfrm>
          <a:off x="4822743" y="4766064"/>
          <a:ext cx="411643" cy="365761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9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061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bg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rgbClr val="FFFFFF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3664684" y="4098432"/>
          <a:ext cx="411643" cy="365761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194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061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bg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rgbClr val="FFFFFF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lang="en-US" sz="300" b="0" dirty="0">
                        <a:solidFill>
                          <a:srgbClr val="333399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75"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300" dirty="0">
                        <a:solidFill>
                          <a:schemeClr val="tx1"/>
                        </a:solidFill>
                      </a:endParaRPr>
                    </a:p>
                  </a:txBody>
                  <a:tcPr marL="22629" marR="22629" marT="11317" marB="11317"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" name="Group 8"/>
          <p:cNvGrpSpPr/>
          <p:nvPr/>
        </p:nvGrpSpPr>
        <p:grpSpPr>
          <a:xfrm>
            <a:off x="2849378" y="2655191"/>
            <a:ext cx="3624775" cy="1084430"/>
            <a:chOff x="2849378" y="2655191"/>
            <a:chExt cx="3624775" cy="1084430"/>
          </a:xfrm>
        </p:grpSpPr>
        <p:sp>
          <p:nvSpPr>
            <p:cNvPr id="269" name="Oval 268"/>
            <p:cNvSpPr>
              <a:spLocks noChangeAspect="1"/>
            </p:cNvSpPr>
            <p:nvPr/>
          </p:nvSpPr>
          <p:spPr bwMode="auto">
            <a:xfrm>
              <a:off x="2849378" y="3371612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0" name="Oval 269"/>
            <p:cNvSpPr>
              <a:spLocks noChangeAspect="1"/>
            </p:cNvSpPr>
            <p:nvPr/>
          </p:nvSpPr>
          <p:spPr bwMode="auto">
            <a:xfrm>
              <a:off x="3636353" y="2655191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1" name="Oval 270"/>
            <p:cNvSpPr>
              <a:spLocks noChangeAspect="1"/>
            </p:cNvSpPr>
            <p:nvPr/>
          </p:nvSpPr>
          <p:spPr bwMode="auto">
            <a:xfrm>
              <a:off x="4196483" y="3373861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6" name="Oval 275"/>
            <p:cNvSpPr>
              <a:spLocks noChangeAspect="1"/>
            </p:cNvSpPr>
            <p:nvPr/>
          </p:nvSpPr>
          <p:spPr bwMode="auto">
            <a:xfrm>
              <a:off x="4845684" y="2661695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7" name="Oval 276"/>
            <p:cNvSpPr>
              <a:spLocks noChangeAspect="1"/>
            </p:cNvSpPr>
            <p:nvPr/>
          </p:nvSpPr>
          <p:spPr bwMode="auto">
            <a:xfrm>
              <a:off x="5734275" y="3371612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278" name="Oval 277"/>
            <p:cNvSpPr>
              <a:spLocks noChangeAspect="1"/>
            </p:cNvSpPr>
            <p:nvPr/>
          </p:nvSpPr>
          <p:spPr bwMode="auto">
            <a:xfrm>
              <a:off x="6108393" y="2655191"/>
              <a:ext cx="365760" cy="36576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cxnSp>
          <p:nvCxnSpPr>
            <p:cNvPr id="279" name="Straight Connector 278"/>
            <p:cNvCxnSpPr/>
            <p:nvPr/>
          </p:nvCxnSpPr>
          <p:spPr bwMode="auto">
            <a:xfrm flipH="1">
              <a:off x="3161574" y="2967387"/>
              <a:ext cx="528343" cy="457789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280" name="Straight Connector 279"/>
            <p:cNvCxnSpPr/>
            <p:nvPr/>
          </p:nvCxnSpPr>
          <p:spPr bwMode="auto">
            <a:xfrm flipH="1" flipV="1">
              <a:off x="4002113" y="2838071"/>
              <a:ext cx="843571" cy="6504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281" name="Straight Connector 280"/>
            <p:cNvCxnSpPr/>
            <p:nvPr/>
          </p:nvCxnSpPr>
          <p:spPr bwMode="auto">
            <a:xfrm flipH="1">
              <a:off x="4508679" y="2973891"/>
              <a:ext cx="390569" cy="453534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282" name="Straight Connector 281"/>
            <p:cNvCxnSpPr/>
            <p:nvPr/>
          </p:nvCxnSpPr>
          <p:spPr bwMode="auto">
            <a:xfrm>
              <a:off x="5157880" y="2973891"/>
              <a:ext cx="629959" cy="451285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283" name="Straight Connector 282"/>
            <p:cNvCxnSpPr/>
            <p:nvPr/>
          </p:nvCxnSpPr>
          <p:spPr bwMode="auto">
            <a:xfrm flipH="1">
              <a:off x="6046471" y="2967387"/>
              <a:ext cx="115486" cy="457789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284" name="Straight Connector 283"/>
            <p:cNvCxnSpPr/>
            <p:nvPr/>
          </p:nvCxnSpPr>
          <p:spPr bwMode="auto">
            <a:xfrm flipV="1">
              <a:off x="5211444" y="2838071"/>
              <a:ext cx="896949" cy="6504"/>
            </a:xfrm>
            <a:prstGeom prst="line">
              <a:avLst/>
            </a:prstGeom>
            <a:noFill/>
            <a:ln w="38100" cap="flat" cmpd="sng" algn="ctr">
              <a:solidFill>
                <a:srgbClr val="D3A600"/>
              </a:solidFill>
              <a:prstDash val="solid"/>
              <a:round/>
              <a:headEnd type="stealth" w="lg" len="lg"/>
              <a:tailEnd type="stealth" w="lg" len="lg"/>
            </a:ln>
            <a:effectLst/>
          </p:spPr>
        </p:cxnSp>
      </p:grpSp>
      <p:cxnSp>
        <p:nvCxnSpPr>
          <p:cNvPr id="285" name="Straight Connector 284"/>
          <p:cNvCxnSpPr/>
          <p:nvPr/>
        </p:nvCxnSpPr>
        <p:spPr bwMode="auto">
          <a:xfrm>
            <a:off x="1752600" y="3886200"/>
            <a:ext cx="6858000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ysDash"/>
            <a:round/>
            <a:headEnd type="none" w="med" len="med"/>
            <a:tailEnd type="none" w="med" len="med"/>
          </a:ln>
          <a:effectLst/>
        </p:spPr>
      </p:cxnSp>
      <p:sp>
        <p:nvSpPr>
          <p:cNvPr id="286" name="TextBox 285"/>
          <p:cNvSpPr txBox="1"/>
          <p:nvPr/>
        </p:nvSpPr>
        <p:spPr>
          <a:xfrm>
            <a:off x="7467600" y="307282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Control</a:t>
            </a:r>
          </a:p>
          <a:p>
            <a:pPr algn="ctr"/>
            <a:r>
              <a:rPr lang="en-US" dirty="0"/>
              <a:t>Plane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7558971" y="4038600"/>
            <a:ext cx="7312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Data</a:t>
            </a:r>
          </a:p>
          <a:p>
            <a:pPr algn="ctr"/>
            <a:r>
              <a:rPr lang="en-US" dirty="0"/>
              <a:t>Plane</a:t>
            </a:r>
          </a:p>
        </p:txBody>
      </p:sp>
      <p:sp>
        <p:nvSpPr>
          <p:cNvPr id="2" name="Oval 1"/>
          <p:cNvSpPr/>
          <p:nvPr/>
        </p:nvSpPr>
        <p:spPr bwMode="auto">
          <a:xfrm>
            <a:off x="2057400" y="2661695"/>
            <a:ext cx="5257800" cy="1075677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</a:rPr>
              <a:t>Remote Control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3080068" y="3581400"/>
            <a:ext cx="3259015" cy="2741724"/>
            <a:chOff x="3080068" y="3581400"/>
            <a:chExt cx="3259015" cy="2741724"/>
          </a:xfrm>
        </p:grpSpPr>
        <p:cxnSp>
          <p:nvCxnSpPr>
            <p:cNvPr id="14" name="Straight Connector 13"/>
            <p:cNvCxnSpPr>
              <a:stCxn id="259" idx="0"/>
            </p:cNvCxnSpPr>
            <p:nvPr/>
          </p:nvCxnSpPr>
          <p:spPr bwMode="auto">
            <a:xfrm flipV="1">
              <a:off x="3080068" y="3657600"/>
              <a:ext cx="270920" cy="19242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52" name="Straight Connector 51"/>
            <p:cNvCxnSpPr>
              <a:stCxn id="257" idx="0"/>
              <a:endCxn id="2" idx="4"/>
            </p:cNvCxnSpPr>
            <p:nvPr/>
          </p:nvCxnSpPr>
          <p:spPr bwMode="auto">
            <a:xfrm flipV="1">
              <a:off x="4426702" y="3737372"/>
              <a:ext cx="259598" cy="258575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56" name="Straight Connector 55"/>
            <p:cNvCxnSpPr>
              <a:stCxn id="249" idx="0"/>
            </p:cNvCxnSpPr>
            <p:nvPr/>
          </p:nvCxnSpPr>
          <p:spPr bwMode="auto">
            <a:xfrm flipH="1" flipV="1">
              <a:off x="5029200" y="3737372"/>
              <a:ext cx="34963" cy="1438324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59" name="Straight Connector 58"/>
            <p:cNvCxnSpPr>
              <a:stCxn id="248" idx="0"/>
            </p:cNvCxnSpPr>
            <p:nvPr/>
          </p:nvCxnSpPr>
          <p:spPr bwMode="auto">
            <a:xfrm flipH="1" flipV="1">
              <a:off x="6243464" y="3581400"/>
              <a:ext cx="95619" cy="95683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63" name="Straight Connector 62"/>
            <p:cNvCxnSpPr>
              <a:stCxn id="247" idx="0"/>
            </p:cNvCxnSpPr>
            <p:nvPr/>
          </p:nvCxnSpPr>
          <p:spPr bwMode="auto">
            <a:xfrm flipV="1">
              <a:off x="3916734" y="3737372"/>
              <a:ext cx="85379" cy="80086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stealth" w="lg" len="lg"/>
              <a:tailEnd type="stealth" w="lg" len="lg"/>
            </a:ln>
            <a:effectLst/>
          </p:spPr>
        </p:cxnSp>
        <p:cxnSp>
          <p:nvCxnSpPr>
            <p:cNvPr id="66" name="Straight Connector 65"/>
            <p:cNvCxnSpPr>
              <a:stCxn id="258" idx="0"/>
            </p:cNvCxnSpPr>
            <p:nvPr/>
          </p:nvCxnSpPr>
          <p:spPr bwMode="auto">
            <a:xfrm flipH="1" flipV="1">
              <a:off x="5590067" y="3657600"/>
              <a:ext cx="366540" cy="241054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stealth" w="lg" len="lg"/>
              <a:tailEnd type="stealth" w="lg" len="lg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741859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Logically centralized </a:t>
            </a:r>
            <a:br>
              <a:rPr lang="en-US" dirty="0"/>
            </a:br>
            <a:r>
              <a:rPr lang="en-US" dirty="0"/>
              <a:t>control plane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distinct (typically remote) controller interacts with local control agents (CAs)</a:t>
            </a:r>
          </a:p>
          <a:p>
            <a:r>
              <a:rPr lang="en-US" dirty="0"/>
              <a:t>Each router contains a </a:t>
            </a:r>
            <a:r>
              <a:rPr lang="en-US" dirty="0">
                <a:solidFill>
                  <a:srgbClr val="0000FF"/>
                </a:solidFill>
              </a:rPr>
              <a:t>flow table</a:t>
            </a:r>
          </a:p>
          <a:p>
            <a:r>
              <a:rPr lang="en-US" dirty="0"/>
              <a:t>Each entry of the flow table defines a </a:t>
            </a:r>
            <a:r>
              <a:rPr lang="en-US" dirty="0">
                <a:solidFill>
                  <a:srgbClr val="0000FF"/>
                </a:solidFill>
              </a:rPr>
              <a:t>match-action</a:t>
            </a:r>
            <a:r>
              <a:rPr lang="en-US" dirty="0"/>
              <a:t> rule</a:t>
            </a:r>
          </a:p>
          <a:p>
            <a:r>
              <a:rPr lang="en-US" dirty="0"/>
              <a:t>Entries of the flow table is computed and distributed by the (logically) centralized controller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82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Compute forwarding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Consistent with low-level hardware/software</a:t>
            </a:r>
          </a:p>
          <a:p>
            <a:pPr lvl="1"/>
            <a:r>
              <a:rPr lang="en-US" dirty="0"/>
              <a:t>Which might depend on vendor</a:t>
            </a:r>
          </a:p>
          <a:p>
            <a:r>
              <a:rPr lang="en-US" dirty="0"/>
              <a:t>Based on entire network topology</a:t>
            </a:r>
          </a:p>
          <a:p>
            <a:pPr lvl="1"/>
            <a:r>
              <a:rPr lang="en-US" dirty="0"/>
              <a:t>Because many control decisions depend on topology</a:t>
            </a:r>
          </a:p>
          <a:p>
            <a:r>
              <a:rPr lang="en-US" dirty="0"/>
              <a:t>For all routers/switches in network</a:t>
            </a:r>
          </a:p>
          <a:p>
            <a:pPr lvl="1"/>
            <a:r>
              <a:rPr lang="en-US" dirty="0"/>
              <a:t>Every router/switch needs forwarding state</a:t>
            </a:r>
          </a:p>
          <a:p>
            <a:pPr marL="3201987" lvl="8" indent="0">
              <a:buNone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876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concerns with abstractions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compatible with low-level hardware/software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Forwarding abstraction</a:t>
            </a:r>
          </a:p>
          <a:p>
            <a:r>
              <a:rPr lang="en-US" dirty="0"/>
              <a:t>Make decisions based on entire network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Network state abstraction</a:t>
            </a:r>
          </a:p>
          <a:p>
            <a:r>
              <a:rPr lang="en-US" dirty="0"/>
              <a:t>Compute configuration of each physical device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Specification abstraction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4527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#1: Forwarding 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 intent independent of implementation</a:t>
            </a:r>
          </a:p>
          <a:p>
            <a:pPr lvl="1"/>
            <a:r>
              <a:rPr lang="en-US" dirty="0"/>
              <a:t>Don’t want to deal with proprietary HW and SW</a:t>
            </a:r>
          </a:p>
          <a:p>
            <a:r>
              <a:rPr lang="en-US" dirty="0"/>
              <a:t>Design details concern exact nature of:</a:t>
            </a:r>
          </a:p>
          <a:p>
            <a:pPr lvl="1"/>
            <a:r>
              <a:rPr lang="en-US" dirty="0"/>
              <a:t>Header matching</a:t>
            </a:r>
          </a:p>
          <a:p>
            <a:pPr lvl="1"/>
            <a:r>
              <a:rPr lang="en-US" dirty="0"/>
              <a:t>Allowed actions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004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#2: Network state 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Abstraction: </a:t>
            </a:r>
            <a:r>
              <a:rPr lang="en-US" dirty="0">
                <a:solidFill>
                  <a:srgbClr val="0000FF"/>
                </a:solidFill>
              </a:rPr>
              <a:t>global network view</a:t>
            </a:r>
          </a:p>
          <a:p>
            <a:pPr lvl="1"/>
            <a:r>
              <a:rPr lang="en-US" dirty="0"/>
              <a:t>Annotated network graph provided through an API</a:t>
            </a:r>
          </a:p>
          <a:p>
            <a:r>
              <a:rPr lang="en-US" dirty="0"/>
              <a:t>Creates a logically centralized view of the network (Network Operating System)</a:t>
            </a:r>
          </a:p>
          <a:p>
            <a:pPr lvl="1"/>
            <a:r>
              <a:rPr lang="en-US" dirty="0"/>
              <a:t>Runs on replicated servers in network (“controllers”)</a:t>
            </a:r>
          </a:p>
          <a:p>
            <a:r>
              <a:rPr lang="en-US" dirty="0"/>
              <a:t>Information flows both ways</a:t>
            </a:r>
          </a:p>
          <a:p>
            <a:pPr lvl="1"/>
            <a:r>
              <a:rPr lang="en-US" dirty="0"/>
              <a:t>Information </a:t>
            </a:r>
            <a:r>
              <a:rPr lang="en-US" i="1" u="sng" dirty="0"/>
              <a:t>from</a:t>
            </a:r>
            <a:r>
              <a:rPr lang="en-US" dirty="0"/>
              <a:t> routers/switches to form “view”</a:t>
            </a:r>
          </a:p>
          <a:p>
            <a:pPr lvl="1"/>
            <a:r>
              <a:rPr lang="en-US" dirty="0"/>
              <a:t>Configurations </a:t>
            </a:r>
            <a:r>
              <a:rPr lang="en-US" i="1" u="sng" dirty="0"/>
              <a:t>to</a:t>
            </a:r>
            <a:r>
              <a:rPr lang="en-US" dirty="0"/>
              <a:t> routers/switches to control forwarding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374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#3: Specification abstraction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Control mechanism expresses desired behavior</a:t>
            </a:r>
          </a:p>
          <a:p>
            <a:pPr lvl="1"/>
            <a:r>
              <a:rPr lang="en-US" dirty="0"/>
              <a:t>Whether it be isolation, access control, or QoS</a:t>
            </a:r>
          </a:p>
          <a:p>
            <a:r>
              <a:rPr lang="en-US" dirty="0"/>
              <a:t>It should not be responsible for implementing that behavior on physical network infrastructure</a:t>
            </a:r>
          </a:p>
          <a:p>
            <a:pPr lvl="1"/>
            <a:r>
              <a:rPr lang="en-US" dirty="0"/>
              <a:t>Requires configuring the forwarding tables in each switch</a:t>
            </a:r>
          </a:p>
          <a:p>
            <a:r>
              <a:rPr lang="en-US" dirty="0">
                <a:solidFill>
                  <a:srgbClr val="0000FF"/>
                </a:solidFill>
              </a:rPr>
              <a:t>Abstract view</a:t>
            </a:r>
            <a:r>
              <a:rPr lang="en-US" dirty="0"/>
              <a:t> of network</a:t>
            </a:r>
          </a:p>
          <a:p>
            <a:pPr lvl="1"/>
            <a:r>
              <a:rPr lang="en-US" dirty="0"/>
              <a:t>Models only enough detail to specify goals</a:t>
            </a:r>
          </a:p>
          <a:p>
            <a:pPr lvl="1"/>
            <a:r>
              <a:rPr lang="en-US" dirty="0"/>
              <a:t>Will depend on task semantics</a:t>
            </a:r>
          </a:p>
          <a:p>
            <a:pPr lvl="6"/>
            <a:endParaRPr lang="en-US" dirty="0"/>
          </a:p>
          <a:p>
            <a:pPr lvl="8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045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Each goal is an app via specification 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if an operator wants X?</a:t>
            </a:r>
          </a:p>
          <a:p>
            <a:r>
              <a:rPr lang="en-US" dirty="0"/>
              <a:t>What if a customer wants to do weighted traffic splitting?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There is an app for it!</a:t>
            </a:r>
          </a:p>
          <a:p>
            <a:pPr lvl="1"/>
            <a:r>
              <a:rPr lang="en-US" dirty="0"/>
              <a:t>Write your own routing protocol, load balancing algorithm, access control policies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117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Reason about each app via network state 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that the network is not distributed anymore and is a simple graph, we can </a:t>
            </a:r>
            <a:r>
              <a:rPr lang="en-US" dirty="0">
                <a:solidFill>
                  <a:srgbClr val="0000FF"/>
                </a:solidFill>
              </a:rPr>
              <a:t>verify</a:t>
            </a:r>
            <a:r>
              <a:rPr lang="en-US" dirty="0"/>
              <a:t> the correctness of whatever we specified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451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</a:t>
            </a:r>
            <a:r>
              <a:rPr lang="en-US" dirty="0"/>
              <a:t>rogress </a:t>
            </a:r>
            <a:r>
              <a:rPr lang="en-US"/>
              <a:t>in wide-area network</a:t>
            </a:r>
            <a:r>
              <a:rPr lang="en-US" altLang="zh-CN"/>
              <a:t>s</a:t>
            </a:r>
            <a:r>
              <a:rPr lang="en-US"/>
              <a:t> </a:t>
            </a:r>
            <a:r>
              <a:rPr lang="en-US" dirty="0"/>
              <a:t>(WAN)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Google and Microsoft use SDN to manage traffic between datacenters</a:t>
            </a:r>
          </a:p>
          <a:p>
            <a:r>
              <a:rPr lang="en-US" dirty="0"/>
              <a:t>One centralized controller to rule the entire world (well, their world)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8" name="Content Placeholder 9" descr="A close up of a map&#10;&#10;Description automatically generated">
            <a:extLst>
              <a:ext uri="{FF2B5EF4-FFF2-40B4-BE49-F238E27FC236}">
                <a16:creationId xmlns:a16="http://schemas.microsoft.com/office/drawing/2014/main" id="{60F6077D-AE94-5043-8302-B7C4FB212FB1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0367" y="3573359"/>
            <a:ext cx="4963266" cy="2708711"/>
          </a:xfrm>
        </p:spPr>
      </p:pic>
    </p:spTree>
    <p:extLst>
      <p:ext uri="{BB962C8B-B14F-4D97-AF65-F5344CB8AC3E}">
        <p14:creationId xmlns:p14="http://schemas.microsoft.com/office/powerpoint/2010/main" val="5129287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tale of two planes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Data plane</a:t>
            </a:r>
            <a:r>
              <a:rPr lang="en-US" dirty="0"/>
              <a:t>: forwarding packets</a:t>
            </a:r>
          </a:p>
          <a:p>
            <a:pPr lvl="1"/>
            <a:r>
              <a:rPr lang="en-US" dirty="0"/>
              <a:t>Based on local forwarding state</a:t>
            </a:r>
          </a:p>
          <a:p>
            <a:r>
              <a:rPr lang="en-US" b="1" dirty="0"/>
              <a:t>Control plane</a:t>
            </a:r>
            <a:r>
              <a:rPr lang="en-US" dirty="0"/>
              <a:t>: computing that forwarding state</a:t>
            </a:r>
          </a:p>
          <a:p>
            <a:pPr lvl="1"/>
            <a:r>
              <a:rPr lang="en-US" dirty="0"/>
              <a:t>Involves coordination with rest of system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04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OpenFlow data plane abstraction</a:t>
            </a:r>
          </a:p>
        </p:txBody>
      </p:sp>
      <p:sp>
        <p:nvSpPr>
          <p:cNvPr id="11776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x-none"/>
              <a:t>Flow is </a:t>
            </a:r>
            <a:r>
              <a:rPr lang="en-US" altLang="x-none" dirty="0"/>
              <a:t>defined by header fields</a:t>
            </a:r>
          </a:p>
          <a:p>
            <a:r>
              <a:rPr lang="en-US" altLang="x-none" dirty="0"/>
              <a:t>Generalized forwarding: simple packet-handling rules</a:t>
            </a:r>
          </a:p>
          <a:p>
            <a:pPr lvl="1"/>
            <a:r>
              <a:rPr lang="en-US" altLang="x-none" dirty="0">
                <a:solidFill>
                  <a:srgbClr val="0000FF"/>
                </a:solidFill>
              </a:rPr>
              <a:t>Pattern</a:t>
            </a:r>
            <a:r>
              <a:rPr lang="en-US" altLang="x-none" dirty="0"/>
              <a:t>: match values in packet header fields</a:t>
            </a:r>
          </a:p>
          <a:p>
            <a:pPr lvl="1"/>
            <a:r>
              <a:rPr lang="en-US" altLang="x-none" dirty="0">
                <a:solidFill>
                  <a:srgbClr val="0000FF"/>
                </a:solidFill>
              </a:rPr>
              <a:t>Actions</a:t>
            </a:r>
            <a:r>
              <a:rPr lang="en-US" altLang="x-none" dirty="0"/>
              <a:t>: for matched packet: drop, forward, modify, matched packet or send matched packet to controller </a:t>
            </a:r>
          </a:p>
          <a:p>
            <a:pPr lvl="1"/>
            <a:r>
              <a:rPr lang="en-US" altLang="x-none" dirty="0">
                <a:solidFill>
                  <a:srgbClr val="0000FF"/>
                </a:solidFill>
              </a:rPr>
              <a:t>Priority</a:t>
            </a:r>
            <a:r>
              <a:rPr lang="en-US" altLang="x-none" dirty="0"/>
              <a:t>: disambiguate overlapping patterns</a:t>
            </a:r>
          </a:p>
          <a:p>
            <a:pPr lvl="1"/>
            <a:r>
              <a:rPr lang="en-US" altLang="x-none" dirty="0">
                <a:solidFill>
                  <a:srgbClr val="0000FF"/>
                </a:solidFill>
              </a:rPr>
              <a:t>Counters</a:t>
            </a:r>
            <a:r>
              <a:rPr lang="en-US" altLang="x-none" dirty="0"/>
              <a:t>: #bytes and #packets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0ADDA3-9C7F-9040-AF4D-24524893D11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30" name="Rectangle 29"/>
          <p:cNvSpPr>
            <a:spLocks noChangeArrowheads="1"/>
          </p:cNvSpPr>
          <p:nvPr/>
        </p:nvSpPr>
        <p:spPr bwMode="auto">
          <a:xfrm>
            <a:off x="1009650" y="5257800"/>
            <a:ext cx="7124700" cy="1200329"/>
          </a:xfrm>
          <a:prstGeom prst="rect">
            <a:avLst/>
          </a:prstGeom>
          <a:solidFill>
            <a:srgbClr val="D3A600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marL="457200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>
              <a:buFontTx/>
              <a:buAutoNum type="arabicPeriod"/>
            </a:pPr>
            <a:r>
              <a:rPr lang="en-US" altLang="x-none" b="0">
                <a:ea typeface="Arial" charset="0"/>
                <a:cs typeface="Arial" charset="0"/>
              </a:rPr>
              <a:t>src=1.2.*.*, dest=3.4.5.* </a:t>
            </a:r>
            <a:r>
              <a:rPr lang="en-US" altLang="x-none" b="0">
                <a:ea typeface="Arial" charset="0"/>
                <a:cs typeface="Arial" charset="0"/>
                <a:sym typeface="Wingdings" charset="2"/>
              </a:rPr>
              <a:t> drop                        </a:t>
            </a:r>
          </a:p>
          <a:p>
            <a:pPr>
              <a:buFontTx/>
              <a:buAutoNum type="arabicPeriod"/>
            </a:pPr>
            <a:r>
              <a:rPr lang="en-US" altLang="x-none" b="0">
                <a:ea typeface="Arial" charset="0"/>
                <a:cs typeface="Arial" charset="0"/>
                <a:sym typeface="Wingdings" charset="2"/>
              </a:rPr>
              <a:t>src = *.*.*.*, dest=3.4.*.*  forward(2)</a:t>
            </a:r>
          </a:p>
          <a:p>
            <a:r>
              <a:rPr lang="en-US" altLang="x-none" b="0">
                <a:ea typeface="Arial" charset="0"/>
                <a:cs typeface="Arial" charset="0"/>
                <a:sym typeface="Wingdings" charset="2"/>
              </a:rPr>
              <a:t>3.  src=10.1.2.3, dest=*.*.*.*  send to controller</a:t>
            </a:r>
            <a:endParaRPr lang="en-US" altLang="x-none" b="0"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2565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30" name="Rectangle 22"/>
          <p:cNvSpPr>
            <a:spLocks/>
          </p:cNvSpPr>
          <p:nvPr/>
        </p:nvSpPr>
        <p:spPr bwMode="auto">
          <a:xfrm>
            <a:off x="785813" y="1687513"/>
            <a:ext cx="1446212" cy="68738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119809" name="Rectangle 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>
                <a:ea typeface="ＭＳ Ｐゴシック" charset="-128"/>
              </a:rPr>
              <a:t>OpenFlow: Flow table </a:t>
            </a:r>
            <a:r>
              <a:rPr lang="en-US" altLang="x-none" dirty="0"/>
              <a:t>e</a:t>
            </a:r>
            <a:r>
              <a:rPr lang="en-US" altLang="x-none" dirty="0">
                <a:ea typeface="ＭＳ Ｐゴシック" charset="-128"/>
              </a:rPr>
              <a:t>ntries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808D7-CA4F-3246-B3F7-BBA2593D01C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119810" name="Rectangle 2"/>
          <p:cNvSpPr>
            <a:spLocks/>
          </p:cNvSpPr>
          <p:nvPr/>
        </p:nvSpPr>
        <p:spPr bwMode="auto">
          <a:xfrm>
            <a:off x="768350" y="5348287"/>
            <a:ext cx="758825" cy="53657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 b="0">
              <a:ea typeface="Arial" charset="0"/>
              <a:cs typeface="Arial" charset="0"/>
            </a:endParaRPr>
          </a:p>
        </p:txBody>
      </p:sp>
      <p:sp>
        <p:nvSpPr>
          <p:cNvPr id="119811" name="Rectangle 3"/>
          <p:cNvSpPr>
            <a:spLocks/>
          </p:cNvSpPr>
          <p:nvPr/>
        </p:nvSpPr>
        <p:spPr bwMode="auto">
          <a:xfrm>
            <a:off x="819150" y="5354964"/>
            <a:ext cx="642805" cy="52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700" b="0" dirty="0">
                <a:ea typeface="Arial" charset="0"/>
                <a:cs typeface="Arial" charset="0"/>
              </a:rPr>
              <a:t>Switch</a:t>
            </a:r>
          </a:p>
          <a:p>
            <a:r>
              <a:rPr lang="en-US" altLang="x-none" sz="1700" b="0" dirty="0">
                <a:ea typeface="Arial" charset="0"/>
                <a:cs typeface="Arial" charset="0"/>
              </a:rPr>
              <a:t>Port</a:t>
            </a:r>
          </a:p>
        </p:txBody>
      </p:sp>
      <p:sp>
        <p:nvSpPr>
          <p:cNvPr id="119812" name="Rectangle 4"/>
          <p:cNvSpPr>
            <a:spLocks/>
          </p:cNvSpPr>
          <p:nvPr/>
        </p:nvSpPr>
        <p:spPr bwMode="auto">
          <a:xfrm>
            <a:off x="2279650" y="5348287"/>
            <a:ext cx="758825" cy="53657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 b="0">
              <a:ea typeface="Arial" charset="0"/>
              <a:cs typeface="Arial" charset="0"/>
            </a:endParaRPr>
          </a:p>
        </p:txBody>
      </p:sp>
      <p:sp>
        <p:nvSpPr>
          <p:cNvPr id="119813" name="Rectangle 5"/>
          <p:cNvSpPr>
            <a:spLocks/>
          </p:cNvSpPr>
          <p:nvPr/>
        </p:nvSpPr>
        <p:spPr bwMode="auto">
          <a:xfrm>
            <a:off x="2392363" y="5354964"/>
            <a:ext cx="495328" cy="52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700" b="0" dirty="0">
                <a:ea typeface="Arial" charset="0"/>
                <a:cs typeface="Arial" charset="0"/>
              </a:rPr>
              <a:t>MAC</a:t>
            </a:r>
          </a:p>
          <a:p>
            <a:r>
              <a:rPr lang="en-US" altLang="x-none" sz="1700" b="0" dirty="0">
                <a:ea typeface="Arial" charset="0"/>
                <a:cs typeface="Arial" charset="0"/>
              </a:rPr>
              <a:t>src</a:t>
            </a:r>
          </a:p>
        </p:txBody>
      </p:sp>
      <p:sp>
        <p:nvSpPr>
          <p:cNvPr id="119814" name="Rectangle 6"/>
          <p:cNvSpPr>
            <a:spLocks/>
          </p:cNvSpPr>
          <p:nvPr/>
        </p:nvSpPr>
        <p:spPr bwMode="auto">
          <a:xfrm>
            <a:off x="3038475" y="5348287"/>
            <a:ext cx="758825" cy="53657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 b="0">
              <a:ea typeface="Arial" charset="0"/>
              <a:cs typeface="Arial" charset="0"/>
            </a:endParaRPr>
          </a:p>
        </p:txBody>
      </p:sp>
      <p:sp>
        <p:nvSpPr>
          <p:cNvPr id="119815" name="Rectangle 7"/>
          <p:cNvSpPr>
            <a:spLocks/>
          </p:cNvSpPr>
          <p:nvPr/>
        </p:nvSpPr>
        <p:spPr bwMode="auto">
          <a:xfrm>
            <a:off x="3154363" y="5354964"/>
            <a:ext cx="495328" cy="52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700" b="0" dirty="0">
                <a:ea typeface="Arial" charset="0"/>
                <a:cs typeface="Arial" charset="0"/>
              </a:rPr>
              <a:t>MAC</a:t>
            </a:r>
          </a:p>
          <a:p>
            <a:r>
              <a:rPr lang="en-US" altLang="x-none" sz="1700" b="0" dirty="0">
                <a:ea typeface="Arial" charset="0"/>
                <a:cs typeface="Arial" charset="0"/>
              </a:rPr>
              <a:t>dst</a:t>
            </a:r>
          </a:p>
        </p:txBody>
      </p:sp>
      <p:sp>
        <p:nvSpPr>
          <p:cNvPr id="119816" name="Rectangle 8"/>
          <p:cNvSpPr>
            <a:spLocks/>
          </p:cNvSpPr>
          <p:nvPr/>
        </p:nvSpPr>
        <p:spPr bwMode="auto">
          <a:xfrm>
            <a:off x="3768725" y="5348287"/>
            <a:ext cx="758825" cy="53657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 b="0">
              <a:ea typeface="Arial" charset="0"/>
              <a:cs typeface="Arial" charset="0"/>
            </a:endParaRPr>
          </a:p>
        </p:txBody>
      </p:sp>
      <p:sp>
        <p:nvSpPr>
          <p:cNvPr id="119817" name="Rectangle 9"/>
          <p:cNvSpPr>
            <a:spLocks/>
          </p:cNvSpPr>
          <p:nvPr/>
        </p:nvSpPr>
        <p:spPr bwMode="auto">
          <a:xfrm>
            <a:off x="3956050" y="5354964"/>
            <a:ext cx="413575" cy="52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700" b="0" dirty="0">
                <a:ea typeface="Arial" charset="0"/>
                <a:cs typeface="Arial" charset="0"/>
              </a:rPr>
              <a:t>Eth</a:t>
            </a:r>
          </a:p>
          <a:p>
            <a:r>
              <a:rPr lang="en-US" altLang="x-none" sz="1700" b="0" dirty="0">
                <a:ea typeface="Arial" charset="0"/>
                <a:cs typeface="Arial" charset="0"/>
              </a:rPr>
              <a:t>type</a:t>
            </a:r>
          </a:p>
        </p:txBody>
      </p:sp>
      <p:sp>
        <p:nvSpPr>
          <p:cNvPr id="119818" name="Rectangle 10"/>
          <p:cNvSpPr>
            <a:spLocks/>
          </p:cNvSpPr>
          <p:nvPr/>
        </p:nvSpPr>
        <p:spPr bwMode="auto">
          <a:xfrm>
            <a:off x="1517650" y="5348287"/>
            <a:ext cx="758825" cy="53657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 b="0">
              <a:ea typeface="Arial" charset="0"/>
              <a:cs typeface="Arial" charset="0"/>
            </a:endParaRPr>
          </a:p>
        </p:txBody>
      </p:sp>
      <p:sp>
        <p:nvSpPr>
          <p:cNvPr id="119819" name="Rectangle 11"/>
          <p:cNvSpPr>
            <a:spLocks/>
          </p:cNvSpPr>
          <p:nvPr/>
        </p:nvSpPr>
        <p:spPr bwMode="auto">
          <a:xfrm>
            <a:off x="1598613" y="5354964"/>
            <a:ext cx="593111" cy="52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700" b="0" dirty="0">
                <a:ea typeface="Arial" charset="0"/>
                <a:cs typeface="Arial" charset="0"/>
              </a:rPr>
              <a:t>VLAN</a:t>
            </a:r>
          </a:p>
          <a:p>
            <a:r>
              <a:rPr lang="en-US" altLang="x-none" sz="1700" b="0" dirty="0">
                <a:ea typeface="Arial" charset="0"/>
                <a:cs typeface="Arial" charset="0"/>
              </a:rPr>
              <a:t>ID</a:t>
            </a:r>
          </a:p>
        </p:txBody>
      </p:sp>
      <p:sp>
        <p:nvSpPr>
          <p:cNvPr id="119820" name="Rectangle 12"/>
          <p:cNvSpPr>
            <a:spLocks/>
          </p:cNvSpPr>
          <p:nvPr/>
        </p:nvSpPr>
        <p:spPr bwMode="auto">
          <a:xfrm>
            <a:off x="4518025" y="5348287"/>
            <a:ext cx="758825" cy="53657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 b="0">
              <a:ea typeface="Arial" charset="0"/>
              <a:cs typeface="Arial" charset="0"/>
            </a:endParaRPr>
          </a:p>
        </p:txBody>
      </p:sp>
      <p:sp>
        <p:nvSpPr>
          <p:cNvPr id="119821" name="Rectangle 13"/>
          <p:cNvSpPr>
            <a:spLocks/>
          </p:cNvSpPr>
          <p:nvPr/>
        </p:nvSpPr>
        <p:spPr bwMode="auto">
          <a:xfrm>
            <a:off x="4724400" y="5354964"/>
            <a:ext cx="327013" cy="52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700" b="0" dirty="0">
                <a:ea typeface="Arial" charset="0"/>
                <a:cs typeface="Arial" charset="0"/>
              </a:rPr>
              <a:t>IP</a:t>
            </a:r>
          </a:p>
          <a:p>
            <a:r>
              <a:rPr lang="en-US" altLang="x-none" sz="1700" b="0" dirty="0">
                <a:ea typeface="Arial" charset="0"/>
                <a:cs typeface="Arial" charset="0"/>
              </a:rPr>
              <a:t>Src</a:t>
            </a:r>
          </a:p>
        </p:txBody>
      </p:sp>
      <p:sp>
        <p:nvSpPr>
          <p:cNvPr id="119822" name="Rectangle 14"/>
          <p:cNvSpPr>
            <a:spLocks/>
          </p:cNvSpPr>
          <p:nvPr/>
        </p:nvSpPr>
        <p:spPr bwMode="auto">
          <a:xfrm>
            <a:off x="5286375" y="5348287"/>
            <a:ext cx="758825" cy="53657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 b="0">
              <a:ea typeface="Arial" charset="0"/>
              <a:cs typeface="Arial" charset="0"/>
            </a:endParaRPr>
          </a:p>
        </p:txBody>
      </p:sp>
      <p:sp>
        <p:nvSpPr>
          <p:cNvPr id="119823" name="Rectangle 15"/>
          <p:cNvSpPr>
            <a:spLocks/>
          </p:cNvSpPr>
          <p:nvPr/>
        </p:nvSpPr>
        <p:spPr bwMode="auto">
          <a:xfrm>
            <a:off x="5465763" y="5354964"/>
            <a:ext cx="327013" cy="52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700" b="0" dirty="0">
                <a:ea typeface="Arial" charset="0"/>
                <a:cs typeface="Arial" charset="0"/>
              </a:rPr>
              <a:t>IP</a:t>
            </a:r>
          </a:p>
          <a:p>
            <a:r>
              <a:rPr lang="en-US" altLang="x-none" sz="1700" b="0" dirty="0">
                <a:ea typeface="Arial" charset="0"/>
                <a:cs typeface="Arial" charset="0"/>
              </a:rPr>
              <a:t>Dst</a:t>
            </a:r>
          </a:p>
        </p:txBody>
      </p:sp>
      <p:sp>
        <p:nvSpPr>
          <p:cNvPr id="119824" name="Rectangle 16"/>
          <p:cNvSpPr>
            <a:spLocks/>
          </p:cNvSpPr>
          <p:nvPr/>
        </p:nvSpPr>
        <p:spPr bwMode="auto">
          <a:xfrm>
            <a:off x="6045200" y="5348287"/>
            <a:ext cx="758825" cy="53657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 b="0">
              <a:ea typeface="Arial" charset="0"/>
              <a:cs typeface="Arial" charset="0"/>
            </a:endParaRPr>
          </a:p>
        </p:txBody>
      </p:sp>
      <p:sp>
        <p:nvSpPr>
          <p:cNvPr id="119825" name="Rectangle 17"/>
          <p:cNvSpPr>
            <a:spLocks/>
          </p:cNvSpPr>
          <p:nvPr/>
        </p:nvSpPr>
        <p:spPr bwMode="auto">
          <a:xfrm>
            <a:off x="6196013" y="5354964"/>
            <a:ext cx="400751" cy="52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700" b="0" dirty="0">
                <a:ea typeface="Arial" charset="0"/>
                <a:cs typeface="Arial" charset="0"/>
              </a:rPr>
              <a:t>IP</a:t>
            </a:r>
          </a:p>
          <a:p>
            <a:r>
              <a:rPr lang="en-US" altLang="x-none" sz="1700" b="0" dirty="0" err="1">
                <a:ea typeface="Arial" charset="0"/>
                <a:cs typeface="Arial" charset="0"/>
              </a:rPr>
              <a:t>Prot</a:t>
            </a:r>
            <a:endParaRPr lang="en-US" altLang="x-none" sz="1700" b="0" dirty="0">
              <a:ea typeface="Arial" charset="0"/>
              <a:cs typeface="Arial" charset="0"/>
            </a:endParaRPr>
          </a:p>
        </p:txBody>
      </p:sp>
      <p:sp>
        <p:nvSpPr>
          <p:cNvPr id="119826" name="Rectangle 18"/>
          <p:cNvSpPr>
            <a:spLocks/>
          </p:cNvSpPr>
          <p:nvPr/>
        </p:nvSpPr>
        <p:spPr bwMode="auto">
          <a:xfrm>
            <a:off x="6804025" y="5348287"/>
            <a:ext cx="758825" cy="53657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 b="0">
              <a:ea typeface="Arial" charset="0"/>
              <a:cs typeface="Arial" charset="0"/>
            </a:endParaRPr>
          </a:p>
        </p:txBody>
      </p:sp>
      <p:sp>
        <p:nvSpPr>
          <p:cNvPr id="119827" name="Rectangle 19"/>
          <p:cNvSpPr>
            <a:spLocks/>
          </p:cNvSpPr>
          <p:nvPr/>
        </p:nvSpPr>
        <p:spPr bwMode="auto">
          <a:xfrm>
            <a:off x="6911975" y="5354964"/>
            <a:ext cx="485710" cy="52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700" b="0" dirty="0">
                <a:ea typeface="Arial" charset="0"/>
                <a:cs typeface="Arial" charset="0"/>
              </a:rPr>
              <a:t>TCP</a:t>
            </a:r>
          </a:p>
          <a:p>
            <a:r>
              <a:rPr lang="en-US" altLang="x-none" sz="1700" b="0" dirty="0">
                <a:ea typeface="Arial" charset="0"/>
                <a:cs typeface="Arial" charset="0"/>
              </a:rPr>
              <a:t>sport</a:t>
            </a:r>
          </a:p>
        </p:txBody>
      </p:sp>
      <p:sp>
        <p:nvSpPr>
          <p:cNvPr id="119828" name="Rectangle 20"/>
          <p:cNvSpPr>
            <a:spLocks/>
          </p:cNvSpPr>
          <p:nvPr/>
        </p:nvSpPr>
        <p:spPr bwMode="auto">
          <a:xfrm>
            <a:off x="7572375" y="5348287"/>
            <a:ext cx="758825" cy="53657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 b="0">
              <a:ea typeface="Arial" charset="0"/>
              <a:cs typeface="Arial" charset="0"/>
            </a:endParaRPr>
          </a:p>
        </p:txBody>
      </p:sp>
      <p:sp>
        <p:nvSpPr>
          <p:cNvPr id="119829" name="Rectangle 21"/>
          <p:cNvSpPr>
            <a:spLocks/>
          </p:cNvSpPr>
          <p:nvPr/>
        </p:nvSpPr>
        <p:spPr bwMode="auto">
          <a:xfrm>
            <a:off x="7661275" y="5354964"/>
            <a:ext cx="498534" cy="5232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700" b="0" dirty="0">
                <a:ea typeface="Arial" charset="0"/>
                <a:cs typeface="Arial" charset="0"/>
              </a:rPr>
              <a:t>TCP</a:t>
            </a:r>
          </a:p>
          <a:p>
            <a:r>
              <a:rPr lang="en-US" altLang="x-none" sz="1700" b="0" dirty="0" err="1">
                <a:ea typeface="Arial" charset="0"/>
                <a:cs typeface="Arial" charset="0"/>
              </a:rPr>
              <a:t>dport</a:t>
            </a:r>
            <a:endParaRPr lang="en-US" altLang="x-none" sz="1700" b="0" dirty="0">
              <a:ea typeface="Arial" charset="0"/>
              <a:cs typeface="Arial" charset="0"/>
            </a:endParaRPr>
          </a:p>
        </p:txBody>
      </p:sp>
      <p:sp>
        <p:nvSpPr>
          <p:cNvPr id="119831" name="Rectangle 23"/>
          <p:cNvSpPr>
            <a:spLocks/>
          </p:cNvSpPr>
          <p:nvPr/>
        </p:nvSpPr>
        <p:spPr bwMode="auto">
          <a:xfrm>
            <a:off x="1127125" y="1891119"/>
            <a:ext cx="50013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800" dirty="0">
                <a:ea typeface="Arial" charset="0"/>
                <a:cs typeface="Arial" charset="0"/>
              </a:rPr>
              <a:t>Rule</a:t>
            </a:r>
          </a:p>
        </p:txBody>
      </p:sp>
      <p:sp>
        <p:nvSpPr>
          <p:cNvPr id="119832" name="Rectangle 24"/>
          <p:cNvSpPr>
            <a:spLocks/>
          </p:cNvSpPr>
          <p:nvPr/>
        </p:nvSpPr>
        <p:spPr bwMode="auto">
          <a:xfrm>
            <a:off x="2232025" y="1687513"/>
            <a:ext cx="1446213" cy="687387"/>
          </a:xfrm>
          <a:prstGeom prst="rect">
            <a:avLst/>
          </a:prstGeom>
          <a:solidFill>
            <a:srgbClr val="D3A600"/>
          </a:solidFill>
          <a:ln w="12700">
            <a:solidFill>
              <a:srgbClr val="697D3A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>
              <a:ea typeface="Arial" charset="0"/>
              <a:cs typeface="Arial" charset="0"/>
            </a:endParaRPr>
          </a:p>
        </p:txBody>
      </p:sp>
      <p:sp>
        <p:nvSpPr>
          <p:cNvPr id="119833" name="Rectangle 25"/>
          <p:cNvSpPr>
            <a:spLocks/>
          </p:cNvSpPr>
          <p:nvPr/>
        </p:nvSpPr>
        <p:spPr bwMode="auto">
          <a:xfrm>
            <a:off x="2405063" y="1891119"/>
            <a:ext cx="71814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800">
                <a:ea typeface="Arial" charset="0"/>
                <a:cs typeface="Arial" charset="0"/>
              </a:rPr>
              <a:t>Action</a:t>
            </a:r>
          </a:p>
        </p:txBody>
      </p:sp>
      <p:sp>
        <p:nvSpPr>
          <p:cNvPr id="119834" name="Rectangle 26"/>
          <p:cNvSpPr>
            <a:spLocks/>
          </p:cNvSpPr>
          <p:nvPr/>
        </p:nvSpPr>
        <p:spPr bwMode="auto">
          <a:xfrm>
            <a:off x="3678238" y="1687513"/>
            <a:ext cx="1447800" cy="687387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>
              <a:ea typeface="Arial" charset="0"/>
              <a:cs typeface="Arial" charset="0"/>
            </a:endParaRPr>
          </a:p>
        </p:txBody>
      </p:sp>
      <p:sp>
        <p:nvSpPr>
          <p:cNvPr id="119835" name="Rectangle 27"/>
          <p:cNvSpPr>
            <a:spLocks/>
          </p:cNvSpPr>
          <p:nvPr/>
        </p:nvSpPr>
        <p:spPr bwMode="auto">
          <a:xfrm>
            <a:off x="3998913" y="1891119"/>
            <a:ext cx="56425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800" dirty="0">
                <a:solidFill>
                  <a:schemeClr val="bg1"/>
                </a:solidFill>
                <a:ea typeface="Arial" charset="0"/>
                <a:cs typeface="Arial" charset="0"/>
              </a:rPr>
              <a:t>Stats</a:t>
            </a:r>
          </a:p>
        </p:txBody>
      </p:sp>
      <p:sp>
        <p:nvSpPr>
          <p:cNvPr id="119836" name="Rectangle 28"/>
          <p:cNvSpPr>
            <a:spLocks/>
          </p:cNvSpPr>
          <p:nvPr/>
        </p:nvSpPr>
        <p:spPr bwMode="auto">
          <a:xfrm>
            <a:off x="1884363" y="3152775"/>
            <a:ext cx="5634037" cy="1776413"/>
          </a:xfrm>
          <a:prstGeom prst="rect">
            <a:avLst/>
          </a:prstGeom>
          <a:solidFill>
            <a:srgbClr val="D3A600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 anchor="ctr"/>
          <a:lstStyle>
            <a:lvl1pPr marL="357188" indent="-3302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>
              <a:buFontTx/>
              <a:buAutoNum type="arabicPeriod"/>
            </a:pPr>
            <a:r>
              <a:rPr lang="en-US" altLang="x-none" sz="2200" dirty="0">
                <a:ea typeface="Arial" charset="0"/>
                <a:cs typeface="Arial" charset="0"/>
              </a:rPr>
              <a:t>Forward packet to port(s)</a:t>
            </a:r>
          </a:p>
          <a:p>
            <a:pPr>
              <a:buFontTx/>
              <a:buAutoNum type="arabicPeriod"/>
            </a:pPr>
            <a:r>
              <a:rPr lang="en-US" altLang="x-none" sz="2200" dirty="0">
                <a:ea typeface="Arial" charset="0"/>
                <a:cs typeface="Arial" charset="0"/>
              </a:rPr>
              <a:t>Encapsulate and forward to controller</a:t>
            </a:r>
          </a:p>
          <a:p>
            <a:pPr>
              <a:buFontTx/>
              <a:buAutoNum type="arabicPeriod"/>
            </a:pPr>
            <a:r>
              <a:rPr lang="en-US" altLang="x-none" sz="2200" dirty="0">
                <a:ea typeface="Arial" charset="0"/>
                <a:cs typeface="Arial" charset="0"/>
              </a:rPr>
              <a:t>Drop packet</a:t>
            </a:r>
          </a:p>
          <a:p>
            <a:pPr>
              <a:buFontTx/>
              <a:buAutoNum type="arabicPeriod"/>
            </a:pPr>
            <a:r>
              <a:rPr lang="en-US" altLang="x-none" sz="2200" dirty="0">
                <a:ea typeface="Arial" charset="0"/>
                <a:cs typeface="Arial" charset="0"/>
              </a:rPr>
              <a:t>Send to normal processing pipeline</a:t>
            </a:r>
          </a:p>
          <a:p>
            <a:pPr>
              <a:buFontTx/>
              <a:buAutoNum type="arabicPeriod"/>
            </a:pPr>
            <a:r>
              <a:rPr lang="en-US" altLang="x-none" sz="2200" dirty="0">
                <a:ea typeface="Arial" charset="0"/>
                <a:cs typeface="Arial" charset="0"/>
              </a:rPr>
              <a:t>Modify Fields</a:t>
            </a:r>
          </a:p>
        </p:txBody>
      </p:sp>
      <p:sp>
        <p:nvSpPr>
          <p:cNvPr id="119837" name="Line 30"/>
          <p:cNvSpPr>
            <a:spLocks noChangeShapeType="1"/>
          </p:cNvSpPr>
          <p:nvPr/>
        </p:nvSpPr>
        <p:spPr bwMode="auto">
          <a:xfrm>
            <a:off x="1217613" y="2438400"/>
            <a:ext cx="1587" cy="2892425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4291" tIns="32146" rIns="64291" bIns="3214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19838" name="Line 31"/>
          <p:cNvSpPr>
            <a:spLocks noChangeShapeType="1"/>
          </p:cNvSpPr>
          <p:nvPr/>
        </p:nvSpPr>
        <p:spPr bwMode="auto">
          <a:xfrm>
            <a:off x="2759075" y="2374900"/>
            <a:ext cx="1588" cy="758825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4291" tIns="32146" rIns="64291" bIns="3214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19839" name="Rectangle 32"/>
          <p:cNvSpPr>
            <a:spLocks/>
          </p:cNvSpPr>
          <p:nvPr/>
        </p:nvSpPr>
        <p:spPr bwMode="auto">
          <a:xfrm>
            <a:off x="3830638" y="2625725"/>
            <a:ext cx="3332162" cy="384175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endParaRPr lang="x-none" altLang="x-none" sz="1800">
              <a:ea typeface="Arial" charset="0"/>
              <a:cs typeface="Arial" charset="0"/>
            </a:endParaRPr>
          </a:p>
        </p:txBody>
      </p:sp>
      <p:sp>
        <p:nvSpPr>
          <p:cNvPr id="119840" name="Rectangle 33"/>
          <p:cNvSpPr>
            <a:spLocks/>
          </p:cNvSpPr>
          <p:nvPr/>
        </p:nvSpPr>
        <p:spPr bwMode="auto">
          <a:xfrm>
            <a:off x="3973513" y="2647742"/>
            <a:ext cx="308738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defTabSz="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2200" dirty="0">
                <a:solidFill>
                  <a:schemeClr val="bg1"/>
                </a:solidFill>
                <a:ea typeface="Arial" charset="0"/>
                <a:cs typeface="Arial" charset="0"/>
              </a:rPr>
              <a:t>Packet + byte counters</a:t>
            </a:r>
          </a:p>
        </p:txBody>
      </p:sp>
      <p:sp>
        <p:nvSpPr>
          <p:cNvPr id="119841" name="Line 34"/>
          <p:cNvSpPr>
            <a:spLocks noChangeShapeType="1"/>
          </p:cNvSpPr>
          <p:nvPr/>
        </p:nvSpPr>
        <p:spPr bwMode="auto">
          <a:xfrm rot="10800000" flipH="1">
            <a:off x="4214813" y="2374900"/>
            <a:ext cx="1587" cy="231775"/>
          </a:xfrm>
          <a:prstGeom prst="line">
            <a:avLst/>
          </a:prstGeom>
          <a:noFill/>
          <a:ln w="38100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64291" tIns="32146" rIns="64291" bIns="32146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19843" name="文字方塊 29"/>
          <p:cNvSpPr txBox="1">
            <a:spLocks noChangeArrowheads="1"/>
          </p:cNvSpPr>
          <p:nvPr/>
        </p:nvSpPr>
        <p:spPr bwMode="auto">
          <a:xfrm>
            <a:off x="2454275" y="6261894"/>
            <a:ext cx="126188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TW" sz="1800">
                <a:solidFill>
                  <a:srgbClr val="000000"/>
                </a:solidFill>
                <a:ea typeface="Arial" charset="0"/>
                <a:cs typeface="Arial" charset="0"/>
              </a:rPr>
              <a:t>Link layer</a:t>
            </a:r>
            <a:endParaRPr lang="zh-TW" altLang="en-US" sz="1800">
              <a:solidFill>
                <a:srgbClr val="000000"/>
              </a:solidFill>
              <a:ea typeface="Arial" charset="0"/>
              <a:cs typeface="Arial" charset="0"/>
            </a:endParaRPr>
          </a:p>
        </p:txBody>
      </p:sp>
      <p:grpSp>
        <p:nvGrpSpPr>
          <p:cNvPr id="119844" name="Group 37"/>
          <p:cNvGrpSpPr>
            <a:grpSpLocks/>
          </p:cNvGrpSpPr>
          <p:nvPr/>
        </p:nvGrpSpPr>
        <p:grpSpPr bwMode="auto">
          <a:xfrm>
            <a:off x="1550988" y="6029325"/>
            <a:ext cx="2917825" cy="234950"/>
            <a:chOff x="1392851" y="2310653"/>
            <a:chExt cx="3302446" cy="234913"/>
          </a:xfrm>
        </p:grpSpPr>
        <p:cxnSp>
          <p:nvCxnSpPr>
            <p:cNvPr id="119857" name="Straight Connector 38"/>
            <p:cNvCxnSpPr>
              <a:cxnSpLocks noChangeShapeType="1"/>
            </p:cNvCxnSpPr>
            <p:nvPr/>
          </p:nvCxnSpPr>
          <p:spPr bwMode="auto">
            <a:xfrm>
              <a:off x="1394004" y="2310653"/>
              <a:ext cx="0" cy="1164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9858" name="Straight Connector 39"/>
            <p:cNvCxnSpPr>
              <a:cxnSpLocks noChangeShapeType="1"/>
            </p:cNvCxnSpPr>
            <p:nvPr/>
          </p:nvCxnSpPr>
          <p:spPr bwMode="auto">
            <a:xfrm>
              <a:off x="1392851" y="2427111"/>
              <a:ext cx="33024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9859" name="Straight Connector 40"/>
            <p:cNvCxnSpPr>
              <a:cxnSpLocks noChangeShapeType="1"/>
            </p:cNvCxnSpPr>
            <p:nvPr/>
          </p:nvCxnSpPr>
          <p:spPr bwMode="auto">
            <a:xfrm>
              <a:off x="4695297" y="2310653"/>
              <a:ext cx="0" cy="1164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9860" name="Straight Connector 41"/>
            <p:cNvCxnSpPr>
              <a:cxnSpLocks noChangeShapeType="1"/>
            </p:cNvCxnSpPr>
            <p:nvPr/>
          </p:nvCxnSpPr>
          <p:spPr bwMode="auto">
            <a:xfrm>
              <a:off x="3042374" y="2429108"/>
              <a:ext cx="0" cy="1164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19845" name="Group 42"/>
          <p:cNvGrpSpPr>
            <a:grpSpLocks/>
          </p:cNvGrpSpPr>
          <p:nvPr/>
        </p:nvGrpSpPr>
        <p:grpSpPr bwMode="auto">
          <a:xfrm>
            <a:off x="4564063" y="6030913"/>
            <a:ext cx="2211387" cy="234950"/>
            <a:chOff x="1392851" y="2310653"/>
            <a:chExt cx="3302446" cy="234913"/>
          </a:xfrm>
        </p:grpSpPr>
        <p:cxnSp>
          <p:nvCxnSpPr>
            <p:cNvPr id="119853" name="Straight Connector 43"/>
            <p:cNvCxnSpPr>
              <a:cxnSpLocks noChangeShapeType="1"/>
            </p:cNvCxnSpPr>
            <p:nvPr/>
          </p:nvCxnSpPr>
          <p:spPr bwMode="auto">
            <a:xfrm>
              <a:off x="1394004" y="2310653"/>
              <a:ext cx="0" cy="1164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9854" name="Straight Connector 44"/>
            <p:cNvCxnSpPr>
              <a:cxnSpLocks noChangeShapeType="1"/>
            </p:cNvCxnSpPr>
            <p:nvPr/>
          </p:nvCxnSpPr>
          <p:spPr bwMode="auto">
            <a:xfrm>
              <a:off x="1392851" y="2427111"/>
              <a:ext cx="33024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9855" name="Straight Connector 45"/>
            <p:cNvCxnSpPr>
              <a:cxnSpLocks noChangeShapeType="1"/>
            </p:cNvCxnSpPr>
            <p:nvPr/>
          </p:nvCxnSpPr>
          <p:spPr bwMode="auto">
            <a:xfrm>
              <a:off x="4695297" y="2310653"/>
              <a:ext cx="0" cy="1164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9856" name="Straight Connector 46"/>
            <p:cNvCxnSpPr>
              <a:cxnSpLocks noChangeShapeType="1"/>
            </p:cNvCxnSpPr>
            <p:nvPr/>
          </p:nvCxnSpPr>
          <p:spPr bwMode="auto">
            <a:xfrm>
              <a:off x="3042374" y="2429108"/>
              <a:ext cx="0" cy="1164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19846" name="Group 47"/>
          <p:cNvGrpSpPr>
            <a:grpSpLocks/>
          </p:cNvGrpSpPr>
          <p:nvPr/>
        </p:nvGrpSpPr>
        <p:grpSpPr bwMode="auto">
          <a:xfrm>
            <a:off x="6942138" y="6029325"/>
            <a:ext cx="1376362" cy="214313"/>
            <a:chOff x="1392851" y="2310653"/>
            <a:chExt cx="3302446" cy="234913"/>
          </a:xfrm>
        </p:grpSpPr>
        <p:cxnSp>
          <p:nvCxnSpPr>
            <p:cNvPr id="119849" name="Straight Connector 48"/>
            <p:cNvCxnSpPr>
              <a:cxnSpLocks noChangeShapeType="1"/>
            </p:cNvCxnSpPr>
            <p:nvPr/>
          </p:nvCxnSpPr>
          <p:spPr bwMode="auto">
            <a:xfrm>
              <a:off x="1394004" y="2310653"/>
              <a:ext cx="0" cy="1164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9850" name="Straight Connector 49"/>
            <p:cNvCxnSpPr>
              <a:cxnSpLocks noChangeShapeType="1"/>
            </p:cNvCxnSpPr>
            <p:nvPr/>
          </p:nvCxnSpPr>
          <p:spPr bwMode="auto">
            <a:xfrm>
              <a:off x="1392851" y="2427111"/>
              <a:ext cx="330244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9851" name="Straight Connector 50"/>
            <p:cNvCxnSpPr>
              <a:cxnSpLocks noChangeShapeType="1"/>
            </p:cNvCxnSpPr>
            <p:nvPr/>
          </p:nvCxnSpPr>
          <p:spPr bwMode="auto">
            <a:xfrm>
              <a:off x="4695297" y="2310653"/>
              <a:ext cx="0" cy="1164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19852" name="Straight Connector 51"/>
            <p:cNvCxnSpPr>
              <a:cxnSpLocks noChangeShapeType="1"/>
            </p:cNvCxnSpPr>
            <p:nvPr/>
          </p:nvCxnSpPr>
          <p:spPr bwMode="auto">
            <a:xfrm>
              <a:off x="3042374" y="2429108"/>
              <a:ext cx="0" cy="11645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119847" name="文字方塊 29"/>
          <p:cNvSpPr txBox="1">
            <a:spLocks noChangeArrowheads="1"/>
          </p:cNvSpPr>
          <p:nvPr/>
        </p:nvSpPr>
        <p:spPr bwMode="auto">
          <a:xfrm>
            <a:off x="4845050" y="6261894"/>
            <a:ext cx="169790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zh-TW" sz="1800">
                <a:solidFill>
                  <a:srgbClr val="000000"/>
                </a:solidFill>
                <a:ea typeface="Arial" charset="0"/>
                <a:cs typeface="Arial" charset="0"/>
              </a:rPr>
              <a:t>Network layer</a:t>
            </a:r>
            <a:endParaRPr lang="zh-TW" altLang="en-US" sz="1800">
              <a:solidFill>
                <a:srgbClr val="000000"/>
              </a:solidFill>
              <a:ea typeface="Arial" charset="0"/>
              <a:cs typeface="Arial" charset="0"/>
            </a:endParaRPr>
          </a:p>
        </p:txBody>
      </p:sp>
      <p:sp>
        <p:nvSpPr>
          <p:cNvPr id="119848" name="文字方塊 29"/>
          <p:cNvSpPr txBox="1">
            <a:spLocks noChangeArrowheads="1"/>
          </p:cNvSpPr>
          <p:nvPr/>
        </p:nvSpPr>
        <p:spPr bwMode="auto">
          <a:xfrm>
            <a:off x="6392863" y="6261616"/>
            <a:ext cx="23495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zh-TW" sz="1800">
                <a:solidFill>
                  <a:srgbClr val="000000"/>
                </a:solidFill>
                <a:ea typeface="Arial" charset="0"/>
                <a:cs typeface="Arial" charset="0"/>
              </a:rPr>
              <a:t>Transport layer</a:t>
            </a:r>
            <a:endParaRPr lang="zh-TW" altLang="en-US" sz="1800">
              <a:solidFill>
                <a:srgbClr val="000000"/>
              </a:solidFill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25558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Forwarding 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286000"/>
            <a:ext cx="3886200" cy="2971800"/>
          </a:xfrm>
        </p:spPr>
        <p:txBody>
          <a:bodyPr/>
          <a:lstStyle/>
          <a:p>
            <a:r>
              <a:rPr lang="en-US" sz="2400" dirty="0"/>
              <a:t>Router</a:t>
            </a:r>
          </a:p>
          <a:p>
            <a:pPr lvl="1"/>
            <a:r>
              <a:rPr lang="en-US" sz="2000" dirty="0"/>
              <a:t>Match: longest destination IP prefix</a:t>
            </a:r>
          </a:p>
          <a:p>
            <a:pPr lvl="1"/>
            <a:r>
              <a:rPr lang="en-US" sz="2000" dirty="0"/>
              <a:t>Action: forward out a link</a:t>
            </a:r>
          </a:p>
          <a:p>
            <a:r>
              <a:rPr lang="en-US" sz="2400" dirty="0"/>
              <a:t>Switch</a:t>
            </a:r>
          </a:p>
          <a:p>
            <a:pPr lvl="1"/>
            <a:r>
              <a:rPr lang="en-US" sz="2000" dirty="0"/>
              <a:t>Match: destination MAC address</a:t>
            </a:r>
          </a:p>
          <a:p>
            <a:pPr lvl="1"/>
            <a:r>
              <a:rPr lang="en-US" sz="2000" dirty="0"/>
              <a:t>Action: forward or flood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724400" y="2286000"/>
            <a:ext cx="3886200" cy="2971800"/>
          </a:xfrm>
        </p:spPr>
        <p:txBody>
          <a:bodyPr/>
          <a:lstStyle/>
          <a:p>
            <a:r>
              <a:rPr lang="en-US" sz="2400" dirty="0"/>
              <a:t>Firewall</a:t>
            </a:r>
          </a:p>
          <a:p>
            <a:pPr lvl="1"/>
            <a:r>
              <a:rPr lang="en-US" sz="2000" dirty="0"/>
              <a:t>Match: IP addresses and TCP/UDP port numbers</a:t>
            </a:r>
          </a:p>
          <a:p>
            <a:pPr lvl="1"/>
            <a:r>
              <a:rPr lang="en-US" sz="2000" dirty="0"/>
              <a:t>Action: permit or deny </a:t>
            </a:r>
          </a:p>
          <a:p>
            <a:r>
              <a:rPr lang="en-US" sz="2400" dirty="0"/>
              <a:t>NAT</a:t>
            </a:r>
          </a:p>
          <a:p>
            <a:pPr lvl="1"/>
            <a:r>
              <a:rPr lang="en-US" sz="2000" dirty="0"/>
              <a:t>Match: IP address and port</a:t>
            </a:r>
          </a:p>
          <a:p>
            <a:pPr lvl="1"/>
            <a:r>
              <a:rPr lang="en-US" sz="2000" dirty="0"/>
              <a:t>Action: rewrite address and port</a:t>
            </a:r>
          </a:p>
          <a:p>
            <a:endParaRPr lang="en-US" sz="2400" dirty="0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123909" name="TextBox 1"/>
          <p:cNvSpPr txBox="1">
            <a:spLocks noChangeArrowheads="1"/>
          </p:cNvSpPr>
          <p:nvPr/>
        </p:nvSpPr>
        <p:spPr bwMode="auto">
          <a:xfrm>
            <a:off x="660545" y="1458913"/>
            <a:ext cx="782291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marL="457200" indent="-4572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marL="0" indent="0" algn="ctr">
              <a:buClr>
                <a:srgbClr val="000090"/>
              </a:buClr>
              <a:buSzPct val="100000"/>
            </a:pPr>
            <a:r>
              <a:rPr lang="en-US" altLang="x-none" sz="2800" b="0" dirty="0">
                <a:solidFill>
                  <a:srgbClr val="0000FF"/>
                </a:solidFill>
                <a:ea typeface="Arial" charset="0"/>
                <a:cs typeface="Arial" charset="0"/>
              </a:rPr>
              <a:t>Match + Action:</a:t>
            </a:r>
            <a:r>
              <a:rPr lang="en-US" altLang="x-none" sz="2800" b="0" dirty="0">
                <a:solidFill>
                  <a:schemeClr val="accent2"/>
                </a:solidFill>
                <a:ea typeface="Arial" charset="0"/>
                <a:cs typeface="Arial" charset="0"/>
              </a:rPr>
              <a:t> unifies different kinds of devices</a:t>
            </a:r>
          </a:p>
        </p:txBody>
      </p:sp>
    </p:spTree>
    <p:extLst>
      <p:ext uri="{BB962C8B-B14F-4D97-AF65-F5344CB8AC3E}">
        <p14:creationId xmlns:p14="http://schemas.microsoft.com/office/powerpoint/2010/main" val="1719884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OpenFlow protocol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>
          <a:xfrm>
            <a:off x="4724400" y="1447800"/>
            <a:ext cx="3886200" cy="4419600"/>
          </a:xfrm>
        </p:spPr>
        <p:txBody>
          <a:bodyPr/>
          <a:lstStyle/>
          <a:p>
            <a:r>
              <a:rPr lang="en-US" dirty="0"/>
              <a:t>Operates between controller, switch</a:t>
            </a:r>
          </a:p>
          <a:p>
            <a:r>
              <a:rPr lang="en-US" dirty="0"/>
              <a:t>TCP used to exchange messages</a:t>
            </a:r>
          </a:p>
          <a:p>
            <a:pPr lvl="1"/>
            <a:r>
              <a:rPr lang="en-US" dirty="0"/>
              <a:t>Optional encryption</a:t>
            </a:r>
          </a:p>
          <a:p>
            <a:r>
              <a:rPr lang="en-US" dirty="0"/>
              <a:t>Three classes of OpenFlow messages:</a:t>
            </a:r>
          </a:p>
          <a:p>
            <a:pPr lvl="1"/>
            <a:r>
              <a:rPr lang="en-US" dirty="0"/>
              <a:t>Controller-to-switch</a:t>
            </a:r>
          </a:p>
          <a:p>
            <a:pPr lvl="1"/>
            <a:r>
              <a:rPr lang="en-US" dirty="0"/>
              <a:t>Asynchronous (switch to controller)</a:t>
            </a:r>
          </a:p>
          <a:p>
            <a:pPr lvl="1"/>
            <a:r>
              <a:rPr lang="en-US" dirty="0"/>
              <a:t>Symmetric (misc.)</a:t>
            </a:r>
          </a:p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27</a:t>
            </a:fld>
            <a:endParaRPr lang="en-US"/>
          </a:p>
        </p:txBody>
      </p:sp>
      <p:grpSp>
        <p:nvGrpSpPr>
          <p:cNvPr id="104" name="Group 103"/>
          <p:cNvGrpSpPr/>
          <p:nvPr/>
        </p:nvGrpSpPr>
        <p:grpSpPr>
          <a:xfrm>
            <a:off x="460628" y="1609563"/>
            <a:ext cx="3899341" cy="4096074"/>
            <a:chOff x="460628" y="2266890"/>
            <a:chExt cx="3899341" cy="4096074"/>
          </a:xfrm>
        </p:grpSpPr>
        <p:sp>
          <p:nvSpPr>
            <p:cNvPr id="105" name="Cloud 104"/>
            <p:cNvSpPr/>
            <p:nvPr/>
          </p:nvSpPr>
          <p:spPr>
            <a:xfrm>
              <a:off x="460628" y="4246149"/>
              <a:ext cx="3899341" cy="2116815"/>
            </a:xfrm>
            <a:prstGeom prst="cloud">
              <a:avLst/>
            </a:prstGeom>
            <a:noFill/>
            <a:ln>
              <a:solidFill>
                <a:srgbClr val="000090"/>
              </a:solidFill>
            </a:ln>
            <a:effectLst>
              <a:outerShdw blurRad="40000" dist="23000" dir="5400000" rotWithShape="0">
                <a:schemeClr val="accent6">
                  <a:lumMod val="40000"/>
                  <a:lumOff val="60000"/>
                  <a:alpha val="35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>
                <a:defRPr/>
              </a:pPr>
              <a:endParaRPr lang="en-US"/>
            </a:p>
          </p:txBody>
        </p:sp>
        <p:cxnSp>
          <p:nvCxnSpPr>
            <p:cNvPr id="106" name="Straight Connector 105"/>
            <p:cNvCxnSpPr/>
            <p:nvPr/>
          </p:nvCxnSpPr>
          <p:spPr>
            <a:xfrm flipV="1">
              <a:off x="1124345" y="4538650"/>
              <a:ext cx="1203228" cy="819025"/>
            </a:xfrm>
            <a:prstGeom prst="line">
              <a:avLst/>
            </a:prstGeom>
            <a:ln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>
            <a:xfrm>
              <a:off x="1124345" y="5357675"/>
              <a:ext cx="1203228" cy="642373"/>
            </a:xfrm>
            <a:prstGeom prst="line">
              <a:avLst/>
            </a:prstGeom>
            <a:ln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>
            <a:xfrm>
              <a:off x="2133750" y="4795599"/>
              <a:ext cx="319671" cy="1027797"/>
            </a:xfrm>
            <a:prstGeom prst="line">
              <a:avLst/>
            </a:prstGeom>
            <a:ln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>
            <a:xfrm>
              <a:off x="2404480" y="4715303"/>
              <a:ext cx="1307416" cy="337246"/>
            </a:xfrm>
            <a:prstGeom prst="line">
              <a:avLst/>
            </a:prstGeom>
            <a:ln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 flipV="1">
              <a:off x="2596747" y="5245260"/>
              <a:ext cx="1115149" cy="754789"/>
            </a:xfrm>
            <a:prstGeom prst="line">
              <a:avLst/>
            </a:prstGeom>
            <a:ln>
              <a:solidFill>
                <a:schemeClr val="tx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1" name="Group 950"/>
            <p:cNvGrpSpPr>
              <a:grpSpLocks/>
            </p:cNvGrpSpPr>
            <p:nvPr/>
          </p:nvGrpSpPr>
          <p:grpSpPr bwMode="auto">
            <a:xfrm>
              <a:off x="1839080" y="2785594"/>
              <a:ext cx="549038" cy="880838"/>
              <a:chOff x="4140" y="429"/>
              <a:chExt cx="1425" cy="2396"/>
            </a:xfrm>
          </p:grpSpPr>
          <p:sp>
            <p:nvSpPr>
              <p:cNvPr id="157" name="Freeform 951"/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6 w 354"/>
                  <a:gd name="T1" fmla="*/ 0 h 2742"/>
                  <a:gd name="T2" fmla="*/ 30 w 354"/>
                  <a:gd name="T3" fmla="*/ 46 h 2742"/>
                  <a:gd name="T4" fmla="*/ 30 w 354"/>
                  <a:gd name="T5" fmla="*/ 354 h 2742"/>
                  <a:gd name="T6" fmla="*/ 0 w 354"/>
                  <a:gd name="T7" fmla="*/ 371 h 2742"/>
                  <a:gd name="T8" fmla="*/ 6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54"/>
                  <a:gd name="T16" fmla="*/ 0 h 2742"/>
                  <a:gd name="T17" fmla="*/ 354 w 354"/>
                  <a:gd name="T18" fmla="*/ 2742 h 274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Rectangle 952"/>
              <p:cNvSpPr>
                <a:spLocks noChangeArrowheads="1"/>
              </p:cNvSpPr>
              <p:nvPr/>
            </p:nvSpPr>
            <p:spPr bwMode="auto">
              <a:xfrm>
                <a:off x="4210" y="429"/>
                <a:ext cx="1046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9" name="Freeform 953"/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18 w 211"/>
                  <a:gd name="T3" fmla="*/ 30 h 2537"/>
                  <a:gd name="T4" fmla="*/ 2 w 211"/>
                  <a:gd name="T5" fmla="*/ 338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211"/>
                  <a:gd name="T13" fmla="*/ 0 h 2537"/>
                  <a:gd name="T14" fmla="*/ 211 w 211"/>
                  <a:gd name="T15" fmla="*/ 2537 h 2537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" name="Freeform 954"/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8 h 226"/>
                  <a:gd name="T4" fmla="*/ 29 w 328"/>
                  <a:gd name="T5" fmla="*/ 32 h 226"/>
                  <a:gd name="T6" fmla="*/ 0 w 328"/>
                  <a:gd name="T7" fmla="*/ 13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1" name="Rectangle 955"/>
              <p:cNvSpPr>
                <a:spLocks noChangeArrowheads="1"/>
              </p:cNvSpPr>
              <p:nvPr/>
            </p:nvSpPr>
            <p:spPr bwMode="auto">
              <a:xfrm>
                <a:off x="4210" y="690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162" name="Group 956"/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187" name="AutoShape 957"/>
                <p:cNvSpPr>
                  <a:spLocks noChangeArrowheads="1"/>
                </p:cNvSpPr>
                <p:nvPr/>
              </p:nvSpPr>
              <p:spPr bwMode="auto">
                <a:xfrm>
                  <a:off x="613" y="2566"/>
                  <a:ext cx="721" cy="14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8" name="AutoShape 958"/>
                <p:cNvSpPr>
                  <a:spLocks noChangeArrowheads="1"/>
                </p:cNvSpPr>
                <p:nvPr/>
              </p:nvSpPr>
              <p:spPr bwMode="auto">
                <a:xfrm>
                  <a:off x="625" y="2581"/>
                  <a:ext cx="696" cy="114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163" name="Rectangle 959"/>
              <p:cNvSpPr>
                <a:spLocks noChangeArrowheads="1"/>
              </p:cNvSpPr>
              <p:nvPr/>
            </p:nvSpPr>
            <p:spPr bwMode="auto">
              <a:xfrm>
                <a:off x="4220" y="1022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164" name="Group 960"/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185" name="AutoShape 961"/>
                <p:cNvSpPr>
                  <a:spLocks noChangeArrowheads="1"/>
                </p:cNvSpPr>
                <p:nvPr/>
              </p:nvSpPr>
              <p:spPr bwMode="auto">
                <a:xfrm>
                  <a:off x="615" y="2564"/>
                  <a:ext cx="721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6" name="AutoShape 962"/>
                <p:cNvSpPr>
                  <a:spLocks noChangeArrowheads="1"/>
                </p:cNvSpPr>
                <p:nvPr/>
              </p:nvSpPr>
              <p:spPr bwMode="auto">
                <a:xfrm>
                  <a:off x="628" y="2581"/>
                  <a:ext cx="696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165" name="Rectangle 963"/>
              <p:cNvSpPr>
                <a:spLocks noChangeArrowheads="1"/>
              </p:cNvSpPr>
              <p:nvPr/>
            </p:nvSpPr>
            <p:spPr bwMode="auto">
              <a:xfrm>
                <a:off x="4220" y="1354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66" name="Rectangle 964"/>
              <p:cNvSpPr>
                <a:spLocks noChangeArrowheads="1"/>
              </p:cNvSpPr>
              <p:nvPr/>
            </p:nvSpPr>
            <p:spPr bwMode="auto">
              <a:xfrm>
                <a:off x="4230" y="1655"/>
                <a:ext cx="598" cy="47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grpSp>
            <p:nvGrpSpPr>
              <p:cNvPr id="167" name="Group 965"/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183" name="AutoShape 966"/>
                <p:cNvSpPr>
                  <a:spLocks noChangeArrowheads="1"/>
                </p:cNvSpPr>
                <p:nvPr/>
              </p:nvSpPr>
              <p:spPr bwMode="auto">
                <a:xfrm>
                  <a:off x="618" y="2586"/>
                  <a:ext cx="720" cy="12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4" name="AutoShape 967"/>
                <p:cNvSpPr>
                  <a:spLocks noChangeArrowheads="1"/>
                </p:cNvSpPr>
                <p:nvPr/>
              </p:nvSpPr>
              <p:spPr bwMode="auto">
                <a:xfrm>
                  <a:off x="630" y="2586"/>
                  <a:ext cx="695" cy="109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168" name="Freeform 968"/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29 w 328"/>
                  <a:gd name="T3" fmla="*/ 17 h 226"/>
                  <a:gd name="T4" fmla="*/ 29 w 328"/>
                  <a:gd name="T5" fmla="*/ 30 h 226"/>
                  <a:gd name="T6" fmla="*/ 0 w 328"/>
                  <a:gd name="T7" fmla="*/ 1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28"/>
                  <a:gd name="T16" fmla="*/ 0 h 226"/>
                  <a:gd name="T17" fmla="*/ 328 w 328"/>
                  <a:gd name="T18" fmla="*/ 226 h 2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69" name="Group 969"/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181" name="AutoShape 970"/>
                <p:cNvSpPr>
                  <a:spLocks noChangeArrowheads="1"/>
                </p:cNvSpPr>
                <p:nvPr/>
              </p:nvSpPr>
              <p:spPr bwMode="auto">
                <a:xfrm>
                  <a:off x="613" y="2571"/>
                  <a:ext cx="732" cy="134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  <p:sp>
              <p:nvSpPr>
                <p:cNvPr id="182" name="AutoShape 971"/>
                <p:cNvSpPr>
                  <a:spLocks noChangeArrowheads="1"/>
                </p:cNvSpPr>
                <p:nvPr/>
              </p:nvSpPr>
              <p:spPr bwMode="auto">
                <a:xfrm>
                  <a:off x="625" y="2587"/>
                  <a:ext cx="720" cy="103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/>
                <a:p>
                  <a:endParaRPr lang="en-US"/>
                </a:p>
              </p:txBody>
            </p:sp>
          </p:grpSp>
          <p:sp>
            <p:nvSpPr>
              <p:cNvPr id="170" name="Rectangle 972"/>
              <p:cNvSpPr>
                <a:spLocks noChangeArrowheads="1"/>
              </p:cNvSpPr>
              <p:nvPr/>
            </p:nvSpPr>
            <p:spPr bwMode="auto">
              <a:xfrm>
                <a:off x="5246" y="429"/>
                <a:ext cx="70" cy="2285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1" name="Freeform 973"/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26 w 296"/>
                  <a:gd name="T3" fmla="*/ 18 h 256"/>
                  <a:gd name="T4" fmla="*/ 26 w 296"/>
                  <a:gd name="T5" fmla="*/ 34 h 256"/>
                  <a:gd name="T6" fmla="*/ 0 w 296"/>
                  <a:gd name="T7" fmla="*/ 1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96"/>
                  <a:gd name="T16" fmla="*/ 0 h 256"/>
                  <a:gd name="T17" fmla="*/ 296 w 296"/>
                  <a:gd name="T18" fmla="*/ 256 h 25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" name="Freeform 974"/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27 w 304"/>
                  <a:gd name="T3" fmla="*/ 23 h 288"/>
                  <a:gd name="T4" fmla="*/ 25 w 304"/>
                  <a:gd name="T5" fmla="*/ 39 h 288"/>
                  <a:gd name="T6" fmla="*/ 2 w 304"/>
                  <a:gd name="T7" fmla="*/ 17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4"/>
                  <a:gd name="T16" fmla="*/ 0 h 288"/>
                  <a:gd name="T17" fmla="*/ 304 w 304"/>
                  <a:gd name="T18" fmla="*/ 288 h 28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3" name="Oval 975"/>
              <p:cNvSpPr>
                <a:spLocks noChangeArrowheads="1"/>
              </p:cNvSpPr>
              <p:nvPr/>
            </p:nvSpPr>
            <p:spPr bwMode="auto">
              <a:xfrm>
                <a:off x="5515" y="2611"/>
                <a:ext cx="50" cy="95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4" name="Freeform 976"/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15 h 240"/>
                  <a:gd name="T2" fmla="*/ 2 w 306"/>
                  <a:gd name="T3" fmla="*/ 33 h 240"/>
                  <a:gd name="T4" fmla="*/ 27 w 306"/>
                  <a:gd name="T5" fmla="*/ 15 h 240"/>
                  <a:gd name="T6" fmla="*/ 26 w 306"/>
                  <a:gd name="T7" fmla="*/ 0 h 240"/>
                  <a:gd name="T8" fmla="*/ 0 w 306"/>
                  <a:gd name="T9" fmla="*/ 15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06"/>
                  <a:gd name="T16" fmla="*/ 0 h 240"/>
                  <a:gd name="T17" fmla="*/ 306 w 306"/>
                  <a:gd name="T18" fmla="*/ 240 h 240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5" name="AutoShape 977"/>
              <p:cNvSpPr>
                <a:spLocks noChangeArrowheads="1"/>
              </p:cNvSpPr>
              <p:nvPr/>
            </p:nvSpPr>
            <p:spPr bwMode="auto">
              <a:xfrm>
                <a:off x="4140" y="2675"/>
                <a:ext cx="1196" cy="150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6" name="AutoShape 978"/>
              <p:cNvSpPr>
                <a:spLocks noChangeArrowheads="1"/>
              </p:cNvSpPr>
              <p:nvPr/>
            </p:nvSpPr>
            <p:spPr bwMode="auto">
              <a:xfrm>
                <a:off x="4210" y="2714"/>
                <a:ext cx="1066" cy="79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7" name="Oval 979"/>
              <p:cNvSpPr>
                <a:spLocks noChangeArrowheads="1"/>
              </p:cNvSpPr>
              <p:nvPr/>
            </p:nvSpPr>
            <p:spPr bwMode="auto">
              <a:xfrm>
                <a:off x="4309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78" name="Oval 980"/>
              <p:cNvSpPr>
                <a:spLocks noChangeArrowheads="1"/>
              </p:cNvSpPr>
              <p:nvPr/>
            </p:nvSpPr>
            <p:spPr bwMode="auto">
              <a:xfrm>
                <a:off x="4489" y="2382"/>
                <a:ext cx="159" cy="142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pPr algn="ctr" eaLnBrk="1" hangingPunct="1"/>
                <a:endParaRPr lang="en-US" sz="1800">
                  <a:solidFill>
                    <a:srgbClr val="FF0000"/>
                  </a:solidFill>
                </a:endParaRPr>
              </a:p>
            </p:txBody>
          </p:sp>
          <p:sp>
            <p:nvSpPr>
              <p:cNvPr id="179" name="Oval 981"/>
              <p:cNvSpPr>
                <a:spLocks noChangeArrowheads="1"/>
              </p:cNvSpPr>
              <p:nvPr/>
            </p:nvSpPr>
            <p:spPr bwMode="auto">
              <a:xfrm>
                <a:off x="4658" y="2382"/>
                <a:ext cx="159" cy="142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80" name="Rectangle 982"/>
              <p:cNvSpPr>
                <a:spLocks noChangeArrowheads="1"/>
              </p:cNvSpPr>
              <p:nvPr/>
            </p:nvSpPr>
            <p:spPr bwMode="auto">
              <a:xfrm>
                <a:off x="5067" y="1837"/>
                <a:ext cx="80" cy="759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12" name="TextBox 111"/>
            <p:cNvSpPr txBox="1"/>
            <p:nvPr/>
          </p:nvSpPr>
          <p:spPr>
            <a:xfrm>
              <a:off x="994856" y="2266890"/>
              <a:ext cx="27190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00FF"/>
                  </a:solidFill>
                </a:rPr>
                <a:t>OpenFlow Controller</a:t>
              </a:r>
            </a:p>
          </p:txBody>
        </p:sp>
        <p:grpSp>
          <p:nvGrpSpPr>
            <p:cNvPr id="113" name="Group 327"/>
            <p:cNvGrpSpPr>
              <a:grpSpLocks/>
            </p:cNvGrpSpPr>
            <p:nvPr/>
          </p:nvGrpSpPr>
          <p:grpSpPr bwMode="auto">
            <a:xfrm>
              <a:off x="2112211" y="5801894"/>
              <a:ext cx="736172" cy="452961"/>
              <a:chOff x="1871277" y="1576300"/>
              <a:chExt cx="1128371" cy="437861"/>
            </a:xfrm>
          </p:grpSpPr>
          <p:sp>
            <p:nvSpPr>
              <p:cNvPr id="148" name="Oval 147"/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49" name="Rectangle 148"/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50" name="Oval 149"/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51" name="Freeform 150"/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52" name="Freeform 151"/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53" name="Freeform 152"/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54" name="Freeform 153"/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155" name="Straight Connector 154"/>
              <p:cNvCxnSpPr>
                <a:endCxn id="166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Straight Connector 155"/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" name="Group 327"/>
            <p:cNvGrpSpPr>
              <a:grpSpLocks/>
            </p:cNvGrpSpPr>
            <p:nvPr/>
          </p:nvGrpSpPr>
          <p:grpSpPr bwMode="auto">
            <a:xfrm>
              <a:off x="3547978" y="4938294"/>
              <a:ext cx="736172" cy="452961"/>
              <a:chOff x="1871277" y="1576300"/>
              <a:chExt cx="1128371" cy="437861"/>
            </a:xfrm>
          </p:grpSpPr>
          <p:sp>
            <p:nvSpPr>
              <p:cNvPr id="139" name="Oval 138"/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40" name="Rectangle 139"/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41" name="Oval 140"/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42" name="Freeform 141"/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43" name="Freeform 142"/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44" name="Freeform 143"/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45" name="Freeform 144"/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146" name="Straight Connector 145"/>
              <p:cNvCxnSpPr>
                <a:endCxn id="176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/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5" name="Group 327"/>
            <p:cNvGrpSpPr>
              <a:grpSpLocks/>
            </p:cNvGrpSpPr>
            <p:nvPr/>
          </p:nvGrpSpPr>
          <p:grpSpPr bwMode="auto">
            <a:xfrm>
              <a:off x="665747" y="5144167"/>
              <a:ext cx="736172" cy="452961"/>
              <a:chOff x="1871277" y="1576300"/>
              <a:chExt cx="1128371" cy="437861"/>
            </a:xfrm>
          </p:grpSpPr>
          <p:sp>
            <p:nvSpPr>
              <p:cNvPr id="130" name="Oval 129"/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31" name="Rectangle 130"/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32" name="Oval 131"/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33" name="Freeform 132"/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34" name="Freeform 133"/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35" name="Freeform 134"/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36" name="Freeform 135"/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137" name="Straight Connector 136"/>
              <p:cNvCxnSpPr>
                <a:endCxn id="186" idx="2"/>
              </p:cNvCxnSpPr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/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6" name="Group 327"/>
            <p:cNvGrpSpPr>
              <a:grpSpLocks/>
            </p:cNvGrpSpPr>
            <p:nvPr/>
          </p:nvGrpSpPr>
          <p:grpSpPr bwMode="auto">
            <a:xfrm>
              <a:off x="1753937" y="4440989"/>
              <a:ext cx="736172" cy="452961"/>
              <a:chOff x="1871277" y="1576300"/>
              <a:chExt cx="1128371" cy="437861"/>
            </a:xfrm>
          </p:grpSpPr>
          <p:sp>
            <p:nvSpPr>
              <p:cNvPr id="121" name="Oval 120"/>
              <p:cNvSpPr/>
              <p:nvPr/>
            </p:nvSpPr>
            <p:spPr bwMode="auto">
              <a:xfrm flipV="1">
                <a:off x="1874446" y="1692905"/>
                <a:ext cx="1125202" cy="321256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0" scaled="1"/>
                <a:tileRect/>
              </a:gra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22" name="Rectangle 121"/>
              <p:cNvSpPr/>
              <p:nvPr/>
            </p:nvSpPr>
            <p:spPr bwMode="auto">
              <a:xfrm>
                <a:off x="1871277" y="1740499"/>
                <a:ext cx="1128371" cy="114225"/>
              </a:xfrm>
              <a:prstGeom prst="rect">
                <a:avLst/>
              </a:prstGeom>
              <a:gradFill>
                <a:gsLst>
                  <a:gs pos="0">
                    <a:schemeClr val="accent2">
                      <a:lumMod val="75000"/>
                    </a:schemeClr>
                  </a:gs>
                  <a:gs pos="53000">
                    <a:schemeClr val="accent2">
                      <a:lumMod val="60000"/>
                      <a:lumOff val="40000"/>
                    </a:schemeClr>
                  </a:gs>
                  <a:gs pos="100000">
                    <a:schemeClr val="accent2">
                      <a:lumMod val="75000"/>
                    </a:schemeClr>
                  </a:gs>
                </a:gsLst>
                <a:lin ang="10800000" scaled="0"/>
              </a:gradFill>
              <a:ln w="25400"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23" name="Oval 122"/>
              <p:cNvSpPr/>
              <p:nvPr/>
            </p:nvSpPr>
            <p:spPr bwMode="auto">
              <a:xfrm flipV="1">
                <a:off x="1871277" y="1576300"/>
                <a:ext cx="1125200" cy="321257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 w="6350" cmpd="sng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 dirty="0">
                  <a:ln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124" name="Freeform 123"/>
              <p:cNvSpPr/>
              <p:nvPr/>
            </p:nvSpPr>
            <p:spPr bwMode="auto">
              <a:xfrm>
                <a:off x="2159708" y="1673868"/>
                <a:ext cx="548339" cy="159438"/>
              </a:xfrm>
              <a:custGeom>
                <a:avLst/>
                <a:gdLst>
                  <a:gd name="connsiteX0" fmla="*/ 1486231 w 2944854"/>
                  <a:gd name="connsiteY0" fmla="*/ 727041 h 1302232"/>
                  <a:gd name="connsiteX1" fmla="*/ 257675 w 2944854"/>
                  <a:gd name="connsiteY1" fmla="*/ 1302232 h 1302232"/>
                  <a:gd name="connsiteX2" fmla="*/ 0 w 2944854"/>
                  <a:gd name="connsiteY2" fmla="*/ 1228607 h 1302232"/>
                  <a:gd name="connsiteX3" fmla="*/ 911064 w 2944854"/>
                  <a:gd name="connsiteY3" fmla="*/ 837478 h 1302232"/>
                  <a:gd name="connsiteX4" fmla="*/ 883456 w 2944854"/>
                  <a:gd name="connsiteY4" fmla="*/ 450949 h 1302232"/>
                  <a:gd name="connsiteX5" fmla="*/ 161047 w 2944854"/>
                  <a:gd name="connsiteY5" fmla="*/ 119640 h 1302232"/>
                  <a:gd name="connsiteX6" fmla="*/ 404917 w 2944854"/>
                  <a:gd name="connsiteY6" fmla="*/ 50617 h 1302232"/>
                  <a:gd name="connsiteX7" fmla="*/ 1477028 w 2944854"/>
                  <a:gd name="connsiteY7" fmla="*/ 501566 h 1302232"/>
                  <a:gd name="connsiteX8" fmla="*/ 2572146 w 2944854"/>
                  <a:gd name="connsiteY8" fmla="*/ 0 h 1302232"/>
                  <a:gd name="connsiteX9" fmla="*/ 2875834 w 2944854"/>
                  <a:gd name="connsiteY9" fmla="*/ 96632 h 1302232"/>
                  <a:gd name="connsiteX10" fmla="*/ 2079803 w 2944854"/>
                  <a:gd name="connsiteY10" fmla="*/ 432543 h 1302232"/>
                  <a:gd name="connsiteX11" fmla="*/ 2240850 w 2944854"/>
                  <a:gd name="connsiteY11" fmla="*/ 920305 h 1302232"/>
                  <a:gd name="connsiteX12" fmla="*/ 2944854 w 2944854"/>
                  <a:gd name="connsiteY12" fmla="*/ 1228607 h 1302232"/>
                  <a:gd name="connsiteX13" fmla="*/ 2733192 w 2944854"/>
                  <a:gd name="connsiteY13" fmla="*/ 1297630 h 1302232"/>
                  <a:gd name="connsiteX14" fmla="*/ 1486231 w 2944854"/>
                  <a:gd name="connsiteY14" fmla="*/ 727041 h 1302232"/>
                  <a:gd name="connsiteX0" fmla="*/ 1486231 w 2944854"/>
                  <a:gd name="connsiteY0" fmla="*/ 727041 h 1316375"/>
                  <a:gd name="connsiteX1" fmla="*/ 257675 w 2944854"/>
                  <a:gd name="connsiteY1" fmla="*/ 1302232 h 1316375"/>
                  <a:gd name="connsiteX2" fmla="*/ 0 w 2944854"/>
                  <a:gd name="connsiteY2" fmla="*/ 1228607 h 1316375"/>
                  <a:gd name="connsiteX3" fmla="*/ 911064 w 2944854"/>
                  <a:gd name="connsiteY3" fmla="*/ 837478 h 1316375"/>
                  <a:gd name="connsiteX4" fmla="*/ 883456 w 2944854"/>
                  <a:gd name="connsiteY4" fmla="*/ 450949 h 1316375"/>
                  <a:gd name="connsiteX5" fmla="*/ 161047 w 2944854"/>
                  <a:gd name="connsiteY5" fmla="*/ 119640 h 1316375"/>
                  <a:gd name="connsiteX6" fmla="*/ 404917 w 2944854"/>
                  <a:gd name="connsiteY6" fmla="*/ 50617 h 1316375"/>
                  <a:gd name="connsiteX7" fmla="*/ 1477028 w 2944854"/>
                  <a:gd name="connsiteY7" fmla="*/ 501566 h 1316375"/>
                  <a:gd name="connsiteX8" fmla="*/ 2572146 w 2944854"/>
                  <a:gd name="connsiteY8" fmla="*/ 0 h 1316375"/>
                  <a:gd name="connsiteX9" fmla="*/ 2875834 w 2944854"/>
                  <a:gd name="connsiteY9" fmla="*/ 96632 h 1316375"/>
                  <a:gd name="connsiteX10" fmla="*/ 2079803 w 2944854"/>
                  <a:gd name="connsiteY10" fmla="*/ 432543 h 1316375"/>
                  <a:gd name="connsiteX11" fmla="*/ 2240850 w 2944854"/>
                  <a:gd name="connsiteY11" fmla="*/ 920305 h 1316375"/>
                  <a:gd name="connsiteX12" fmla="*/ 2944854 w 2944854"/>
                  <a:gd name="connsiteY12" fmla="*/ 1228607 h 1316375"/>
                  <a:gd name="connsiteX13" fmla="*/ 2756623 w 2944854"/>
                  <a:gd name="connsiteY13" fmla="*/ 1316375 h 1316375"/>
                  <a:gd name="connsiteX14" fmla="*/ 1486231 w 2944854"/>
                  <a:gd name="connsiteY14" fmla="*/ 727041 h 1316375"/>
                  <a:gd name="connsiteX0" fmla="*/ 1486231 w 3024520"/>
                  <a:gd name="connsiteY0" fmla="*/ 727041 h 1316375"/>
                  <a:gd name="connsiteX1" fmla="*/ 257675 w 3024520"/>
                  <a:gd name="connsiteY1" fmla="*/ 1302232 h 1316375"/>
                  <a:gd name="connsiteX2" fmla="*/ 0 w 3024520"/>
                  <a:gd name="connsiteY2" fmla="*/ 1228607 h 1316375"/>
                  <a:gd name="connsiteX3" fmla="*/ 911064 w 3024520"/>
                  <a:gd name="connsiteY3" fmla="*/ 837478 h 1316375"/>
                  <a:gd name="connsiteX4" fmla="*/ 883456 w 3024520"/>
                  <a:gd name="connsiteY4" fmla="*/ 450949 h 1316375"/>
                  <a:gd name="connsiteX5" fmla="*/ 161047 w 3024520"/>
                  <a:gd name="connsiteY5" fmla="*/ 119640 h 1316375"/>
                  <a:gd name="connsiteX6" fmla="*/ 404917 w 3024520"/>
                  <a:gd name="connsiteY6" fmla="*/ 50617 h 1316375"/>
                  <a:gd name="connsiteX7" fmla="*/ 1477028 w 3024520"/>
                  <a:gd name="connsiteY7" fmla="*/ 501566 h 1316375"/>
                  <a:gd name="connsiteX8" fmla="*/ 2572146 w 3024520"/>
                  <a:gd name="connsiteY8" fmla="*/ 0 h 1316375"/>
                  <a:gd name="connsiteX9" fmla="*/ 2875834 w 3024520"/>
                  <a:gd name="connsiteY9" fmla="*/ 96632 h 1316375"/>
                  <a:gd name="connsiteX10" fmla="*/ 2079803 w 3024520"/>
                  <a:gd name="connsiteY10" fmla="*/ 432543 h 1316375"/>
                  <a:gd name="connsiteX11" fmla="*/ 2240850 w 3024520"/>
                  <a:gd name="connsiteY11" fmla="*/ 920305 h 1316375"/>
                  <a:gd name="connsiteX12" fmla="*/ 3024520 w 3024520"/>
                  <a:gd name="connsiteY12" fmla="*/ 1228607 h 1316375"/>
                  <a:gd name="connsiteX13" fmla="*/ 2756623 w 3024520"/>
                  <a:gd name="connsiteY13" fmla="*/ 1316375 h 1316375"/>
                  <a:gd name="connsiteX14" fmla="*/ 1486231 w 3024520"/>
                  <a:gd name="connsiteY14" fmla="*/ 727041 h 1316375"/>
                  <a:gd name="connsiteX0" fmla="*/ 1537780 w 3076069"/>
                  <a:gd name="connsiteY0" fmla="*/ 727041 h 1316375"/>
                  <a:gd name="connsiteX1" fmla="*/ 309224 w 3076069"/>
                  <a:gd name="connsiteY1" fmla="*/ 1302232 h 1316375"/>
                  <a:gd name="connsiteX2" fmla="*/ 0 w 3076069"/>
                  <a:gd name="connsiteY2" fmla="*/ 1228607 h 1316375"/>
                  <a:gd name="connsiteX3" fmla="*/ 962613 w 3076069"/>
                  <a:gd name="connsiteY3" fmla="*/ 837478 h 1316375"/>
                  <a:gd name="connsiteX4" fmla="*/ 935005 w 3076069"/>
                  <a:gd name="connsiteY4" fmla="*/ 450949 h 1316375"/>
                  <a:gd name="connsiteX5" fmla="*/ 212596 w 3076069"/>
                  <a:gd name="connsiteY5" fmla="*/ 119640 h 1316375"/>
                  <a:gd name="connsiteX6" fmla="*/ 456466 w 3076069"/>
                  <a:gd name="connsiteY6" fmla="*/ 50617 h 1316375"/>
                  <a:gd name="connsiteX7" fmla="*/ 1528577 w 3076069"/>
                  <a:gd name="connsiteY7" fmla="*/ 501566 h 1316375"/>
                  <a:gd name="connsiteX8" fmla="*/ 2623695 w 3076069"/>
                  <a:gd name="connsiteY8" fmla="*/ 0 h 1316375"/>
                  <a:gd name="connsiteX9" fmla="*/ 2927383 w 3076069"/>
                  <a:gd name="connsiteY9" fmla="*/ 96632 h 1316375"/>
                  <a:gd name="connsiteX10" fmla="*/ 2131352 w 3076069"/>
                  <a:gd name="connsiteY10" fmla="*/ 432543 h 1316375"/>
                  <a:gd name="connsiteX11" fmla="*/ 2292399 w 3076069"/>
                  <a:gd name="connsiteY11" fmla="*/ 920305 h 1316375"/>
                  <a:gd name="connsiteX12" fmla="*/ 3076069 w 3076069"/>
                  <a:gd name="connsiteY12" fmla="*/ 1228607 h 1316375"/>
                  <a:gd name="connsiteX13" fmla="*/ 2808172 w 3076069"/>
                  <a:gd name="connsiteY13" fmla="*/ 1316375 h 1316375"/>
                  <a:gd name="connsiteX14" fmla="*/ 1537780 w 3076069"/>
                  <a:gd name="connsiteY14" fmla="*/ 727041 h 1316375"/>
                  <a:gd name="connsiteX0" fmla="*/ 1537780 w 3076069"/>
                  <a:gd name="connsiteY0" fmla="*/ 727041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27041 h 1321259"/>
                  <a:gd name="connsiteX0" fmla="*/ 1537780 w 3076069"/>
                  <a:gd name="connsiteY0" fmla="*/ 750825 h 1321259"/>
                  <a:gd name="connsiteX1" fmla="*/ 313981 w 3076069"/>
                  <a:gd name="connsiteY1" fmla="*/ 1321259 h 1321259"/>
                  <a:gd name="connsiteX2" fmla="*/ 0 w 3076069"/>
                  <a:gd name="connsiteY2" fmla="*/ 1228607 h 1321259"/>
                  <a:gd name="connsiteX3" fmla="*/ 962613 w 3076069"/>
                  <a:gd name="connsiteY3" fmla="*/ 837478 h 1321259"/>
                  <a:gd name="connsiteX4" fmla="*/ 935005 w 3076069"/>
                  <a:gd name="connsiteY4" fmla="*/ 450949 h 1321259"/>
                  <a:gd name="connsiteX5" fmla="*/ 212596 w 3076069"/>
                  <a:gd name="connsiteY5" fmla="*/ 119640 h 1321259"/>
                  <a:gd name="connsiteX6" fmla="*/ 456466 w 3076069"/>
                  <a:gd name="connsiteY6" fmla="*/ 50617 h 1321259"/>
                  <a:gd name="connsiteX7" fmla="*/ 1528577 w 3076069"/>
                  <a:gd name="connsiteY7" fmla="*/ 501566 h 1321259"/>
                  <a:gd name="connsiteX8" fmla="*/ 2623695 w 3076069"/>
                  <a:gd name="connsiteY8" fmla="*/ 0 h 1321259"/>
                  <a:gd name="connsiteX9" fmla="*/ 2927383 w 3076069"/>
                  <a:gd name="connsiteY9" fmla="*/ 96632 h 1321259"/>
                  <a:gd name="connsiteX10" fmla="*/ 2131352 w 3076069"/>
                  <a:gd name="connsiteY10" fmla="*/ 432543 h 1321259"/>
                  <a:gd name="connsiteX11" fmla="*/ 2292399 w 3076069"/>
                  <a:gd name="connsiteY11" fmla="*/ 920305 h 1321259"/>
                  <a:gd name="connsiteX12" fmla="*/ 3076069 w 3076069"/>
                  <a:gd name="connsiteY12" fmla="*/ 1228607 h 1321259"/>
                  <a:gd name="connsiteX13" fmla="*/ 2808172 w 3076069"/>
                  <a:gd name="connsiteY13" fmla="*/ 1316375 h 1321259"/>
                  <a:gd name="connsiteX14" fmla="*/ 1537780 w 3076069"/>
                  <a:gd name="connsiteY14" fmla="*/ 750825 h 1321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076069" h="1321259">
                    <a:moveTo>
                      <a:pt x="1537780" y="750825"/>
                    </a:moveTo>
                    <a:lnTo>
                      <a:pt x="313981" y="1321259"/>
                    </a:lnTo>
                    <a:lnTo>
                      <a:pt x="0" y="1228607"/>
                    </a:lnTo>
                    <a:lnTo>
                      <a:pt x="962613" y="837478"/>
                    </a:lnTo>
                    <a:lnTo>
                      <a:pt x="935005" y="450949"/>
                    </a:lnTo>
                    <a:lnTo>
                      <a:pt x="212596" y="119640"/>
                    </a:lnTo>
                    <a:lnTo>
                      <a:pt x="456466" y="50617"/>
                    </a:lnTo>
                    <a:lnTo>
                      <a:pt x="1528577" y="501566"/>
                    </a:lnTo>
                    <a:lnTo>
                      <a:pt x="2623695" y="0"/>
                    </a:lnTo>
                    <a:lnTo>
                      <a:pt x="2927383" y="96632"/>
                    </a:lnTo>
                    <a:lnTo>
                      <a:pt x="2131352" y="432543"/>
                    </a:lnTo>
                    <a:lnTo>
                      <a:pt x="2292399" y="920305"/>
                    </a:lnTo>
                    <a:lnTo>
                      <a:pt x="3076069" y="1228607"/>
                    </a:lnTo>
                    <a:lnTo>
                      <a:pt x="2808172" y="1316375"/>
                    </a:lnTo>
                    <a:lnTo>
                      <a:pt x="1537780" y="750825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25" name="Freeform 124"/>
              <p:cNvSpPr/>
              <p:nvPr/>
            </p:nvSpPr>
            <p:spPr bwMode="auto">
              <a:xfrm>
                <a:off x="2102655" y="1633412"/>
                <a:ext cx="662444" cy="111846"/>
              </a:xfrm>
              <a:custGeom>
                <a:avLst/>
                <a:gdLst>
                  <a:gd name="connsiteX0" fmla="*/ 0 w 3645229"/>
                  <a:gd name="connsiteY0" fmla="*/ 214441 h 923747"/>
                  <a:gd name="connsiteX1" fmla="*/ 659770 w 3645229"/>
                  <a:gd name="connsiteY1" fmla="*/ 16495 h 923747"/>
                  <a:gd name="connsiteX2" fmla="*/ 1814367 w 3645229"/>
                  <a:gd name="connsiteY2" fmla="*/ 511360 h 923747"/>
                  <a:gd name="connsiteX3" fmla="*/ 2968965 w 3645229"/>
                  <a:gd name="connsiteY3" fmla="*/ 0 h 923747"/>
                  <a:gd name="connsiteX4" fmla="*/ 3645229 w 3645229"/>
                  <a:gd name="connsiteY4" fmla="*/ 197946 h 923747"/>
                  <a:gd name="connsiteX5" fmla="*/ 3199884 w 3645229"/>
                  <a:gd name="connsiteY5" fmla="*/ 461874 h 923747"/>
                  <a:gd name="connsiteX6" fmla="*/ 2985459 w 3645229"/>
                  <a:gd name="connsiteY6" fmla="*/ 379396 h 923747"/>
                  <a:gd name="connsiteX7" fmla="*/ 1830861 w 3645229"/>
                  <a:gd name="connsiteY7" fmla="*/ 923747 h 923747"/>
                  <a:gd name="connsiteX8" fmla="*/ 676264 w 3645229"/>
                  <a:gd name="connsiteY8" fmla="*/ 412387 h 923747"/>
                  <a:gd name="connsiteX9" fmla="*/ 527816 w 3645229"/>
                  <a:gd name="connsiteY9" fmla="*/ 478369 h 923747"/>
                  <a:gd name="connsiteX10" fmla="*/ 0 w 3645229"/>
                  <a:gd name="connsiteY10" fmla="*/ 21444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78369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71662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23747"/>
                  <a:gd name="connsiteX1" fmla="*/ 655168 w 3640627"/>
                  <a:gd name="connsiteY1" fmla="*/ 16495 h 923747"/>
                  <a:gd name="connsiteX2" fmla="*/ 1809765 w 3640627"/>
                  <a:gd name="connsiteY2" fmla="*/ 511360 h 923747"/>
                  <a:gd name="connsiteX3" fmla="*/ 2964363 w 3640627"/>
                  <a:gd name="connsiteY3" fmla="*/ 0 h 923747"/>
                  <a:gd name="connsiteX4" fmla="*/ 3640627 w 3640627"/>
                  <a:gd name="connsiteY4" fmla="*/ 197946 h 923747"/>
                  <a:gd name="connsiteX5" fmla="*/ 3195282 w 3640627"/>
                  <a:gd name="connsiteY5" fmla="*/ 461874 h 923747"/>
                  <a:gd name="connsiteX6" fmla="*/ 2980857 w 3640627"/>
                  <a:gd name="connsiteY6" fmla="*/ 379396 h 923747"/>
                  <a:gd name="connsiteX7" fmla="*/ 1826259 w 3640627"/>
                  <a:gd name="connsiteY7" fmla="*/ 923747 h 923747"/>
                  <a:gd name="connsiteX8" fmla="*/ 690067 w 3640627"/>
                  <a:gd name="connsiteY8" fmla="*/ 412387 h 923747"/>
                  <a:gd name="connsiteX9" fmla="*/ 523214 w 3640627"/>
                  <a:gd name="connsiteY9" fmla="*/ 482971 h 923747"/>
                  <a:gd name="connsiteX10" fmla="*/ 0 w 3640627"/>
                  <a:gd name="connsiteY10" fmla="*/ 242051 h 923747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09765 w 3640627"/>
                  <a:gd name="connsiteY2" fmla="*/ 511360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2980857 w 3640627"/>
                  <a:gd name="connsiteY6" fmla="*/ 379396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640627"/>
                  <a:gd name="connsiteY0" fmla="*/ 242051 h 946755"/>
                  <a:gd name="connsiteX1" fmla="*/ 655168 w 3640627"/>
                  <a:gd name="connsiteY1" fmla="*/ 16495 h 946755"/>
                  <a:gd name="connsiteX2" fmla="*/ 1855778 w 3640627"/>
                  <a:gd name="connsiteY2" fmla="*/ 534367 h 946755"/>
                  <a:gd name="connsiteX3" fmla="*/ 2964363 w 3640627"/>
                  <a:gd name="connsiteY3" fmla="*/ 0 h 946755"/>
                  <a:gd name="connsiteX4" fmla="*/ 3640627 w 3640627"/>
                  <a:gd name="connsiteY4" fmla="*/ 197946 h 946755"/>
                  <a:gd name="connsiteX5" fmla="*/ 3195282 w 3640627"/>
                  <a:gd name="connsiteY5" fmla="*/ 461874 h 946755"/>
                  <a:gd name="connsiteX6" fmla="*/ 3008465 w 3640627"/>
                  <a:gd name="connsiteY6" fmla="*/ 402404 h 946755"/>
                  <a:gd name="connsiteX7" fmla="*/ 1876873 w 3640627"/>
                  <a:gd name="connsiteY7" fmla="*/ 946755 h 946755"/>
                  <a:gd name="connsiteX8" fmla="*/ 690067 w 3640627"/>
                  <a:gd name="connsiteY8" fmla="*/ 412387 h 946755"/>
                  <a:gd name="connsiteX9" fmla="*/ 523214 w 3640627"/>
                  <a:gd name="connsiteY9" fmla="*/ 482971 h 946755"/>
                  <a:gd name="connsiteX10" fmla="*/ 0 w 3640627"/>
                  <a:gd name="connsiteY10" fmla="*/ 242051 h 946755"/>
                  <a:gd name="connsiteX0" fmla="*/ 0 w 3723451"/>
                  <a:gd name="connsiteY0" fmla="*/ 242051 h 946755"/>
                  <a:gd name="connsiteX1" fmla="*/ 655168 w 3723451"/>
                  <a:gd name="connsiteY1" fmla="*/ 16495 h 946755"/>
                  <a:gd name="connsiteX2" fmla="*/ 1855778 w 3723451"/>
                  <a:gd name="connsiteY2" fmla="*/ 534367 h 946755"/>
                  <a:gd name="connsiteX3" fmla="*/ 2964363 w 3723451"/>
                  <a:gd name="connsiteY3" fmla="*/ 0 h 946755"/>
                  <a:gd name="connsiteX4" fmla="*/ 3723451 w 3723451"/>
                  <a:gd name="connsiteY4" fmla="*/ 220954 h 946755"/>
                  <a:gd name="connsiteX5" fmla="*/ 3195282 w 3723451"/>
                  <a:gd name="connsiteY5" fmla="*/ 461874 h 946755"/>
                  <a:gd name="connsiteX6" fmla="*/ 3008465 w 3723451"/>
                  <a:gd name="connsiteY6" fmla="*/ 402404 h 946755"/>
                  <a:gd name="connsiteX7" fmla="*/ 1876873 w 3723451"/>
                  <a:gd name="connsiteY7" fmla="*/ 946755 h 946755"/>
                  <a:gd name="connsiteX8" fmla="*/ 690067 w 3723451"/>
                  <a:gd name="connsiteY8" fmla="*/ 412387 h 946755"/>
                  <a:gd name="connsiteX9" fmla="*/ 523214 w 3723451"/>
                  <a:gd name="connsiteY9" fmla="*/ 482971 h 946755"/>
                  <a:gd name="connsiteX10" fmla="*/ 0 w 3723451"/>
                  <a:gd name="connsiteY10" fmla="*/ 242051 h 946755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08465 w 3723451"/>
                  <a:gd name="connsiteY6" fmla="*/ 388599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95282 w 3723451"/>
                  <a:gd name="connsiteY5" fmla="*/ 448069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690067 w 3723451"/>
                  <a:gd name="connsiteY8" fmla="*/ 398582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  <a:gd name="connsiteX0" fmla="*/ 0 w 3723451"/>
                  <a:gd name="connsiteY0" fmla="*/ 228246 h 932950"/>
                  <a:gd name="connsiteX1" fmla="*/ 655168 w 3723451"/>
                  <a:gd name="connsiteY1" fmla="*/ 2690 h 932950"/>
                  <a:gd name="connsiteX2" fmla="*/ 1855778 w 3723451"/>
                  <a:gd name="connsiteY2" fmla="*/ 520562 h 932950"/>
                  <a:gd name="connsiteX3" fmla="*/ 3001174 w 3723451"/>
                  <a:gd name="connsiteY3" fmla="*/ 0 h 932950"/>
                  <a:gd name="connsiteX4" fmla="*/ 3723451 w 3723451"/>
                  <a:gd name="connsiteY4" fmla="*/ 207149 h 932950"/>
                  <a:gd name="connsiteX5" fmla="*/ 3186079 w 3723451"/>
                  <a:gd name="connsiteY5" fmla="*/ 461874 h 932950"/>
                  <a:gd name="connsiteX6" fmla="*/ 3013067 w 3723451"/>
                  <a:gd name="connsiteY6" fmla="*/ 393200 h 932950"/>
                  <a:gd name="connsiteX7" fmla="*/ 1876873 w 3723451"/>
                  <a:gd name="connsiteY7" fmla="*/ 932950 h 932950"/>
                  <a:gd name="connsiteX8" fmla="*/ 711613 w 3723451"/>
                  <a:gd name="connsiteY8" fmla="*/ 413055 h 932950"/>
                  <a:gd name="connsiteX9" fmla="*/ 523214 w 3723451"/>
                  <a:gd name="connsiteY9" fmla="*/ 469166 h 932950"/>
                  <a:gd name="connsiteX10" fmla="*/ 0 w 3723451"/>
                  <a:gd name="connsiteY10" fmla="*/ 228246 h 932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723451" h="932950">
                    <a:moveTo>
                      <a:pt x="0" y="228246"/>
                    </a:moveTo>
                    <a:lnTo>
                      <a:pt x="655168" y="2690"/>
                    </a:lnTo>
                    <a:lnTo>
                      <a:pt x="1855778" y="520562"/>
                    </a:lnTo>
                    <a:lnTo>
                      <a:pt x="3001174" y="0"/>
                    </a:lnTo>
                    <a:lnTo>
                      <a:pt x="3723451" y="207149"/>
                    </a:lnTo>
                    <a:lnTo>
                      <a:pt x="3186079" y="461874"/>
                    </a:lnTo>
                    <a:lnTo>
                      <a:pt x="3013067" y="393200"/>
                    </a:lnTo>
                    <a:lnTo>
                      <a:pt x="1876873" y="932950"/>
                    </a:lnTo>
                    <a:lnTo>
                      <a:pt x="711613" y="413055"/>
                    </a:lnTo>
                    <a:lnTo>
                      <a:pt x="523214" y="469166"/>
                    </a:lnTo>
                    <a:lnTo>
                      <a:pt x="0" y="228246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26" name="Freeform 125"/>
              <p:cNvSpPr/>
              <p:nvPr/>
            </p:nvSpPr>
            <p:spPr bwMode="auto">
              <a:xfrm>
                <a:off x="2536889" y="1728599"/>
                <a:ext cx="244057" cy="97568"/>
              </a:xfrm>
              <a:custGeom>
                <a:avLst/>
                <a:gdLst>
                  <a:gd name="connsiteX0" fmla="*/ 55216 w 1421812"/>
                  <a:gd name="connsiteY0" fmla="*/ 0 h 800665"/>
                  <a:gd name="connsiteX1" fmla="*/ 1421812 w 1421812"/>
                  <a:gd name="connsiteY1" fmla="*/ 625807 h 800665"/>
                  <a:gd name="connsiteX2" fmla="*/ 947874 w 1421812"/>
                  <a:gd name="connsiteY2" fmla="*/ 800665 h 800665"/>
                  <a:gd name="connsiteX3" fmla="*/ 50614 w 1421812"/>
                  <a:gd name="connsiteY3" fmla="*/ 404934 h 800665"/>
                  <a:gd name="connsiteX4" fmla="*/ 0 w 1421812"/>
                  <a:gd name="connsiteY4" fmla="*/ 404934 h 800665"/>
                  <a:gd name="connsiteX5" fmla="*/ 55216 w 1421812"/>
                  <a:gd name="connsiteY5" fmla="*/ 0 h 800665"/>
                  <a:gd name="connsiteX0" fmla="*/ 4602 w 1371198"/>
                  <a:gd name="connsiteY0" fmla="*/ 0 h 800665"/>
                  <a:gd name="connsiteX1" fmla="*/ 1371198 w 1371198"/>
                  <a:gd name="connsiteY1" fmla="*/ 625807 h 800665"/>
                  <a:gd name="connsiteX2" fmla="*/ 897260 w 1371198"/>
                  <a:gd name="connsiteY2" fmla="*/ 800665 h 800665"/>
                  <a:gd name="connsiteX3" fmla="*/ 0 w 1371198"/>
                  <a:gd name="connsiteY3" fmla="*/ 404934 h 800665"/>
                  <a:gd name="connsiteX4" fmla="*/ 4602 w 1371198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0665"/>
                  <a:gd name="connsiteX1" fmla="*/ 1366596 w 1366596"/>
                  <a:gd name="connsiteY1" fmla="*/ 625807 h 800665"/>
                  <a:gd name="connsiteX2" fmla="*/ 892658 w 1366596"/>
                  <a:gd name="connsiteY2" fmla="*/ 800665 h 800665"/>
                  <a:gd name="connsiteX3" fmla="*/ 4601 w 1366596"/>
                  <a:gd name="connsiteY3" fmla="*/ 427942 h 800665"/>
                  <a:gd name="connsiteX4" fmla="*/ 0 w 1366596"/>
                  <a:gd name="connsiteY4" fmla="*/ 0 h 800665"/>
                  <a:gd name="connsiteX0" fmla="*/ 0 w 1366596"/>
                  <a:gd name="connsiteY0" fmla="*/ 0 h 809868"/>
                  <a:gd name="connsiteX1" fmla="*/ 1366596 w 1366596"/>
                  <a:gd name="connsiteY1" fmla="*/ 625807 h 809868"/>
                  <a:gd name="connsiteX2" fmla="*/ 865050 w 1366596"/>
                  <a:gd name="connsiteY2" fmla="*/ 809868 h 809868"/>
                  <a:gd name="connsiteX3" fmla="*/ 4601 w 1366596"/>
                  <a:gd name="connsiteY3" fmla="*/ 427942 h 809868"/>
                  <a:gd name="connsiteX4" fmla="*/ 0 w 1366596"/>
                  <a:gd name="connsiteY4" fmla="*/ 0 h 8098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6596" h="809868">
                    <a:moveTo>
                      <a:pt x="0" y="0"/>
                    </a:moveTo>
                    <a:lnTo>
                      <a:pt x="1366596" y="625807"/>
                    </a:lnTo>
                    <a:lnTo>
                      <a:pt x="865050" y="809868"/>
                    </a:lnTo>
                    <a:lnTo>
                      <a:pt x="4601" y="427942"/>
                    </a:lnTo>
                    <a:cubicBezTo>
                      <a:pt x="-1535" y="105836"/>
                      <a:pt x="1534" y="142647"/>
                      <a:pt x="0" y="0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sp>
            <p:nvSpPr>
              <p:cNvPr id="127" name="Freeform 126"/>
              <p:cNvSpPr/>
              <p:nvPr/>
            </p:nvSpPr>
            <p:spPr bwMode="auto">
              <a:xfrm>
                <a:off x="2089977" y="1730980"/>
                <a:ext cx="240888" cy="95187"/>
              </a:xfrm>
              <a:custGeom>
                <a:avLst/>
                <a:gdLst>
                  <a:gd name="connsiteX0" fmla="*/ 1329786 w 1348191"/>
                  <a:gd name="connsiteY0" fmla="*/ 0 h 809869"/>
                  <a:gd name="connsiteX1" fmla="*/ 1348191 w 1348191"/>
                  <a:gd name="connsiteY1" fmla="*/ 400333 h 809869"/>
                  <a:gd name="connsiteX2" fmla="*/ 487742 w 1348191"/>
                  <a:gd name="connsiteY2" fmla="*/ 809869 h 809869"/>
                  <a:gd name="connsiteX3" fmla="*/ 0 w 1348191"/>
                  <a:gd name="connsiteY3" fmla="*/ 630409 h 809869"/>
                  <a:gd name="connsiteX4" fmla="*/ 1329786 w 1348191"/>
                  <a:gd name="connsiteY4" fmla="*/ 0 h 809869"/>
                  <a:gd name="connsiteX0" fmla="*/ 1329786 w 1348191"/>
                  <a:gd name="connsiteY0" fmla="*/ 0 h 791462"/>
                  <a:gd name="connsiteX1" fmla="*/ 1348191 w 1348191"/>
                  <a:gd name="connsiteY1" fmla="*/ 381926 h 791462"/>
                  <a:gd name="connsiteX2" fmla="*/ 487742 w 1348191"/>
                  <a:gd name="connsiteY2" fmla="*/ 791462 h 791462"/>
                  <a:gd name="connsiteX3" fmla="*/ 0 w 1348191"/>
                  <a:gd name="connsiteY3" fmla="*/ 612002 h 791462"/>
                  <a:gd name="connsiteX4" fmla="*/ 1329786 w 1348191"/>
                  <a:gd name="connsiteY4" fmla="*/ 0 h 791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191" h="791462">
                    <a:moveTo>
                      <a:pt x="1329786" y="0"/>
                    </a:moveTo>
                    <a:lnTo>
                      <a:pt x="1348191" y="381926"/>
                    </a:lnTo>
                    <a:lnTo>
                      <a:pt x="487742" y="791462"/>
                    </a:lnTo>
                    <a:lnTo>
                      <a:pt x="0" y="612002"/>
                    </a:lnTo>
                    <a:lnTo>
                      <a:pt x="1329786" y="0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en-US"/>
              </a:p>
            </p:txBody>
          </p:sp>
          <p:cxnSp>
            <p:nvCxnSpPr>
              <p:cNvPr id="128" name="Straight Connector 127"/>
              <p:cNvCxnSpPr/>
              <p:nvPr/>
            </p:nvCxnSpPr>
            <p:spPr bwMode="auto">
              <a:xfrm flipH="1" flipV="1">
                <a:off x="1871277" y="1735739"/>
                <a:ext cx="3169" cy="123743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/>
              <p:cNvCxnSpPr/>
              <p:nvPr/>
            </p:nvCxnSpPr>
            <p:spPr bwMode="auto">
              <a:xfrm flipH="1" flipV="1">
                <a:off x="2996477" y="1733359"/>
                <a:ext cx="3171" cy="123743"/>
              </a:xfrm>
              <a:prstGeom prst="line">
                <a:avLst/>
              </a:prstGeom>
              <a:ln w="6350" cmpd="sng">
                <a:solidFill>
                  <a:schemeClr val="tx1"/>
                </a:solidFill>
              </a:ln>
              <a:effectLst>
                <a:outerShdw blurRad="40005" dist="19939" dir="5400000" algn="tl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7" name="Up-Down Arrow 116"/>
            <p:cNvSpPr/>
            <p:nvPr/>
          </p:nvSpPr>
          <p:spPr>
            <a:xfrm rot="21141209">
              <a:off x="2269785" y="3718179"/>
              <a:ext cx="191874" cy="2107535"/>
            </a:xfrm>
            <a:prstGeom prst="upDownArrow">
              <a:avLst/>
            </a:prstGeom>
            <a:solidFill>
              <a:srgbClr val="D3A6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00FF"/>
                </a:solidFill>
              </a:endParaRPr>
            </a:p>
          </p:txBody>
        </p:sp>
        <p:sp>
          <p:nvSpPr>
            <p:cNvPr id="118" name="Up-Down Arrow 117"/>
            <p:cNvSpPr/>
            <p:nvPr/>
          </p:nvSpPr>
          <p:spPr>
            <a:xfrm>
              <a:off x="1974262" y="3714785"/>
              <a:ext cx="191874" cy="823865"/>
            </a:xfrm>
            <a:prstGeom prst="upDownArrow">
              <a:avLst/>
            </a:prstGeom>
            <a:solidFill>
              <a:srgbClr val="D3A6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00FF"/>
                </a:solidFill>
              </a:endParaRPr>
            </a:p>
          </p:txBody>
        </p:sp>
        <p:sp>
          <p:nvSpPr>
            <p:cNvPr id="119" name="Up-Down Arrow 118"/>
            <p:cNvSpPr/>
            <p:nvPr/>
          </p:nvSpPr>
          <p:spPr>
            <a:xfrm rot="19054398">
              <a:off x="2872397" y="3460483"/>
              <a:ext cx="196901" cy="1849334"/>
            </a:xfrm>
            <a:prstGeom prst="upDownArrow">
              <a:avLst/>
            </a:prstGeom>
            <a:solidFill>
              <a:srgbClr val="D3A6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00FF"/>
                </a:solidFill>
              </a:endParaRPr>
            </a:p>
          </p:txBody>
        </p:sp>
        <p:sp>
          <p:nvSpPr>
            <p:cNvPr id="120" name="Up-Down Arrow 119"/>
            <p:cNvSpPr/>
            <p:nvPr/>
          </p:nvSpPr>
          <p:spPr>
            <a:xfrm rot="1537304" flipH="1">
              <a:off x="1441528" y="3583584"/>
              <a:ext cx="196901" cy="1720974"/>
            </a:xfrm>
            <a:prstGeom prst="upDownArrow">
              <a:avLst/>
            </a:prstGeom>
            <a:solidFill>
              <a:srgbClr val="D3A600">
                <a:alpha val="78000"/>
              </a:srgbClr>
            </a:solidFill>
            <a:ln>
              <a:noFill/>
            </a:ln>
          </p:spPr>
          <p:txBody>
            <a:bodyPr rtlCol="0" anchor="ctr"/>
            <a:lstStyle/>
            <a:p>
              <a:pPr algn="ctr"/>
              <a:endParaRPr lang="en-US" dirty="0">
                <a:solidFill>
                  <a:srgbClr val="0000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33268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49756-2E16-534A-97B9-9EFF1EE87C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Fixed-function data plane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11E66-D3BB-B242-A1B5-D84DF239B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Traditional switches are fixed-function</a:t>
            </a:r>
          </a:p>
          <a:p>
            <a:pPr lvl="1"/>
            <a:r>
              <a:rPr lang="en-US" dirty="0"/>
              <a:t>They can do whatever they can do at birth, but they cannot change!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Bottom-up design</a:t>
            </a:r>
          </a:p>
          <a:p>
            <a:endParaRPr lang="en-US" dirty="0"/>
          </a:p>
          <a:p>
            <a:r>
              <a:rPr lang="en-US" dirty="0"/>
              <a:t>Even OpenFlow was designed to be a fixed protocol</a:t>
            </a:r>
          </a:p>
          <a:p>
            <a:pPr lvl="1"/>
            <a:r>
              <a:rPr lang="en-US" dirty="0"/>
              <a:t>With a fixed table format</a:t>
            </a:r>
          </a:p>
          <a:p>
            <a:pPr lvl="1"/>
            <a:r>
              <a:rPr lang="en-US" dirty="0"/>
              <a:t>Capable of doing limited things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0AD87E-2533-7048-ABBB-EEBB384CA83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1997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itle 134">
            <a:extLst>
              <a:ext uri="{FF2B5EF4-FFF2-40B4-BE49-F238E27FC236}">
                <a16:creationId xmlns:a16="http://schemas.microsoft.com/office/drawing/2014/main" id="{D6B7F458-5F94-204A-AE0B-2B95035AF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Takes forever to get a feature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37EB2-71EF-CD41-931E-145B29AC0A0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E31F04D-7FBC-6D4C-856A-826969CC426B}"/>
              </a:ext>
            </a:extLst>
          </p:cNvPr>
          <p:cNvSpPr/>
          <p:nvPr/>
        </p:nvSpPr>
        <p:spPr>
          <a:xfrm>
            <a:off x="4014751" y="3264052"/>
            <a:ext cx="1886857" cy="124822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rgbClr val="0000FF"/>
                </a:solidFill>
              </a:rPr>
              <a:t>Network Equipment Vendor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AA5006-E56C-9D4B-8404-1B2DE53B51A7}"/>
              </a:ext>
            </a:extLst>
          </p:cNvPr>
          <p:cNvSpPr/>
          <p:nvPr/>
        </p:nvSpPr>
        <p:spPr>
          <a:xfrm>
            <a:off x="655320" y="3264052"/>
            <a:ext cx="1886857" cy="124822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rgbClr val="0000FF"/>
                </a:solidFill>
              </a:rPr>
              <a:t>Network Owner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A656E019-3A3A-D246-B49F-D54CE7E47437}"/>
              </a:ext>
            </a:extLst>
          </p:cNvPr>
          <p:cNvSpPr/>
          <p:nvPr/>
        </p:nvSpPr>
        <p:spPr>
          <a:xfrm>
            <a:off x="7018893" y="4564842"/>
            <a:ext cx="1444172" cy="86246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FF"/>
                </a:solidFill>
              </a:rPr>
              <a:t>ASIC</a:t>
            </a:r>
          </a:p>
          <a:p>
            <a:pPr algn="ctr"/>
            <a:r>
              <a:rPr lang="en-US" sz="2400" dirty="0">
                <a:solidFill>
                  <a:srgbClr val="0000FF"/>
                </a:solidFill>
              </a:rPr>
              <a:t>Team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90043E7-4D25-4A48-A2BA-E3082FB578F4}"/>
              </a:ext>
            </a:extLst>
          </p:cNvPr>
          <p:cNvSpPr/>
          <p:nvPr/>
        </p:nvSpPr>
        <p:spPr>
          <a:xfrm>
            <a:off x="6982303" y="2395493"/>
            <a:ext cx="1480762" cy="86246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FF"/>
                </a:solidFill>
              </a:rPr>
              <a:t>Software</a:t>
            </a:r>
          </a:p>
          <a:p>
            <a:pPr algn="ctr"/>
            <a:r>
              <a:rPr lang="en-US" sz="2400" dirty="0">
                <a:solidFill>
                  <a:srgbClr val="0000FF"/>
                </a:solidFill>
              </a:rPr>
              <a:t>Team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19D8A33-53B7-E741-9FEE-6BA43E58E80D}"/>
              </a:ext>
            </a:extLst>
          </p:cNvPr>
          <p:cNvGrpSpPr/>
          <p:nvPr/>
        </p:nvGrpSpPr>
        <p:grpSpPr>
          <a:xfrm>
            <a:off x="2406307" y="2494915"/>
            <a:ext cx="1735106" cy="1548990"/>
            <a:chOff x="3790869" y="2373528"/>
            <a:chExt cx="1735106" cy="1548990"/>
          </a:xfrm>
        </p:grpSpPr>
        <p:sp>
          <p:nvSpPr>
            <p:cNvPr id="116" name="Arc 115">
              <a:extLst>
                <a:ext uri="{FF2B5EF4-FFF2-40B4-BE49-F238E27FC236}">
                  <a16:creationId xmlns:a16="http://schemas.microsoft.com/office/drawing/2014/main" id="{C1CA37F1-67A8-FD40-83FF-4165A20DEBFA}"/>
                </a:ext>
              </a:extLst>
            </p:cNvPr>
            <p:cNvSpPr/>
            <p:nvPr/>
          </p:nvSpPr>
          <p:spPr>
            <a:xfrm>
              <a:off x="3790869" y="2906297"/>
              <a:ext cx="1735106" cy="1016221"/>
            </a:xfrm>
            <a:prstGeom prst="arc">
              <a:avLst>
                <a:gd name="adj1" fmla="val 12040470"/>
                <a:gd name="adj2" fmla="val 20462614"/>
              </a:avLst>
            </a:prstGeom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F94D3342-0FE4-5C4B-AAF0-CDD5AC63DAD0}"/>
                </a:ext>
              </a:extLst>
            </p:cNvPr>
            <p:cNvSpPr txBox="1"/>
            <p:nvPr/>
          </p:nvSpPr>
          <p:spPr>
            <a:xfrm>
              <a:off x="4137794" y="2373528"/>
              <a:ext cx="11418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prstClr val="black"/>
                  </a:solidFill>
                </a:rPr>
                <a:t>Feature</a:t>
              </a:r>
              <a:endParaRPr lang="en-US" sz="2800" dirty="0">
                <a:solidFill>
                  <a:prstClr val="black"/>
                </a:solidFill>
              </a:endParaRP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FFC2E10-264D-6640-873D-810242EA8042}"/>
              </a:ext>
            </a:extLst>
          </p:cNvPr>
          <p:cNvGrpSpPr/>
          <p:nvPr/>
        </p:nvGrpSpPr>
        <p:grpSpPr>
          <a:xfrm>
            <a:off x="5421518" y="2283459"/>
            <a:ext cx="1706897" cy="1324697"/>
            <a:chOff x="6806080" y="2162072"/>
            <a:chExt cx="1706897" cy="1324697"/>
          </a:xfrm>
        </p:grpSpPr>
        <p:sp>
          <p:nvSpPr>
            <p:cNvPr id="119" name="Arc 118">
              <a:extLst>
                <a:ext uri="{FF2B5EF4-FFF2-40B4-BE49-F238E27FC236}">
                  <a16:creationId xmlns:a16="http://schemas.microsoft.com/office/drawing/2014/main" id="{2D1E0499-5F62-5742-8AC4-4205E0FC4277}"/>
                </a:ext>
              </a:extLst>
            </p:cNvPr>
            <p:cNvSpPr/>
            <p:nvPr/>
          </p:nvSpPr>
          <p:spPr>
            <a:xfrm rot="19849303" flipH="1" flipV="1">
              <a:off x="6806080" y="2162072"/>
              <a:ext cx="1706897" cy="1324697"/>
            </a:xfrm>
            <a:prstGeom prst="arc">
              <a:avLst>
                <a:gd name="adj1" fmla="val 12040470"/>
                <a:gd name="adj2" fmla="val 20462614"/>
              </a:avLst>
            </a:prstGeom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9CC992C8-16C7-1F42-8C7B-99B7224EA7BD}"/>
                </a:ext>
              </a:extLst>
            </p:cNvPr>
            <p:cNvSpPr txBox="1"/>
            <p:nvPr/>
          </p:nvSpPr>
          <p:spPr>
            <a:xfrm rot="19402923">
              <a:off x="7531825" y="3005896"/>
              <a:ext cx="80425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</a:rPr>
                <a:t>Weeks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A3421D2D-6C99-1844-8119-1466588A38D2}"/>
              </a:ext>
            </a:extLst>
          </p:cNvPr>
          <p:cNvGrpSpPr/>
          <p:nvPr/>
        </p:nvGrpSpPr>
        <p:grpSpPr>
          <a:xfrm>
            <a:off x="5679786" y="3865783"/>
            <a:ext cx="1706897" cy="1324697"/>
            <a:chOff x="7064348" y="3744396"/>
            <a:chExt cx="1706897" cy="1324697"/>
          </a:xfrm>
        </p:grpSpPr>
        <p:sp>
          <p:nvSpPr>
            <p:cNvPr id="122" name="Arc 121">
              <a:extLst>
                <a:ext uri="{FF2B5EF4-FFF2-40B4-BE49-F238E27FC236}">
                  <a16:creationId xmlns:a16="http://schemas.microsoft.com/office/drawing/2014/main" id="{618D8F80-EE0F-E843-895E-CA12C4F66342}"/>
                </a:ext>
              </a:extLst>
            </p:cNvPr>
            <p:cNvSpPr/>
            <p:nvPr/>
          </p:nvSpPr>
          <p:spPr>
            <a:xfrm rot="1546502" flipH="1" flipV="1">
              <a:off x="7064348" y="3744396"/>
              <a:ext cx="1706897" cy="1324697"/>
            </a:xfrm>
            <a:prstGeom prst="arc">
              <a:avLst>
                <a:gd name="adj1" fmla="val 12040470"/>
                <a:gd name="adj2" fmla="val 20462614"/>
              </a:avLst>
            </a:prstGeom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ECBC653C-D23A-0443-9ECE-B08A694E5540}"/>
                </a:ext>
              </a:extLst>
            </p:cNvPr>
            <p:cNvSpPr txBox="1"/>
            <p:nvPr/>
          </p:nvSpPr>
          <p:spPr>
            <a:xfrm rot="1921114">
              <a:off x="7297391" y="4586856"/>
              <a:ext cx="72955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</a:rPr>
                <a:t>Years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C46E6CA0-8104-8047-BC68-D301BA1EECA4}"/>
              </a:ext>
            </a:extLst>
          </p:cNvPr>
          <p:cNvGrpSpPr/>
          <p:nvPr/>
        </p:nvGrpSpPr>
        <p:grpSpPr>
          <a:xfrm>
            <a:off x="2427603" y="3732428"/>
            <a:ext cx="1735106" cy="1516536"/>
            <a:chOff x="3812165" y="3611041"/>
            <a:chExt cx="1735106" cy="1516536"/>
          </a:xfrm>
        </p:grpSpPr>
        <p:sp>
          <p:nvSpPr>
            <p:cNvPr id="125" name="Arc 124">
              <a:extLst>
                <a:ext uri="{FF2B5EF4-FFF2-40B4-BE49-F238E27FC236}">
                  <a16:creationId xmlns:a16="http://schemas.microsoft.com/office/drawing/2014/main" id="{974A4766-191F-794E-BC0C-A1A985DE0676}"/>
                </a:ext>
              </a:extLst>
            </p:cNvPr>
            <p:cNvSpPr/>
            <p:nvPr/>
          </p:nvSpPr>
          <p:spPr>
            <a:xfrm rot="10800000">
              <a:off x="3812165" y="3611041"/>
              <a:ext cx="1735106" cy="1016221"/>
            </a:xfrm>
            <a:prstGeom prst="arc">
              <a:avLst>
                <a:gd name="adj1" fmla="val 12040470"/>
                <a:gd name="adj2" fmla="val 20462614"/>
              </a:avLst>
            </a:prstGeom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6061FEEE-0A73-DD44-9391-C388B8909298}"/>
                </a:ext>
              </a:extLst>
            </p:cNvPr>
            <p:cNvSpPr txBox="1"/>
            <p:nvPr/>
          </p:nvSpPr>
          <p:spPr>
            <a:xfrm>
              <a:off x="4239953" y="4665912"/>
              <a:ext cx="83721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solidFill>
                    <a:prstClr val="black"/>
                  </a:solidFill>
                </a:rPr>
                <a:t>Years</a:t>
              </a:r>
            </a:p>
          </p:txBody>
        </p: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6F3AA3C-1E4F-0640-9D70-890E600D579D}"/>
              </a:ext>
            </a:extLst>
          </p:cNvPr>
          <p:cNvGrpSpPr/>
          <p:nvPr/>
        </p:nvGrpSpPr>
        <p:grpSpPr>
          <a:xfrm>
            <a:off x="5668304" y="2350882"/>
            <a:ext cx="1758286" cy="1555448"/>
            <a:chOff x="7052866" y="2229495"/>
            <a:chExt cx="1758286" cy="1555448"/>
          </a:xfrm>
        </p:grpSpPr>
        <p:sp>
          <p:nvSpPr>
            <p:cNvPr id="128" name="Arc 127">
              <a:extLst>
                <a:ext uri="{FF2B5EF4-FFF2-40B4-BE49-F238E27FC236}">
                  <a16:creationId xmlns:a16="http://schemas.microsoft.com/office/drawing/2014/main" id="{44F3D523-B6C2-894A-8382-929896C51725}"/>
                </a:ext>
              </a:extLst>
            </p:cNvPr>
            <p:cNvSpPr/>
            <p:nvPr/>
          </p:nvSpPr>
          <p:spPr>
            <a:xfrm rot="19844001">
              <a:off x="7104255" y="2460246"/>
              <a:ext cx="1706897" cy="1324697"/>
            </a:xfrm>
            <a:prstGeom prst="arc">
              <a:avLst>
                <a:gd name="adj1" fmla="val 12040470"/>
                <a:gd name="adj2" fmla="val 20462614"/>
              </a:avLst>
            </a:prstGeom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6A55E4BA-37D5-F24E-8FE6-D28231C9D987}"/>
                </a:ext>
              </a:extLst>
            </p:cNvPr>
            <p:cNvSpPr txBox="1"/>
            <p:nvPr/>
          </p:nvSpPr>
          <p:spPr>
            <a:xfrm rot="19598848">
              <a:off x="7052866" y="2229495"/>
              <a:ext cx="9025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prstClr val="black"/>
                  </a:solidFill>
                </a:rPr>
                <a:t>Feature</a:t>
              </a:r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E305D4EC-10EA-0F47-A3AD-0E07F7128A01}"/>
              </a:ext>
            </a:extLst>
          </p:cNvPr>
          <p:cNvGrpSpPr/>
          <p:nvPr/>
        </p:nvGrpSpPr>
        <p:grpSpPr>
          <a:xfrm>
            <a:off x="5447454" y="3999621"/>
            <a:ext cx="1715503" cy="1571413"/>
            <a:chOff x="6832016" y="3878234"/>
            <a:chExt cx="1715503" cy="1571413"/>
          </a:xfrm>
        </p:grpSpPr>
        <p:sp>
          <p:nvSpPr>
            <p:cNvPr id="131" name="Arc 130">
              <a:extLst>
                <a:ext uri="{FF2B5EF4-FFF2-40B4-BE49-F238E27FC236}">
                  <a16:creationId xmlns:a16="http://schemas.microsoft.com/office/drawing/2014/main" id="{529B00D7-689A-E440-A962-836E6DB6EEE9}"/>
                </a:ext>
              </a:extLst>
            </p:cNvPr>
            <p:cNvSpPr/>
            <p:nvPr/>
          </p:nvSpPr>
          <p:spPr>
            <a:xfrm rot="1546502">
              <a:off x="6832016" y="4124950"/>
              <a:ext cx="1706897" cy="1324697"/>
            </a:xfrm>
            <a:prstGeom prst="arc">
              <a:avLst>
                <a:gd name="adj1" fmla="val 12040470"/>
                <a:gd name="adj2" fmla="val 20462614"/>
              </a:avLst>
            </a:prstGeom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</a:endParaRP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3EE1E7C-E9AD-ED4D-B019-A5A3E6A862BA}"/>
                </a:ext>
              </a:extLst>
            </p:cNvPr>
            <p:cNvSpPr txBox="1"/>
            <p:nvPr/>
          </p:nvSpPr>
          <p:spPr>
            <a:xfrm rot="1800574">
              <a:off x="7644964" y="3878234"/>
              <a:ext cx="9025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prstClr val="black"/>
                  </a:solidFill>
                </a:rPr>
                <a:t>Feature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704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1" grpId="0" animBg="1"/>
      <p:bldP spid="110" grpId="0" animBg="1"/>
      <p:bldP spid="11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0C67F-C08E-914D-B688-0C8C9BE6A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Programmable data plane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1B49C-2C42-6541-853A-8774DCB6C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What if we could tell switches exactly what we want?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What table to keep?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What rules to use?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What data to keep track of?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…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45DB9-F3EC-1149-93FF-34E0354CE8D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9427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342370A-C6EB-F24D-80DF-7E5999F76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b">
            <a:normAutofit/>
          </a:bodyPr>
          <a:lstStyle/>
          <a:p>
            <a:r>
              <a:rPr lang="en-US" dirty="0"/>
              <a:t>Top-down approach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8016BA5-CB0E-6347-A7BB-7B54A2DE7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Precisely specify</a:t>
            </a:r>
            <a:r>
              <a:rPr lang="en-US" dirty="0"/>
              <a:t> what you want to do and how you want a packet to be processed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BFAEAE-2D39-6D4A-B996-879CD32FDA5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 wrap="none" anchor="ctr">
            <a:normAutofit/>
          </a:bodyPr>
          <a:lstStyle/>
          <a:p>
            <a:pPr>
              <a:spcAft>
                <a:spcPts val="600"/>
              </a:spcAft>
            </a:pPr>
            <a:fld id="{9507A418-0CEB-9E4A-BA45-3B7D3D133EB9}" type="slidenum">
              <a:rPr lang="en-US" smtClean="0"/>
              <a:pPr>
                <a:spcAft>
                  <a:spcPts val="600"/>
                </a:spcAft>
              </a:pPr>
              <a:t>31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4FD667-F1AB-A240-A85F-068C433E862D}"/>
              </a:ext>
            </a:extLst>
          </p:cNvPr>
          <p:cNvSpPr txBox="1"/>
          <p:nvPr/>
        </p:nvSpPr>
        <p:spPr>
          <a:xfrm>
            <a:off x="457200" y="3124200"/>
            <a:ext cx="2416046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6"/>
                </a:solidFill>
                <a:latin typeface="Lucida Console" panose="020B0609040504020204" pitchFamily="49" charset="0"/>
              </a:rPr>
              <a:t>table </a:t>
            </a:r>
            <a:r>
              <a:rPr lang="en-US" sz="120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int_table</a:t>
            </a:r>
            <a:r>
              <a:rPr lang="en-US" sz="1200" dirty="0">
                <a:solidFill>
                  <a:schemeClr val="accent6"/>
                </a:solidFill>
                <a:latin typeface="Lucida Console" panose="020B0609040504020204" pitchFamily="49" charset="0"/>
              </a:rPr>
              <a:t> 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{</a:t>
            </a:r>
          </a:p>
          <a:p>
            <a:r>
              <a:rPr lang="en-US" sz="1200" dirty="0">
                <a:solidFill>
                  <a:schemeClr val="accent6"/>
                </a:solidFill>
                <a:latin typeface="Lucida Console" panose="020B0609040504020204" pitchFamily="49" charset="0"/>
              </a:rPr>
              <a:t>  reads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{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  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ip.protocol</a:t>
            </a:r>
            <a:endParaRPr lang="en-US" sz="1200" b="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}</a:t>
            </a:r>
          </a:p>
          <a:p>
            <a:r>
              <a:rPr lang="en-US" sz="1200" dirty="0">
                <a:solidFill>
                  <a:schemeClr val="accent6"/>
                </a:solidFill>
                <a:latin typeface="Lucida Console" panose="020B0609040504020204" pitchFamily="49" charset="0"/>
              </a:rPr>
              <a:t>  actions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{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  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export_queue_latency</a:t>
            </a:r>
            <a:endParaRPr lang="en-US" sz="1200" b="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}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0836B0-E51A-824B-87B1-9F75209DB9C2}"/>
              </a:ext>
            </a:extLst>
          </p:cNvPr>
          <p:cNvSpPr txBox="1"/>
          <p:nvPr/>
        </p:nvSpPr>
        <p:spPr>
          <a:xfrm>
            <a:off x="3219381" y="3120390"/>
            <a:ext cx="5391219" cy="212365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6"/>
                </a:solidFill>
                <a:latin typeface="Lucida Console" panose="020B0609040504020204" pitchFamily="49" charset="0"/>
              </a:rPr>
              <a:t>action </a:t>
            </a:r>
            <a:r>
              <a:rPr lang="en-US" sz="120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export_queue_latency</a:t>
            </a:r>
            <a:r>
              <a:rPr lang="en-US" sz="1200" dirty="0">
                <a:solidFill>
                  <a:schemeClr val="accent6"/>
                </a:solidFill>
                <a:latin typeface="Lucida Console" panose="020B0609040504020204" pitchFamily="49" charset="0"/>
              </a:rPr>
              <a:t> (</a:t>
            </a:r>
            <a:r>
              <a:rPr lang="en-US" sz="120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sw_id</a:t>
            </a:r>
            <a:r>
              <a:rPr lang="en-US" sz="1200" dirty="0">
                <a:solidFill>
                  <a:schemeClr val="accent6"/>
                </a:solidFill>
                <a:latin typeface="Lucida Console" panose="020B0609040504020204" pitchFamily="49" charset="0"/>
              </a:rPr>
              <a:t>) 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{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add_header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(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int_header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);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modify_field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(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int_header.kind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, TCP_OPTION_INT);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modify_field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(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int_header.len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, TCP_OPTION_INT_LEN);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modify_field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(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int_header.sw_id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, </a:t>
            </a:r>
            <a:r>
              <a:rPr lang="en-US" sz="1200" b="0" dirty="0" err="1">
                <a:solidFill>
                  <a:srgbClr val="0000FF"/>
                </a:solidFill>
                <a:latin typeface="Lucida Console" panose="020B0609040504020204" pitchFamily="49" charset="0"/>
              </a:rPr>
              <a:t>sw_id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);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modify_field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(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int_header.q_latency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, 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                    </a:t>
            </a:r>
            <a:r>
              <a:rPr lang="en-US" sz="1200" b="0" dirty="0" err="1">
                <a:solidFill>
                  <a:srgbClr val="0000FF"/>
                </a:solidFill>
                <a:latin typeface="Lucida Console" panose="020B0609040504020204" pitchFamily="49" charset="0"/>
              </a:rPr>
              <a:t>intrinsic_metadata.deq_timedelta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);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add_to_field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(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tcp.dataOffset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, 2);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add_to_field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(ipv4.totalLen, 8);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  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subtract_from_field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(</a:t>
            </a:r>
            <a:r>
              <a:rPr lang="en-US" sz="1200" b="0" dirty="0" err="1">
                <a:solidFill>
                  <a:schemeClr val="accent6"/>
                </a:solidFill>
                <a:latin typeface="Lucida Console" panose="020B0609040504020204" pitchFamily="49" charset="0"/>
              </a:rPr>
              <a:t>ingress_metadata.tcpLength</a:t>
            </a:r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, 12);</a:t>
            </a:r>
          </a:p>
          <a:p>
            <a:r>
              <a:rPr lang="en-US" sz="1200" b="0" dirty="0">
                <a:solidFill>
                  <a:schemeClr val="accent6"/>
                </a:solidFill>
                <a:latin typeface="Lucida Console" panose="020B06090405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78839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8DE58FB-A462-0349-BF59-C59C66FF6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left?</a:t>
            </a:r>
          </a:p>
        </p:txBody>
      </p:sp>
      <p:sp>
        <p:nvSpPr>
          <p:cNvPr id="161" name="Content Placeholder 160">
            <a:extLst>
              <a:ext uri="{FF2B5EF4-FFF2-40B4-BE49-F238E27FC236}">
                <a16:creationId xmlns:a16="http://schemas.microsoft.com/office/drawing/2014/main" id="{8BB385C9-10DF-F649-B61B-8D5AD12C7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Compile it down to be something runnable on a programmable switch</a:t>
            </a:r>
          </a:p>
          <a:p>
            <a:pPr lvl="1"/>
            <a:r>
              <a:rPr lang="en-US" dirty="0"/>
              <a:t>Similar to other high-level languages we use to run code on hardware like CPU, GPU, FPGA etc.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P4</a:t>
            </a:r>
            <a:r>
              <a:rPr lang="en-US" dirty="0"/>
              <a:t> for programmable switches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But which switch?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3A7AF6-0B1C-2F4F-85BC-96A10402D05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0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73D20-AFA4-2342-B863-27B85AFF5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PISA: Protocol Independent Switch Architecture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DD27F-4CB7-3849-8C55-9F311916E5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4581CF4A-FEDA-F64A-BE84-4ACB4C92F601}"/>
              </a:ext>
            </a:extLst>
          </p:cNvPr>
          <p:cNvGrpSpPr/>
          <p:nvPr/>
        </p:nvGrpSpPr>
        <p:grpSpPr>
          <a:xfrm>
            <a:off x="7515907" y="3240058"/>
            <a:ext cx="552334" cy="519142"/>
            <a:chOff x="8131589" y="4009362"/>
            <a:chExt cx="552334" cy="692189"/>
          </a:xfrm>
        </p:grpSpPr>
        <p:grpSp>
          <p:nvGrpSpPr>
            <p:cNvPr id="266" name="Group 65">
              <a:extLst>
                <a:ext uri="{FF2B5EF4-FFF2-40B4-BE49-F238E27FC236}">
                  <a16:creationId xmlns:a16="http://schemas.microsoft.com/office/drawing/2014/main" id="{7939DBD5-C532-104B-8C23-A45920E79A31}"/>
                </a:ext>
              </a:extLst>
            </p:cNvPr>
            <p:cNvGrpSpPr/>
            <p:nvPr/>
          </p:nvGrpSpPr>
          <p:grpSpPr>
            <a:xfrm>
              <a:off x="8131589" y="4009362"/>
              <a:ext cx="551591" cy="228624"/>
              <a:chOff x="7660968" y="1751777"/>
              <a:chExt cx="1040580" cy="450645"/>
            </a:xfrm>
          </p:grpSpPr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DAB1DE14-6A37-9940-9FB0-558F0DE59D6C}"/>
                  </a:ext>
                </a:extLst>
              </p:cNvPr>
              <p:cNvSpPr/>
              <p:nvPr/>
            </p:nvSpPr>
            <p:spPr>
              <a:xfrm>
                <a:off x="7660968" y="1751777"/>
                <a:ext cx="1040580" cy="450645"/>
              </a:xfrm>
              <a:custGeom>
                <a:avLst/>
                <a:gdLst>
                  <a:gd name="connsiteX0" fmla="*/ 0 w 1040580"/>
                  <a:gd name="connsiteY0" fmla="*/ 0 h 450645"/>
                  <a:gd name="connsiteX1" fmla="*/ 1040580 w 1040580"/>
                  <a:gd name="connsiteY1" fmla="*/ 8193 h 450645"/>
                  <a:gd name="connsiteX2" fmla="*/ 1032387 w 1040580"/>
                  <a:gd name="connsiteY2" fmla="*/ 450645 h 450645"/>
                  <a:gd name="connsiteX3" fmla="*/ 16387 w 1040580"/>
                  <a:gd name="connsiteY3" fmla="*/ 442451 h 450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0580" h="450645">
                    <a:moveTo>
                      <a:pt x="0" y="0"/>
                    </a:moveTo>
                    <a:lnTo>
                      <a:pt x="1040580" y="8193"/>
                    </a:lnTo>
                    <a:lnTo>
                      <a:pt x="1032387" y="450645"/>
                    </a:lnTo>
                    <a:lnTo>
                      <a:pt x="16387" y="442451"/>
                    </a:lnTo>
                  </a:path>
                </a:pathLst>
              </a:cu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9364A080-2EB8-0D46-91A3-41FCEE1B2286}"/>
                  </a:ext>
                </a:extLst>
              </p:cNvPr>
              <p:cNvCxnSpPr/>
              <p:nvPr/>
            </p:nvCxnSpPr>
            <p:spPr>
              <a:xfrm>
                <a:off x="8501629" y="1751777"/>
                <a:ext cx="0" cy="450645"/>
              </a:xfrm>
              <a:prstGeom prst="line">
                <a:avLst/>
              </a:pr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F1C1A9DA-7685-334B-8438-71E724F1C059}"/>
                  </a:ext>
                </a:extLst>
              </p:cNvPr>
              <p:cNvCxnSpPr/>
              <p:nvPr/>
            </p:nvCxnSpPr>
            <p:spPr>
              <a:xfrm>
                <a:off x="8268933" y="1751777"/>
                <a:ext cx="0" cy="450645"/>
              </a:xfrm>
              <a:prstGeom prst="line">
                <a:avLst/>
              </a:pr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267" name="Group 70">
              <a:extLst>
                <a:ext uri="{FF2B5EF4-FFF2-40B4-BE49-F238E27FC236}">
                  <a16:creationId xmlns:a16="http://schemas.microsoft.com/office/drawing/2014/main" id="{414E6434-D0E4-E54E-9713-130260358E1E}"/>
                </a:ext>
              </a:extLst>
            </p:cNvPr>
            <p:cNvGrpSpPr/>
            <p:nvPr/>
          </p:nvGrpSpPr>
          <p:grpSpPr>
            <a:xfrm>
              <a:off x="8132332" y="4472927"/>
              <a:ext cx="551591" cy="228624"/>
              <a:chOff x="7660968" y="1751777"/>
              <a:chExt cx="1040580" cy="450645"/>
            </a:xfrm>
          </p:grpSpPr>
          <p:sp>
            <p:nvSpPr>
              <p:cNvPr id="268" name="Freeform 267">
                <a:extLst>
                  <a:ext uri="{FF2B5EF4-FFF2-40B4-BE49-F238E27FC236}">
                    <a16:creationId xmlns:a16="http://schemas.microsoft.com/office/drawing/2014/main" id="{E41BC9F9-5D2B-FB41-92B3-958E88A7F58B}"/>
                  </a:ext>
                </a:extLst>
              </p:cNvPr>
              <p:cNvSpPr/>
              <p:nvPr/>
            </p:nvSpPr>
            <p:spPr>
              <a:xfrm>
                <a:off x="7660968" y="1751777"/>
                <a:ext cx="1040580" cy="450645"/>
              </a:xfrm>
              <a:custGeom>
                <a:avLst/>
                <a:gdLst>
                  <a:gd name="connsiteX0" fmla="*/ 0 w 1040580"/>
                  <a:gd name="connsiteY0" fmla="*/ 0 h 450645"/>
                  <a:gd name="connsiteX1" fmla="*/ 1040580 w 1040580"/>
                  <a:gd name="connsiteY1" fmla="*/ 8193 h 450645"/>
                  <a:gd name="connsiteX2" fmla="*/ 1032387 w 1040580"/>
                  <a:gd name="connsiteY2" fmla="*/ 450645 h 450645"/>
                  <a:gd name="connsiteX3" fmla="*/ 16387 w 1040580"/>
                  <a:gd name="connsiteY3" fmla="*/ 442451 h 450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0580" h="450645">
                    <a:moveTo>
                      <a:pt x="0" y="0"/>
                    </a:moveTo>
                    <a:lnTo>
                      <a:pt x="1040580" y="8193"/>
                    </a:lnTo>
                    <a:lnTo>
                      <a:pt x="1032387" y="450645"/>
                    </a:lnTo>
                    <a:lnTo>
                      <a:pt x="16387" y="442451"/>
                    </a:lnTo>
                  </a:path>
                </a:pathLst>
              </a:cu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31BD52F4-BFEC-AA44-868D-3B7FB95D3BF3}"/>
                  </a:ext>
                </a:extLst>
              </p:cNvPr>
              <p:cNvCxnSpPr/>
              <p:nvPr/>
            </p:nvCxnSpPr>
            <p:spPr>
              <a:xfrm>
                <a:off x="8501629" y="1751777"/>
                <a:ext cx="0" cy="450645"/>
              </a:xfrm>
              <a:prstGeom prst="line">
                <a:avLst/>
              </a:pr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031113B9-3EB0-114A-A5D7-558AF2BD9CD7}"/>
                  </a:ext>
                </a:extLst>
              </p:cNvPr>
              <p:cNvCxnSpPr/>
              <p:nvPr/>
            </p:nvCxnSpPr>
            <p:spPr>
              <a:xfrm>
                <a:off x="8268933" y="1751777"/>
                <a:ext cx="0" cy="450645"/>
              </a:xfrm>
              <a:prstGeom prst="line">
                <a:avLst/>
              </a:pr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</p:grpSp>
      </p:grp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FAC22D4B-8EFD-8144-84C5-5F34E5AC9871}"/>
              </a:ext>
            </a:extLst>
          </p:cNvPr>
          <p:cNvGrpSpPr/>
          <p:nvPr/>
        </p:nvGrpSpPr>
        <p:grpSpPr>
          <a:xfrm>
            <a:off x="8097638" y="3246874"/>
            <a:ext cx="512735" cy="1191971"/>
            <a:chOff x="2488822" y="2403406"/>
            <a:chExt cx="529093" cy="1589294"/>
          </a:xfrm>
        </p:grpSpPr>
        <p:cxnSp>
          <p:nvCxnSpPr>
            <p:cNvPr id="275" name="Straight Arrow Connector 274">
              <a:extLst>
                <a:ext uri="{FF2B5EF4-FFF2-40B4-BE49-F238E27FC236}">
                  <a16:creationId xmlns:a16="http://schemas.microsoft.com/office/drawing/2014/main" id="{5AAEF7B5-9BEB-A844-8B8C-F7A9B9E83F84}"/>
                </a:ext>
              </a:extLst>
            </p:cNvPr>
            <p:cNvCxnSpPr/>
            <p:nvPr/>
          </p:nvCxnSpPr>
          <p:spPr>
            <a:xfrm flipV="1">
              <a:off x="2493656" y="2403406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76" name="Straight Arrow Connector 275">
              <a:extLst>
                <a:ext uri="{FF2B5EF4-FFF2-40B4-BE49-F238E27FC236}">
                  <a16:creationId xmlns:a16="http://schemas.microsoft.com/office/drawing/2014/main" id="{B9D66C66-12AF-F641-B184-2F4EF61DAC8B}"/>
                </a:ext>
              </a:extLst>
            </p:cNvPr>
            <p:cNvCxnSpPr/>
            <p:nvPr/>
          </p:nvCxnSpPr>
          <p:spPr>
            <a:xfrm flipV="1">
              <a:off x="2490064" y="2555806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77" name="Straight Arrow Connector 276">
              <a:extLst>
                <a:ext uri="{FF2B5EF4-FFF2-40B4-BE49-F238E27FC236}">
                  <a16:creationId xmlns:a16="http://schemas.microsoft.com/office/drawing/2014/main" id="{966F41F8-E497-3447-8261-3352DE0D5F7B}"/>
                </a:ext>
              </a:extLst>
            </p:cNvPr>
            <p:cNvCxnSpPr/>
            <p:nvPr/>
          </p:nvCxnSpPr>
          <p:spPr>
            <a:xfrm flipV="1">
              <a:off x="2493656" y="2717444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78" name="Straight Arrow Connector 277">
              <a:extLst>
                <a:ext uri="{FF2B5EF4-FFF2-40B4-BE49-F238E27FC236}">
                  <a16:creationId xmlns:a16="http://schemas.microsoft.com/office/drawing/2014/main" id="{6B5B7A1F-B11B-7146-882C-256A77BE4E46}"/>
                </a:ext>
              </a:extLst>
            </p:cNvPr>
            <p:cNvCxnSpPr/>
            <p:nvPr/>
          </p:nvCxnSpPr>
          <p:spPr>
            <a:xfrm flipV="1">
              <a:off x="2493656" y="2871548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79" name="Straight Arrow Connector 278">
              <a:extLst>
                <a:ext uri="{FF2B5EF4-FFF2-40B4-BE49-F238E27FC236}">
                  <a16:creationId xmlns:a16="http://schemas.microsoft.com/office/drawing/2014/main" id="{43F3EC19-C38A-B743-9E65-CA41BFA6AD31}"/>
                </a:ext>
              </a:extLst>
            </p:cNvPr>
            <p:cNvCxnSpPr/>
            <p:nvPr/>
          </p:nvCxnSpPr>
          <p:spPr>
            <a:xfrm flipV="1">
              <a:off x="2493656" y="3031695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58C96AE8-3B4B-8F4E-849D-73E50AF59C95}"/>
                </a:ext>
              </a:extLst>
            </p:cNvPr>
            <p:cNvCxnSpPr/>
            <p:nvPr/>
          </p:nvCxnSpPr>
          <p:spPr>
            <a:xfrm flipV="1">
              <a:off x="2494729" y="3190805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81" name="Straight Arrow Connector 280">
              <a:extLst>
                <a:ext uri="{FF2B5EF4-FFF2-40B4-BE49-F238E27FC236}">
                  <a16:creationId xmlns:a16="http://schemas.microsoft.com/office/drawing/2014/main" id="{7A3A57FD-961B-474D-B711-EBA4FA9025ED}"/>
                </a:ext>
              </a:extLst>
            </p:cNvPr>
            <p:cNvCxnSpPr/>
            <p:nvPr/>
          </p:nvCxnSpPr>
          <p:spPr>
            <a:xfrm flipV="1">
              <a:off x="2493656" y="3352442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4CE5B4A6-84C2-434F-8224-DEBF4314B327}"/>
                </a:ext>
              </a:extLst>
            </p:cNvPr>
            <p:cNvCxnSpPr/>
            <p:nvPr/>
          </p:nvCxnSpPr>
          <p:spPr>
            <a:xfrm flipV="1">
              <a:off x="2494729" y="3512589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83" name="Straight Arrow Connector 282">
              <a:extLst>
                <a:ext uri="{FF2B5EF4-FFF2-40B4-BE49-F238E27FC236}">
                  <a16:creationId xmlns:a16="http://schemas.microsoft.com/office/drawing/2014/main" id="{257E44E6-D626-A148-A6C9-BE9D1E42C721}"/>
                </a:ext>
              </a:extLst>
            </p:cNvPr>
            <p:cNvCxnSpPr/>
            <p:nvPr/>
          </p:nvCxnSpPr>
          <p:spPr>
            <a:xfrm flipV="1">
              <a:off x="2495802" y="3671699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84" name="Straight Arrow Connector 283">
              <a:extLst>
                <a:ext uri="{FF2B5EF4-FFF2-40B4-BE49-F238E27FC236}">
                  <a16:creationId xmlns:a16="http://schemas.microsoft.com/office/drawing/2014/main" id="{4FC816EF-FBA0-3C4A-8028-6C4C16A3ECD4}"/>
                </a:ext>
              </a:extLst>
            </p:cNvPr>
            <p:cNvCxnSpPr/>
            <p:nvPr/>
          </p:nvCxnSpPr>
          <p:spPr>
            <a:xfrm flipV="1">
              <a:off x="2493656" y="3833590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85" name="Straight Arrow Connector 284">
              <a:extLst>
                <a:ext uri="{FF2B5EF4-FFF2-40B4-BE49-F238E27FC236}">
                  <a16:creationId xmlns:a16="http://schemas.microsoft.com/office/drawing/2014/main" id="{0962BF2A-E1BF-D846-99C3-F552EEC4CD1F}"/>
                </a:ext>
              </a:extLst>
            </p:cNvPr>
            <p:cNvCxnSpPr/>
            <p:nvPr/>
          </p:nvCxnSpPr>
          <p:spPr>
            <a:xfrm flipV="1">
              <a:off x="2488822" y="3992700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D3A600"/>
              </a:solidFill>
              <a:prstDash val="solid"/>
              <a:miter lim="800000"/>
              <a:tailEnd type="stealth"/>
            </a:ln>
            <a:effectLst/>
          </p:spPr>
        </p:cxn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7C0ECB59-933D-A840-8C2D-2A6A82B9952A}"/>
              </a:ext>
            </a:extLst>
          </p:cNvPr>
          <p:cNvGrpSpPr/>
          <p:nvPr/>
        </p:nvGrpSpPr>
        <p:grpSpPr>
          <a:xfrm>
            <a:off x="557347" y="3204129"/>
            <a:ext cx="381108" cy="1191971"/>
            <a:chOff x="2488822" y="2403406"/>
            <a:chExt cx="529093" cy="1589294"/>
          </a:xfrm>
        </p:grpSpPr>
        <p:cxnSp>
          <p:nvCxnSpPr>
            <p:cNvPr id="287" name="Straight Arrow Connector 286">
              <a:extLst>
                <a:ext uri="{FF2B5EF4-FFF2-40B4-BE49-F238E27FC236}">
                  <a16:creationId xmlns:a16="http://schemas.microsoft.com/office/drawing/2014/main" id="{BFAE8607-CDA8-2E4D-8EB8-7A8A64F0F707}"/>
                </a:ext>
              </a:extLst>
            </p:cNvPr>
            <p:cNvCxnSpPr/>
            <p:nvPr/>
          </p:nvCxnSpPr>
          <p:spPr>
            <a:xfrm flipV="1">
              <a:off x="2493656" y="2403406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88" name="Straight Arrow Connector 287">
              <a:extLst>
                <a:ext uri="{FF2B5EF4-FFF2-40B4-BE49-F238E27FC236}">
                  <a16:creationId xmlns:a16="http://schemas.microsoft.com/office/drawing/2014/main" id="{4AF780E3-7340-A249-80DA-11B1DEDCDE19}"/>
                </a:ext>
              </a:extLst>
            </p:cNvPr>
            <p:cNvCxnSpPr/>
            <p:nvPr/>
          </p:nvCxnSpPr>
          <p:spPr>
            <a:xfrm flipV="1">
              <a:off x="2490064" y="2555806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89" name="Straight Arrow Connector 288">
              <a:extLst>
                <a:ext uri="{FF2B5EF4-FFF2-40B4-BE49-F238E27FC236}">
                  <a16:creationId xmlns:a16="http://schemas.microsoft.com/office/drawing/2014/main" id="{8CE68E0C-414B-EC4E-AC83-C4F4B5E684DF}"/>
                </a:ext>
              </a:extLst>
            </p:cNvPr>
            <p:cNvCxnSpPr/>
            <p:nvPr/>
          </p:nvCxnSpPr>
          <p:spPr>
            <a:xfrm flipV="1">
              <a:off x="2493656" y="2717444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90" name="Straight Arrow Connector 289">
              <a:extLst>
                <a:ext uri="{FF2B5EF4-FFF2-40B4-BE49-F238E27FC236}">
                  <a16:creationId xmlns:a16="http://schemas.microsoft.com/office/drawing/2014/main" id="{B27322BA-6D56-A84E-81E8-F2E6C4E8A532}"/>
                </a:ext>
              </a:extLst>
            </p:cNvPr>
            <p:cNvCxnSpPr/>
            <p:nvPr/>
          </p:nvCxnSpPr>
          <p:spPr>
            <a:xfrm flipV="1">
              <a:off x="2493656" y="2871548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91" name="Straight Arrow Connector 290">
              <a:extLst>
                <a:ext uri="{FF2B5EF4-FFF2-40B4-BE49-F238E27FC236}">
                  <a16:creationId xmlns:a16="http://schemas.microsoft.com/office/drawing/2014/main" id="{7C523FFC-FF75-6E44-9722-3F966014EBF1}"/>
                </a:ext>
              </a:extLst>
            </p:cNvPr>
            <p:cNvCxnSpPr/>
            <p:nvPr/>
          </p:nvCxnSpPr>
          <p:spPr>
            <a:xfrm flipV="1">
              <a:off x="2493656" y="3031695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92" name="Straight Arrow Connector 291">
              <a:extLst>
                <a:ext uri="{FF2B5EF4-FFF2-40B4-BE49-F238E27FC236}">
                  <a16:creationId xmlns:a16="http://schemas.microsoft.com/office/drawing/2014/main" id="{4EF6F981-4641-2B44-8393-93423E7FB990}"/>
                </a:ext>
              </a:extLst>
            </p:cNvPr>
            <p:cNvCxnSpPr/>
            <p:nvPr/>
          </p:nvCxnSpPr>
          <p:spPr>
            <a:xfrm flipV="1">
              <a:off x="2494729" y="3190805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93" name="Straight Arrow Connector 292">
              <a:extLst>
                <a:ext uri="{FF2B5EF4-FFF2-40B4-BE49-F238E27FC236}">
                  <a16:creationId xmlns:a16="http://schemas.microsoft.com/office/drawing/2014/main" id="{ACD50277-FFFD-BA41-8E4C-0001865F15BD}"/>
                </a:ext>
              </a:extLst>
            </p:cNvPr>
            <p:cNvCxnSpPr/>
            <p:nvPr/>
          </p:nvCxnSpPr>
          <p:spPr>
            <a:xfrm flipV="1">
              <a:off x="2493656" y="3352442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94" name="Straight Arrow Connector 293">
              <a:extLst>
                <a:ext uri="{FF2B5EF4-FFF2-40B4-BE49-F238E27FC236}">
                  <a16:creationId xmlns:a16="http://schemas.microsoft.com/office/drawing/2014/main" id="{AA100D99-1CD1-1644-8E37-459B990C68E5}"/>
                </a:ext>
              </a:extLst>
            </p:cNvPr>
            <p:cNvCxnSpPr/>
            <p:nvPr/>
          </p:nvCxnSpPr>
          <p:spPr>
            <a:xfrm flipV="1">
              <a:off x="2494729" y="3512589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95" name="Straight Arrow Connector 294">
              <a:extLst>
                <a:ext uri="{FF2B5EF4-FFF2-40B4-BE49-F238E27FC236}">
                  <a16:creationId xmlns:a16="http://schemas.microsoft.com/office/drawing/2014/main" id="{446386D3-CF2B-F24C-A713-B6DF39901CA0}"/>
                </a:ext>
              </a:extLst>
            </p:cNvPr>
            <p:cNvCxnSpPr/>
            <p:nvPr/>
          </p:nvCxnSpPr>
          <p:spPr>
            <a:xfrm flipV="1">
              <a:off x="2495802" y="3671699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96" name="Straight Arrow Connector 295">
              <a:extLst>
                <a:ext uri="{FF2B5EF4-FFF2-40B4-BE49-F238E27FC236}">
                  <a16:creationId xmlns:a16="http://schemas.microsoft.com/office/drawing/2014/main" id="{5D4F3344-912F-8243-9E53-6A7A206F26C0}"/>
                </a:ext>
              </a:extLst>
            </p:cNvPr>
            <p:cNvCxnSpPr/>
            <p:nvPr/>
          </p:nvCxnSpPr>
          <p:spPr>
            <a:xfrm flipV="1">
              <a:off x="2493656" y="3833590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  <p:cxnSp>
          <p:nvCxnSpPr>
            <p:cNvPr id="297" name="Straight Arrow Connector 296">
              <a:extLst>
                <a:ext uri="{FF2B5EF4-FFF2-40B4-BE49-F238E27FC236}">
                  <a16:creationId xmlns:a16="http://schemas.microsoft.com/office/drawing/2014/main" id="{782C482A-51C0-A047-9B65-CDB0D4C5CB8C}"/>
                </a:ext>
              </a:extLst>
            </p:cNvPr>
            <p:cNvCxnSpPr/>
            <p:nvPr/>
          </p:nvCxnSpPr>
          <p:spPr>
            <a:xfrm flipV="1">
              <a:off x="2488822" y="3992700"/>
              <a:ext cx="522113" cy="0"/>
            </a:xfrm>
            <a:prstGeom prst="straightConnector1">
              <a:avLst/>
            </a:prstGeom>
            <a:noFill/>
            <a:ln w="25400" cap="flat" cmpd="sng" algn="ctr">
              <a:solidFill>
                <a:srgbClr val="0000FF"/>
              </a:solidFill>
              <a:prstDash val="solid"/>
              <a:miter lim="800000"/>
              <a:tailEnd type="stealth"/>
            </a:ln>
            <a:effectLst/>
          </p:spPr>
        </p:cxnSp>
      </p:grpSp>
      <p:grpSp>
        <p:nvGrpSpPr>
          <p:cNvPr id="379" name="Group 378">
            <a:extLst>
              <a:ext uri="{FF2B5EF4-FFF2-40B4-BE49-F238E27FC236}">
                <a16:creationId xmlns:a16="http://schemas.microsoft.com/office/drawing/2014/main" id="{A7AAA9BB-3B2A-3140-AD48-52F2A09480ED}"/>
              </a:ext>
            </a:extLst>
          </p:cNvPr>
          <p:cNvGrpSpPr/>
          <p:nvPr/>
        </p:nvGrpSpPr>
        <p:grpSpPr>
          <a:xfrm>
            <a:off x="1761235" y="3002385"/>
            <a:ext cx="1124342" cy="1626876"/>
            <a:chOff x="1908358" y="3002385"/>
            <a:chExt cx="1124342" cy="1626876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144C7BA8-894B-C341-8D17-13E4BB23179D}"/>
                </a:ext>
              </a:extLst>
            </p:cNvPr>
            <p:cNvGrpSpPr/>
            <p:nvPr/>
          </p:nvGrpSpPr>
          <p:grpSpPr>
            <a:xfrm>
              <a:off x="1908358" y="3002385"/>
              <a:ext cx="1124342" cy="1626876"/>
              <a:chOff x="1485649" y="3204985"/>
              <a:chExt cx="1124341" cy="2169168"/>
            </a:xfrm>
          </p:grpSpPr>
          <p:sp>
            <p:nvSpPr>
              <p:cNvPr id="254" name="Rectangle 253">
                <a:extLst>
                  <a:ext uri="{FF2B5EF4-FFF2-40B4-BE49-F238E27FC236}">
                    <a16:creationId xmlns:a16="http://schemas.microsoft.com/office/drawing/2014/main" id="{6F368233-0518-D34E-9ADD-666E3FDEE62A}"/>
                  </a:ext>
                </a:extLst>
              </p:cNvPr>
              <p:cNvSpPr/>
              <p:nvPr/>
            </p:nvSpPr>
            <p:spPr>
              <a:xfrm>
                <a:off x="1492629" y="3216474"/>
                <a:ext cx="1117361" cy="2157679"/>
              </a:xfrm>
              <a:prstGeom prst="rect">
                <a:avLst/>
              </a:prstGeom>
              <a:solidFill>
                <a:srgbClr val="5B9BD5"/>
              </a:solidFill>
              <a:ln w="12700" cap="flat" cmpd="sng" algn="ctr">
                <a:solidFill>
                  <a:srgbClr val="5B9BD5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lIns="81639" tIns="40820" rIns="81639" bIns="40820"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5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5" name="Rectangle 254">
                <a:extLst>
                  <a:ext uri="{FF2B5EF4-FFF2-40B4-BE49-F238E27FC236}">
                    <a16:creationId xmlns:a16="http://schemas.microsoft.com/office/drawing/2014/main" id="{9E1F675E-3C11-2C44-8778-15C0D93F5474}"/>
                  </a:ext>
                </a:extLst>
              </p:cNvPr>
              <p:cNvSpPr/>
              <p:nvPr/>
            </p:nvSpPr>
            <p:spPr>
              <a:xfrm>
                <a:off x="1485649" y="3204985"/>
                <a:ext cx="1124341" cy="2157680"/>
              </a:xfrm>
              <a:prstGeom prst="rect">
                <a:avLst/>
              </a:prstGeom>
              <a:solidFill>
                <a:srgbClr val="FFC000">
                  <a:alpha val="70000"/>
                </a:srgbClr>
              </a:solidFill>
              <a:ln w="12700" cap="flat" cmpd="sng" algn="ctr">
                <a:solidFill>
                  <a:srgbClr val="D3A6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89CEA699-8429-EA42-8986-8FD6EE6A3813}"/>
                </a:ext>
              </a:extLst>
            </p:cNvPr>
            <p:cNvGrpSpPr/>
            <p:nvPr/>
          </p:nvGrpSpPr>
          <p:grpSpPr>
            <a:xfrm>
              <a:off x="2018711" y="3078910"/>
              <a:ext cx="909363" cy="1479832"/>
              <a:chOff x="2449931" y="225721"/>
              <a:chExt cx="909363" cy="1973109"/>
            </a:xfrm>
          </p:grpSpPr>
          <p:sp>
            <p:nvSpPr>
              <p:cNvPr id="299" name="Rectangle 298">
                <a:extLst>
                  <a:ext uri="{FF2B5EF4-FFF2-40B4-BE49-F238E27FC236}">
                    <a16:creationId xmlns:a16="http://schemas.microsoft.com/office/drawing/2014/main" id="{477AE534-107A-5B40-8CD1-C2241E2093D9}"/>
                  </a:ext>
                </a:extLst>
              </p:cNvPr>
              <p:cNvSpPr/>
              <p:nvPr/>
            </p:nvSpPr>
            <p:spPr>
              <a:xfrm>
                <a:off x="2449931" y="225721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25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0" name="Rectangle 299">
                <a:extLst>
                  <a:ext uri="{FF2B5EF4-FFF2-40B4-BE49-F238E27FC236}">
                    <a16:creationId xmlns:a16="http://schemas.microsoft.com/office/drawing/2014/main" id="{FFB23DE5-71BA-A846-86CB-8D6AA310E357}"/>
                  </a:ext>
                </a:extLst>
              </p:cNvPr>
              <p:cNvSpPr/>
              <p:nvPr/>
            </p:nvSpPr>
            <p:spPr>
              <a:xfrm>
                <a:off x="2449931" y="563134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1" name="Rectangle 300">
                <a:extLst>
                  <a:ext uri="{FF2B5EF4-FFF2-40B4-BE49-F238E27FC236}">
                    <a16:creationId xmlns:a16="http://schemas.microsoft.com/office/drawing/2014/main" id="{D5468401-3F85-2E4A-9271-B0C636D26DFD}"/>
                  </a:ext>
                </a:extLst>
              </p:cNvPr>
              <p:cNvSpPr/>
              <p:nvPr/>
            </p:nvSpPr>
            <p:spPr>
              <a:xfrm>
                <a:off x="2449931" y="902860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2" name="Rectangle 301">
                <a:extLst>
                  <a:ext uri="{FF2B5EF4-FFF2-40B4-BE49-F238E27FC236}">
                    <a16:creationId xmlns:a16="http://schemas.microsoft.com/office/drawing/2014/main" id="{713AE27E-8545-834C-9986-E55C6FB925AA}"/>
                  </a:ext>
                </a:extLst>
              </p:cNvPr>
              <p:cNvSpPr/>
              <p:nvPr/>
            </p:nvSpPr>
            <p:spPr>
              <a:xfrm>
                <a:off x="2449931" y="1244322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3" name="Rectangle 302">
                <a:extLst>
                  <a:ext uri="{FF2B5EF4-FFF2-40B4-BE49-F238E27FC236}">
                    <a16:creationId xmlns:a16="http://schemas.microsoft.com/office/drawing/2014/main" id="{A4E8FBB3-708C-7A42-8F6C-A67D2D92E188}"/>
                  </a:ext>
                </a:extLst>
              </p:cNvPr>
              <p:cNvSpPr/>
              <p:nvPr/>
            </p:nvSpPr>
            <p:spPr>
              <a:xfrm>
                <a:off x="2449931" y="1919144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4" name="Rectangle 303">
                <a:extLst>
                  <a:ext uri="{FF2B5EF4-FFF2-40B4-BE49-F238E27FC236}">
                    <a16:creationId xmlns:a16="http://schemas.microsoft.com/office/drawing/2014/main" id="{6CA6866A-E19D-1847-B4D9-D82999A377C0}"/>
                  </a:ext>
                </a:extLst>
              </p:cNvPr>
              <p:cNvSpPr/>
              <p:nvPr/>
            </p:nvSpPr>
            <p:spPr>
              <a:xfrm>
                <a:off x="2449931" y="1581733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5" name="Trapezoid 304">
                <a:extLst>
                  <a:ext uri="{FF2B5EF4-FFF2-40B4-BE49-F238E27FC236}">
                    <a16:creationId xmlns:a16="http://schemas.microsoft.com/office/drawing/2014/main" id="{FB3E3F58-0025-2E4A-B215-5F9EF7C4AA7F}"/>
                  </a:ext>
                </a:extLst>
              </p:cNvPr>
              <p:cNvSpPr/>
              <p:nvPr/>
            </p:nvSpPr>
            <p:spPr>
              <a:xfrm rot="5400000">
                <a:off x="3080394" y="231171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6" name="Trapezoid 305">
                <a:extLst>
                  <a:ext uri="{FF2B5EF4-FFF2-40B4-BE49-F238E27FC236}">
                    <a16:creationId xmlns:a16="http://schemas.microsoft.com/office/drawing/2014/main" id="{6DD38230-54D2-E14B-B4AB-0C741D526199}"/>
                  </a:ext>
                </a:extLst>
              </p:cNvPr>
              <p:cNvSpPr/>
              <p:nvPr/>
            </p:nvSpPr>
            <p:spPr>
              <a:xfrm rot="5400000">
                <a:off x="3085058" y="568584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7" name="Trapezoid 306">
                <a:extLst>
                  <a:ext uri="{FF2B5EF4-FFF2-40B4-BE49-F238E27FC236}">
                    <a16:creationId xmlns:a16="http://schemas.microsoft.com/office/drawing/2014/main" id="{CEADC2D8-0230-1C43-A58D-1BADADBF2648}"/>
                  </a:ext>
                </a:extLst>
              </p:cNvPr>
              <p:cNvSpPr/>
              <p:nvPr/>
            </p:nvSpPr>
            <p:spPr>
              <a:xfrm rot="5400000">
                <a:off x="3085058" y="908310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8" name="Trapezoid 307">
                <a:extLst>
                  <a:ext uri="{FF2B5EF4-FFF2-40B4-BE49-F238E27FC236}">
                    <a16:creationId xmlns:a16="http://schemas.microsoft.com/office/drawing/2014/main" id="{572165D4-0F0D-A842-B62F-8DFDF7E43605}"/>
                  </a:ext>
                </a:extLst>
              </p:cNvPr>
              <p:cNvSpPr/>
              <p:nvPr/>
            </p:nvSpPr>
            <p:spPr>
              <a:xfrm rot="5400000">
                <a:off x="3080394" y="1258723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9" name="Trapezoid 308">
                <a:extLst>
                  <a:ext uri="{FF2B5EF4-FFF2-40B4-BE49-F238E27FC236}">
                    <a16:creationId xmlns:a16="http://schemas.microsoft.com/office/drawing/2014/main" id="{41F932B5-A8D8-8444-938E-701067D2E175}"/>
                  </a:ext>
                </a:extLst>
              </p:cNvPr>
              <p:cNvSpPr/>
              <p:nvPr/>
            </p:nvSpPr>
            <p:spPr>
              <a:xfrm rot="5400000">
                <a:off x="3080394" y="1587183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0" name="Trapezoid 309">
                <a:extLst>
                  <a:ext uri="{FF2B5EF4-FFF2-40B4-BE49-F238E27FC236}">
                    <a16:creationId xmlns:a16="http://schemas.microsoft.com/office/drawing/2014/main" id="{6D4E9633-2C74-1C4D-AB4D-BCC5338DB090}"/>
                  </a:ext>
                </a:extLst>
              </p:cNvPr>
              <p:cNvSpPr/>
              <p:nvPr/>
            </p:nvSpPr>
            <p:spPr>
              <a:xfrm rot="5400000">
                <a:off x="3080394" y="1924594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350" name="TextBox 349">
            <a:extLst>
              <a:ext uri="{FF2B5EF4-FFF2-40B4-BE49-F238E27FC236}">
                <a16:creationId xmlns:a16="http://schemas.microsoft.com/office/drawing/2014/main" id="{61820246-221C-7147-9056-9DD64E32C96F}"/>
              </a:ext>
            </a:extLst>
          </p:cNvPr>
          <p:cNvSpPr txBox="1"/>
          <p:nvPr/>
        </p:nvSpPr>
        <p:spPr>
          <a:xfrm>
            <a:off x="1704028" y="2733446"/>
            <a:ext cx="2008004" cy="313270"/>
          </a:xfrm>
          <a:prstGeom prst="rect">
            <a:avLst/>
          </a:prstGeom>
          <a:noFill/>
        </p:spPr>
        <p:txBody>
          <a:bodyPr wrap="square" lIns="81639" tIns="40820" rIns="81639" bIns="40820" rtlCol="0">
            <a:spAutoFit/>
          </a:bodyPr>
          <a:lstStyle/>
          <a:p>
            <a:pPr defTabSz="685800" fontAlgn="auto">
              <a:spcBef>
                <a:spcPts val="0"/>
              </a:spcBef>
              <a:spcAft>
                <a:spcPts val="0"/>
              </a:spcAft>
            </a:pPr>
            <a:r>
              <a:rPr lang="en-US" sz="1500" b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Match + Action</a:t>
            </a:r>
          </a:p>
        </p:txBody>
      </p: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CB720349-39CE-A04E-A7B7-2BE20C4A7684}"/>
              </a:ext>
            </a:extLst>
          </p:cNvPr>
          <p:cNvGrpSpPr/>
          <p:nvPr/>
        </p:nvGrpSpPr>
        <p:grpSpPr>
          <a:xfrm>
            <a:off x="7516650" y="3935632"/>
            <a:ext cx="552334" cy="519142"/>
            <a:chOff x="8131589" y="4009362"/>
            <a:chExt cx="552334" cy="692189"/>
          </a:xfrm>
        </p:grpSpPr>
        <p:grpSp>
          <p:nvGrpSpPr>
            <p:cNvPr id="352" name="Group 65">
              <a:extLst>
                <a:ext uri="{FF2B5EF4-FFF2-40B4-BE49-F238E27FC236}">
                  <a16:creationId xmlns:a16="http://schemas.microsoft.com/office/drawing/2014/main" id="{581BE93C-8E42-4647-AF4B-3CE1CBFEC961}"/>
                </a:ext>
              </a:extLst>
            </p:cNvPr>
            <p:cNvGrpSpPr/>
            <p:nvPr/>
          </p:nvGrpSpPr>
          <p:grpSpPr>
            <a:xfrm>
              <a:off x="8131589" y="4009362"/>
              <a:ext cx="551591" cy="228624"/>
              <a:chOff x="7660968" y="1751777"/>
              <a:chExt cx="1040580" cy="450645"/>
            </a:xfrm>
          </p:grpSpPr>
          <p:sp>
            <p:nvSpPr>
              <p:cNvPr id="357" name="Freeform 356">
                <a:extLst>
                  <a:ext uri="{FF2B5EF4-FFF2-40B4-BE49-F238E27FC236}">
                    <a16:creationId xmlns:a16="http://schemas.microsoft.com/office/drawing/2014/main" id="{85C49E7B-A01D-954D-9E6E-A7DC0B98A36A}"/>
                  </a:ext>
                </a:extLst>
              </p:cNvPr>
              <p:cNvSpPr/>
              <p:nvPr/>
            </p:nvSpPr>
            <p:spPr>
              <a:xfrm>
                <a:off x="7660968" y="1751777"/>
                <a:ext cx="1040580" cy="450645"/>
              </a:xfrm>
              <a:custGeom>
                <a:avLst/>
                <a:gdLst>
                  <a:gd name="connsiteX0" fmla="*/ 0 w 1040580"/>
                  <a:gd name="connsiteY0" fmla="*/ 0 h 450645"/>
                  <a:gd name="connsiteX1" fmla="*/ 1040580 w 1040580"/>
                  <a:gd name="connsiteY1" fmla="*/ 8193 h 450645"/>
                  <a:gd name="connsiteX2" fmla="*/ 1032387 w 1040580"/>
                  <a:gd name="connsiteY2" fmla="*/ 450645 h 450645"/>
                  <a:gd name="connsiteX3" fmla="*/ 16387 w 1040580"/>
                  <a:gd name="connsiteY3" fmla="*/ 442451 h 450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0580" h="450645">
                    <a:moveTo>
                      <a:pt x="0" y="0"/>
                    </a:moveTo>
                    <a:lnTo>
                      <a:pt x="1040580" y="8193"/>
                    </a:lnTo>
                    <a:lnTo>
                      <a:pt x="1032387" y="450645"/>
                    </a:lnTo>
                    <a:lnTo>
                      <a:pt x="16387" y="442451"/>
                    </a:lnTo>
                  </a:path>
                </a:pathLst>
              </a:cu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cxnSp>
            <p:nvCxnSpPr>
              <p:cNvPr id="358" name="Straight Connector 357">
                <a:extLst>
                  <a:ext uri="{FF2B5EF4-FFF2-40B4-BE49-F238E27FC236}">
                    <a16:creationId xmlns:a16="http://schemas.microsoft.com/office/drawing/2014/main" id="{0FBC95AF-DA67-3845-9C0E-06F8D0EF9FCB}"/>
                  </a:ext>
                </a:extLst>
              </p:cNvPr>
              <p:cNvCxnSpPr/>
              <p:nvPr/>
            </p:nvCxnSpPr>
            <p:spPr>
              <a:xfrm>
                <a:off x="8501629" y="1751777"/>
                <a:ext cx="0" cy="450645"/>
              </a:xfrm>
              <a:prstGeom prst="line">
                <a:avLst/>
              </a:pr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91D65A84-7D19-4D44-995A-60D1C49A44F5}"/>
                  </a:ext>
                </a:extLst>
              </p:cNvPr>
              <p:cNvCxnSpPr/>
              <p:nvPr/>
            </p:nvCxnSpPr>
            <p:spPr>
              <a:xfrm>
                <a:off x="8268933" y="1751777"/>
                <a:ext cx="0" cy="450645"/>
              </a:xfrm>
              <a:prstGeom prst="line">
                <a:avLst/>
              </a:pr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</p:grpSp>
        <p:grpSp>
          <p:nvGrpSpPr>
            <p:cNvPr id="353" name="Group 70">
              <a:extLst>
                <a:ext uri="{FF2B5EF4-FFF2-40B4-BE49-F238E27FC236}">
                  <a16:creationId xmlns:a16="http://schemas.microsoft.com/office/drawing/2014/main" id="{6F1BA334-B1C7-F74E-B2C7-C0EC66D8F6B0}"/>
                </a:ext>
              </a:extLst>
            </p:cNvPr>
            <p:cNvGrpSpPr/>
            <p:nvPr/>
          </p:nvGrpSpPr>
          <p:grpSpPr>
            <a:xfrm>
              <a:off x="8132332" y="4472927"/>
              <a:ext cx="551591" cy="228624"/>
              <a:chOff x="7660968" y="1751777"/>
              <a:chExt cx="1040580" cy="450645"/>
            </a:xfrm>
          </p:grpSpPr>
          <p:sp>
            <p:nvSpPr>
              <p:cNvPr id="354" name="Freeform 353">
                <a:extLst>
                  <a:ext uri="{FF2B5EF4-FFF2-40B4-BE49-F238E27FC236}">
                    <a16:creationId xmlns:a16="http://schemas.microsoft.com/office/drawing/2014/main" id="{3D3161CF-CDD9-9349-9713-2F9EC7DD65A3}"/>
                  </a:ext>
                </a:extLst>
              </p:cNvPr>
              <p:cNvSpPr/>
              <p:nvPr/>
            </p:nvSpPr>
            <p:spPr>
              <a:xfrm>
                <a:off x="7660968" y="1751777"/>
                <a:ext cx="1040580" cy="450645"/>
              </a:xfrm>
              <a:custGeom>
                <a:avLst/>
                <a:gdLst>
                  <a:gd name="connsiteX0" fmla="*/ 0 w 1040580"/>
                  <a:gd name="connsiteY0" fmla="*/ 0 h 450645"/>
                  <a:gd name="connsiteX1" fmla="*/ 1040580 w 1040580"/>
                  <a:gd name="connsiteY1" fmla="*/ 8193 h 450645"/>
                  <a:gd name="connsiteX2" fmla="*/ 1032387 w 1040580"/>
                  <a:gd name="connsiteY2" fmla="*/ 450645 h 450645"/>
                  <a:gd name="connsiteX3" fmla="*/ 16387 w 1040580"/>
                  <a:gd name="connsiteY3" fmla="*/ 442451 h 450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0580" h="450645">
                    <a:moveTo>
                      <a:pt x="0" y="0"/>
                    </a:moveTo>
                    <a:lnTo>
                      <a:pt x="1040580" y="8193"/>
                    </a:lnTo>
                    <a:lnTo>
                      <a:pt x="1032387" y="450645"/>
                    </a:lnTo>
                    <a:lnTo>
                      <a:pt x="16387" y="442451"/>
                    </a:lnTo>
                  </a:path>
                </a:pathLst>
              </a:cu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cxnSp>
            <p:nvCxnSpPr>
              <p:cNvPr id="355" name="Straight Connector 354">
                <a:extLst>
                  <a:ext uri="{FF2B5EF4-FFF2-40B4-BE49-F238E27FC236}">
                    <a16:creationId xmlns:a16="http://schemas.microsoft.com/office/drawing/2014/main" id="{5D2A39C8-DA71-8440-82A6-1F90F2A5D37B}"/>
                  </a:ext>
                </a:extLst>
              </p:cNvPr>
              <p:cNvCxnSpPr/>
              <p:nvPr/>
            </p:nvCxnSpPr>
            <p:spPr>
              <a:xfrm>
                <a:off x="8501629" y="1751777"/>
                <a:ext cx="0" cy="450645"/>
              </a:xfrm>
              <a:prstGeom prst="line">
                <a:avLst/>
              </a:pr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  <p:cxnSp>
            <p:nvCxnSpPr>
              <p:cNvPr id="356" name="Straight Connector 355">
                <a:extLst>
                  <a:ext uri="{FF2B5EF4-FFF2-40B4-BE49-F238E27FC236}">
                    <a16:creationId xmlns:a16="http://schemas.microsoft.com/office/drawing/2014/main" id="{60ABAA2D-B713-8946-BDD2-B86C6087AA76}"/>
                  </a:ext>
                </a:extLst>
              </p:cNvPr>
              <p:cNvCxnSpPr/>
              <p:nvPr/>
            </p:nvCxnSpPr>
            <p:spPr>
              <a:xfrm>
                <a:off x="8268933" y="1751777"/>
                <a:ext cx="0" cy="450645"/>
              </a:xfrm>
              <a:prstGeom prst="line">
                <a:avLst/>
              </a:prstGeom>
              <a:noFill/>
              <a:ln w="254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</p:cxnSp>
        </p:grpSp>
      </p:grpSp>
      <p:cxnSp>
        <p:nvCxnSpPr>
          <p:cNvPr id="360" name="Straight Arrow Connector 359">
            <a:extLst>
              <a:ext uri="{FF2B5EF4-FFF2-40B4-BE49-F238E27FC236}">
                <a16:creationId xmlns:a16="http://schemas.microsoft.com/office/drawing/2014/main" id="{ECCE64D5-2FDA-2944-B52B-E15D99B92470}"/>
              </a:ext>
            </a:extLst>
          </p:cNvPr>
          <p:cNvCxnSpPr>
            <a:cxnSpLocks/>
            <a:endCxn id="255" idx="1"/>
          </p:cNvCxnSpPr>
          <p:nvPr/>
        </p:nvCxnSpPr>
        <p:spPr>
          <a:xfrm>
            <a:off x="1354116" y="3807275"/>
            <a:ext cx="407120" cy="4240"/>
          </a:xfrm>
          <a:prstGeom prst="straightConnector1">
            <a:avLst/>
          </a:prstGeom>
          <a:noFill/>
          <a:ln w="57150" cap="flat" cmpd="sng" algn="ctr">
            <a:solidFill>
              <a:srgbClr val="0000FF"/>
            </a:solidFill>
            <a:prstDash val="solid"/>
            <a:miter lim="800000"/>
            <a:tailEnd type="stealth"/>
          </a:ln>
          <a:effectLst/>
        </p:spPr>
      </p:cxnSp>
      <p:cxnSp>
        <p:nvCxnSpPr>
          <p:cNvPr id="361" name="Straight Arrow Connector 360">
            <a:extLst>
              <a:ext uri="{FF2B5EF4-FFF2-40B4-BE49-F238E27FC236}">
                <a16:creationId xmlns:a16="http://schemas.microsoft.com/office/drawing/2014/main" id="{B5DF6251-F7CA-554F-84CA-24AC74DF4D07}"/>
              </a:ext>
            </a:extLst>
          </p:cNvPr>
          <p:cNvCxnSpPr>
            <a:cxnSpLocks/>
          </p:cNvCxnSpPr>
          <p:nvPr/>
        </p:nvCxnSpPr>
        <p:spPr>
          <a:xfrm flipV="1">
            <a:off x="4301677" y="3822995"/>
            <a:ext cx="275612" cy="2418"/>
          </a:xfrm>
          <a:prstGeom prst="straightConnector1">
            <a:avLst/>
          </a:prstGeom>
          <a:noFill/>
          <a:ln w="57150" cap="flat" cmpd="sng" algn="ctr">
            <a:solidFill>
              <a:srgbClr val="0000FF"/>
            </a:solidFill>
            <a:prstDash val="solid"/>
            <a:miter lim="800000"/>
            <a:tailEnd type="stealth"/>
          </a:ln>
          <a:effectLst/>
        </p:spPr>
      </p:cxnSp>
      <p:cxnSp>
        <p:nvCxnSpPr>
          <p:cNvPr id="362" name="Straight Arrow Connector 361">
            <a:extLst>
              <a:ext uri="{FF2B5EF4-FFF2-40B4-BE49-F238E27FC236}">
                <a16:creationId xmlns:a16="http://schemas.microsoft.com/office/drawing/2014/main" id="{F3DF7373-78AD-8A42-BCA7-FFAF2AD53FE7}"/>
              </a:ext>
            </a:extLst>
          </p:cNvPr>
          <p:cNvCxnSpPr>
            <a:cxnSpLocks/>
          </p:cNvCxnSpPr>
          <p:nvPr/>
        </p:nvCxnSpPr>
        <p:spPr>
          <a:xfrm>
            <a:off x="5701630" y="3831612"/>
            <a:ext cx="280639" cy="344"/>
          </a:xfrm>
          <a:prstGeom prst="straightConnector1">
            <a:avLst/>
          </a:prstGeom>
          <a:noFill/>
          <a:ln w="57150" cap="flat" cmpd="sng" algn="ctr">
            <a:solidFill>
              <a:srgbClr val="0000FF"/>
            </a:solidFill>
            <a:prstDash val="solid"/>
            <a:miter lim="800000"/>
            <a:tailEnd type="stealth"/>
          </a:ln>
          <a:effectLst/>
        </p:spPr>
      </p:cxn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936E5FFB-5127-F141-B59C-EF58293B439B}"/>
              </a:ext>
            </a:extLst>
          </p:cNvPr>
          <p:cNvCxnSpPr>
            <a:cxnSpLocks/>
          </p:cNvCxnSpPr>
          <p:nvPr/>
        </p:nvCxnSpPr>
        <p:spPr>
          <a:xfrm>
            <a:off x="7106610" y="3831956"/>
            <a:ext cx="409297" cy="4765"/>
          </a:xfrm>
          <a:prstGeom prst="straightConnector1">
            <a:avLst/>
          </a:prstGeom>
          <a:noFill/>
          <a:ln w="57150" cap="flat" cmpd="sng" algn="ctr">
            <a:solidFill>
              <a:srgbClr val="0000FF"/>
            </a:solidFill>
            <a:prstDash val="solid"/>
            <a:miter lim="800000"/>
            <a:tailEnd type="stealth"/>
          </a:ln>
          <a:effectLst/>
        </p:spPr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AA8C0C8D-BCF3-ED48-8FC7-6007DA070790}"/>
              </a:ext>
            </a:extLst>
          </p:cNvPr>
          <p:cNvCxnSpPr>
            <a:cxnSpLocks/>
            <a:stCxn id="255" idx="3"/>
          </p:cNvCxnSpPr>
          <p:nvPr/>
        </p:nvCxnSpPr>
        <p:spPr>
          <a:xfrm>
            <a:off x="2885577" y="3801949"/>
            <a:ext cx="291760" cy="5282"/>
          </a:xfrm>
          <a:prstGeom prst="straightConnector1">
            <a:avLst/>
          </a:prstGeom>
          <a:noFill/>
          <a:ln w="57150" cap="flat" cmpd="sng" algn="ctr">
            <a:solidFill>
              <a:srgbClr val="0000FF"/>
            </a:solidFill>
            <a:prstDash val="solid"/>
            <a:miter lim="800000"/>
            <a:tailEnd type="stealth"/>
          </a:ln>
          <a:effectLst/>
        </p:spPr>
      </p:cxnSp>
      <p:sp>
        <p:nvSpPr>
          <p:cNvPr id="365" name="TextBox 364">
            <a:extLst>
              <a:ext uri="{FF2B5EF4-FFF2-40B4-BE49-F238E27FC236}">
                <a16:creationId xmlns:a16="http://schemas.microsoft.com/office/drawing/2014/main" id="{E3781C4A-BFD2-5A4F-A50C-47C3D9254E9F}"/>
              </a:ext>
            </a:extLst>
          </p:cNvPr>
          <p:cNvSpPr txBox="1"/>
          <p:nvPr/>
        </p:nvSpPr>
        <p:spPr>
          <a:xfrm>
            <a:off x="1802578" y="3047438"/>
            <a:ext cx="6719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fontAlgn="auto">
              <a:spcBef>
                <a:spcPts val="0"/>
              </a:spcBef>
              <a:spcAft>
                <a:spcPts val="0"/>
              </a:spcAft>
            </a:pPr>
            <a:r>
              <a:rPr lang="en-US" sz="1050" b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Memory</a:t>
            </a:r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A2C8030E-5F82-F64B-B8EB-44BC4DFDA52C}"/>
              </a:ext>
            </a:extLst>
          </p:cNvPr>
          <p:cNvSpPr txBox="1"/>
          <p:nvPr/>
        </p:nvSpPr>
        <p:spPr>
          <a:xfrm>
            <a:off x="2412647" y="3061185"/>
            <a:ext cx="44755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fontAlgn="auto">
              <a:spcBef>
                <a:spcPts val="0"/>
              </a:spcBef>
              <a:spcAft>
                <a:spcPts val="0"/>
              </a:spcAft>
            </a:pPr>
            <a:r>
              <a:rPr lang="en-US" sz="1050" b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ALU</a:t>
            </a:r>
          </a:p>
        </p:txBody>
      </p:sp>
      <p:sp>
        <p:nvSpPr>
          <p:cNvPr id="367" name="Rectangle 366">
            <a:extLst>
              <a:ext uri="{FF2B5EF4-FFF2-40B4-BE49-F238E27FC236}">
                <a16:creationId xmlns:a16="http://schemas.microsoft.com/office/drawing/2014/main" id="{97479213-F216-3D40-BCC7-2B22D01BC952}"/>
              </a:ext>
            </a:extLst>
          </p:cNvPr>
          <p:cNvSpPr/>
          <p:nvPr/>
        </p:nvSpPr>
        <p:spPr>
          <a:xfrm rot="16200000">
            <a:off x="276364" y="3591605"/>
            <a:ext cx="1745942" cy="420688"/>
          </a:xfrm>
          <a:prstGeom prst="rect">
            <a:avLst/>
          </a:prstGeom>
          <a:solidFill>
            <a:srgbClr val="FFC000"/>
          </a:solidFill>
          <a:ln w="635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116621" tIns="58311" rIns="116621" bIns="58311" rtlCol="0" anchor="ctr"/>
          <a:lstStyle/>
          <a:p>
            <a:pPr marL="0" marR="0" lvl="0" indent="0" algn="ctr" defTabSz="68580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i="0" u="none" strike="noStrike" kern="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Programmable</a:t>
            </a:r>
          </a:p>
          <a:p>
            <a:pPr marL="0" marR="0" lvl="0" indent="0" algn="ctr" defTabSz="685800" eaLnBrk="1" fontAlgn="auto" latinLnBrk="0" hangingPunct="1">
              <a:lnSpc>
                <a:spcPts val="14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i="0" u="none" strike="noStrike" kern="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Parser</a:t>
            </a:r>
          </a:p>
        </p:txBody>
      </p:sp>
      <p:grpSp>
        <p:nvGrpSpPr>
          <p:cNvPr id="368" name="Group 367">
            <a:extLst>
              <a:ext uri="{FF2B5EF4-FFF2-40B4-BE49-F238E27FC236}">
                <a16:creationId xmlns:a16="http://schemas.microsoft.com/office/drawing/2014/main" id="{FCBBE7F0-419A-BC40-908F-72D60054A639}"/>
              </a:ext>
            </a:extLst>
          </p:cNvPr>
          <p:cNvGrpSpPr/>
          <p:nvPr/>
        </p:nvGrpSpPr>
        <p:grpSpPr>
          <a:xfrm>
            <a:off x="-76200" y="1868446"/>
            <a:ext cx="2462534" cy="1250655"/>
            <a:chOff x="-151249" y="1086858"/>
            <a:chExt cx="3283379" cy="1667540"/>
          </a:xfrm>
        </p:grpSpPr>
        <p:sp>
          <p:nvSpPr>
            <p:cNvPr id="369" name="TextBox 368">
              <a:extLst>
                <a:ext uri="{FF2B5EF4-FFF2-40B4-BE49-F238E27FC236}">
                  <a16:creationId xmlns:a16="http://schemas.microsoft.com/office/drawing/2014/main" id="{1EAC51B5-1895-4B45-A19B-97DDBDBB3BAE}"/>
                </a:ext>
              </a:extLst>
            </p:cNvPr>
            <p:cNvSpPr txBox="1"/>
            <p:nvPr/>
          </p:nvSpPr>
          <p:spPr>
            <a:xfrm>
              <a:off x="-151249" y="1086858"/>
              <a:ext cx="3283379" cy="69762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Programmer declares which </a:t>
              </a:r>
            </a:p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headers are recognized</a:t>
              </a:r>
            </a:p>
          </p:txBody>
        </p:sp>
        <p:cxnSp>
          <p:nvCxnSpPr>
            <p:cNvPr id="370" name="Straight Arrow Connector 369">
              <a:extLst>
                <a:ext uri="{FF2B5EF4-FFF2-40B4-BE49-F238E27FC236}">
                  <a16:creationId xmlns:a16="http://schemas.microsoft.com/office/drawing/2014/main" id="{5D8D58C7-902A-D34A-B060-02551196B73D}"/>
                </a:ext>
              </a:extLst>
            </p:cNvPr>
            <p:cNvCxnSpPr>
              <a:cxnSpLocks/>
              <a:stCxn id="369" idx="2"/>
            </p:cNvCxnSpPr>
            <p:nvPr/>
          </p:nvCxnSpPr>
          <p:spPr>
            <a:xfrm>
              <a:off x="1490441" y="1784485"/>
              <a:ext cx="115107" cy="969913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</p:grp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340918D2-5EAE-9D4B-A398-263E0E5B3B85}"/>
              </a:ext>
            </a:extLst>
          </p:cNvPr>
          <p:cNvGrpSpPr/>
          <p:nvPr/>
        </p:nvGrpSpPr>
        <p:grpSpPr>
          <a:xfrm>
            <a:off x="1761244" y="1752600"/>
            <a:ext cx="5345375" cy="1066799"/>
            <a:chOff x="2298675" y="932397"/>
            <a:chExt cx="7127166" cy="1422399"/>
          </a:xfrm>
        </p:grpSpPr>
        <p:sp>
          <p:nvSpPr>
            <p:cNvPr id="372" name="Right Brace 371">
              <a:extLst>
                <a:ext uri="{FF2B5EF4-FFF2-40B4-BE49-F238E27FC236}">
                  <a16:creationId xmlns:a16="http://schemas.microsoft.com/office/drawing/2014/main" id="{AB4450D3-CA45-CE41-8C00-B295A6595E27}"/>
                </a:ext>
              </a:extLst>
            </p:cNvPr>
            <p:cNvSpPr/>
            <p:nvPr/>
          </p:nvSpPr>
          <p:spPr>
            <a:xfrm rot="16200000">
              <a:off x="5668154" y="-1402891"/>
              <a:ext cx="388208" cy="7127166"/>
            </a:xfrm>
            <a:prstGeom prst="rightBrace">
              <a:avLst>
                <a:gd name="adj1" fmla="val 109281"/>
                <a:gd name="adj2" fmla="val 48982"/>
              </a:avLst>
            </a:prstGeom>
            <a:noFill/>
            <a:ln w="12700" cap="flat" cmpd="sng" algn="ctr">
              <a:solidFill>
                <a:srgbClr val="0000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373" name="TextBox 372">
              <a:extLst>
                <a:ext uri="{FF2B5EF4-FFF2-40B4-BE49-F238E27FC236}">
                  <a16:creationId xmlns:a16="http://schemas.microsoft.com/office/drawing/2014/main" id="{5DF9CDB5-08FB-1441-8D69-E50E977DD21F}"/>
                </a:ext>
              </a:extLst>
            </p:cNvPr>
            <p:cNvSpPr txBox="1"/>
            <p:nvPr/>
          </p:nvSpPr>
          <p:spPr>
            <a:xfrm>
              <a:off x="2990578" y="932397"/>
              <a:ext cx="5589565" cy="69762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Programmer declares what</a:t>
              </a:r>
            </a:p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tables are needed and how packets are processed</a:t>
              </a:r>
            </a:p>
          </p:txBody>
        </p:sp>
        <p:cxnSp>
          <p:nvCxnSpPr>
            <p:cNvPr id="374" name="Straight Arrow Connector 373">
              <a:extLst>
                <a:ext uri="{FF2B5EF4-FFF2-40B4-BE49-F238E27FC236}">
                  <a16:creationId xmlns:a16="http://schemas.microsoft.com/office/drawing/2014/main" id="{1556FE78-6372-D541-8994-5708C3D36D91}"/>
                </a:ext>
              </a:extLst>
            </p:cNvPr>
            <p:cNvCxnSpPr>
              <a:stCxn id="373" idx="2"/>
              <a:endCxn id="372" idx="1"/>
            </p:cNvCxnSpPr>
            <p:nvPr/>
          </p:nvCxnSpPr>
          <p:spPr>
            <a:xfrm>
              <a:off x="5785360" y="1630024"/>
              <a:ext cx="4345" cy="336565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solid"/>
              <a:miter lim="800000"/>
              <a:tailEnd type="triangle"/>
            </a:ln>
            <a:effectLst/>
          </p:spPr>
        </p:cxnSp>
      </p:grpSp>
      <p:sp>
        <p:nvSpPr>
          <p:cNvPr id="375" name="TextBox 374">
            <a:extLst>
              <a:ext uri="{FF2B5EF4-FFF2-40B4-BE49-F238E27FC236}">
                <a16:creationId xmlns:a16="http://schemas.microsoft.com/office/drawing/2014/main" id="{1B75A47D-B5E7-9E42-AF50-DE313BB2B5BC}"/>
              </a:ext>
            </a:extLst>
          </p:cNvPr>
          <p:cNvSpPr txBox="1"/>
          <p:nvPr/>
        </p:nvSpPr>
        <p:spPr>
          <a:xfrm>
            <a:off x="481970" y="5296240"/>
            <a:ext cx="818006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fontAlgn="auto">
              <a:spcBef>
                <a:spcPts val="0"/>
              </a:spcBef>
              <a:spcAft>
                <a:spcPts val="0"/>
              </a:spcAft>
            </a:pPr>
            <a:r>
              <a:rPr lang="en-US" sz="2100" dirty="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stages </a:t>
            </a:r>
            <a:r>
              <a:rPr lang="en-US" sz="2100">
                <a:solidFill>
                  <a:srgbClr val="0000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identical – makes PISA a good “compiler target”</a:t>
            </a:r>
          </a:p>
        </p:txBody>
      </p: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2B1F38EF-72E9-A64F-9252-D55671487842}"/>
              </a:ext>
            </a:extLst>
          </p:cNvPr>
          <p:cNvGrpSpPr/>
          <p:nvPr/>
        </p:nvGrpSpPr>
        <p:grpSpPr>
          <a:xfrm>
            <a:off x="3156893" y="2994713"/>
            <a:ext cx="1124342" cy="1626876"/>
            <a:chOff x="1908358" y="3002385"/>
            <a:chExt cx="1124342" cy="1626876"/>
          </a:xfrm>
        </p:grpSpPr>
        <p:grpSp>
          <p:nvGrpSpPr>
            <p:cNvPr id="381" name="Group 380">
              <a:extLst>
                <a:ext uri="{FF2B5EF4-FFF2-40B4-BE49-F238E27FC236}">
                  <a16:creationId xmlns:a16="http://schemas.microsoft.com/office/drawing/2014/main" id="{2D0D6C45-5EB4-9646-B764-8A0A3E58B82E}"/>
                </a:ext>
              </a:extLst>
            </p:cNvPr>
            <p:cNvGrpSpPr/>
            <p:nvPr/>
          </p:nvGrpSpPr>
          <p:grpSpPr>
            <a:xfrm>
              <a:off x="1908358" y="3002385"/>
              <a:ext cx="1124342" cy="1626876"/>
              <a:chOff x="1485649" y="3204985"/>
              <a:chExt cx="1124341" cy="2169168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2634C318-DCD5-A245-A57B-662CD258A3B4}"/>
                  </a:ext>
                </a:extLst>
              </p:cNvPr>
              <p:cNvSpPr/>
              <p:nvPr/>
            </p:nvSpPr>
            <p:spPr>
              <a:xfrm>
                <a:off x="1492629" y="3216474"/>
                <a:ext cx="1117361" cy="2157679"/>
              </a:xfrm>
              <a:prstGeom prst="rect">
                <a:avLst/>
              </a:prstGeom>
              <a:solidFill>
                <a:srgbClr val="5B9BD5"/>
              </a:solidFill>
              <a:ln w="12700" cap="flat" cmpd="sng" algn="ctr">
                <a:solidFill>
                  <a:srgbClr val="5B9BD5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lIns="81639" tIns="40820" rIns="81639" bIns="40820"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5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6" name="Rectangle 395">
                <a:extLst>
                  <a:ext uri="{FF2B5EF4-FFF2-40B4-BE49-F238E27FC236}">
                    <a16:creationId xmlns:a16="http://schemas.microsoft.com/office/drawing/2014/main" id="{45977883-DD27-E74B-9161-3828E5062E7B}"/>
                  </a:ext>
                </a:extLst>
              </p:cNvPr>
              <p:cNvSpPr/>
              <p:nvPr/>
            </p:nvSpPr>
            <p:spPr>
              <a:xfrm>
                <a:off x="1485649" y="3204985"/>
                <a:ext cx="1124341" cy="2157680"/>
              </a:xfrm>
              <a:prstGeom prst="rect">
                <a:avLst/>
              </a:prstGeom>
              <a:solidFill>
                <a:srgbClr val="FFCB05">
                  <a:alpha val="70000"/>
                </a:srgbClr>
              </a:solidFill>
              <a:ln w="12700" cap="flat" cmpd="sng" algn="ctr">
                <a:solidFill>
                  <a:srgbClr val="D3A6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82" name="Group 381">
              <a:extLst>
                <a:ext uri="{FF2B5EF4-FFF2-40B4-BE49-F238E27FC236}">
                  <a16:creationId xmlns:a16="http://schemas.microsoft.com/office/drawing/2014/main" id="{AFA2340D-8F97-5448-BEF4-6B3D906B93C5}"/>
                </a:ext>
              </a:extLst>
            </p:cNvPr>
            <p:cNvGrpSpPr/>
            <p:nvPr/>
          </p:nvGrpSpPr>
          <p:grpSpPr>
            <a:xfrm>
              <a:off x="2018711" y="3078910"/>
              <a:ext cx="909363" cy="1479832"/>
              <a:chOff x="2449931" y="225721"/>
              <a:chExt cx="909363" cy="1973109"/>
            </a:xfrm>
          </p:grpSpPr>
          <p:sp>
            <p:nvSpPr>
              <p:cNvPr id="383" name="Rectangle 382">
                <a:extLst>
                  <a:ext uri="{FF2B5EF4-FFF2-40B4-BE49-F238E27FC236}">
                    <a16:creationId xmlns:a16="http://schemas.microsoft.com/office/drawing/2014/main" id="{66213FE3-583C-1249-94EA-1B9BCE0F3F42}"/>
                  </a:ext>
                </a:extLst>
              </p:cNvPr>
              <p:cNvSpPr/>
              <p:nvPr/>
            </p:nvSpPr>
            <p:spPr>
              <a:xfrm>
                <a:off x="2449931" y="225721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25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4" name="Rectangle 383">
                <a:extLst>
                  <a:ext uri="{FF2B5EF4-FFF2-40B4-BE49-F238E27FC236}">
                    <a16:creationId xmlns:a16="http://schemas.microsoft.com/office/drawing/2014/main" id="{69732217-70CC-9F41-B5A4-1D0705F5EE22}"/>
                  </a:ext>
                </a:extLst>
              </p:cNvPr>
              <p:cNvSpPr/>
              <p:nvPr/>
            </p:nvSpPr>
            <p:spPr>
              <a:xfrm>
                <a:off x="2449931" y="563134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5" name="Rectangle 384">
                <a:extLst>
                  <a:ext uri="{FF2B5EF4-FFF2-40B4-BE49-F238E27FC236}">
                    <a16:creationId xmlns:a16="http://schemas.microsoft.com/office/drawing/2014/main" id="{74A4C1D1-0AE3-BE41-AB55-D376EAA09CE6}"/>
                  </a:ext>
                </a:extLst>
              </p:cNvPr>
              <p:cNvSpPr/>
              <p:nvPr/>
            </p:nvSpPr>
            <p:spPr>
              <a:xfrm>
                <a:off x="2449931" y="902860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4E00C405-C950-1D46-A22E-C139EDF82E52}"/>
                  </a:ext>
                </a:extLst>
              </p:cNvPr>
              <p:cNvSpPr/>
              <p:nvPr/>
            </p:nvSpPr>
            <p:spPr>
              <a:xfrm>
                <a:off x="2449931" y="1244322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7" name="Rectangle 386">
                <a:extLst>
                  <a:ext uri="{FF2B5EF4-FFF2-40B4-BE49-F238E27FC236}">
                    <a16:creationId xmlns:a16="http://schemas.microsoft.com/office/drawing/2014/main" id="{1D05405C-3054-C24B-BCE8-8FAD5CB7DD56}"/>
                  </a:ext>
                </a:extLst>
              </p:cNvPr>
              <p:cNvSpPr/>
              <p:nvPr/>
            </p:nvSpPr>
            <p:spPr>
              <a:xfrm>
                <a:off x="2449931" y="1919144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8" name="Rectangle 387">
                <a:extLst>
                  <a:ext uri="{FF2B5EF4-FFF2-40B4-BE49-F238E27FC236}">
                    <a16:creationId xmlns:a16="http://schemas.microsoft.com/office/drawing/2014/main" id="{416C83FC-98BB-A14A-BB53-28120BB904DF}"/>
                  </a:ext>
                </a:extLst>
              </p:cNvPr>
              <p:cNvSpPr/>
              <p:nvPr/>
            </p:nvSpPr>
            <p:spPr>
              <a:xfrm>
                <a:off x="2449931" y="1581733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9" name="Trapezoid 388">
                <a:extLst>
                  <a:ext uri="{FF2B5EF4-FFF2-40B4-BE49-F238E27FC236}">
                    <a16:creationId xmlns:a16="http://schemas.microsoft.com/office/drawing/2014/main" id="{0260F25A-E0DE-D748-92E1-82D752692129}"/>
                  </a:ext>
                </a:extLst>
              </p:cNvPr>
              <p:cNvSpPr/>
              <p:nvPr/>
            </p:nvSpPr>
            <p:spPr>
              <a:xfrm rot="5400000">
                <a:off x="3080394" y="231171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0" name="Trapezoid 389">
                <a:extLst>
                  <a:ext uri="{FF2B5EF4-FFF2-40B4-BE49-F238E27FC236}">
                    <a16:creationId xmlns:a16="http://schemas.microsoft.com/office/drawing/2014/main" id="{41F6E46A-6D49-7A45-9F49-765386EB1206}"/>
                  </a:ext>
                </a:extLst>
              </p:cNvPr>
              <p:cNvSpPr/>
              <p:nvPr/>
            </p:nvSpPr>
            <p:spPr>
              <a:xfrm rot="5400000">
                <a:off x="3085058" y="568584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1" name="Trapezoid 390">
                <a:extLst>
                  <a:ext uri="{FF2B5EF4-FFF2-40B4-BE49-F238E27FC236}">
                    <a16:creationId xmlns:a16="http://schemas.microsoft.com/office/drawing/2014/main" id="{13A27BC4-DC66-F545-8B8C-5A5C3EE3CB47}"/>
                  </a:ext>
                </a:extLst>
              </p:cNvPr>
              <p:cNvSpPr/>
              <p:nvPr/>
            </p:nvSpPr>
            <p:spPr>
              <a:xfrm rot="5400000">
                <a:off x="3085058" y="908310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2" name="Trapezoid 391">
                <a:extLst>
                  <a:ext uri="{FF2B5EF4-FFF2-40B4-BE49-F238E27FC236}">
                    <a16:creationId xmlns:a16="http://schemas.microsoft.com/office/drawing/2014/main" id="{01E0F7CF-8D66-AA43-A4C1-1BABD4213500}"/>
                  </a:ext>
                </a:extLst>
              </p:cNvPr>
              <p:cNvSpPr/>
              <p:nvPr/>
            </p:nvSpPr>
            <p:spPr>
              <a:xfrm rot="5400000">
                <a:off x="3080394" y="1258723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3" name="Trapezoid 392">
                <a:extLst>
                  <a:ext uri="{FF2B5EF4-FFF2-40B4-BE49-F238E27FC236}">
                    <a16:creationId xmlns:a16="http://schemas.microsoft.com/office/drawing/2014/main" id="{4CEF48A4-ADFD-7544-98C0-143EA4447E5A}"/>
                  </a:ext>
                </a:extLst>
              </p:cNvPr>
              <p:cNvSpPr/>
              <p:nvPr/>
            </p:nvSpPr>
            <p:spPr>
              <a:xfrm rot="5400000">
                <a:off x="3080394" y="1587183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4" name="Trapezoid 393">
                <a:extLst>
                  <a:ext uri="{FF2B5EF4-FFF2-40B4-BE49-F238E27FC236}">
                    <a16:creationId xmlns:a16="http://schemas.microsoft.com/office/drawing/2014/main" id="{3DC5273D-81F4-804B-955F-7E6504CB57F2}"/>
                  </a:ext>
                </a:extLst>
              </p:cNvPr>
              <p:cNvSpPr/>
              <p:nvPr/>
            </p:nvSpPr>
            <p:spPr>
              <a:xfrm rot="5400000">
                <a:off x="3080394" y="1924594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721ACFE1-61B7-6348-801E-57AE443AD4EA}"/>
              </a:ext>
            </a:extLst>
          </p:cNvPr>
          <p:cNvGrpSpPr/>
          <p:nvPr/>
        </p:nvGrpSpPr>
        <p:grpSpPr>
          <a:xfrm>
            <a:off x="4568036" y="2982689"/>
            <a:ext cx="1124342" cy="1626876"/>
            <a:chOff x="1908358" y="3002385"/>
            <a:chExt cx="1124342" cy="1626876"/>
          </a:xfrm>
        </p:grpSpPr>
        <p:grpSp>
          <p:nvGrpSpPr>
            <p:cNvPr id="398" name="Group 397">
              <a:extLst>
                <a:ext uri="{FF2B5EF4-FFF2-40B4-BE49-F238E27FC236}">
                  <a16:creationId xmlns:a16="http://schemas.microsoft.com/office/drawing/2014/main" id="{E7DECBC4-B4DE-6B45-A74D-D1A797EFBE85}"/>
                </a:ext>
              </a:extLst>
            </p:cNvPr>
            <p:cNvGrpSpPr/>
            <p:nvPr/>
          </p:nvGrpSpPr>
          <p:grpSpPr>
            <a:xfrm>
              <a:off x="1908358" y="3002385"/>
              <a:ext cx="1124342" cy="1626876"/>
              <a:chOff x="1485649" y="3204985"/>
              <a:chExt cx="1124341" cy="2169168"/>
            </a:xfrm>
          </p:grpSpPr>
          <p:sp>
            <p:nvSpPr>
              <p:cNvPr id="412" name="Rectangle 411">
                <a:extLst>
                  <a:ext uri="{FF2B5EF4-FFF2-40B4-BE49-F238E27FC236}">
                    <a16:creationId xmlns:a16="http://schemas.microsoft.com/office/drawing/2014/main" id="{05772F61-4438-4E4C-93A2-54D060FABF65}"/>
                  </a:ext>
                </a:extLst>
              </p:cNvPr>
              <p:cNvSpPr/>
              <p:nvPr/>
            </p:nvSpPr>
            <p:spPr>
              <a:xfrm>
                <a:off x="1492629" y="3216474"/>
                <a:ext cx="1117361" cy="2157679"/>
              </a:xfrm>
              <a:prstGeom prst="rect">
                <a:avLst/>
              </a:prstGeom>
              <a:solidFill>
                <a:srgbClr val="5B9BD5"/>
              </a:solidFill>
              <a:ln w="12700" cap="flat" cmpd="sng" algn="ctr">
                <a:solidFill>
                  <a:srgbClr val="5B9BD5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lIns="81639" tIns="40820" rIns="81639" bIns="40820"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5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3" name="Rectangle 412">
                <a:extLst>
                  <a:ext uri="{FF2B5EF4-FFF2-40B4-BE49-F238E27FC236}">
                    <a16:creationId xmlns:a16="http://schemas.microsoft.com/office/drawing/2014/main" id="{481C7B6B-7017-C94E-A58E-4D08869C8F9A}"/>
                  </a:ext>
                </a:extLst>
              </p:cNvPr>
              <p:cNvSpPr/>
              <p:nvPr/>
            </p:nvSpPr>
            <p:spPr>
              <a:xfrm>
                <a:off x="1485649" y="3204985"/>
                <a:ext cx="1124341" cy="2157680"/>
              </a:xfrm>
              <a:prstGeom prst="rect">
                <a:avLst/>
              </a:prstGeom>
              <a:solidFill>
                <a:srgbClr val="FFCB05">
                  <a:alpha val="70000"/>
                </a:srgbClr>
              </a:solidFill>
              <a:ln w="12700" cap="flat" cmpd="sng" algn="ctr">
                <a:solidFill>
                  <a:srgbClr val="D3A6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399" name="Group 398">
              <a:extLst>
                <a:ext uri="{FF2B5EF4-FFF2-40B4-BE49-F238E27FC236}">
                  <a16:creationId xmlns:a16="http://schemas.microsoft.com/office/drawing/2014/main" id="{271A345F-4B03-2D4B-8C1B-1B37FD4FA691}"/>
                </a:ext>
              </a:extLst>
            </p:cNvPr>
            <p:cNvGrpSpPr/>
            <p:nvPr/>
          </p:nvGrpSpPr>
          <p:grpSpPr>
            <a:xfrm>
              <a:off x="2018711" y="3078910"/>
              <a:ext cx="909363" cy="1479832"/>
              <a:chOff x="2449931" y="225721"/>
              <a:chExt cx="909363" cy="1973109"/>
            </a:xfrm>
          </p:grpSpPr>
          <p:sp>
            <p:nvSpPr>
              <p:cNvPr id="400" name="Rectangle 399">
                <a:extLst>
                  <a:ext uri="{FF2B5EF4-FFF2-40B4-BE49-F238E27FC236}">
                    <a16:creationId xmlns:a16="http://schemas.microsoft.com/office/drawing/2014/main" id="{E6A43E5E-DA8C-0E4A-A9CD-0D1274B8038B}"/>
                  </a:ext>
                </a:extLst>
              </p:cNvPr>
              <p:cNvSpPr/>
              <p:nvPr/>
            </p:nvSpPr>
            <p:spPr>
              <a:xfrm>
                <a:off x="2449931" y="225721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25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1" name="Rectangle 400">
                <a:extLst>
                  <a:ext uri="{FF2B5EF4-FFF2-40B4-BE49-F238E27FC236}">
                    <a16:creationId xmlns:a16="http://schemas.microsoft.com/office/drawing/2014/main" id="{4A2DE725-DE5F-C548-9968-C7C6497467A5}"/>
                  </a:ext>
                </a:extLst>
              </p:cNvPr>
              <p:cNvSpPr/>
              <p:nvPr/>
            </p:nvSpPr>
            <p:spPr>
              <a:xfrm>
                <a:off x="2449931" y="563134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2" name="Rectangle 401">
                <a:extLst>
                  <a:ext uri="{FF2B5EF4-FFF2-40B4-BE49-F238E27FC236}">
                    <a16:creationId xmlns:a16="http://schemas.microsoft.com/office/drawing/2014/main" id="{9750A9E0-CB9C-3146-A442-97EF20841996}"/>
                  </a:ext>
                </a:extLst>
              </p:cNvPr>
              <p:cNvSpPr/>
              <p:nvPr/>
            </p:nvSpPr>
            <p:spPr>
              <a:xfrm>
                <a:off x="2449931" y="902860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3" name="Rectangle 402">
                <a:extLst>
                  <a:ext uri="{FF2B5EF4-FFF2-40B4-BE49-F238E27FC236}">
                    <a16:creationId xmlns:a16="http://schemas.microsoft.com/office/drawing/2014/main" id="{22E28DA6-1E31-454E-8637-0283A0DA227D}"/>
                  </a:ext>
                </a:extLst>
              </p:cNvPr>
              <p:cNvSpPr/>
              <p:nvPr/>
            </p:nvSpPr>
            <p:spPr>
              <a:xfrm>
                <a:off x="2449931" y="1244322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4" name="Rectangle 403">
                <a:extLst>
                  <a:ext uri="{FF2B5EF4-FFF2-40B4-BE49-F238E27FC236}">
                    <a16:creationId xmlns:a16="http://schemas.microsoft.com/office/drawing/2014/main" id="{4BC69B4C-DD0F-5E4A-A6FA-29B3DA2C7A3A}"/>
                  </a:ext>
                </a:extLst>
              </p:cNvPr>
              <p:cNvSpPr/>
              <p:nvPr/>
            </p:nvSpPr>
            <p:spPr>
              <a:xfrm>
                <a:off x="2449931" y="1919144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5" name="Rectangle 404">
                <a:extLst>
                  <a:ext uri="{FF2B5EF4-FFF2-40B4-BE49-F238E27FC236}">
                    <a16:creationId xmlns:a16="http://schemas.microsoft.com/office/drawing/2014/main" id="{FB0359FA-ECC8-6549-BE7E-223528115C11}"/>
                  </a:ext>
                </a:extLst>
              </p:cNvPr>
              <p:cNvSpPr/>
              <p:nvPr/>
            </p:nvSpPr>
            <p:spPr>
              <a:xfrm>
                <a:off x="2449931" y="1581733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6" name="Trapezoid 405">
                <a:extLst>
                  <a:ext uri="{FF2B5EF4-FFF2-40B4-BE49-F238E27FC236}">
                    <a16:creationId xmlns:a16="http://schemas.microsoft.com/office/drawing/2014/main" id="{BAA17843-2D6E-B64D-BBC7-3F62AF783159}"/>
                  </a:ext>
                </a:extLst>
              </p:cNvPr>
              <p:cNvSpPr/>
              <p:nvPr/>
            </p:nvSpPr>
            <p:spPr>
              <a:xfrm rot="5400000">
                <a:off x="3080394" y="231171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7" name="Trapezoid 406">
                <a:extLst>
                  <a:ext uri="{FF2B5EF4-FFF2-40B4-BE49-F238E27FC236}">
                    <a16:creationId xmlns:a16="http://schemas.microsoft.com/office/drawing/2014/main" id="{59919433-5B66-C74F-B1D4-3017BDE2EC4F}"/>
                  </a:ext>
                </a:extLst>
              </p:cNvPr>
              <p:cNvSpPr/>
              <p:nvPr/>
            </p:nvSpPr>
            <p:spPr>
              <a:xfrm rot="5400000">
                <a:off x="3085058" y="568584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8" name="Trapezoid 407">
                <a:extLst>
                  <a:ext uri="{FF2B5EF4-FFF2-40B4-BE49-F238E27FC236}">
                    <a16:creationId xmlns:a16="http://schemas.microsoft.com/office/drawing/2014/main" id="{ADC641F2-03C4-634C-9CF6-8E4CBBAD513A}"/>
                  </a:ext>
                </a:extLst>
              </p:cNvPr>
              <p:cNvSpPr/>
              <p:nvPr/>
            </p:nvSpPr>
            <p:spPr>
              <a:xfrm rot="5400000">
                <a:off x="3085058" y="908310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9" name="Trapezoid 408">
                <a:extLst>
                  <a:ext uri="{FF2B5EF4-FFF2-40B4-BE49-F238E27FC236}">
                    <a16:creationId xmlns:a16="http://schemas.microsoft.com/office/drawing/2014/main" id="{A3E65B3A-49ED-964F-8AAF-9F2AB91AD581}"/>
                  </a:ext>
                </a:extLst>
              </p:cNvPr>
              <p:cNvSpPr/>
              <p:nvPr/>
            </p:nvSpPr>
            <p:spPr>
              <a:xfrm rot="5400000">
                <a:off x="3080394" y="1258723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0" name="Trapezoid 409">
                <a:extLst>
                  <a:ext uri="{FF2B5EF4-FFF2-40B4-BE49-F238E27FC236}">
                    <a16:creationId xmlns:a16="http://schemas.microsoft.com/office/drawing/2014/main" id="{8334A7A6-D014-CD47-9F8E-C36E9F46C5A6}"/>
                  </a:ext>
                </a:extLst>
              </p:cNvPr>
              <p:cNvSpPr/>
              <p:nvPr/>
            </p:nvSpPr>
            <p:spPr>
              <a:xfrm rot="5400000">
                <a:off x="3080394" y="1587183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1" name="Trapezoid 410">
                <a:extLst>
                  <a:ext uri="{FF2B5EF4-FFF2-40B4-BE49-F238E27FC236}">
                    <a16:creationId xmlns:a16="http://schemas.microsoft.com/office/drawing/2014/main" id="{53B7947B-ED5E-C649-B8BD-E5F596A796D3}"/>
                  </a:ext>
                </a:extLst>
              </p:cNvPr>
              <p:cNvSpPr/>
              <p:nvPr/>
            </p:nvSpPr>
            <p:spPr>
              <a:xfrm rot="5400000">
                <a:off x="3080394" y="1924594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414" name="Group 413">
            <a:extLst>
              <a:ext uri="{FF2B5EF4-FFF2-40B4-BE49-F238E27FC236}">
                <a16:creationId xmlns:a16="http://schemas.microsoft.com/office/drawing/2014/main" id="{F948BDC4-26C7-E846-B9D1-2E39AEAF5DD9}"/>
              </a:ext>
            </a:extLst>
          </p:cNvPr>
          <p:cNvGrpSpPr/>
          <p:nvPr/>
        </p:nvGrpSpPr>
        <p:grpSpPr>
          <a:xfrm>
            <a:off x="5981873" y="2982689"/>
            <a:ext cx="1124342" cy="1626876"/>
            <a:chOff x="1908358" y="3002385"/>
            <a:chExt cx="1124342" cy="1626876"/>
          </a:xfrm>
        </p:grpSpPr>
        <p:grpSp>
          <p:nvGrpSpPr>
            <p:cNvPr id="415" name="Group 414">
              <a:extLst>
                <a:ext uri="{FF2B5EF4-FFF2-40B4-BE49-F238E27FC236}">
                  <a16:creationId xmlns:a16="http://schemas.microsoft.com/office/drawing/2014/main" id="{A927E1FC-3BE2-FA4C-A0D9-39ABE954EB73}"/>
                </a:ext>
              </a:extLst>
            </p:cNvPr>
            <p:cNvGrpSpPr/>
            <p:nvPr/>
          </p:nvGrpSpPr>
          <p:grpSpPr>
            <a:xfrm>
              <a:off x="1908358" y="3002385"/>
              <a:ext cx="1124342" cy="1626876"/>
              <a:chOff x="1485649" y="3204985"/>
              <a:chExt cx="1124341" cy="2169168"/>
            </a:xfrm>
          </p:grpSpPr>
          <p:sp>
            <p:nvSpPr>
              <p:cNvPr id="429" name="Rectangle 428">
                <a:extLst>
                  <a:ext uri="{FF2B5EF4-FFF2-40B4-BE49-F238E27FC236}">
                    <a16:creationId xmlns:a16="http://schemas.microsoft.com/office/drawing/2014/main" id="{DB2760C1-F7B2-084A-BC06-0AAC71262DF6}"/>
                  </a:ext>
                </a:extLst>
              </p:cNvPr>
              <p:cNvSpPr/>
              <p:nvPr/>
            </p:nvSpPr>
            <p:spPr>
              <a:xfrm>
                <a:off x="1492629" y="3216474"/>
                <a:ext cx="1117361" cy="2157679"/>
              </a:xfrm>
              <a:prstGeom prst="rect">
                <a:avLst/>
              </a:prstGeom>
              <a:solidFill>
                <a:srgbClr val="5B9BD5"/>
              </a:solidFill>
              <a:ln w="12700" cap="flat" cmpd="sng" algn="ctr">
                <a:solidFill>
                  <a:srgbClr val="5B9BD5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lIns="81639" tIns="40820" rIns="81639" bIns="40820"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5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0" name="Rectangle 429">
                <a:extLst>
                  <a:ext uri="{FF2B5EF4-FFF2-40B4-BE49-F238E27FC236}">
                    <a16:creationId xmlns:a16="http://schemas.microsoft.com/office/drawing/2014/main" id="{37BA4E89-79FD-BE4C-98CC-E38B641E9819}"/>
                  </a:ext>
                </a:extLst>
              </p:cNvPr>
              <p:cNvSpPr/>
              <p:nvPr/>
            </p:nvSpPr>
            <p:spPr>
              <a:xfrm>
                <a:off x="1485649" y="3204985"/>
                <a:ext cx="1124341" cy="2157680"/>
              </a:xfrm>
              <a:prstGeom prst="rect">
                <a:avLst/>
              </a:prstGeom>
              <a:solidFill>
                <a:srgbClr val="FFCB05">
                  <a:alpha val="70000"/>
                </a:srgbClr>
              </a:solidFill>
              <a:ln w="12700" cap="flat" cmpd="sng" algn="ctr">
                <a:solidFill>
                  <a:srgbClr val="D3A6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16" name="Group 415">
              <a:extLst>
                <a:ext uri="{FF2B5EF4-FFF2-40B4-BE49-F238E27FC236}">
                  <a16:creationId xmlns:a16="http://schemas.microsoft.com/office/drawing/2014/main" id="{96D83746-B821-4340-A872-76266EC61235}"/>
                </a:ext>
              </a:extLst>
            </p:cNvPr>
            <p:cNvGrpSpPr/>
            <p:nvPr/>
          </p:nvGrpSpPr>
          <p:grpSpPr>
            <a:xfrm>
              <a:off x="2018711" y="3078910"/>
              <a:ext cx="909363" cy="1479832"/>
              <a:chOff x="2449931" y="225721"/>
              <a:chExt cx="909363" cy="1973109"/>
            </a:xfrm>
          </p:grpSpPr>
          <p:sp>
            <p:nvSpPr>
              <p:cNvPr id="417" name="Rectangle 416">
                <a:extLst>
                  <a:ext uri="{FF2B5EF4-FFF2-40B4-BE49-F238E27FC236}">
                    <a16:creationId xmlns:a16="http://schemas.microsoft.com/office/drawing/2014/main" id="{E556A61E-8899-8742-910B-51AA99482F95}"/>
                  </a:ext>
                </a:extLst>
              </p:cNvPr>
              <p:cNvSpPr/>
              <p:nvPr/>
            </p:nvSpPr>
            <p:spPr>
              <a:xfrm>
                <a:off x="2449931" y="225721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825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8" name="Rectangle 417">
                <a:extLst>
                  <a:ext uri="{FF2B5EF4-FFF2-40B4-BE49-F238E27FC236}">
                    <a16:creationId xmlns:a16="http://schemas.microsoft.com/office/drawing/2014/main" id="{D85F684A-8934-9748-B2E7-68D0A9DE858B}"/>
                  </a:ext>
                </a:extLst>
              </p:cNvPr>
              <p:cNvSpPr/>
              <p:nvPr/>
            </p:nvSpPr>
            <p:spPr>
              <a:xfrm>
                <a:off x="2449931" y="563134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9" name="Rectangle 418">
                <a:extLst>
                  <a:ext uri="{FF2B5EF4-FFF2-40B4-BE49-F238E27FC236}">
                    <a16:creationId xmlns:a16="http://schemas.microsoft.com/office/drawing/2014/main" id="{1A381042-922F-DC49-A541-E5F341B0698F}"/>
                  </a:ext>
                </a:extLst>
              </p:cNvPr>
              <p:cNvSpPr/>
              <p:nvPr/>
            </p:nvSpPr>
            <p:spPr>
              <a:xfrm>
                <a:off x="2449931" y="902860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0" name="Rectangle 419">
                <a:extLst>
                  <a:ext uri="{FF2B5EF4-FFF2-40B4-BE49-F238E27FC236}">
                    <a16:creationId xmlns:a16="http://schemas.microsoft.com/office/drawing/2014/main" id="{0DF595AB-CA69-5440-AB83-69A89D67A806}"/>
                  </a:ext>
                </a:extLst>
              </p:cNvPr>
              <p:cNvSpPr/>
              <p:nvPr/>
            </p:nvSpPr>
            <p:spPr>
              <a:xfrm>
                <a:off x="2449931" y="1244322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1" name="Rectangle 420">
                <a:extLst>
                  <a:ext uri="{FF2B5EF4-FFF2-40B4-BE49-F238E27FC236}">
                    <a16:creationId xmlns:a16="http://schemas.microsoft.com/office/drawing/2014/main" id="{FA1ADBCF-4F4E-BC43-8A48-848C36A0DC73}"/>
                  </a:ext>
                </a:extLst>
              </p:cNvPr>
              <p:cNvSpPr/>
              <p:nvPr/>
            </p:nvSpPr>
            <p:spPr>
              <a:xfrm>
                <a:off x="2449931" y="1919144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2" name="Rectangle 421">
                <a:extLst>
                  <a:ext uri="{FF2B5EF4-FFF2-40B4-BE49-F238E27FC236}">
                    <a16:creationId xmlns:a16="http://schemas.microsoft.com/office/drawing/2014/main" id="{550C3071-10C1-2449-A0B5-D75B0F766BD2}"/>
                  </a:ext>
                </a:extLst>
              </p:cNvPr>
              <p:cNvSpPr/>
              <p:nvPr/>
            </p:nvSpPr>
            <p:spPr>
              <a:xfrm>
                <a:off x="2449931" y="1581733"/>
                <a:ext cx="527194" cy="279686"/>
              </a:xfrm>
              <a:prstGeom prst="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3" name="Trapezoid 422">
                <a:extLst>
                  <a:ext uri="{FF2B5EF4-FFF2-40B4-BE49-F238E27FC236}">
                    <a16:creationId xmlns:a16="http://schemas.microsoft.com/office/drawing/2014/main" id="{B0E7ABFF-93BC-AC48-AE19-43A6BFCEC8E3}"/>
                  </a:ext>
                </a:extLst>
              </p:cNvPr>
              <p:cNvSpPr/>
              <p:nvPr/>
            </p:nvSpPr>
            <p:spPr>
              <a:xfrm rot="5400000">
                <a:off x="3080394" y="231171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4" name="Trapezoid 423">
                <a:extLst>
                  <a:ext uri="{FF2B5EF4-FFF2-40B4-BE49-F238E27FC236}">
                    <a16:creationId xmlns:a16="http://schemas.microsoft.com/office/drawing/2014/main" id="{84E6191D-7CAC-C240-B34E-714AA4A676BC}"/>
                  </a:ext>
                </a:extLst>
              </p:cNvPr>
              <p:cNvSpPr/>
              <p:nvPr/>
            </p:nvSpPr>
            <p:spPr>
              <a:xfrm rot="5400000">
                <a:off x="3085058" y="568584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5" name="Trapezoid 424">
                <a:extLst>
                  <a:ext uri="{FF2B5EF4-FFF2-40B4-BE49-F238E27FC236}">
                    <a16:creationId xmlns:a16="http://schemas.microsoft.com/office/drawing/2014/main" id="{A6082EB5-4B43-734D-ACF5-A2FC683F4A87}"/>
                  </a:ext>
                </a:extLst>
              </p:cNvPr>
              <p:cNvSpPr/>
              <p:nvPr/>
            </p:nvSpPr>
            <p:spPr>
              <a:xfrm rot="5400000">
                <a:off x="3085058" y="908310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6" name="Trapezoid 425">
                <a:extLst>
                  <a:ext uri="{FF2B5EF4-FFF2-40B4-BE49-F238E27FC236}">
                    <a16:creationId xmlns:a16="http://schemas.microsoft.com/office/drawing/2014/main" id="{C410E377-3307-DE4C-BAC3-9377E44F5E17}"/>
                  </a:ext>
                </a:extLst>
              </p:cNvPr>
              <p:cNvSpPr/>
              <p:nvPr/>
            </p:nvSpPr>
            <p:spPr>
              <a:xfrm rot="5400000">
                <a:off x="3080394" y="1258723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7" name="Trapezoid 426">
                <a:extLst>
                  <a:ext uri="{FF2B5EF4-FFF2-40B4-BE49-F238E27FC236}">
                    <a16:creationId xmlns:a16="http://schemas.microsoft.com/office/drawing/2014/main" id="{785804E5-77DB-FE49-B0DA-819DE38718F8}"/>
                  </a:ext>
                </a:extLst>
              </p:cNvPr>
              <p:cNvSpPr/>
              <p:nvPr/>
            </p:nvSpPr>
            <p:spPr>
              <a:xfrm rot="5400000">
                <a:off x="3080394" y="1587183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8" name="Trapezoid 427">
                <a:extLst>
                  <a:ext uri="{FF2B5EF4-FFF2-40B4-BE49-F238E27FC236}">
                    <a16:creationId xmlns:a16="http://schemas.microsoft.com/office/drawing/2014/main" id="{8000D2D7-8954-1548-86A6-ACBA9BBE80A1}"/>
                  </a:ext>
                </a:extLst>
              </p:cNvPr>
              <p:cNvSpPr/>
              <p:nvPr/>
            </p:nvSpPr>
            <p:spPr>
              <a:xfrm rot="5400000">
                <a:off x="3080394" y="1924594"/>
                <a:ext cx="279686" cy="268786"/>
              </a:xfrm>
              <a:prstGeom prst="trapezoid">
                <a:avLst>
                  <a:gd name="adj" fmla="val 30807"/>
                </a:avLst>
              </a:prstGeom>
              <a:solidFill>
                <a:schemeClr val="tx1">
                  <a:lumMod val="20000"/>
                  <a:lumOff val="80000"/>
                </a:schemeClr>
              </a:solidFill>
              <a:ln w="6350" cap="flat" cmpd="sng" algn="ctr">
                <a:solidFill>
                  <a:schemeClr val="tx2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6858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125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94760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" grpId="0"/>
      <p:bldP spid="365" grpId="0"/>
      <p:bldP spid="366" grpId="0"/>
      <p:bldP spid="37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0FF5127-D926-D34B-A27D-E982DA64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How’s programmability used today?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C17DD5-7EDA-1148-A238-2F5BAC792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features to reduce complexity</a:t>
            </a:r>
          </a:p>
          <a:p>
            <a:r>
              <a:rPr lang="en-US" dirty="0"/>
              <a:t>Add proprietary features </a:t>
            </a:r>
          </a:p>
          <a:p>
            <a:r>
              <a:rPr lang="en-US" dirty="0"/>
              <a:t>Silicon independence or avoid vendor lock-in</a:t>
            </a:r>
          </a:p>
          <a:p>
            <a:r>
              <a:rPr lang="en-US" dirty="0"/>
              <a:t>Telemetry and measurements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2DFE07-D7C7-F74C-80FE-A7B79AB5BC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80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727DB-5F4B-D346-A22C-27B9B18A2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In-band network telemetry (INT)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72B1C-23F3-BA49-A546-3CCD68CD9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“Which path did my packet take?”</a:t>
            </a:r>
          </a:p>
          <a:p>
            <a:r>
              <a:rPr lang="en-US" dirty="0"/>
              <a:t>“Which rules did my packet follow?”</a:t>
            </a:r>
          </a:p>
          <a:p>
            <a:r>
              <a:rPr lang="en-US" dirty="0">
                <a:solidFill>
                  <a:srgbClr val="0000FF"/>
                </a:solidFill>
              </a:rPr>
              <a:t>“How long did it queue at each switch?”</a:t>
            </a:r>
          </a:p>
          <a:p>
            <a:r>
              <a:rPr lang="en-US" dirty="0"/>
              <a:t>“Who did it share the queues with?”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F6675D-992C-0648-B37E-9FCB5C8E63A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4944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E4283-4140-A646-AEBE-431EEFF0B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2EEE6-D38B-F84E-B73A-54AD2569A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of the earlier incarnation of programmable networks was in mid 90s</a:t>
            </a:r>
          </a:p>
          <a:p>
            <a:pPr lvl="1"/>
            <a:r>
              <a:rPr lang="en-US" dirty="0"/>
              <a:t>Active networks</a:t>
            </a:r>
          </a:p>
          <a:p>
            <a:endParaRPr lang="en-US" dirty="0"/>
          </a:p>
          <a:p>
            <a:r>
              <a:rPr lang="en-US" dirty="0"/>
              <a:t>What’s changed after two+ decades?</a:t>
            </a:r>
          </a:p>
          <a:p>
            <a:pPr lvl="1"/>
            <a:r>
              <a:rPr lang="en-US" b="1" dirty="0">
                <a:solidFill>
                  <a:srgbClr val="0000FF"/>
                </a:solidFill>
              </a:rPr>
              <a:t>Hardware:</a:t>
            </a:r>
            <a:r>
              <a:rPr lang="en-US" dirty="0"/>
              <a:t> We can now make programmable switches as fast as fixed ones</a:t>
            </a:r>
          </a:p>
          <a:p>
            <a:pPr lvl="1"/>
            <a:r>
              <a:rPr lang="en-US" b="1" dirty="0">
                <a:solidFill>
                  <a:srgbClr val="0000FF"/>
                </a:solidFill>
              </a:rPr>
              <a:t>Software:</a:t>
            </a:r>
            <a:r>
              <a:rPr lang="en-US" dirty="0"/>
              <a:t> We have found a (so far) reasonable balance between programmability, performance, and security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B51EEE-9C3A-7843-93F6-FA4D6BAE84C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8089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03089-0B4E-8831-CB67-2176DD63C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now?...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AFCE81-875A-3A7B-739F-61A0236BA2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2895600"/>
          </a:xfrm>
        </p:spPr>
        <p:txBody>
          <a:bodyPr/>
          <a:lstStyle/>
          <a:p>
            <a:r>
              <a:rPr lang="en-US" altLang="zh-CN" dirty="0"/>
              <a:t>Barefoot</a:t>
            </a:r>
            <a:r>
              <a:rPr lang="zh-CN" altLang="en-US" dirty="0"/>
              <a:t> </a:t>
            </a:r>
            <a:r>
              <a:rPr lang="en-US" altLang="zh-CN" dirty="0"/>
              <a:t>Networks</a:t>
            </a:r>
            <a:r>
              <a:rPr lang="zh-CN" altLang="en-US" dirty="0"/>
              <a:t> </a:t>
            </a:r>
            <a:r>
              <a:rPr lang="en-US" altLang="zh-CN" dirty="0"/>
              <a:t>was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company</a:t>
            </a:r>
            <a:r>
              <a:rPr lang="zh-CN" altLang="en-US" dirty="0"/>
              <a:t> </a:t>
            </a:r>
            <a:r>
              <a:rPr lang="en-US" altLang="zh-CN" dirty="0"/>
              <a:t>that</a:t>
            </a:r>
            <a:r>
              <a:rPr lang="zh-CN" altLang="en-US" dirty="0"/>
              <a:t> </a:t>
            </a:r>
            <a:r>
              <a:rPr lang="en-US" altLang="zh-CN" dirty="0"/>
              <a:t>designs</a:t>
            </a:r>
            <a:r>
              <a:rPr lang="zh-CN" altLang="en-US" dirty="0"/>
              <a:t> </a:t>
            </a:r>
            <a:r>
              <a:rPr lang="en-US" altLang="zh-CN" dirty="0"/>
              <a:t>programmable</a:t>
            </a:r>
            <a:r>
              <a:rPr lang="zh-CN" altLang="en-US" dirty="0"/>
              <a:t> </a:t>
            </a:r>
            <a:r>
              <a:rPr lang="en-US" altLang="zh-CN" dirty="0"/>
              <a:t>switching</a:t>
            </a:r>
            <a:r>
              <a:rPr lang="zh-CN" altLang="en-US" dirty="0"/>
              <a:t> </a:t>
            </a:r>
            <a:r>
              <a:rPr lang="en-US" altLang="zh-CN" dirty="0"/>
              <a:t>chips.</a:t>
            </a:r>
            <a:r>
              <a:rPr lang="zh-CN" altLang="en-US" dirty="0"/>
              <a:t> </a:t>
            </a:r>
            <a:r>
              <a:rPr lang="en-US" altLang="zh-CN" dirty="0"/>
              <a:t>Founded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2013</a:t>
            </a:r>
            <a:endParaRPr lang="en-HK" altLang="zh-CN" dirty="0"/>
          </a:p>
          <a:p>
            <a:r>
              <a:rPr lang="en-US" altLang="zh-CN" dirty="0"/>
              <a:t>Acquired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Intel</a:t>
            </a:r>
            <a:r>
              <a:rPr lang="zh-CN" altLang="en-US" dirty="0"/>
              <a:t> </a:t>
            </a:r>
            <a:r>
              <a:rPr lang="en-US" altLang="zh-CN" dirty="0"/>
              <a:t>at</a:t>
            </a:r>
            <a:r>
              <a:rPr lang="zh-CN" altLang="en-US" dirty="0"/>
              <a:t> </a:t>
            </a:r>
            <a:r>
              <a:rPr lang="en-US" altLang="zh-CN" dirty="0"/>
              <a:t>2019</a:t>
            </a:r>
            <a:endParaRPr lang="en-HK" altLang="zh-CN" dirty="0"/>
          </a:p>
          <a:p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Jan</a:t>
            </a:r>
            <a:r>
              <a:rPr lang="zh-CN" altLang="en-US" dirty="0"/>
              <a:t> </a:t>
            </a:r>
            <a:r>
              <a:rPr lang="en-US" altLang="zh-CN" dirty="0"/>
              <a:t>2023,</a:t>
            </a:r>
            <a:r>
              <a:rPr lang="zh-CN" altLang="en-US" dirty="0"/>
              <a:t> </a:t>
            </a:r>
            <a:r>
              <a:rPr lang="en-US" altLang="zh-CN" dirty="0"/>
              <a:t>Intel</a:t>
            </a:r>
            <a:r>
              <a:rPr lang="zh-CN" altLang="en-US" dirty="0"/>
              <a:t> </a:t>
            </a:r>
            <a:r>
              <a:rPr lang="en-US" altLang="zh-CN" dirty="0"/>
              <a:t>announced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halted</a:t>
            </a:r>
            <a:r>
              <a:rPr lang="zh-CN" altLang="en-US" dirty="0"/>
              <a:t> </a:t>
            </a:r>
            <a:r>
              <a:rPr lang="en-US" altLang="zh-CN" dirty="0"/>
              <a:t>production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chips…</a:t>
            </a:r>
            <a:endParaRPr lang="en-HK" altLang="zh-CN" dirty="0"/>
          </a:p>
          <a:p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D5B7EE-D990-6B8C-588B-700D65A8C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4714875"/>
            <a:ext cx="1676400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0081A66-B5CA-EEAE-F128-BDF602008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600" y="4648200"/>
            <a:ext cx="1809750" cy="1809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94227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Abstractions beget modularity</a:t>
            </a:r>
          </a:p>
          <a:p>
            <a:pPr lvl="1"/>
            <a:r>
              <a:rPr lang="en-US" dirty="0"/>
              <a:t>Modularity is (almost always) good</a:t>
            </a:r>
          </a:p>
          <a:p>
            <a:r>
              <a:rPr lang="en-US" dirty="0"/>
              <a:t>Programmability is powerful</a:t>
            </a:r>
          </a:p>
          <a:p>
            <a:pPr lvl="1"/>
            <a:r>
              <a:rPr lang="en-US" dirty="0"/>
              <a:t>Finding the right balance is hard</a:t>
            </a:r>
          </a:p>
          <a:p>
            <a:pPr marL="342900" lvl="1" indent="0">
              <a:buNone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38304"/>
      </p:ext>
    </p:extLst>
  </p:cSld>
  <p:clrMapOvr>
    <a:masterClrMapping/>
  </p:clrMapOvr>
</p:sld>
</file>

<file path=ppt/theme/theme1.xml><?xml version="1.0" encoding="utf-8"?>
<a:theme xmlns:a="http://schemas.openxmlformats.org/drawingml/2006/main" name="Theme2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2" id="{0F973FCD-1283-E74E-85B6-E8C3DE479C92}" vid="{42684C02-3BAE-2C44-AB2F-41432E78F1E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Theme2</Template>
  <TotalTime>759</TotalTime>
  <Words>1726</Words>
  <Application>Microsoft Macintosh PowerPoint</Application>
  <PresentationFormat>On-screen Show (4:3)</PresentationFormat>
  <Paragraphs>376</Paragraphs>
  <Slides>38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50" baseType="lpstr">
      <vt:lpstr>ＭＳ Ｐゴシック</vt:lpstr>
      <vt:lpstr>Arial</vt:lpstr>
      <vt:lpstr>Arial Black</vt:lpstr>
      <vt:lpstr>Calibri</vt:lpstr>
      <vt:lpstr>Courier New</vt:lpstr>
      <vt:lpstr>Gill Sans</vt:lpstr>
      <vt:lpstr>Helvetica Neue</vt:lpstr>
      <vt:lpstr>Lucida Console</vt:lpstr>
      <vt:lpstr>Monotype Sorts</vt:lpstr>
      <vt:lpstr>Times New Roman</vt:lpstr>
      <vt:lpstr>Wingdings</vt:lpstr>
      <vt:lpstr>Theme2</vt:lpstr>
      <vt:lpstr>CSCI4430 Computer Networks  Lecture 14: Network Layer –  Software-Defined Networking</vt:lpstr>
      <vt:lpstr>Agenda</vt:lpstr>
      <vt:lpstr>The field of networking</vt:lpstr>
      <vt:lpstr>Building an artifact, not a discipline</vt:lpstr>
      <vt:lpstr>A tale of two planes</vt:lpstr>
      <vt:lpstr>Original goals for the control plane</vt:lpstr>
      <vt:lpstr>Extended roles of the control plane</vt:lpstr>
      <vt:lpstr>Bottom line</vt:lpstr>
      <vt:lpstr>“The Power of Abstraction”</vt:lpstr>
      <vt:lpstr>Analogy: Mainframe to PC evolution</vt:lpstr>
      <vt:lpstr>Many control plane mechanisms</vt:lpstr>
      <vt:lpstr>Traditional fully decentralized control plane</vt:lpstr>
      <vt:lpstr>Logically centralized  control plane</vt:lpstr>
      <vt:lpstr>Logically centralized  control plane</vt:lpstr>
      <vt:lpstr>Task: Compute forwarding state</vt:lpstr>
      <vt:lpstr>Separate concerns with abstractions</vt:lpstr>
      <vt:lpstr>#1: Forwarding abstraction</vt:lpstr>
      <vt:lpstr>#2: Network state abstraction</vt:lpstr>
      <vt:lpstr>#3: Specification abstraction</vt:lpstr>
      <vt:lpstr>Each goal is an app via specification abstraction</vt:lpstr>
      <vt:lpstr>Reason about each app via network state abstraction</vt:lpstr>
      <vt:lpstr>Progress in wide-area networks (WAN)</vt:lpstr>
      <vt:lpstr>A tale of two planes</vt:lpstr>
      <vt:lpstr>OpenFlow data plane abstraction</vt:lpstr>
      <vt:lpstr>OpenFlow: Flow table entries</vt:lpstr>
      <vt:lpstr>Forwarding abstraction</vt:lpstr>
      <vt:lpstr>OpenFlow protocol</vt:lpstr>
      <vt:lpstr>Fixed-function data plane</vt:lpstr>
      <vt:lpstr>Takes forever to get a feature</vt:lpstr>
      <vt:lpstr>Programmable data plane</vt:lpstr>
      <vt:lpstr>Top-down approach</vt:lpstr>
      <vt:lpstr>What’s left?</vt:lpstr>
      <vt:lpstr>PISA: Protocol Independent Switch Architecture</vt:lpstr>
      <vt:lpstr>How’s programmability used today?</vt:lpstr>
      <vt:lpstr>Example: In-band network telemetry (INT)</vt:lpstr>
      <vt:lpstr>Why now?</vt:lpstr>
      <vt:lpstr>Why not now?...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EECS 489 Computer Networks  Fall 2020</dc:title>
  <dc:creator>Chowdhury, N M Mosharaf</dc:creator>
  <cp:lastModifiedBy>Hong Xu</cp:lastModifiedBy>
  <cp:revision>53</cp:revision>
  <dcterms:created xsi:type="dcterms:W3CDTF">2020-11-08T15:13:54Z</dcterms:created>
  <dcterms:modified xsi:type="dcterms:W3CDTF">2025-04-07T08:04:47Z</dcterms:modified>
</cp:coreProperties>
</file>
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21" r:id="rId1"/>
  </p:sldMasterIdLst>
  <p:notesMasterIdLst>
    <p:notesMasterId r:id="rId59"/>
  </p:notesMasterIdLst>
  <p:handoutMasterIdLst>
    <p:handoutMasterId r:id="rId60"/>
  </p:handoutMasterIdLst>
  <p:sldIdLst>
    <p:sldId id="648" r:id="rId2"/>
    <p:sldId id="487" r:id="rId3"/>
    <p:sldId id="513" r:id="rId4"/>
    <p:sldId id="564" r:id="rId5"/>
    <p:sldId id="565" r:id="rId6"/>
    <p:sldId id="577" r:id="rId7"/>
    <p:sldId id="566" r:id="rId8"/>
    <p:sldId id="567" r:id="rId9"/>
    <p:sldId id="568" r:id="rId10"/>
    <p:sldId id="578" r:id="rId11"/>
    <p:sldId id="579" r:id="rId12"/>
    <p:sldId id="518" r:id="rId13"/>
    <p:sldId id="622" r:id="rId14"/>
    <p:sldId id="517" r:id="rId15"/>
    <p:sldId id="516" r:id="rId16"/>
    <p:sldId id="621" r:id="rId17"/>
    <p:sldId id="589" r:id="rId18"/>
    <p:sldId id="588" r:id="rId19"/>
    <p:sldId id="520" r:id="rId20"/>
    <p:sldId id="596" r:id="rId21"/>
    <p:sldId id="521" r:id="rId22"/>
    <p:sldId id="623" r:id="rId23"/>
    <p:sldId id="522" r:id="rId24"/>
    <p:sldId id="597" r:id="rId25"/>
    <p:sldId id="523" r:id="rId26"/>
    <p:sldId id="524" r:id="rId27"/>
    <p:sldId id="592" r:id="rId28"/>
    <p:sldId id="526" r:id="rId29"/>
    <p:sldId id="527" r:id="rId30"/>
    <p:sldId id="528" r:id="rId31"/>
    <p:sldId id="624" r:id="rId32"/>
    <p:sldId id="640" r:id="rId33"/>
    <p:sldId id="639" r:id="rId34"/>
    <p:sldId id="598" r:id="rId35"/>
    <p:sldId id="599" r:id="rId36"/>
    <p:sldId id="617" r:id="rId37"/>
    <p:sldId id="618" r:id="rId38"/>
    <p:sldId id="619" r:id="rId39"/>
    <p:sldId id="641" r:id="rId40"/>
    <p:sldId id="649" r:id="rId41"/>
    <p:sldId id="602" r:id="rId42"/>
    <p:sldId id="603" r:id="rId43"/>
    <p:sldId id="604" r:id="rId44"/>
    <p:sldId id="605" r:id="rId45"/>
    <p:sldId id="606" r:id="rId46"/>
    <p:sldId id="607" r:id="rId47"/>
    <p:sldId id="608" r:id="rId48"/>
    <p:sldId id="609" r:id="rId49"/>
    <p:sldId id="610" r:id="rId50"/>
    <p:sldId id="611" r:id="rId51"/>
    <p:sldId id="612" r:id="rId52"/>
    <p:sldId id="613" r:id="rId53"/>
    <p:sldId id="620" r:id="rId54"/>
    <p:sldId id="614" r:id="rId55"/>
    <p:sldId id="615" r:id="rId56"/>
    <p:sldId id="616" r:id="rId57"/>
    <p:sldId id="594" r:id="rId58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D3A600"/>
    <a:srgbClr val="333399"/>
    <a:srgbClr val="FFCB05"/>
    <a:srgbClr val="FF9900"/>
    <a:srgbClr val="00274C"/>
    <a:srgbClr val="009900"/>
    <a:srgbClr val="D60093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342"/>
    <p:restoredTop sz="96327"/>
  </p:normalViewPr>
  <p:slideViewPr>
    <p:cSldViewPr>
      <p:cViewPr varScale="1">
        <p:scale>
          <a:sx n="127" d="100"/>
          <a:sy n="127" d="100"/>
        </p:scale>
        <p:origin x="2144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6226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31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03119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2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3328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2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4634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2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61248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523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32374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547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>
                <a:ea typeface="ＭＳ Ｐゴシック" charset="0"/>
                <a:cs typeface="ＭＳ Ｐゴシック" charset="0"/>
              </a:rPr>
              <a:t>Transcoding = change compression rate per user</a:t>
            </a:r>
            <a:r>
              <a:rPr lang="ja-JP" altLang="en-US">
                <a:ea typeface="ＭＳ Ｐゴシック" charset="0"/>
                <a:cs typeface="ＭＳ Ｐゴシック" charset="0"/>
              </a:rPr>
              <a:t>’</a:t>
            </a:r>
            <a:r>
              <a:rPr lang="en-US">
                <a:ea typeface="ＭＳ Ｐゴシック" charset="0"/>
                <a:cs typeface="ＭＳ Ｐゴシック" charset="0"/>
              </a:rPr>
              <a:t>s bandwidth</a:t>
            </a:r>
          </a:p>
        </p:txBody>
      </p:sp>
    </p:spTree>
    <p:extLst>
      <p:ext uri="{BB962C8B-B14F-4D97-AF65-F5344CB8AC3E}">
        <p14:creationId xmlns:p14="http://schemas.microsoft.com/office/powerpoint/2010/main" val="15706595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95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83787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95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80358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ICANN: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Arial" charset="0"/>
                <a:ea typeface="ＭＳ Ｐゴシック" charset="-128"/>
                <a:cs typeface="ＭＳ Ｐゴシック" charset="-128"/>
              </a:rPr>
              <a:t>Internet Corporation for Assigned Names and Numbers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Arial" charset="0"/>
                <a:ea typeface="ＭＳ Ｐゴシック" charset="-128"/>
                <a:cs typeface="ＭＳ Ｐゴシック" charset="-128"/>
              </a:rPr>
              <a:t>IANA: Internet Assigned Numbers Authority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5710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4C77BAE-B1F9-894F-A30D-94797C2329C5}" type="slidenum">
              <a:rPr lang="en-US" sz="1300" b="0">
                <a:latin typeface="Times New Roman" charset="0"/>
              </a:rPr>
              <a:pPr eaLnBrk="1" hangingPunct="1"/>
              <a:t>28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8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50950" y="708025"/>
            <a:ext cx="4814888" cy="3611563"/>
          </a:xfrm>
          <a:solidFill>
            <a:srgbClr val="FFFFFF"/>
          </a:solidFill>
          <a:ln/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2975" y="4564063"/>
            <a:ext cx="5429250" cy="4333875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fr-FR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97446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97F5172E-D380-4348-84B1-443CFC9E7DD9}" type="slidenum">
              <a:rPr lang="en-US" sz="1300" b="0">
                <a:latin typeface="Times New Roman" charset="0"/>
              </a:rPr>
              <a:pPr eaLnBrk="1" hangingPunct="1"/>
              <a:t>30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270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270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22682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0240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1763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192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DHCP: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Arial" charset="0"/>
                <a:ea typeface="ＭＳ Ｐゴシック" charset="-128"/>
                <a:cs typeface="ＭＳ Ｐゴシック" charset="-128"/>
              </a:rPr>
              <a:t>Dynamic Host Configuration Protocol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5191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8E6DECEB-02F6-8C41-99F5-759492C41FD1}" type="slidenum">
              <a:rPr lang="en-US" sz="1300" b="0">
                <a:latin typeface="Times New Roman" charset="0"/>
              </a:rPr>
              <a:pPr eaLnBrk="1" hangingPunct="1"/>
              <a:t>50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0035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0035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71799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5E7A2AF4-21A1-4549-972D-2D4D3C966DCF}" type="slidenum">
              <a:rPr lang="en-US" sz="1300" b="0">
                <a:latin typeface="Times New Roman" charset="0"/>
              </a:rPr>
              <a:pPr eaLnBrk="1" hangingPunct="1"/>
              <a:t>52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9216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9216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971203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60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54623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F244B183-CBA1-BA47-8281-488AF6A9CE4D}" type="slidenum">
              <a:rPr lang="en-US" sz="1300" b="0">
                <a:latin typeface="Times New Roman" charset="0"/>
              </a:rPr>
              <a:pPr eaLnBrk="1" hangingPunct="1"/>
              <a:t>54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9421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9421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92351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F2A1D53B-0B65-174C-A832-8F76934966BD}" type="slidenum">
              <a:rPr lang="en-US" sz="1300" b="0">
                <a:latin typeface="Times New Roman" charset="0"/>
              </a:rPr>
              <a:pPr eaLnBrk="1" hangingPunct="1"/>
              <a:t>56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451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82528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7556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9023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D56800-6334-BE84-16B6-7402A699A2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D93E6A-DFC3-F407-380A-65EE47A5BD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5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6FBCA-2034-049B-7243-88D60D4898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D3DFD9-081B-E3C1-6BDB-F23B9D5426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394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8B70F-5298-827C-1F78-46F1790437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621DC-16FE-7694-2F83-79847B007A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47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A258BA9-ABEF-2D2D-F1E7-F2356DD503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6F0A74-64F4-300F-53EB-BC2B1B6CDC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5371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55C166-3163-C0BB-0B5E-A60433A07D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18343-21BC-17F6-D79A-F8EF5B15B4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1728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8893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23525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55289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248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4844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C076283-46FE-75A6-72E4-8CE13BC3D9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6B11F8-0795-6902-0730-FC53F014C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953551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819F1C90-BCC2-4A38-9B30-6926C9F242B2}" type="datetime1">
              <a:rPr lang="en-US" altLang="en-US" smtClean="0"/>
              <a:t>1/22/25</a:t>
            </a:fld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305800" y="6400800"/>
            <a:ext cx="625475" cy="457200"/>
          </a:xfrm>
        </p:spPr>
        <p:txBody>
          <a:bodyPr/>
          <a:lstStyle>
            <a:lvl1pPr>
              <a:defRPr/>
            </a:lvl1pPr>
          </a:lstStyle>
          <a:p>
            <a:fld id="{C9399570-805F-4B6D-83F4-39FC9E49A71F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973306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97EC8AD-C9B9-C2A9-BCD1-F1E8E706B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798365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254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  <p:sldLayoutId id="2147483733" r:id="rId12"/>
    <p:sldLayoutId id="2147483734" r:id="rId1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7" Type="http://schemas.openxmlformats.org/officeDocument/2006/relationships/hyperlink" Target="https://commons.wikimedia.org/wiki/File:Ams-ix.k.root-servers.net.jpg" TargetMode="External"/><Relationship Id="rId2" Type="http://schemas.openxmlformats.org/officeDocument/2006/relationships/hyperlink" Target="https://www.iana.org/domains/root/server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Amsterdam_Internet_Exchange" TargetMode="External"/><Relationship Id="rId5" Type="http://schemas.openxmlformats.org/officeDocument/2006/relationships/hyperlink" Target="https://en.wikipedia.org/wiki/Juniper_Networks" TargetMode="External"/><Relationship Id="rId4" Type="http://schemas.openxmlformats.org/officeDocument/2006/relationships/hyperlink" Target="https://en.wikipedia.org/wiki/Cisco" TargetMode="Externa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4: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Application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Layer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–</a:t>
            </a:r>
            <a:br>
              <a:rPr lang="en-HK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Caching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and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CDN,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DNS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Ca</a:t>
            </a:r>
            <a:r>
              <a:rPr lang="en-US" altLang="zh-CN"/>
              <a:t>ching</a:t>
            </a:r>
            <a:endParaRPr lang="en-US"/>
          </a:p>
          <a:p>
            <a:r>
              <a:rPr lang="en-US" dirty="0"/>
              <a:t>CDN: Content Distribution Network</a:t>
            </a:r>
          </a:p>
          <a:p>
            <a:r>
              <a:rPr lang="en-US" dirty="0"/>
              <a:t>DNS: Domain Name System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</a:t>
            </a:r>
            <a:r>
              <a:rPr lang="zh-CN" altLang="en-US" dirty="0"/>
              <a:t> </a:t>
            </a:r>
            <a:r>
              <a:rPr lang="en-US" dirty="0"/>
              <a:t>Improving HTTP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Optimizing connections using </a:t>
            </a:r>
            <a:r>
              <a:rPr lang="en-US" dirty="0">
                <a:solidFill>
                  <a:srgbClr val="0000FF"/>
                </a:solidFill>
              </a:rPr>
              <a:t>three “P”s</a:t>
            </a:r>
          </a:p>
          <a:p>
            <a:pPr lvl="1"/>
            <a:r>
              <a:rPr lang="en-US" dirty="0"/>
              <a:t>Persistent (latency)</a:t>
            </a:r>
          </a:p>
          <a:p>
            <a:pPr lvl="1"/>
            <a:r>
              <a:rPr lang="en-US" dirty="0"/>
              <a:t>Parallel/concurrent (bandwidth and latency)</a:t>
            </a:r>
          </a:p>
          <a:p>
            <a:pPr lvl="1"/>
            <a:r>
              <a:rPr lang="en-US" dirty="0"/>
              <a:t>Pipelined over the same connection (latency)</a:t>
            </a:r>
          </a:p>
          <a:p>
            <a:r>
              <a:rPr lang="en-US" dirty="0"/>
              <a:t>Caching</a:t>
            </a:r>
          </a:p>
          <a:p>
            <a:pPr lvl="1"/>
            <a:r>
              <a:rPr lang="en-US" dirty="0"/>
              <a:t>Forward proxy: close to clients</a:t>
            </a:r>
          </a:p>
          <a:p>
            <a:pPr lvl="1"/>
            <a:r>
              <a:rPr lang="en-US" dirty="0"/>
              <a:t>Reverse proxy: close to servers</a:t>
            </a:r>
          </a:p>
          <a:p>
            <a:r>
              <a:rPr lang="en-US" dirty="0"/>
              <a:t>Replication</a:t>
            </a:r>
          </a:p>
          <a:p>
            <a:pPr lvl="1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821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</a:t>
            </a:r>
          </a:p>
        </p:txBody>
      </p:sp>
      <p:sp>
        <p:nvSpPr>
          <p:cNvPr id="9216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Why does caching work?</a:t>
            </a:r>
          </a:p>
          <a:p>
            <a:pPr lvl="1"/>
            <a:r>
              <a:rPr lang="en-US" dirty="0"/>
              <a:t>Exploits locality of reference</a:t>
            </a:r>
          </a:p>
          <a:p>
            <a:pPr lvl="1"/>
            <a:endParaRPr lang="en-US" dirty="0"/>
          </a:p>
          <a:p>
            <a:r>
              <a:rPr lang="en-US" dirty="0"/>
              <a:t>How well does caching work?</a:t>
            </a:r>
          </a:p>
          <a:p>
            <a:pPr lvl="1"/>
            <a:r>
              <a:rPr lang="en-US" dirty="0"/>
              <a:t>Very well, up to a limit</a:t>
            </a:r>
          </a:p>
          <a:p>
            <a:pPr lvl="1"/>
            <a:r>
              <a:rPr lang="en-US" dirty="0"/>
              <a:t>Large overlap in content</a:t>
            </a:r>
          </a:p>
          <a:p>
            <a:pPr lvl="1"/>
            <a:r>
              <a:rPr lang="en-US" dirty="0"/>
              <a:t>But many unique requests –&gt; long-tailed</a:t>
            </a:r>
          </a:p>
          <a:p>
            <a:pPr lvl="2"/>
            <a:r>
              <a:rPr lang="en-US" dirty="0"/>
              <a:t>A universal story!</a:t>
            </a:r>
          </a:p>
          <a:p>
            <a:pPr lvl="2"/>
            <a:r>
              <a:rPr lang="en-US" dirty="0"/>
              <a:t>Effectiveness grows logarithmically </a:t>
            </a:r>
            <a:r>
              <a:rPr lang="en-US" altLang="zh-CN" dirty="0"/>
              <a:t>in</a:t>
            </a:r>
            <a:r>
              <a:rPr lang="en-US" dirty="0"/>
              <a:t> size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CDE19-F834-0349-9B7F-E2878B1825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285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6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65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Caching: How</a:t>
            </a:r>
          </a:p>
        </p:txBody>
      </p:sp>
      <p:sp>
        <p:nvSpPr>
          <p:cNvPr id="10854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Modifier to GET requests: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Lucida Console" charset="0"/>
                <a:ea typeface="Lucida Console" charset="0"/>
                <a:cs typeface="Lucida Console" charset="0"/>
              </a:rPr>
              <a:t>If-modified-since</a:t>
            </a:r>
            <a:r>
              <a:rPr lang="en-US" dirty="0"/>
              <a:t> – returns </a:t>
            </a:r>
            <a:r>
              <a:rPr lang="ja-JP" altLang="en-US" dirty="0"/>
              <a:t>“</a:t>
            </a:r>
            <a:r>
              <a:rPr lang="en-US" dirty="0"/>
              <a:t>not modified</a:t>
            </a:r>
            <a:r>
              <a:rPr lang="ja-JP" altLang="en-US" dirty="0"/>
              <a:t>”</a:t>
            </a:r>
            <a:r>
              <a:rPr lang="en-US" dirty="0"/>
              <a:t> if resource not modified since specified time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A4E5D9-0F0C-5947-9FC5-E584C570E0A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4" name="Text Box 4"/>
          <p:cNvSpPr txBox="1">
            <a:spLocks noChangeArrowheads="1"/>
          </p:cNvSpPr>
          <p:nvPr/>
        </p:nvSpPr>
        <p:spPr bwMode="auto">
          <a:xfrm>
            <a:off x="786406" y="3474241"/>
            <a:ext cx="7571188" cy="16311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383" tIns="45692" rIns="91383" bIns="45692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dirty="0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GET /</a:t>
            </a:r>
            <a:r>
              <a:rPr lang="en-US" dirty="0" err="1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somedir</a:t>
            </a:r>
            <a:r>
              <a:rPr lang="en-US" dirty="0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/</a:t>
            </a:r>
            <a:r>
              <a:rPr lang="en-US" dirty="0" err="1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page.html</a:t>
            </a:r>
            <a:r>
              <a:rPr lang="en-US" dirty="0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 HTTP/1.1</a:t>
            </a:r>
          </a:p>
          <a:p>
            <a:pPr algn="l"/>
            <a:r>
              <a:rPr lang="en-US" dirty="0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Host: </a:t>
            </a:r>
            <a:r>
              <a:rPr lang="en-US" dirty="0" err="1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www.someschool.edu</a:t>
            </a:r>
            <a:r>
              <a:rPr lang="en-US" dirty="0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 </a:t>
            </a:r>
          </a:p>
          <a:p>
            <a:pPr algn="l"/>
            <a:r>
              <a:rPr lang="en-US" dirty="0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User-agent: Mozilla/4.0</a:t>
            </a:r>
          </a:p>
          <a:p>
            <a:r>
              <a:rPr lang="en-US" dirty="0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If-modified-since: Wed, 18 Jan 2017 10:25:50 GMT</a:t>
            </a:r>
          </a:p>
          <a:p>
            <a:pPr algn="l"/>
            <a:r>
              <a:rPr lang="en-US" b="0" dirty="0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(blank line)</a:t>
            </a:r>
            <a:r>
              <a:rPr lang="en-US" dirty="0">
                <a:solidFill>
                  <a:srgbClr val="D3A600"/>
                </a:solidFill>
                <a:latin typeface="Lucida Console" charset="0"/>
                <a:ea typeface="Lucida Console" charset="0"/>
                <a:cs typeface="Lucida Console" charset="0"/>
              </a:rPr>
              <a:t> </a:t>
            </a:r>
            <a:endParaRPr lang="en-US" sz="2400" b="0" dirty="0">
              <a:solidFill>
                <a:srgbClr val="D3A600"/>
              </a:solidFill>
              <a:latin typeface="Lucida Console" charset="0"/>
              <a:ea typeface="Lucida Console" charset="0"/>
              <a:cs typeface="Lucida Console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429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Caching: How</a:t>
            </a:r>
          </a:p>
        </p:txBody>
      </p:sp>
      <p:sp>
        <p:nvSpPr>
          <p:cNvPr id="10854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Modifier to GET requests: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Lucida Console" charset="0"/>
                <a:ea typeface="Lucida Console" charset="0"/>
                <a:cs typeface="Lucida Console" charset="0"/>
              </a:rPr>
              <a:t>If-modified-since</a:t>
            </a:r>
            <a:r>
              <a:rPr lang="en-US" dirty="0"/>
              <a:t> – returns </a:t>
            </a:r>
            <a:r>
              <a:rPr lang="ja-JP" altLang="en-US" dirty="0"/>
              <a:t>“</a:t>
            </a:r>
            <a:r>
              <a:rPr lang="en-US" dirty="0"/>
              <a:t>not modified</a:t>
            </a:r>
            <a:r>
              <a:rPr lang="ja-JP" altLang="en-US" dirty="0"/>
              <a:t>”</a:t>
            </a:r>
            <a:r>
              <a:rPr lang="en-US" dirty="0"/>
              <a:t> if resource not modified since specified time </a:t>
            </a:r>
          </a:p>
          <a:p>
            <a:r>
              <a:rPr lang="en-US" dirty="0">
                <a:latin typeface="Arial" charset="0"/>
                <a:ea typeface="Arial" charset="0"/>
                <a:cs typeface="Arial" charset="0"/>
              </a:rPr>
              <a:t>Client specifies </a:t>
            </a:r>
            <a:r>
              <a:rPr lang="ja-JP" altLang="en-US" dirty="0">
                <a:latin typeface="Arial" charset="0"/>
                <a:ea typeface="Arial" charset="0"/>
                <a:cs typeface="Arial" charset="0"/>
              </a:rPr>
              <a:t>“</a:t>
            </a:r>
            <a:r>
              <a:rPr lang="en-US" sz="2400" dirty="0">
                <a:solidFill>
                  <a:srgbClr val="0000FF"/>
                </a:solidFill>
                <a:latin typeface="Lucida Console" charset="0"/>
                <a:ea typeface="Lucida Console" charset="0"/>
                <a:cs typeface="Lucida Console" charset="0"/>
              </a:rPr>
              <a:t>if-modified-since</a:t>
            </a:r>
            <a:r>
              <a:rPr lang="ja-JP" altLang="en-US" dirty="0">
                <a:latin typeface="Arial" charset="0"/>
                <a:ea typeface="Arial" charset="0"/>
                <a:cs typeface="Arial" charset="0"/>
              </a:rPr>
              <a:t>”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 time in request</a:t>
            </a:r>
          </a:p>
          <a:p>
            <a:pPr>
              <a:lnSpc>
                <a:spcPct val="80000"/>
              </a:lnSpc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Server compares this against </a:t>
            </a:r>
            <a:r>
              <a:rPr lang="ja-JP" altLang="en-US" dirty="0">
                <a:latin typeface="Arial" charset="0"/>
                <a:ea typeface="Arial" charset="0"/>
                <a:cs typeface="Arial" charset="0"/>
              </a:rPr>
              <a:t>“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last modified</a:t>
            </a:r>
            <a:r>
              <a:rPr lang="ja-JP" altLang="en-US" dirty="0">
                <a:latin typeface="Arial" charset="0"/>
                <a:ea typeface="Arial" charset="0"/>
                <a:cs typeface="Arial" charset="0"/>
              </a:rPr>
              <a:t>”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 time of resource</a:t>
            </a:r>
          </a:p>
          <a:p>
            <a:pPr>
              <a:lnSpc>
                <a:spcPct val="80000"/>
              </a:lnSpc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Server returns </a:t>
            </a:r>
            <a:r>
              <a:rPr lang="ja-JP" altLang="en-US" dirty="0">
                <a:latin typeface="Arial" charset="0"/>
                <a:ea typeface="Arial" charset="0"/>
                <a:cs typeface="Arial" charset="0"/>
              </a:rPr>
              <a:t>“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Not Modified</a:t>
            </a:r>
            <a:r>
              <a:rPr lang="ja-JP" altLang="en-US" dirty="0">
                <a:latin typeface="Arial" charset="0"/>
                <a:ea typeface="Arial" charset="0"/>
                <a:cs typeface="Arial" charset="0"/>
              </a:rPr>
              <a:t>”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 if resource has not changed</a:t>
            </a:r>
          </a:p>
          <a:p>
            <a:pPr>
              <a:lnSpc>
                <a:spcPct val="80000"/>
              </a:lnSpc>
            </a:pPr>
            <a:r>
              <a:rPr lang="en-US" dirty="0">
                <a:latin typeface="Arial" charset="0"/>
                <a:ea typeface="Arial" charset="0"/>
                <a:cs typeface="Arial" charset="0"/>
              </a:rPr>
              <a:t>…. or a </a:t>
            </a:r>
            <a:r>
              <a:rPr lang="ja-JP" altLang="en-US" dirty="0">
                <a:latin typeface="Arial" charset="0"/>
                <a:ea typeface="Arial" charset="0"/>
                <a:cs typeface="Arial" charset="0"/>
              </a:rPr>
              <a:t>“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OK</a:t>
            </a:r>
            <a:r>
              <a:rPr lang="ja-JP" altLang="en-US" dirty="0">
                <a:latin typeface="Arial" charset="0"/>
                <a:ea typeface="Arial" charset="0"/>
                <a:cs typeface="Arial" charset="0"/>
              </a:rPr>
              <a:t>”</a:t>
            </a:r>
            <a:r>
              <a:rPr lang="en-US" dirty="0">
                <a:latin typeface="Arial" charset="0"/>
                <a:ea typeface="Arial" charset="0"/>
                <a:cs typeface="Arial" charset="0"/>
              </a:rPr>
              <a:t> with the latest version otherwise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5BA2DD-9606-5E41-A175-2B8914CBFB9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359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Caching: How</a:t>
            </a:r>
          </a:p>
        </p:txBody>
      </p:sp>
      <p:sp>
        <p:nvSpPr>
          <p:cNvPr id="10854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Modifier to GET requests: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Lucida Console" charset="0"/>
                <a:ea typeface="Lucida Console" charset="0"/>
                <a:cs typeface="Lucida Console" charset="0"/>
              </a:rPr>
              <a:t>If-modified-since</a:t>
            </a:r>
            <a:r>
              <a:rPr lang="en-US" dirty="0"/>
              <a:t> – returns </a:t>
            </a:r>
            <a:r>
              <a:rPr lang="ja-JP" altLang="en-US" dirty="0"/>
              <a:t>“</a:t>
            </a:r>
            <a:r>
              <a:rPr lang="en-US" dirty="0"/>
              <a:t>not modified</a:t>
            </a:r>
            <a:r>
              <a:rPr lang="ja-JP" altLang="en-US" dirty="0"/>
              <a:t>”</a:t>
            </a:r>
            <a:r>
              <a:rPr lang="en-US" dirty="0"/>
              <a:t> if resource not modified since specified time </a:t>
            </a:r>
          </a:p>
          <a:p>
            <a:r>
              <a:rPr lang="en-US" dirty="0"/>
              <a:t>Response header: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Lucida Console" charset="0"/>
                <a:ea typeface="Lucida Console" charset="0"/>
                <a:cs typeface="Lucida Console" charset="0"/>
              </a:rPr>
              <a:t>Expires</a:t>
            </a:r>
            <a:r>
              <a:rPr lang="en-US" dirty="0">
                <a:solidFill>
                  <a:srgbClr val="0000FF"/>
                </a:solidFill>
              </a:rPr>
              <a:t> </a:t>
            </a:r>
            <a:r>
              <a:rPr lang="en-US" dirty="0"/>
              <a:t>– how long it’s safe to cache the resource</a:t>
            </a:r>
          </a:p>
          <a:p>
            <a:pPr lvl="1"/>
            <a:r>
              <a:rPr lang="en-US" dirty="0">
                <a:solidFill>
                  <a:srgbClr val="0000FF"/>
                </a:solidFill>
                <a:latin typeface="Lucida Console" charset="0"/>
                <a:ea typeface="Lucida Console" charset="0"/>
                <a:cs typeface="Lucida Console" charset="0"/>
              </a:rPr>
              <a:t>No-cache</a:t>
            </a:r>
            <a:r>
              <a:rPr lang="en-US" dirty="0"/>
              <a:t> – ignore all caches; always get resource directly from server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20C67B-99EF-AE4B-A8A5-0F34252B0E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4768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Caching: Where?</a:t>
            </a:r>
            <a:endParaRPr lang="en-US" dirty="0"/>
          </a:p>
        </p:txBody>
      </p:sp>
      <p:sp>
        <p:nvSpPr>
          <p:cNvPr id="10854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Options</a:t>
            </a:r>
          </a:p>
          <a:p>
            <a:pPr lvl="1"/>
            <a:r>
              <a:rPr lang="en-US" dirty="0"/>
              <a:t>Client (browser)</a:t>
            </a:r>
          </a:p>
          <a:p>
            <a:pPr lvl="1"/>
            <a:r>
              <a:rPr lang="en-US" dirty="0"/>
              <a:t>Forward proxies </a:t>
            </a:r>
          </a:p>
          <a:p>
            <a:pPr lvl="1"/>
            <a:r>
              <a:rPr lang="en-US" dirty="0"/>
              <a:t>Reverse proxies</a:t>
            </a:r>
          </a:p>
          <a:p>
            <a:pPr lvl="1"/>
            <a:r>
              <a:rPr lang="en-US" dirty="0">
                <a:solidFill>
                  <a:schemeClr val="accent2">
                    <a:lumMod val="50000"/>
                    <a:lumOff val="50000"/>
                  </a:schemeClr>
                </a:solidFill>
              </a:rPr>
              <a:t>Content Distribution Network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AAD6CE-9751-0545-A7C3-E688F48EE6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22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Caching: Where?</a:t>
            </a:r>
          </a:p>
        </p:txBody>
      </p:sp>
      <p:sp>
        <p:nvSpPr>
          <p:cNvPr id="16691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clients </a:t>
            </a:r>
            <a:r>
              <a:rPr lang="en-US" altLang="zh-CN" dirty="0"/>
              <a:t>request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en-US" dirty="0"/>
              <a:t> same </a:t>
            </a:r>
            <a:r>
              <a:rPr lang="en-US" altLang="zh-CN" dirty="0"/>
              <a:t>content</a:t>
            </a:r>
            <a:endParaRPr lang="en-US" altLang="zh-CN" dirty="0">
              <a:sym typeface="Wingdings" charset="0"/>
            </a:endParaRPr>
          </a:p>
          <a:p>
            <a:pPr lvl="1"/>
            <a:r>
              <a:rPr lang="en-US" dirty="0">
                <a:sym typeface="Wingdings" charset="0"/>
              </a:rPr>
              <a:t>E.g.</a:t>
            </a:r>
            <a:r>
              <a:rPr lang="en-US" altLang="zh-CN" dirty="0">
                <a:sym typeface="Wingdings" charset="0"/>
              </a:rPr>
              <a:t>,</a:t>
            </a:r>
            <a:r>
              <a:rPr lang="zh-CN" altLang="en-US" dirty="0">
                <a:sym typeface="Wingdings" charset="0"/>
              </a:rPr>
              <a:t> </a:t>
            </a:r>
            <a:r>
              <a:rPr lang="en-US" altLang="zh-CN" dirty="0" err="1">
                <a:sym typeface="Wingdings" charset="0"/>
              </a:rPr>
              <a:t>cuhk</a:t>
            </a:r>
            <a:r>
              <a:rPr lang="en-US" altLang="zh-CN" dirty="0">
                <a:sym typeface="Wingdings" charset="0"/>
              </a:rPr>
              <a:t>;</a:t>
            </a:r>
            <a:r>
              <a:rPr lang="zh-CN" altLang="en-US" dirty="0">
                <a:sym typeface="Wingdings" charset="0"/>
              </a:rPr>
              <a:t> </a:t>
            </a:r>
            <a:r>
              <a:rPr lang="en-US" altLang="zh-CN" dirty="0" err="1">
                <a:sym typeface="Wingdings" charset="0"/>
              </a:rPr>
              <a:t>youtube</a:t>
            </a:r>
            <a:r>
              <a:rPr lang="zh-CN" altLang="en-US" dirty="0">
                <a:sym typeface="Wingdings" charset="0"/>
              </a:rPr>
              <a:t> </a:t>
            </a:r>
            <a:r>
              <a:rPr lang="en-US" altLang="zh-CN" dirty="0">
                <a:sym typeface="Wingdings" charset="0"/>
              </a:rPr>
              <a:t>videos;</a:t>
            </a:r>
            <a:r>
              <a:rPr lang="zh-CN" altLang="en-US" dirty="0">
                <a:sym typeface="Wingdings" charset="0"/>
              </a:rPr>
              <a:t> </a:t>
            </a:r>
            <a:r>
              <a:rPr lang="en-US" altLang="zh-CN" dirty="0">
                <a:sym typeface="Wingdings" charset="0"/>
              </a:rPr>
              <a:t>software</a:t>
            </a:r>
            <a:r>
              <a:rPr lang="zh-CN" altLang="en-US" dirty="0">
                <a:sym typeface="Wingdings" charset="0"/>
              </a:rPr>
              <a:t> </a:t>
            </a:r>
            <a:r>
              <a:rPr lang="en-US" altLang="zh-CN" dirty="0">
                <a:sym typeface="Wingdings" charset="0"/>
              </a:rPr>
              <a:t>updates</a:t>
            </a:r>
            <a:endParaRPr lang="en-US" dirty="0">
              <a:sym typeface="Wingdings" charset="0"/>
            </a:endParaRPr>
          </a:p>
          <a:p>
            <a:pPr lvl="1"/>
            <a:r>
              <a:rPr lang="en-US" dirty="0">
                <a:sym typeface="Wingdings" charset="0"/>
              </a:rPr>
              <a:t>Generate unnecessary server and network load</a:t>
            </a:r>
          </a:p>
          <a:p>
            <a:pPr lvl="1"/>
            <a:r>
              <a:rPr lang="en-US" dirty="0">
                <a:sym typeface="Wingdings" charset="0"/>
              </a:rPr>
              <a:t>Clients experience unnecessary latency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7946-A228-5840-82F4-EDAA8A6DD0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9</a:t>
            </a:fld>
            <a:endParaRPr lang="en-US"/>
          </a:p>
        </p:txBody>
      </p:sp>
      <p:grpSp>
        <p:nvGrpSpPr>
          <p:cNvPr id="1669124" name="Group 4"/>
          <p:cNvGrpSpPr>
            <a:grpSpLocks/>
          </p:cNvGrpSpPr>
          <p:nvPr/>
        </p:nvGrpSpPr>
        <p:grpSpPr bwMode="auto">
          <a:xfrm>
            <a:off x="6019800" y="6096001"/>
            <a:ext cx="371475" cy="381000"/>
            <a:chOff x="1014" y="912"/>
            <a:chExt cx="574" cy="596"/>
          </a:xfrm>
        </p:grpSpPr>
        <p:sp>
          <p:nvSpPr>
            <p:cNvPr id="1669125" name="Freeform 5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26" name="Line 6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27" name="Line 7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28" name="Freeform 8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29" name="Line 9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30" name="Line 10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31" name="Line 11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32" name="Rectangle 12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33" name="Freeform 13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34" name="Line 14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35" name="Line 15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36" name="Line 16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1669137" name="Group 17"/>
          <p:cNvGrpSpPr>
            <a:grpSpLocks/>
          </p:cNvGrpSpPr>
          <p:nvPr/>
        </p:nvGrpSpPr>
        <p:grpSpPr bwMode="auto">
          <a:xfrm>
            <a:off x="7477125" y="6096001"/>
            <a:ext cx="371475" cy="381000"/>
            <a:chOff x="1014" y="912"/>
            <a:chExt cx="574" cy="596"/>
          </a:xfrm>
        </p:grpSpPr>
        <p:sp>
          <p:nvSpPr>
            <p:cNvPr id="1669138" name="Freeform 18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39" name="Line 19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0" name="Line 20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1" name="Freeform 21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2" name="Line 22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3" name="Line 23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4" name="Line 24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5" name="Rectangle 25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6" name="Freeform 26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7" name="Line 27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8" name="Line 28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49" name="Line 29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1669150" name="Group 30"/>
          <p:cNvGrpSpPr>
            <a:grpSpLocks/>
          </p:cNvGrpSpPr>
          <p:nvPr/>
        </p:nvGrpSpPr>
        <p:grpSpPr bwMode="auto">
          <a:xfrm>
            <a:off x="1219200" y="6096001"/>
            <a:ext cx="371475" cy="381000"/>
            <a:chOff x="1014" y="912"/>
            <a:chExt cx="574" cy="596"/>
          </a:xfrm>
        </p:grpSpPr>
        <p:sp>
          <p:nvSpPr>
            <p:cNvPr id="1669151" name="Freeform 31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52" name="Line 32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53" name="Line 33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54" name="Freeform 34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55" name="Line 35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56" name="Line 36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57" name="Line 37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58" name="Rectangle 38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59" name="Freeform 39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60" name="Line 40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61" name="Line 41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62" name="Line 42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1669163" name="Group 43"/>
          <p:cNvGrpSpPr>
            <a:grpSpLocks/>
          </p:cNvGrpSpPr>
          <p:nvPr/>
        </p:nvGrpSpPr>
        <p:grpSpPr bwMode="auto">
          <a:xfrm>
            <a:off x="2895600" y="6096001"/>
            <a:ext cx="371475" cy="381000"/>
            <a:chOff x="1014" y="912"/>
            <a:chExt cx="574" cy="596"/>
          </a:xfrm>
        </p:grpSpPr>
        <p:sp>
          <p:nvSpPr>
            <p:cNvPr id="1669164" name="Freeform 44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65" name="Line 45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66" name="Line 46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67" name="Freeform 47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68" name="Line 48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69" name="Line 49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70" name="Line 50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71" name="Rectangle 51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72" name="Freeform 52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73" name="Line 53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74" name="Line 54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75" name="Line 55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1669176" name="Group 56"/>
          <p:cNvGrpSpPr>
            <a:grpSpLocks/>
          </p:cNvGrpSpPr>
          <p:nvPr/>
        </p:nvGrpSpPr>
        <p:grpSpPr bwMode="auto">
          <a:xfrm>
            <a:off x="1371600" y="4572000"/>
            <a:ext cx="2179638" cy="1447800"/>
            <a:chOff x="832" y="1344"/>
            <a:chExt cx="1136" cy="1024"/>
          </a:xfrm>
        </p:grpSpPr>
        <p:sp>
          <p:nvSpPr>
            <p:cNvPr id="1669177" name="Oval 57"/>
            <p:cNvSpPr>
              <a:spLocks noChangeArrowheads="1"/>
            </p:cNvSpPr>
            <p:nvPr/>
          </p:nvSpPr>
          <p:spPr bwMode="auto">
            <a:xfrm>
              <a:off x="1220" y="1344"/>
              <a:ext cx="495" cy="424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78" name="Oval 58"/>
            <p:cNvSpPr>
              <a:spLocks noChangeArrowheads="1"/>
            </p:cNvSpPr>
            <p:nvPr/>
          </p:nvSpPr>
          <p:spPr bwMode="auto">
            <a:xfrm>
              <a:off x="948" y="1455"/>
              <a:ext cx="379" cy="424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79" name="Oval 59"/>
            <p:cNvSpPr>
              <a:spLocks noChangeArrowheads="1"/>
            </p:cNvSpPr>
            <p:nvPr/>
          </p:nvSpPr>
          <p:spPr bwMode="auto">
            <a:xfrm>
              <a:off x="832" y="1710"/>
              <a:ext cx="256" cy="306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80" name="Oval 60"/>
            <p:cNvSpPr>
              <a:spLocks noChangeArrowheads="1"/>
            </p:cNvSpPr>
            <p:nvPr/>
          </p:nvSpPr>
          <p:spPr bwMode="auto">
            <a:xfrm>
              <a:off x="909" y="1862"/>
              <a:ext cx="435" cy="442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81" name="Oval 61"/>
            <p:cNvSpPr>
              <a:spLocks noChangeArrowheads="1"/>
            </p:cNvSpPr>
            <p:nvPr/>
          </p:nvSpPr>
          <p:spPr bwMode="auto">
            <a:xfrm>
              <a:off x="1086" y="1924"/>
              <a:ext cx="671" cy="444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82" name="Oval 62"/>
            <p:cNvSpPr>
              <a:spLocks noChangeArrowheads="1"/>
            </p:cNvSpPr>
            <p:nvPr/>
          </p:nvSpPr>
          <p:spPr bwMode="auto">
            <a:xfrm>
              <a:off x="1605" y="1488"/>
              <a:ext cx="311" cy="312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83" name="Oval 63"/>
            <p:cNvSpPr>
              <a:spLocks noChangeArrowheads="1"/>
            </p:cNvSpPr>
            <p:nvPr/>
          </p:nvSpPr>
          <p:spPr bwMode="auto">
            <a:xfrm>
              <a:off x="1602" y="1681"/>
              <a:ext cx="366" cy="333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84" name="Oval 64"/>
            <p:cNvSpPr>
              <a:spLocks noChangeArrowheads="1"/>
            </p:cNvSpPr>
            <p:nvPr/>
          </p:nvSpPr>
          <p:spPr bwMode="auto">
            <a:xfrm>
              <a:off x="1569" y="1751"/>
              <a:ext cx="364" cy="547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85" name="Oval 65"/>
            <p:cNvSpPr>
              <a:spLocks noChangeArrowheads="1"/>
            </p:cNvSpPr>
            <p:nvPr/>
          </p:nvSpPr>
          <p:spPr bwMode="auto">
            <a:xfrm>
              <a:off x="912" y="1434"/>
              <a:ext cx="1008" cy="918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1669186" name="Group 66"/>
          <p:cNvGrpSpPr>
            <a:grpSpLocks/>
          </p:cNvGrpSpPr>
          <p:nvPr/>
        </p:nvGrpSpPr>
        <p:grpSpPr bwMode="auto">
          <a:xfrm>
            <a:off x="5440364" y="4572000"/>
            <a:ext cx="2179637" cy="1447800"/>
            <a:chOff x="832" y="1344"/>
            <a:chExt cx="1136" cy="1024"/>
          </a:xfrm>
        </p:grpSpPr>
        <p:sp>
          <p:nvSpPr>
            <p:cNvPr id="1669187" name="Oval 67"/>
            <p:cNvSpPr>
              <a:spLocks noChangeArrowheads="1"/>
            </p:cNvSpPr>
            <p:nvPr/>
          </p:nvSpPr>
          <p:spPr bwMode="auto">
            <a:xfrm>
              <a:off x="1220" y="1344"/>
              <a:ext cx="495" cy="424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88" name="Oval 68"/>
            <p:cNvSpPr>
              <a:spLocks noChangeArrowheads="1"/>
            </p:cNvSpPr>
            <p:nvPr/>
          </p:nvSpPr>
          <p:spPr bwMode="auto">
            <a:xfrm>
              <a:off x="948" y="1455"/>
              <a:ext cx="379" cy="424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89" name="Oval 69"/>
            <p:cNvSpPr>
              <a:spLocks noChangeArrowheads="1"/>
            </p:cNvSpPr>
            <p:nvPr/>
          </p:nvSpPr>
          <p:spPr bwMode="auto">
            <a:xfrm>
              <a:off x="832" y="1710"/>
              <a:ext cx="256" cy="306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90" name="Oval 70"/>
            <p:cNvSpPr>
              <a:spLocks noChangeArrowheads="1"/>
            </p:cNvSpPr>
            <p:nvPr/>
          </p:nvSpPr>
          <p:spPr bwMode="auto">
            <a:xfrm>
              <a:off x="909" y="1862"/>
              <a:ext cx="435" cy="442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91" name="Oval 71"/>
            <p:cNvSpPr>
              <a:spLocks noChangeArrowheads="1"/>
            </p:cNvSpPr>
            <p:nvPr/>
          </p:nvSpPr>
          <p:spPr bwMode="auto">
            <a:xfrm>
              <a:off x="1086" y="1924"/>
              <a:ext cx="671" cy="444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92" name="Oval 72"/>
            <p:cNvSpPr>
              <a:spLocks noChangeArrowheads="1"/>
            </p:cNvSpPr>
            <p:nvPr/>
          </p:nvSpPr>
          <p:spPr bwMode="auto">
            <a:xfrm>
              <a:off x="1605" y="1488"/>
              <a:ext cx="311" cy="312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93" name="Oval 73"/>
            <p:cNvSpPr>
              <a:spLocks noChangeArrowheads="1"/>
            </p:cNvSpPr>
            <p:nvPr/>
          </p:nvSpPr>
          <p:spPr bwMode="auto">
            <a:xfrm>
              <a:off x="1602" y="1681"/>
              <a:ext cx="366" cy="333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94" name="Oval 74"/>
            <p:cNvSpPr>
              <a:spLocks noChangeArrowheads="1"/>
            </p:cNvSpPr>
            <p:nvPr/>
          </p:nvSpPr>
          <p:spPr bwMode="auto">
            <a:xfrm>
              <a:off x="1569" y="1751"/>
              <a:ext cx="364" cy="547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95" name="Oval 75"/>
            <p:cNvSpPr>
              <a:spLocks noChangeArrowheads="1"/>
            </p:cNvSpPr>
            <p:nvPr/>
          </p:nvSpPr>
          <p:spPr bwMode="auto">
            <a:xfrm>
              <a:off x="912" y="1434"/>
              <a:ext cx="1008" cy="918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1669196" name="Group 76"/>
          <p:cNvGrpSpPr>
            <a:grpSpLocks/>
          </p:cNvGrpSpPr>
          <p:nvPr/>
        </p:nvGrpSpPr>
        <p:grpSpPr bwMode="auto">
          <a:xfrm>
            <a:off x="3276600" y="3962401"/>
            <a:ext cx="2438400" cy="1447800"/>
            <a:chOff x="832" y="1344"/>
            <a:chExt cx="1136" cy="1024"/>
          </a:xfrm>
        </p:grpSpPr>
        <p:sp>
          <p:nvSpPr>
            <p:cNvPr id="1669197" name="Oval 77"/>
            <p:cNvSpPr>
              <a:spLocks noChangeArrowheads="1"/>
            </p:cNvSpPr>
            <p:nvPr/>
          </p:nvSpPr>
          <p:spPr bwMode="auto">
            <a:xfrm>
              <a:off x="1220" y="1344"/>
              <a:ext cx="495" cy="424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98" name="Oval 78"/>
            <p:cNvSpPr>
              <a:spLocks noChangeArrowheads="1"/>
            </p:cNvSpPr>
            <p:nvPr/>
          </p:nvSpPr>
          <p:spPr bwMode="auto">
            <a:xfrm>
              <a:off x="948" y="1455"/>
              <a:ext cx="379" cy="424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199" name="Oval 79"/>
            <p:cNvSpPr>
              <a:spLocks noChangeArrowheads="1"/>
            </p:cNvSpPr>
            <p:nvPr/>
          </p:nvSpPr>
          <p:spPr bwMode="auto">
            <a:xfrm>
              <a:off x="832" y="1710"/>
              <a:ext cx="256" cy="306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200" name="Oval 80"/>
            <p:cNvSpPr>
              <a:spLocks noChangeArrowheads="1"/>
            </p:cNvSpPr>
            <p:nvPr/>
          </p:nvSpPr>
          <p:spPr bwMode="auto">
            <a:xfrm>
              <a:off x="909" y="1862"/>
              <a:ext cx="435" cy="442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201" name="Oval 81"/>
            <p:cNvSpPr>
              <a:spLocks noChangeArrowheads="1"/>
            </p:cNvSpPr>
            <p:nvPr/>
          </p:nvSpPr>
          <p:spPr bwMode="auto">
            <a:xfrm>
              <a:off x="1086" y="1924"/>
              <a:ext cx="671" cy="444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202" name="Oval 82"/>
            <p:cNvSpPr>
              <a:spLocks noChangeArrowheads="1"/>
            </p:cNvSpPr>
            <p:nvPr/>
          </p:nvSpPr>
          <p:spPr bwMode="auto">
            <a:xfrm>
              <a:off x="1605" y="1488"/>
              <a:ext cx="311" cy="312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203" name="Oval 83"/>
            <p:cNvSpPr>
              <a:spLocks noChangeArrowheads="1"/>
            </p:cNvSpPr>
            <p:nvPr/>
          </p:nvSpPr>
          <p:spPr bwMode="auto">
            <a:xfrm>
              <a:off x="1602" y="1681"/>
              <a:ext cx="366" cy="333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204" name="Oval 84"/>
            <p:cNvSpPr>
              <a:spLocks noChangeArrowheads="1"/>
            </p:cNvSpPr>
            <p:nvPr/>
          </p:nvSpPr>
          <p:spPr bwMode="auto">
            <a:xfrm>
              <a:off x="1569" y="1751"/>
              <a:ext cx="364" cy="547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69205" name="Oval 85"/>
            <p:cNvSpPr>
              <a:spLocks noChangeArrowheads="1"/>
            </p:cNvSpPr>
            <p:nvPr/>
          </p:nvSpPr>
          <p:spPr bwMode="auto">
            <a:xfrm>
              <a:off x="912" y="1434"/>
              <a:ext cx="1008" cy="918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sp>
        <p:nvSpPr>
          <p:cNvPr id="1669206" name="Text Box 86"/>
          <p:cNvSpPr txBox="1">
            <a:spLocks noChangeArrowheads="1"/>
          </p:cNvSpPr>
          <p:nvPr/>
        </p:nvSpPr>
        <p:spPr bwMode="auto">
          <a:xfrm>
            <a:off x="3556439" y="3476637"/>
            <a:ext cx="939361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b="0">
                <a:latin typeface="+mn-lt"/>
              </a:rPr>
              <a:t>Server</a:t>
            </a:r>
          </a:p>
        </p:txBody>
      </p:sp>
      <p:sp>
        <p:nvSpPr>
          <p:cNvPr id="1669207" name="Text Box 87"/>
          <p:cNvSpPr txBox="1">
            <a:spLocks noChangeArrowheads="1"/>
          </p:cNvSpPr>
          <p:nvPr/>
        </p:nvSpPr>
        <p:spPr bwMode="auto">
          <a:xfrm>
            <a:off x="252488" y="6143637"/>
            <a:ext cx="867111" cy="3359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>
                <a:latin typeface="+mn-lt"/>
              </a:rPr>
              <a:t>Clients</a:t>
            </a:r>
          </a:p>
        </p:txBody>
      </p:sp>
      <p:sp>
        <p:nvSpPr>
          <p:cNvPr id="1669208" name="Freeform 88"/>
          <p:cNvSpPr>
            <a:spLocks/>
          </p:cNvSpPr>
          <p:nvPr/>
        </p:nvSpPr>
        <p:spPr bwMode="auto">
          <a:xfrm>
            <a:off x="1525600" y="3881439"/>
            <a:ext cx="3043237" cy="2211387"/>
          </a:xfrm>
          <a:custGeom>
            <a:avLst/>
            <a:gdLst>
              <a:gd name="T0" fmla="*/ 1920 w 1920"/>
              <a:gd name="T1" fmla="*/ 0 h 1392"/>
              <a:gd name="T2" fmla="*/ 1776 w 1920"/>
              <a:gd name="T3" fmla="*/ 192 h 1392"/>
              <a:gd name="T4" fmla="*/ 1488 w 1920"/>
              <a:gd name="T5" fmla="*/ 288 h 1392"/>
              <a:gd name="T6" fmla="*/ 864 w 1920"/>
              <a:gd name="T7" fmla="*/ 672 h 1392"/>
              <a:gd name="T8" fmla="*/ 288 w 1920"/>
              <a:gd name="T9" fmla="*/ 1056 h 1392"/>
              <a:gd name="T10" fmla="*/ 0 w 1920"/>
              <a:gd name="T11" fmla="*/ 1392 h 13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920" h="1392">
                <a:moveTo>
                  <a:pt x="1920" y="0"/>
                </a:moveTo>
                <a:lnTo>
                  <a:pt x="1776" y="192"/>
                </a:lnTo>
                <a:lnTo>
                  <a:pt x="1488" y="288"/>
                </a:lnTo>
                <a:lnTo>
                  <a:pt x="864" y="672"/>
                </a:lnTo>
                <a:lnTo>
                  <a:pt x="288" y="1056"/>
                </a:lnTo>
                <a:lnTo>
                  <a:pt x="0" y="1392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1669209" name="Freeform 89"/>
          <p:cNvSpPr>
            <a:spLocks/>
          </p:cNvSpPr>
          <p:nvPr/>
        </p:nvSpPr>
        <p:spPr bwMode="auto">
          <a:xfrm>
            <a:off x="3048000" y="3886200"/>
            <a:ext cx="1600200" cy="2209800"/>
          </a:xfrm>
          <a:custGeom>
            <a:avLst/>
            <a:gdLst>
              <a:gd name="T0" fmla="*/ 1008 w 1008"/>
              <a:gd name="T1" fmla="*/ 0 h 1296"/>
              <a:gd name="T2" fmla="*/ 864 w 1008"/>
              <a:gd name="T3" fmla="*/ 336 h 1296"/>
              <a:gd name="T4" fmla="*/ 0 w 1008"/>
              <a:gd name="T5" fmla="*/ 864 h 1296"/>
              <a:gd name="T6" fmla="*/ 0 w 1008"/>
              <a:gd name="T7" fmla="*/ 1296 h 12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296">
                <a:moveTo>
                  <a:pt x="1008" y="0"/>
                </a:moveTo>
                <a:lnTo>
                  <a:pt x="864" y="336"/>
                </a:lnTo>
                <a:lnTo>
                  <a:pt x="0" y="864"/>
                </a:lnTo>
                <a:lnTo>
                  <a:pt x="0" y="1296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1669210" name="Freeform 90"/>
          <p:cNvSpPr>
            <a:spLocks/>
          </p:cNvSpPr>
          <p:nvPr/>
        </p:nvSpPr>
        <p:spPr bwMode="auto">
          <a:xfrm>
            <a:off x="4724401" y="3886200"/>
            <a:ext cx="2895600" cy="2209800"/>
          </a:xfrm>
          <a:custGeom>
            <a:avLst/>
            <a:gdLst>
              <a:gd name="T0" fmla="*/ 0 w 1824"/>
              <a:gd name="T1" fmla="*/ 0 h 1392"/>
              <a:gd name="T2" fmla="*/ 384 w 1824"/>
              <a:gd name="T3" fmla="*/ 288 h 1392"/>
              <a:gd name="T4" fmla="*/ 672 w 1824"/>
              <a:gd name="T5" fmla="*/ 624 h 1392"/>
              <a:gd name="T6" fmla="*/ 1248 w 1824"/>
              <a:gd name="T7" fmla="*/ 672 h 1392"/>
              <a:gd name="T8" fmla="*/ 1824 w 1824"/>
              <a:gd name="T9" fmla="*/ 1392 h 13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24" h="1392">
                <a:moveTo>
                  <a:pt x="0" y="0"/>
                </a:moveTo>
                <a:lnTo>
                  <a:pt x="384" y="288"/>
                </a:lnTo>
                <a:lnTo>
                  <a:pt x="672" y="624"/>
                </a:lnTo>
                <a:lnTo>
                  <a:pt x="1248" y="672"/>
                </a:lnTo>
                <a:lnTo>
                  <a:pt x="1824" y="1392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1669211" name="Freeform 91"/>
          <p:cNvSpPr>
            <a:spLocks/>
          </p:cNvSpPr>
          <p:nvPr/>
        </p:nvSpPr>
        <p:spPr bwMode="auto">
          <a:xfrm>
            <a:off x="4648200" y="3886200"/>
            <a:ext cx="1600200" cy="2209800"/>
          </a:xfrm>
          <a:custGeom>
            <a:avLst/>
            <a:gdLst>
              <a:gd name="T0" fmla="*/ 0 w 1008"/>
              <a:gd name="T1" fmla="*/ 0 h 1392"/>
              <a:gd name="T2" fmla="*/ 384 w 1008"/>
              <a:gd name="T3" fmla="*/ 432 h 1392"/>
              <a:gd name="T4" fmla="*/ 672 w 1008"/>
              <a:gd name="T5" fmla="*/ 864 h 1392"/>
              <a:gd name="T6" fmla="*/ 912 w 1008"/>
              <a:gd name="T7" fmla="*/ 1008 h 1392"/>
              <a:gd name="T8" fmla="*/ 1008 w 1008"/>
              <a:gd name="T9" fmla="*/ 1392 h 13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08" h="1392">
                <a:moveTo>
                  <a:pt x="0" y="0"/>
                </a:moveTo>
                <a:lnTo>
                  <a:pt x="384" y="432"/>
                </a:lnTo>
                <a:lnTo>
                  <a:pt x="672" y="864"/>
                </a:lnTo>
                <a:lnTo>
                  <a:pt x="912" y="1008"/>
                </a:lnTo>
                <a:lnTo>
                  <a:pt x="1008" y="1392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1669212" name="Text Box 92"/>
          <p:cNvSpPr txBox="1">
            <a:spLocks noChangeArrowheads="1"/>
          </p:cNvSpPr>
          <p:nvPr/>
        </p:nvSpPr>
        <p:spPr bwMode="auto">
          <a:xfrm>
            <a:off x="4087196" y="4860267"/>
            <a:ext cx="1323004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b="0" dirty="0">
                <a:latin typeface="+mn-lt"/>
              </a:rPr>
              <a:t>Tier-1 ISP</a:t>
            </a:r>
          </a:p>
        </p:txBody>
      </p:sp>
      <p:sp>
        <p:nvSpPr>
          <p:cNvPr id="1669213" name="Text Box 93"/>
          <p:cNvSpPr txBox="1">
            <a:spLocks noChangeArrowheads="1"/>
          </p:cNvSpPr>
          <p:nvPr/>
        </p:nvSpPr>
        <p:spPr bwMode="auto">
          <a:xfrm>
            <a:off x="2048383" y="5562600"/>
            <a:ext cx="769068" cy="371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sz="1800" b="0" dirty="0">
                <a:latin typeface="+mn-lt"/>
              </a:rPr>
              <a:t>ISP-1</a:t>
            </a:r>
          </a:p>
        </p:txBody>
      </p:sp>
      <p:sp>
        <p:nvSpPr>
          <p:cNvPr id="1669214" name="Text Box 94"/>
          <p:cNvSpPr txBox="1">
            <a:spLocks noChangeArrowheads="1"/>
          </p:cNvSpPr>
          <p:nvPr/>
        </p:nvSpPr>
        <p:spPr bwMode="auto">
          <a:xfrm>
            <a:off x="6315583" y="5562600"/>
            <a:ext cx="769068" cy="371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sz="1800" b="0" dirty="0">
                <a:latin typeface="+mn-lt"/>
              </a:rPr>
              <a:t>ISP-2</a:t>
            </a:r>
          </a:p>
        </p:txBody>
      </p:sp>
      <p:graphicFrame>
        <p:nvGraphicFramePr>
          <p:cNvPr id="1669215" name="Object 95"/>
          <p:cNvGraphicFramePr>
            <a:graphicFrameLocks noChangeAspect="1"/>
          </p:cNvGraphicFramePr>
          <p:nvPr/>
        </p:nvGraphicFramePr>
        <p:xfrm>
          <a:off x="4486276" y="3429000"/>
          <a:ext cx="314325" cy="515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lip" r:id="rId2" imgW="2106360" imgH="3468960" progId="MS_ClipArt_Gallery.5">
                  <p:embed/>
                </p:oleObj>
              </mc:Choice>
              <mc:Fallback>
                <p:oleObj name="Clip" r:id="rId2" imgW="2106360" imgH="3468960" progId="MS_ClipArt_Gallery.5">
                  <p:embed/>
                  <p:pic>
                    <p:nvPicPr>
                      <p:cNvPr id="1669215" name="Object 9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86276" y="3429000"/>
                        <a:ext cx="314325" cy="515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8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239242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with Reverse Proxies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Cache documents close to server</a:t>
            </a:r>
          </a:p>
          <a:p>
            <a:pPr lvl="1"/>
            <a:r>
              <a:rPr lang="en-US" dirty="0">
                <a:sym typeface="Wingdings" charset="0"/>
              </a:rPr>
              <a:t>Decrease server load</a:t>
            </a:r>
          </a:p>
          <a:p>
            <a:pPr lvl="1"/>
            <a:r>
              <a:rPr lang="en-US" dirty="0">
                <a:sym typeface="Wingdings" charset="0"/>
              </a:rPr>
              <a:t>By content provider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19AB70-D6FE-DE43-9249-3D4CC9E346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8" name="Slide Number Placeholder 3"/>
          <p:cNvSpPr txBox="1">
            <a:spLocks/>
          </p:cNvSpPr>
          <p:nvPr/>
        </p:nvSpPr>
        <p:spPr bwMode="auto">
          <a:xfrm>
            <a:off x="8001000" y="6248400"/>
            <a:ext cx="609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75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fld id="{A190D881-957A-7944-A8D0-1584E528B88F}" type="slidenum">
              <a:rPr lang="en-US" smtClean="0"/>
              <a:pPr/>
              <a:t>10</a:t>
            </a:fld>
            <a:endParaRPr lang="en-US"/>
          </a:p>
        </p:txBody>
      </p:sp>
      <p:grpSp>
        <p:nvGrpSpPr>
          <p:cNvPr id="9" name="Group 4"/>
          <p:cNvGrpSpPr>
            <a:grpSpLocks/>
          </p:cNvGrpSpPr>
          <p:nvPr/>
        </p:nvGrpSpPr>
        <p:grpSpPr bwMode="auto">
          <a:xfrm>
            <a:off x="6019800" y="6096001"/>
            <a:ext cx="371475" cy="381000"/>
            <a:chOff x="1014" y="912"/>
            <a:chExt cx="574" cy="596"/>
          </a:xfrm>
        </p:grpSpPr>
        <p:sp>
          <p:nvSpPr>
            <p:cNvPr id="10" name="Freeform 5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1" name="Line 6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3" name="Freeform 8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7" name="Rectangle 12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8" name="Freeform 13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22" name="Group 17"/>
          <p:cNvGrpSpPr>
            <a:grpSpLocks/>
          </p:cNvGrpSpPr>
          <p:nvPr/>
        </p:nvGrpSpPr>
        <p:grpSpPr bwMode="auto">
          <a:xfrm>
            <a:off x="7477125" y="6096001"/>
            <a:ext cx="371475" cy="381000"/>
            <a:chOff x="1014" y="912"/>
            <a:chExt cx="574" cy="596"/>
          </a:xfrm>
        </p:grpSpPr>
        <p:sp>
          <p:nvSpPr>
            <p:cNvPr id="23" name="Freeform 18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6" name="Freeform 21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0" name="Rectangle 25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1" name="Freeform 26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35" name="Group 30"/>
          <p:cNvGrpSpPr>
            <a:grpSpLocks/>
          </p:cNvGrpSpPr>
          <p:nvPr/>
        </p:nvGrpSpPr>
        <p:grpSpPr bwMode="auto">
          <a:xfrm>
            <a:off x="1219200" y="6096001"/>
            <a:ext cx="371475" cy="381000"/>
            <a:chOff x="1014" y="912"/>
            <a:chExt cx="574" cy="596"/>
          </a:xfrm>
        </p:grpSpPr>
        <p:sp>
          <p:nvSpPr>
            <p:cNvPr id="36" name="Freeform 31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7" name="Line 32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8" name="Line 33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9" name="Freeform 34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0" name="Line 35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1" name="Line 36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2" name="Line 37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3" name="Rectangle 38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4" name="Freeform 39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48" name="Group 43"/>
          <p:cNvGrpSpPr>
            <a:grpSpLocks/>
          </p:cNvGrpSpPr>
          <p:nvPr/>
        </p:nvGrpSpPr>
        <p:grpSpPr bwMode="auto">
          <a:xfrm>
            <a:off x="2895600" y="6096001"/>
            <a:ext cx="371475" cy="381000"/>
            <a:chOff x="1014" y="912"/>
            <a:chExt cx="574" cy="596"/>
          </a:xfrm>
        </p:grpSpPr>
        <p:sp>
          <p:nvSpPr>
            <p:cNvPr id="49" name="Freeform 44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2" name="Freeform 47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6" name="Rectangle 51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7" name="Freeform 52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9" name="Line 54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60" name="Line 55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61" name="Group 56"/>
          <p:cNvGrpSpPr>
            <a:grpSpLocks/>
          </p:cNvGrpSpPr>
          <p:nvPr/>
        </p:nvGrpSpPr>
        <p:grpSpPr bwMode="auto">
          <a:xfrm>
            <a:off x="1371600" y="4572000"/>
            <a:ext cx="2179638" cy="1447800"/>
            <a:chOff x="832" y="1344"/>
            <a:chExt cx="1136" cy="1024"/>
          </a:xfrm>
        </p:grpSpPr>
        <p:sp>
          <p:nvSpPr>
            <p:cNvPr id="62" name="Oval 57"/>
            <p:cNvSpPr>
              <a:spLocks noChangeArrowheads="1"/>
            </p:cNvSpPr>
            <p:nvPr/>
          </p:nvSpPr>
          <p:spPr bwMode="auto">
            <a:xfrm>
              <a:off x="1220" y="1344"/>
              <a:ext cx="495" cy="424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63" name="Oval 58"/>
            <p:cNvSpPr>
              <a:spLocks noChangeArrowheads="1"/>
            </p:cNvSpPr>
            <p:nvPr/>
          </p:nvSpPr>
          <p:spPr bwMode="auto">
            <a:xfrm>
              <a:off x="948" y="1455"/>
              <a:ext cx="379" cy="424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64" name="Oval 59"/>
            <p:cNvSpPr>
              <a:spLocks noChangeArrowheads="1"/>
            </p:cNvSpPr>
            <p:nvPr/>
          </p:nvSpPr>
          <p:spPr bwMode="auto">
            <a:xfrm>
              <a:off x="832" y="1710"/>
              <a:ext cx="256" cy="306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65" name="Oval 60"/>
            <p:cNvSpPr>
              <a:spLocks noChangeArrowheads="1"/>
            </p:cNvSpPr>
            <p:nvPr/>
          </p:nvSpPr>
          <p:spPr bwMode="auto">
            <a:xfrm>
              <a:off x="909" y="1862"/>
              <a:ext cx="435" cy="442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66" name="Oval 61"/>
            <p:cNvSpPr>
              <a:spLocks noChangeArrowheads="1"/>
            </p:cNvSpPr>
            <p:nvPr/>
          </p:nvSpPr>
          <p:spPr bwMode="auto">
            <a:xfrm>
              <a:off x="1086" y="1924"/>
              <a:ext cx="671" cy="444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67" name="Oval 62"/>
            <p:cNvSpPr>
              <a:spLocks noChangeArrowheads="1"/>
            </p:cNvSpPr>
            <p:nvPr/>
          </p:nvSpPr>
          <p:spPr bwMode="auto">
            <a:xfrm>
              <a:off x="1605" y="1488"/>
              <a:ext cx="311" cy="312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68" name="Oval 63"/>
            <p:cNvSpPr>
              <a:spLocks noChangeArrowheads="1"/>
            </p:cNvSpPr>
            <p:nvPr/>
          </p:nvSpPr>
          <p:spPr bwMode="auto">
            <a:xfrm>
              <a:off x="1602" y="1681"/>
              <a:ext cx="366" cy="333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69" name="Oval 64"/>
            <p:cNvSpPr>
              <a:spLocks noChangeArrowheads="1"/>
            </p:cNvSpPr>
            <p:nvPr/>
          </p:nvSpPr>
          <p:spPr bwMode="auto">
            <a:xfrm>
              <a:off x="1569" y="1751"/>
              <a:ext cx="364" cy="547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0" name="Oval 65"/>
            <p:cNvSpPr>
              <a:spLocks noChangeArrowheads="1"/>
            </p:cNvSpPr>
            <p:nvPr/>
          </p:nvSpPr>
          <p:spPr bwMode="auto">
            <a:xfrm>
              <a:off x="912" y="1434"/>
              <a:ext cx="1008" cy="918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71" name="Group 66"/>
          <p:cNvGrpSpPr>
            <a:grpSpLocks/>
          </p:cNvGrpSpPr>
          <p:nvPr/>
        </p:nvGrpSpPr>
        <p:grpSpPr bwMode="auto">
          <a:xfrm>
            <a:off x="5440364" y="4572000"/>
            <a:ext cx="2179637" cy="1447800"/>
            <a:chOff x="832" y="1344"/>
            <a:chExt cx="1136" cy="1024"/>
          </a:xfrm>
        </p:grpSpPr>
        <p:sp>
          <p:nvSpPr>
            <p:cNvPr id="72" name="Oval 67"/>
            <p:cNvSpPr>
              <a:spLocks noChangeArrowheads="1"/>
            </p:cNvSpPr>
            <p:nvPr/>
          </p:nvSpPr>
          <p:spPr bwMode="auto">
            <a:xfrm>
              <a:off x="1220" y="1344"/>
              <a:ext cx="495" cy="424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3" name="Oval 68"/>
            <p:cNvSpPr>
              <a:spLocks noChangeArrowheads="1"/>
            </p:cNvSpPr>
            <p:nvPr/>
          </p:nvSpPr>
          <p:spPr bwMode="auto">
            <a:xfrm>
              <a:off x="948" y="1455"/>
              <a:ext cx="379" cy="424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4" name="Oval 69"/>
            <p:cNvSpPr>
              <a:spLocks noChangeArrowheads="1"/>
            </p:cNvSpPr>
            <p:nvPr/>
          </p:nvSpPr>
          <p:spPr bwMode="auto">
            <a:xfrm>
              <a:off x="832" y="1710"/>
              <a:ext cx="256" cy="306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5" name="Oval 70"/>
            <p:cNvSpPr>
              <a:spLocks noChangeArrowheads="1"/>
            </p:cNvSpPr>
            <p:nvPr/>
          </p:nvSpPr>
          <p:spPr bwMode="auto">
            <a:xfrm>
              <a:off x="909" y="1862"/>
              <a:ext cx="435" cy="442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6" name="Oval 71"/>
            <p:cNvSpPr>
              <a:spLocks noChangeArrowheads="1"/>
            </p:cNvSpPr>
            <p:nvPr/>
          </p:nvSpPr>
          <p:spPr bwMode="auto">
            <a:xfrm>
              <a:off x="1086" y="1924"/>
              <a:ext cx="671" cy="444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7" name="Oval 72"/>
            <p:cNvSpPr>
              <a:spLocks noChangeArrowheads="1"/>
            </p:cNvSpPr>
            <p:nvPr/>
          </p:nvSpPr>
          <p:spPr bwMode="auto">
            <a:xfrm>
              <a:off x="1605" y="1488"/>
              <a:ext cx="311" cy="312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8" name="Oval 73"/>
            <p:cNvSpPr>
              <a:spLocks noChangeArrowheads="1"/>
            </p:cNvSpPr>
            <p:nvPr/>
          </p:nvSpPr>
          <p:spPr bwMode="auto">
            <a:xfrm>
              <a:off x="1602" y="1681"/>
              <a:ext cx="366" cy="333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9" name="Oval 74"/>
            <p:cNvSpPr>
              <a:spLocks noChangeArrowheads="1"/>
            </p:cNvSpPr>
            <p:nvPr/>
          </p:nvSpPr>
          <p:spPr bwMode="auto">
            <a:xfrm>
              <a:off x="1569" y="1751"/>
              <a:ext cx="364" cy="547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0" name="Oval 75"/>
            <p:cNvSpPr>
              <a:spLocks noChangeArrowheads="1"/>
            </p:cNvSpPr>
            <p:nvPr/>
          </p:nvSpPr>
          <p:spPr bwMode="auto">
            <a:xfrm>
              <a:off x="912" y="1434"/>
              <a:ext cx="1008" cy="918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81" name="Group 76"/>
          <p:cNvGrpSpPr>
            <a:grpSpLocks/>
          </p:cNvGrpSpPr>
          <p:nvPr/>
        </p:nvGrpSpPr>
        <p:grpSpPr bwMode="auto">
          <a:xfrm>
            <a:off x="3276600" y="3962401"/>
            <a:ext cx="2438400" cy="1447800"/>
            <a:chOff x="832" y="1344"/>
            <a:chExt cx="1136" cy="1024"/>
          </a:xfrm>
        </p:grpSpPr>
        <p:sp>
          <p:nvSpPr>
            <p:cNvPr id="82" name="Oval 77"/>
            <p:cNvSpPr>
              <a:spLocks noChangeArrowheads="1"/>
            </p:cNvSpPr>
            <p:nvPr/>
          </p:nvSpPr>
          <p:spPr bwMode="auto">
            <a:xfrm>
              <a:off x="1220" y="1344"/>
              <a:ext cx="495" cy="424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3" name="Oval 78"/>
            <p:cNvSpPr>
              <a:spLocks noChangeArrowheads="1"/>
            </p:cNvSpPr>
            <p:nvPr/>
          </p:nvSpPr>
          <p:spPr bwMode="auto">
            <a:xfrm>
              <a:off x="948" y="1455"/>
              <a:ext cx="379" cy="424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4" name="Oval 79"/>
            <p:cNvSpPr>
              <a:spLocks noChangeArrowheads="1"/>
            </p:cNvSpPr>
            <p:nvPr/>
          </p:nvSpPr>
          <p:spPr bwMode="auto">
            <a:xfrm>
              <a:off x="832" y="1710"/>
              <a:ext cx="256" cy="306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5" name="Oval 80"/>
            <p:cNvSpPr>
              <a:spLocks noChangeArrowheads="1"/>
            </p:cNvSpPr>
            <p:nvPr/>
          </p:nvSpPr>
          <p:spPr bwMode="auto">
            <a:xfrm>
              <a:off x="909" y="1862"/>
              <a:ext cx="435" cy="442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6" name="Oval 81"/>
            <p:cNvSpPr>
              <a:spLocks noChangeArrowheads="1"/>
            </p:cNvSpPr>
            <p:nvPr/>
          </p:nvSpPr>
          <p:spPr bwMode="auto">
            <a:xfrm>
              <a:off x="1086" y="1924"/>
              <a:ext cx="671" cy="444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7" name="Oval 82"/>
            <p:cNvSpPr>
              <a:spLocks noChangeArrowheads="1"/>
            </p:cNvSpPr>
            <p:nvPr/>
          </p:nvSpPr>
          <p:spPr bwMode="auto">
            <a:xfrm>
              <a:off x="1605" y="1488"/>
              <a:ext cx="311" cy="312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8" name="Oval 83"/>
            <p:cNvSpPr>
              <a:spLocks noChangeArrowheads="1"/>
            </p:cNvSpPr>
            <p:nvPr/>
          </p:nvSpPr>
          <p:spPr bwMode="auto">
            <a:xfrm>
              <a:off x="1602" y="1681"/>
              <a:ext cx="366" cy="333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9" name="Oval 84"/>
            <p:cNvSpPr>
              <a:spLocks noChangeArrowheads="1"/>
            </p:cNvSpPr>
            <p:nvPr/>
          </p:nvSpPr>
          <p:spPr bwMode="auto">
            <a:xfrm>
              <a:off x="1569" y="1751"/>
              <a:ext cx="364" cy="547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90" name="Oval 85"/>
            <p:cNvSpPr>
              <a:spLocks noChangeArrowheads="1"/>
            </p:cNvSpPr>
            <p:nvPr/>
          </p:nvSpPr>
          <p:spPr bwMode="auto">
            <a:xfrm>
              <a:off x="912" y="1434"/>
              <a:ext cx="1008" cy="918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sp>
        <p:nvSpPr>
          <p:cNvPr id="92" name="Text Box 87"/>
          <p:cNvSpPr txBox="1">
            <a:spLocks noChangeArrowheads="1"/>
          </p:cNvSpPr>
          <p:nvPr/>
        </p:nvSpPr>
        <p:spPr bwMode="auto">
          <a:xfrm>
            <a:off x="252488" y="6143637"/>
            <a:ext cx="867111" cy="3359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>
                <a:latin typeface="+mn-lt"/>
              </a:rPr>
              <a:t>Clients</a:t>
            </a:r>
          </a:p>
        </p:txBody>
      </p:sp>
      <p:sp>
        <p:nvSpPr>
          <p:cNvPr id="93" name="Freeform 88"/>
          <p:cNvSpPr>
            <a:spLocks/>
          </p:cNvSpPr>
          <p:nvPr/>
        </p:nvSpPr>
        <p:spPr bwMode="auto">
          <a:xfrm>
            <a:off x="1525600" y="3881439"/>
            <a:ext cx="3043237" cy="2211387"/>
          </a:xfrm>
          <a:custGeom>
            <a:avLst/>
            <a:gdLst>
              <a:gd name="T0" fmla="*/ 1920 w 1920"/>
              <a:gd name="T1" fmla="*/ 0 h 1392"/>
              <a:gd name="T2" fmla="*/ 1776 w 1920"/>
              <a:gd name="T3" fmla="*/ 192 h 1392"/>
              <a:gd name="T4" fmla="*/ 1488 w 1920"/>
              <a:gd name="T5" fmla="*/ 288 h 1392"/>
              <a:gd name="T6" fmla="*/ 864 w 1920"/>
              <a:gd name="T7" fmla="*/ 672 h 1392"/>
              <a:gd name="T8" fmla="*/ 288 w 1920"/>
              <a:gd name="T9" fmla="*/ 1056 h 1392"/>
              <a:gd name="T10" fmla="*/ 0 w 1920"/>
              <a:gd name="T11" fmla="*/ 1392 h 13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920" h="1392">
                <a:moveTo>
                  <a:pt x="1920" y="0"/>
                </a:moveTo>
                <a:lnTo>
                  <a:pt x="1776" y="192"/>
                </a:lnTo>
                <a:lnTo>
                  <a:pt x="1488" y="288"/>
                </a:lnTo>
                <a:lnTo>
                  <a:pt x="864" y="672"/>
                </a:lnTo>
                <a:lnTo>
                  <a:pt x="288" y="1056"/>
                </a:lnTo>
                <a:lnTo>
                  <a:pt x="0" y="1392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94" name="Freeform 89"/>
          <p:cNvSpPr>
            <a:spLocks/>
          </p:cNvSpPr>
          <p:nvPr/>
        </p:nvSpPr>
        <p:spPr bwMode="auto">
          <a:xfrm>
            <a:off x="3048000" y="3886200"/>
            <a:ext cx="1600200" cy="2209800"/>
          </a:xfrm>
          <a:custGeom>
            <a:avLst/>
            <a:gdLst>
              <a:gd name="T0" fmla="*/ 1008 w 1008"/>
              <a:gd name="T1" fmla="*/ 0 h 1296"/>
              <a:gd name="T2" fmla="*/ 864 w 1008"/>
              <a:gd name="T3" fmla="*/ 336 h 1296"/>
              <a:gd name="T4" fmla="*/ 0 w 1008"/>
              <a:gd name="T5" fmla="*/ 864 h 1296"/>
              <a:gd name="T6" fmla="*/ 0 w 1008"/>
              <a:gd name="T7" fmla="*/ 1296 h 12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296">
                <a:moveTo>
                  <a:pt x="1008" y="0"/>
                </a:moveTo>
                <a:lnTo>
                  <a:pt x="864" y="336"/>
                </a:lnTo>
                <a:lnTo>
                  <a:pt x="0" y="864"/>
                </a:lnTo>
                <a:lnTo>
                  <a:pt x="0" y="1296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95" name="Freeform 90"/>
          <p:cNvSpPr>
            <a:spLocks/>
          </p:cNvSpPr>
          <p:nvPr/>
        </p:nvSpPr>
        <p:spPr bwMode="auto">
          <a:xfrm>
            <a:off x="4724401" y="3886200"/>
            <a:ext cx="2895600" cy="2209800"/>
          </a:xfrm>
          <a:custGeom>
            <a:avLst/>
            <a:gdLst>
              <a:gd name="T0" fmla="*/ 0 w 1824"/>
              <a:gd name="T1" fmla="*/ 0 h 1392"/>
              <a:gd name="T2" fmla="*/ 384 w 1824"/>
              <a:gd name="T3" fmla="*/ 288 h 1392"/>
              <a:gd name="T4" fmla="*/ 672 w 1824"/>
              <a:gd name="T5" fmla="*/ 624 h 1392"/>
              <a:gd name="T6" fmla="*/ 1248 w 1824"/>
              <a:gd name="T7" fmla="*/ 672 h 1392"/>
              <a:gd name="T8" fmla="*/ 1824 w 1824"/>
              <a:gd name="T9" fmla="*/ 1392 h 13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24" h="1392">
                <a:moveTo>
                  <a:pt x="0" y="0"/>
                </a:moveTo>
                <a:lnTo>
                  <a:pt x="384" y="288"/>
                </a:lnTo>
                <a:lnTo>
                  <a:pt x="672" y="624"/>
                </a:lnTo>
                <a:lnTo>
                  <a:pt x="1248" y="672"/>
                </a:lnTo>
                <a:lnTo>
                  <a:pt x="1824" y="1392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96" name="Freeform 91"/>
          <p:cNvSpPr>
            <a:spLocks/>
          </p:cNvSpPr>
          <p:nvPr/>
        </p:nvSpPr>
        <p:spPr bwMode="auto">
          <a:xfrm>
            <a:off x="4648200" y="3886200"/>
            <a:ext cx="1600200" cy="2209800"/>
          </a:xfrm>
          <a:custGeom>
            <a:avLst/>
            <a:gdLst>
              <a:gd name="T0" fmla="*/ 0 w 1008"/>
              <a:gd name="T1" fmla="*/ 0 h 1392"/>
              <a:gd name="T2" fmla="*/ 384 w 1008"/>
              <a:gd name="T3" fmla="*/ 432 h 1392"/>
              <a:gd name="T4" fmla="*/ 672 w 1008"/>
              <a:gd name="T5" fmla="*/ 864 h 1392"/>
              <a:gd name="T6" fmla="*/ 912 w 1008"/>
              <a:gd name="T7" fmla="*/ 1008 h 1392"/>
              <a:gd name="T8" fmla="*/ 1008 w 1008"/>
              <a:gd name="T9" fmla="*/ 1392 h 13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08" h="1392">
                <a:moveTo>
                  <a:pt x="0" y="0"/>
                </a:moveTo>
                <a:lnTo>
                  <a:pt x="384" y="432"/>
                </a:lnTo>
                <a:lnTo>
                  <a:pt x="672" y="864"/>
                </a:lnTo>
                <a:lnTo>
                  <a:pt x="912" y="1008"/>
                </a:lnTo>
                <a:lnTo>
                  <a:pt x="1008" y="1392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97" name="Text Box 92"/>
          <p:cNvSpPr txBox="1">
            <a:spLocks noChangeArrowheads="1"/>
          </p:cNvSpPr>
          <p:nvPr/>
        </p:nvSpPr>
        <p:spPr bwMode="auto">
          <a:xfrm>
            <a:off x="4087196" y="4860267"/>
            <a:ext cx="1323004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b="0" dirty="0">
                <a:latin typeface="+mn-lt"/>
              </a:rPr>
              <a:t>Tier-1 ISP</a:t>
            </a:r>
          </a:p>
        </p:txBody>
      </p:sp>
      <p:sp>
        <p:nvSpPr>
          <p:cNvPr id="98" name="Text Box 93"/>
          <p:cNvSpPr txBox="1">
            <a:spLocks noChangeArrowheads="1"/>
          </p:cNvSpPr>
          <p:nvPr/>
        </p:nvSpPr>
        <p:spPr bwMode="auto">
          <a:xfrm>
            <a:off x="2048383" y="5562600"/>
            <a:ext cx="769068" cy="371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sz="1800" b="0" dirty="0">
                <a:latin typeface="+mn-lt"/>
              </a:rPr>
              <a:t>ISP-1</a:t>
            </a:r>
          </a:p>
        </p:txBody>
      </p:sp>
      <p:sp>
        <p:nvSpPr>
          <p:cNvPr id="99" name="Text Box 94"/>
          <p:cNvSpPr txBox="1">
            <a:spLocks noChangeArrowheads="1"/>
          </p:cNvSpPr>
          <p:nvPr/>
        </p:nvSpPr>
        <p:spPr bwMode="auto">
          <a:xfrm>
            <a:off x="6315583" y="5562600"/>
            <a:ext cx="769068" cy="371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sz="1800" b="0" dirty="0">
                <a:latin typeface="+mn-lt"/>
              </a:rPr>
              <a:t>ISP-2</a:t>
            </a:r>
          </a:p>
        </p:txBody>
      </p:sp>
      <p:graphicFrame>
        <p:nvGraphicFramePr>
          <p:cNvPr id="101" name="Object 2"/>
          <p:cNvGraphicFramePr>
            <a:graphicFrameLocks noChangeAspect="1"/>
          </p:cNvGraphicFramePr>
          <p:nvPr/>
        </p:nvGraphicFramePr>
        <p:xfrm>
          <a:off x="4562474" y="2566987"/>
          <a:ext cx="314325" cy="515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lip" r:id="rId2" imgW="2107949" imgH="3470495" progId="MS_ClipArt_Gallery.5">
                  <p:embed/>
                </p:oleObj>
              </mc:Choice>
              <mc:Fallback>
                <p:oleObj name="Clip" r:id="rId2" imgW="2107949" imgH="3470495" progId="MS_ClipArt_Gallery.5">
                  <p:embed/>
                  <p:pic>
                    <p:nvPicPr>
                      <p:cNvPr id="101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62474" y="2566987"/>
                        <a:ext cx="314325" cy="515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8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" name="Rectangle 96"/>
          <p:cNvSpPr>
            <a:spLocks noChangeArrowheads="1"/>
          </p:cNvSpPr>
          <p:nvPr/>
        </p:nvSpPr>
        <p:spPr bwMode="auto">
          <a:xfrm>
            <a:off x="4114799" y="3586162"/>
            <a:ext cx="236538" cy="228600"/>
          </a:xfrm>
          <a:prstGeom prst="rect">
            <a:avLst/>
          </a:prstGeom>
          <a:solidFill>
            <a:srgbClr val="EAEAEA"/>
          </a:solidFill>
          <a:ln w="9525">
            <a:miter lim="800000"/>
            <a:headEnd/>
            <a:tailEnd/>
          </a:ln>
          <a:scene3d>
            <a:camera prst="legacyObliqueTopLeft"/>
            <a:lightRig rig="legacyFlat3" dir="t"/>
          </a:scene3d>
          <a:sp3d extrusionH="125400" prstMaterial="legacyMatte">
            <a:bevelT w="13500" h="13500" prst="angle"/>
            <a:bevelB w="13500" h="13500" prst="angle"/>
            <a:extrusionClr>
              <a:srgbClr val="EAEAEA"/>
            </a:extrusionClr>
          </a:sp3d>
        </p:spPr>
        <p:txBody>
          <a:bodyPr wrap="none" lIns="90431" tIns="44423" rIns="90431" bIns="44423" anchor="ctr">
            <a:flatTx/>
          </a:bodyPr>
          <a:lstStyle/>
          <a:p>
            <a:endParaRPr lang="en-US"/>
          </a:p>
        </p:txBody>
      </p:sp>
      <p:sp>
        <p:nvSpPr>
          <p:cNvPr id="103" name="Rectangle 97"/>
          <p:cNvSpPr>
            <a:spLocks noChangeArrowheads="1"/>
          </p:cNvSpPr>
          <p:nvPr/>
        </p:nvSpPr>
        <p:spPr bwMode="auto">
          <a:xfrm>
            <a:off x="4648199" y="3586162"/>
            <a:ext cx="236538" cy="228600"/>
          </a:xfrm>
          <a:prstGeom prst="rect">
            <a:avLst/>
          </a:prstGeom>
          <a:solidFill>
            <a:srgbClr val="EAEAEA"/>
          </a:solidFill>
          <a:ln w="9525">
            <a:miter lim="800000"/>
            <a:headEnd/>
            <a:tailEnd/>
          </a:ln>
          <a:scene3d>
            <a:camera prst="legacyObliqueTopLeft"/>
            <a:lightRig rig="legacyFlat3" dir="t"/>
          </a:scene3d>
          <a:sp3d extrusionH="125400" prstMaterial="legacyMatte">
            <a:bevelT w="13500" h="13500" prst="angle"/>
            <a:bevelB w="13500" h="13500" prst="angle"/>
            <a:extrusionClr>
              <a:srgbClr val="EAEAEA"/>
            </a:extrusionClr>
          </a:sp3d>
        </p:spPr>
        <p:txBody>
          <a:bodyPr wrap="none" lIns="90431" tIns="44423" rIns="90431" bIns="44423" anchor="ctr">
            <a:flatTx/>
          </a:bodyPr>
          <a:lstStyle/>
          <a:p>
            <a:endParaRPr lang="en-US"/>
          </a:p>
        </p:txBody>
      </p:sp>
      <p:sp>
        <p:nvSpPr>
          <p:cNvPr id="104" name="Rectangle 98"/>
          <p:cNvSpPr>
            <a:spLocks noChangeArrowheads="1"/>
          </p:cNvSpPr>
          <p:nvPr/>
        </p:nvSpPr>
        <p:spPr bwMode="auto">
          <a:xfrm>
            <a:off x="5105399" y="3586162"/>
            <a:ext cx="236538" cy="228600"/>
          </a:xfrm>
          <a:prstGeom prst="rect">
            <a:avLst/>
          </a:prstGeom>
          <a:solidFill>
            <a:srgbClr val="EAEAEA"/>
          </a:solidFill>
          <a:ln w="9525">
            <a:miter lim="800000"/>
            <a:headEnd/>
            <a:tailEnd/>
          </a:ln>
          <a:scene3d>
            <a:camera prst="legacyObliqueTopLeft"/>
            <a:lightRig rig="legacyFlat3" dir="t"/>
          </a:scene3d>
          <a:sp3d extrusionH="125400" prstMaterial="legacyMatte">
            <a:bevelT w="13500" h="13500" prst="angle"/>
            <a:bevelB w="13500" h="13500" prst="angle"/>
            <a:extrusionClr>
              <a:srgbClr val="EAEAEA"/>
            </a:extrusionClr>
          </a:sp3d>
        </p:spPr>
        <p:txBody>
          <a:bodyPr wrap="none" lIns="90431" tIns="44423" rIns="90431" bIns="44423" anchor="ctr">
            <a:flatTx/>
          </a:bodyPr>
          <a:lstStyle/>
          <a:p>
            <a:endParaRPr lang="en-US"/>
          </a:p>
        </p:txBody>
      </p:sp>
      <p:sp>
        <p:nvSpPr>
          <p:cNvPr id="105" name="Oval 99"/>
          <p:cNvSpPr>
            <a:spLocks noChangeArrowheads="1"/>
          </p:cNvSpPr>
          <p:nvPr/>
        </p:nvSpPr>
        <p:spPr bwMode="auto">
          <a:xfrm>
            <a:off x="3659187" y="3429000"/>
            <a:ext cx="1979612" cy="457200"/>
          </a:xfrm>
          <a:prstGeom prst="ellipse">
            <a:avLst/>
          </a:prstGeom>
          <a:noFill/>
          <a:ln w="127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0431" tIns="44423" rIns="90431" bIns="44423" anchor="ctr"/>
          <a:lstStyle/>
          <a:p>
            <a:endParaRPr lang="en-US">
              <a:solidFill>
                <a:srgbClr val="0000FF"/>
              </a:solidFill>
            </a:endParaRPr>
          </a:p>
        </p:txBody>
      </p:sp>
      <p:sp>
        <p:nvSpPr>
          <p:cNvPr id="106" name="Line 100"/>
          <p:cNvSpPr>
            <a:spLocks noChangeShapeType="1"/>
          </p:cNvSpPr>
          <p:nvPr/>
        </p:nvSpPr>
        <p:spPr bwMode="auto">
          <a:xfrm>
            <a:off x="4722824" y="3052763"/>
            <a:ext cx="1587" cy="381000"/>
          </a:xfrm>
          <a:prstGeom prst="line">
            <a:avLst/>
          </a:prstGeom>
          <a:noFill/>
          <a:ln w="25400">
            <a:solidFill>
              <a:schemeClr val="tx2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31" tIns="44423" rIns="90431" bIns="44423"/>
          <a:lstStyle/>
          <a:p>
            <a:endParaRPr lang="en-US"/>
          </a:p>
        </p:txBody>
      </p:sp>
      <p:sp>
        <p:nvSpPr>
          <p:cNvPr id="107" name="Text Box 101"/>
          <p:cNvSpPr txBox="1">
            <a:spLocks noChangeArrowheads="1"/>
          </p:cNvSpPr>
          <p:nvPr/>
        </p:nvSpPr>
        <p:spPr bwMode="auto">
          <a:xfrm>
            <a:off x="1981200" y="3481399"/>
            <a:ext cx="1681142" cy="338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31" tIns="44423" rIns="90431" bIns="44423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600" b="0">
                <a:solidFill>
                  <a:srgbClr val="0000FF"/>
                </a:solidFill>
                <a:latin typeface="Arial" charset="0"/>
              </a:rPr>
              <a:t>Reverse proxies</a:t>
            </a:r>
          </a:p>
        </p:txBody>
      </p:sp>
    </p:spTree>
    <p:extLst>
      <p:ext uri="{BB962C8B-B14F-4D97-AF65-F5344CB8AC3E}">
        <p14:creationId xmlns:p14="http://schemas.microsoft.com/office/powerpoint/2010/main" val="1314409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with Forward Proxies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Cache documents close to clients </a:t>
            </a:r>
          </a:p>
          <a:p>
            <a:pPr lvl="1"/>
            <a:r>
              <a:rPr lang="en-US" dirty="0">
                <a:sym typeface="Wingdings" charset="0"/>
              </a:rPr>
              <a:t>Reduce network traffic and decrease latency</a:t>
            </a:r>
          </a:p>
          <a:p>
            <a:pPr lvl="1"/>
            <a:r>
              <a:rPr lang="en-US" dirty="0">
                <a:sym typeface="Wingdings" charset="0"/>
              </a:rPr>
              <a:t>By ISPs or enterprises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0EDF8-B488-C741-B059-D0C0D4D511B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8" name="Slide Number Placeholder 3"/>
          <p:cNvSpPr txBox="1">
            <a:spLocks/>
          </p:cNvSpPr>
          <p:nvPr/>
        </p:nvSpPr>
        <p:spPr bwMode="auto">
          <a:xfrm>
            <a:off x="8001000" y="6248400"/>
            <a:ext cx="609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75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5pPr>
            <a:lvl6pPr marL="22860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6pPr>
            <a:lvl7pPr marL="27432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7pPr>
            <a:lvl8pPr marL="32004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8pPr>
            <a:lvl9pPr marL="3657600" algn="l" defTabSz="457200" rtl="0" eaLnBrk="1" latinLnBrk="0" hangingPunct="1">
              <a:defRPr sz="1600" b="1" kern="12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9pPr>
          </a:lstStyle>
          <a:p>
            <a:fld id="{A190D881-957A-7944-A8D0-1584E528B88F}" type="slidenum">
              <a:rPr lang="en-US" smtClean="0"/>
              <a:pPr/>
              <a:t>11</a:t>
            </a:fld>
            <a:endParaRPr lang="en-US"/>
          </a:p>
        </p:txBody>
      </p:sp>
      <p:grpSp>
        <p:nvGrpSpPr>
          <p:cNvPr id="9" name="Group 4"/>
          <p:cNvGrpSpPr>
            <a:grpSpLocks/>
          </p:cNvGrpSpPr>
          <p:nvPr/>
        </p:nvGrpSpPr>
        <p:grpSpPr bwMode="auto">
          <a:xfrm>
            <a:off x="6019800" y="6096001"/>
            <a:ext cx="371475" cy="381000"/>
            <a:chOff x="1014" y="912"/>
            <a:chExt cx="574" cy="596"/>
          </a:xfrm>
        </p:grpSpPr>
        <p:sp>
          <p:nvSpPr>
            <p:cNvPr id="10" name="Freeform 5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1" name="Line 6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2" name="Line 7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3" name="Freeform 8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6" name="Line 11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7" name="Rectangle 12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8" name="Freeform 13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22" name="Group 17"/>
          <p:cNvGrpSpPr>
            <a:grpSpLocks/>
          </p:cNvGrpSpPr>
          <p:nvPr/>
        </p:nvGrpSpPr>
        <p:grpSpPr bwMode="auto">
          <a:xfrm>
            <a:off x="7477125" y="6096001"/>
            <a:ext cx="371475" cy="381000"/>
            <a:chOff x="1014" y="912"/>
            <a:chExt cx="574" cy="596"/>
          </a:xfrm>
        </p:grpSpPr>
        <p:sp>
          <p:nvSpPr>
            <p:cNvPr id="23" name="Freeform 18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6" name="Freeform 21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0" name="Rectangle 25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1" name="Freeform 26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2" name="Line 27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3" name="Line 28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4" name="Line 29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35" name="Group 30"/>
          <p:cNvGrpSpPr>
            <a:grpSpLocks/>
          </p:cNvGrpSpPr>
          <p:nvPr/>
        </p:nvGrpSpPr>
        <p:grpSpPr bwMode="auto">
          <a:xfrm>
            <a:off x="1219200" y="6096001"/>
            <a:ext cx="371475" cy="381000"/>
            <a:chOff x="1014" y="912"/>
            <a:chExt cx="574" cy="596"/>
          </a:xfrm>
        </p:grpSpPr>
        <p:sp>
          <p:nvSpPr>
            <p:cNvPr id="36" name="Freeform 31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7" name="Line 32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8" name="Line 33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39" name="Freeform 34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0" name="Line 35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1" name="Line 36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2" name="Line 37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3" name="Rectangle 38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4" name="Freeform 39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48" name="Group 43"/>
          <p:cNvGrpSpPr>
            <a:grpSpLocks/>
          </p:cNvGrpSpPr>
          <p:nvPr/>
        </p:nvGrpSpPr>
        <p:grpSpPr bwMode="auto">
          <a:xfrm>
            <a:off x="2895600" y="6096001"/>
            <a:ext cx="371475" cy="381000"/>
            <a:chOff x="1014" y="912"/>
            <a:chExt cx="574" cy="596"/>
          </a:xfrm>
        </p:grpSpPr>
        <p:sp>
          <p:nvSpPr>
            <p:cNvPr id="49" name="Freeform 44"/>
            <p:cNvSpPr>
              <a:spLocks/>
            </p:cNvSpPr>
            <p:nvPr/>
          </p:nvSpPr>
          <p:spPr bwMode="auto">
            <a:xfrm>
              <a:off x="1014" y="912"/>
              <a:ext cx="574" cy="596"/>
            </a:xfrm>
            <a:custGeom>
              <a:avLst/>
              <a:gdLst>
                <a:gd name="T0" fmla="*/ 124 w 574"/>
                <a:gd name="T1" fmla="*/ 391 h 596"/>
                <a:gd name="T2" fmla="*/ 0 w 574"/>
                <a:gd name="T3" fmla="*/ 391 h 596"/>
                <a:gd name="T4" fmla="*/ 0 w 574"/>
                <a:gd name="T5" fmla="*/ 596 h 596"/>
                <a:gd name="T6" fmla="*/ 574 w 574"/>
                <a:gd name="T7" fmla="*/ 596 h 596"/>
                <a:gd name="T8" fmla="*/ 574 w 574"/>
                <a:gd name="T9" fmla="*/ 391 h 596"/>
                <a:gd name="T10" fmla="*/ 446 w 574"/>
                <a:gd name="T11" fmla="*/ 391 h 596"/>
                <a:gd name="T12" fmla="*/ 446 w 574"/>
                <a:gd name="T13" fmla="*/ 364 h 596"/>
                <a:gd name="T14" fmla="*/ 500 w 574"/>
                <a:gd name="T15" fmla="*/ 364 h 596"/>
                <a:gd name="T16" fmla="*/ 500 w 574"/>
                <a:gd name="T17" fmla="*/ 0 h 596"/>
                <a:gd name="T18" fmla="*/ 70 w 574"/>
                <a:gd name="T19" fmla="*/ 0 h 596"/>
                <a:gd name="T20" fmla="*/ 70 w 574"/>
                <a:gd name="T21" fmla="*/ 364 h 596"/>
                <a:gd name="T22" fmla="*/ 124 w 574"/>
                <a:gd name="T23" fmla="*/ 364 h 596"/>
                <a:gd name="T24" fmla="*/ 124 w 574"/>
                <a:gd name="T25" fmla="*/ 391 h 5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574" h="596">
                  <a:moveTo>
                    <a:pt x="124" y="391"/>
                  </a:moveTo>
                  <a:lnTo>
                    <a:pt x="0" y="391"/>
                  </a:lnTo>
                  <a:lnTo>
                    <a:pt x="0" y="596"/>
                  </a:lnTo>
                  <a:lnTo>
                    <a:pt x="574" y="596"/>
                  </a:lnTo>
                  <a:lnTo>
                    <a:pt x="574" y="391"/>
                  </a:lnTo>
                  <a:lnTo>
                    <a:pt x="446" y="391"/>
                  </a:lnTo>
                  <a:lnTo>
                    <a:pt x="446" y="364"/>
                  </a:lnTo>
                  <a:lnTo>
                    <a:pt x="500" y="364"/>
                  </a:lnTo>
                  <a:lnTo>
                    <a:pt x="500" y="0"/>
                  </a:lnTo>
                  <a:lnTo>
                    <a:pt x="70" y="0"/>
                  </a:lnTo>
                  <a:lnTo>
                    <a:pt x="70" y="364"/>
                  </a:lnTo>
                  <a:lnTo>
                    <a:pt x="124" y="364"/>
                  </a:lnTo>
                  <a:lnTo>
                    <a:pt x="124" y="391"/>
                  </a:lnTo>
                  <a:close/>
                </a:path>
              </a:pathLst>
            </a:custGeom>
            <a:solidFill>
              <a:srgbClr val="FFFFFF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>
              <a:off x="1138" y="1303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>
              <a:off x="1138" y="1276"/>
              <a:ext cx="322" cy="1"/>
            </a:xfrm>
            <a:prstGeom prst="line">
              <a:avLst/>
            </a:prstGeom>
            <a:noFill/>
            <a:ln w="1587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2" name="Freeform 47"/>
            <p:cNvSpPr>
              <a:spLocks noEditPoints="1"/>
            </p:cNvSpPr>
            <p:nvPr/>
          </p:nvSpPr>
          <p:spPr bwMode="auto">
            <a:xfrm>
              <a:off x="1310" y="1323"/>
              <a:ext cx="233" cy="168"/>
            </a:xfrm>
            <a:custGeom>
              <a:avLst/>
              <a:gdLst>
                <a:gd name="T0" fmla="*/ 0 w 233"/>
                <a:gd name="T1" fmla="*/ 168 h 168"/>
                <a:gd name="T2" fmla="*/ 188 w 233"/>
                <a:gd name="T3" fmla="*/ 168 h 168"/>
                <a:gd name="T4" fmla="*/ 188 w 233"/>
                <a:gd name="T5" fmla="*/ 0 h 168"/>
                <a:gd name="T6" fmla="*/ 0 w 233"/>
                <a:gd name="T7" fmla="*/ 0 h 168"/>
                <a:gd name="T8" fmla="*/ 0 w 233"/>
                <a:gd name="T9" fmla="*/ 168 h 168"/>
                <a:gd name="T10" fmla="*/ 204 w 233"/>
                <a:gd name="T11" fmla="*/ 26 h 168"/>
                <a:gd name="T12" fmla="*/ 233 w 233"/>
                <a:gd name="T13" fmla="*/ 26 h 168"/>
                <a:gd name="T14" fmla="*/ 233 w 233"/>
                <a:gd name="T15" fmla="*/ 0 h 168"/>
                <a:gd name="T16" fmla="*/ 204 w 233"/>
                <a:gd name="T17" fmla="*/ 0 h 168"/>
                <a:gd name="T18" fmla="*/ 204 w 233"/>
                <a:gd name="T19" fmla="*/ 2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3" h="168">
                  <a:moveTo>
                    <a:pt x="0" y="168"/>
                  </a:moveTo>
                  <a:lnTo>
                    <a:pt x="188" y="168"/>
                  </a:lnTo>
                  <a:lnTo>
                    <a:pt x="188" y="0"/>
                  </a:lnTo>
                  <a:lnTo>
                    <a:pt x="0" y="0"/>
                  </a:lnTo>
                  <a:lnTo>
                    <a:pt x="0" y="168"/>
                  </a:lnTo>
                  <a:close/>
                  <a:moveTo>
                    <a:pt x="204" y="26"/>
                  </a:moveTo>
                  <a:lnTo>
                    <a:pt x="233" y="26"/>
                  </a:lnTo>
                  <a:lnTo>
                    <a:pt x="233" y="0"/>
                  </a:lnTo>
                  <a:lnTo>
                    <a:pt x="204" y="0"/>
                  </a:lnTo>
                  <a:lnTo>
                    <a:pt x="204" y="26"/>
                  </a:lnTo>
                  <a:close/>
                </a:path>
              </a:pathLst>
            </a:custGeom>
            <a:solidFill>
              <a:srgbClr val="FFFFFF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>
              <a:off x="1310" y="1379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4" name="Line 49"/>
            <p:cNvSpPr>
              <a:spLocks noChangeShapeType="1"/>
            </p:cNvSpPr>
            <p:nvPr/>
          </p:nvSpPr>
          <p:spPr bwMode="auto">
            <a:xfrm>
              <a:off x="1310" y="1435"/>
              <a:ext cx="188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>
              <a:off x="1317" y="1405"/>
              <a:ext cx="172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6" name="Rectangle 51"/>
            <p:cNvSpPr>
              <a:spLocks noChangeArrowheads="1"/>
            </p:cNvSpPr>
            <p:nvPr/>
          </p:nvSpPr>
          <p:spPr bwMode="auto">
            <a:xfrm>
              <a:off x="1416" y="1389"/>
              <a:ext cx="54" cy="36"/>
            </a:xfrm>
            <a:prstGeom prst="rect">
              <a:avLst/>
            </a:prstGeom>
            <a:noFill/>
            <a:ln w="4763">
              <a:solidFill>
                <a:srgbClr val="000000"/>
              </a:solidFill>
              <a:miter lim="800000"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7" name="Freeform 52"/>
            <p:cNvSpPr>
              <a:spLocks noEditPoints="1"/>
            </p:cNvSpPr>
            <p:nvPr/>
          </p:nvSpPr>
          <p:spPr bwMode="auto">
            <a:xfrm>
              <a:off x="1030" y="955"/>
              <a:ext cx="538" cy="401"/>
            </a:xfrm>
            <a:custGeom>
              <a:avLst/>
              <a:gdLst>
                <a:gd name="T0" fmla="*/ 452 w 538"/>
                <a:gd name="T1" fmla="*/ 285 h 401"/>
                <a:gd name="T2" fmla="*/ 472 w 538"/>
                <a:gd name="T3" fmla="*/ 285 h 401"/>
                <a:gd name="T4" fmla="*/ 472 w 538"/>
                <a:gd name="T5" fmla="*/ 278 h 401"/>
                <a:gd name="T6" fmla="*/ 452 w 538"/>
                <a:gd name="T7" fmla="*/ 278 h 401"/>
                <a:gd name="T8" fmla="*/ 452 w 538"/>
                <a:gd name="T9" fmla="*/ 285 h 401"/>
                <a:gd name="T10" fmla="*/ 121 w 538"/>
                <a:gd name="T11" fmla="*/ 239 h 401"/>
                <a:gd name="T12" fmla="*/ 121 w 538"/>
                <a:gd name="T13" fmla="*/ 27 h 401"/>
                <a:gd name="T14" fmla="*/ 417 w 538"/>
                <a:gd name="T15" fmla="*/ 27 h 401"/>
                <a:gd name="T16" fmla="*/ 417 w 538"/>
                <a:gd name="T17" fmla="*/ 239 h 401"/>
                <a:gd name="T18" fmla="*/ 121 w 538"/>
                <a:gd name="T19" fmla="*/ 239 h 401"/>
                <a:gd name="T20" fmla="*/ 108 w 538"/>
                <a:gd name="T21" fmla="*/ 252 h 401"/>
                <a:gd name="T22" fmla="*/ 430 w 538"/>
                <a:gd name="T23" fmla="*/ 252 h 401"/>
                <a:gd name="T24" fmla="*/ 430 w 538"/>
                <a:gd name="T25" fmla="*/ 14 h 401"/>
                <a:gd name="T26" fmla="*/ 446 w 538"/>
                <a:gd name="T27" fmla="*/ 14 h 401"/>
                <a:gd name="T28" fmla="*/ 446 w 538"/>
                <a:gd name="T29" fmla="*/ 0 h 401"/>
                <a:gd name="T30" fmla="*/ 96 w 538"/>
                <a:gd name="T31" fmla="*/ 0 h 401"/>
                <a:gd name="T32" fmla="*/ 96 w 538"/>
                <a:gd name="T33" fmla="*/ 265 h 401"/>
                <a:gd name="T34" fmla="*/ 108 w 538"/>
                <a:gd name="T35" fmla="*/ 265 h 401"/>
                <a:gd name="T36" fmla="*/ 108 w 538"/>
                <a:gd name="T37" fmla="*/ 252 h 401"/>
                <a:gd name="T38" fmla="*/ 0 w 538"/>
                <a:gd name="T39" fmla="*/ 388 h 401"/>
                <a:gd name="T40" fmla="*/ 54 w 538"/>
                <a:gd name="T41" fmla="*/ 388 h 401"/>
                <a:gd name="T42" fmla="*/ 54 w 538"/>
                <a:gd name="T43" fmla="*/ 368 h 401"/>
                <a:gd name="T44" fmla="*/ 0 w 538"/>
                <a:gd name="T45" fmla="*/ 368 h 401"/>
                <a:gd name="T46" fmla="*/ 0 w 538"/>
                <a:gd name="T47" fmla="*/ 388 h 401"/>
                <a:gd name="T48" fmla="*/ 316 w 538"/>
                <a:gd name="T49" fmla="*/ 401 h 401"/>
                <a:gd name="T50" fmla="*/ 430 w 538"/>
                <a:gd name="T51" fmla="*/ 401 h 401"/>
                <a:gd name="T52" fmla="*/ 430 w 538"/>
                <a:gd name="T53" fmla="*/ 391 h 401"/>
                <a:gd name="T54" fmla="*/ 316 w 538"/>
                <a:gd name="T55" fmla="*/ 391 h 401"/>
                <a:gd name="T56" fmla="*/ 316 w 538"/>
                <a:gd name="T57" fmla="*/ 401 h 401"/>
                <a:gd name="T58" fmla="*/ 523 w 538"/>
                <a:gd name="T59" fmla="*/ 378 h 401"/>
                <a:gd name="T60" fmla="*/ 538 w 538"/>
                <a:gd name="T61" fmla="*/ 378 h 401"/>
                <a:gd name="T62" fmla="*/ 538 w 538"/>
                <a:gd name="T63" fmla="*/ 368 h 401"/>
                <a:gd name="T64" fmla="*/ 523 w 538"/>
                <a:gd name="T65" fmla="*/ 368 h 401"/>
                <a:gd name="T66" fmla="*/ 523 w 538"/>
                <a:gd name="T67" fmla="*/ 378 h 401"/>
                <a:gd name="T68" fmla="*/ 523 w 538"/>
                <a:gd name="T69" fmla="*/ 394 h 401"/>
                <a:gd name="T70" fmla="*/ 538 w 538"/>
                <a:gd name="T71" fmla="*/ 394 h 401"/>
                <a:gd name="T72" fmla="*/ 538 w 538"/>
                <a:gd name="T73" fmla="*/ 388 h 401"/>
                <a:gd name="T74" fmla="*/ 523 w 538"/>
                <a:gd name="T75" fmla="*/ 388 h 401"/>
                <a:gd name="T76" fmla="*/ 523 w 538"/>
                <a:gd name="T77" fmla="*/ 394 h 4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538" h="401">
                  <a:moveTo>
                    <a:pt x="452" y="285"/>
                  </a:moveTo>
                  <a:lnTo>
                    <a:pt x="472" y="285"/>
                  </a:lnTo>
                  <a:lnTo>
                    <a:pt x="472" y="278"/>
                  </a:lnTo>
                  <a:lnTo>
                    <a:pt x="452" y="278"/>
                  </a:lnTo>
                  <a:lnTo>
                    <a:pt x="452" y="285"/>
                  </a:lnTo>
                  <a:close/>
                  <a:moveTo>
                    <a:pt x="121" y="239"/>
                  </a:moveTo>
                  <a:lnTo>
                    <a:pt x="121" y="27"/>
                  </a:lnTo>
                  <a:lnTo>
                    <a:pt x="417" y="27"/>
                  </a:lnTo>
                  <a:lnTo>
                    <a:pt x="417" y="239"/>
                  </a:lnTo>
                  <a:lnTo>
                    <a:pt x="121" y="239"/>
                  </a:lnTo>
                  <a:close/>
                  <a:moveTo>
                    <a:pt x="108" y="252"/>
                  </a:moveTo>
                  <a:lnTo>
                    <a:pt x="430" y="252"/>
                  </a:lnTo>
                  <a:lnTo>
                    <a:pt x="430" y="14"/>
                  </a:lnTo>
                  <a:lnTo>
                    <a:pt x="446" y="14"/>
                  </a:lnTo>
                  <a:lnTo>
                    <a:pt x="446" y="0"/>
                  </a:lnTo>
                  <a:lnTo>
                    <a:pt x="96" y="0"/>
                  </a:lnTo>
                  <a:lnTo>
                    <a:pt x="96" y="265"/>
                  </a:lnTo>
                  <a:lnTo>
                    <a:pt x="108" y="265"/>
                  </a:lnTo>
                  <a:lnTo>
                    <a:pt x="108" y="252"/>
                  </a:lnTo>
                  <a:close/>
                  <a:moveTo>
                    <a:pt x="0" y="388"/>
                  </a:moveTo>
                  <a:lnTo>
                    <a:pt x="54" y="388"/>
                  </a:lnTo>
                  <a:lnTo>
                    <a:pt x="54" y="368"/>
                  </a:lnTo>
                  <a:lnTo>
                    <a:pt x="0" y="368"/>
                  </a:lnTo>
                  <a:lnTo>
                    <a:pt x="0" y="388"/>
                  </a:lnTo>
                  <a:close/>
                  <a:moveTo>
                    <a:pt x="316" y="401"/>
                  </a:moveTo>
                  <a:lnTo>
                    <a:pt x="430" y="401"/>
                  </a:lnTo>
                  <a:lnTo>
                    <a:pt x="430" y="391"/>
                  </a:lnTo>
                  <a:lnTo>
                    <a:pt x="316" y="391"/>
                  </a:lnTo>
                  <a:lnTo>
                    <a:pt x="316" y="401"/>
                  </a:lnTo>
                  <a:close/>
                  <a:moveTo>
                    <a:pt x="523" y="378"/>
                  </a:moveTo>
                  <a:lnTo>
                    <a:pt x="538" y="378"/>
                  </a:lnTo>
                  <a:lnTo>
                    <a:pt x="538" y="368"/>
                  </a:lnTo>
                  <a:lnTo>
                    <a:pt x="523" y="368"/>
                  </a:lnTo>
                  <a:lnTo>
                    <a:pt x="523" y="378"/>
                  </a:lnTo>
                  <a:close/>
                  <a:moveTo>
                    <a:pt x="523" y="394"/>
                  </a:moveTo>
                  <a:lnTo>
                    <a:pt x="538" y="394"/>
                  </a:lnTo>
                  <a:lnTo>
                    <a:pt x="538" y="388"/>
                  </a:lnTo>
                  <a:lnTo>
                    <a:pt x="523" y="388"/>
                  </a:lnTo>
                  <a:lnTo>
                    <a:pt x="523" y="394"/>
                  </a:lnTo>
                  <a:close/>
                </a:path>
              </a:pathLst>
            </a:custGeom>
            <a:solidFill>
              <a:srgbClr val="000000"/>
            </a:solidFill>
            <a:ln w="4763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>
              <a:off x="1084" y="1257"/>
              <a:ext cx="430" cy="1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59" name="Line 54"/>
            <p:cNvSpPr>
              <a:spLocks noChangeShapeType="1"/>
            </p:cNvSpPr>
            <p:nvPr/>
          </p:nvSpPr>
          <p:spPr bwMode="auto">
            <a:xfrm flipV="1">
              <a:off x="1193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60" name="Line 55"/>
            <p:cNvSpPr>
              <a:spLocks noChangeShapeType="1"/>
            </p:cNvSpPr>
            <p:nvPr/>
          </p:nvSpPr>
          <p:spPr bwMode="auto">
            <a:xfrm flipV="1">
              <a:off x="1301" y="1257"/>
              <a:ext cx="1" cy="19"/>
            </a:xfrm>
            <a:prstGeom prst="line">
              <a:avLst/>
            </a:prstGeom>
            <a:noFill/>
            <a:ln w="4763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61" name="Group 56"/>
          <p:cNvGrpSpPr>
            <a:grpSpLocks/>
          </p:cNvGrpSpPr>
          <p:nvPr/>
        </p:nvGrpSpPr>
        <p:grpSpPr bwMode="auto">
          <a:xfrm>
            <a:off x="1371600" y="4572000"/>
            <a:ext cx="2179638" cy="1447800"/>
            <a:chOff x="832" y="1344"/>
            <a:chExt cx="1136" cy="1024"/>
          </a:xfrm>
        </p:grpSpPr>
        <p:sp>
          <p:nvSpPr>
            <p:cNvPr id="62" name="Oval 57"/>
            <p:cNvSpPr>
              <a:spLocks noChangeArrowheads="1"/>
            </p:cNvSpPr>
            <p:nvPr/>
          </p:nvSpPr>
          <p:spPr bwMode="auto">
            <a:xfrm>
              <a:off x="1220" y="1344"/>
              <a:ext cx="495" cy="424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63" name="Oval 58"/>
            <p:cNvSpPr>
              <a:spLocks noChangeArrowheads="1"/>
            </p:cNvSpPr>
            <p:nvPr/>
          </p:nvSpPr>
          <p:spPr bwMode="auto">
            <a:xfrm>
              <a:off x="948" y="1455"/>
              <a:ext cx="379" cy="424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64" name="Oval 59"/>
            <p:cNvSpPr>
              <a:spLocks noChangeArrowheads="1"/>
            </p:cNvSpPr>
            <p:nvPr/>
          </p:nvSpPr>
          <p:spPr bwMode="auto">
            <a:xfrm>
              <a:off x="832" y="1710"/>
              <a:ext cx="256" cy="306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65" name="Oval 60"/>
            <p:cNvSpPr>
              <a:spLocks noChangeArrowheads="1"/>
            </p:cNvSpPr>
            <p:nvPr/>
          </p:nvSpPr>
          <p:spPr bwMode="auto">
            <a:xfrm>
              <a:off x="909" y="1862"/>
              <a:ext cx="435" cy="442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66" name="Oval 61"/>
            <p:cNvSpPr>
              <a:spLocks noChangeArrowheads="1"/>
            </p:cNvSpPr>
            <p:nvPr/>
          </p:nvSpPr>
          <p:spPr bwMode="auto">
            <a:xfrm>
              <a:off x="1086" y="1924"/>
              <a:ext cx="671" cy="444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67" name="Oval 62"/>
            <p:cNvSpPr>
              <a:spLocks noChangeArrowheads="1"/>
            </p:cNvSpPr>
            <p:nvPr/>
          </p:nvSpPr>
          <p:spPr bwMode="auto">
            <a:xfrm>
              <a:off x="1605" y="1488"/>
              <a:ext cx="311" cy="312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68" name="Oval 63"/>
            <p:cNvSpPr>
              <a:spLocks noChangeArrowheads="1"/>
            </p:cNvSpPr>
            <p:nvPr/>
          </p:nvSpPr>
          <p:spPr bwMode="auto">
            <a:xfrm>
              <a:off x="1602" y="1681"/>
              <a:ext cx="366" cy="333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69" name="Oval 64"/>
            <p:cNvSpPr>
              <a:spLocks noChangeArrowheads="1"/>
            </p:cNvSpPr>
            <p:nvPr/>
          </p:nvSpPr>
          <p:spPr bwMode="auto">
            <a:xfrm>
              <a:off x="1569" y="1751"/>
              <a:ext cx="364" cy="547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70" name="Oval 65"/>
            <p:cNvSpPr>
              <a:spLocks noChangeArrowheads="1"/>
            </p:cNvSpPr>
            <p:nvPr/>
          </p:nvSpPr>
          <p:spPr bwMode="auto">
            <a:xfrm>
              <a:off x="912" y="1434"/>
              <a:ext cx="1008" cy="918"/>
            </a:xfrm>
            <a:prstGeom prst="ellipse">
              <a:avLst/>
            </a:prstGeom>
            <a:solidFill>
              <a:srgbClr val="99CCFF"/>
            </a:solidFill>
            <a:ln w="9525">
              <a:solidFill>
                <a:srgbClr val="99CCFF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solidFill>
                  <a:srgbClr val="0000FF"/>
                </a:solidFill>
                <a:latin typeface="+mn-lt"/>
              </a:endParaRPr>
            </a:p>
          </p:txBody>
        </p:sp>
      </p:grpSp>
      <p:grpSp>
        <p:nvGrpSpPr>
          <p:cNvPr id="71" name="Group 66"/>
          <p:cNvGrpSpPr>
            <a:grpSpLocks/>
          </p:cNvGrpSpPr>
          <p:nvPr/>
        </p:nvGrpSpPr>
        <p:grpSpPr bwMode="auto">
          <a:xfrm>
            <a:off x="5440364" y="4572000"/>
            <a:ext cx="2179637" cy="1447800"/>
            <a:chOff x="832" y="1344"/>
            <a:chExt cx="1136" cy="1024"/>
          </a:xfrm>
        </p:grpSpPr>
        <p:sp>
          <p:nvSpPr>
            <p:cNvPr id="72" name="Oval 67"/>
            <p:cNvSpPr>
              <a:spLocks noChangeArrowheads="1"/>
            </p:cNvSpPr>
            <p:nvPr/>
          </p:nvSpPr>
          <p:spPr bwMode="auto">
            <a:xfrm>
              <a:off x="1220" y="1344"/>
              <a:ext cx="495" cy="424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3" name="Oval 68"/>
            <p:cNvSpPr>
              <a:spLocks noChangeArrowheads="1"/>
            </p:cNvSpPr>
            <p:nvPr/>
          </p:nvSpPr>
          <p:spPr bwMode="auto">
            <a:xfrm>
              <a:off x="948" y="1455"/>
              <a:ext cx="379" cy="424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4" name="Oval 69"/>
            <p:cNvSpPr>
              <a:spLocks noChangeArrowheads="1"/>
            </p:cNvSpPr>
            <p:nvPr/>
          </p:nvSpPr>
          <p:spPr bwMode="auto">
            <a:xfrm>
              <a:off x="832" y="1710"/>
              <a:ext cx="256" cy="306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5" name="Oval 70"/>
            <p:cNvSpPr>
              <a:spLocks noChangeArrowheads="1"/>
            </p:cNvSpPr>
            <p:nvPr/>
          </p:nvSpPr>
          <p:spPr bwMode="auto">
            <a:xfrm>
              <a:off x="909" y="1862"/>
              <a:ext cx="435" cy="442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6" name="Oval 71"/>
            <p:cNvSpPr>
              <a:spLocks noChangeArrowheads="1"/>
            </p:cNvSpPr>
            <p:nvPr/>
          </p:nvSpPr>
          <p:spPr bwMode="auto">
            <a:xfrm>
              <a:off x="1086" y="1924"/>
              <a:ext cx="671" cy="444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7" name="Oval 72"/>
            <p:cNvSpPr>
              <a:spLocks noChangeArrowheads="1"/>
            </p:cNvSpPr>
            <p:nvPr/>
          </p:nvSpPr>
          <p:spPr bwMode="auto">
            <a:xfrm>
              <a:off x="1605" y="1488"/>
              <a:ext cx="311" cy="312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8" name="Oval 73"/>
            <p:cNvSpPr>
              <a:spLocks noChangeArrowheads="1"/>
            </p:cNvSpPr>
            <p:nvPr/>
          </p:nvSpPr>
          <p:spPr bwMode="auto">
            <a:xfrm>
              <a:off x="1602" y="1681"/>
              <a:ext cx="366" cy="333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79" name="Oval 74"/>
            <p:cNvSpPr>
              <a:spLocks noChangeArrowheads="1"/>
            </p:cNvSpPr>
            <p:nvPr/>
          </p:nvSpPr>
          <p:spPr bwMode="auto">
            <a:xfrm>
              <a:off x="1569" y="1751"/>
              <a:ext cx="364" cy="547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0" name="Oval 75"/>
            <p:cNvSpPr>
              <a:spLocks noChangeArrowheads="1"/>
            </p:cNvSpPr>
            <p:nvPr/>
          </p:nvSpPr>
          <p:spPr bwMode="auto">
            <a:xfrm>
              <a:off x="912" y="1434"/>
              <a:ext cx="1008" cy="918"/>
            </a:xfrm>
            <a:prstGeom prst="ellipse">
              <a:avLst/>
            </a:prstGeom>
            <a:solidFill>
              <a:srgbClr val="99FF66"/>
            </a:solidFill>
            <a:ln w="9525">
              <a:solidFill>
                <a:srgbClr val="99FF66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grpSp>
        <p:nvGrpSpPr>
          <p:cNvPr id="81" name="Group 76"/>
          <p:cNvGrpSpPr>
            <a:grpSpLocks/>
          </p:cNvGrpSpPr>
          <p:nvPr/>
        </p:nvGrpSpPr>
        <p:grpSpPr bwMode="auto">
          <a:xfrm>
            <a:off x="3276600" y="3962401"/>
            <a:ext cx="2438400" cy="1447800"/>
            <a:chOff x="832" y="1344"/>
            <a:chExt cx="1136" cy="1024"/>
          </a:xfrm>
        </p:grpSpPr>
        <p:sp>
          <p:nvSpPr>
            <p:cNvPr id="82" name="Oval 77"/>
            <p:cNvSpPr>
              <a:spLocks noChangeArrowheads="1"/>
            </p:cNvSpPr>
            <p:nvPr/>
          </p:nvSpPr>
          <p:spPr bwMode="auto">
            <a:xfrm>
              <a:off x="1220" y="1344"/>
              <a:ext cx="495" cy="424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3" name="Oval 78"/>
            <p:cNvSpPr>
              <a:spLocks noChangeArrowheads="1"/>
            </p:cNvSpPr>
            <p:nvPr/>
          </p:nvSpPr>
          <p:spPr bwMode="auto">
            <a:xfrm>
              <a:off x="948" y="1455"/>
              <a:ext cx="379" cy="424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4" name="Oval 79"/>
            <p:cNvSpPr>
              <a:spLocks noChangeArrowheads="1"/>
            </p:cNvSpPr>
            <p:nvPr/>
          </p:nvSpPr>
          <p:spPr bwMode="auto">
            <a:xfrm>
              <a:off x="832" y="1710"/>
              <a:ext cx="256" cy="306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5" name="Oval 80"/>
            <p:cNvSpPr>
              <a:spLocks noChangeArrowheads="1"/>
            </p:cNvSpPr>
            <p:nvPr/>
          </p:nvSpPr>
          <p:spPr bwMode="auto">
            <a:xfrm>
              <a:off x="909" y="1862"/>
              <a:ext cx="435" cy="442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6" name="Oval 81"/>
            <p:cNvSpPr>
              <a:spLocks noChangeArrowheads="1"/>
            </p:cNvSpPr>
            <p:nvPr/>
          </p:nvSpPr>
          <p:spPr bwMode="auto">
            <a:xfrm>
              <a:off x="1086" y="1924"/>
              <a:ext cx="671" cy="444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7" name="Oval 82"/>
            <p:cNvSpPr>
              <a:spLocks noChangeArrowheads="1"/>
            </p:cNvSpPr>
            <p:nvPr/>
          </p:nvSpPr>
          <p:spPr bwMode="auto">
            <a:xfrm>
              <a:off x="1605" y="1488"/>
              <a:ext cx="311" cy="312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8" name="Oval 83"/>
            <p:cNvSpPr>
              <a:spLocks noChangeArrowheads="1"/>
            </p:cNvSpPr>
            <p:nvPr/>
          </p:nvSpPr>
          <p:spPr bwMode="auto">
            <a:xfrm>
              <a:off x="1602" y="1681"/>
              <a:ext cx="366" cy="333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89" name="Oval 84"/>
            <p:cNvSpPr>
              <a:spLocks noChangeArrowheads="1"/>
            </p:cNvSpPr>
            <p:nvPr/>
          </p:nvSpPr>
          <p:spPr bwMode="auto">
            <a:xfrm>
              <a:off x="1569" y="1751"/>
              <a:ext cx="364" cy="547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  <p:sp>
          <p:nvSpPr>
            <p:cNvPr id="90" name="Oval 85"/>
            <p:cNvSpPr>
              <a:spLocks noChangeArrowheads="1"/>
            </p:cNvSpPr>
            <p:nvPr/>
          </p:nvSpPr>
          <p:spPr bwMode="auto">
            <a:xfrm>
              <a:off x="912" y="1434"/>
              <a:ext cx="1008" cy="918"/>
            </a:xfrm>
            <a:prstGeom prst="ellipse">
              <a:avLst/>
            </a:prstGeom>
            <a:solidFill>
              <a:srgbClr val="FFCC00"/>
            </a:solidFill>
            <a:ln w="9525">
              <a:solidFill>
                <a:srgbClr val="FFCC00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 b="0">
                <a:latin typeface="+mn-lt"/>
              </a:endParaRPr>
            </a:p>
          </p:txBody>
        </p:sp>
      </p:grpSp>
      <p:sp>
        <p:nvSpPr>
          <p:cNvPr id="92" name="Text Box 87"/>
          <p:cNvSpPr txBox="1">
            <a:spLocks noChangeArrowheads="1"/>
          </p:cNvSpPr>
          <p:nvPr/>
        </p:nvSpPr>
        <p:spPr bwMode="auto">
          <a:xfrm>
            <a:off x="252488" y="6143637"/>
            <a:ext cx="867111" cy="3359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>
                <a:latin typeface="+mn-lt"/>
              </a:rPr>
              <a:t>Clients</a:t>
            </a:r>
          </a:p>
        </p:txBody>
      </p:sp>
      <p:sp>
        <p:nvSpPr>
          <p:cNvPr id="93" name="Freeform 88"/>
          <p:cNvSpPr>
            <a:spLocks/>
          </p:cNvSpPr>
          <p:nvPr/>
        </p:nvSpPr>
        <p:spPr bwMode="auto">
          <a:xfrm>
            <a:off x="1525600" y="3881439"/>
            <a:ext cx="3043237" cy="2211387"/>
          </a:xfrm>
          <a:custGeom>
            <a:avLst/>
            <a:gdLst>
              <a:gd name="T0" fmla="*/ 1920 w 1920"/>
              <a:gd name="T1" fmla="*/ 0 h 1392"/>
              <a:gd name="T2" fmla="*/ 1776 w 1920"/>
              <a:gd name="T3" fmla="*/ 192 h 1392"/>
              <a:gd name="T4" fmla="*/ 1488 w 1920"/>
              <a:gd name="T5" fmla="*/ 288 h 1392"/>
              <a:gd name="T6" fmla="*/ 864 w 1920"/>
              <a:gd name="T7" fmla="*/ 672 h 1392"/>
              <a:gd name="T8" fmla="*/ 288 w 1920"/>
              <a:gd name="T9" fmla="*/ 1056 h 1392"/>
              <a:gd name="T10" fmla="*/ 0 w 1920"/>
              <a:gd name="T11" fmla="*/ 1392 h 13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920" h="1392">
                <a:moveTo>
                  <a:pt x="1920" y="0"/>
                </a:moveTo>
                <a:lnTo>
                  <a:pt x="1776" y="192"/>
                </a:lnTo>
                <a:lnTo>
                  <a:pt x="1488" y="288"/>
                </a:lnTo>
                <a:lnTo>
                  <a:pt x="864" y="672"/>
                </a:lnTo>
                <a:lnTo>
                  <a:pt x="288" y="1056"/>
                </a:lnTo>
                <a:lnTo>
                  <a:pt x="0" y="1392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94" name="Freeform 89"/>
          <p:cNvSpPr>
            <a:spLocks/>
          </p:cNvSpPr>
          <p:nvPr/>
        </p:nvSpPr>
        <p:spPr bwMode="auto">
          <a:xfrm>
            <a:off x="3048000" y="3886200"/>
            <a:ext cx="1600200" cy="2209800"/>
          </a:xfrm>
          <a:custGeom>
            <a:avLst/>
            <a:gdLst>
              <a:gd name="T0" fmla="*/ 1008 w 1008"/>
              <a:gd name="T1" fmla="*/ 0 h 1296"/>
              <a:gd name="T2" fmla="*/ 864 w 1008"/>
              <a:gd name="T3" fmla="*/ 336 h 1296"/>
              <a:gd name="T4" fmla="*/ 0 w 1008"/>
              <a:gd name="T5" fmla="*/ 864 h 1296"/>
              <a:gd name="T6" fmla="*/ 0 w 1008"/>
              <a:gd name="T7" fmla="*/ 1296 h 12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08" h="1296">
                <a:moveTo>
                  <a:pt x="1008" y="0"/>
                </a:moveTo>
                <a:lnTo>
                  <a:pt x="864" y="336"/>
                </a:lnTo>
                <a:lnTo>
                  <a:pt x="0" y="864"/>
                </a:lnTo>
                <a:lnTo>
                  <a:pt x="0" y="1296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95" name="Freeform 90"/>
          <p:cNvSpPr>
            <a:spLocks/>
          </p:cNvSpPr>
          <p:nvPr/>
        </p:nvSpPr>
        <p:spPr bwMode="auto">
          <a:xfrm>
            <a:off x="4724401" y="3886200"/>
            <a:ext cx="2895600" cy="2209800"/>
          </a:xfrm>
          <a:custGeom>
            <a:avLst/>
            <a:gdLst>
              <a:gd name="T0" fmla="*/ 0 w 1824"/>
              <a:gd name="T1" fmla="*/ 0 h 1392"/>
              <a:gd name="T2" fmla="*/ 384 w 1824"/>
              <a:gd name="T3" fmla="*/ 288 h 1392"/>
              <a:gd name="T4" fmla="*/ 672 w 1824"/>
              <a:gd name="T5" fmla="*/ 624 h 1392"/>
              <a:gd name="T6" fmla="*/ 1248 w 1824"/>
              <a:gd name="T7" fmla="*/ 672 h 1392"/>
              <a:gd name="T8" fmla="*/ 1824 w 1824"/>
              <a:gd name="T9" fmla="*/ 1392 h 13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824" h="1392">
                <a:moveTo>
                  <a:pt x="0" y="0"/>
                </a:moveTo>
                <a:lnTo>
                  <a:pt x="384" y="288"/>
                </a:lnTo>
                <a:lnTo>
                  <a:pt x="672" y="624"/>
                </a:lnTo>
                <a:lnTo>
                  <a:pt x="1248" y="672"/>
                </a:lnTo>
                <a:lnTo>
                  <a:pt x="1824" y="1392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96" name="Freeform 91"/>
          <p:cNvSpPr>
            <a:spLocks/>
          </p:cNvSpPr>
          <p:nvPr/>
        </p:nvSpPr>
        <p:spPr bwMode="auto">
          <a:xfrm>
            <a:off x="4648200" y="3886200"/>
            <a:ext cx="1600200" cy="2209800"/>
          </a:xfrm>
          <a:custGeom>
            <a:avLst/>
            <a:gdLst>
              <a:gd name="T0" fmla="*/ 0 w 1008"/>
              <a:gd name="T1" fmla="*/ 0 h 1392"/>
              <a:gd name="T2" fmla="*/ 384 w 1008"/>
              <a:gd name="T3" fmla="*/ 432 h 1392"/>
              <a:gd name="T4" fmla="*/ 672 w 1008"/>
              <a:gd name="T5" fmla="*/ 864 h 1392"/>
              <a:gd name="T6" fmla="*/ 912 w 1008"/>
              <a:gd name="T7" fmla="*/ 1008 h 1392"/>
              <a:gd name="T8" fmla="*/ 1008 w 1008"/>
              <a:gd name="T9" fmla="*/ 1392 h 13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008" h="1392">
                <a:moveTo>
                  <a:pt x="0" y="0"/>
                </a:moveTo>
                <a:lnTo>
                  <a:pt x="384" y="432"/>
                </a:lnTo>
                <a:lnTo>
                  <a:pt x="672" y="864"/>
                </a:lnTo>
                <a:lnTo>
                  <a:pt x="912" y="1008"/>
                </a:lnTo>
                <a:lnTo>
                  <a:pt x="1008" y="1392"/>
                </a:lnTo>
              </a:path>
            </a:pathLst>
          </a:custGeom>
          <a:noFill/>
          <a:ln w="25400" cap="flat" cmpd="sng">
            <a:solidFill>
              <a:schemeClr val="tx2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31" tIns="44423" rIns="90431" bIns="44423"/>
          <a:lstStyle/>
          <a:p>
            <a:endParaRPr lang="en-US" b="0">
              <a:latin typeface="+mn-lt"/>
            </a:endParaRPr>
          </a:p>
        </p:txBody>
      </p:sp>
      <p:sp>
        <p:nvSpPr>
          <p:cNvPr id="97" name="Text Box 92"/>
          <p:cNvSpPr txBox="1">
            <a:spLocks noChangeArrowheads="1"/>
          </p:cNvSpPr>
          <p:nvPr/>
        </p:nvSpPr>
        <p:spPr bwMode="auto">
          <a:xfrm>
            <a:off x="4087196" y="4860267"/>
            <a:ext cx="1323004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b="0" dirty="0">
                <a:latin typeface="+mn-lt"/>
              </a:rPr>
              <a:t>Tier-1 ISP</a:t>
            </a:r>
          </a:p>
        </p:txBody>
      </p:sp>
      <p:sp>
        <p:nvSpPr>
          <p:cNvPr id="98" name="Text Box 93"/>
          <p:cNvSpPr txBox="1">
            <a:spLocks noChangeArrowheads="1"/>
          </p:cNvSpPr>
          <p:nvPr/>
        </p:nvSpPr>
        <p:spPr bwMode="auto">
          <a:xfrm>
            <a:off x="2048383" y="5562600"/>
            <a:ext cx="769068" cy="371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sz="1800" b="0" dirty="0">
                <a:latin typeface="+mn-lt"/>
              </a:rPr>
              <a:t>ISP-1</a:t>
            </a:r>
          </a:p>
        </p:txBody>
      </p:sp>
      <p:sp>
        <p:nvSpPr>
          <p:cNvPr id="99" name="Text Box 94"/>
          <p:cNvSpPr txBox="1">
            <a:spLocks noChangeArrowheads="1"/>
          </p:cNvSpPr>
          <p:nvPr/>
        </p:nvSpPr>
        <p:spPr bwMode="auto">
          <a:xfrm>
            <a:off x="6315583" y="5562600"/>
            <a:ext cx="769068" cy="371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31" tIns="44423" rIns="90431" bIns="44423">
            <a:spAutoFit/>
          </a:bodyPr>
          <a:lstStyle/>
          <a:p>
            <a:r>
              <a:rPr lang="en-US" sz="1800" b="0" dirty="0">
                <a:latin typeface="+mn-lt"/>
              </a:rPr>
              <a:t>ISP-2</a:t>
            </a:r>
          </a:p>
        </p:txBody>
      </p:sp>
      <p:graphicFrame>
        <p:nvGraphicFramePr>
          <p:cNvPr id="101" name="Object 2"/>
          <p:cNvGraphicFramePr>
            <a:graphicFrameLocks noChangeAspect="1"/>
          </p:cNvGraphicFramePr>
          <p:nvPr/>
        </p:nvGraphicFramePr>
        <p:xfrm>
          <a:off x="4562474" y="2566987"/>
          <a:ext cx="314325" cy="515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Clip" r:id="rId2" imgW="2107949" imgH="3470495" progId="MS_ClipArt_Gallery.5">
                  <p:embed/>
                </p:oleObj>
              </mc:Choice>
              <mc:Fallback>
                <p:oleObj name="Clip" r:id="rId2" imgW="2107949" imgH="3470495" progId="MS_ClipArt_Gallery.5">
                  <p:embed/>
                  <p:pic>
                    <p:nvPicPr>
                      <p:cNvPr id="101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62474" y="2566987"/>
                        <a:ext cx="314325" cy="515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=""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=""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="" xmlns:a14="http://schemas.microsoft.com/office/drawing/2010/main">
                            <a:effectLst>
                              <a:outerShdw blurRad="63500" dist="38099" dir="2700000" algn="ctr" rotWithShape="0">
                                <a:srgbClr val="000000">
                                  <a:alpha val="74998"/>
                                </a:srgb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" name="Rectangle 96"/>
          <p:cNvSpPr>
            <a:spLocks noChangeArrowheads="1"/>
          </p:cNvSpPr>
          <p:nvPr/>
        </p:nvSpPr>
        <p:spPr bwMode="auto">
          <a:xfrm>
            <a:off x="4114799" y="3586162"/>
            <a:ext cx="236538" cy="228600"/>
          </a:xfrm>
          <a:prstGeom prst="rect">
            <a:avLst/>
          </a:prstGeom>
          <a:solidFill>
            <a:srgbClr val="EAEAEA"/>
          </a:solidFill>
          <a:ln w="9525">
            <a:miter lim="800000"/>
            <a:headEnd/>
            <a:tailEnd/>
          </a:ln>
          <a:scene3d>
            <a:camera prst="legacyObliqueTopLeft"/>
            <a:lightRig rig="legacyFlat3" dir="t"/>
          </a:scene3d>
          <a:sp3d extrusionH="125400" prstMaterial="legacyMatte">
            <a:bevelT w="13500" h="13500" prst="angle"/>
            <a:bevelB w="13500" h="13500" prst="angle"/>
            <a:extrusionClr>
              <a:srgbClr val="EAEAEA"/>
            </a:extrusionClr>
          </a:sp3d>
        </p:spPr>
        <p:txBody>
          <a:bodyPr wrap="none" lIns="90431" tIns="44423" rIns="90431" bIns="44423" anchor="ctr">
            <a:flatTx/>
          </a:bodyPr>
          <a:lstStyle/>
          <a:p>
            <a:endParaRPr lang="en-US"/>
          </a:p>
        </p:txBody>
      </p:sp>
      <p:sp>
        <p:nvSpPr>
          <p:cNvPr id="103" name="Rectangle 97"/>
          <p:cNvSpPr>
            <a:spLocks noChangeArrowheads="1"/>
          </p:cNvSpPr>
          <p:nvPr/>
        </p:nvSpPr>
        <p:spPr bwMode="auto">
          <a:xfrm>
            <a:off x="4648199" y="3586162"/>
            <a:ext cx="236538" cy="228600"/>
          </a:xfrm>
          <a:prstGeom prst="rect">
            <a:avLst/>
          </a:prstGeom>
          <a:solidFill>
            <a:srgbClr val="EAEAEA"/>
          </a:solidFill>
          <a:ln w="9525">
            <a:miter lim="800000"/>
            <a:headEnd/>
            <a:tailEnd/>
          </a:ln>
          <a:scene3d>
            <a:camera prst="legacyObliqueTopLeft"/>
            <a:lightRig rig="legacyFlat3" dir="t"/>
          </a:scene3d>
          <a:sp3d extrusionH="125400" prstMaterial="legacyMatte">
            <a:bevelT w="13500" h="13500" prst="angle"/>
            <a:bevelB w="13500" h="13500" prst="angle"/>
            <a:extrusionClr>
              <a:srgbClr val="EAEAEA"/>
            </a:extrusionClr>
          </a:sp3d>
        </p:spPr>
        <p:txBody>
          <a:bodyPr wrap="none" lIns="90431" tIns="44423" rIns="90431" bIns="44423" anchor="ctr">
            <a:flatTx/>
          </a:bodyPr>
          <a:lstStyle/>
          <a:p>
            <a:endParaRPr lang="en-US"/>
          </a:p>
        </p:txBody>
      </p:sp>
      <p:sp>
        <p:nvSpPr>
          <p:cNvPr id="104" name="Rectangle 98"/>
          <p:cNvSpPr>
            <a:spLocks noChangeArrowheads="1"/>
          </p:cNvSpPr>
          <p:nvPr/>
        </p:nvSpPr>
        <p:spPr bwMode="auto">
          <a:xfrm>
            <a:off x="5105399" y="3586162"/>
            <a:ext cx="236538" cy="228600"/>
          </a:xfrm>
          <a:prstGeom prst="rect">
            <a:avLst/>
          </a:prstGeom>
          <a:solidFill>
            <a:srgbClr val="EAEAEA"/>
          </a:solidFill>
          <a:ln w="9525">
            <a:miter lim="800000"/>
            <a:headEnd/>
            <a:tailEnd/>
          </a:ln>
          <a:scene3d>
            <a:camera prst="legacyObliqueTopLeft"/>
            <a:lightRig rig="legacyFlat3" dir="t"/>
          </a:scene3d>
          <a:sp3d extrusionH="125400" prstMaterial="legacyMatte">
            <a:bevelT w="13500" h="13500" prst="angle"/>
            <a:bevelB w="13500" h="13500" prst="angle"/>
            <a:extrusionClr>
              <a:srgbClr val="EAEAEA"/>
            </a:extrusionClr>
          </a:sp3d>
        </p:spPr>
        <p:txBody>
          <a:bodyPr wrap="none" lIns="90431" tIns="44423" rIns="90431" bIns="44423" anchor="ctr">
            <a:flatTx/>
          </a:bodyPr>
          <a:lstStyle/>
          <a:p>
            <a:endParaRPr lang="en-US"/>
          </a:p>
        </p:txBody>
      </p:sp>
      <p:sp>
        <p:nvSpPr>
          <p:cNvPr id="105" name="Oval 99"/>
          <p:cNvSpPr>
            <a:spLocks noChangeArrowheads="1"/>
          </p:cNvSpPr>
          <p:nvPr/>
        </p:nvSpPr>
        <p:spPr bwMode="auto">
          <a:xfrm>
            <a:off x="3659187" y="3429000"/>
            <a:ext cx="1979612" cy="457200"/>
          </a:xfrm>
          <a:prstGeom prst="ellipse">
            <a:avLst/>
          </a:prstGeom>
          <a:noFill/>
          <a:ln w="127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0431" tIns="44423" rIns="90431" bIns="44423" anchor="ctr"/>
          <a:lstStyle/>
          <a:p>
            <a:endParaRPr lang="en-US"/>
          </a:p>
        </p:txBody>
      </p:sp>
      <p:sp>
        <p:nvSpPr>
          <p:cNvPr id="106" name="Line 100"/>
          <p:cNvSpPr>
            <a:spLocks noChangeShapeType="1"/>
          </p:cNvSpPr>
          <p:nvPr/>
        </p:nvSpPr>
        <p:spPr bwMode="auto">
          <a:xfrm>
            <a:off x="4722824" y="3052763"/>
            <a:ext cx="1587" cy="381000"/>
          </a:xfrm>
          <a:prstGeom prst="line">
            <a:avLst/>
          </a:prstGeom>
          <a:noFill/>
          <a:ln w="25400">
            <a:solidFill>
              <a:schemeClr val="tx2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lIns="90431" tIns="44423" rIns="90431" bIns="44423"/>
          <a:lstStyle/>
          <a:p>
            <a:endParaRPr lang="en-US"/>
          </a:p>
        </p:txBody>
      </p:sp>
      <p:sp>
        <p:nvSpPr>
          <p:cNvPr id="107" name="Text Box 101"/>
          <p:cNvSpPr txBox="1">
            <a:spLocks noChangeArrowheads="1"/>
          </p:cNvSpPr>
          <p:nvPr/>
        </p:nvSpPr>
        <p:spPr bwMode="auto">
          <a:xfrm>
            <a:off x="1981200" y="3481399"/>
            <a:ext cx="1681142" cy="338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31" tIns="44423" rIns="90431" bIns="44423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600" b="0">
                <a:solidFill>
                  <a:srgbClr val="0000FF"/>
                </a:solidFill>
                <a:latin typeface="Arial" charset="0"/>
              </a:rPr>
              <a:t>Reverse proxies</a:t>
            </a:r>
          </a:p>
        </p:txBody>
      </p:sp>
      <p:sp>
        <p:nvSpPr>
          <p:cNvPr id="108" name="Rectangle 98"/>
          <p:cNvSpPr>
            <a:spLocks noChangeArrowheads="1"/>
          </p:cNvSpPr>
          <p:nvPr/>
        </p:nvSpPr>
        <p:spPr bwMode="auto">
          <a:xfrm>
            <a:off x="2303463" y="5262563"/>
            <a:ext cx="236537" cy="228600"/>
          </a:xfrm>
          <a:prstGeom prst="rect">
            <a:avLst/>
          </a:prstGeom>
          <a:solidFill>
            <a:srgbClr val="EAEAEA"/>
          </a:solidFill>
          <a:ln w="9525">
            <a:miter lim="800000"/>
            <a:headEnd/>
            <a:tailEnd/>
          </a:ln>
          <a:scene3d>
            <a:camera prst="legacyObliqueTopLeft"/>
            <a:lightRig rig="legacyFlat3" dir="t"/>
          </a:scene3d>
          <a:sp3d extrusionH="125400" prstMaterial="legacyMatte">
            <a:bevelT w="13500" h="13500" prst="angle"/>
            <a:bevelB w="13500" h="13500" prst="angle"/>
            <a:extrusionClr>
              <a:srgbClr val="EAEAEA"/>
            </a:extrusionClr>
          </a:sp3d>
        </p:spPr>
        <p:txBody>
          <a:bodyPr wrap="none" lIns="90431" tIns="44423" rIns="90431" bIns="44423" anchor="ctr">
            <a:flatTx/>
          </a:bodyPr>
          <a:lstStyle/>
          <a:p>
            <a:endParaRPr lang="en-US"/>
          </a:p>
        </p:txBody>
      </p:sp>
      <p:sp>
        <p:nvSpPr>
          <p:cNvPr id="109" name="Rectangle 99"/>
          <p:cNvSpPr>
            <a:spLocks noChangeArrowheads="1"/>
          </p:cNvSpPr>
          <p:nvPr/>
        </p:nvSpPr>
        <p:spPr bwMode="auto">
          <a:xfrm>
            <a:off x="2963863" y="5262563"/>
            <a:ext cx="236537" cy="228600"/>
          </a:xfrm>
          <a:prstGeom prst="rect">
            <a:avLst/>
          </a:prstGeom>
          <a:solidFill>
            <a:srgbClr val="EAEAEA"/>
          </a:solidFill>
          <a:ln w="9525">
            <a:miter lim="800000"/>
            <a:headEnd/>
            <a:tailEnd/>
          </a:ln>
          <a:scene3d>
            <a:camera prst="legacyObliqueTopLeft"/>
            <a:lightRig rig="legacyFlat3" dir="t"/>
          </a:scene3d>
          <a:sp3d extrusionH="125400" prstMaterial="legacyMatte">
            <a:bevelT w="13500" h="13500" prst="angle"/>
            <a:bevelB w="13500" h="13500" prst="angle"/>
            <a:extrusionClr>
              <a:srgbClr val="EAEAEA"/>
            </a:extrusionClr>
          </a:sp3d>
        </p:spPr>
        <p:txBody>
          <a:bodyPr wrap="none" lIns="90431" tIns="44423" rIns="90431" bIns="44423" anchor="ctr">
            <a:flatTx/>
          </a:bodyPr>
          <a:lstStyle/>
          <a:p>
            <a:endParaRPr lang="en-US"/>
          </a:p>
        </p:txBody>
      </p:sp>
      <p:sp>
        <p:nvSpPr>
          <p:cNvPr id="110" name="Oval 100"/>
          <p:cNvSpPr>
            <a:spLocks noChangeArrowheads="1"/>
          </p:cNvSpPr>
          <p:nvPr/>
        </p:nvSpPr>
        <p:spPr bwMode="auto">
          <a:xfrm>
            <a:off x="2074862" y="5105400"/>
            <a:ext cx="1260966" cy="457200"/>
          </a:xfrm>
          <a:prstGeom prst="ellipse">
            <a:avLst/>
          </a:prstGeom>
          <a:noFill/>
          <a:ln w="19050" cmpd="sng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90431" tIns="44423" rIns="90431" bIns="44423" anchor="ctr"/>
          <a:lstStyle/>
          <a:p>
            <a:endParaRPr lang="en-US">
              <a:solidFill>
                <a:srgbClr val="0000FF"/>
              </a:solidFill>
            </a:endParaRPr>
          </a:p>
        </p:txBody>
      </p:sp>
      <p:sp>
        <p:nvSpPr>
          <p:cNvPr id="111" name="Text Box 110"/>
          <p:cNvSpPr txBox="1">
            <a:spLocks noChangeArrowheads="1"/>
          </p:cNvSpPr>
          <p:nvPr/>
        </p:nvSpPr>
        <p:spPr bwMode="auto">
          <a:xfrm>
            <a:off x="398465" y="5076837"/>
            <a:ext cx="1669497" cy="3386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31" tIns="44423" rIns="90431" bIns="44423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600" b="0" dirty="0">
                <a:solidFill>
                  <a:srgbClr val="0000FF"/>
                </a:solidFill>
                <a:latin typeface="Arial" charset="0"/>
              </a:rPr>
              <a:t>Forward proxies</a:t>
            </a:r>
          </a:p>
        </p:txBody>
      </p:sp>
    </p:spTree>
    <p:extLst>
      <p:ext uri="{BB962C8B-B14F-4D97-AF65-F5344CB8AC3E}">
        <p14:creationId xmlns:p14="http://schemas.microsoft.com/office/powerpoint/2010/main" val="5707692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Replication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Replicate popular websites across many machines</a:t>
            </a:r>
          </a:p>
          <a:p>
            <a:pPr lvl="1"/>
            <a:r>
              <a:rPr lang="en-US" dirty="0"/>
              <a:t>Spreads load across servers</a:t>
            </a:r>
          </a:p>
          <a:p>
            <a:pPr lvl="1"/>
            <a:r>
              <a:rPr lang="en-US" dirty="0"/>
              <a:t>Places content closer to clients</a:t>
            </a:r>
          </a:p>
          <a:p>
            <a:pPr lvl="1"/>
            <a:r>
              <a:rPr lang="en-US" dirty="0"/>
              <a:t>Helps when content isn’t cacheable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769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 Distribution Networks (CDN)</a:t>
            </a:r>
          </a:p>
        </p:txBody>
      </p:sp>
      <p:sp>
        <p:nvSpPr>
          <p:cNvPr id="9933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Caching and replication as a service</a:t>
            </a:r>
          </a:p>
          <a:p>
            <a:r>
              <a:rPr lang="en-US" dirty="0"/>
              <a:t>Large-scale distributed storage infrastructure (usually) administered by one entity</a:t>
            </a:r>
          </a:p>
          <a:p>
            <a:pPr lvl="1"/>
            <a:r>
              <a:rPr lang="en-US" dirty="0"/>
              <a:t>e.g., Akamai is in </a:t>
            </a:r>
            <a:r>
              <a:rPr lang="en-US" altLang="zh-CN" dirty="0"/>
              <a:t>135</a:t>
            </a:r>
            <a:r>
              <a:rPr lang="en-US" dirty="0"/>
              <a:t> countries and 1</a:t>
            </a:r>
            <a:r>
              <a:rPr lang="en-US" altLang="zh-CN" dirty="0"/>
              <a:t>3</a:t>
            </a:r>
            <a:r>
              <a:rPr lang="en-US" dirty="0"/>
              <a:t>00</a:t>
            </a:r>
            <a:r>
              <a:rPr lang="en-US" altLang="zh-CN" dirty="0"/>
              <a:t>+</a:t>
            </a:r>
            <a:r>
              <a:rPr lang="en-US" dirty="0"/>
              <a:t> networks</a:t>
            </a:r>
          </a:p>
          <a:p>
            <a:r>
              <a:rPr lang="en-US" dirty="0"/>
              <a:t>Combination of caching and replication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Pull</a:t>
            </a:r>
            <a:r>
              <a:rPr lang="en-US" dirty="0"/>
              <a:t>: Direct result of clients</a:t>
            </a:r>
            <a:r>
              <a:rPr lang="ja-JP" altLang="en-US" dirty="0"/>
              <a:t>’</a:t>
            </a:r>
            <a:r>
              <a:rPr lang="en-US" dirty="0"/>
              <a:t>requests (caching)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Push</a:t>
            </a:r>
            <a:r>
              <a:rPr lang="en-US" dirty="0"/>
              <a:t>: Expectation of high access rate (replication)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1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33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332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Cost-effective content delivery</a:t>
            </a:r>
          </a:p>
        </p:txBody>
      </p:sp>
      <p:sp>
        <p:nvSpPr>
          <p:cNvPr id="109261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General theme: multiple sites hosted on shared physical infrastructure </a:t>
            </a:r>
          </a:p>
          <a:p>
            <a:pPr lvl="1"/>
            <a:r>
              <a:rPr lang="en-US" dirty="0"/>
              <a:t>Efficiency of statistical multiplexing</a:t>
            </a:r>
          </a:p>
          <a:p>
            <a:pPr lvl="1"/>
            <a:r>
              <a:rPr lang="en-US" dirty="0"/>
              <a:t>Economies of scale (volume pricing, etc.)</a:t>
            </a:r>
          </a:p>
          <a:p>
            <a:pPr lvl="1"/>
            <a:r>
              <a:rPr lang="en-US" dirty="0"/>
              <a:t>Amortization of human operator costs </a:t>
            </a:r>
          </a:p>
          <a:p>
            <a:r>
              <a:rPr lang="en-US" dirty="0"/>
              <a:t>Examples: </a:t>
            </a:r>
          </a:p>
          <a:p>
            <a:pPr lvl="1"/>
            <a:r>
              <a:rPr lang="en-US" dirty="0"/>
              <a:t>CDNs</a:t>
            </a:r>
          </a:p>
          <a:p>
            <a:pPr lvl="1"/>
            <a:r>
              <a:rPr lang="en-US" dirty="0"/>
              <a:t>Web hosting companies </a:t>
            </a:r>
          </a:p>
          <a:p>
            <a:pPr lvl="1"/>
            <a:r>
              <a:rPr lang="en-US" dirty="0"/>
              <a:t>Cloud infrastructure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4971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CDN example – Akamai</a:t>
            </a:r>
          </a:p>
        </p:txBody>
      </p:sp>
      <p:sp>
        <p:nvSpPr>
          <p:cNvPr id="109261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Akamai creates new domain names for each client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solidFill>
                  <a:srgbClr val="0000FF"/>
                </a:solidFill>
              </a:rPr>
              <a:t>a128.g.akamai.net</a:t>
            </a:r>
            <a:r>
              <a:rPr lang="en-US" dirty="0"/>
              <a:t> for </a:t>
            </a:r>
            <a:r>
              <a:rPr lang="en-US" dirty="0" err="1">
                <a:solidFill>
                  <a:srgbClr val="0000FF"/>
                </a:solidFill>
              </a:rPr>
              <a:t>cnn.com</a:t>
            </a:r>
            <a:endParaRPr lang="en-US" dirty="0"/>
          </a:p>
          <a:p>
            <a:r>
              <a:rPr lang="en-US" dirty="0"/>
              <a:t>The client content provider modifies content so that embedded URLs reference new domains</a:t>
            </a:r>
          </a:p>
          <a:p>
            <a:pPr lvl="1"/>
            <a:r>
              <a:rPr lang="ja-JP" altLang="en-US" dirty="0"/>
              <a:t>“</a:t>
            </a:r>
            <a:r>
              <a:rPr lang="en-US" dirty="0" err="1"/>
              <a:t>Akamaize</a:t>
            </a:r>
            <a:r>
              <a:rPr lang="ja-JP" altLang="en-US" dirty="0"/>
              <a:t>”</a:t>
            </a:r>
            <a:r>
              <a:rPr lang="en-US" dirty="0"/>
              <a:t> content</a:t>
            </a:r>
          </a:p>
          <a:p>
            <a:pPr lvl="1"/>
            <a:r>
              <a:rPr lang="en-US" dirty="0"/>
              <a:t>e.g., </a:t>
            </a:r>
            <a:r>
              <a:rPr lang="en-US" dirty="0">
                <a:solidFill>
                  <a:srgbClr val="0000FF"/>
                </a:solidFill>
              </a:rPr>
              <a:t>http://</a:t>
            </a:r>
            <a:r>
              <a:rPr lang="en-US" dirty="0" err="1">
                <a:solidFill>
                  <a:srgbClr val="0000FF"/>
                </a:solidFill>
              </a:rPr>
              <a:t>www.cnn.com</a:t>
            </a:r>
            <a:r>
              <a:rPr lang="en-US" dirty="0">
                <a:solidFill>
                  <a:srgbClr val="0000FF"/>
                </a:solidFill>
              </a:rPr>
              <a:t>/image-of-the-</a:t>
            </a:r>
            <a:r>
              <a:rPr lang="en-US" dirty="0" err="1">
                <a:solidFill>
                  <a:srgbClr val="0000FF"/>
                </a:solidFill>
              </a:rPr>
              <a:t>day.gif</a:t>
            </a:r>
            <a:r>
              <a:rPr lang="en-US" dirty="0"/>
              <a:t> becomes </a:t>
            </a:r>
            <a:r>
              <a:rPr lang="en-US" dirty="0">
                <a:solidFill>
                  <a:srgbClr val="0000FF"/>
                </a:solidFill>
              </a:rPr>
              <a:t>http://a128.g.akamai.net/image-of-the-</a:t>
            </a:r>
            <a:r>
              <a:rPr lang="en-US" dirty="0" err="1">
                <a:solidFill>
                  <a:srgbClr val="0000FF"/>
                </a:solidFill>
              </a:rPr>
              <a:t>day.gif</a:t>
            </a:r>
            <a:endParaRPr lang="en-US" dirty="0"/>
          </a:p>
          <a:p>
            <a:r>
              <a:rPr lang="en-US" dirty="0"/>
              <a:t>Requests now sent to CDN’s infrastructure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820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3170C-8243-5647-85C8-529F02D36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CDN example – Akamai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B7B7CF5D-A788-0340-894D-6CE7F303FD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2150" y="1727200"/>
            <a:ext cx="7912100" cy="41656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0FF7C9-FA5B-1B49-B814-78AC0A3FEA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128EF8-508C-A84D-8346-1C063C5B1ECB}"/>
              </a:ext>
            </a:extLst>
          </p:cNvPr>
          <p:cNvSpPr txBox="1"/>
          <p:nvPr/>
        </p:nvSpPr>
        <p:spPr>
          <a:xfrm>
            <a:off x="2191380" y="5916635"/>
            <a:ext cx="476124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0" dirty="0"/>
              <a:t>Retrieved on Sep 10, 2021 from https://</a:t>
            </a:r>
            <a:r>
              <a:rPr lang="en-US" sz="800" b="0" dirty="0" err="1"/>
              <a:t>www.akamai.com</a:t>
            </a:r>
            <a:r>
              <a:rPr lang="en-US" sz="800" b="0" dirty="0"/>
              <a:t>/visualizations/media-delivery-network-map</a:t>
            </a:r>
          </a:p>
        </p:txBody>
      </p:sp>
    </p:spTree>
    <p:extLst>
      <p:ext uri="{BB962C8B-B14F-4D97-AF65-F5344CB8AC3E}">
        <p14:creationId xmlns:p14="http://schemas.microsoft.com/office/powerpoint/2010/main" val="5023525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this replica, not others?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Balancing load across server replicas</a:t>
            </a:r>
          </a:p>
          <a:p>
            <a:r>
              <a:rPr lang="en-US" dirty="0"/>
              <a:t>Pairing clients with nearby servers to decrease latency and overall bandwidth usage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0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DNS: Domain name system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6911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0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Internet names &amp; addresses</a:t>
            </a:r>
          </a:p>
        </p:txBody>
      </p:sp>
      <p:sp>
        <p:nvSpPr>
          <p:cNvPr id="16220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Machine addresses: e.g., 141.212.113.143</a:t>
            </a:r>
          </a:p>
          <a:p>
            <a:pPr lvl="1"/>
            <a:r>
              <a:rPr lang="en-US" dirty="0"/>
              <a:t>Router-usable labels for machines</a:t>
            </a:r>
          </a:p>
          <a:p>
            <a:pPr lvl="1"/>
            <a:r>
              <a:rPr lang="en-US" dirty="0"/>
              <a:t>Conforms to network structure (the “</a:t>
            </a:r>
            <a:r>
              <a:rPr lang="en-US" dirty="0">
                <a:solidFill>
                  <a:srgbClr val="0000FF"/>
                </a:solidFill>
              </a:rPr>
              <a:t>where</a:t>
            </a:r>
            <a:r>
              <a:rPr lang="en-US" dirty="0"/>
              <a:t>”)</a:t>
            </a:r>
          </a:p>
          <a:p>
            <a:r>
              <a:rPr lang="en-US" dirty="0"/>
              <a:t>Machine names: e.g., </a:t>
            </a:r>
            <a:r>
              <a:rPr lang="en-US" dirty="0" err="1"/>
              <a:t>cse.</a:t>
            </a:r>
            <a:r>
              <a:rPr lang="en-US" altLang="zh-CN" dirty="0" err="1"/>
              <a:t>cuhk</a:t>
            </a:r>
            <a:r>
              <a:rPr lang="en-US" dirty="0" err="1"/>
              <a:t>.edu</a:t>
            </a:r>
            <a:r>
              <a:rPr lang="en-US" altLang="zh-CN" dirty="0" err="1"/>
              <a:t>.hk</a:t>
            </a:r>
            <a:endParaRPr lang="en-US" dirty="0"/>
          </a:p>
          <a:p>
            <a:pPr lvl="1"/>
            <a:r>
              <a:rPr lang="en-US" dirty="0"/>
              <a:t>Human-usable labels for machines</a:t>
            </a:r>
          </a:p>
          <a:p>
            <a:pPr lvl="1"/>
            <a:r>
              <a:rPr lang="en-US" dirty="0"/>
              <a:t>Conforms to organizational structure (the “</a:t>
            </a:r>
            <a:r>
              <a:rPr lang="en-US" dirty="0">
                <a:solidFill>
                  <a:srgbClr val="0000FF"/>
                </a:solidFill>
              </a:rPr>
              <a:t>who</a:t>
            </a:r>
            <a:r>
              <a:rPr lang="en-US" dirty="0"/>
              <a:t>”)</a:t>
            </a:r>
          </a:p>
          <a:p>
            <a:r>
              <a:rPr lang="en-US" dirty="0"/>
              <a:t>The Domain Name System (DNS) is how we map from one to the other</a:t>
            </a:r>
          </a:p>
          <a:p>
            <a:pPr lvl="1"/>
            <a:r>
              <a:rPr lang="en-US" dirty="0"/>
              <a:t>A </a:t>
            </a:r>
            <a:r>
              <a:rPr lang="en-US" dirty="0">
                <a:solidFill>
                  <a:srgbClr val="0000FF"/>
                </a:solidFill>
              </a:rPr>
              <a:t>directory</a:t>
            </a:r>
            <a:r>
              <a:rPr lang="en-US" dirty="0"/>
              <a:t> service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47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0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0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0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0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0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0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0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20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22019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Convenience </a:t>
            </a:r>
          </a:p>
          <a:p>
            <a:pPr lvl="1"/>
            <a:r>
              <a:rPr lang="en-US" dirty="0"/>
              <a:t>Easier to remember</a:t>
            </a:r>
          </a:p>
          <a:p>
            <a:pPr lvl="1"/>
            <a:endParaRPr lang="en-US" dirty="0"/>
          </a:p>
          <a:p>
            <a:r>
              <a:rPr lang="en-US" dirty="0"/>
              <a:t>Provides a </a:t>
            </a:r>
            <a:r>
              <a:rPr lang="en-US" dirty="0">
                <a:solidFill>
                  <a:srgbClr val="0000FF"/>
                </a:solidFill>
              </a:rPr>
              <a:t>level of indirection</a:t>
            </a:r>
            <a:r>
              <a:rPr lang="en-US" dirty="0"/>
              <a:t>!</a:t>
            </a:r>
          </a:p>
          <a:p>
            <a:pPr lvl="1"/>
            <a:r>
              <a:rPr lang="en-US" dirty="0"/>
              <a:t>Decoupled names from addresses</a:t>
            </a:r>
          </a:p>
          <a:p>
            <a:pPr lvl="1"/>
            <a:r>
              <a:rPr lang="en-US" dirty="0"/>
              <a:t>Many uses beyond just naming a specific host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7800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0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DNS: History</a:t>
            </a:r>
          </a:p>
        </p:txBody>
      </p:sp>
      <p:sp>
        <p:nvSpPr>
          <p:cNvPr id="162304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Initially all host-address mappings were in a </a:t>
            </a:r>
            <a:r>
              <a:rPr lang="en-US" dirty="0" err="1">
                <a:latin typeface="Lucida Console" charset="0"/>
                <a:ea typeface="Lucida Console" charset="0"/>
                <a:cs typeface="Lucida Console" charset="0"/>
              </a:rPr>
              <a:t>hosts.txt</a:t>
            </a:r>
            <a:r>
              <a:rPr lang="en-US" dirty="0"/>
              <a:t> file (in </a:t>
            </a:r>
            <a:r>
              <a:rPr lang="en-US" dirty="0">
                <a:latin typeface="Lucida Console" charset="0"/>
                <a:ea typeface="Lucida Console" charset="0"/>
                <a:cs typeface="Lucida Console" charset="0"/>
              </a:rPr>
              <a:t>/</a:t>
            </a:r>
            <a:r>
              <a:rPr lang="en-US" dirty="0" err="1">
                <a:latin typeface="Lucida Console" charset="0"/>
                <a:ea typeface="Lucida Console" charset="0"/>
                <a:cs typeface="Lucida Console" charset="0"/>
              </a:rPr>
              <a:t>etc</a:t>
            </a:r>
            <a:r>
              <a:rPr lang="en-US" dirty="0">
                <a:latin typeface="Lucida Console" charset="0"/>
                <a:ea typeface="Lucida Console" charset="0"/>
                <a:cs typeface="Lucida Console" charset="0"/>
              </a:rPr>
              <a:t>/hosts</a:t>
            </a:r>
            <a:r>
              <a:rPr lang="en-US" dirty="0"/>
              <a:t>):</a:t>
            </a:r>
          </a:p>
          <a:p>
            <a:pPr lvl="1"/>
            <a:r>
              <a:rPr lang="en-US" dirty="0"/>
              <a:t>Maintained by the Stanford Research Institute (SRI)</a:t>
            </a:r>
          </a:p>
          <a:p>
            <a:pPr lvl="1"/>
            <a:r>
              <a:rPr lang="en-US" dirty="0"/>
              <a:t>Changes were submitted by email and updates downloaded periodically from SRI</a:t>
            </a:r>
          </a:p>
          <a:p>
            <a:r>
              <a:rPr lang="en-US" dirty="0"/>
              <a:t>As the Internet grew SRI could not handle load</a:t>
            </a:r>
          </a:p>
          <a:p>
            <a:pPr lvl="1"/>
            <a:r>
              <a:rPr lang="en-US" dirty="0"/>
              <a:t>Names were not unique anymore</a:t>
            </a:r>
          </a:p>
          <a:p>
            <a:pPr lvl="1"/>
            <a:r>
              <a:rPr lang="en-US" dirty="0"/>
              <a:t>Hosts had inaccurate copies of </a:t>
            </a:r>
            <a:r>
              <a:rPr lang="en-US" dirty="0" err="1">
                <a:latin typeface="Lucida Console" charset="0"/>
                <a:ea typeface="Lucida Console" charset="0"/>
                <a:cs typeface="Lucida Console" charset="0"/>
              </a:rPr>
              <a:t>hosts.txt</a:t>
            </a:r>
            <a:endParaRPr lang="en-US" dirty="0">
              <a:latin typeface="Lucida Console" charset="0"/>
              <a:ea typeface="Lucida Console" charset="0"/>
              <a:cs typeface="Lucida Console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6388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DC2011A-1D2C-944C-B415-90D071E1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DNS: History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98B2FD5-9D95-214B-AFD8-DCD0069363F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1983, the first stable operational DNS implementation included</a:t>
            </a:r>
          </a:p>
          <a:p>
            <a:pPr lvl="1"/>
            <a:r>
              <a:rPr lang="en-US" dirty="0"/>
              <a:t>The associated query protocol; </a:t>
            </a:r>
          </a:p>
          <a:p>
            <a:pPr lvl="1"/>
            <a:r>
              <a:rPr lang="en-US" dirty="0"/>
              <a:t>A server implementation; and </a:t>
            </a:r>
          </a:p>
          <a:p>
            <a:pPr lvl="1"/>
            <a:r>
              <a:rPr lang="en-US" dirty="0"/>
              <a:t>Initial root servers. </a:t>
            </a:r>
          </a:p>
          <a:p>
            <a:endParaRPr lang="en-US" dirty="0"/>
          </a:p>
          <a:p>
            <a:r>
              <a:rPr lang="en-US" dirty="0"/>
              <a:t>Since inception, DNS scaled from 1000s of queries/day to 10s of billions queries/day</a:t>
            </a:r>
          </a:p>
        </p:txBody>
      </p:sp>
      <p:pic>
        <p:nvPicPr>
          <p:cNvPr id="11" name="Content Placeholder 10" descr="A screenshot of a cell phone&#10;&#10;Description automatically generated">
            <a:extLst>
              <a:ext uri="{FF2B5EF4-FFF2-40B4-BE49-F238E27FC236}">
                <a16:creationId xmlns:a16="http://schemas.microsoft.com/office/drawing/2014/main" id="{EB8B2ECE-9FAF-994E-B15E-38B1917632F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91150" y="1600200"/>
            <a:ext cx="2552700" cy="4419600"/>
          </a:xfr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AD62AB-84F1-B441-AF1D-9AB9D551160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5887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Uniqueness: no naming conflicts</a:t>
            </a:r>
          </a:p>
          <a:p>
            <a:r>
              <a:rPr lang="en-US" dirty="0"/>
              <a:t>Scalable</a:t>
            </a:r>
          </a:p>
          <a:p>
            <a:pPr lvl="1"/>
            <a:r>
              <a:rPr lang="en-US" dirty="0"/>
              <a:t>Many names and frequent updates (secondary)</a:t>
            </a:r>
          </a:p>
          <a:p>
            <a:r>
              <a:rPr lang="en-US" dirty="0"/>
              <a:t>Distributed, autonomous administration</a:t>
            </a:r>
          </a:p>
          <a:p>
            <a:pPr lvl="1"/>
            <a:r>
              <a:rPr lang="en-US" dirty="0"/>
              <a:t>Ability to update my own (machines’) names </a:t>
            </a:r>
          </a:p>
          <a:p>
            <a:pPr lvl="1"/>
            <a:r>
              <a:rPr lang="en-US" dirty="0"/>
              <a:t>Don’t have to track everybody’s updates </a:t>
            </a:r>
          </a:p>
          <a:p>
            <a:r>
              <a:rPr lang="en-US" dirty="0"/>
              <a:t>Highly available</a:t>
            </a:r>
          </a:p>
          <a:p>
            <a:r>
              <a:rPr lang="en-US" dirty="0"/>
              <a:t>Lookups are fast</a:t>
            </a:r>
          </a:p>
          <a:p>
            <a:r>
              <a:rPr lang="en-US" dirty="0"/>
              <a:t>Perfect consistency is a </a:t>
            </a:r>
            <a:r>
              <a:rPr lang="en-US" dirty="0">
                <a:solidFill>
                  <a:srgbClr val="0000FF"/>
                </a:solidFill>
              </a:rPr>
              <a:t>non-goal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697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Partition the namespace </a:t>
            </a:r>
          </a:p>
          <a:p>
            <a:r>
              <a:rPr lang="en-US" dirty="0"/>
              <a:t>Distribute administration of each partition</a:t>
            </a:r>
          </a:p>
          <a:p>
            <a:pPr lvl="1"/>
            <a:r>
              <a:rPr lang="en-US" dirty="0"/>
              <a:t>Autonomy to update my own (machines’) names </a:t>
            </a:r>
          </a:p>
          <a:p>
            <a:pPr lvl="1"/>
            <a:r>
              <a:rPr lang="en-US" dirty="0"/>
              <a:t>Don’t have to track everybody’s updates  </a:t>
            </a:r>
          </a:p>
          <a:p>
            <a:r>
              <a:rPr lang="en-US" dirty="0"/>
              <a:t>Distribute name resolution for each partition</a:t>
            </a:r>
          </a:p>
          <a:p>
            <a:r>
              <a:rPr lang="en-US" dirty="0"/>
              <a:t>How should we partition things?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071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4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Key idea: Hierarchy</a:t>
            </a:r>
            <a:endParaRPr lang="en-US" dirty="0"/>
          </a:p>
        </p:txBody>
      </p:sp>
      <p:sp>
        <p:nvSpPr>
          <p:cNvPr id="146841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Three intertwined hierarchies </a:t>
            </a:r>
          </a:p>
          <a:p>
            <a:pPr lvl="1"/>
            <a:r>
              <a:rPr lang="en-US" dirty="0"/>
              <a:t>Hierarchical namespace</a:t>
            </a:r>
          </a:p>
          <a:p>
            <a:pPr lvl="2"/>
            <a:r>
              <a:rPr lang="en-US" dirty="0"/>
              <a:t>As opposed to original flat namespace</a:t>
            </a:r>
          </a:p>
          <a:p>
            <a:pPr lvl="1"/>
            <a:r>
              <a:rPr lang="en-US" dirty="0"/>
              <a:t>Hierarchically administered</a:t>
            </a:r>
          </a:p>
          <a:p>
            <a:pPr lvl="2"/>
            <a:r>
              <a:rPr lang="en-US" dirty="0"/>
              <a:t>As opposed to centralized </a:t>
            </a:r>
          </a:p>
          <a:p>
            <a:pPr lvl="1"/>
            <a:r>
              <a:rPr lang="en-US" dirty="0"/>
              <a:t>(Distributed) hierarchy of servers</a:t>
            </a:r>
          </a:p>
          <a:p>
            <a:pPr lvl="2"/>
            <a:r>
              <a:rPr lang="en-US" dirty="0"/>
              <a:t>As opposed to centralized storage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2633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4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Hierarchical namespace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1469443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3189288" y="3200400"/>
            <a:ext cx="5954712" cy="2971800"/>
          </a:xfrm>
        </p:spPr>
        <p:txBody>
          <a:bodyPr/>
          <a:lstStyle/>
          <a:p>
            <a:pPr marL="342900" indent="-342900"/>
            <a:r>
              <a:rPr lang="ja-JP" altLang="en-US" sz="2400" dirty="0">
                <a:latin typeface="Arial"/>
              </a:rPr>
              <a:t>“</a:t>
            </a:r>
            <a:r>
              <a:rPr lang="en-US" sz="2400" dirty="0"/>
              <a:t>Top Level Domains</a:t>
            </a:r>
            <a:r>
              <a:rPr lang="ja-JP" altLang="en-US" sz="2400" dirty="0">
                <a:latin typeface="Arial"/>
              </a:rPr>
              <a:t>”</a:t>
            </a:r>
            <a:r>
              <a:rPr lang="en-US" sz="2400" dirty="0"/>
              <a:t> are at the top</a:t>
            </a:r>
          </a:p>
          <a:p>
            <a:r>
              <a:rPr lang="en-US" sz="2400" dirty="0"/>
              <a:t>Domains are subtrees</a:t>
            </a:r>
          </a:p>
          <a:p>
            <a:pPr marL="669925" lvl="1" indent="-325438"/>
            <a:r>
              <a:rPr lang="en-US" sz="2000" dirty="0"/>
              <a:t>e.g., .</a:t>
            </a:r>
            <a:r>
              <a:rPr lang="en-US" sz="2000" dirty="0" err="1"/>
              <a:t>edu</a:t>
            </a:r>
            <a:r>
              <a:rPr lang="en-US" sz="2000" dirty="0"/>
              <a:t>, </a:t>
            </a:r>
            <a:r>
              <a:rPr lang="en-US" sz="2000" dirty="0" err="1"/>
              <a:t>umich.edu</a:t>
            </a:r>
            <a:r>
              <a:rPr lang="en-US" sz="2000" dirty="0"/>
              <a:t>, </a:t>
            </a:r>
            <a:r>
              <a:rPr lang="en-US" sz="2000" dirty="0" err="1"/>
              <a:t>eecs.umich.edu</a:t>
            </a:r>
            <a:endParaRPr lang="en-US" sz="2400" dirty="0"/>
          </a:p>
          <a:p>
            <a:pPr marL="342900" indent="-342900"/>
            <a:r>
              <a:rPr lang="en-US" sz="2400" dirty="0"/>
              <a:t>Name is leaf-to-root path</a:t>
            </a:r>
          </a:p>
          <a:p>
            <a:pPr lvl="1" indent="-342900"/>
            <a:r>
              <a:rPr lang="en-US" sz="2000" dirty="0" err="1"/>
              <a:t>cse.eecs.umich.edu</a:t>
            </a:r>
            <a:endParaRPr lang="en-US" sz="2000" dirty="0"/>
          </a:p>
          <a:p>
            <a:pPr marL="342900" indent="-342900"/>
            <a:r>
              <a:rPr lang="en-US" sz="2400" dirty="0"/>
              <a:t>Depth of tree is arbitrary (limit 128)</a:t>
            </a:r>
          </a:p>
          <a:p>
            <a:pPr marL="342900" indent="-342900"/>
            <a:r>
              <a:rPr lang="en-US" sz="2400" dirty="0"/>
              <a:t>Name collisions trivially avoided</a:t>
            </a:r>
          </a:p>
          <a:p>
            <a:pPr marL="669925" lvl="1" indent="-325438"/>
            <a:r>
              <a:rPr lang="en-US" sz="2000" dirty="0"/>
              <a:t>Each domain is responsible</a:t>
            </a:r>
          </a:p>
        </p:txBody>
      </p:sp>
      <p:sp>
        <p:nvSpPr>
          <p:cNvPr id="1469444" name="Text Box 4"/>
          <p:cNvSpPr txBox="1">
            <a:spLocks noChangeArrowheads="1"/>
          </p:cNvSpPr>
          <p:nvPr/>
        </p:nvSpPr>
        <p:spPr bwMode="auto">
          <a:xfrm>
            <a:off x="4304416" y="1462033"/>
            <a:ext cx="5746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root</a:t>
            </a:r>
          </a:p>
        </p:txBody>
      </p:sp>
      <p:sp>
        <p:nvSpPr>
          <p:cNvPr id="1469445" name="Text Box 5"/>
          <p:cNvSpPr txBox="1">
            <a:spLocks noChangeArrowheads="1"/>
          </p:cNvSpPr>
          <p:nvPr/>
        </p:nvSpPr>
        <p:spPr bwMode="auto">
          <a:xfrm>
            <a:off x="1216729" y="2528833"/>
            <a:ext cx="5619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edu</a:t>
            </a:r>
          </a:p>
        </p:txBody>
      </p:sp>
      <p:sp>
        <p:nvSpPr>
          <p:cNvPr id="1469446" name="Text Box 6"/>
          <p:cNvSpPr txBox="1">
            <a:spLocks noChangeArrowheads="1"/>
          </p:cNvSpPr>
          <p:nvPr/>
        </p:nvSpPr>
        <p:spPr bwMode="auto">
          <a:xfrm>
            <a:off x="2370841" y="2546296"/>
            <a:ext cx="612775" cy="363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com</a:t>
            </a:r>
          </a:p>
        </p:txBody>
      </p:sp>
      <p:sp>
        <p:nvSpPr>
          <p:cNvPr id="1469447" name="Text Box 7"/>
          <p:cNvSpPr txBox="1">
            <a:spLocks noChangeArrowheads="1"/>
          </p:cNvSpPr>
          <p:nvPr/>
        </p:nvSpPr>
        <p:spPr bwMode="auto">
          <a:xfrm>
            <a:off x="3596391" y="2528833"/>
            <a:ext cx="5492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gov</a:t>
            </a:r>
          </a:p>
        </p:txBody>
      </p:sp>
      <p:sp>
        <p:nvSpPr>
          <p:cNvPr id="1469448" name="Text Box 8"/>
          <p:cNvSpPr txBox="1">
            <a:spLocks noChangeArrowheads="1"/>
          </p:cNvSpPr>
          <p:nvPr/>
        </p:nvSpPr>
        <p:spPr bwMode="auto">
          <a:xfrm>
            <a:off x="4802891" y="2528833"/>
            <a:ext cx="4730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mil</a:t>
            </a:r>
          </a:p>
        </p:txBody>
      </p:sp>
      <p:sp>
        <p:nvSpPr>
          <p:cNvPr id="1469449" name="Text Box 9"/>
          <p:cNvSpPr txBox="1">
            <a:spLocks noChangeArrowheads="1"/>
          </p:cNvSpPr>
          <p:nvPr/>
        </p:nvSpPr>
        <p:spPr bwMode="auto">
          <a:xfrm>
            <a:off x="5666491" y="2546296"/>
            <a:ext cx="511175" cy="363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>
                <a:cs typeface="Arial" charset="0"/>
              </a:rPr>
              <a:t>org</a:t>
            </a:r>
          </a:p>
        </p:txBody>
      </p:sp>
      <p:sp>
        <p:nvSpPr>
          <p:cNvPr id="1469450" name="Text Box 10"/>
          <p:cNvSpPr txBox="1">
            <a:spLocks noChangeArrowheads="1"/>
          </p:cNvSpPr>
          <p:nvPr/>
        </p:nvSpPr>
        <p:spPr bwMode="auto">
          <a:xfrm>
            <a:off x="6511041" y="2528833"/>
            <a:ext cx="4984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net</a:t>
            </a:r>
          </a:p>
        </p:txBody>
      </p:sp>
      <p:sp>
        <p:nvSpPr>
          <p:cNvPr id="1469451" name="Text Box 11"/>
          <p:cNvSpPr txBox="1">
            <a:spLocks noChangeArrowheads="1"/>
          </p:cNvSpPr>
          <p:nvPr/>
        </p:nvSpPr>
        <p:spPr bwMode="auto">
          <a:xfrm>
            <a:off x="7359755" y="2528833"/>
            <a:ext cx="452048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 err="1">
                <a:cs typeface="Arial" charset="0"/>
              </a:rPr>
              <a:t>cn</a:t>
            </a:r>
            <a:endParaRPr lang="en-US" sz="1800" dirty="0">
              <a:cs typeface="Arial" charset="0"/>
            </a:endParaRPr>
          </a:p>
        </p:txBody>
      </p:sp>
      <p:sp>
        <p:nvSpPr>
          <p:cNvPr id="1469452" name="Text Box 12"/>
          <p:cNvSpPr txBox="1">
            <a:spLocks noChangeArrowheads="1"/>
          </p:cNvSpPr>
          <p:nvPr/>
        </p:nvSpPr>
        <p:spPr bwMode="auto">
          <a:xfrm>
            <a:off x="8089016" y="2528833"/>
            <a:ext cx="3206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fr</a:t>
            </a:r>
          </a:p>
        </p:txBody>
      </p:sp>
      <p:sp>
        <p:nvSpPr>
          <p:cNvPr id="1469453" name="Text Box 13"/>
          <p:cNvSpPr txBox="1">
            <a:spLocks noChangeArrowheads="1"/>
          </p:cNvSpPr>
          <p:nvPr/>
        </p:nvSpPr>
        <p:spPr bwMode="auto">
          <a:xfrm>
            <a:off x="391821" y="3536896"/>
            <a:ext cx="862417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 err="1">
                <a:cs typeface="Arial" charset="0"/>
              </a:rPr>
              <a:t>umich</a:t>
            </a:r>
            <a:endParaRPr lang="en-US" sz="1800" dirty="0">
              <a:cs typeface="Arial" charset="0"/>
            </a:endParaRPr>
          </a:p>
        </p:txBody>
      </p:sp>
      <p:sp>
        <p:nvSpPr>
          <p:cNvPr id="1469454" name="Text Box 14"/>
          <p:cNvSpPr txBox="1">
            <a:spLocks noChangeArrowheads="1"/>
          </p:cNvSpPr>
          <p:nvPr/>
        </p:nvSpPr>
        <p:spPr bwMode="auto">
          <a:xfrm>
            <a:off x="1558981" y="3519433"/>
            <a:ext cx="1118898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 err="1">
                <a:cs typeface="Arial" charset="0"/>
              </a:rPr>
              <a:t>berkeley</a:t>
            </a:r>
            <a:endParaRPr lang="en-US" sz="1800" dirty="0">
              <a:cs typeface="Arial" charset="0"/>
            </a:endParaRPr>
          </a:p>
        </p:txBody>
      </p:sp>
      <p:sp>
        <p:nvSpPr>
          <p:cNvPr id="1469455" name="Line 15"/>
          <p:cNvSpPr>
            <a:spLocks noChangeShapeType="1"/>
          </p:cNvSpPr>
          <p:nvPr/>
        </p:nvSpPr>
        <p:spPr bwMode="auto">
          <a:xfrm flipH="1">
            <a:off x="507116" y="3824233"/>
            <a:ext cx="3048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56" name="Text Box 16"/>
          <p:cNvSpPr txBox="1">
            <a:spLocks noChangeArrowheads="1"/>
          </p:cNvSpPr>
          <p:nvPr/>
        </p:nvSpPr>
        <p:spPr bwMode="auto">
          <a:xfrm>
            <a:off x="161041" y="4281433"/>
            <a:ext cx="6635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 err="1">
                <a:cs typeface="Arial" charset="0"/>
              </a:rPr>
              <a:t>eecs</a:t>
            </a:r>
            <a:endParaRPr lang="en-US" sz="1800" dirty="0">
              <a:cs typeface="Arial" charset="0"/>
            </a:endParaRPr>
          </a:p>
        </p:txBody>
      </p:sp>
      <p:sp>
        <p:nvSpPr>
          <p:cNvPr id="1469457" name="Line 17"/>
          <p:cNvSpPr>
            <a:spLocks noChangeShapeType="1"/>
          </p:cNvSpPr>
          <p:nvPr/>
        </p:nvSpPr>
        <p:spPr bwMode="auto">
          <a:xfrm>
            <a:off x="964316" y="3824233"/>
            <a:ext cx="2286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58" name="Text Box 18"/>
          <p:cNvSpPr txBox="1">
            <a:spLocks noChangeArrowheads="1"/>
          </p:cNvSpPr>
          <p:nvPr/>
        </p:nvSpPr>
        <p:spPr bwMode="auto">
          <a:xfrm>
            <a:off x="964808" y="4298896"/>
            <a:ext cx="554641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>
                <a:cs typeface="Arial" charset="0"/>
              </a:rPr>
              <a:t>law</a:t>
            </a:r>
          </a:p>
        </p:txBody>
      </p:sp>
      <p:sp>
        <p:nvSpPr>
          <p:cNvPr id="1469459" name="Line 19"/>
          <p:cNvSpPr>
            <a:spLocks noChangeShapeType="1"/>
          </p:cNvSpPr>
          <p:nvPr/>
        </p:nvSpPr>
        <p:spPr bwMode="auto">
          <a:xfrm>
            <a:off x="443616" y="4662433"/>
            <a:ext cx="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0" name="Text Box 20"/>
          <p:cNvSpPr txBox="1">
            <a:spLocks noChangeArrowheads="1"/>
          </p:cNvSpPr>
          <p:nvPr/>
        </p:nvSpPr>
        <p:spPr bwMode="auto">
          <a:xfrm>
            <a:off x="167822" y="5195833"/>
            <a:ext cx="567465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 err="1">
                <a:cs typeface="Arial" charset="0"/>
              </a:rPr>
              <a:t>cse</a:t>
            </a:r>
            <a:endParaRPr lang="en-US" sz="1800" dirty="0">
              <a:cs typeface="Arial" charset="0"/>
            </a:endParaRPr>
          </a:p>
        </p:txBody>
      </p:sp>
      <p:sp>
        <p:nvSpPr>
          <p:cNvPr id="1469461" name="Line 21"/>
          <p:cNvSpPr>
            <a:spLocks noChangeShapeType="1"/>
          </p:cNvSpPr>
          <p:nvPr/>
        </p:nvSpPr>
        <p:spPr bwMode="auto">
          <a:xfrm flipH="1">
            <a:off x="900816" y="2833633"/>
            <a:ext cx="53340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2" name="Line 22"/>
          <p:cNvSpPr>
            <a:spLocks noChangeShapeType="1"/>
          </p:cNvSpPr>
          <p:nvPr/>
        </p:nvSpPr>
        <p:spPr bwMode="auto">
          <a:xfrm>
            <a:off x="1510416" y="2833633"/>
            <a:ext cx="60960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3" name="Line 23"/>
          <p:cNvSpPr>
            <a:spLocks noChangeShapeType="1"/>
          </p:cNvSpPr>
          <p:nvPr/>
        </p:nvSpPr>
        <p:spPr bwMode="auto">
          <a:xfrm flipV="1">
            <a:off x="1586616" y="1766833"/>
            <a:ext cx="297180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4" name="Line 24"/>
          <p:cNvSpPr>
            <a:spLocks noChangeShapeType="1"/>
          </p:cNvSpPr>
          <p:nvPr/>
        </p:nvSpPr>
        <p:spPr bwMode="auto">
          <a:xfrm flipH="1">
            <a:off x="2653416" y="1766833"/>
            <a:ext cx="19050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5" name="Line 25"/>
          <p:cNvSpPr>
            <a:spLocks noChangeShapeType="1"/>
          </p:cNvSpPr>
          <p:nvPr/>
        </p:nvSpPr>
        <p:spPr bwMode="auto">
          <a:xfrm flipH="1">
            <a:off x="3872616" y="1766833"/>
            <a:ext cx="6858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6" name="Line 26"/>
          <p:cNvSpPr>
            <a:spLocks noChangeShapeType="1"/>
          </p:cNvSpPr>
          <p:nvPr/>
        </p:nvSpPr>
        <p:spPr bwMode="auto">
          <a:xfrm>
            <a:off x="4558416" y="1766833"/>
            <a:ext cx="5334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7" name="Line 27"/>
          <p:cNvSpPr>
            <a:spLocks noChangeShapeType="1"/>
          </p:cNvSpPr>
          <p:nvPr/>
        </p:nvSpPr>
        <p:spPr bwMode="auto">
          <a:xfrm>
            <a:off x="4558416" y="1766833"/>
            <a:ext cx="13716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8" name="Line 28"/>
          <p:cNvSpPr>
            <a:spLocks noChangeShapeType="1"/>
          </p:cNvSpPr>
          <p:nvPr/>
        </p:nvSpPr>
        <p:spPr bwMode="auto">
          <a:xfrm>
            <a:off x="4558416" y="1766833"/>
            <a:ext cx="22098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9" name="Line 29"/>
          <p:cNvSpPr>
            <a:spLocks noChangeShapeType="1"/>
          </p:cNvSpPr>
          <p:nvPr/>
        </p:nvSpPr>
        <p:spPr bwMode="auto">
          <a:xfrm>
            <a:off x="4558416" y="1766833"/>
            <a:ext cx="30480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70" name="Line 30"/>
          <p:cNvSpPr>
            <a:spLocks noChangeShapeType="1"/>
          </p:cNvSpPr>
          <p:nvPr/>
        </p:nvSpPr>
        <p:spPr bwMode="auto">
          <a:xfrm>
            <a:off x="4558416" y="1766833"/>
            <a:ext cx="3594984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71" name="Text Box 31"/>
          <p:cNvSpPr txBox="1">
            <a:spLocks noChangeArrowheads="1"/>
          </p:cNvSpPr>
          <p:nvPr/>
        </p:nvSpPr>
        <p:spPr bwMode="auto">
          <a:xfrm>
            <a:off x="8763000" y="2452633"/>
            <a:ext cx="336657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3" name="Line 30"/>
          <p:cNvSpPr>
            <a:spLocks noChangeShapeType="1"/>
          </p:cNvSpPr>
          <p:nvPr/>
        </p:nvSpPr>
        <p:spPr bwMode="auto">
          <a:xfrm>
            <a:off x="4648200" y="1766833"/>
            <a:ext cx="426720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2" name="Rectangle 1"/>
          <p:cNvSpPr/>
          <p:nvPr/>
        </p:nvSpPr>
        <p:spPr bwMode="auto">
          <a:xfrm>
            <a:off x="990600" y="2452633"/>
            <a:ext cx="6019800" cy="457200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7" name="Rectangle 36"/>
          <p:cNvSpPr/>
          <p:nvPr/>
        </p:nvSpPr>
        <p:spPr bwMode="auto">
          <a:xfrm>
            <a:off x="7292975" y="2452633"/>
            <a:ext cx="1143000" cy="457200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  <p:sp>
        <p:nvSpPr>
          <p:cNvPr id="38" name="Freeform 37"/>
          <p:cNvSpPr/>
          <p:nvPr/>
        </p:nvSpPr>
        <p:spPr>
          <a:xfrm>
            <a:off x="47981" y="2729015"/>
            <a:ext cx="1095019" cy="2891134"/>
          </a:xfrm>
          <a:custGeom>
            <a:avLst/>
            <a:gdLst>
              <a:gd name="connsiteX0" fmla="*/ 27600 w 1095019"/>
              <a:gd name="connsiteY0" fmla="*/ 2891134 h 2891134"/>
              <a:gd name="connsiteX1" fmla="*/ 41111 w 1095019"/>
              <a:gd name="connsiteY1" fmla="*/ 1877886 h 2891134"/>
              <a:gd name="connsiteX2" fmla="*/ 419437 w 1095019"/>
              <a:gd name="connsiteY2" fmla="*/ 959208 h 2891134"/>
              <a:gd name="connsiteX3" fmla="*/ 1095019 w 1095019"/>
              <a:gd name="connsiteY3" fmla="*/ 0 h 2891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95019" h="2891134">
                <a:moveTo>
                  <a:pt x="27600" y="2891134"/>
                </a:moveTo>
                <a:cubicBezTo>
                  <a:pt x="1702" y="2545504"/>
                  <a:pt x="-24195" y="2199874"/>
                  <a:pt x="41111" y="1877886"/>
                </a:cubicBezTo>
                <a:cubicBezTo>
                  <a:pt x="106417" y="1555898"/>
                  <a:pt x="243786" y="1272189"/>
                  <a:pt x="419437" y="959208"/>
                </a:cubicBezTo>
                <a:cubicBezTo>
                  <a:pt x="595088" y="646227"/>
                  <a:pt x="1095019" y="0"/>
                  <a:pt x="1095019" y="0"/>
                </a:cubicBezTo>
              </a:path>
            </a:pathLst>
          </a:custGeom>
          <a:ln w="28575">
            <a:solidFill>
              <a:srgbClr val="D3A600"/>
            </a:solidFill>
            <a:headEnd type="none"/>
            <a:tailEnd type="triangle"/>
          </a:ln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urier New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287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94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94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94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94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94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94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94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94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69443" grpId="0" uiExpand="1" build="p"/>
      <p:bldP spid="2" grpId="0" animBg="1"/>
      <p:bldP spid="37" grpId="0" animBg="1"/>
      <p:bldP spid="3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4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Hierarchical administration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1469444" name="Text Box 4"/>
          <p:cNvSpPr txBox="1">
            <a:spLocks noChangeArrowheads="1"/>
          </p:cNvSpPr>
          <p:nvPr/>
        </p:nvSpPr>
        <p:spPr bwMode="auto">
          <a:xfrm>
            <a:off x="4304416" y="1462033"/>
            <a:ext cx="5746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root</a:t>
            </a:r>
          </a:p>
        </p:txBody>
      </p:sp>
      <p:sp>
        <p:nvSpPr>
          <p:cNvPr id="1469445" name="Text Box 5"/>
          <p:cNvSpPr txBox="1">
            <a:spLocks noChangeArrowheads="1"/>
          </p:cNvSpPr>
          <p:nvPr/>
        </p:nvSpPr>
        <p:spPr bwMode="auto">
          <a:xfrm>
            <a:off x="1216729" y="2528833"/>
            <a:ext cx="5619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edu</a:t>
            </a:r>
          </a:p>
        </p:txBody>
      </p:sp>
      <p:sp>
        <p:nvSpPr>
          <p:cNvPr id="1469446" name="Text Box 6"/>
          <p:cNvSpPr txBox="1">
            <a:spLocks noChangeArrowheads="1"/>
          </p:cNvSpPr>
          <p:nvPr/>
        </p:nvSpPr>
        <p:spPr bwMode="auto">
          <a:xfrm>
            <a:off x="2370841" y="2546296"/>
            <a:ext cx="612775" cy="363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com</a:t>
            </a:r>
          </a:p>
        </p:txBody>
      </p:sp>
      <p:sp>
        <p:nvSpPr>
          <p:cNvPr id="1469447" name="Text Box 7"/>
          <p:cNvSpPr txBox="1">
            <a:spLocks noChangeArrowheads="1"/>
          </p:cNvSpPr>
          <p:nvPr/>
        </p:nvSpPr>
        <p:spPr bwMode="auto">
          <a:xfrm>
            <a:off x="3596391" y="2528833"/>
            <a:ext cx="5492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gov</a:t>
            </a:r>
          </a:p>
        </p:txBody>
      </p:sp>
      <p:sp>
        <p:nvSpPr>
          <p:cNvPr id="1469448" name="Text Box 8"/>
          <p:cNvSpPr txBox="1">
            <a:spLocks noChangeArrowheads="1"/>
          </p:cNvSpPr>
          <p:nvPr/>
        </p:nvSpPr>
        <p:spPr bwMode="auto">
          <a:xfrm>
            <a:off x="4802891" y="2528833"/>
            <a:ext cx="4730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mil</a:t>
            </a:r>
          </a:p>
        </p:txBody>
      </p:sp>
      <p:sp>
        <p:nvSpPr>
          <p:cNvPr id="1469449" name="Text Box 9"/>
          <p:cNvSpPr txBox="1">
            <a:spLocks noChangeArrowheads="1"/>
          </p:cNvSpPr>
          <p:nvPr/>
        </p:nvSpPr>
        <p:spPr bwMode="auto">
          <a:xfrm>
            <a:off x="5666491" y="2546296"/>
            <a:ext cx="511175" cy="363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>
                <a:cs typeface="Arial" charset="0"/>
              </a:rPr>
              <a:t>org</a:t>
            </a:r>
          </a:p>
        </p:txBody>
      </p:sp>
      <p:sp>
        <p:nvSpPr>
          <p:cNvPr id="1469450" name="Text Box 10"/>
          <p:cNvSpPr txBox="1">
            <a:spLocks noChangeArrowheads="1"/>
          </p:cNvSpPr>
          <p:nvPr/>
        </p:nvSpPr>
        <p:spPr bwMode="auto">
          <a:xfrm>
            <a:off x="6511041" y="2528833"/>
            <a:ext cx="4984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net</a:t>
            </a:r>
          </a:p>
        </p:txBody>
      </p:sp>
      <p:sp>
        <p:nvSpPr>
          <p:cNvPr id="1469451" name="Text Box 11"/>
          <p:cNvSpPr txBox="1">
            <a:spLocks noChangeArrowheads="1"/>
          </p:cNvSpPr>
          <p:nvPr/>
        </p:nvSpPr>
        <p:spPr bwMode="auto">
          <a:xfrm>
            <a:off x="7359754" y="2528833"/>
            <a:ext cx="452049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altLang="zh-CN" sz="1800" dirty="0" err="1">
                <a:cs typeface="Arial" charset="0"/>
              </a:rPr>
              <a:t>cn</a:t>
            </a:r>
            <a:endParaRPr lang="en-US" sz="1800" dirty="0">
              <a:cs typeface="Arial" charset="0"/>
            </a:endParaRPr>
          </a:p>
        </p:txBody>
      </p:sp>
      <p:sp>
        <p:nvSpPr>
          <p:cNvPr id="1469452" name="Text Box 12"/>
          <p:cNvSpPr txBox="1">
            <a:spLocks noChangeArrowheads="1"/>
          </p:cNvSpPr>
          <p:nvPr/>
        </p:nvSpPr>
        <p:spPr bwMode="auto">
          <a:xfrm>
            <a:off x="8089016" y="2528833"/>
            <a:ext cx="3206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>
                <a:cs typeface="Arial" charset="0"/>
              </a:rPr>
              <a:t>fr</a:t>
            </a:r>
          </a:p>
        </p:txBody>
      </p:sp>
      <p:sp>
        <p:nvSpPr>
          <p:cNvPr id="1469453" name="Text Box 13"/>
          <p:cNvSpPr txBox="1">
            <a:spLocks noChangeArrowheads="1"/>
          </p:cNvSpPr>
          <p:nvPr/>
        </p:nvSpPr>
        <p:spPr bwMode="auto">
          <a:xfrm>
            <a:off x="391821" y="3536896"/>
            <a:ext cx="862417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 err="1">
                <a:cs typeface="Arial" charset="0"/>
              </a:rPr>
              <a:t>umich</a:t>
            </a:r>
            <a:endParaRPr lang="en-US" sz="1800" dirty="0">
              <a:cs typeface="Arial" charset="0"/>
            </a:endParaRPr>
          </a:p>
        </p:txBody>
      </p:sp>
      <p:sp>
        <p:nvSpPr>
          <p:cNvPr id="1469454" name="Text Box 14"/>
          <p:cNvSpPr txBox="1">
            <a:spLocks noChangeArrowheads="1"/>
          </p:cNvSpPr>
          <p:nvPr/>
        </p:nvSpPr>
        <p:spPr bwMode="auto">
          <a:xfrm>
            <a:off x="1558981" y="3519433"/>
            <a:ext cx="1118898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 err="1">
                <a:cs typeface="Arial" charset="0"/>
              </a:rPr>
              <a:t>berkeley</a:t>
            </a:r>
            <a:endParaRPr lang="en-US" sz="1800" dirty="0">
              <a:cs typeface="Arial" charset="0"/>
            </a:endParaRPr>
          </a:p>
        </p:txBody>
      </p:sp>
      <p:sp>
        <p:nvSpPr>
          <p:cNvPr id="1469455" name="Line 15"/>
          <p:cNvSpPr>
            <a:spLocks noChangeShapeType="1"/>
          </p:cNvSpPr>
          <p:nvPr/>
        </p:nvSpPr>
        <p:spPr bwMode="auto">
          <a:xfrm flipH="1">
            <a:off x="507116" y="3824233"/>
            <a:ext cx="3048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56" name="Text Box 16"/>
          <p:cNvSpPr txBox="1">
            <a:spLocks noChangeArrowheads="1"/>
          </p:cNvSpPr>
          <p:nvPr/>
        </p:nvSpPr>
        <p:spPr bwMode="auto">
          <a:xfrm>
            <a:off x="161041" y="4281433"/>
            <a:ext cx="663575" cy="36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 err="1">
                <a:cs typeface="Arial" charset="0"/>
              </a:rPr>
              <a:t>eecs</a:t>
            </a:r>
            <a:endParaRPr lang="en-US" sz="1800" dirty="0">
              <a:cs typeface="Arial" charset="0"/>
            </a:endParaRPr>
          </a:p>
        </p:txBody>
      </p:sp>
      <p:sp>
        <p:nvSpPr>
          <p:cNvPr id="1469457" name="Line 17"/>
          <p:cNvSpPr>
            <a:spLocks noChangeShapeType="1"/>
          </p:cNvSpPr>
          <p:nvPr/>
        </p:nvSpPr>
        <p:spPr bwMode="auto">
          <a:xfrm>
            <a:off x="964316" y="3824233"/>
            <a:ext cx="2286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58" name="Text Box 18"/>
          <p:cNvSpPr txBox="1">
            <a:spLocks noChangeArrowheads="1"/>
          </p:cNvSpPr>
          <p:nvPr/>
        </p:nvSpPr>
        <p:spPr bwMode="auto">
          <a:xfrm>
            <a:off x="964808" y="4298896"/>
            <a:ext cx="554641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>
                <a:cs typeface="Arial" charset="0"/>
              </a:rPr>
              <a:t>law</a:t>
            </a:r>
          </a:p>
        </p:txBody>
      </p:sp>
      <p:sp>
        <p:nvSpPr>
          <p:cNvPr id="1469459" name="Line 19"/>
          <p:cNvSpPr>
            <a:spLocks noChangeShapeType="1"/>
          </p:cNvSpPr>
          <p:nvPr/>
        </p:nvSpPr>
        <p:spPr bwMode="auto">
          <a:xfrm>
            <a:off x="443616" y="4662433"/>
            <a:ext cx="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0" name="Text Box 20"/>
          <p:cNvSpPr txBox="1">
            <a:spLocks noChangeArrowheads="1"/>
          </p:cNvSpPr>
          <p:nvPr/>
        </p:nvSpPr>
        <p:spPr bwMode="auto">
          <a:xfrm>
            <a:off x="167822" y="5195833"/>
            <a:ext cx="567465" cy="366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800" dirty="0" err="1">
                <a:cs typeface="Arial" charset="0"/>
              </a:rPr>
              <a:t>cse</a:t>
            </a:r>
            <a:endParaRPr lang="en-US" sz="1800" dirty="0">
              <a:cs typeface="Arial" charset="0"/>
            </a:endParaRPr>
          </a:p>
        </p:txBody>
      </p:sp>
      <p:sp>
        <p:nvSpPr>
          <p:cNvPr id="1469461" name="Line 21"/>
          <p:cNvSpPr>
            <a:spLocks noChangeShapeType="1"/>
          </p:cNvSpPr>
          <p:nvPr/>
        </p:nvSpPr>
        <p:spPr bwMode="auto">
          <a:xfrm flipH="1">
            <a:off x="900816" y="2833633"/>
            <a:ext cx="53340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2" name="Line 22"/>
          <p:cNvSpPr>
            <a:spLocks noChangeShapeType="1"/>
          </p:cNvSpPr>
          <p:nvPr/>
        </p:nvSpPr>
        <p:spPr bwMode="auto">
          <a:xfrm>
            <a:off x="1510416" y="2833633"/>
            <a:ext cx="60960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3" name="Line 23"/>
          <p:cNvSpPr>
            <a:spLocks noChangeShapeType="1"/>
          </p:cNvSpPr>
          <p:nvPr/>
        </p:nvSpPr>
        <p:spPr bwMode="auto">
          <a:xfrm flipV="1">
            <a:off x="1586616" y="1766833"/>
            <a:ext cx="297180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4" name="Line 24"/>
          <p:cNvSpPr>
            <a:spLocks noChangeShapeType="1"/>
          </p:cNvSpPr>
          <p:nvPr/>
        </p:nvSpPr>
        <p:spPr bwMode="auto">
          <a:xfrm flipH="1">
            <a:off x="2653416" y="1766833"/>
            <a:ext cx="19050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5" name="Line 25"/>
          <p:cNvSpPr>
            <a:spLocks noChangeShapeType="1"/>
          </p:cNvSpPr>
          <p:nvPr/>
        </p:nvSpPr>
        <p:spPr bwMode="auto">
          <a:xfrm flipH="1">
            <a:off x="3872616" y="1766833"/>
            <a:ext cx="6858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6" name="Line 26"/>
          <p:cNvSpPr>
            <a:spLocks noChangeShapeType="1"/>
          </p:cNvSpPr>
          <p:nvPr/>
        </p:nvSpPr>
        <p:spPr bwMode="auto">
          <a:xfrm>
            <a:off x="4558416" y="1766833"/>
            <a:ext cx="5334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7" name="Line 27"/>
          <p:cNvSpPr>
            <a:spLocks noChangeShapeType="1"/>
          </p:cNvSpPr>
          <p:nvPr/>
        </p:nvSpPr>
        <p:spPr bwMode="auto">
          <a:xfrm>
            <a:off x="4558416" y="1766833"/>
            <a:ext cx="13716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8" name="Line 28"/>
          <p:cNvSpPr>
            <a:spLocks noChangeShapeType="1"/>
          </p:cNvSpPr>
          <p:nvPr/>
        </p:nvSpPr>
        <p:spPr bwMode="auto">
          <a:xfrm>
            <a:off x="4558416" y="1766833"/>
            <a:ext cx="22098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69" name="Line 29"/>
          <p:cNvSpPr>
            <a:spLocks noChangeShapeType="1"/>
          </p:cNvSpPr>
          <p:nvPr/>
        </p:nvSpPr>
        <p:spPr bwMode="auto">
          <a:xfrm>
            <a:off x="4558416" y="1766833"/>
            <a:ext cx="3048000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70" name="Line 30"/>
          <p:cNvSpPr>
            <a:spLocks noChangeShapeType="1"/>
          </p:cNvSpPr>
          <p:nvPr/>
        </p:nvSpPr>
        <p:spPr bwMode="auto">
          <a:xfrm>
            <a:off x="4558416" y="1766833"/>
            <a:ext cx="3594984" cy="838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1469471" name="Text Box 31"/>
          <p:cNvSpPr txBox="1">
            <a:spLocks noChangeArrowheads="1"/>
          </p:cNvSpPr>
          <p:nvPr/>
        </p:nvSpPr>
        <p:spPr bwMode="auto">
          <a:xfrm>
            <a:off x="8763000" y="2452633"/>
            <a:ext cx="336657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25400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3" name="Line 30"/>
          <p:cNvSpPr>
            <a:spLocks noChangeShapeType="1"/>
          </p:cNvSpPr>
          <p:nvPr/>
        </p:nvSpPr>
        <p:spPr bwMode="auto">
          <a:xfrm>
            <a:off x="4648200" y="1766833"/>
            <a:ext cx="4267200" cy="7620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/>
          </a:p>
        </p:txBody>
      </p:sp>
      <p:sp>
        <p:nvSpPr>
          <p:cNvPr id="3" name="Rectangle 2"/>
          <p:cNvSpPr/>
          <p:nvPr/>
        </p:nvSpPr>
        <p:spPr bwMode="auto">
          <a:xfrm>
            <a:off x="767318" y="1515295"/>
            <a:ext cx="8021041" cy="1447800"/>
          </a:xfrm>
          <a:prstGeom prst="rect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8" name="Rectangle 37"/>
          <p:cNvSpPr/>
          <p:nvPr/>
        </p:nvSpPr>
        <p:spPr bwMode="auto">
          <a:xfrm>
            <a:off x="1510416" y="3429000"/>
            <a:ext cx="1167463" cy="511834"/>
          </a:xfrm>
          <a:prstGeom prst="rect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183586" y="3402832"/>
            <a:ext cx="1167463" cy="511834"/>
          </a:xfrm>
          <a:prstGeom prst="rect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111147" y="4207284"/>
            <a:ext cx="789669" cy="1355315"/>
          </a:xfrm>
          <a:prstGeom prst="rect">
            <a:avLst/>
          </a:prstGeom>
          <a:noFill/>
          <a:ln w="19050" cap="flat" cmpd="sng" algn="ctr">
            <a:solidFill>
              <a:srgbClr val="D3A600"/>
            </a:solidFill>
            <a:prstDash val="dash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1" name="Rectangle 59"/>
          <p:cNvSpPr txBox="1">
            <a:spLocks noChangeArrowheads="1"/>
          </p:cNvSpPr>
          <p:nvPr/>
        </p:nvSpPr>
        <p:spPr>
          <a:xfrm>
            <a:off x="1752600" y="4343400"/>
            <a:ext cx="7347057" cy="2133600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257175" indent="-25717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l"/>
              <a:defRPr sz="2800">
                <a:solidFill>
                  <a:schemeClr val="accent2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557213" indent="-2143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ZapfDingbats" charset="0"/>
              <a:buChar char="u"/>
              <a:defRPr sz="2400">
                <a:solidFill>
                  <a:schemeClr val="accent2"/>
                </a:solidFill>
                <a:latin typeface="+mn-lt"/>
                <a:ea typeface="ＭＳ Ｐゴシック" charset="-128"/>
              </a:defRPr>
            </a:lvl2pPr>
            <a:lvl3pPr marL="8572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»"/>
              <a:defRPr sz="2400">
                <a:solidFill>
                  <a:schemeClr val="accent2"/>
                </a:solidFill>
                <a:latin typeface="+mn-lt"/>
                <a:ea typeface="ＭＳ Ｐゴシック" charset="-128"/>
              </a:defRPr>
            </a:lvl3pPr>
            <a:lvl4pPr marL="12001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n"/>
              <a:defRPr sz="1200">
                <a:solidFill>
                  <a:schemeClr val="accent2"/>
                </a:solidFill>
                <a:latin typeface="+mn-lt"/>
                <a:ea typeface="ＭＳ Ｐゴシック" charset="-128"/>
              </a:defRPr>
            </a:lvl4pPr>
            <a:lvl5pPr marL="15430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charset="0"/>
              <a:buChar char="l"/>
              <a:defRPr sz="1200">
                <a:solidFill>
                  <a:schemeClr val="accent2"/>
                </a:solidFill>
                <a:latin typeface="+mn-lt"/>
                <a:ea typeface="ＭＳ Ｐゴシック" charset="-128"/>
              </a:defRPr>
            </a:lvl5pPr>
            <a:lvl6pPr marL="18859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6pPr>
            <a:lvl7pPr marL="22288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7pPr>
            <a:lvl8pPr marL="25717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8pPr>
            <a:lvl9pPr marL="2914650" indent="-1714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50000"/>
              <a:buFont typeface="Monotype Sorts" pitchFamily="96" charset="2"/>
              <a:buChar char="l"/>
              <a:defRPr sz="1200">
                <a:solidFill>
                  <a:schemeClr val="accent2"/>
                </a:solidFill>
                <a:latin typeface="+mn-lt"/>
              </a:defRPr>
            </a:lvl9pPr>
          </a:lstStyle>
          <a:p>
            <a:r>
              <a:rPr lang="en-US" sz="2400" b="0" dirty="0"/>
              <a:t>A </a:t>
            </a:r>
            <a:r>
              <a:rPr lang="en-US" sz="2400" dirty="0">
                <a:solidFill>
                  <a:srgbClr val="0000FF"/>
                </a:solidFill>
              </a:rPr>
              <a:t>zone</a:t>
            </a:r>
            <a:r>
              <a:rPr lang="en-US" sz="2400" b="0" dirty="0"/>
              <a:t> corresponds to an administrative authority that is responsible for that portion of the hierarchy</a:t>
            </a:r>
          </a:p>
          <a:p>
            <a:pPr lvl="1"/>
            <a:r>
              <a:rPr lang="en-US" sz="2000" b="0" dirty="0"/>
              <a:t>e.g., UMich controls names: *.</a:t>
            </a:r>
            <a:r>
              <a:rPr lang="en-US" sz="2000" b="0" dirty="0" err="1"/>
              <a:t>umich.edu</a:t>
            </a:r>
            <a:endParaRPr lang="en-US" sz="2000" b="0" dirty="0"/>
          </a:p>
          <a:p>
            <a:pPr lvl="1"/>
            <a:r>
              <a:rPr lang="en-US" sz="2000" b="0" dirty="0"/>
              <a:t>e.g., EECS controls names: *.</a:t>
            </a:r>
            <a:r>
              <a:rPr lang="en-US" sz="2000" b="0" dirty="0" err="1"/>
              <a:t>eecs.umich.edu</a:t>
            </a:r>
            <a:endParaRPr lang="en-US" sz="2400" b="0" dirty="0"/>
          </a:p>
          <a:p>
            <a:endParaRPr lang="en-US" sz="2400" b="0" dirty="0"/>
          </a:p>
          <a:p>
            <a:endParaRPr lang="en-US" sz="2400" b="0" dirty="0"/>
          </a:p>
          <a:p>
            <a:pPr marL="1022350" marR="0" lvl="2" indent="-350838" defTabSz="91440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kern="0" dirty="0"/>
          </a:p>
        </p:txBody>
      </p:sp>
      <p:sp>
        <p:nvSpPr>
          <p:cNvPr id="4" name="TextBox 3"/>
          <p:cNvSpPr txBox="1"/>
          <p:nvPr/>
        </p:nvSpPr>
        <p:spPr>
          <a:xfrm>
            <a:off x="831798" y="1588018"/>
            <a:ext cx="1390124" cy="338554"/>
          </a:xfrm>
          <a:prstGeom prst="rect">
            <a:avLst/>
          </a:prstGeom>
          <a:solidFill>
            <a:srgbClr val="D3A600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ICANN/IANA</a:t>
            </a:r>
          </a:p>
        </p:txBody>
      </p:sp>
    </p:spTree>
    <p:extLst>
      <p:ext uri="{BB962C8B-B14F-4D97-AF65-F5344CB8AC3E}">
        <p14:creationId xmlns:p14="http://schemas.microsoft.com/office/powerpoint/2010/main" val="20658136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Server hierarchy</a:t>
            </a:r>
          </a:p>
        </p:txBody>
      </p:sp>
      <p:sp>
        <p:nvSpPr>
          <p:cNvPr id="92877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Top of hierarchy: </a:t>
            </a:r>
            <a:r>
              <a:rPr lang="en-US" dirty="0">
                <a:solidFill>
                  <a:srgbClr val="0000FF"/>
                </a:solidFill>
              </a:rPr>
              <a:t>Root servers</a:t>
            </a:r>
          </a:p>
          <a:p>
            <a:pPr lvl="1"/>
            <a:r>
              <a:rPr lang="en-US" dirty="0"/>
              <a:t>Location hardwired into other servers</a:t>
            </a:r>
          </a:p>
          <a:p>
            <a:r>
              <a:rPr lang="en-US" dirty="0"/>
              <a:t>Next Level: </a:t>
            </a:r>
            <a:r>
              <a:rPr lang="en-US" dirty="0">
                <a:solidFill>
                  <a:srgbClr val="0000FF"/>
                </a:solidFill>
              </a:rPr>
              <a:t>Top-level domain (TLD) servers</a:t>
            </a:r>
          </a:p>
          <a:p>
            <a:pPr lvl="1"/>
            <a:r>
              <a:rPr lang="en-US" dirty="0"/>
              <a:t>.com, .</a:t>
            </a:r>
            <a:r>
              <a:rPr lang="en-US" dirty="0" err="1"/>
              <a:t>edu</a:t>
            </a:r>
            <a:r>
              <a:rPr lang="en-US" dirty="0"/>
              <a:t>, etc.</a:t>
            </a:r>
          </a:p>
          <a:p>
            <a:pPr lvl="1"/>
            <a:r>
              <a:rPr lang="en-US" dirty="0"/>
              <a:t>Managed professionally</a:t>
            </a:r>
          </a:p>
          <a:p>
            <a:r>
              <a:rPr lang="en-US" dirty="0"/>
              <a:t>Bottom Level: </a:t>
            </a:r>
            <a:r>
              <a:rPr lang="en-US" dirty="0">
                <a:solidFill>
                  <a:srgbClr val="0000FF"/>
                </a:solidFill>
              </a:rPr>
              <a:t>Authoritative DNS servers</a:t>
            </a:r>
          </a:p>
          <a:p>
            <a:pPr lvl="1"/>
            <a:r>
              <a:rPr lang="en-US" dirty="0"/>
              <a:t>Actually store the name-to-address mapping</a:t>
            </a:r>
          </a:p>
          <a:p>
            <a:pPr lvl="1"/>
            <a:r>
              <a:rPr lang="en-US" dirty="0"/>
              <a:t>Maintained by the corresponding administrative authority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0821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14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Server hierarchy</a:t>
            </a:r>
          </a:p>
        </p:txBody>
      </p:sp>
      <p:sp>
        <p:nvSpPr>
          <p:cNvPr id="147149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server stores a (small!) subset of the total DNS database </a:t>
            </a:r>
          </a:p>
          <a:p>
            <a:r>
              <a:rPr lang="en-US" dirty="0"/>
              <a:t>An authoritative DNS server stores “</a:t>
            </a:r>
            <a:r>
              <a:rPr lang="en-US" dirty="0">
                <a:solidFill>
                  <a:srgbClr val="0000FF"/>
                </a:solidFill>
              </a:rPr>
              <a:t>resource records</a:t>
            </a:r>
            <a:r>
              <a:rPr lang="en-US" dirty="0"/>
              <a:t>” for all DNS names in the domain that it has authority for </a:t>
            </a:r>
          </a:p>
          <a:p>
            <a:r>
              <a:rPr lang="en-US" dirty="0"/>
              <a:t>Each server needs to know other servers responsible for other portions of the hierarchy</a:t>
            </a:r>
          </a:p>
          <a:p>
            <a:pPr lvl="1"/>
            <a:r>
              <a:rPr lang="en-US" dirty="0"/>
              <a:t>Every server knows the root</a:t>
            </a:r>
          </a:p>
          <a:p>
            <a:pPr lvl="1"/>
            <a:r>
              <a:rPr lang="en-US" dirty="0"/>
              <a:t>Root server knows about all top-level domains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591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14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1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1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14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71491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DNS root</a:t>
            </a:r>
          </a:p>
        </p:txBody>
      </p:sp>
      <p:sp>
        <p:nvSpPr>
          <p:cNvPr id="7168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Located in Virginia, USA</a:t>
            </a:r>
          </a:p>
          <a:p>
            <a:r>
              <a:rPr lang="en-US" dirty="0"/>
              <a:t>How do we s</a:t>
            </a:r>
            <a:r>
              <a:rPr lang="en-US" altLang="zh-CN" dirty="0"/>
              <a:t>cale</a:t>
            </a:r>
            <a:r>
              <a:rPr lang="en-US" dirty="0"/>
              <a:t> the root?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71685" name="AutoShape 4"/>
          <p:cNvSpPr>
            <a:spLocks noChangeAspect="1" noChangeArrowheads="1"/>
          </p:cNvSpPr>
          <p:nvPr/>
        </p:nvSpPr>
        <p:spPr bwMode="auto">
          <a:xfrm>
            <a:off x="457200" y="3048000"/>
            <a:ext cx="7234238" cy="3643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568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368B66-1FD5-5E48-B5FA-D2D81BD94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13 DNS root servers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2696D06-C682-9047-8641-460B4D36CF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5800" y="1796788"/>
            <a:ext cx="7924800" cy="402642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1E7E04-E0AE-F541-B94F-6E8AF491CC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E0F8CC-4B33-4E4B-B4A3-24E1442E547C}"/>
              </a:ext>
            </a:extLst>
          </p:cNvPr>
          <p:cNvSpPr txBox="1"/>
          <p:nvPr/>
        </p:nvSpPr>
        <p:spPr>
          <a:xfrm>
            <a:off x="3946669" y="5811489"/>
            <a:ext cx="12506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0" dirty="0"/>
              <a:t>https://root-</a:t>
            </a:r>
            <a:r>
              <a:rPr lang="en-US" sz="800" b="0" dirty="0" err="1"/>
              <a:t>servers.org</a:t>
            </a:r>
            <a:r>
              <a:rPr lang="en-US" sz="800" b="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5726855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7E707-A6DD-EE9E-7376-F8CA09ACB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DNS root servers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2023</a:t>
            </a:r>
            <a:endParaRPr lang="en-US" dirty="0"/>
          </a:p>
        </p:txBody>
      </p:sp>
      <p:pic>
        <p:nvPicPr>
          <p:cNvPr id="5" name="Content Placeholder 4" descr="Map&#10;&#10;Description automatically generated">
            <a:extLst>
              <a:ext uri="{FF2B5EF4-FFF2-40B4-BE49-F238E27FC236}">
                <a16:creationId xmlns:a16="http://schemas.microsoft.com/office/drawing/2014/main" id="{9F96D0C3-627D-6657-00AD-848C6D00132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28800"/>
            <a:ext cx="7924800" cy="399796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4784C0-2BB4-0973-E3F5-A78C42927D6F}"/>
              </a:ext>
            </a:extLst>
          </p:cNvPr>
          <p:cNvSpPr txBox="1"/>
          <p:nvPr/>
        </p:nvSpPr>
        <p:spPr>
          <a:xfrm>
            <a:off x="3946669" y="5811489"/>
            <a:ext cx="12506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0" dirty="0"/>
              <a:t>https://root-</a:t>
            </a:r>
            <a:r>
              <a:rPr lang="en-US" sz="800" b="0" dirty="0" err="1"/>
              <a:t>servers.org</a:t>
            </a:r>
            <a:r>
              <a:rPr lang="en-US" sz="800" b="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1769633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702B2-0EA4-6E40-AB0F-79CB6B07D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Root</a:t>
            </a:r>
            <a:r>
              <a:rPr lang="zh-CN" altLang="en-US" dirty="0"/>
              <a:t> </a:t>
            </a:r>
            <a:r>
              <a:rPr lang="en-US" altLang="zh-CN" dirty="0"/>
              <a:t>servers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6C2918-1972-2141-9B7D-7E663A9ED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https://www.iana.org/domains/root/servers</a:t>
            </a:r>
            <a:endParaRPr lang="en-US" dirty="0"/>
          </a:p>
          <a:p>
            <a:r>
              <a:rPr lang="en-US" altLang="zh-CN" dirty="0"/>
              <a:t>13</a:t>
            </a:r>
            <a:r>
              <a:rPr lang="zh-CN" altLang="en-US" dirty="0"/>
              <a:t> </a:t>
            </a:r>
            <a:r>
              <a:rPr lang="en-US" altLang="zh-CN" dirty="0"/>
              <a:t>root</a:t>
            </a:r>
            <a:r>
              <a:rPr lang="zh-CN" altLang="en-US" dirty="0"/>
              <a:t> </a:t>
            </a:r>
            <a:r>
              <a:rPr lang="en-US" altLang="zh-CN" dirty="0"/>
              <a:t>servers,</a:t>
            </a:r>
            <a:r>
              <a:rPr lang="zh-CN" altLang="en-US" dirty="0"/>
              <a:t> </a:t>
            </a:r>
            <a:r>
              <a:rPr lang="en-US" altLang="zh-CN" dirty="0"/>
              <a:t>many</a:t>
            </a:r>
            <a:r>
              <a:rPr lang="zh-CN" altLang="en-US" dirty="0"/>
              <a:t> </a:t>
            </a:r>
            <a:r>
              <a:rPr lang="en-US" altLang="zh-CN" dirty="0"/>
              <a:t>instances</a:t>
            </a:r>
            <a:r>
              <a:rPr lang="zh-CN" altLang="en-US" dirty="0"/>
              <a:t> </a:t>
            </a:r>
            <a:r>
              <a:rPr lang="en-US" altLang="zh-CN" dirty="0"/>
              <a:t>for</a:t>
            </a:r>
            <a:r>
              <a:rPr lang="zh-CN" altLang="en-US" dirty="0"/>
              <a:t> </a:t>
            </a:r>
            <a:r>
              <a:rPr lang="en-US" altLang="zh-CN" dirty="0"/>
              <a:t>each</a:t>
            </a:r>
            <a:endParaRPr lang="en-US" dirty="0"/>
          </a:p>
        </p:txBody>
      </p:sp>
      <p:pic>
        <p:nvPicPr>
          <p:cNvPr id="5" name="Picture 4" descr="A picture containing text&#10;&#10;Description automatically generated">
            <a:extLst>
              <a:ext uri="{FF2B5EF4-FFF2-40B4-BE49-F238E27FC236}">
                <a16:creationId xmlns:a16="http://schemas.microsoft.com/office/drawing/2014/main" id="{5789869D-7622-7F41-942D-B36879626F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0" y="2647950"/>
            <a:ext cx="5105400" cy="38290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55D9FA9-2ECD-DA4C-992E-8FFAB7438275}"/>
              </a:ext>
            </a:extLst>
          </p:cNvPr>
          <p:cNvSpPr txBox="1"/>
          <p:nvPr/>
        </p:nvSpPr>
        <p:spPr>
          <a:xfrm>
            <a:off x="7086600" y="2979003"/>
            <a:ext cx="20574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2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 </a:t>
            </a:r>
            <a:r>
              <a:rPr lang="en-HK" sz="1200" b="0" i="0" u="none" strike="noStrike" dirty="0">
                <a:solidFill>
                  <a:srgbClr val="0645AD"/>
                </a:solidFill>
                <a:effectLst/>
                <a:latin typeface="Arial" panose="020B0604020202020204" pitchFamily="34" charset="0"/>
                <a:hlinkClick r:id="rId4" tooltip="Cisco"/>
              </a:rPr>
              <a:t>Cisco</a:t>
            </a:r>
            <a:r>
              <a:rPr lang="en-HK" sz="12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7301 router and a </a:t>
            </a:r>
            <a:r>
              <a:rPr lang="en-HK" sz="1200" b="0" i="0" u="none" strike="noStrike" dirty="0">
                <a:solidFill>
                  <a:srgbClr val="0645AD"/>
                </a:solidFill>
                <a:effectLst/>
                <a:latin typeface="Arial" panose="020B0604020202020204" pitchFamily="34" charset="0"/>
                <a:hlinkClick r:id="rId5" tooltip="Juniper Networks"/>
              </a:rPr>
              <a:t>Juniper</a:t>
            </a:r>
            <a:r>
              <a:rPr lang="en-HK" sz="12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 M7i, part of the K root-server instance at </a:t>
            </a:r>
            <a:r>
              <a:rPr lang="en-HK" sz="1200" b="0" i="0" u="none" strike="noStrike" dirty="0">
                <a:solidFill>
                  <a:srgbClr val="0645AD"/>
                </a:solidFill>
                <a:effectLst/>
                <a:latin typeface="Arial" panose="020B0604020202020204" pitchFamily="34" charset="0"/>
                <a:hlinkClick r:id="rId6" tooltip="Amsterdam Internet Exchange"/>
              </a:rPr>
              <a:t>AMS-IX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28E539-9F11-3B47-B7C7-7806916DC616}"/>
              </a:ext>
            </a:extLst>
          </p:cNvPr>
          <p:cNvSpPr txBox="1"/>
          <p:nvPr/>
        </p:nvSpPr>
        <p:spPr>
          <a:xfrm>
            <a:off x="1863811" y="6500276"/>
            <a:ext cx="537518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b="0" dirty="0"/>
              <a:t>Credit:</a:t>
            </a:r>
            <a:r>
              <a:rPr lang="zh-CN" altLang="en-US" sz="1200" b="0" dirty="0"/>
              <a:t> </a:t>
            </a:r>
            <a:r>
              <a:rPr lang="en-US" sz="1200" b="0" dirty="0">
                <a:hlinkClick r:id="rId7"/>
              </a:rPr>
              <a:t>https://commons.wikimedia.org/wiki/File:Ams-ix.k.root-servers.net.jpg</a:t>
            </a:r>
            <a:endParaRPr lang="en-US" sz="1200" b="0" dirty="0"/>
          </a:p>
        </p:txBody>
      </p:sp>
    </p:spTree>
    <p:extLst>
      <p:ext uri="{BB962C8B-B14F-4D97-AF65-F5344CB8AC3E}">
        <p14:creationId xmlns:p14="http://schemas.microsoft.com/office/powerpoint/2010/main" val="38020748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3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DNS records</a:t>
            </a:r>
            <a:endParaRPr lang="en-US" dirty="0"/>
          </a:p>
        </p:txBody>
      </p:sp>
      <p:sp>
        <p:nvSpPr>
          <p:cNvPr id="16343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DNS servers store </a:t>
            </a:r>
            <a:r>
              <a:rPr lang="en-US" dirty="0">
                <a:solidFill>
                  <a:srgbClr val="0000FF"/>
                </a:solidFill>
              </a:rPr>
              <a:t>resource records (RRs)</a:t>
            </a:r>
          </a:p>
          <a:p>
            <a:pPr lvl="1"/>
            <a:r>
              <a:rPr lang="en-US" dirty="0"/>
              <a:t>RR is (name, value, type, TTL)</a:t>
            </a:r>
          </a:p>
          <a:p>
            <a:r>
              <a:rPr lang="en-US" dirty="0"/>
              <a:t>Type = A: (</a:t>
            </a:r>
            <a:r>
              <a:rPr lang="en-US" dirty="0">
                <a:sym typeface="Wingdings"/>
              </a:rPr>
              <a:t> </a:t>
            </a:r>
            <a:r>
              <a:rPr lang="en-US" dirty="0">
                <a:solidFill>
                  <a:srgbClr val="0000FF"/>
                </a:solidFill>
                <a:sym typeface="Wingdings"/>
              </a:rPr>
              <a:t>A</a:t>
            </a:r>
            <a:r>
              <a:rPr lang="en-US" dirty="0">
                <a:sym typeface="Wingdings"/>
              </a:rPr>
              <a:t>ddress)</a:t>
            </a:r>
            <a:endParaRPr lang="en-US" dirty="0"/>
          </a:p>
          <a:p>
            <a:pPr lvl="1"/>
            <a:r>
              <a:rPr lang="en-US" dirty="0"/>
              <a:t>name = hostname</a:t>
            </a:r>
          </a:p>
          <a:p>
            <a:pPr lvl="1"/>
            <a:r>
              <a:rPr lang="en-US" dirty="0"/>
              <a:t>value = IP address</a:t>
            </a:r>
          </a:p>
          <a:p>
            <a:r>
              <a:rPr lang="en-US" dirty="0"/>
              <a:t>Type = NS: (</a:t>
            </a:r>
            <a:r>
              <a:rPr lang="en-US" dirty="0">
                <a:sym typeface="Wingdings"/>
              </a:rPr>
              <a:t> </a:t>
            </a:r>
            <a:r>
              <a:rPr lang="en-US" dirty="0">
                <a:solidFill>
                  <a:srgbClr val="0000FF"/>
                </a:solidFill>
                <a:sym typeface="Wingdings"/>
              </a:rPr>
              <a:t>N</a:t>
            </a:r>
            <a:r>
              <a:rPr lang="en-US" dirty="0">
                <a:sym typeface="Wingdings"/>
              </a:rPr>
              <a:t>ame </a:t>
            </a:r>
            <a:r>
              <a:rPr lang="en-US" dirty="0">
                <a:solidFill>
                  <a:srgbClr val="0000FF"/>
                </a:solidFill>
                <a:sym typeface="Wingdings"/>
              </a:rPr>
              <a:t>S</a:t>
            </a:r>
            <a:r>
              <a:rPr lang="en-US" dirty="0">
                <a:sym typeface="Wingdings"/>
              </a:rPr>
              <a:t>erver)</a:t>
            </a:r>
            <a:endParaRPr lang="en-US" dirty="0"/>
          </a:p>
          <a:p>
            <a:pPr lvl="1"/>
            <a:r>
              <a:rPr lang="en-US" dirty="0"/>
              <a:t>name = domain</a:t>
            </a:r>
          </a:p>
          <a:p>
            <a:pPr lvl="1"/>
            <a:r>
              <a:rPr lang="en-US" dirty="0"/>
              <a:t>value = name of DNS server for domain 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04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43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43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43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43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43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43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6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DNS records (cont’d)</a:t>
            </a:r>
          </a:p>
        </p:txBody>
      </p:sp>
      <p:sp>
        <p:nvSpPr>
          <p:cNvPr id="163635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Type = CNAME: (</a:t>
            </a:r>
            <a:r>
              <a:rPr lang="en-US" dirty="0">
                <a:sym typeface="Wingdings"/>
              </a:rPr>
              <a:t> </a:t>
            </a:r>
            <a:r>
              <a:rPr lang="en-US" dirty="0">
                <a:solidFill>
                  <a:srgbClr val="0000FF"/>
                </a:solidFill>
                <a:sym typeface="Wingdings"/>
              </a:rPr>
              <a:t>C</a:t>
            </a:r>
            <a:r>
              <a:rPr lang="en-US" dirty="0">
                <a:sym typeface="Wingdings"/>
              </a:rPr>
              <a:t>anonical</a:t>
            </a:r>
            <a:r>
              <a:rPr lang="en-US" dirty="0">
                <a:solidFill>
                  <a:srgbClr val="0000FF"/>
                </a:solidFill>
                <a:sym typeface="Wingdings"/>
              </a:rPr>
              <a:t> Name</a:t>
            </a:r>
            <a:r>
              <a:rPr lang="en-US" dirty="0">
                <a:sym typeface="Wingdings"/>
              </a:rPr>
              <a:t>)</a:t>
            </a:r>
          </a:p>
          <a:p>
            <a:pPr lvl="1"/>
            <a:r>
              <a:rPr lang="en-US" dirty="0"/>
              <a:t>name = alias name for some “canonical” (real) name</a:t>
            </a:r>
          </a:p>
          <a:p>
            <a:pPr lvl="2"/>
            <a:r>
              <a:rPr lang="en-US" dirty="0"/>
              <a:t>e.g., </a:t>
            </a:r>
            <a:r>
              <a:rPr lang="en-US" dirty="0" err="1"/>
              <a:t>cse.umich.edu</a:t>
            </a:r>
            <a:r>
              <a:rPr lang="en-US" dirty="0"/>
              <a:t> is really </a:t>
            </a:r>
            <a:r>
              <a:rPr lang="en-US" dirty="0" err="1"/>
              <a:t>cse.eecs.umich.edu</a:t>
            </a:r>
            <a:endParaRPr lang="en-US" dirty="0"/>
          </a:p>
          <a:p>
            <a:pPr lvl="1"/>
            <a:r>
              <a:rPr lang="en-US" dirty="0"/>
              <a:t>value = canonical name</a:t>
            </a:r>
          </a:p>
          <a:p>
            <a:r>
              <a:rPr lang="en-US" dirty="0"/>
              <a:t>Type = MX: (</a:t>
            </a:r>
            <a:r>
              <a:rPr lang="en-US" dirty="0">
                <a:sym typeface="Wingdings"/>
              </a:rPr>
              <a:t> </a:t>
            </a:r>
            <a:r>
              <a:rPr lang="en-US" dirty="0">
                <a:solidFill>
                  <a:srgbClr val="0000FF"/>
                </a:solidFill>
                <a:sym typeface="Wingdings"/>
              </a:rPr>
              <a:t>M</a:t>
            </a:r>
            <a:r>
              <a:rPr lang="en-US" dirty="0">
                <a:sym typeface="Wingdings"/>
              </a:rPr>
              <a:t>ail </a:t>
            </a:r>
            <a:r>
              <a:rPr lang="en-US" dirty="0" err="1">
                <a:sym typeface="Wingdings"/>
              </a:rPr>
              <a:t>e</a:t>
            </a:r>
            <a:r>
              <a:rPr lang="en-US" dirty="0" err="1">
                <a:solidFill>
                  <a:srgbClr val="0000FF"/>
                </a:solidFill>
                <a:sym typeface="Wingdings"/>
              </a:rPr>
              <a:t>X</a:t>
            </a:r>
            <a:r>
              <a:rPr lang="en-US" dirty="0" err="1">
                <a:sym typeface="Wingdings"/>
              </a:rPr>
              <a:t>changer</a:t>
            </a:r>
            <a:r>
              <a:rPr lang="en-US" dirty="0">
                <a:sym typeface="Wingdings"/>
              </a:rPr>
              <a:t>)</a:t>
            </a:r>
            <a:endParaRPr lang="en-US" dirty="0"/>
          </a:p>
          <a:p>
            <a:pPr lvl="1"/>
            <a:r>
              <a:rPr lang="en-US" dirty="0"/>
              <a:t>name = domain in email address</a:t>
            </a:r>
          </a:p>
          <a:p>
            <a:pPr lvl="1"/>
            <a:r>
              <a:rPr lang="en-US" dirty="0"/>
              <a:t>value = name(s) of mail server(s)</a:t>
            </a:r>
          </a:p>
          <a:p>
            <a:pPr lvl="1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211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63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63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63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Inserting Resource Records</a:t>
            </a:r>
          </a:p>
        </p:txBody>
      </p:sp>
      <p:sp>
        <p:nvSpPr>
          <p:cNvPr id="97177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Register </a:t>
            </a:r>
            <a:r>
              <a:rPr lang="en-US" dirty="0" err="1"/>
              <a:t>foobar.com</a:t>
            </a:r>
            <a:r>
              <a:rPr lang="en-US" dirty="0"/>
              <a:t> at registrar </a:t>
            </a:r>
          </a:p>
          <a:p>
            <a:pPr lvl="1"/>
            <a:r>
              <a:rPr lang="en-US" dirty="0"/>
              <a:t>Provide registrar with names and IP addresses of your authoritative name server(s)</a:t>
            </a:r>
          </a:p>
          <a:p>
            <a:pPr lvl="1"/>
            <a:r>
              <a:rPr lang="en-US" dirty="0"/>
              <a:t>Registrar inserts RR pairs into the .com TLD server:</a:t>
            </a:r>
          </a:p>
          <a:p>
            <a:pPr lvl="2"/>
            <a:r>
              <a:rPr lang="en-US" dirty="0"/>
              <a:t>(</a:t>
            </a:r>
            <a:r>
              <a:rPr lang="en-US" dirty="0" err="1"/>
              <a:t>foobar.com</a:t>
            </a:r>
            <a:r>
              <a:rPr lang="en-US" dirty="0"/>
              <a:t>, dns1.foobar.com, NS)</a:t>
            </a:r>
          </a:p>
          <a:p>
            <a:pPr lvl="2"/>
            <a:r>
              <a:rPr lang="en-US" dirty="0"/>
              <a:t>(dns1.foobar.com, 212.44.9.129, A)</a:t>
            </a:r>
          </a:p>
          <a:p>
            <a:r>
              <a:rPr lang="en-US" dirty="0"/>
              <a:t>Store resource records in your server dns1.foobar.com</a:t>
            </a:r>
          </a:p>
          <a:p>
            <a:pPr lvl="1"/>
            <a:r>
              <a:rPr lang="en-US" dirty="0"/>
              <a:t>e.g., type A record for </a:t>
            </a:r>
            <a:r>
              <a:rPr lang="en-US" dirty="0" err="1"/>
              <a:t>www.foobar.com</a:t>
            </a:r>
            <a:endParaRPr lang="en-US" dirty="0"/>
          </a:p>
          <a:p>
            <a:pPr lvl="1"/>
            <a:r>
              <a:rPr lang="en-US" dirty="0"/>
              <a:t>e.g., type MX record for </a:t>
            </a:r>
            <a:r>
              <a:rPr lang="en-US" dirty="0" err="1"/>
              <a:t>foobar.com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961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Using DNS (Client/App View)</a:t>
            </a:r>
            <a:endParaRPr lang="en-US" dirty="0"/>
          </a:p>
        </p:txBody>
      </p:sp>
      <p:sp>
        <p:nvSpPr>
          <p:cNvPr id="94105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components</a:t>
            </a:r>
          </a:p>
          <a:p>
            <a:pPr lvl="1"/>
            <a:r>
              <a:rPr lang="en-US" dirty="0"/>
              <a:t>Local DNS servers</a:t>
            </a:r>
          </a:p>
          <a:p>
            <a:pPr lvl="1"/>
            <a:r>
              <a:rPr lang="en-US" dirty="0"/>
              <a:t>Resolver software on hosts</a:t>
            </a:r>
          </a:p>
          <a:p>
            <a:r>
              <a:rPr lang="en-US" dirty="0"/>
              <a:t>Local DNS server (“default name server”)</a:t>
            </a:r>
          </a:p>
          <a:p>
            <a:pPr lvl="1"/>
            <a:r>
              <a:rPr lang="en-US" dirty="0"/>
              <a:t>Clients configured with default server’s address OR learn it via a host configuration protocol (e.g., DHCP)</a:t>
            </a:r>
          </a:p>
          <a:p>
            <a:r>
              <a:rPr lang="en-US" dirty="0"/>
              <a:t>Client application </a:t>
            </a:r>
          </a:p>
          <a:p>
            <a:pPr lvl="1"/>
            <a:r>
              <a:rPr lang="en-US" dirty="0"/>
              <a:t>Obtain DNS name (e.g., from URL)</a:t>
            </a:r>
          </a:p>
          <a:p>
            <a:pPr lvl="1"/>
            <a:r>
              <a:rPr lang="en-US" dirty="0"/>
              <a:t>Do </a:t>
            </a:r>
            <a:r>
              <a:rPr lang="en-US" dirty="0" err="1">
                <a:solidFill>
                  <a:srgbClr val="0000FF"/>
                </a:solidFill>
                <a:latin typeface="Lucida Console" charset="0"/>
                <a:ea typeface="Lucida Console" charset="0"/>
                <a:cs typeface="Lucida Console" charset="0"/>
              </a:rPr>
              <a:t>getnameinfo</a:t>
            </a:r>
            <a:r>
              <a:rPr lang="en-US" dirty="0">
                <a:solidFill>
                  <a:srgbClr val="0000FF"/>
                </a:solidFill>
                <a:latin typeface="Lucida Console" charset="0"/>
                <a:ea typeface="Lucida Console" charset="0"/>
                <a:cs typeface="Lucida Console" charset="0"/>
              </a:rPr>
              <a:t>()</a:t>
            </a:r>
            <a:r>
              <a:rPr lang="en-US" dirty="0"/>
              <a:t> to trigger DNS request to its local DNS server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0508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E93CB-1E59-1446-B9CC-A58DE97DC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0BD2CD-0932-224B-B940-4980B9701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dig </a:t>
            </a:r>
            <a:r>
              <a:rPr lang="en-US" sz="12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endParaRPr lang="en-US" sz="1200" dirty="0">
              <a:solidFill>
                <a:srgbClr val="0000FF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&lt;&lt;&gt;&gt;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DiG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9.10.6 &lt;&lt;&gt;&gt;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global options: +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cmd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Got answer: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-&gt;&gt;HEADER&lt;&lt;- opcode: QUERY, status: NOERROR, id: 47443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flags: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qr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rd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ra; QUERY: 1, ANSWER: 1, AUTHORITY: 0, ADDITIONAL: 1</a:t>
            </a:r>
          </a:p>
          <a:p>
            <a:pPr marL="0" indent="0">
              <a:buNone/>
            </a:pP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OPT PSEUDOSECTION: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EDNS: version: 0, flags:;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udp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512</a:t>
            </a: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;; QUESTION SECTION:</a:t>
            </a: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.			IN	A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;; ANSWER SECTION:</a:t>
            </a:r>
          </a:p>
          <a:p>
            <a:pPr marL="0" indent="0">
              <a:buNone/>
            </a:pP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.		60	IN	A	216.165.47.10</a:t>
            </a:r>
          </a:p>
          <a:p>
            <a:pPr marL="0" indent="0">
              <a:buNone/>
            </a:pP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Query time: 39 msec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SERVER: 192.168.1.1#53(192.168.1.1)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WHEN: Fri Sep 10 08:21:43 EDT 2021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MSG SIZE 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rcvd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52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CCE0C0-F32C-4C47-9EEB-08A5BBC561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4429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5EB07-6104-1F93-86D8-410F3EEED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dig</a:t>
            </a:r>
            <a:r>
              <a:rPr lang="zh-CN" altLang="en-US" dirty="0"/>
              <a:t> </a:t>
            </a:r>
            <a:r>
              <a:rPr lang="en-US" altLang="zh-CN" dirty="0"/>
              <a:t>CUHK (2023)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DE79C47-7F7A-4DF8-D362-442B7710F7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9154" y="1524000"/>
            <a:ext cx="5685691" cy="4953000"/>
          </a:xfrm>
        </p:spPr>
      </p:pic>
    </p:spTree>
    <p:extLst>
      <p:ext uri="{BB962C8B-B14F-4D97-AF65-F5344CB8AC3E}">
        <p14:creationId xmlns:p14="http://schemas.microsoft.com/office/powerpoint/2010/main" val="12804180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2EA5A-6EF9-68ED-F33E-47B527A4F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dig</a:t>
            </a:r>
            <a:r>
              <a:rPr lang="zh-CN" altLang="en-US" dirty="0"/>
              <a:t> </a:t>
            </a:r>
            <a:r>
              <a:rPr lang="en-US" altLang="zh-CN" dirty="0"/>
              <a:t>CUHK (2025)</a:t>
            </a:r>
            <a:endParaRPr lang="en-US" dirty="0"/>
          </a:p>
        </p:txBody>
      </p:sp>
      <p:pic>
        <p:nvPicPr>
          <p:cNvPr id="6" name="Content Placeholder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ED7E2BA-8360-C901-74ED-7B0D4087E2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0272" y="1600200"/>
            <a:ext cx="6455855" cy="44196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10B07E-0276-1287-AF35-220C5B24E4E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3308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resolution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41</a:t>
            </a:fld>
            <a:endParaRPr lang="en-US"/>
          </a:p>
        </p:txBody>
      </p:sp>
      <p:grpSp>
        <p:nvGrpSpPr>
          <p:cNvPr id="2" name="Group 1"/>
          <p:cNvGrpSpPr/>
          <p:nvPr/>
        </p:nvGrpSpPr>
        <p:grpSpPr>
          <a:xfrm>
            <a:off x="1089422" y="3398737"/>
            <a:ext cx="5006578" cy="3034329"/>
            <a:chOff x="1089422" y="3398737"/>
            <a:chExt cx="5006578" cy="3034329"/>
          </a:xfrm>
        </p:grpSpPr>
        <p:sp>
          <p:nvSpPr>
            <p:cNvPr id="1137" name="Shape 1137"/>
            <p:cNvSpPr/>
            <p:nvPr/>
          </p:nvSpPr>
          <p:spPr>
            <a:xfrm>
              <a:off x="1089422" y="3795118"/>
              <a:ext cx="2821782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rgbClr val="EBEBEB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8" name="Shape 1138"/>
            <p:cNvSpPr/>
            <p:nvPr/>
          </p:nvSpPr>
          <p:spPr>
            <a:xfrm>
              <a:off x="1154712" y="3999005"/>
              <a:ext cx="1845373" cy="424223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9" name="Shape 1139"/>
            <p:cNvSpPr/>
            <p:nvPr/>
          </p:nvSpPr>
          <p:spPr>
            <a:xfrm flipH="1">
              <a:off x="2394028" y="4465757"/>
              <a:ext cx="637954" cy="978196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0" name="Shape 1140"/>
            <p:cNvSpPr/>
            <p:nvPr/>
          </p:nvSpPr>
          <p:spPr>
            <a:xfrm>
              <a:off x="2187773" y="5304234"/>
              <a:ext cx="357188" cy="3571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1" name="Shape 1141"/>
            <p:cNvSpPr/>
            <p:nvPr/>
          </p:nvSpPr>
          <p:spPr>
            <a:xfrm flipH="1">
              <a:off x="3042614" y="3398737"/>
              <a:ext cx="585068" cy="981960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2" name="Shape 1142"/>
            <p:cNvSpPr/>
            <p:nvPr/>
          </p:nvSpPr>
          <p:spPr>
            <a:xfrm flipH="1">
              <a:off x="3053246" y="4380248"/>
              <a:ext cx="1442696" cy="64245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3" name="Shape 1143"/>
            <p:cNvSpPr/>
            <p:nvPr/>
          </p:nvSpPr>
          <p:spPr>
            <a:xfrm>
              <a:off x="2821781" y="4205883"/>
              <a:ext cx="446484" cy="446484"/>
            </a:xfrm>
            <a:prstGeom prst="roundRect">
              <a:avLst>
                <a:gd name="adj" fmla="val 30000"/>
              </a:avLst>
            </a:prstGeom>
            <a:solidFill>
              <a:srgbClr val="D6D6D6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4" name="Shape 1144"/>
            <p:cNvSpPr/>
            <p:nvPr/>
          </p:nvSpPr>
          <p:spPr>
            <a:xfrm>
              <a:off x="2331152" y="5529938"/>
              <a:ext cx="3764848" cy="9031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>
                <a:defRPr b="1">
                  <a:solidFill>
                    <a:srgbClr val="0096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 algn="l">
                <a:defRPr sz="1800" b="0">
                  <a:solidFill>
                    <a:srgbClr val="000000"/>
                  </a:solidFill>
                </a:defRPr>
              </a:pPr>
              <a:r>
                <a:rPr sz="3000" dirty="0">
                  <a:latin typeface="Arial" charset="0"/>
                  <a:ea typeface="Arial" charset="0"/>
                  <a:cs typeface="Arial" charset="0"/>
                </a:rPr>
                <a:t>DNS client</a:t>
              </a:r>
              <a:br>
                <a:rPr lang="en-US" sz="3000" dirty="0">
                  <a:latin typeface="Arial" charset="0"/>
                  <a:ea typeface="Arial" charset="0"/>
                  <a:cs typeface="Arial" charset="0"/>
                </a:rPr>
              </a:br>
              <a:r>
                <a:rPr lang="en-US" sz="2400" dirty="0">
                  <a:latin typeface="Arial" charset="0"/>
                  <a:ea typeface="Arial" charset="0"/>
                  <a:cs typeface="Arial" charset="0"/>
                </a:rPr>
                <a:t>(me.cse.umich.edu)</a:t>
              </a:r>
              <a:endParaRPr sz="240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1145" name="Shape 1145"/>
          <p:cNvSpPr/>
          <p:nvPr/>
        </p:nvSpPr>
        <p:spPr>
          <a:xfrm>
            <a:off x="1000125" y="3812976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46" name="Shape 1146"/>
          <p:cNvSpPr/>
          <p:nvPr/>
        </p:nvSpPr>
        <p:spPr>
          <a:xfrm>
            <a:off x="741164" y="2895600"/>
            <a:ext cx="260044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DNS server</a:t>
            </a:r>
          </a:p>
        </p:txBody>
      </p:sp>
      <p:sp>
        <p:nvSpPr>
          <p:cNvPr id="1148" name="Shape 1148"/>
          <p:cNvSpPr/>
          <p:nvPr/>
        </p:nvSpPr>
        <p:spPr>
          <a:xfrm>
            <a:off x="3750469" y="2209379"/>
            <a:ext cx="2098658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>
                <a:latin typeface="Arial" charset="0"/>
                <a:ea typeface="Arial" charset="0"/>
                <a:cs typeface="Arial" charset="0"/>
              </a:rPr>
              <a:t>root servers</a:t>
            </a:r>
          </a:p>
        </p:txBody>
      </p:sp>
      <p:sp>
        <p:nvSpPr>
          <p:cNvPr id="1151" name="Shape 1151"/>
          <p:cNvSpPr/>
          <p:nvPr/>
        </p:nvSpPr>
        <p:spPr>
          <a:xfrm>
            <a:off x="5096311" y="2667698"/>
            <a:ext cx="1988191" cy="843095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2" name="Shape 1152"/>
          <p:cNvSpPr/>
          <p:nvPr/>
        </p:nvSpPr>
        <p:spPr>
          <a:xfrm>
            <a:off x="7358063" y="3973711"/>
            <a:ext cx="466424" cy="795431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3" name="Shape 1153"/>
          <p:cNvSpPr/>
          <p:nvPr/>
        </p:nvSpPr>
        <p:spPr>
          <a:xfrm>
            <a:off x="741164" y="2514600"/>
            <a:ext cx="87510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local</a:t>
            </a:r>
          </a:p>
        </p:txBody>
      </p:sp>
      <p:sp>
        <p:nvSpPr>
          <p:cNvPr id="22" name="Shape 1149"/>
          <p:cNvSpPr/>
          <p:nvPr/>
        </p:nvSpPr>
        <p:spPr>
          <a:xfrm>
            <a:off x="6429375" y="3468465"/>
            <a:ext cx="2409825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dirty="0">
                <a:latin typeface="Arial" charset="0"/>
                <a:ea typeface="Arial" charset="0"/>
                <a:cs typeface="Arial" charset="0"/>
              </a:rPr>
              <a:t>.</a:t>
            </a:r>
            <a:r>
              <a:rPr lang="en-US" sz="2500" dirty="0">
                <a:latin typeface="Arial" charset="0"/>
                <a:ea typeface="Arial" charset="0"/>
                <a:cs typeface="Arial" charset="0"/>
              </a:rPr>
              <a:t>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servers</a:t>
            </a:r>
          </a:p>
        </p:txBody>
      </p:sp>
      <p:sp>
        <p:nvSpPr>
          <p:cNvPr id="23" name="Shape 1150"/>
          <p:cNvSpPr/>
          <p:nvPr/>
        </p:nvSpPr>
        <p:spPr>
          <a:xfrm>
            <a:off x="7366992" y="4731643"/>
            <a:ext cx="1694982" cy="841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00" dirty="0" err="1">
                <a:latin typeface="Arial" charset="0"/>
                <a:ea typeface="Arial" charset="0"/>
                <a:cs typeface="Arial" charset="0"/>
              </a:rPr>
              <a:t>nyu.edu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 servers</a:t>
            </a:r>
          </a:p>
        </p:txBody>
      </p:sp>
    </p:spTree>
    <p:extLst>
      <p:ext uri="{BB962C8B-B14F-4D97-AF65-F5344CB8AC3E}">
        <p14:creationId xmlns:p14="http://schemas.microsoft.com/office/powerpoint/2010/main" val="455965755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5" grpId="0" animBg="1"/>
      <p:bldP spid="1146" grpId="0" animBg="1"/>
      <p:bldP spid="115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resolution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42</a:t>
            </a:fld>
            <a:endParaRPr lang="en-US"/>
          </a:p>
        </p:txBody>
      </p:sp>
      <p:grpSp>
        <p:nvGrpSpPr>
          <p:cNvPr id="2" name="Group 1"/>
          <p:cNvGrpSpPr/>
          <p:nvPr/>
        </p:nvGrpSpPr>
        <p:grpSpPr>
          <a:xfrm>
            <a:off x="1089422" y="3398737"/>
            <a:ext cx="5006578" cy="3034329"/>
            <a:chOff x="1089422" y="3398737"/>
            <a:chExt cx="5006578" cy="3034329"/>
          </a:xfrm>
        </p:grpSpPr>
        <p:sp>
          <p:nvSpPr>
            <p:cNvPr id="1137" name="Shape 1137"/>
            <p:cNvSpPr/>
            <p:nvPr/>
          </p:nvSpPr>
          <p:spPr>
            <a:xfrm>
              <a:off x="1089422" y="3795118"/>
              <a:ext cx="2821782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rgbClr val="EBEBEB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8" name="Shape 1138"/>
            <p:cNvSpPr/>
            <p:nvPr/>
          </p:nvSpPr>
          <p:spPr>
            <a:xfrm>
              <a:off x="1154712" y="3999005"/>
              <a:ext cx="1845373" cy="424223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9" name="Shape 1139"/>
            <p:cNvSpPr/>
            <p:nvPr/>
          </p:nvSpPr>
          <p:spPr>
            <a:xfrm flipH="1">
              <a:off x="2394028" y="4465757"/>
              <a:ext cx="637954" cy="978196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0" name="Shape 1140"/>
            <p:cNvSpPr/>
            <p:nvPr/>
          </p:nvSpPr>
          <p:spPr>
            <a:xfrm>
              <a:off x="2187773" y="5304234"/>
              <a:ext cx="357188" cy="3571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1" name="Shape 1141"/>
            <p:cNvSpPr/>
            <p:nvPr/>
          </p:nvSpPr>
          <p:spPr>
            <a:xfrm flipH="1">
              <a:off x="3042614" y="3398737"/>
              <a:ext cx="585068" cy="981960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2" name="Shape 1142"/>
            <p:cNvSpPr/>
            <p:nvPr/>
          </p:nvSpPr>
          <p:spPr>
            <a:xfrm flipH="1">
              <a:off x="3053246" y="4380248"/>
              <a:ext cx="1442696" cy="64245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3" name="Shape 1143"/>
            <p:cNvSpPr/>
            <p:nvPr/>
          </p:nvSpPr>
          <p:spPr>
            <a:xfrm>
              <a:off x="2821781" y="4205883"/>
              <a:ext cx="446484" cy="446484"/>
            </a:xfrm>
            <a:prstGeom prst="roundRect">
              <a:avLst>
                <a:gd name="adj" fmla="val 30000"/>
              </a:avLst>
            </a:prstGeom>
            <a:solidFill>
              <a:srgbClr val="D6D6D6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4" name="Shape 1144"/>
            <p:cNvSpPr/>
            <p:nvPr/>
          </p:nvSpPr>
          <p:spPr>
            <a:xfrm>
              <a:off x="2331152" y="5529938"/>
              <a:ext cx="3764848" cy="9031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>
                <a:defRPr b="1">
                  <a:solidFill>
                    <a:srgbClr val="0096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 algn="l">
                <a:defRPr sz="1800" b="0">
                  <a:solidFill>
                    <a:srgbClr val="000000"/>
                  </a:solidFill>
                </a:defRPr>
              </a:pPr>
              <a:r>
                <a:rPr sz="3000" dirty="0">
                  <a:latin typeface="Arial" charset="0"/>
                  <a:ea typeface="Arial" charset="0"/>
                  <a:cs typeface="Arial" charset="0"/>
                </a:rPr>
                <a:t>DNS client</a:t>
              </a:r>
              <a:br>
                <a:rPr lang="en-US" sz="3000" dirty="0">
                  <a:latin typeface="Arial" charset="0"/>
                  <a:ea typeface="Arial" charset="0"/>
                  <a:cs typeface="Arial" charset="0"/>
                </a:rPr>
              </a:br>
              <a:r>
                <a:rPr lang="en-US" sz="2400" dirty="0">
                  <a:latin typeface="Arial" charset="0"/>
                  <a:ea typeface="Arial" charset="0"/>
                  <a:cs typeface="Arial" charset="0"/>
                </a:rPr>
                <a:t>(me.cse.umich.edu)</a:t>
              </a:r>
              <a:endParaRPr sz="240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1145" name="Shape 1145"/>
          <p:cNvSpPr/>
          <p:nvPr/>
        </p:nvSpPr>
        <p:spPr>
          <a:xfrm>
            <a:off x="1000125" y="3812976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46" name="Shape 1146"/>
          <p:cNvSpPr/>
          <p:nvPr/>
        </p:nvSpPr>
        <p:spPr>
          <a:xfrm>
            <a:off x="741164" y="2895600"/>
            <a:ext cx="260044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DNS server</a:t>
            </a:r>
          </a:p>
        </p:txBody>
      </p:sp>
      <p:sp>
        <p:nvSpPr>
          <p:cNvPr id="1148" name="Shape 1148"/>
          <p:cNvSpPr/>
          <p:nvPr/>
        </p:nvSpPr>
        <p:spPr>
          <a:xfrm>
            <a:off x="3750469" y="2209379"/>
            <a:ext cx="2098658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>
                <a:latin typeface="Arial" charset="0"/>
                <a:ea typeface="Arial" charset="0"/>
                <a:cs typeface="Arial" charset="0"/>
              </a:rPr>
              <a:t>root servers</a:t>
            </a:r>
          </a:p>
        </p:txBody>
      </p:sp>
      <p:sp>
        <p:nvSpPr>
          <p:cNvPr id="1151" name="Shape 1151"/>
          <p:cNvSpPr/>
          <p:nvPr/>
        </p:nvSpPr>
        <p:spPr>
          <a:xfrm>
            <a:off x="5096311" y="2667698"/>
            <a:ext cx="1988191" cy="843095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2" name="Shape 1152"/>
          <p:cNvSpPr/>
          <p:nvPr/>
        </p:nvSpPr>
        <p:spPr>
          <a:xfrm>
            <a:off x="7358063" y="3973711"/>
            <a:ext cx="466424" cy="795431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3" name="Shape 1153"/>
          <p:cNvSpPr/>
          <p:nvPr/>
        </p:nvSpPr>
        <p:spPr>
          <a:xfrm>
            <a:off x="741164" y="2514600"/>
            <a:ext cx="87510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local</a:t>
            </a:r>
          </a:p>
        </p:txBody>
      </p:sp>
      <p:sp>
        <p:nvSpPr>
          <p:cNvPr id="22" name="Shape 1149"/>
          <p:cNvSpPr/>
          <p:nvPr/>
        </p:nvSpPr>
        <p:spPr>
          <a:xfrm>
            <a:off x="6429375" y="3468465"/>
            <a:ext cx="2409825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dirty="0">
                <a:latin typeface="Arial" charset="0"/>
                <a:ea typeface="Arial" charset="0"/>
                <a:cs typeface="Arial" charset="0"/>
              </a:rPr>
              <a:t>.</a:t>
            </a:r>
            <a:r>
              <a:rPr lang="en-US" sz="2500" dirty="0">
                <a:latin typeface="Arial" charset="0"/>
                <a:ea typeface="Arial" charset="0"/>
                <a:cs typeface="Arial" charset="0"/>
              </a:rPr>
              <a:t>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servers</a:t>
            </a:r>
          </a:p>
        </p:txBody>
      </p:sp>
      <p:sp>
        <p:nvSpPr>
          <p:cNvPr id="23" name="Shape 1150"/>
          <p:cNvSpPr/>
          <p:nvPr/>
        </p:nvSpPr>
        <p:spPr>
          <a:xfrm>
            <a:off x="7366992" y="4731643"/>
            <a:ext cx="1694982" cy="841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00" dirty="0" err="1">
                <a:latin typeface="Arial" charset="0"/>
                <a:ea typeface="Arial" charset="0"/>
                <a:cs typeface="Arial" charset="0"/>
              </a:rPr>
              <a:t>nyu.edu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 servers</a:t>
            </a:r>
          </a:p>
        </p:txBody>
      </p:sp>
      <p:sp>
        <p:nvSpPr>
          <p:cNvPr id="24" name="Shape 1147"/>
          <p:cNvSpPr/>
          <p:nvPr/>
        </p:nvSpPr>
        <p:spPr>
          <a:xfrm>
            <a:off x="1259086" y="4277320"/>
            <a:ext cx="838980" cy="1071073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ea typeface="Arial" charset="0"/>
              <a:cs typeface="Arial" charset="0"/>
            </a:endParaRPr>
          </a:p>
        </p:txBody>
      </p:sp>
      <p:sp>
        <p:nvSpPr>
          <p:cNvPr id="25" name="Shape 1154"/>
          <p:cNvSpPr/>
          <p:nvPr/>
        </p:nvSpPr>
        <p:spPr>
          <a:xfrm rot="3178774">
            <a:off x="357889" y="4930296"/>
            <a:ext cx="2206437" cy="392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lnSpc>
                <a:spcPct val="80000"/>
              </a:lnSpc>
              <a:defRPr sz="3600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b="0" dirty="0">
                <a:latin typeface="Arial" charset="0"/>
                <a:ea typeface="Arial" charset="0"/>
                <a:cs typeface="Arial" charset="0"/>
              </a:rPr>
              <a:t>www.</a:t>
            </a:r>
            <a:r>
              <a:rPr lang="en-US" sz="2500" b="0" dirty="0">
                <a:latin typeface="Arial" charset="0"/>
                <a:ea typeface="Arial" charset="0"/>
                <a:cs typeface="Arial" charset="0"/>
              </a:rPr>
              <a:t>nyu.edu?</a:t>
            </a:r>
            <a:endParaRPr sz="2500" b="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6" name="Shape 1146"/>
          <p:cNvSpPr/>
          <p:nvPr/>
        </p:nvSpPr>
        <p:spPr>
          <a:xfrm>
            <a:off x="152400" y="3322370"/>
            <a:ext cx="3505200" cy="441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(</a:t>
            </a:r>
            <a:r>
              <a:rPr lang="en-US" sz="2400" dirty="0" err="1">
                <a:latin typeface="Arial" charset="0"/>
                <a:ea typeface="Arial" charset="0"/>
                <a:cs typeface="Arial" charset="0"/>
              </a:rPr>
              <a:t>mydns.umich.edu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)</a:t>
            </a:r>
            <a:endParaRPr sz="2400" dirty="0"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479178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 advAuto="0"/>
      <p:bldP spid="25" grpId="0" animBg="1" advAuto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resolution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43</a:t>
            </a:fld>
            <a:endParaRPr lang="en-US"/>
          </a:p>
        </p:txBody>
      </p:sp>
      <p:grpSp>
        <p:nvGrpSpPr>
          <p:cNvPr id="2" name="Group 1"/>
          <p:cNvGrpSpPr/>
          <p:nvPr/>
        </p:nvGrpSpPr>
        <p:grpSpPr>
          <a:xfrm>
            <a:off x="1089422" y="3398737"/>
            <a:ext cx="5006578" cy="3034329"/>
            <a:chOff x="1089422" y="3398737"/>
            <a:chExt cx="5006578" cy="3034329"/>
          </a:xfrm>
        </p:grpSpPr>
        <p:sp>
          <p:nvSpPr>
            <p:cNvPr id="1137" name="Shape 1137"/>
            <p:cNvSpPr/>
            <p:nvPr/>
          </p:nvSpPr>
          <p:spPr>
            <a:xfrm>
              <a:off x="1089422" y="3795118"/>
              <a:ext cx="2821782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rgbClr val="EBEBEB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8" name="Shape 1138"/>
            <p:cNvSpPr/>
            <p:nvPr/>
          </p:nvSpPr>
          <p:spPr>
            <a:xfrm>
              <a:off x="1154712" y="3999005"/>
              <a:ext cx="1845373" cy="424223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9" name="Shape 1139"/>
            <p:cNvSpPr/>
            <p:nvPr/>
          </p:nvSpPr>
          <p:spPr>
            <a:xfrm flipH="1">
              <a:off x="2394028" y="4465757"/>
              <a:ext cx="637954" cy="978196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0" name="Shape 1140"/>
            <p:cNvSpPr/>
            <p:nvPr/>
          </p:nvSpPr>
          <p:spPr>
            <a:xfrm>
              <a:off x="2187773" y="5304234"/>
              <a:ext cx="357188" cy="3571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1" name="Shape 1141"/>
            <p:cNvSpPr/>
            <p:nvPr/>
          </p:nvSpPr>
          <p:spPr>
            <a:xfrm flipH="1">
              <a:off x="3042614" y="3398737"/>
              <a:ext cx="585068" cy="981960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2" name="Shape 1142"/>
            <p:cNvSpPr/>
            <p:nvPr/>
          </p:nvSpPr>
          <p:spPr>
            <a:xfrm flipH="1">
              <a:off x="3053246" y="4380248"/>
              <a:ext cx="1442696" cy="64245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3" name="Shape 1143"/>
            <p:cNvSpPr/>
            <p:nvPr/>
          </p:nvSpPr>
          <p:spPr>
            <a:xfrm>
              <a:off x="2821781" y="4205883"/>
              <a:ext cx="446484" cy="446484"/>
            </a:xfrm>
            <a:prstGeom prst="roundRect">
              <a:avLst>
                <a:gd name="adj" fmla="val 30000"/>
              </a:avLst>
            </a:prstGeom>
            <a:solidFill>
              <a:srgbClr val="D6D6D6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4" name="Shape 1144"/>
            <p:cNvSpPr/>
            <p:nvPr/>
          </p:nvSpPr>
          <p:spPr>
            <a:xfrm>
              <a:off x="2331152" y="5529938"/>
              <a:ext cx="3764848" cy="9031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>
                <a:defRPr b="1">
                  <a:solidFill>
                    <a:srgbClr val="0096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 algn="l">
                <a:defRPr sz="1800" b="0">
                  <a:solidFill>
                    <a:srgbClr val="000000"/>
                  </a:solidFill>
                </a:defRPr>
              </a:pPr>
              <a:r>
                <a:rPr sz="3000" dirty="0">
                  <a:latin typeface="Arial" charset="0"/>
                  <a:ea typeface="Arial" charset="0"/>
                  <a:cs typeface="Arial" charset="0"/>
                </a:rPr>
                <a:t>DNS client</a:t>
              </a:r>
              <a:br>
                <a:rPr lang="en-US" sz="3000" dirty="0">
                  <a:latin typeface="Arial" charset="0"/>
                  <a:ea typeface="Arial" charset="0"/>
                  <a:cs typeface="Arial" charset="0"/>
                </a:rPr>
              </a:br>
              <a:r>
                <a:rPr lang="en-US" sz="2400" dirty="0">
                  <a:latin typeface="Arial" charset="0"/>
                  <a:ea typeface="Arial" charset="0"/>
                  <a:cs typeface="Arial" charset="0"/>
                </a:rPr>
                <a:t>(me.cse.umich.edu)</a:t>
              </a:r>
              <a:endParaRPr sz="240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1145" name="Shape 1145"/>
          <p:cNvSpPr/>
          <p:nvPr/>
        </p:nvSpPr>
        <p:spPr>
          <a:xfrm>
            <a:off x="1000125" y="3812976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46" name="Shape 1146"/>
          <p:cNvSpPr/>
          <p:nvPr/>
        </p:nvSpPr>
        <p:spPr>
          <a:xfrm>
            <a:off x="741164" y="2895600"/>
            <a:ext cx="260044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DNS server</a:t>
            </a:r>
          </a:p>
        </p:txBody>
      </p:sp>
      <p:sp>
        <p:nvSpPr>
          <p:cNvPr id="1148" name="Shape 1148"/>
          <p:cNvSpPr/>
          <p:nvPr/>
        </p:nvSpPr>
        <p:spPr>
          <a:xfrm>
            <a:off x="3750469" y="2209379"/>
            <a:ext cx="2098658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root servers</a:t>
            </a:r>
          </a:p>
        </p:txBody>
      </p:sp>
      <p:sp>
        <p:nvSpPr>
          <p:cNvPr id="1151" name="Shape 1151"/>
          <p:cNvSpPr/>
          <p:nvPr/>
        </p:nvSpPr>
        <p:spPr>
          <a:xfrm>
            <a:off x="5096311" y="2667698"/>
            <a:ext cx="1988191" cy="843095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2" name="Shape 1152"/>
          <p:cNvSpPr/>
          <p:nvPr/>
        </p:nvSpPr>
        <p:spPr>
          <a:xfrm>
            <a:off x="7358063" y="3973711"/>
            <a:ext cx="466424" cy="795431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3" name="Shape 1153"/>
          <p:cNvSpPr/>
          <p:nvPr/>
        </p:nvSpPr>
        <p:spPr>
          <a:xfrm>
            <a:off x="741164" y="2514600"/>
            <a:ext cx="87510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local</a:t>
            </a:r>
          </a:p>
        </p:txBody>
      </p:sp>
      <p:sp>
        <p:nvSpPr>
          <p:cNvPr id="22" name="Shape 1149"/>
          <p:cNvSpPr/>
          <p:nvPr/>
        </p:nvSpPr>
        <p:spPr>
          <a:xfrm>
            <a:off x="6429375" y="3468465"/>
            <a:ext cx="2409825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dirty="0">
                <a:latin typeface="Arial" charset="0"/>
                <a:ea typeface="Arial" charset="0"/>
                <a:cs typeface="Arial" charset="0"/>
              </a:rPr>
              <a:t>.</a:t>
            </a:r>
            <a:r>
              <a:rPr lang="en-US" sz="2500" dirty="0">
                <a:latin typeface="Arial" charset="0"/>
                <a:ea typeface="Arial" charset="0"/>
                <a:cs typeface="Arial" charset="0"/>
              </a:rPr>
              <a:t>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servers</a:t>
            </a:r>
          </a:p>
        </p:txBody>
      </p:sp>
      <p:sp>
        <p:nvSpPr>
          <p:cNvPr id="23" name="Shape 1150"/>
          <p:cNvSpPr/>
          <p:nvPr/>
        </p:nvSpPr>
        <p:spPr>
          <a:xfrm>
            <a:off x="7366992" y="4731643"/>
            <a:ext cx="1694982" cy="841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00" dirty="0" err="1">
                <a:latin typeface="Arial" charset="0"/>
                <a:ea typeface="Arial" charset="0"/>
                <a:cs typeface="Arial" charset="0"/>
              </a:rPr>
              <a:t>nyu.edu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 servers</a:t>
            </a:r>
          </a:p>
        </p:txBody>
      </p:sp>
      <p:sp>
        <p:nvSpPr>
          <p:cNvPr id="24" name="Shape 1147"/>
          <p:cNvSpPr/>
          <p:nvPr/>
        </p:nvSpPr>
        <p:spPr>
          <a:xfrm>
            <a:off x="1259086" y="4277320"/>
            <a:ext cx="838980" cy="1071073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ea typeface="Arial" charset="0"/>
              <a:cs typeface="Arial" charset="0"/>
            </a:endParaRPr>
          </a:p>
        </p:txBody>
      </p:sp>
      <p:sp>
        <p:nvSpPr>
          <p:cNvPr id="25" name="Shape 1154"/>
          <p:cNvSpPr/>
          <p:nvPr/>
        </p:nvSpPr>
        <p:spPr>
          <a:xfrm rot="3178774">
            <a:off x="357889" y="4930296"/>
            <a:ext cx="2206437" cy="392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lnSpc>
                <a:spcPct val="80000"/>
              </a:lnSpc>
              <a:defRPr sz="3600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b="0" dirty="0">
                <a:latin typeface="Arial" charset="0"/>
                <a:ea typeface="Arial" charset="0"/>
                <a:cs typeface="Arial" charset="0"/>
              </a:rPr>
              <a:t>www.</a:t>
            </a:r>
            <a:r>
              <a:rPr lang="en-US" sz="2500" b="0" dirty="0">
                <a:latin typeface="Arial" charset="0"/>
                <a:ea typeface="Arial" charset="0"/>
                <a:cs typeface="Arial" charset="0"/>
              </a:rPr>
              <a:t>nyu.edu?</a:t>
            </a:r>
            <a:endParaRPr sz="2500" b="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6" name="Shape 1146"/>
          <p:cNvSpPr/>
          <p:nvPr/>
        </p:nvSpPr>
        <p:spPr>
          <a:xfrm>
            <a:off x="152400" y="3322370"/>
            <a:ext cx="3505200" cy="441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(</a:t>
            </a:r>
            <a:r>
              <a:rPr lang="en-US" sz="2400" dirty="0" err="1">
                <a:latin typeface="Arial" charset="0"/>
                <a:ea typeface="Arial" charset="0"/>
                <a:cs typeface="Arial" charset="0"/>
              </a:rPr>
              <a:t>mydns.umich.edu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)</a:t>
            </a:r>
            <a:endParaRPr sz="24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7" name="Shape 1167"/>
          <p:cNvSpPr/>
          <p:nvPr/>
        </p:nvSpPr>
        <p:spPr>
          <a:xfrm flipH="1">
            <a:off x="1447100" y="2626294"/>
            <a:ext cx="2843869" cy="1245766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93498273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resolution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44</a:t>
            </a:fld>
            <a:endParaRPr lang="en-US"/>
          </a:p>
        </p:txBody>
      </p:sp>
      <p:grpSp>
        <p:nvGrpSpPr>
          <p:cNvPr id="2" name="Group 1"/>
          <p:cNvGrpSpPr/>
          <p:nvPr/>
        </p:nvGrpSpPr>
        <p:grpSpPr>
          <a:xfrm>
            <a:off x="1089422" y="3398737"/>
            <a:ext cx="5006578" cy="3034329"/>
            <a:chOff x="1089422" y="3398737"/>
            <a:chExt cx="5006578" cy="3034329"/>
          </a:xfrm>
        </p:grpSpPr>
        <p:sp>
          <p:nvSpPr>
            <p:cNvPr id="1137" name="Shape 1137"/>
            <p:cNvSpPr/>
            <p:nvPr/>
          </p:nvSpPr>
          <p:spPr>
            <a:xfrm>
              <a:off x="1089422" y="3795118"/>
              <a:ext cx="2821782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rgbClr val="EBEBEB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8" name="Shape 1138"/>
            <p:cNvSpPr/>
            <p:nvPr/>
          </p:nvSpPr>
          <p:spPr>
            <a:xfrm>
              <a:off x="1154712" y="3999005"/>
              <a:ext cx="1845373" cy="424223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9" name="Shape 1139"/>
            <p:cNvSpPr/>
            <p:nvPr/>
          </p:nvSpPr>
          <p:spPr>
            <a:xfrm flipH="1">
              <a:off x="2394028" y="4465757"/>
              <a:ext cx="637954" cy="978196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0" name="Shape 1140"/>
            <p:cNvSpPr/>
            <p:nvPr/>
          </p:nvSpPr>
          <p:spPr>
            <a:xfrm>
              <a:off x="2187773" y="5304234"/>
              <a:ext cx="357188" cy="3571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1" name="Shape 1141"/>
            <p:cNvSpPr/>
            <p:nvPr/>
          </p:nvSpPr>
          <p:spPr>
            <a:xfrm flipH="1">
              <a:off x="3042614" y="3398737"/>
              <a:ext cx="585068" cy="981960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2" name="Shape 1142"/>
            <p:cNvSpPr/>
            <p:nvPr/>
          </p:nvSpPr>
          <p:spPr>
            <a:xfrm flipH="1">
              <a:off x="3053246" y="4380248"/>
              <a:ext cx="1442696" cy="64245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3" name="Shape 1143"/>
            <p:cNvSpPr/>
            <p:nvPr/>
          </p:nvSpPr>
          <p:spPr>
            <a:xfrm>
              <a:off x="2821781" y="4205883"/>
              <a:ext cx="446484" cy="446484"/>
            </a:xfrm>
            <a:prstGeom prst="roundRect">
              <a:avLst>
                <a:gd name="adj" fmla="val 30000"/>
              </a:avLst>
            </a:prstGeom>
            <a:solidFill>
              <a:srgbClr val="D6D6D6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4" name="Shape 1144"/>
            <p:cNvSpPr/>
            <p:nvPr/>
          </p:nvSpPr>
          <p:spPr>
            <a:xfrm>
              <a:off x="2331152" y="5529938"/>
              <a:ext cx="3764848" cy="9031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>
                <a:defRPr b="1">
                  <a:solidFill>
                    <a:srgbClr val="0096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 algn="l">
                <a:defRPr sz="1800" b="0">
                  <a:solidFill>
                    <a:srgbClr val="000000"/>
                  </a:solidFill>
                </a:defRPr>
              </a:pPr>
              <a:r>
                <a:rPr sz="3000" dirty="0">
                  <a:latin typeface="Arial" charset="0"/>
                  <a:ea typeface="Arial" charset="0"/>
                  <a:cs typeface="Arial" charset="0"/>
                </a:rPr>
                <a:t>DNS client</a:t>
              </a:r>
              <a:br>
                <a:rPr lang="en-US" sz="3000" dirty="0">
                  <a:latin typeface="Arial" charset="0"/>
                  <a:ea typeface="Arial" charset="0"/>
                  <a:cs typeface="Arial" charset="0"/>
                </a:rPr>
              </a:br>
              <a:r>
                <a:rPr lang="en-US" sz="2400" dirty="0">
                  <a:latin typeface="Arial" charset="0"/>
                  <a:ea typeface="Arial" charset="0"/>
                  <a:cs typeface="Arial" charset="0"/>
                </a:rPr>
                <a:t>(me.cse.umich.edu)</a:t>
              </a:r>
              <a:endParaRPr sz="240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1145" name="Shape 1145"/>
          <p:cNvSpPr/>
          <p:nvPr/>
        </p:nvSpPr>
        <p:spPr>
          <a:xfrm>
            <a:off x="1000125" y="3812976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46" name="Shape 1146"/>
          <p:cNvSpPr/>
          <p:nvPr/>
        </p:nvSpPr>
        <p:spPr>
          <a:xfrm>
            <a:off x="741164" y="2895600"/>
            <a:ext cx="260044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DNS server</a:t>
            </a:r>
          </a:p>
        </p:txBody>
      </p:sp>
      <p:sp>
        <p:nvSpPr>
          <p:cNvPr id="1148" name="Shape 1148"/>
          <p:cNvSpPr/>
          <p:nvPr/>
        </p:nvSpPr>
        <p:spPr>
          <a:xfrm>
            <a:off x="3750469" y="2209379"/>
            <a:ext cx="2098658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root servers</a:t>
            </a:r>
          </a:p>
        </p:txBody>
      </p:sp>
      <p:sp>
        <p:nvSpPr>
          <p:cNvPr id="1152" name="Shape 1152"/>
          <p:cNvSpPr/>
          <p:nvPr/>
        </p:nvSpPr>
        <p:spPr>
          <a:xfrm>
            <a:off x="7358063" y="3973711"/>
            <a:ext cx="466424" cy="795431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3" name="Shape 1153"/>
          <p:cNvSpPr/>
          <p:nvPr/>
        </p:nvSpPr>
        <p:spPr>
          <a:xfrm>
            <a:off x="741164" y="2514600"/>
            <a:ext cx="87510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local</a:t>
            </a:r>
          </a:p>
        </p:txBody>
      </p:sp>
      <p:sp>
        <p:nvSpPr>
          <p:cNvPr id="22" name="Shape 1149"/>
          <p:cNvSpPr/>
          <p:nvPr/>
        </p:nvSpPr>
        <p:spPr>
          <a:xfrm>
            <a:off x="6429375" y="3468465"/>
            <a:ext cx="2409825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.</a:t>
            </a:r>
            <a:r>
              <a:rPr lang="en-US" sz="25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edu</a:t>
            </a:r>
            <a:r>
              <a:rPr sz="25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 servers</a:t>
            </a:r>
          </a:p>
        </p:txBody>
      </p:sp>
      <p:sp>
        <p:nvSpPr>
          <p:cNvPr id="23" name="Shape 1150"/>
          <p:cNvSpPr/>
          <p:nvPr/>
        </p:nvSpPr>
        <p:spPr>
          <a:xfrm>
            <a:off x="7366992" y="4731643"/>
            <a:ext cx="1694982" cy="841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00" dirty="0" err="1">
                <a:latin typeface="Arial" charset="0"/>
                <a:ea typeface="Arial" charset="0"/>
                <a:cs typeface="Arial" charset="0"/>
              </a:rPr>
              <a:t>nyu.edu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 servers</a:t>
            </a:r>
          </a:p>
        </p:txBody>
      </p:sp>
      <p:sp>
        <p:nvSpPr>
          <p:cNvPr id="24" name="Shape 1147"/>
          <p:cNvSpPr/>
          <p:nvPr/>
        </p:nvSpPr>
        <p:spPr>
          <a:xfrm>
            <a:off x="1259086" y="4277320"/>
            <a:ext cx="838980" cy="1071073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ea typeface="Arial" charset="0"/>
              <a:cs typeface="Arial" charset="0"/>
            </a:endParaRPr>
          </a:p>
        </p:txBody>
      </p:sp>
      <p:sp>
        <p:nvSpPr>
          <p:cNvPr id="25" name="Shape 1154"/>
          <p:cNvSpPr/>
          <p:nvPr/>
        </p:nvSpPr>
        <p:spPr>
          <a:xfrm rot="3178774">
            <a:off x="357889" y="4930296"/>
            <a:ext cx="2206437" cy="392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lnSpc>
                <a:spcPct val="80000"/>
              </a:lnSpc>
              <a:defRPr sz="3600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b="0" dirty="0">
                <a:latin typeface="Arial" charset="0"/>
                <a:ea typeface="Arial" charset="0"/>
                <a:cs typeface="Arial" charset="0"/>
              </a:rPr>
              <a:t>www.</a:t>
            </a:r>
            <a:r>
              <a:rPr lang="en-US" sz="2500" b="0" dirty="0">
                <a:latin typeface="Arial" charset="0"/>
                <a:ea typeface="Arial" charset="0"/>
                <a:cs typeface="Arial" charset="0"/>
              </a:rPr>
              <a:t>nyu.edu?</a:t>
            </a:r>
            <a:endParaRPr sz="2500" b="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6" name="Shape 1146"/>
          <p:cNvSpPr/>
          <p:nvPr/>
        </p:nvSpPr>
        <p:spPr>
          <a:xfrm>
            <a:off x="152400" y="3322370"/>
            <a:ext cx="3505200" cy="441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(</a:t>
            </a:r>
            <a:r>
              <a:rPr lang="en-US" sz="2400" dirty="0" err="1">
                <a:latin typeface="Arial" charset="0"/>
                <a:ea typeface="Arial" charset="0"/>
                <a:cs typeface="Arial" charset="0"/>
              </a:rPr>
              <a:t>mydns.umich.edu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)</a:t>
            </a:r>
            <a:endParaRPr sz="24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7" name="Shape 1167"/>
          <p:cNvSpPr/>
          <p:nvPr/>
        </p:nvSpPr>
        <p:spPr>
          <a:xfrm flipH="1">
            <a:off x="1447100" y="2626294"/>
            <a:ext cx="2843869" cy="1245766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29" name="Shape 1189"/>
          <p:cNvSpPr/>
          <p:nvPr/>
        </p:nvSpPr>
        <p:spPr>
          <a:xfrm flipH="1" flipV="1">
            <a:off x="4937670" y="2616217"/>
            <a:ext cx="2146832" cy="894576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65309418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resolution: Recursive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45</a:t>
            </a:fld>
            <a:endParaRPr lang="en-US"/>
          </a:p>
        </p:txBody>
      </p:sp>
      <p:grpSp>
        <p:nvGrpSpPr>
          <p:cNvPr id="2" name="Group 1"/>
          <p:cNvGrpSpPr/>
          <p:nvPr/>
        </p:nvGrpSpPr>
        <p:grpSpPr>
          <a:xfrm>
            <a:off x="1089422" y="3398737"/>
            <a:ext cx="5006578" cy="3034329"/>
            <a:chOff x="1089422" y="3398737"/>
            <a:chExt cx="5006578" cy="3034329"/>
          </a:xfrm>
        </p:grpSpPr>
        <p:sp>
          <p:nvSpPr>
            <p:cNvPr id="1137" name="Shape 1137"/>
            <p:cNvSpPr/>
            <p:nvPr/>
          </p:nvSpPr>
          <p:spPr>
            <a:xfrm>
              <a:off x="1089422" y="3795118"/>
              <a:ext cx="2821782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rgbClr val="EBEBEB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8" name="Shape 1138"/>
            <p:cNvSpPr/>
            <p:nvPr/>
          </p:nvSpPr>
          <p:spPr>
            <a:xfrm>
              <a:off x="1154712" y="3999005"/>
              <a:ext cx="1845373" cy="424223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9" name="Shape 1139"/>
            <p:cNvSpPr/>
            <p:nvPr/>
          </p:nvSpPr>
          <p:spPr>
            <a:xfrm flipH="1">
              <a:off x="2394028" y="4465757"/>
              <a:ext cx="637954" cy="978196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0" name="Shape 1140"/>
            <p:cNvSpPr/>
            <p:nvPr/>
          </p:nvSpPr>
          <p:spPr>
            <a:xfrm>
              <a:off x="2187773" y="5304234"/>
              <a:ext cx="357188" cy="3571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1" name="Shape 1141"/>
            <p:cNvSpPr/>
            <p:nvPr/>
          </p:nvSpPr>
          <p:spPr>
            <a:xfrm flipH="1">
              <a:off x="3042614" y="3398737"/>
              <a:ext cx="585068" cy="981960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2" name="Shape 1142"/>
            <p:cNvSpPr/>
            <p:nvPr/>
          </p:nvSpPr>
          <p:spPr>
            <a:xfrm flipH="1">
              <a:off x="3053246" y="4380248"/>
              <a:ext cx="1442696" cy="64245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3" name="Shape 1143"/>
            <p:cNvSpPr/>
            <p:nvPr/>
          </p:nvSpPr>
          <p:spPr>
            <a:xfrm>
              <a:off x="2821781" y="4205883"/>
              <a:ext cx="446484" cy="446484"/>
            </a:xfrm>
            <a:prstGeom prst="roundRect">
              <a:avLst>
                <a:gd name="adj" fmla="val 30000"/>
              </a:avLst>
            </a:prstGeom>
            <a:solidFill>
              <a:srgbClr val="D6D6D6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4" name="Shape 1144"/>
            <p:cNvSpPr/>
            <p:nvPr/>
          </p:nvSpPr>
          <p:spPr>
            <a:xfrm>
              <a:off x="2331152" y="5529938"/>
              <a:ext cx="3764848" cy="9031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>
                <a:defRPr b="1">
                  <a:solidFill>
                    <a:srgbClr val="0096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 algn="l">
                <a:defRPr sz="1800" b="0">
                  <a:solidFill>
                    <a:srgbClr val="000000"/>
                  </a:solidFill>
                </a:defRPr>
              </a:pPr>
              <a:r>
                <a:rPr sz="3000" dirty="0">
                  <a:latin typeface="Arial" charset="0"/>
                  <a:ea typeface="Arial" charset="0"/>
                  <a:cs typeface="Arial" charset="0"/>
                </a:rPr>
                <a:t>DNS client</a:t>
              </a:r>
              <a:br>
                <a:rPr lang="en-US" sz="3000" dirty="0">
                  <a:latin typeface="Arial" charset="0"/>
                  <a:ea typeface="Arial" charset="0"/>
                  <a:cs typeface="Arial" charset="0"/>
                </a:rPr>
              </a:br>
              <a:r>
                <a:rPr lang="en-US" sz="2400" dirty="0">
                  <a:latin typeface="Arial" charset="0"/>
                  <a:ea typeface="Arial" charset="0"/>
                  <a:cs typeface="Arial" charset="0"/>
                </a:rPr>
                <a:t>(me.cse.umich.edu)</a:t>
              </a:r>
              <a:endParaRPr sz="240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1145" name="Shape 1145"/>
          <p:cNvSpPr/>
          <p:nvPr/>
        </p:nvSpPr>
        <p:spPr>
          <a:xfrm>
            <a:off x="1000125" y="3812976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46" name="Shape 1146"/>
          <p:cNvSpPr/>
          <p:nvPr/>
        </p:nvSpPr>
        <p:spPr>
          <a:xfrm>
            <a:off x="741164" y="2895600"/>
            <a:ext cx="260044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DNS server</a:t>
            </a:r>
          </a:p>
        </p:txBody>
      </p:sp>
      <p:sp>
        <p:nvSpPr>
          <p:cNvPr id="1148" name="Shape 1148"/>
          <p:cNvSpPr/>
          <p:nvPr/>
        </p:nvSpPr>
        <p:spPr>
          <a:xfrm>
            <a:off x="3750469" y="2209379"/>
            <a:ext cx="2098658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root servers</a:t>
            </a:r>
          </a:p>
        </p:txBody>
      </p:sp>
      <p:sp>
        <p:nvSpPr>
          <p:cNvPr id="1153" name="Shape 1153"/>
          <p:cNvSpPr/>
          <p:nvPr/>
        </p:nvSpPr>
        <p:spPr>
          <a:xfrm>
            <a:off x="741164" y="2514600"/>
            <a:ext cx="87510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local</a:t>
            </a:r>
          </a:p>
        </p:txBody>
      </p:sp>
      <p:sp>
        <p:nvSpPr>
          <p:cNvPr id="22" name="Shape 1149"/>
          <p:cNvSpPr/>
          <p:nvPr/>
        </p:nvSpPr>
        <p:spPr>
          <a:xfrm>
            <a:off x="6429375" y="3468465"/>
            <a:ext cx="2409825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.</a:t>
            </a:r>
            <a:r>
              <a:rPr lang="en-US" sz="25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edu</a:t>
            </a:r>
            <a:r>
              <a:rPr sz="2500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 servers</a:t>
            </a:r>
          </a:p>
        </p:txBody>
      </p:sp>
      <p:sp>
        <p:nvSpPr>
          <p:cNvPr id="23" name="Shape 1150"/>
          <p:cNvSpPr/>
          <p:nvPr/>
        </p:nvSpPr>
        <p:spPr>
          <a:xfrm>
            <a:off x="7366992" y="4731643"/>
            <a:ext cx="1694982" cy="841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00" dirty="0" err="1">
                <a:latin typeface="Arial" charset="0"/>
                <a:ea typeface="Arial" charset="0"/>
                <a:cs typeface="Arial" charset="0"/>
              </a:rPr>
              <a:t>nyu.edu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 servers</a:t>
            </a:r>
          </a:p>
        </p:txBody>
      </p:sp>
      <p:sp>
        <p:nvSpPr>
          <p:cNvPr id="24" name="Shape 1147"/>
          <p:cNvSpPr/>
          <p:nvPr/>
        </p:nvSpPr>
        <p:spPr>
          <a:xfrm>
            <a:off x="1259086" y="4277320"/>
            <a:ext cx="838980" cy="1071073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ea typeface="Arial" charset="0"/>
              <a:cs typeface="Arial" charset="0"/>
            </a:endParaRPr>
          </a:p>
        </p:txBody>
      </p:sp>
      <p:sp>
        <p:nvSpPr>
          <p:cNvPr id="25" name="Shape 1154"/>
          <p:cNvSpPr/>
          <p:nvPr/>
        </p:nvSpPr>
        <p:spPr>
          <a:xfrm rot="3178774">
            <a:off x="357889" y="4930296"/>
            <a:ext cx="2206437" cy="392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lnSpc>
                <a:spcPct val="80000"/>
              </a:lnSpc>
              <a:defRPr sz="3600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b="0" dirty="0">
                <a:latin typeface="Arial" charset="0"/>
                <a:ea typeface="Arial" charset="0"/>
                <a:cs typeface="Arial" charset="0"/>
              </a:rPr>
              <a:t>www.</a:t>
            </a:r>
            <a:r>
              <a:rPr lang="en-US" sz="2500" b="0" dirty="0">
                <a:latin typeface="Arial" charset="0"/>
                <a:ea typeface="Arial" charset="0"/>
                <a:cs typeface="Arial" charset="0"/>
              </a:rPr>
              <a:t>nyu.edu?</a:t>
            </a:r>
            <a:endParaRPr sz="2500" b="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6" name="Shape 1146"/>
          <p:cNvSpPr/>
          <p:nvPr/>
        </p:nvSpPr>
        <p:spPr>
          <a:xfrm>
            <a:off x="152400" y="3322370"/>
            <a:ext cx="3505200" cy="441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(</a:t>
            </a:r>
            <a:r>
              <a:rPr lang="en-US" sz="2400" dirty="0" err="1">
                <a:latin typeface="Arial" charset="0"/>
                <a:ea typeface="Arial" charset="0"/>
                <a:cs typeface="Arial" charset="0"/>
              </a:rPr>
              <a:t>mydns.umich.edu</a:t>
            </a:r>
            <a:r>
              <a:rPr lang="en-US" sz="2400" dirty="0">
                <a:latin typeface="Arial" charset="0"/>
                <a:ea typeface="Arial" charset="0"/>
                <a:cs typeface="Arial" charset="0"/>
              </a:rPr>
              <a:t>)</a:t>
            </a:r>
            <a:endParaRPr sz="240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7" name="Shape 1167"/>
          <p:cNvSpPr/>
          <p:nvPr/>
        </p:nvSpPr>
        <p:spPr>
          <a:xfrm flipH="1">
            <a:off x="1447100" y="2626294"/>
            <a:ext cx="2843869" cy="1245766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29" name="Shape 1189"/>
          <p:cNvSpPr/>
          <p:nvPr/>
        </p:nvSpPr>
        <p:spPr>
          <a:xfrm flipH="1" flipV="1">
            <a:off x="4937670" y="2616217"/>
            <a:ext cx="2146832" cy="894576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0" name="Shape 1212"/>
          <p:cNvSpPr/>
          <p:nvPr/>
        </p:nvSpPr>
        <p:spPr>
          <a:xfrm flipH="1" flipV="1">
            <a:off x="7335095" y="3925317"/>
            <a:ext cx="487020" cy="852248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1" name="Shape 1221"/>
          <p:cNvSpPr/>
          <p:nvPr/>
        </p:nvSpPr>
        <p:spPr>
          <a:xfrm>
            <a:off x="7084502" y="3938631"/>
            <a:ext cx="518773" cy="892980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2" name="Shape 1222"/>
          <p:cNvSpPr/>
          <p:nvPr/>
        </p:nvSpPr>
        <p:spPr>
          <a:xfrm>
            <a:off x="4723804" y="2687836"/>
            <a:ext cx="2134195" cy="908942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3" name="Shape 1223"/>
          <p:cNvSpPr/>
          <p:nvPr/>
        </p:nvSpPr>
        <p:spPr>
          <a:xfrm flipV="1">
            <a:off x="1518047" y="2780949"/>
            <a:ext cx="2772922" cy="1192762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4" name="Shape 1224"/>
          <p:cNvSpPr/>
          <p:nvPr/>
        </p:nvSpPr>
        <p:spPr>
          <a:xfrm flipH="1" flipV="1">
            <a:off x="1421933" y="4240635"/>
            <a:ext cx="843095" cy="1082180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6742959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 advAuto="0"/>
      <p:bldP spid="31" grpId="0" animBg="1" advAuto="0"/>
      <p:bldP spid="32" grpId="0" animBg="1" advAuto="0"/>
      <p:bldP spid="33" grpId="0" animBg="1" advAuto="0"/>
      <p:bldP spid="34" grpId="0" animBg="1" advAuto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 resolution: Iterative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46</a:t>
            </a:fld>
            <a:endParaRPr lang="en-US"/>
          </a:p>
        </p:txBody>
      </p:sp>
      <p:grpSp>
        <p:nvGrpSpPr>
          <p:cNvPr id="2" name="Group 1"/>
          <p:cNvGrpSpPr/>
          <p:nvPr/>
        </p:nvGrpSpPr>
        <p:grpSpPr>
          <a:xfrm>
            <a:off x="1089422" y="3398737"/>
            <a:ext cx="5006578" cy="3034329"/>
            <a:chOff x="1089422" y="3398737"/>
            <a:chExt cx="5006578" cy="3034329"/>
          </a:xfrm>
        </p:grpSpPr>
        <p:sp>
          <p:nvSpPr>
            <p:cNvPr id="1137" name="Shape 1137"/>
            <p:cNvSpPr/>
            <p:nvPr/>
          </p:nvSpPr>
          <p:spPr>
            <a:xfrm>
              <a:off x="1089422" y="3795118"/>
              <a:ext cx="2821782" cy="16430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6" y="2882"/>
                  </a:moveTo>
                  <a:cubicBezTo>
                    <a:pt x="20639" y="6724"/>
                    <a:pt x="20639" y="12954"/>
                    <a:pt x="16796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6" y="2882"/>
                  </a:cubicBezTo>
                </a:path>
              </a:pathLst>
            </a:custGeom>
            <a:solidFill>
              <a:srgbClr val="EBEBEB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8" name="Shape 1138"/>
            <p:cNvSpPr/>
            <p:nvPr/>
          </p:nvSpPr>
          <p:spPr>
            <a:xfrm>
              <a:off x="1154712" y="3999005"/>
              <a:ext cx="1845373" cy="424223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39" name="Shape 1139"/>
            <p:cNvSpPr/>
            <p:nvPr/>
          </p:nvSpPr>
          <p:spPr>
            <a:xfrm flipH="1">
              <a:off x="2394028" y="4465757"/>
              <a:ext cx="637954" cy="978196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0" name="Shape 1140"/>
            <p:cNvSpPr/>
            <p:nvPr/>
          </p:nvSpPr>
          <p:spPr>
            <a:xfrm>
              <a:off x="2187773" y="5304234"/>
              <a:ext cx="357188" cy="3571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19679" extrusionOk="0">
                  <a:moveTo>
                    <a:pt x="16797" y="2882"/>
                  </a:moveTo>
                  <a:cubicBezTo>
                    <a:pt x="20639" y="6724"/>
                    <a:pt x="20639" y="12954"/>
                    <a:pt x="16797" y="16796"/>
                  </a:cubicBezTo>
                  <a:cubicBezTo>
                    <a:pt x="12954" y="20639"/>
                    <a:pt x="6724" y="20639"/>
                    <a:pt x="2882" y="16796"/>
                  </a:cubicBezTo>
                  <a:cubicBezTo>
                    <a:pt x="-961" y="12954"/>
                    <a:pt x="-961" y="6724"/>
                    <a:pt x="2882" y="2882"/>
                  </a:cubicBezTo>
                  <a:cubicBezTo>
                    <a:pt x="6724" y="-961"/>
                    <a:pt x="12954" y="-961"/>
                    <a:pt x="16797" y="2882"/>
                  </a:cubicBezTo>
                </a:path>
              </a:pathLst>
            </a:custGeom>
            <a:solidFill>
              <a:srgbClr val="333399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1" name="Shape 1141"/>
            <p:cNvSpPr/>
            <p:nvPr/>
          </p:nvSpPr>
          <p:spPr>
            <a:xfrm flipH="1">
              <a:off x="3042614" y="3398737"/>
              <a:ext cx="585068" cy="981960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2" name="Shape 1142"/>
            <p:cNvSpPr/>
            <p:nvPr/>
          </p:nvSpPr>
          <p:spPr>
            <a:xfrm flipH="1">
              <a:off x="3053246" y="4380248"/>
              <a:ext cx="1442696" cy="64245"/>
            </a:xfrm>
            <a:prstGeom prst="line">
              <a:avLst/>
            </a:prstGeom>
            <a:ln w="63500">
              <a:solidFill>
                <a:srgbClr val="D6D6D6"/>
              </a:solidFill>
              <a:miter lim="400000"/>
            </a:ln>
          </p:spPr>
          <p:txBody>
            <a:bodyPr lIns="0" tIns="0" rIns="0" bIns="0" anchor="ctr"/>
            <a:lstStyle/>
            <a:p>
              <a:pPr algn="l"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3" name="Shape 1143"/>
            <p:cNvSpPr/>
            <p:nvPr/>
          </p:nvSpPr>
          <p:spPr>
            <a:xfrm>
              <a:off x="2821781" y="4205883"/>
              <a:ext cx="446484" cy="446484"/>
            </a:xfrm>
            <a:prstGeom prst="roundRect">
              <a:avLst>
                <a:gd name="adj" fmla="val 30000"/>
              </a:avLst>
            </a:prstGeom>
            <a:solidFill>
              <a:srgbClr val="D6D6D6"/>
            </a:solidFill>
            <a:ln w="12700">
              <a:miter lim="400000"/>
            </a:ln>
          </p:spPr>
          <p:txBody>
            <a:bodyPr lIns="0" tIns="0" rIns="0" bIns="0" anchor="ctr"/>
            <a:lstStyle/>
            <a:p>
              <a:pPr lvl="0">
                <a:defRPr sz="4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>
                <a:ea typeface="Arial" charset="0"/>
                <a:cs typeface="Arial" charset="0"/>
              </a:endParaRPr>
            </a:p>
          </p:txBody>
        </p:sp>
        <p:sp>
          <p:nvSpPr>
            <p:cNvPr id="1144" name="Shape 1144"/>
            <p:cNvSpPr/>
            <p:nvPr/>
          </p:nvSpPr>
          <p:spPr>
            <a:xfrm>
              <a:off x="2331152" y="5529938"/>
              <a:ext cx="3764848" cy="9031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7" tIns="35717" rIns="35717" bIns="35717" anchor="ctr">
              <a:spAutoFit/>
            </a:bodyPr>
            <a:lstStyle>
              <a:lvl1pPr>
                <a:defRPr b="1">
                  <a:solidFill>
                    <a:srgbClr val="0096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 algn="l">
                <a:defRPr sz="1800" b="0">
                  <a:solidFill>
                    <a:srgbClr val="000000"/>
                  </a:solidFill>
                </a:defRPr>
              </a:pPr>
              <a:r>
                <a:rPr sz="3000" dirty="0">
                  <a:latin typeface="Arial" charset="0"/>
                  <a:ea typeface="Arial" charset="0"/>
                  <a:cs typeface="Arial" charset="0"/>
                </a:rPr>
                <a:t>DNS client</a:t>
              </a:r>
              <a:br>
                <a:rPr lang="en-US" sz="3000" dirty="0">
                  <a:latin typeface="Arial" charset="0"/>
                  <a:ea typeface="Arial" charset="0"/>
                  <a:cs typeface="Arial" charset="0"/>
                </a:rPr>
              </a:br>
              <a:r>
                <a:rPr lang="en-US" sz="2400" dirty="0">
                  <a:latin typeface="Arial" charset="0"/>
                  <a:ea typeface="Arial" charset="0"/>
                  <a:cs typeface="Arial" charset="0"/>
                </a:rPr>
                <a:t>(me.cse.umich.edu)</a:t>
              </a:r>
              <a:endParaRPr sz="2400" dirty="0">
                <a:latin typeface="Arial" charset="0"/>
                <a:ea typeface="Arial" charset="0"/>
                <a:cs typeface="Arial" charset="0"/>
              </a:endParaRPr>
            </a:p>
          </p:txBody>
        </p:sp>
      </p:grpSp>
      <p:sp>
        <p:nvSpPr>
          <p:cNvPr id="1145" name="Shape 1145"/>
          <p:cNvSpPr/>
          <p:nvPr/>
        </p:nvSpPr>
        <p:spPr>
          <a:xfrm>
            <a:off x="1000125" y="3812976"/>
            <a:ext cx="357188" cy="3571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7" y="2882"/>
                </a:moveTo>
                <a:cubicBezTo>
                  <a:pt x="20639" y="6724"/>
                  <a:pt x="20639" y="12954"/>
                  <a:pt x="16797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7" y="2882"/>
                </a:cubicBezTo>
              </a:path>
            </a:pathLst>
          </a:custGeom>
          <a:solidFill>
            <a:srgbClr val="333399"/>
          </a:solidFill>
          <a:ln w="12700"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46" name="Shape 1146"/>
          <p:cNvSpPr/>
          <p:nvPr/>
        </p:nvSpPr>
        <p:spPr>
          <a:xfrm>
            <a:off x="741164" y="2895600"/>
            <a:ext cx="260044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DNS server</a:t>
            </a:r>
          </a:p>
        </p:txBody>
      </p:sp>
      <p:sp>
        <p:nvSpPr>
          <p:cNvPr id="1148" name="Shape 1148"/>
          <p:cNvSpPr/>
          <p:nvPr/>
        </p:nvSpPr>
        <p:spPr>
          <a:xfrm>
            <a:off x="3750469" y="2209379"/>
            <a:ext cx="2098658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>
                <a:latin typeface="Arial" charset="0"/>
                <a:ea typeface="Arial" charset="0"/>
                <a:cs typeface="Arial" charset="0"/>
              </a:rPr>
              <a:t>root servers</a:t>
            </a:r>
          </a:p>
        </p:txBody>
      </p:sp>
      <p:sp>
        <p:nvSpPr>
          <p:cNvPr id="1151" name="Shape 1151"/>
          <p:cNvSpPr/>
          <p:nvPr/>
        </p:nvSpPr>
        <p:spPr>
          <a:xfrm>
            <a:off x="5096311" y="2667698"/>
            <a:ext cx="1988191" cy="843095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2" name="Shape 1152"/>
          <p:cNvSpPr/>
          <p:nvPr/>
        </p:nvSpPr>
        <p:spPr>
          <a:xfrm>
            <a:off x="7358063" y="3973711"/>
            <a:ext cx="466424" cy="795431"/>
          </a:xfrm>
          <a:prstGeom prst="line">
            <a:avLst/>
          </a:prstGeom>
          <a:ln w="38100">
            <a:solidFill>
              <a:srgbClr val="424242"/>
            </a:solidFill>
            <a:miter lim="400000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1153" name="Shape 1153"/>
          <p:cNvSpPr/>
          <p:nvPr/>
        </p:nvSpPr>
        <p:spPr>
          <a:xfrm>
            <a:off x="741164" y="2514600"/>
            <a:ext cx="875109" cy="53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7" tIns="35717" rIns="35717" bIns="35717" anchor="ctr">
            <a:spAutoFit/>
          </a:bodyPr>
          <a:lstStyle>
            <a:lvl1pPr algn="l">
              <a:defRPr b="1">
                <a:solidFill>
                  <a:srgbClr val="0096FF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000" dirty="0">
                <a:latin typeface="Arial" charset="0"/>
                <a:ea typeface="Arial" charset="0"/>
                <a:cs typeface="Arial" charset="0"/>
              </a:rPr>
              <a:t>local</a:t>
            </a:r>
          </a:p>
        </p:txBody>
      </p:sp>
      <p:sp>
        <p:nvSpPr>
          <p:cNvPr id="22" name="Shape 1149"/>
          <p:cNvSpPr/>
          <p:nvPr/>
        </p:nvSpPr>
        <p:spPr>
          <a:xfrm>
            <a:off x="6429375" y="3468465"/>
            <a:ext cx="2409825" cy="4568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dirty="0">
                <a:latin typeface="Arial" charset="0"/>
                <a:ea typeface="Arial" charset="0"/>
                <a:cs typeface="Arial" charset="0"/>
              </a:rPr>
              <a:t>.</a:t>
            </a:r>
            <a:r>
              <a:rPr lang="en-US" sz="2500" dirty="0">
                <a:latin typeface="Arial" charset="0"/>
                <a:ea typeface="Arial" charset="0"/>
                <a:cs typeface="Arial" charset="0"/>
              </a:rPr>
              <a:t>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servers</a:t>
            </a:r>
          </a:p>
        </p:txBody>
      </p:sp>
      <p:sp>
        <p:nvSpPr>
          <p:cNvPr id="23" name="Shape 1150"/>
          <p:cNvSpPr/>
          <p:nvPr/>
        </p:nvSpPr>
        <p:spPr>
          <a:xfrm>
            <a:off x="7366992" y="4731643"/>
            <a:ext cx="1694982" cy="8415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defRPr sz="3600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2500" dirty="0" err="1">
                <a:latin typeface="Arial" charset="0"/>
                <a:ea typeface="Arial" charset="0"/>
                <a:cs typeface="Arial" charset="0"/>
              </a:rPr>
              <a:t>nyu.edu</a:t>
            </a:r>
            <a:r>
              <a:rPr sz="2500" dirty="0">
                <a:latin typeface="Arial" charset="0"/>
                <a:ea typeface="Arial" charset="0"/>
                <a:cs typeface="Arial" charset="0"/>
              </a:rPr>
              <a:t>  servers</a:t>
            </a:r>
          </a:p>
        </p:txBody>
      </p:sp>
      <p:sp>
        <p:nvSpPr>
          <p:cNvPr id="21" name="Shape 1147"/>
          <p:cNvSpPr/>
          <p:nvPr/>
        </p:nvSpPr>
        <p:spPr>
          <a:xfrm>
            <a:off x="1259086" y="4277320"/>
            <a:ext cx="838980" cy="1071073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ea typeface="Arial" charset="0"/>
              <a:cs typeface="Arial" charset="0"/>
            </a:endParaRPr>
          </a:p>
        </p:txBody>
      </p:sp>
      <p:sp>
        <p:nvSpPr>
          <p:cNvPr id="24" name="Shape 1154"/>
          <p:cNvSpPr/>
          <p:nvPr/>
        </p:nvSpPr>
        <p:spPr>
          <a:xfrm rot="3178774">
            <a:off x="357889" y="4930296"/>
            <a:ext cx="2206437" cy="3927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square" lIns="35717" tIns="35717" rIns="35717" bIns="35717" anchor="ctr">
            <a:spAutoFit/>
          </a:bodyPr>
          <a:lstStyle>
            <a:lvl1pPr algn="l">
              <a:lnSpc>
                <a:spcPct val="80000"/>
              </a:lnSpc>
              <a:defRPr sz="3600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00" b="0" dirty="0">
                <a:latin typeface="Arial" charset="0"/>
                <a:ea typeface="Arial" charset="0"/>
                <a:cs typeface="Arial" charset="0"/>
              </a:rPr>
              <a:t>www.</a:t>
            </a:r>
            <a:r>
              <a:rPr lang="en-US" sz="2500" b="0" dirty="0">
                <a:latin typeface="Arial" charset="0"/>
                <a:ea typeface="Arial" charset="0"/>
                <a:cs typeface="Arial" charset="0"/>
              </a:rPr>
              <a:t>nyu.edu?</a:t>
            </a:r>
            <a:endParaRPr sz="2500" b="0" dirty="0"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26" name="Shape 1261"/>
          <p:cNvSpPr/>
          <p:nvPr/>
        </p:nvSpPr>
        <p:spPr>
          <a:xfrm flipH="1">
            <a:off x="1447100" y="2626294"/>
            <a:ext cx="2843869" cy="1245766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27" name="Shape 1269"/>
          <p:cNvSpPr/>
          <p:nvPr/>
        </p:nvSpPr>
        <p:spPr>
          <a:xfrm flipH="1">
            <a:off x="1572936" y="3692702"/>
            <a:ext cx="4856439" cy="346598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28" name="Shape 1270"/>
          <p:cNvSpPr/>
          <p:nvPr/>
        </p:nvSpPr>
        <p:spPr>
          <a:xfrm flipV="1">
            <a:off x="1518047" y="2780949"/>
            <a:ext cx="2772922" cy="1192762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29" name="Shape 1271"/>
          <p:cNvSpPr/>
          <p:nvPr/>
        </p:nvSpPr>
        <p:spPr>
          <a:xfrm flipV="1">
            <a:off x="1547768" y="3842232"/>
            <a:ext cx="4881607" cy="335485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0" name="Shape 1272"/>
          <p:cNvSpPr/>
          <p:nvPr/>
        </p:nvSpPr>
        <p:spPr>
          <a:xfrm flipH="1" flipV="1">
            <a:off x="1547768" y="4278385"/>
            <a:ext cx="5787327" cy="720100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1" name="Shape 1273"/>
          <p:cNvSpPr/>
          <p:nvPr/>
        </p:nvSpPr>
        <p:spPr>
          <a:xfrm>
            <a:off x="1472269" y="4404220"/>
            <a:ext cx="5690532" cy="738474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  <p:sp>
        <p:nvSpPr>
          <p:cNvPr id="32" name="Shape 1274"/>
          <p:cNvSpPr/>
          <p:nvPr/>
        </p:nvSpPr>
        <p:spPr>
          <a:xfrm flipH="1" flipV="1">
            <a:off x="1157681" y="4404219"/>
            <a:ext cx="868261" cy="1119932"/>
          </a:xfrm>
          <a:prstGeom prst="line">
            <a:avLst/>
          </a:prstGeom>
          <a:ln w="76200">
            <a:solidFill>
              <a:srgbClr val="D3A600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algn="l"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87068245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 advAuto="0"/>
      <p:bldP spid="24" grpId="0" animBg="1" advAuto="0"/>
      <p:bldP spid="26" grpId="0" animBg="1" advAuto="0"/>
      <p:bldP spid="27" grpId="0" animBg="1" advAuto="0"/>
      <p:bldP spid="28" grpId="0" animBg="1" advAuto="0"/>
      <p:bldP spid="29" grpId="0" animBg="1" advAuto="0"/>
      <p:bldP spid="30" grpId="0" animBg="1" advAuto="0"/>
      <p:bldP spid="31" grpId="0" animBg="1" advAuto="0"/>
      <p:bldP spid="32" grpId="0" animBg="1" advAuto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ways to resolve a name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Recursive name resolution</a:t>
            </a:r>
          </a:p>
          <a:p>
            <a:pPr lvl="1"/>
            <a:r>
              <a:rPr lang="en-US" dirty="0"/>
              <a:t>Ask server to do it for you</a:t>
            </a:r>
          </a:p>
          <a:p>
            <a:r>
              <a:rPr lang="en-US" dirty="0"/>
              <a:t>Iterative name resolution</a:t>
            </a:r>
          </a:p>
          <a:p>
            <a:pPr lvl="1"/>
            <a:r>
              <a:rPr lang="en-US" dirty="0"/>
              <a:t>Ask server who to ask next</a:t>
            </a:r>
          </a:p>
          <a:p>
            <a:r>
              <a:rPr lang="en-US" dirty="0"/>
              <a:t>The iterative example we saw is a mix of both!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005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63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DNS protocol</a:t>
            </a:r>
          </a:p>
        </p:txBody>
      </p:sp>
      <p:sp>
        <p:nvSpPr>
          <p:cNvPr id="163635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Query</a:t>
            </a:r>
            <a:r>
              <a:rPr lang="en-US" dirty="0"/>
              <a:t> and </a:t>
            </a:r>
            <a:r>
              <a:rPr lang="en-US" dirty="0">
                <a:solidFill>
                  <a:srgbClr val="0000FF"/>
                </a:solidFill>
              </a:rPr>
              <a:t>Reply</a:t>
            </a:r>
            <a:r>
              <a:rPr lang="en-US" dirty="0"/>
              <a:t> messages; both with the same message format 	</a:t>
            </a:r>
          </a:p>
          <a:p>
            <a:pPr lvl="1"/>
            <a:r>
              <a:rPr lang="en-US" dirty="0"/>
              <a:t>Header: identifier, flags, etc.</a:t>
            </a:r>
          </a:p>
          <a:p>
            <a:pPr lvl="1"/>
            <a:r>
              <a:rPr lang="en-US" dirty="0"/>
              <a:t>Plus resource records</a:t>
            </a:r>
          </a:p>
          <a:p>
            <a:r>
              <a:rPr lang="en-US" dirty="0"/>
              <a:t>Client</a:t>
            </a:r>
            <a:r>
              <a:rPr lang="en-US" altLang="zh-CN" dirty="0"/>
              <a:t>-</a:t>
            </a:r>
            <a:r>
              <a:rPr lang="en-US" dirty="0"/>
              <a:t>server interaction on UDP Port 53</a:t>
            </a:r>
          </a:p>
          <a:p>
            <a:pPr lvl="1"/>
            <a:r>
              <a:rPr lang="en-US" dirty="0">
                <a:sym typeface="Wingdings" charset="0"/>
              </a:rPr>
              <a:t>Spec supports TCP too, but not always implemented</a:t>
            </a: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092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63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63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63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63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63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6355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Goals: Are we there yet?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Uniqueness: No naming conflicts</a:t>
            </a:r>
          </a:p>
          <a:p>
            <a:r>
              <a:rPr lang="en-US" dirty="0"/>
              <a:t>Scalable</a:t>
            </a:r>
          </a:p>
          <a:p>
            <a:r>
              <a:rPr lang="en-US" dirty="0"/>
              <a:t>Distributed, autonomous administration</a:t>
            </a:r>
          </a:p>
          <a:p>
            <a:r>
              <a:rPr lang="en-US" dirty="0">
                <a:solidFill>
                  <a:srgbClr val="0000FF"/>
                </a:solidFill>
              </a:rPr>
              <a:t>Highly available?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80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Reliability</a:t>
            </a:r>
          </a:p>
        </p:txBody>
      </p:sp>
      <p:sp>
        <p:nvSpPr>
          <p:cNvPr id="9697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Replicated</a:t>
            </a:r>
            <a:r>
              <a:rPr lang="en-US" dirty="0"/>
              <a:t> DNS servers (primary/secondary)</a:t>
            </a:r>
          </a:p>
          <a:p>
            <a:pPr lvl="1"/>
            <a:r>
              <a:rPr lang="en-US" dirty="0"/>
              <a:t>Name service available if </a:t>
            </a:r>
            <a:r>
              <a:rPr lang="en-US" dirty="0">
                <a:sym typeface="Math B" charset="0"/>
              </a:rPr>
              <a:t>at least one</a:t>
            </a:r>
            <a:r>
              <a:rPr lang="en-US" dirty="0"/>
              <a:t> replica is up</a:t>
            </a:r>
          </a:p>
          <a:p>
            <a:pPr lvl="1"/>
            <a:r>
              <a:rPr lang="en-US" dirty="0"/>
              <a:t>Queries can be load-balanced between replicas</a:t>
            </a:r>
          </a:p>
          <a:p>
            <a:r>
              <a:rPr lang="en-US" dirty="0"/>
              <a:t>Usually, UDP used for queries</a:t>
            </a:r>
          </a:p>
          <a:p>
            <a:pPr lvl="1"/>
            <a:r>
              <a:rPr lang="en-US" dirty="0"/>
              <a:t>Reliability, if needed, </a:t>
            </a:r>
            <a:r>
              <a:rPr lang="en-US" dirty="0">
                <a:sym typeface="Wingdings" charset="0"/>
              </a:rPr>
              <a:t>must be implemented on UDP</a:t>
            </a:r>
          </a:p>
          <a:p>
            <a:r>
              <a:rPr lang="en-US" dirty="0"/>
              <a:t>Try alternate servers on timeout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Exponential </a:t>
            </a:r>
            <a:r>
              <a:rPr lang="en-US" dirty="0" err="1">
                <a:solidFill>
                  <a:srgbClr val="0000FF"/>
                </a:solidFill>
              </a:rPr>
              <a:t>backoff</a:t>
            </a:r>
            <a:r>
              <a:rPr lang="en-US" dirty="0"/>
              <a:t> when retrying same server</a:t>
            </a:r>
          </a:p>
          <a:p>
            <a:r>
              <a:rPr lang="en-US" dirty="0"/>
              <a:t>Same identifier for all queries</a:t>
            </a:r>
          </a:p>
          <a:p>
            <a:pPr lvl="1"/>
            <a:r>
              <a:rPr lang="en-US" dirty="0"/>
              <a:t>Don’t care which server responds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166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9731" grpId="0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Goals: Are we there yet?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Uniqueness: No naming conflicts</a:t>
            </a:r>
          </a:p>
          <a:p>
            <a:r>
              <a:rPr lang="en-US" dirty="0"/>
              <a:t>Scalable</a:t>
            </a:r>
          </a:p>
          <a:p>
            <a:r>
              <a:rPr lang="en-US" dirty="0"/>
              <a:t>Distributed, autonomous administration</a:t>
            </a:r>
          </a:p>
          <a:p>
            <a:r>
              <a:rPr lang="en-US" dirty="0"/>
              <a:t>Highly available</a:t>
            </a:r>
          </a:p>
          <a:p>
            <a:r>
              <a:rPr lang="en-US" dirty="0">
                <a:solidFill>
                  <a:srgbClr val="0000FF"/>
                </a:solidFill>
              </a:rPr>
              <a:t>Fast lookups?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87025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DNS caching</a:t>
            </a:r>
          </a:p>
        </p:txBody>
      </p:sp>
      <p:sp>
        <p:nvSpPr>
          <p:cNvPr id="951299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Performing all these queries takes time</a:t>
            </a:r>
          </a:p>
          <a:p>
            <a:pPr lvl="1"/>
            <a:r>
              <a:rPr lang="en-US" dirty="0"/>
              <a:t>Up to 1-second latency before starting download</a:t>
            </a:r>
          </a:p>
          <a:p>
            <a:r>
              <a:rPr lang="en-US" dirty="0"/>
              <a:t>Caching can greatly reduce overhead</a:t>
            </a:r>
          </a:p>
          <a:p>
            <a:pPr lvl="1"/>
            <a:r>
              <a:rPr lang="en-US" dirty="0"/>
              <a:t>The top-level servers very rarely change</a:t>
            </a:r>
          </a:p>
          <a:p>
            <a:pPr lvl="1"/>
            <a:r>
              <a:rPr lang="en-US" dirty="0"/>
              <a:t>Popular sites (e.g., </a:t>
            </a:r>
            <a:r>
              <a:rPr lang="en-US" dirty="0" err="1"/>
              <a:t>www.google.com</a:t>
            </a:r>
            <a:r>
              <a:rPr lang="en-US" dirty="0"/>
              <a:t>) visited often</a:t>
            </a:r>
          </a:p>
          <a:p>
            <a:pPr lvl="1"/>
            <a:r>
              <a:rPr lang="en-US" dirty="0"/>
              <a:t>Local DNS server often has the information cached</a:t>
            </a:r>
          </a:p>
          <a:p>
            <a:r>
              <a:rPr lang="en-US" dirty="0"/>
              <a:t>How DNS caching works</a:t>
            </a:r>
          </a:p>
          <a:p>
            <a:pPr lvl="1"/>
            <a:r>
              <a:rPr lang="en-US" dirty="0"/>
              <a:t>DNS servers cache responses to queries</a:t>
            </a:r>
          </a:p>
          <a:p>
            <a:pPr lvl="1"/>
            <a:r>
              <a:rPr lang="en-US" dirty="0"/>
              <a:t>Responses include a </a:t>
            </a:r>
            <a:r>
              <a:rPr lang="ja-JP" altLang="en-US" dirty="0">
                <a:solidFill>
                  <a:srgbClr val="0000FF"/>
                </a:solidFill>
              </a:rPr>
              <a:t>“</a:t>
            </a:r>
            <a:r>
              <a:rPr lang="en-US" dirty="0">
                <a:solidFill>
                  <a:srgbClr val="0000FF"/>
                </a:solidFill>
              </a:rPr>
              <a:t>time to live</a:t>
            </a:r>
            <a:r>
              <a:rPr lang="ja-JP" altLang="en-US" dirty="0">
                <a:solidFill>
                  <a:srgbClr val="0000FF"/>
                </a:solidFill>
              </a:rPr>
              <a:t>”</a:t>
            </a:r>
            <a:r>
              <a:rPr lang="en-US" dirty="0">
                <a:solidFill>
                  <a:srgbClr val="0000FF"/>
                </a:solidFill>
              </a:rPr>
              <a:t> (TTL)</a:t>
            </a:r>
            <a:r>
              <a:rPr lang="en-US" dirty="0"/>
              <a:t> field</a:t>
            </a:r>
          </a:p>
          <a:p>
            <a:pPr lvl="1"/>
            <a:r>
              <a:rPr lang="en-US" dirty="0"/>
              <a:t>Server deletes cached entry after TTL expires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423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2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1299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E93CB-1E59-1446-B9CC-A58DE97DC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TTL in dig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0BD2CD-0932-224B-B940-4980B9701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dig </a:t>
            </a:r>
            <a:r>
              <a:rPr lang="en-US" sz="1200" dirty="0" err="1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endParaRPr lang="en-US" sz="1200" dirty="0">
              <a:solidFill>
                <a:srgbClr val="0000FF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&lt;&lt;&gt;&gt;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DiG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9.10.6 &lt;&lt;&gt;&gt;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global options: +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cmd</a:t>
            </a: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Got answer: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-&gt;&gt;HEADER&lt;&lt;- opcode: QUERY, status: NOERROR, id: 47443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flags: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qr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rd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ra; QUERY: 1, ANSWER: 1, AUTHORITY: 0, ADDITIONAL: 1</a:t>
            </a:r>
          </a:p>
          <a:p>
            <a:pPr marL="0" indent="0">
              <a:buNone/>
            </a:pP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OPT PSEUDOSECTION: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EDNS: version: 0, flags:;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udp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512</a:t>
            </a: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;; QUESTION SECTION:</a:t>
            </a: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.			IN	A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;; ANSWER SECTION:</a:t>
            </a:r>
          </a:p>
          <a:p>
            <a:pPr marL="0" indent="0">
              <a:buNone/>
            </a:pP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nyu.edu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.		60	IN	A	216.165.47.10</a:t>
            </a:r>
          </a:p>
          <a:p>
            <a:pPr marL="0" indent="0">
              <a:buNone/>
            </a:pPr>
            <a:endParaRPr lang="en-US" sz="1200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Query time: 39 msec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SERVER: 192.168.1.1#53(192.168.1.1)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WHEN: Fri Sep 10 08:21:43 EDT 2021</a:t>
            </a:r>
          </a:p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;; MSG SIZE 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rcvd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52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CCE0C0-F32C-4C47-9EEB-08A5BBC561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5127926-3251-0B4A-96A1-F7475AED26FF}"/>
              </a:ext>
            </a:extLst>
          </p:cNvPr>
          <p:cNvSpPr/>
          <p:nvPr/>
        </p:nvSpPr>
        <p:spPr bwMode="auto">
          <a:xfrm>
            <a:off x="2362200" y="4495800"/>
            <a:ext cx="609600" cy="533400"/>
          </a:xfrm>
          <a:prstGeom prst="ellipse">
            <a:avLst/>
          </a:prstGeom>
          <a:noFill/>
          <a:ln w="9525" cap="flat" cmpd="sng" algn="ctr">
            <a:solidFill>
              <a:srgbClr val="0000FF"/>
            </a:solidFill>
            <a:prstDash val="solid"/>
            <a:round/>
            <a:headEnd type="none" w="med" len="med"/>
            <a:tailEnd type="stealth" w="med" len="lg"/>
          </a:ln>
          <a:effec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C8B8A1-256C-A742-BA5D-40B6DAE50534}"/>
              </a:ext>
            </a:extLst>
          </p:cNvPr>
          <p:cNvSpPr txBox="1"/>
          <p:nvPr/>
        </p:nvSpPr>
        <p:spPr>
          <a:xfrm>
            <a:off x="2667000" y="4235669"/>
            <a:ext cx="5597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TTL</a:t>
            </a:r>
          </a:p>
        </p:txBody>
      </p:sp>
    </p:spTree>
    <p:extLst>
      <p:ext uri="{BB962C8B-B14F-4D97-AF65-F5344CB8AC3E}">
        <p14:creationId xmlns:p14="http://schemas.microsoft.com/office/powerpoint/2010/main" val="20419532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8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Negative caching</a:t>
            </a:r>
          </a:p>
        </p:txBody>
      </p:sp>
      <p:sp>
        <p:nvSpPr>
          <p:cNvPr id="93188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Remember things that do not work</a:t>
            </a:r>
          </a:p>
          <a:p>
            <a:pPr lvl="1"/>
            <a:r>
              <a:rPr lang="en-US" dirty="0"/>
              <a:t>Misspellings like </a:t>
            </a:r>
            <a:r>
              <a:rPr lang="en-US" dirty="0" err="1"/>
              <a:t>www.google.comm</a:t>
            </a:r>
            <a:endParaRPr lang="en-US" dirty="0"/>
          </a:p>
          <a:p>
            <a:pPr lvl="1"/>
            <a:r>
              <a:rPr lang="en-US" dirty="0"/>
              <a:t>These can take a long time to fail the first time</a:t>
            </a:r>
          </a:p>
          <a:p>
            <a:pPr lvl="1"/>
            <a:r>
              <a:rPr lang="en-US" dirty="0"/>
              <a:t>Good to remember that they do not work so the failure takes less time the next time around</a:t>
            </a:r>
          </a:p>
          <a:p>
            <a:r>
              <a:rPr lang="en-US" dirty="0"/>
              <a:t>Negative caching is </a:t>
            </a:r>
            <a:r>
              <a:rPr lang="en-US" dirty="0">
                <a:solidFill>
                  <a:srgbClr val="0000FF"/>
                </a:solidFill>
              </a:rPr>
              <a:t>optional</a:t>
            </a:r>
          </a:p>
          <a:p>
            <a:pPr lvl="1"/>
            <a:r>
              <a:rPr lang="en-US" dirty="0"/>
              <a:t>Not widely implemented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780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18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81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properties of DNS</a:t>
            </a:r>
          </a:p>
        </p:txBody>
      </p:sp>
      <p:sp>
        <p:nvSpPr>
          <p:cNvPr id="162816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Administrative delegation and hierarchy enables: </a:t>
            </a:r>
          </a:p>
          <a:p>
            <a:pPr lvl="1"/>
            <a:r>
              <a:rPr lang="en-US" dirty="0"/>
              <a:t>Easy unique naming</a:t>
            </a:r>
          </a:p>
          <a:p>
            <a:pPr lvl="1"/>
            <a:r>
              <a:rPr lang="en-US"/>
              <a:t>Reasonable </a:t>
            </a:r>
            <a:r>
              <a:rPr lang="en-US" dirty="0"/>
              <a:t>trust model</a:t>
            </a:r>
          </a:p>
          <a:p>
            <a:pPr lvl="1"/>
            <a:r>
              <a:rPr lang="en-US" dirty="0"/>
              <a:t>Caching increases scalability and performance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6300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DNS provides indirection</a:t>
            </a:r>
          </a:p>
        </p:txBody>
      </p:sp>
      <p:sp>
        <p:nvSpPr>
          <p:cNvPr id="9246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Addresses can change underneath</a:t>
            </a:r>
          </a:p>
          <a:p>
            <a:pPr lvl="1"/>
            <a:r>
              <a:rPr lang="en-US" dirty="0"/>
              <a:t>Move </a:t>
            </a:r>
            <a:r>
              <a:rPr lang="en-US" dirty="0" err="1"/>
              <a:t>www.cnn.com</a:t>
            </a:r>
            <a:r>
              <a:rPr lang="en-US" dirty="0"/>
              <a:t> to 4.125.91.21</a:t>
            </a:r>
          </a:p>
          <a:p>
            <a:r>
              <a:rPr lang="en-US" dirty="0"/>
              <a:t>Name could map to multiple IP addresses</a:t>
            </a:r>
          </a:p>
          <a:p>
            <a:pPr lvl="1"/>
            <a:r>
              <a:rPr lang="en-US" dirty="0"/>
              <a:t>Load-balancing (</a:t>
            </a:r>
            <a:r>
              <a:rPr lang="en-US" dirty="0">
                <a:solidFill>
                  <a:srgbClr val="0000FF"/>
                </a:solidFill>
              </a:rPr>
              <a:t>CDN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Reducing latency by picking nearby servers (</a:t>
            </a:r>
            <a:r>
              <a:rPr lang="en-US" dirty="0">
                <a:solidFill>
                  <a:srgbClr val="0000FF"/>
                </a:solidFill>
              </a:rPr>
              <a:t>CDN</a:t>
            </a:r>
            <a:r>
              <a:rPr lang="en-US" dirty="0"/>
              <a:t>)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Try out</a:t>
            </a:r>
            <a:r>
              <a:rPr lang="en-US" dirty="0"/>
              <a:t>: </a:t>
            </a:r>
            <a:r>
              <a:rPr lang="en-US" dirty="0">
                <a:highlight>
                  <a:srgbClr val="C0C0C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dig </a:t>
            </a:r>
            <a:r>
              <a:rPr lang="en-US" dirty="0" err="1">
                <a:highlight>
                  <a:srgbClr val="C0C0C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google.com</a:t>
            </a:r>
            <a:r>
              <a:rPr lang="en-US" dirty="0"/>
              <a:t> a few times</a:t>
            </a:r>
          </a:p>
          <a:p>
            <a:r>
              <a:rPr lang="en-US" dirty="0"/>
              <a:t>Multiple names for the same address</a:t>
            </a:r>
          </a:p>
          <a:p>
            <a:pPr lvl="1"/>
            <a:r>
              <a:rPr lang="en-US" dirty="0"/>
              <a:t>E.g., many services (mail, www) on same machine </a:t>
            </a:r>
          </a:p>
          <a:p>
            <a:pPr lvl="1"/>
            <a:r>
              <a:rPr lang="en-US" dirty="0"/>
              <a:t>E.g., aliases like </a:t>
            </a:r>
            <a:r>
              <a:rPr lang="en-US" dirty="0" err="1"/>
              <a:t>www.cnn.com</a:t>
            </a:r>
            <a:r>
              <a:rPr lang="en-US" dirty="0"/>
              <a:t> and </a:t>
            </a:r>
            <a:r>
              <a:rPr lang="en-US" dirty="0" err="1"/>
              <a:t>cnn.com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832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4675" grpId="0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CDNs improve web performance</a:t>
            </a:r>
          </a:p>
          <a:p>
            <a:pPr lvl="1"/>
            <a:r>
              <a:rPr lang="en-US" dirty="0"/>
              <a:t>Via replication and caching</a:t>
            </a:r>
          </a:p>
          <a:p>
            <a:pPr lvl="1"/>
            <a:r>
              <a:rPr lang="en-US" dirty="0"/>
              <a:t>Good server selection</a:t>
            </a:r>
          </a:p>
          <a:p>
            <a:r>
              <a:rPr lang="en-US" dirty="0"/>
              <a:t>DNS allows us to go to webpages without having to memorize IP addresses</a:t>
            </a:r>
          </a:p>
          <a:p>
            <a:pPr lvl="1"/>
            <a:r>
              <a:rPr lang="en-US" dirty="0"/>
              <a:t>Allows a level of indirection that enables many functionalities including CDN server selection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93819"/>
      </p:ext>
    </p:extLst>
  </p:cSld>
  <p:clrMapOvr>
    <a:masterClrMapping/>
  </p:clrMapOvr>
</p:sld>
</file>

<file path=ppt/theme/theme1.xml><?xml version="1.0" encoding="utf-8"?>
<a:theme xmlns:a="http://schemas.openxmlformats.org/drawingml/2006/main" name="csci teaching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sci teaching" id="{2544B9EB-22C5-894E-8225-D41CCBCFB37A}" vid="{814176C4-F8E2-3E49-9BEB-3A929C7DAC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1490457627</TotalTime>
  <Pages>7</Pages>
  <Words>2679</Words>
  <Application>Microsoft Macintosh PowerPoint</Application>
  <PresentationFormat>On-screen Show (4:3)</PresentationFormat>
  <Paragraphs>522</Paragraphs>
  <Slides>57</Slides>
  <Notes>22</Notes>
  <HiddenSlides>0</HiddenSlides>
  <MMClips>0</MMClips>
  <ScaleCrop>false</ScaleCrop>
  <HeadingPairs>
    <vt:vector size="8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72" baseType="lpstr">
      <vt:lpstr>Math B</vt:lpstr>
      <vt:lpstr>ＭＳ Ｐゴシック</vt:lpstr>
      <vt:lpstr>Arial</vt:lpstr>
      <vt:lpstr>Arial Black</vt:lpstr>
      <vt:lpstr>Calibri</vt:lpstr>
      <vt:lpstr>Consolas</vt:lpstr>
      <vt:lpstr>Courier New</vt:lpstr>
      <vt:lpstr>Gill Sans</vt:lpstr>
      <vt:lpstr>Helvetica Neue</vt:lpstr>
      <vt:lpstr>Lucida Console</vt:lpstr>
      <vt:lpstr>Monotype Sorts</vt:lpstr>
      <vt:lpstr>Times New Roman</vt:lpstr>
      <vt:lpstr>Wingdings</vt:lpstr>
      <vt:lpstr>csci teaching</vt:lpstr>
      <vt:lpstr>Clip</vt:lpstr>
      <vt:lpstr>CSCI4430 Computer Networks  Lecture 4: Application Layer – Caching and CDN, DNS</vt:lpstr>
      <vt:lpstr>Agenda</vt:lpstr>
      <vt:lpstr>Recap: Improving HTTP</vt:lpstr>
      <vt:lpstr>Caching</vt:lpstr>
      <vt:lpstr>Caching: How</vt:lpstr>
      <vt:lpstr>Caching: How</vt:lpstr>
      <vt:lpstr>Caching: How</vt:lpstr>
      <vt:lpstr>Caching: Where?</vt:lpstr>
      <vt:lpstr>Caching: Where?</vt:lpstr>
      <vt:lpstr>Caching with Reverse Proxies</vt:lpstr>
      <vt:lpstr>Caching with Forward Proxies</vt:lpstr>
      <vt:lpstr>Replication</vt:lpstr>
      <vt:lpstr>Content Distribution Networks (CDN)</vt:lpstr>
      <vt:lpstr> Cost-effective content delivery</vt:lpstr>
      <vt:lpstr>CDN example – Akamai</vt:lpstr>
      <vt:lpstr>CDN example – Akamai</vt:lpstr>
      <vt:lpstr>Why this replica, not others?</vt:lpstr>
      <vt:lpstr>DNS: Domain name system</vt:lpstr>
      <vt:lpstr>Internet names &amp; addresses</vt:lpstr>
      <vt:lpstr>Why?</vt:lpstr>
      <vt:lpstr>DNS: History</vt:lpstr>
      <vt:lpstr>DNS: History</vt:lpstr>
      <vt:lpstr>Goals</vt:lpstr>
      <vt:lpstr>How?</vt:lpstr>
      <vt:lpstr>Key idea: Hierarchy</vt:lpstr>
      <vt:lpstr>Hierarchical namespace</vt:lpstr>
      <vt:lpstr>Hierarchical administration</vt:lpstr>
      <vt:lpstr>Server hierarchy</vt:lpstr>
      <vt:lpstr>Server hierarchy</vt:lpstr>
      <vt:lpstr>DNS root</vt:lpstr>
      <vt:lpstr>13 DNS root servers</vt:lpstr>
      <vt:lpstr>DNS root servers in 2023</vt:lpstr>
      <vt:lpstr>Root servers</vt:lpstr>
      <vt:lpstr>DNS records</vt:lpstr>
      <vt:lpstr>DNS records (cont’d)</vt:lpstr>
      <vt:lpstr>Inserting Resource Records</vt:lpstr>
      <vt:lpstr>Using DNS (Client/App View)</vt:lpstr>
      <vt:lpstr>dig</vt:lpstr>
      <vt:lpstr>dig CUHK (2023)</vt:lpstr>
      <vt:lpstr>dig CUHK (2025)</vt:lpstr>
      <vt:lpstr>Name resolution</vt:lpstr>
      <vt:lpstr>Name resolution</vt:lpstr>
      <vt:lpstr>Name resolution</vt:lpstr>
      <vt:lpstr>Name resolution</vt:lpstr>
      <vt:lpstr>Name resolution: Recursive</vt:lpstr>
      <vt:lpstr>Name resolution: Iterative</vt:lpstr>
      <vt:lpstr>Two ways to resolve a name</vt:lpstr>
      <vt:lpstr>DNS protocol</vt:lpstr>
      <vt:lpstr>Goals: Are we there yet?</vt:lpstr>
      <vt:lpstr>Reliability</vt:lpstr>
      <vt:lpstr>Goals: Are we there yet?</vt:lpstr>
      <vt:lpstr>DNS caching</vt:lpstr>
      <vt:lpstr>TTL in dig output</vt:lpstr>
      <vt:lpstr>Negative caching</vt:lpstr>
      <vt:lpstr>Important properties of DNS</vt:lpstr>
      <vt:lpstr>DNS provides indirection</vt:lpstr>
      <vt:lpstr>Summary</vt:lpstr>
    </vt:vector>
  </TitlesOfParts>
  <Manager/>
  <Company>CUHK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CSCI4430 Computer Networks  Lecture 3: Application Layer – Caching and CDN, DNS</dc:title>
  <dc:subject/>
  <dc:creator>Hong Xu</dc:creator>
  <cp:keywords/>
  <dc:description/>
  <cp:lastModifiedBy>Hong Xu</cp:lastModifiedBy>
  <cp:revision>1473</cp:revision>
  <cp:lastPrinted>1999-09-08T17:25:07Z</cp:lastPrinted>
  <dcterms:created xsi:type="dcterms:W3CDTF">2014-01-14T18:15:50Z</dcterms:created>
  <dcterms:modified xsi:type="dcterms:W3CDTF">2025-01-22T04:07:30Z</dcterms:modified>
  <cp:category/>
</cp:coreProperties>
</file>
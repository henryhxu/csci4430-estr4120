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09" r:id="rId1"/>
  </p:sldMasterIdLst>
  <p:notesMasterIdLst>
    <p:notesMasterId r:id="rId41"/>
  </p:notesMasterIdLst>
  <p:handoutMasterIdLst>
    <p:handoutMasterId r:id="rId42"/>
  </p:handoutMasterIdLst>
  <p:sldIdLst>
    <p:sldId id="638" r:id="rId2"/>
    <p:sldId id="487" r:id="rId3"/>
    <p:sldId id="539" r:id="rId4"/>
    <p:sldId id="514" r:id="rId5"/>
    <p:sldId id="515" r:id="rId6"/>
    <p:sldId id="516" r:id="rId7"/>
    <p:sldId id="517" r:id="rId8"/>
    <p:sldId id="518" r:id="rId9"/>
    <p:sldId id="519" r:id="rId10"/>
    <p:sldId id="520" r:id="rId11"/>
    <p:sldId id="521" r:id="rId12"/>
    <p:sldId id="522" r:id="rId13"/>
    <p:sldId id="523" r:id="rId14"/>
    <p:sldId id="531" r:id="rId15"/>
    <p:sldId id="525" r:id="rId16"/>
    <p:sldId id="526" r:id="rId17"/>
    <p:sldId id="532" r:id="rId18"/>
    <p:sldId id="533" r:id="rId19"/>
    <p:sldId id="534" r:id="rId20"/>
    <p:sldId id="535" r:id="rId21"/>
    <p:sldId id="530" r:id="rId22"/>
    <p:sldId id="536" r:id="rId23"/>
    <p:sldId id="537" r:id="rId24"/>
    <p:sldId id="540" r:id="rId25"/>
    <p:sldId id="541" r:id="rId26"/>
    <p:sldId id="542" r:id="rId27"/>
    <p:sldId id="543" r:id="rId28"/>
    <p:sldId id="544" r:id="rId29"/>
    <p:sldId id="545" r:id="rId30"/>
    <p:sldId id="547" r:id="rId31"/>
    <p:sldId id="548" r:id="rId32"/>
    <p:sldId id="549" r:id="rId33"/>
    <p:sldId id="550" r:id="rId34"/>
    <p:sldId id="554" r:id="rId35"/>
    <p:sldId id="552" r:id="rId36"/>
    <p:sldId id="553" r:id="rId37"/>
    <p:sldId id="557" r:id="rId38"/>
    <p:sldId id="556" r:id="rId39"/>
    <p:sldId id="512" r:id="rId40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15"/>
    <p:restoredTop sz="96591"/>
  </p:normalViewPr>
  <p:slideViewPr>
    <p:cSldViewPr>
      <p:cViewPr varScale="1">
        <p:scale>
          <a:sx n="127" d="100"/>
          <a:sy n="127" d="100"/>
        </p:scale>
        <p:origin x="154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18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44D7B7-8497-9440-908B-E77F83F666B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0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44D7B7-8497-9440-908B-E77F83F666B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6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2853705C-35BF-A442-8E55-A6E2782461EE}" type="slidenum">
              <a:rPr lang="en-US" sz="1300" b="0">
                <a:latin typeface="Times New Roman" charset="0"/>
              </a:rPr>
              <a:pPr eaLnBrk="1" hangingPunct="1"/>
              <a:t>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08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01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00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44D7B7-8497-9440-908B-E77F83F666B6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10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 userDrawn="1"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 userDrawn="1"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 userDrawn="1"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4816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396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6700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159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870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3658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66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697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381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56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0274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7475958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 userDrawn="1"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 userDrawn="1"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72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Patri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ck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Lee,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9: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Transport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Layer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–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br>
              <a:rPr lang="en-HK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</a:br>
            <a:r>
              <a:rPr lang="en-HK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Mo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on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congestion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control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congestion control wrap-up</a:t>
            </a:r>
          </a:p>
          <a:p>
            <a:r>
              <a:rPr lang="en-US" dirty="0"/>
              <a:t>TCP throughput equation</a:t>
            </a:r>
          </a:p>
          <a:p>
            <a:r>
              <a:rPr lang="en-US" dirty="0"/>
              <a:t>Problems with congestion control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Flow Control</a:t>
            </a:r>
          </a:p>
          <a:p>
            <a:pPr lvl="1"/>
            <a:r>
              <a:rPr lang="en-US" dirty="0"/>
              <a:t>Restrict window to RWND to make sure that the receiver isn’t overwhelmed</a:t>
            </a:r>
          </a:p>
          <a:p>
            <a:r>
              <a:rPr lang="en-US" dirty="0"/>
              <a:t>Congestion Control</a:t>
            </a:r>
          </a:p>
          <a:p>
            <a:pPr lvl="1"/>
            <a:r>
              <a:rPr lang="en-US" dirty="0"/>
              <a:t>Restrict window to CWND to make sure that the network isn’t overwhelmed</a:t>
            </a:r>
          </a:p>
          <a:p>
            <a:r>
              <a:rPr lang="en-US" dirty="0"/>
              <a:t>Together</a:t>
            </a:r>
          </a:p>
          <a:p>
            <a:pPr lvl="1"/>
            <a:r>
              <a:rPr lang="en-US" dirty="0"/>
              <a:t>Restrict window to </a:t>
            </a:r>
            <a:r>
              <a:rPr lang="en-US" dirty="0">
                <a:solidFill>
                  <a:srgbClr val="0000FF"/>
                </a:solidFill>
              </a:rPr>
              <a:t>min{RWND, CWND}</a:t>
            </a:r>
            <a:r>
              <a:rPr lang="en-US" dirty="0"/>
              <a:t> to make sure that neither the receiver nor the network are overwhelmed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6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CC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States at sender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CWND</a:t>
            </a:r>
            <a:r>
              <a:rPr lang="en-US" dirty="0"/>
              <a:t> (initialized to a small constant)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ssthresh</a:t>
            </a:r>
            <a:r>
              <a:rPr lang="en-US" dirty="0"/>
              <a:t> (initialized to a large constant)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dupACKcount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timer</a:t>
            </a:r>
            <a:endParaRPr lang="en-US" dirty="0"/>
          </a:p>
          <a:p>
            <a:r>
              <a:rPr lang="en-US" dirty="0"/>
              <a:t>Events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ACK</a:t>
            </a:r>
            <a:r>
              <a:rPr lang="en-US" dirty="0"/>
              <a:t> (new data)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dupACK</a:t>
            </a:r>
            <a:r>
              <a:rPr lang="en-US" dirty="0"/>
              <a:t> (duplicate ACK for old data)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Timeout</a:t>
            </a:r>
            <a:r>
              <a:rPr lang="en-US" dirty="0"/>
              <a:t> 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2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/>
              <a:t>Event: ACK (new data)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If CWND &lt; ssthresh</a:t>
            </a:r>
          </a:p>
          <a:p>
            <a:pPr lvl="1"/>
            <a:r>
              <a:rPr lang="en-US"/>
              <a:t>CWND += 1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5334000" y="1981200"/>
            <a:ext cx="3352800" cy="1371600"/>
          </a:xfrm>
          <a:prstGeom prst="wedgeRoundRectCallout">
            <a:avLst>
              <a:gd name="adj1" fmla="val -118358"/>
              <a:gd name="adj2" fmla="val -18268"/>
              <a:gd name="adj3" fmla="val 16667"/>
            </a:avLst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0" y="2029361"/>
            <a:ext cx="27377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b="0" i="1" dirty="0">
                <a:latin typeface="+mn-lt"/>
              </a:rPr>
              <a:t>CWND packets per RTT </a:t>
            </a:r>
          </a:p>
          <a:p>
            <a:pPr marL="285750" indent="-285750" algn="l">
              <a:buFont typeface="Arial"/>
              <a:buChar char="•"/>
            </a:pPr>
            <a:r>
              <a:rPr lang="en-US" b="0" i="1" dirty="0">
                <a:latin typeface="+mn-lt"/>
              </a:rPr>
              <a:t>Hence, after one RTT </a:t>
            </a:r>
            <a:br>
              <a:rPr lang="en-US" b="0" i="1" dirty="0">
                <a:latin typeface="+mn-lt"/>
              </a:rPr>
            </a:br>
            <a:r>
              <a:rPr lang="en-US" b="0" i="1" dirty="0">
                <a:latin typeface="+mn-lt"/>
              </a:rPr>
              <a:t>with no drops:</a:t>
            </a:r>
            <a:br>
              <a:rPr lang="en-US" b="0" i="1" dirty="0">
                <a:latin typeface="+mn-lt"/>
              </a:rPr>
            </a:br>
            <a:r>
              <a:rPr lang="en-US" b="0" i="1" dirty="0">
                <a:solidFill>
                  <a:srgbClr val="0000FF"/>
                </a:solidFill>
                <a:latin typeface="+mn-lt"/>
              </a:rPr>
              <a:t>    CWND = 2xCWND</a:t>
            </a:r>
          </a:p>
        </p:txBody>
      </p:sp>
    </p:spTree>
    <p:extLst>
      <p:ext uri="{BB962C8B-B14F-4D97-AF65-F5344CB8AC3E}">
        <p14:creationId xmlns:p14="http://schemas.microsoft.com/office/powerpoint/2010/main" val="61561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/>
              <a:t>Event: ACK (new data)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CWND &lt; </a:t>
            </a:r>
            <a:r>
              <a:rPr lang="en-US" dirty="0" err="1"/>
              <a:t>ssthresh</a:t>
            </a:r>
            <a:endParaRPr lang="en-US" dirty="0"/>
          </a:p>
          <a:p>
            <a:pPr lvl="1"/>
            <a:r>
              <a:rPr lang="en-US" dirty="0"/>
              <a:t>CWND += 1</a:t>
            </a:r>
          </a:p>
          <a:p>
            <a:pPr lvl="1"/>
            <a:endParaRPr lang="en-US" dirty="0"/>
          </a:p>
          <a:p>
            <a:r>
              <a:rPr lang="en-US" dirty="0"/>
              <a:t>Else </a:t>
            </a:r>
          </a:p>
          <a:p>
            <a:pPr lvl="1"/>
            <a:r>
              <a:rPr lang="en-US" dirty="0"/>
              <a:t>CWND = CWND + 1/CWND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Right Brace 5"/>
          <p:cNvSpPr/>
          <p:nvPr/>
        </p:nvSpPr>
        <p:spPr bwMode="auto">
          <a:xfrm>
            <a:off x="5506121" y="1752600"/>
            <a:ext cx="533400" cy="1066800"/>
          </a:xfrm>
          <a:prstGeom prst="rightBrace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80135" y="2038290"/>
            <a:ext cx="27066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  <a:latin typeface="+mn-lt"/>
              </a:rPr>
              <a:t>Slow start </a:t>
            </a:r>
            <a:r>
              <a:rPr lang="en-US" sz="2400" i="1" dirty="0">
                <a:solidFill>
                  <a:schemeClr val="accent2"/>
                </a:solidFill>
                <a:latin typeface="+mn-lt"/>
              </a:rPr>
              <a:t>phase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829721" y="4920880"/>
            <a:ext cx="3352800" cy="1371600"/>
            <a:chOff x="5105400" y="4267200"/>
            <a:chExt cx="3352800" cy="1371600"/>
          </a:xfrm>
        </p:grpSpPr>
        <p:sp>
          <p:nvSpPr>
            <p:cNvPr id="8" name="Rounded Rectangular Callout 7"/>
            <p:cNvSpPr/>
            <p:nvPr/>
          </p:nvSpPr>
          <p:spPr bwMode="auto">
            <a:xfrm>
              <a:off x="5105400" y="4267200"/>
              <a:ext cx="3352800" cy="1371600"/>
            </a:xfrm>
            <a:prstGeom prst="wedgeRoundRectCallout">
              <a:avLst>
                <a:gd name="adj1" fmla="val -61310"/>
                <a:gd name="adj2" fmla="val -117752"/>
                <a:gd name="adj3" fmla="val 16667"/>
              </a:avLst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105400" y="4315361"/>
              <a:ext cx="2737737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 algn="l">
                <a:buFont typeface="Arial"/>
                <a:buChar char="•"/>
              </a:pPr>
              <a:r>
                <a:rPr lang="en-US" b="0" i="1" dirty="0">
                  <a:latin typeface="+mn-lt"/>
                </a:rPr>
                <a:t>CWND packets per RTT </a:t>
              </a:r>
            </a:p>
            <a:p>
              <a:pPr marL="285750" indent="-285750" algn="l">
                <a:buFont typeface="Arial"/>
                <a:buChar char="•"/>
              </a:pPr>
              <a:r>
                <a:rPr lang="en-US" b="0" i="1" dirty="0">
                  <a:latin typeface="+mn-lt"/>
                </a:rPr>
                <a:t>Hence, after one RTT </a:t>
              </a:r>
              <a:br>
                <a:rPr lang="en-US" b="0" i="1" dirty="0">
                  <a:latin typeface="+mn-lt"/>
                </a:rPr>
              </a:br>
              <a:r>
                <a:rPr lang="en-US" b="0" i="1" dirty="0">
                  <a:latin typeface="+mn-lt"/>
                </a:rPr>
                <a:t>with no drops:</a:t>
              </a:r>
              <a:br>
                <a:rPr lang="en-US" b="0" i="1" dirty="0">
                  <a:latin typeface="+mn-lt"/>
                </a:rPr>
              </a:br>
              <a:r>
                <a:rPr lang="en-US" b="0" i="1" dirty="0">
                  <a:solidFill>
                    <a:srgbClr val="0000FF"/>
                  </a:solidFill>
                  <a:latin typeface="+mn-lt"/>
                </a:rPr>
                <a:t>    CWND = CWND + 1</a:t>
              </a:r>
            </a:p>
          </p:txBody>
        </p:sp>
      </p:grpSp>
      <p:sp>
        <p:nvSpPr>
          <p:cNvPr id="10" name="Right Brace 9"/>
          <p:cNvSpPr/>
          <p:nvPr/>
        </p:nvSpPr>
        <p:spPr bwMode="auto">
          <a:xfrm>
            <a:off x="5506121" y="3429000"/>
            <a:ext cx="533400" cy="1066800"/>
          </a:xfrm>
          <a:prstGeom prst="rightBrace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0" y="3524072"/>
            <a:ext cx="304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i="1" dirty="0">
                <a:solidFill>
                  <a:srgbClr val="0000FF"/>
                </a:solidFill>
                <a:latin typeface="+mn-lt"/>
              </a:rPr>
              <a:t>Congestion </a:t>
            </a:r>
            <a:br>
              <a:rPr lang="en-US" sz="2400" i="1" dirty="0">
                <a:solidFill>
                  <a:srgbClr val="0000FF"/>
                </a:solidFill>
                <a:latin typeface="+mn-lt"/>
              </a:rPr>
            </a:br>
            <a:r>
              <a:rPr lang="en-US" sz="2400" i="1" dirty="0">
                <a:solidFill>
                  <a:srgbClr val="0000FF"/>
                </a:solidFill>
                <a:latin typeface="+mn-lt"/>
              </a:rPr>
              <a:t>avoidance</a:t>
            </a:r>
            <a:r>
              <a:rPr lang="en-US" sz="2400" i="1" dirty="0">
                <a:solidFill>
                  <a:schemeClr val="accent2"/>
                </a:solidFill>
                <a:latin typeface="+mn-lt"/>
              </a:rPr>
              <a:t> phase</a:t>
            </a:r>
          </a:p>
        </p:txBody>
      </p:sp>
    </p:spTree>
    <p:extLst>
      <p:ext uri="{BB962C8B-B14F-4D97-AF65-F5344CB8AC3E}">
        <p14:creationId xmlns:p14="http://schemas.microsoft.com/office/powerpoint/2010/main" val="181159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/>
              <a:t>Event: TimeOut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Timeout </a:t>
            </a:r>
          </a:p>
          <a:p>
            <a:pPr lvl="1"/>
            <a:r>
              <a:rPr lang="en-US" dirty="0" err="1"/>
              <a:t>ssthresh</a:t>
            </a:r>
            <a:r>
              <a:rPr lang="en-US" dirty="0"/>
              <a:t> </a:t>
            </a:r>
            <a:r>
              <a:rPr lang="en-US" dirty="0">
                <a:sym typeface="Wingdings"/>
              </a:rPr>
              <a:t></a:t>
            </a:r>
            <a:r>
              <a:rPr lang="en-US" dirty="0"/>
              <a:t> CWND/2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CWND 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</a:t>
            </a:r>
            <a:r>
              <a:rPr lang="en-US" dirty="0">
                <a:solidFill>
                  <a:srgbClr val="0000FF"/>
                </a:solidFill>
              </a:rPr>
              <a:t> 1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6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Event: dupACK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dupACKcount</a:t>
            </a:r>
            <a:r>
              <a:rPr lang="en-US" dirty="0"/>
              <a:t> ++ </a:t>
            </a:r>
          </a:p>
          <a:p>
            <a:r>
              <a:rPr lang="en-US" dirty="0"/>
              <a:t>If </a:t>
            </a:r>
            <a:r>
              <a:rPr lang="en-US" dirty="0" err="1"/>
              <a:t>dupACKcount</a:t>
            </a:r>
            <a:r>
              <a:rPr lang="en-US" dirty="0"/>
              <a:t> =</a:t>
            </a:r>
            <a:r>
              <a:rPr lang="en-US" altLang="zh-CN" dirty="0"/>
              <a:t>=</a:t>
            </a:r>
            <a:r>
              <a:rPr lang="en-US" dirty="0"/>
              <a:t> 3 </a:t>
            </a:r>
            <a:r>
              <a:rPr lang="en-US" dirty="0">
                <a:solidFill>
                  <a:srgbClr val="0000FF"/>
                </a:solidFill>
              </a:rPr>
              <a:t>/* fast retransmit  */ </a:t>
            </a:r>
          </a:p>
          <a:p>
            <a:pPr lvl="1"/>
            <a:r>
              <a:rPr lang="en-US" dirty="0" err="1"/>
              <a:t>ssthresh</a:t>
            </a:r>
            <a:r>
              <a:rPr lang="en-US" dirty="0"/>
              <a:t> = CWND/2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CWND = CWND/2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3427" name="Freeform 3"/>
          <p:cNvSpPr>
            <a:spLocks/>
          </p:cNvSpPr>
          <p:nvPr/>
        </p:nvSpPr>
        <p:spPr bwMode="auto">
          <a:xfrm>
            <a:off x="914400" y="2035175"/>
            <a:ext cx="7010400" cy="2819400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28" name="Freeform 4"/>
          <p:cNvSpPr>
            <a:spLocks/>
          </p:cNvSpPr>
          <p:nvPr/>
        </p:nvSpPr>
        <p:spPr bwMode="auto">
          <a:xfrm>
            <a:off x="914400" y="3406775"/>
            <a:ext cx="1828800" cy="1371600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29" name="Text Box 5"/>
          <p:cNvSpPr txBox="1">
            <a:spLocks noChangeArrowheads="1"/>
          </p:cNvSpPr>
          <p:nvPr/>
        </p:nvSpPr>
        <p:spPr bwMode="auto">
          <a:xfrm>
            <a:off x="7504113" y="4876800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 i="1">
                <a:latin typeface="Times New Roman" charset="0"/>
              </a:rPr>
              <a:t>t</a:t>
            </a:r>
          </a:p>
        </p:txBody>
      </p:sp>
      <p:sp>
        <p:nvSpPr>
          <p:cNvPr id="103430" name="Text Box 6"/>
          <p:cNvSpPr txBox="1">
            <a:spLocks noChangeArrowheads="1"/>
          </p:cNvSpPr>
          <p:nvPr/>
        </p:nvSpPr>
        <p:spPr bwMode="auto">
          <a:xfrm>
            <a:off x="341313" y="1501775"/>
            <a:ext cx="1182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 i="1">
                <a:latin typeface="Times New Roman" charset="0"/>
              </a:rPr>
              <a:t>Window</a:t>
            </a:r>
          </a:p>
        </p:txBody>
      </p:sp>
      <p:sp>
        <p:nvSpPr>
          <p:cNvPr id="986119" name="Text Box 7"/>
          <p:cNvSpPr txBox="1">
            <a:spLocks noChangeArrowheads="1"/>
          </p:cNvSpPr>
          <p:nvPr/>
        </p:nvSpPr>
        <p:spPr bwMode="auto">
          <a:xfrm>
            <a:off x="655638" y="5528203"/>
            <a:ext cx="78327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400" b="0" dirty="0">
                <a:solidFill>
                  <a:srgbClr val="0000FF"/>
                </a:solidFill>
                <a:latin typeface="Arial" charset="0"/>
              </a:rPr>
              <a:t>Slow-start restart:</a:t>
            </a:r>
            <a:r>
              <a:rPr lang="en-US" sz="2400" b="0" dirty="0">
                <a:latin typeface="Arial" charset="0"/>
              </a:rPr>
              <a:t> Go back to CWND = 1 MSS, but take advantage of knowing the previous value of CWND</a:t>
            </a:r>
          </a:p>
        </p:txBody>
      </p:sp>
      <p:sp>
        <p:nvSpPr>
          <p:cNvPr id="103432" name="Freeform 8"/>
          <p:cNvSpPr>
            <a:spLocks/>
          </p:cNvSpPr>
          <p:nvPr/>
        </p:nvSpPr>
        <p:spPr bwMode="auto">
          <a:xfrm>
            <a:off x="2743200" y="2873375"/>
            <a:ext cx="2667000" cy="1524000"/>
          </a:xfrm>
          <a:custGeom>
            <a:avLst/>
            <a:gdLst>
              <a:gd name="T0" fmla="*/ 0 w 1680"/>
              <a:gd name="T1" fmla="*/ 2147483647 h 960"/>
              <a:gd name="T2" fmla="*/ 0 w 1680"/>
              <a:gd name="T3" fmla="*/ 2147483647 h 960"/>
              <a:gd name="T4" fmla="*/ 2147483647 w 1680"/>
              <a:gd name="T5" fmla="*/ 2147483647 h 960"/>
              <a:gd name="T6" fmla="*/ 2147483647 w 1680"/>
              <a:gd name="T7" fmla="*/ 2147483647 h 960"/>
              <a:gd name="T8" fmla="*/ 2147483647 w 1680"/>
              <a:gd name="T9" fmla="*/ 0 h 9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960"/>
              <a:gd name="T17" fmla="*/ 1680 w 1680"/>
              <a:gd name="T18" fmla="*/ 960 h 9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960">
                <a:moveTo>
                  <a:pt x="0" y="336"/>
                </a:moveTo>
                <a:lnTo>
                  <a:pt x="0" y="816"/>
                </a:lnTo>
                <a:lnTo>
                  <a:pt x="384" y="528"/>
                </a:lnTo>
                <a:lnTo>
                  <a:pt x="384" y="960"/>
                </a:lnTo>
                <a:lnTo>
                  <a:pt x="1680" y="0"/>
                </a:lnTo>
              </a:path>
            </a:pathLst>
          </a:cu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3" name="Line 9"/>
          <p:cNvSpPr>
            <a:spLocks noChangeShapeType="1"/>
          </p:cNvSpPr>
          <p:nvPr/>
        </p:nvSpPr>
        <p:spPr bwMode="auto">
          <a:xfrm>
            <a:off x="5410200" y="2873375"/>
            <a:ext cx="0" cy="19812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828800" y="3852864"/>
            <a:ext cx="4711700" cy="1709738"/>
            <a:chOff x="1152" y="2379"/>
            <a:chExt cx="2968" cy="1077"/>
          </a:xfrm>
        </p:grpSpPr>
        <p:sp>
          <p:nvSpPr>
            <p:cNvPr id="103450" name="Freeform 11"/>
            <p:cNvSpPr>
              <a:spLocks/>
            </p:cNvSpPr>
            <p:nvPr/>
          </p:nvSpPr>
          <p:spPr bwMode="auto">
            <a:xfrm>
              <a:off x="3544" y="2379"/>
              <a:ext cx="576" cy="624"/>
            </a:xfrm>
            <a:custGeom>
              <a:avLst/>
              <a:gdLst>
                <a:gd name="T0" fmla="*/ 36 w 1152"/>
                <a:gd name="T1" fmla="*/ 0 h 864"/>
                <a:gd name="T2" fmla="*/ 33 w 1152"/>
                <a:gd name="T3" fmla="*/ 66 h 864"/>
                <a:gd name="T4" fmla="*/ 26 w 1152"/>
                <a:gd name="T5" fmla="*/ 123 h 864"/>
                <a:gd name="T6" fmla="*/ 12 w 1152"/>
                <a:gd name="T7" fmla="*/ 160 h 864"/>
                <a:gd name="T8" fmla="*/ 0 w 1152"/>
                <a:gd name="T9" fmla="*/ 170 h 8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2"/>
                <a:gd name="T16" fmla="*/ 0 h 864"/>
                <a:gd name="T17" fmla="*/ 1152 w 1152"/>
                <a:gd name="T18" fmla="*/ 864 h 8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2" h="864">
                  <a:moveTo>
                    <a:pt x="1152" y="0"/>
                  </a:moveTo>
                  <a:cubicBezTo>
                    <a:pt x="1132" y="116"/>
                    <a:pt x="1112" y="232"/>
                    <a:pt x="1056" y="336"/>
                  </a:cubicBezTo>
                  <a:cubicBezTo>
                    <a:pt x="1000" y="440"/>
                    <a:pt x="928" y="544"/>
                    <a:pt x="816" y="624"/>
                  </a:cubicBezTo>
                  <a:cubicBezTo>
                    <a:pt x="704" y="704"/>
                    <a:pt x="520" y="776"/>
                    <a:pt x="384" y="816"/>
                  </a:cubicBezTo>
                  <a:cubicBezTo>
                    <a:pt x="248" y="856"/>
                    <a:pt x="124" y="860"/>
                    <a:pt x="0" y="864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03451" name="AutoShape 12"/>
            <p:cNvSpPr>
              <a:spLocks noChangeArrowheads="1"/>
            </p:cNvSpPr>
            <p:nvPr/>
          </p:nvSpPr>
          <p:spPr bwMode="auto">
            <a:xfrm>
              <a:off x="1152" y="2880"/>
              <a:ext cx="1824" cy="576"/>
            </a:xfrm>
            <a:prstGeom prst="wedgeRectCallout">
              <a:avLst>
                <a:gd name="adj1" fmla="val 106361"/>
                <a:gd name="adj2" fmla="val -71009"/>
              </a:avLst>
            </a:prstGeom>
            <a:solidFill>
              <a:srgbClr val="D3A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/>
              <a:r>
                <a:rPr lang="en-US" sz="1600" b="0" dirty="0">
                  <a:ea typeface="Arial" charset="0"/>
                  <a:cs typeface="Arial" charset="0"/>
                </a:rPr>
                <a:t>Slow start in operation until it reaches half of previous CWND, i.e., </a:t>
              </a:r>
              <a:r>
                <a:rPr lang="en-US" sz="1600" b="0" i="1" dirty="0">
                  <a:ea typeface="Arial" charset="0"/>
                  <a:cs typeface="Arial" charset="0"/>
                </a:rPr>
                <a:t>SSTHRESH</a:t>
              </a:r>
              <a:endParaRPr lang="en-US" sz="1600" b="0" dirty="0">
                <a:ea typeface="Arial" charset="0"/>
                <a:cs typeface="Arial" charset="0"/>
              </a:endParaRP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724400" y="3171748"/>
            <a:ext cx="4114800" cy="1452562"/>
            <a:chOff x="2976" y="1965"/>
            <a:chExt cx="2592" cy="915"/>
          </a:xfrm>
        </p:grpSpPr>
        <p:sp>
          <p:nvSpPr>
            <p:cNvPr id="103447" name="Freeform 14"/>
            <p:cNvSpPr>
              <a:spLocks/>
            </p:cNvSpPr>
            <p:nvPr/>
          </p:nvSpPr>
          <p:spPr bwMode="auto">
            <a:xfrm>
              <a:off x="4560" y="1965"/>
              <a:ext cx="1008" cy="624"/>
            </a:xfrm>
            <a:custGeom>
              <a:avLst/>
              <a:gdLst>
                <a:gd name="T0" fmla="*/ 0 w 1008"/>
                <a:gd name="T1" fmla="*/ 0 h 624"/>
                <a:gd name="T2" fmla="*/ 0 w 1008"/>
                <a:gd name="T3" fmla="*/ 624 h 624"/>
                <a:gd name="T4" fmla="*/ 720 w 1008"/>
                <a:gd name="T5" fmla="*/ 48 h 624"/>
                <a:gd name="T6" fmla="*/ 720 w 1008"/>
                <a:gd name="T7" fmla="*/ 576 h 624"/>
                <a:gd name="T8" fmla="*/ 1008 w 1008"/>
                <a:gd name="T9" fmla="*/ 336 h 6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8"/>
                <a:gd name="T16" fmla="*/ 0 h 624"/>
                <a:gd name="T17" fmla="*/ 1008 w 1008"/>
                <a:gd name="T18" fmla="*/ 624 h 6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8" h="624">
                  <a:moveTo>
                    <a:pt x="0" y="0"/>
                  </a:moveTo>
                  <a:lnTo>
                    <a:pt x="0" y="624"/>
                  </a:lnTo>
                  <a:lnTo>
                    <a:pt x="720" y="48"/>
                  </a:lnTo>
                  <a:lnTo>
                    <a:pt x="720" y="576"/>
                  </a:lnTo>
                  <a:lnTo>
                    <a:pt x="1008" y="336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48" name="Line 15"/>
            <p:cNvSpPr>
              <a:spLocks noChangeShapeType="1"/>
            </p:cNvSpPr>
            <p:nvPr/>
          </p:nvSpPr>
          <p:spPr bwMode="auto">
            <a:xfrm flipV="1">
              <a:off x="4128" y="1968"/>
              <a:ext cx="432" cy="43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49" name="Line 16"/>
            <p:cNvSpPr>
              <a:spLocks noChangeShapeType="1"/>
            </p:cNvSpPr>
            <p:nvPr/>
          </p:nvSpPr>
          <p:spPr bwMode="auto">
            <a:xfrm flipV="1">
              <a:off x="2976" y="2352"/>
              <a:ext cx="1136" cy="52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5105400" y="1816100"/>
            <a:ext cx="1411288" cy="1079500"/>
            <a:chOff x="3216" y="1144"/>
            <a:chExt cx="889" cy="680"/>
          </a:xfrm>
        </p:grpSpPr>
        <p:sp>
          <p:nvSpPr>
            <p:cNvPr id="103444" name="Line 18"/>
            <p:cNvSpPr>
              <a:spLocks noChangeShapeType="1"/>
            </p:cNvSpPr>
            <p:nvPr/>
          </p:nvSpPr>
          <p:spPr bwMode="auto">
            <a:xfrm flipH="1">
              <a:off x="3485" y="1344"/>
              <a:ext cx="163" cy="46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45" name="Text Box 19"/>
            <p:cNvSpPr txBox="1">
              <a:spLocks noChangeArrowheads="1"/>
            </p:cNvSpPr>
            <p:nvPr/>
          </p:nvSpPr>
          <p:spPr bwMode="auto">
            <a:xfrm>
              <a:off x="3216" y="1144"/>
              <a:ext cx="88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>
                  <a:latin typeface="Arial" charset="0"/>
                </a:rPr>
                <a:t>Timeout</a:t>
              </a:r>
            </a:p>
          </p:txBody>
        </p:sp>
        <p:sp>
          <p:nvSpPr>
            <p:cNvPr id="103446" name="Line 20"/>
            <p:cNvSpPr>
              <a:spLocks noChangeShapeType="1"/>
            </p:cNvSpPr>
            <p:nvPr/>
          </p:nvSpPr>
          <p:spPr bwMode="auto">
            <a:xfrm>
              <a:off x="3408" y="182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1981200" y="1981200"/>
            <a:ext cx="2362200" cy="2425700"/>
            <a:chOff x="1248" y="1248"/>
            <a:chExt cx="1488" cy="1528"/>
          </a:xfrm>
        </p:grpSpPr>
        <p:sp>
          <p:nvSpPr>
            <p:cNvPr id="103441" name="Text Box 22"/>
            <p:cNvSpPr txBox="1">
              <a:spLocks noChangeArrowheads="1"/>
            </p:cNvSpPr>
            <p:nvPr/>
          </p:nvSpPr>
          <p:spPr bwMode="auto">
            <a:xfrm>
              <a:off x="1248" y="1248"/>
              <a:ext cx="148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>
                  <a:latin typeface="Arial" charset="0"/>
                </a:rPr>
                <a:t>Fast Retransmission</a:t>
              </a:r>
            </a:p>
          </p:txBody>
        </p:sp>
        <p:cxnSp>
          <p:nvCxnSpPr>
            <p:cNvPr id="103442" name="AutoShape 23"/>
            <p:cNvCxnSpPr>
              <a:cxnSpLocks noChangeShapeType="1"/>
              <a:stCxn id="103441" idx="2"/>
              <a:endCxn id="103432" idx="1"/>
            </p:cNvCxnSpPr>
            <p:nvPr/>
          </p:nvCxnSpPr>
          <p:spPr bwMode="auto">
            <a:xfrm flipH="1">
              <a:off x="1722" y="1690"/>
              <a:ext cx="270" cy="936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03443" name="AutoShape 24"/>
            <p:cNvCxnSpPr>
              <a:cxnSpLocks noChangeShapeType="1"/>
              <a:stCxn id="103441" idx="2"/>
              <a:endCxn id="103432" idx="3"/>
            </p:cNvCxnSpPr>
            <p:nvPr/>
          </p:nvCxnSpPr>
          <p:spPr bwMode="auto">
            <a:xfrm>
              <a:off x="1992" y="1690"/>
              <a:ext cx="120" cy="1086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5410200" y="1905000"/>
            <a:ext cx="2895600" cy="1981200"/>
            <a:chOff x="3408" y="1200"/>
            <a:chExt cx="1824" cy="1248"/>
          </a:xfrm>
        </p:grpSpPr>
        <p:sp>
          <p:nvSpPr>
            <p:cNvPr id="103439" name="Line 26"/>
            <p:cNvSpPr>
              <a:spLocks noChangeShapeType="1"/>
            </p:cNvSpPr>
            <p:nvPr/>
          </p:nvSpPr>
          <p:spPr bwMode="auto">
            <a:xfrm flipH="1">
              <a:off x="3408" y="1632"/>
              <a:ext cx="1152" cy="81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40" name="Text Box 27"/>
            <p:cNvSpPr txBox="1">
              <a:spLocks noChangeArrowheads="1"/>
            </p:cNvSpPr>
            <p:nvPr/>
          </p:nvSpPr>
          <p:spPr bwMode="auto">
            <a:xfrm>
              <a:off x="4080" y="1200"/>
              <a:ext cx="115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>
                  <a:latin typeface="Arial" charset="0"/>
                </a:rPr>
                <a:t>SSThresh</a:t>
              </a:r>
            </a:p>
            <a:p>
              <a:pPr algn="ctr" eaLnBrk="1" hangingPunct="1"/>
              <a:r>
                <a:rPr lang="en-US">
                  <a:latin typeface="Arial" charset="0"/>
                </a:rPr>
                <a:t>Set to 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710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61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Not done yet!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Problem</a:t>
            </a:r>
            <a:r>
              <a:rPr lang="en-US" dirty="0"/>
              <a:t>: congestion avoidance too slow in recovering from an isolated loss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39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TCP connection with:</a:t>
            </a:r>
          </a:p>
          <a:p>
            <a:pPr lvl="1"/>
            <a:r>
              <a:rPr lang="en-US" dirty="0"/>
              <a:t>CWND=10 packets</a:t>
            </a:r>
          </a:p>
          <a:p>
            <a:pPr lvl="1"/>
            <a:r>
              <a:rPr lang="en-US" dirty="0"/>
              <a:t>Last ACK was for packet #101</a:t>
            </a:r>
          </a:p>
          <a:p>
            <a:pPr lvl="2"/>
            <a:r>
              <a:rPr lang="en-US" dirty="0"/>
              <a:t>i.e., receiver expecting next packet to have seq. no. 101</a:t>
            </a:r>
          </a:p>
          <a:p>
            <a:r>
              <a:rPr lang="en-US" dirty="0"/>
              <a:t>10 packets [101, 102, 103,…, 110] are in flight</a:t>
            </a:r>
          </a:p>
          <a:p>
            <a:pPr lvl="1"/>
            <a:r>
              <a:rPr lang="en-US" dirty="0"/>
              <a:t>Packet 101 is dropped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7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Timeline: [</a:t>
            </a:r>
            <a:r>
              <a:rPr lang="en-US" dirty="0">
                <a:solidFill>
                  <a:srgbClr val="D3A600"/>
                </a:solidFill>
              </a:rPr>
              <a:t>101</a:t>
            </a:r>
            <a:r>
              <a:rPr lang="en-US" dirty="0"/>
              <a:t>, 102, …, 110]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ACK 101 (due to 102)  </a:t>
            </a:r>
            <a:r>
              <a:rPr lang="en-US" sz="2000" dirty="0" err="1"/>
              <a:t>cwnd</a:t>
            </a:r>
            <a:r>
              <a:rPr lang="en-US" sz="2000" dirty="0"/>
              <a:t>=10  dupACK#1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/>
              <a:t>ACK 101 (due to 103)  </a:t>
            </a:r>
            <a:r>
              <a:rPr lang="en-US" sz="2000" dirty="0" err="1"/>
              <a:t>cwnd</a:t>
            </a:r>
            <a:r>
              <a:rPr lang="en-US" sz="2000" dirty="0"/>
              <a:t>=10  dupACK#2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/>
              <a:t>ACK 101 (due to 104)  </a:t>
            </a:r>
            <a:r>
              <a:rPr lang="en-US" sz="2000" dirty="0" err="1"/>
              <a:t>cwnd</a:t>
            </a:r>
            <a:r>
              <a:rPr lang="en-US" sz="2000" dirty="0"/>
              <a:t>=10  dupACK#3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>
                <a:solidFill>
                  <a:srgbClr val="0000FF"/>
                </a:solidFill>
              </a:rPr>
              <a:t>RETRANSMIT 101 </a:t>
            </a:r>
            <a:r>
              <a:rPr lang="en-US" sz="2000" dirty="0" err="1">
                <a:solidFill>
                  <a:srgbClr val="0000FF"/>
                </a:solidFill>
              </a:rPr>
              <a:t>ssthresh</a:t>
            </a:r>
            <a:r>
              <a:rPr lang="en-US" sz="2000" dirty="0">
                <a:solidFill>
                  <a:srgbClr val="0000FF"/>
                </a:solidFill>
              </a:rPr>
              <a:t>=5  </a:t>
            </a:r>
            <a:r>
              <a:rPr lang="en-US" sz="2000" dirty="0" err="1">
                <a:solidFill>
                  <a:srgbClr val="0000FF"/>
                </a:solidFill>
              </a:rPr>
              <a:t>cwnd</a:t>
            </a:r>
            <a:r>
              <a:rPr lang="en-US" sz="2000" dirty="0">
                <a:solidFill>
                  <a:srgbClr val="0000FF"/>
                </a:solidFill>
              </a:rPr>
              <a:t>= 5</a:t>
            </a:r>
          </a:p>
          <a:p>
            <a:r>
              <a:rPr lang="en-US" sz="2000" dirty="0"/>
              <a:t>ACK 101 (due to 105)  </a:t>
            </a:r>
            <a:r>
              <a:rPr lang="en-US" sz="2000" dirty="0" err="1"/>
              <a:t>cwnd</a:t>
            </a:r>
            <a:r>
              <a:rPr lang="en-US" sz="2000" dirty="0"/>
              <a:t>=5 + 1/5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/>
              <a:t>ACK 101 (due to 106)  </a:t>
            </a:r>
            <a:r>
              <a:rPr lang="en-US" sz="2000" dirty="0" err="1"/>
              <a:t>cwnd</a:t>
            </a:r>
            <a:r>
              <a:rPr lang="en-US" sz="2000" dirty="0"/>
              <a:t>=5 + 2/5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/>
              <a:t>ACK 101 (due to 107)  </a:t>
            </a:r>
            <a:r>
              <a:rPr lang="en-US" sz="2000" dirty="0" err="1"/>
              <a:t>cwnd</a:t>
            </a:r>
            <a:r>
              <a:rPr lang="en-US" sz="2000" dirty="0"/>
              <a:t>=5 + 3/5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/>
              <a:t>ACK 101 (due to 108)  </a:t>
            </a:r>
            <a:r>
              <a:rPr lang="en-US" sz="2000" dirty="0" err="1"/>
              <a:t>cwnd</a:t>
            </a:r>
            <a:r>
              <a:rPr lang="en-US" sz="2000" dirty="0"/>
              <a:t>=5 + 4/5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/>
              <a:t>ACK 101 (due to 109)  </a:t>
            </a:r>
            <a:r>
              <a:rPr lang="en-US" sz="2000" dirty="0" err="1"/>
              <a:t>cwnd</a:t>
            </a:r>
            <a:r>
              <a:rPr lang="en-US" sz="2000" dirty="0"/>
              <a:t>=5 + 5/5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/>
              <a:t>ACK 101 (due to 110)  </a:t>
            </a:r>
            <a:r>
              <a:rPr lang="en-US" sz="2000" dirty="0" err="1"/>
              <a:t>cwnd</a:t>
            </a:r>
            <a:r>
              <a:rPr lang="en-US" sz="2000" dirty="0"/>
              <a:t>=6 + 1/6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>
                <a:solidFill>
                  <a:srgbClr val="0000FF"/>
                </a:solidFill>
              </a:rPr>
              <a:t>ACK 111 (due to 101)  </a:t>
            </a:r>
            <a:r>
              <a:rPr lang="en-US" sz="2000" dirty="0">
                <a:solidFill>
                  <a:srgbClr val="0000FF"/>
                </a:solidFill>
                <a:sym typeface="Wingdings"/>
              </a:rPr>
              <a:t> only now can we transmit new packets</a:t>
            </a:r>
          </a:p>
          <a:p>
            <a:r>
              <a:rPr lang="en-US" sz="2000" dirty="0">
                <a:solidFill>
                  <a:srgbClr val="0000FF"/>
                </a:solidFill>
                <a:sym typeface="Wingdings"/>
              </a:rPr>
              <a:t>Plus no packets in flight so ACK “clocking” (to increase CWND) stalls for another RTT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472934" y="432137"/>
            <a:ext cx="7180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076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/>
              <a:t>Solution: Fast recovery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Idea: Grant the sender temporary “credit” for each dupACK so as to keep packets in flight</a:t>
            </a:r>
          </a:p>
          <a:p>
            <a:r>
              <a:rPr lang="en-US" dirty="0"/>
              <a:t>If </a:t>
            </a:r>
            <a:r>
              <a:rPr lang="en-US" dirty="0" err="1"/>
              <a:t>dupACKcount</a:t>
            </a:r>
            <a:r>
              <a:rPr lang="en-US"/>
              <a:t> =</a:t>
            </a:r>
            <a:r>
              <a:rPr lang="en-US" altLang="zh-CN"/>
              <a:t>=</a:t>
            </a:r>
            <a:r>
              <a:rPr lang="en-US"/>
              <a:t> </a:t>
            </a:r>
            <a:r>
              <a:rPr lang="en-US" dirty="0"/>
              <a:t>3 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ssthresh</a:t>
            </a:r>
            <a:r>
              <a:rPr lang="en-US" dirty="0"/>
              <a:t> = CWND/2</a:t>
            </a:r>
          </a:p>
          <a:p>
            <a:pPr lvl="1"/>
            <a:r>
              <a:rPr lang="en-US" dirty="0"/>
              <a:t> CWND = </a:t>
            </a:r>
            <a:r>
              <a:rPr lang="en-US" dirty="0" err="1"/>
              <a:t>ssthresh</a:t>
            </a:r>
            <a:r>
              <a:rPr lang="en-US" dirty="0">
                <a:solidFill>
                  <a:srgbClr val="0000FF"/>
                </a:solidFill>
              </a:rPr>
              <a:t> + 3</a:t>
            </a:r>
          </a:p>
          <a:p>
            <a:r>
              <a:rPr lang="en-US" dirty="0">
                <a:solidFill>
                  <a:srgbClr val="0000FF"/>
                </a:solidFill>
              </a:rPr>
              <a:t>While in fast recovery</a:t>
            </a:r>
          </a:p>
          <a:p>
            <a:pPr lvl="1"/>
            <a:r>
              <a:rPr lang="en-US" dirty="0"/>
              <a:t>CWND = CWND + 1 for each additional dupACK</a:t>
            </a:r>
          </a:p>
          <a:p>
            <a:r>
              <a:rPr lang="en-US" dirty="0">
                <a:solidFill>
                  <a:srgbClr val="0000FF"/>
                </a:solidFill>
              </a:rPr>
              <a:t>Exit fast recovery</a:t>
            </a:r>
            <a:r>
              <a:rPr lang="en-US" dirty="0"/>
              <a:t> after receiving new ACK</a:t>
            </a:r>
          </a:p>
          <a:p>
            <a:pPr lvl="1"/>
            <a:r>
              <a:rPr lang="en-US" dirty="0"/>
              <a:t>set CWND = </a:t>
            </a:r>
            <a:r>
              <a:rPr lang="en-US" dirty="0" err="1"/>
              <a:t>ssthresh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TCP connection with:</a:t>
            </a:r>
          </a:p>
          <a:p>
            <a:pPr lvl="1"/>
            <a:r>
              <a:rPr lang="en-US" dirty="0"/>
              <a:t>CWND=10 packets</a:t>
            </a:r>
          </a:p>
          <a:p>
            <a:pPr lvl="1"/>
            <a:r>
              <a:rPr lang="en-US" dirty="0"/>
              <a:t>Last ACK was for packet #101</a:t>
            </a:r>
          </a:p>
          <a:p>
            <a:pPr lvl="2"/>
            <a:r>
              <a:rPr lang="en-US" dirty="0"/>
              <a:t>i.e., receiver expecting next packet to have seq. no. 101</a:t>
            </a:r>
          </a:p>
          <a:p>
            <a:r>
              <a:rPr lang="en-US" dirty="0"/>
              <a:t>10 packets [101, 102, 103,…, 110] are in flight</a:t>
            </a:r>
          </a:p>
          <a:p>
            <a:pPr lvl="1"/>
            <a:r>
              <a:rPr lang="en-US" dirty="0"/>
              <a:t>Packet 101 is dropped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55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Timeline: [</a:t>
            </a:r>
            <a:r>
              <a:rPr lang="en-US" dirty="0">
                <a:solidFill>
                  <a:srgbClr val="D3A600"/>
                </a:solidFill>
              </a:rPr>
              <a:t>101</a:t>
            </a:r>
            <a:r>
              <a:rPr lang="en-US" dirty="0"/>
              <a:t>, 102, …, 110]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ACK 101 (due to 102)  </a:t>
            </a:r>
            <a:r>
              <a:rPr lang="en-US" sz="2000" dirty="0" err="1"/>
              <a:t>cwnd</a:t>
            </a:r>
            <a:r>
              <a:rPr lang="en-US" sz="2000" dirty="0"/>
              <a:t>=10  dup#1</a:t>
            </a:r>
          </a:p>
          <a:p>
            <a:r>
              <a:rPr lang="en-US" sz="2000" dirty="0"/>
              <a:t>ACK 101 (due to 103)  </a:t>
            </a:r>
            <a:r>
              <a:rPr lang="en-US" sz="2000" dirty="0" err="1"/>
              <a:t>cwnd</a:t>
            </a:r>
            <a:r>
              <a:rPr lang="en-US" sz="2000" dirty="0"/>
              <a:t>=10  dup#2</a:t>
            </a:r>
          </a:p>
          <a:p>
            <a:r>
              <a:rPr lang="en-US" sz="2000" dirty="0"/>
              <a:t>ACK 101 (due to 104)  </a:t>
            </a:r>
            <a:r>
              <a:rPr lang="en-US" sz="2000" dirty="0" err="1"/>
              <a:t>cwnd</a:t>
            </a:r>
            <a:r>
              <a:rPr lang="en-US" sz="2000" dirty="0"/>
              <a:t>=10  dup#3</a:t>
            </a:r>
          </a:p>
          <a:p>
            <a:r>
              <a:rPr lang="en-US" sz="2000" dirty="0">
                <a:solidFill>
                  <a:srgbClr val="0000FF"/>
                </a:solidFill>
              </a:rPr>
              <a:t>RETRANSMIT 101 </a:t>
            </a:r>
            <a:r>
              <a:rPr lang="en-US" sz="2000" dirty="0" err="1">
                <a:solidFill>
                  <a:srgbClr val="0000FF"/>
                </a:solidFill>
              </a:rPr>
              <a:t>ssthresh</a:t>
            </a:r>
            <a:r>
              <a:rPr lang="en-US" sz="2000" dirty="0">
                <a:solidFill>
                  <a:srgbClr val="0000FF"/>
                </a:solidFill>
              </a:rPr>
              <a:t>=5  </a:t>
            </a:r>
            <a:r>
              <a:rPr lang="en-US" sz="2000" dirty="0" err="1">
                <a:solidFill>
                  <a:srgbClr val="0000FF"/>
                </a:solidFill>
              </a:rPr>
              <a:t>cwnd</a:t>
            </a:r>
            <a:r>
              <a:rPr lang="en-US" sz="2000" dirty="0">
                <a:solidFill>
                  <a:srgbClr val="0000FF"/>
                </a:solidFill>
              </a:rPr>
              <a:t>= 8 (5+3)</a:t>
            </a:r>
          </a:p>
          <a:p>
            <a:r>
              <a:rPr lang="en-US" sz="2000" dirty="0"/>
              <a:t>ACK 101 (due to 105)  </a:t>
            </a:r>
            <a:r>
              <a:rPr lang="en-US" sz="2000" dirty="0" err="1"/>
              <a:t>cwnd</a:t>
            </a:r>
            <a:r>
              <a:rPr lang="en-US" sz="2000" dirty="0"/>
              <a:t>= 9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/>
              <a:t>ACK 101 (due to 106)  </a:t>
            </a:r>
            <a:r>
              <a:rPr lang="en-US" sz="2000" dirty="0" err="1"/>
              <a:t>cwnd</a:t>
            </a:r>
            <a:r>
              <a:rPr lang="en-US" sz="2000" dirty="0"/>
              <a:t>=10 (no </a:t>
            </a:r>
            <a:r>
              <a:rPr lang="en-US" sz="2000" dirty="0" err="1"/>
              <a:t>xmit</a:t>
            </a:r>
            <a:r>
              <a:rPr lang="en-US" sz="2000" dirty="0"/>
              <a:t>)</a:t>
            </a:r>
          </a:p>
          <a:p>
            <a:r>
              <a:rPr lang="en-US" sz="2000" dirty="0"/>
              <a:t>ACK 101 (due to 107)  </a:t>
            </a:r>
            <a:r>
              <a:rPr lang="en-US" sz="2000" dirty="0" err="1"/>
              <a:t>cwnd</a:t>
            </a:r>
            <a:r>
              <a:rPr lang="en-US" sz="2000" dirty="0"/>
              <a:t>=11 (</a:t>
            </a:r>
            <a:r>
              <a:rPr lang="en-US" sz="2000" dirty="0" err="1"/>
              <a:t>xmit</a:t>
            </a:r>
            <a:r>
              <a:rPr lang="en-US" sz="2000" dirty="0"/>
              <a:t> 111)</a:t>
            </a:r>
          </a:p>
          <a:p>
            <a:r>
              <a:rPr lang="en-US" sz="2000" dirty="0"/>
              <a:t>ACK 101 (due to 108)  </a:t>
            </a:r>
            <a:r>
              <a:rPr lang="en-US" sz="2000" dirty="0" err="1"/>
              <a:t>cwnd</a:t>
            </a:r>
            <a:r>
              <a:rPr lang="en-US" sz="2000" dirty="0"/>
              <a:t>=12 (</a:t>
            </a:r>
            <a:r>
              <a:rPr lang="en-US" sz="2000" dirty="0" err="1"/>
              <a:t>xmit</a:t>
            </a:r>
            <a:r>
              <a:rPr lang="en-US" sz="2000" dirty="0"/>
              <a:t> 112)</a:t>
            </a:r>
          </a:p>
          <a:p>
            <a:r>
              <a:rPr lang="en-US" sz="2000" dirty="0"/>
              <a:t>ACK 101 (due to 109)  </a:t>
            </a:r>
            <a:r>
              <a:rPr lang="en-US" sz="2000" dirty="0" err="1"/>
              <a:t>cwnd</a:t>
            </a:r>
            <a:r>
              <a:rPr lang="en-US" sz="2000" dirty="0"/>
              <a:t>=13 (</a:t>
            </a:r>
            <a:r>
              <a:rPr lang="en-US" sz="2000" dirty="0" err="1"/>
              <a:t>xmit</a:t>
            </a:r>
            <a:r>
              <a:rPr lang="en-US" sz="2000" dirty="0"/>
              <a:t> 113)</a:t>
            </a:r>
          </a:p>
          <a:p>
            <a:r>
              <a:rPr lang="en-US" sz="2000" dirty="0"/>
              <a:t>ACK 101 (due to 110)  </a:t>
            </a:r>
            <a:r>
              <a:rPr lang="en-US" sz="2000" dirty="0" err="1"/>
              <a:t>cwnd</a:t>
            </a:r>
            <a:r>
              <a:rPr lang="en-US" sz="2000" dirty="0"/>
              <a:t>=14 (</a:t>
            </a:r>
            <a:r>
              <a:rPr lang="en-US" sz="2000" dirty="0" err="1"/>
              <a:t>xmit</a:t>
            </a:r>
            <a:r>
              <a:rPr lang="en-US" sz="2000" dirty="0"/>
              <a:t> 114)</a:t>
            </a:r>
          </a:p>
          <a:p>
            <a:r>
              <a:rPr lang="en-US" sz="2000" dirty="0">
                <a:solidFill>
                  <a:srgbClr val="0000FF"/>
                </a:solidFill>
              </a:rPr>
              <a:t>ACK 111 (due to 101) </a:t>
            </a:r>
            <a:r>
              <a:rPr lang="en-US" sz="2000" dirty="0" err="1">
                <a:solidFill>
                  <a:srgbClr val="0000FF"/>
                </a:solidFill>
              </a:rPr>
              <a:t>cwnd</a:t>
            </a:r>
            <a:r>
              <a:rPr lang="en-US" sz="2000" dirty="0">
                <a:solidFill>
                  <a:srgbClr val="0000FF"/>
                </a:solidFill>
              </a:rPr>
              <a:t> = 5 (</a:t>
            </a:r>
            <a:r>
              <a:rPr lang="en-US" sz="2000" dirty="0" err="1">
                <a:solidFill>
                  <a:srgbClr val="0000FF"/>
                </a:solidFill>
              </a:rPr>
              <a:t>xmit</a:t>
            </a:r>
            <a:r>
              <a:rPr lang="en-US" sz="2000" dirty="0">
                <a:solidFill>
                  <a:srgbClr val="0000FF"/>
                </a:solidFill>
              </a:rPr>
              <a:t> 115)  </a:t>
            </a:r>
            <a:r>
              <a:rPr lang="en-US" sz="2000" dirty="0">
                <a:solidFill>
                  <a:srgbClr val="0000FF"/>
                </a:solidFill>
                <a:sym typeface="Wingdings"/>
              </a:rPr>
              <a:t> exiting fast recovery</a:t>
            </a:r>
          </a:p>
          <a:p>
            <a:r>
              <a:rPr lang="en-US" sz="2000" dirty="0">
                <a:solidFill>
                  <a:srgbClr val="0000FF"/>
                </a:solidFill>
                <a:sym typeface="Wingdings"/>
              </a:rPr>
              <a:t>Packets 111-114 already in flight</a:t>
            </a:r>
          </a:p>
          <a:p>
            <a:r>
              <a:rPr lang="en-US" sz="2000" dirty="0">
                <a:sym typeface="Wingdings"/>
              </a:rPr>
              <a:t>ACK 112 (due to 111) </a:t>
            </a:r>
            <a:r>
              <a:rPr lang="en-US" sz="2000" dirty="0" err="1">
                <a:sym typeface="Wingdings"/>
              </a:rPr>
              <a:t>cwnd</a:t>
            </a:r>
            <a:r>
              <a:rPr lang="en-US" sz="2000" dirty="0">
                <a:sym typeface="Wingdings"/>
              </a:rPr>
              <a:t> = 5 + 1/5   back in cong. avoidance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472934" y="432137"/>
            <a:ext cx="7180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sz="6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8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TCP state machine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Oval 3"/>
          <p:cNvSpPr/>
          <p:nvPr/>
        </p:nvSpPr>
        <p:spPr bwMode="auto">
          <a:xfrm>
            <a:off x="1752600" y="2057400"/>
            <a:ext cx="1295400" cy="11430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low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Start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6172200" y="19812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C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ong.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Avoid</a:t>
            </a:r>
            <a:r>
              <a:rPr lang="en-US" sz="2000" dirty="0">
                <a:ea typeface="Arial" charset="0"/>
                <a:cs typeface="Arial" charset="0"/>
              </a:rPr>
              <a:t>.</a:t>
            </a:r>
            <a:endParaRPr kumimoji="0" 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Arial" charset="0"/>
              <a:cs typeface="Arial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038600" y="51816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F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ast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Recovery</a:t>
            </a:r>
          </a:p>
        </p:txBody>
      </p:sp>
      <p:cxnSp>
        <p:nvCxnSpPr>
          <p:cNvPr id="9" name="Straight Arrow Connector 8"/>
          <p:cNvCxnSpPr>
            <a:stCxn id="4" idx="6"/>
            <a:endCxn id="6" idx="2"/>
          </p:cNvCxnSpPr>
          <p:nvPr/>
        </p:nvCxnSpPr>
        <p:spPr bwMode="auto">
          <a:xfrm flipV="1">
            <a:off x="3048000" y="2590800"/>
            <a:ext cx="3124200" cy="381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3608636" y="2252246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CWND &gt; </a:t>
            </a:r>
            <a:r>
              <a:rPr lang="en-US" b="0" i="1" dirty="0" err="1">
                <a:latin typeface="+mn-lt"/>
              </a:rPr>
              <a:t>ssthresh</a:t>
            </a:r>
            <a:endParaRPr lang="en-US" b="0" i="1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86200" y="2785646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cxnSp>
        <p:nvCxnSpPr>
          <p:cNvPr id="14" name="Straight Arrow Connector 13"/>
          <p:cNvCxnSpPr/>
          <p:nvPr/>
        </p:nvCxnSpPr>
        <p:spPr bwMode="auto">
          <a:xfrm flipH="1">
            <a:off x="3048000" y="2743200"/>
            <a:ext cx="31242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>
            <a:off x="2505027" y="3159264"/>
            <a:ext cx="1609773" cy="247953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H="1">
            <a:off x="5257800" y="3200400"/>
            <a:ext cx="1600200" cy="22860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/>
          <p:nvPr/>
        </p:nvCxnSpPr>
        <p:spPr bwMode="auto">
          <a:xfrm flipV="1">
            <a:off x="5105400" y="3200400"/>
            <a:ext cx="1447800" cy="2057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>
            <a:stCxn id="7" idx="1"/>
          </p:cNvCxnSpPr>
          <p:nvPr/>
        </p:nvCxnSpPr>
        <p:spPr bwMode="auto">
          <a:xfrm flipH="1" flipV="1">
            <a:off x="2819400" y="3048000"/>
            <a:ext cx="1420066" cy="231214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2286000" y="4495800"/>
            <a:ext cx="1180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err="1">
                <a:latin typeface="+mn-lt"/>
              </a:rPr>
              <a:t>dupACK</a:t>
            </a:r>
            <a:r>
              <a:rPr lang="en-US" b="0" i="1" dirty="0">
                <a:latin typeface="+mn-lt"/>
              </a:rPr>
              <a:t>=3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2800" y="3733800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0" y="4038600"/>
            <a:ext cx="1180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err="1">
                <a:latin typeface="+mn-lt"/>
              </a:rPr>
              <a:t>dupACK</a:t>
            </a:r>
            <a:r>
              <a:rPr lang="en-US" b="0" i="1" dirty="0">
                <a:latin typeface="+mn-lt"/>
              </a:rPr>
              <a:t>=3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1082" y="3810000"/>
            <a:ext cx="1029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ACK</a:t>
            </a:r>
          </a:p>
        </p:txBody>
      </p:sp>
      <p:sp>
        <p:nvSpPr>
          <p:cNvPr id="37" name="Freeform 36"/>
          <p:cNvSpPr/>
          <p:nvPr/>
        </p:nvSpPr>
        <p:spPr>
          <a:xfrm rot="976329">
            <a:off x="3086564" y="5666362"/>
            <a:ext cx="1097328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33600" y="5749881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dupACK</a:t>
            </a:r>
          </a:p>
        </p:txBody>
      </p:sp>
      <p:sp>
        <p:nvSpPr>
          <p:cNvPr id="39" name="Freeform 38"/>
          <p:cNvSpPr/>
          <p:nvPr/>
        </p:nvSpPr>
        <p:spPr>
          <a:xfrm>
            <a:off x="883872" y="2667000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42682" y="3349823"/>
            <a:ext cx="1029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ACK</a:t>
            </a:r>
          </a:p>
        </p:txBody>
      </p:sp>
      <p:sp>
        <p:nvSpPr>
          <p:cNvPr id="41" name="Freeform 40"/>
          <p:cNvSpPr/>
          <p:nvPr/>
        </p:nvSpPr>
        <p:spPr>
          <a:xfrm rot="4557557">
            <a:off x="1283727" y="1501256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85800" y="1600200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sp>
        <p:nvSpPr>
          <p:cNvPr id="43" name="Freeform 42"/>
          <p:cNvSpPr/>
          <p:nvPr/>
        </p:nvSpPr>
        <p:spPr>
          <a:xfrm rot="10800000">
            <a:off x="7247054" y="1935809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183679" y="1929824"/>
            <a:ext cx="6174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</a:t>
            </a:r>
            <a:br>
              <a:rPr lang="en-US" b="0" i="1" dirty="0">
                <a:latin typeface="+mn-lt"/>
              </a:rPr>
            </a:br>
            <a:r>
              <a:rPr lang="en-US" b="0" i="1" dirty="0">
                <a:latin typeface="+mn-lt"/>
              </a:rPr>
              <a:t>ACK</a:t>
            </a:r>
          </a:p>
        </p:txBody>
      </p:sp>
      <p:sp>
        <p:nvSpPr>
          <p:cNvPr id="28" name="Freeform 27"/>
          <p:cNvSpPr/>
          <p:nvPr/>
        </p:nvSpPr>
        <p:spPr>
          <a:xfrm rot="1324048">
            <a:off x="1042966" y="2311961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2861" y="2209800"/>
            <a:ext cx="959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1">
                <a:latin typeface="+mn-lt"/>
              </a:rPr>
              <a:t>dupACK</a:t>
            </a:r>
            <a:endParaRPr lang="en-US" b="0" i="1" dirty="0">
              <a:latin typeface="+mn-lt"/>
            </a:endParaRPr>
          </a:p>
        </p:txBody>
      </p:sp>
      <p:sp>
        <p:nvSpPr>
          <p:cNvPr id="33" name="Freeform 32"/>
          <p:cNvSpPr/>
          <p:nvPr/>
        </p:nvSpPr>
        <p:spPr>
          <a:xfrm rot="15672660">
            <a:off x="6999475" y="3045120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619999" y="3093293"/>
            <a:ext cx="101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1" dirty="0">
                <a:latin typeface="+mn-lt"/>
              </a:rPr>
              <a:t>dupACK</a:t>
            </a:r>
          </a:p>
        </p:txBody>
      </p:sp>
    </p:spTree>
    <p:extLst>
      <p:ext uri="{BB962C8B-B14F-4D97-AF65-F5344CB8AC3E}">
        <p14:creationId xmlns:p14="http://schemas.microsoft.com/office/powerpoint/2010/main" val="1712269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Timeouts ➔ Slow Start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Oval 3"/>
          <p:cNvSpPr/>
          <p:nvPr/>
        </p:nvSpPr>
        <p:spPr bwMode="auto">
          <a:xfrm>
            <a:off x="1752600" y="2057400"/>
            <a:ext cx="1295400" cy="11430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low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Start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6172200" y="19812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C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ong.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Avoid</a:t>
            </a:r>
            <a:r>
              <a:rPr lang="en-US" sz="2000" dirty="0">
                <a:ea typeface="Arial" charset="0"/>
                <a:cs typeface="Arial" charset="0"/>
              </a:rPr>
              <a:t>.</a:t>
            </a:r>
            <a:endParaRPr kumimoji="0" 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Arial" charset="0"/>
              <a:cs typeface="Arial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038600" y="51816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F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ast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Recovery</a:t>
            </a:r>
          </a:p>
        </p:txBody>
      </p:sp>
      <p:cxnSp>
        <p:nvCxnSpPr>
          <p:cNvPr id="9" name="Straight Arrow Connector 8"/>
          <p:cNvCxnSpPr>
            <a:stCxn id="4" idx="6"/>
            <a:endCxn id="6" idx="2"/>
          </p:cNvCxnSpPr>
          <p:nvPr/>
        </p:nvCxnSpPr>
        <p:spPr bwMode="auto">
          <a:xfrm flipV="1">
            <a:off x="3048000" y="2590800"/>
            <a:ext cx="3124200" cy="381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3608636" y="2252246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CWND &gt; </a:t>
            </a:r>
            <a:r>
              <a:rPr lang="en-US" b="0" i="1" dirty="0" err="1">
                <a:latin typeface="+mn-lt"/>
              </a:rPr>
              <a:t>ssthresh</a:t>
            </a:r>
            <a:endParaRPr lang="en-US" b="0" i="1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86200" y="2785646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+mn-lt"/>
              </a:rPr>
              <a:t>timeout</a:t>
            </a:r>
          </a:p>
        </p:txBody>
      </p:sp>
      <p:cxnSp>
        <p:nvCxnSpPr>
          <p:cNvPr id="14" name="Straight Arrow Connector 13"/>
          <p:cNvCxnSpPr/>
          <p:nvPr/>
        </p:nvCxnSpPr>
        <p:spPr bwMode="auto">
          <a:xfrm flipH="1">
            <a:off x="3048000" y="2743200"/>
            <a:ext cx="31242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>
            <a:off x="2505027" y="3159264"/>
            <a:ext cx="1609773" cy="247953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H="1">
            <a:off x="5257800" y="3200400"/>
            <a:ext cx="1600200" cy="22860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/>
          <p:nvPr/>
        </p:nvCxnSpPr>
        <p:spPr bwMode="auto">
          <a:xfrm flipV="1">
            <a:off x="5105400" y="3200400"/>
            <a:ext cx="1447800" cy="2057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>
            <a:stCxn id="7" idx="1"/>
          </p:cNvCxnSpPr>
          <p:nvPr/>
        </p:nvCxnSpPr>
        <p:spPr bwMode="auto">
          <a:xfrm flipH="1" flipV="1">
            <a:off x="2819400" y="3048000"/>
            <a:ext cx="1420066" cy="231214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2286000" y="4495800"/>
            <a:ext cx="1180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err="1">
                <a:latin typeface="+mn-lt"/>
              </a:rPr>
              <a:t>dupACK</a:t>
            </a:r>
            <a:r>
              <a:rPr lang="en-US" b="0" i="1" dirty="0">
                <a:latin typeface="+mn-lt"/>
              </a:rPr>
              <a:t>=3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2800" y="3733800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+mn-lt"/>
              </a:rPr>
              <a:t>timeout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0" y="4038600"/>
            <a:ext cx="1180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err="1">
                <a:latin typeface="+mn-lt"/>
              </a:rPr>
              <a:t>dupACK</a:t>
            </a:r>
            <a:r>
              <a:rPr lang="en-US" b="0" i="1" dirty="0">
                <a:latin typeface="+mn-lt"/>
              </a:rPr>
              <a:t>=3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1082" y="3810000"/>
            <a:ext cx="1029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ACK</a:t>
            </a:r>
          </a:p>
        </p:txBody>
      </p:sp>
      <p:sp>
        <p:nvSpPr>
          <p:cNvPr id="37" name="Freeform 36"/>
          <p:cNvSpPr/>
          <p:nvPr/>
        </p:nvSpPr>
        <p:spPr>
          <a:xfrm rot="976329">
            <a:off x="3086564" y="5666362"/>
            <a:ext cx="1097328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33600" y="5749881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dupACK</a:t>
            </a:r>
          </a:p>
        </p:txBody>
      </p:sp>
      <p:sp>
        <p:nvSpPr>
          <p:cNvPr id="39" name="Freeform 38"/>
          <p:cNvSpPr/>
          <p:nvPr/>
        </p:nvSpPr>
        <p:spPr>
          <a:xfrm>
            <a:off x="883872" y="2667000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42682" y="3349823"/>
            <a:ext cx="1029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ACK</a:t>
            </a:r>
          </a:p>
        </p:txBody>
      </p:sp>
      <p:sp>
        <p:nvSpPr>
          <p:cNvPr id="41" name="Freeform 40"/>
          <p:cNvSpPr/>
          <p:nvPr/>
        </p:nvSpPr>
        <p:spPr>
          <a:xfrm rot="4557557">
            <a:off x="1283727" y="1501256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85800" y="1600200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+mn-lt"/>
              </a:rPr>
              <a:t>timeout</a:t>
            </a:r>
          </a:p>
        </p:txBody>
      </p:sp>
      <p:sp>
        <p:nvSpPr>
          <p:cNvPr id="43" name="Freeform 42"/>
          <p:cNvSpPr/>
          <p:nvPr/>
        </p:nvSpPr>
        <p:spPr>
          <a:xfrm rot="10800000">
            <a:off x="7247054" y="1935809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183679" y="1929824"/>
            <a:ext cx="6174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</a:t>
            </a:r>
            <a:br>
              <a:rPr lang="en-US" b="0" i="1" dirty="0">
                <a:latin typeface="+mn-lt"/>
              </a:rPr>
            </a:br>
            <a:r>
              <a:rPr lang="en-US" b="0" i="1" dirty="0">
                <a:latin typeface="+mn-lt"/>
              </a:rPr>
              <a:t>ACK</a:t>
            </a:r>
          </a:p>
        </p:txBody>
      </p:sp>
      <p:sp>
        <p:nvSpPr>
          <p:cNvPr id="28" name="Freeform 27"/>
          <p:cNvSpPr/>
          <p:nvPr/>
        </p:nvSpPr>
        <p:spPr>
          <a:xfrm rot="1324048">
            <a:off x="1042966" y="2311961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2861" y="2209800"/>
            <a:ext cx="959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1">
                <a:latin typeface="+mn-lt"/>
              </a:rPr>
              <a:t>dupACK</a:t>
            </a:r>
            <a:endParaRPr lang="en-US" b="0" i="1" dirty="0">
              <a:latin typeface="+mn-lt"/>
            </a:endParaRPr>
          </a:p>
        </p:txBody>
      </p:sp>
      <p:sp>
        <p:nvSpPr>
          <p:cNvPr id="33" name="Freeform 32"/>
          <p:cNvSpPr/>
          <p:nvPr/>
        </p:nvSpPr>
        <p:spPr>
          <a:xfrm rot="15672660">
            <a:off x="6999475" y="3045120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619999" y="3093293"/>
            <a:ext cx="101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1" dirty="0">
                <a:latin typeface="+mn-lt"/>
              </a:rPr>
              <a:t>dupACK</a:t>
            </a:r>
          </a:p>
        </p:txBody>
      </p:sp>
    </p:spTree>
    <p:extLst>
      <p:ext uri="{BB962C8B-B14F-4D97-AF65-F5344CB8AC3E}">
        <p14:creationId xmlns:p14="http://schemas.microsoft.com/office/powerpoint/2010/main" val="2075235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dupACKs ➔ Fast Recovery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Oval 3"/>
          <p:cNvSpPr/>
          <p:nvPr/>
        </p:nvSpPr>
        <p:spPr bwMode="auto">
          <a:xfrm>
            <a:off x="1752600" y="2057400"/>
            <a:ext cx="1295400" cy="11430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low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Start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6172200" y="19812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C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ong.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Avoid</a:t>
            </a:r>
            <a:r>
              <a:rPr lang="en-US" sz="2000" dirty="0">
                <a:ea typeface="Arial" charset="0"/>
                <a:cs typeface="Arial" charset="0"/>
              </a:rPr>
              <a:t>.</a:t>
            </a:r>
            <a:endParaRPr kumimoji="0" 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Arial" charset="0"/>
              <a:cs typeface="Arial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038600" y="51816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F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ast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Recovery</a:t>
            </a:r>
          </a:p>
        </p:txBody>
      </p:sp>
      <p:cxnSp>
        <p:nvCxnSpPr>
          <p:cNvPr id="9" name="Straight Arrow Connector 8"/>
          <p:cNvCxnSpPr>
            <a:stCxn id="4" idx="6"/>
            <a:endCxn id="6" idx="2"/>
          </p:cNvCxnSpPr>
          <p:nvPr/>
        </p:nvCxnSpPr>
        <p:spPr bwMode="auto">
          <a:xfrm flipV="1">
            <a:off x="3048000" y="2590800"/>
            <a:ext cx="3124200" cy="381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3608636" y="2252246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CWND &gt; </a:t>
            </a:r>
            <a:r>
              <a:rPr lang="en-US" b="0" i="1" dirty="0" err="1">
                <a:latin typeface="+mn-lt"/>
              </a:rPr>
              <a:t>ssthresh</a:t>
            </a:r>
            <a:endParaRPr lang="en-US" b="0" i="1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86200" y="2785646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cxnSp>
        <p:nvCxnSpPr>
          <p:cNvPr id="14" name="Straight Arrow Connector 13"/>
          <p:cNvCxnSpPr/>
          <p:nvPr/>
        </p:nvCxnSpPr>
        <p:spPr bwMode="auto">
          <a:xfrm flipH="1">
            <a:off x="3048000" y="2743200"/>
            <a:ext cx="31242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>
            <a:off x="2505027" y="3159264"/>
            <a:ext cx="1609773" cy="247953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H="1">
            <a:off x="5257800" y="3200400"/>
            <a:ext cx="1600200" cy="22860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/>
          <p:nvPr/>
        </p:nvCxnSpPr>
        <p:spPr bwMode="auto">
          <a:xfrm flipV="1">
            <a:off x="5105400" y="3200400"/>
            <a:ext cx="1447800" cy="2057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>
            <a:stCxn id="7" idx="1"/>
          </p:cNvCxnSpPr>
          <p:nvPr/>
        </p:nvCxnSpPr>
        <p:spPr bwMode="auto">
          <a:xfrm flipH="1" flipV="1">
            <a:off x="2819400" y="3048000"/>
            <a:ext cx="1420066" cy="231214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2286000" y="4495800"/>
            <a:ext cx="1236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rgbClr val="0000FF"/>
                </a:solidFill>
                <a:latin typeface="+mn-lt"/>
              </a:rPr>
              <a:t>dupACK</a:t>
            </a:r>
            <a:r>
              <a:rPr lang="en-US" i="1" dirty="0">
                <a:solidFill>
                  <a:srgbClr val="0000FF"/>
                </a:solidFill>
                <a:latin typeface="+mn-lt"/>
              </a:rPr>
              <a:t>=3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2800" y="3733800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0" y="4038600"/>
            <a:ext cx="1236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solidFill>
                  <a:srgbClr val="0000FF"/>
                </a:solidFill>
                <a:latin typeface="+mn-lt"/>
              </a:rPr>
              <a:t>dupACK</a:t>
            </a:r>
            <a:r>
              <a:rPr lang="en-US" i="1" dirty="0">
                <a:solidFill>
                  <a:srgbClr val="0000FF"/>
                </a:solidFill>
                <a:latin typeface="+mn-lt"/>
              </a:rPr>
              <a:t>=3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1082" y="3810000"/>
            <a:ext cx="1029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ACK</a:t>
            </a:r>
          </a:p>
        </p:txBody>
      </p:sp>
      <p:sp>
        <p:nvSpPr>
          <p:cNvPr id="37" name="Freeform 36"/>
          <p:cNvSpPr/>
          <p:nvPr/>
        </p:nvSpPr>
        <p:spPr>
          <a:xfrm rot="976329">
            <a:off x="3086564" y="5666362"/>
            <a:ext cx="1097328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33600" y="5749881"/>
            <a:ext cx="1002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+mn-lt"/>
              </a:rPr>
              <a:t>dupACK</a:t>
            </a:r>
          </a:p>
        </p:txBody>
      </p:sp>
      <p:sp>
        <p:nvSpPr>
          <p:cNvPr id="39" name="Freeform 38"/>
          <p:cNvSpPr/>
          <p:nvPr/>
        </p:nvSpPr>
        <p:spPr>
          <a:xfrm>
            <a:off x="883872" y="2667000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42682" y="3349823"/>
            <a:ext cx="1029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ACK</a:t>
            </a:r>
          </a:p>
        </p:txBody>
      </p:sp>
      <p:sp>
        <p:nvSpPr>
          <p:cNvPr id="41" name="Freeform 40"/>
          <p:cNvSpPr/>
          <p:nvPr/>
        </p:nvSpPr>
        <p:spPr>
          <a:xfrm rot="4557557">
            <a:off x="1283727" y="1501256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85800" y="1600200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sp>
        <p:nvSpPr>
          <p:cNvPr id="43" name="Freeform 42"/>
          <p:cNvSpPr/>
          <p:nvPr/>
        </p:nvSpPr>
        <p:spPr>
          <a:xfrm rot="10800000">
            <a:off x="7247054" y="1935809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183679" y="1929824"/>
            <a:ext cx="6174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</a:t>
            </a:r>
            <a:br>
              <a:rPr lang="en-US" b="0" i="1" dirty="0">
                <a:latin typeface="+mn-lt"/>
              </a:rPr>
            </a:br>
            <a:r>
              <a:rPr lang="en-US" b="0" i="1" dirty="0">
                <a:latin typeface="+mn-lt"/>
              </a:rPr>
              <a:t>ACK</a:t>
            </a:r>
          </a:p>
        </p:txBody>
      </p:sp>
      <p:sp>
        <p:nvSpPr>
          <p:cNvPr id="28" name="Freeform 27"/>
          <p:cNvSpPr/>
          <p:nvPr/>
        </p:nvSpPr>
        <p:spPr>
          <a:xfrm rot="1324048">
            <a:off x="1042966" y="2311961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2860" y="2209800"/>
            <a:ext cx="10391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solidFill>
                  <a:srgbClr val="0000FF"/>
                </a:solidFill>
                <a:latin typeface="+mn-lt"/>
              </a:rPr>
              <a:t>dupACK</a:t>
            </a:r>
            <a:endParaRPr lang="en-US" i="1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3" name="Freeform 32"/>
          <p:cNvSpPr/>
          <p:nvPr/>
        </p:nvSpPr>
        <p:spPr>
          <a:xfrm rot="15672660">
            <a:off x="6999475" y="3045120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619999" y="3093293"/>
            <a:ext cx="101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+mn-lt"/>
              </a:rPr>
              <a:t>dupACK</a:t>
            </a:r>
          </a:p>
        </p:txBody>
      </p:sp>
    </p:spTree>
    <p:extLst>
      <p:ext uri="{BB962C8B-B14F-4D97-AF65-F5344CB8AC3E}">
        <p14:creationId xmlns:p14="http://schemas.microsoft.com/office/powerpoint/2010/main" val="2012201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ACK changes state ONLY from Fast Recovery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Oval 3"/>
          <p:cNvSpPr/>
          <p:nvPr/>
        </p:nvSpPr>
        <p:spPr bwMode="auto">
          <a:xfrm>
            <a:off x="1752600" y="2057400"/>
            <a:ext cx="1295400" cy="11430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low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Start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6172200" y="19812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C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ong.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Avoid</a:t>
            </a:r>
            <a:r>
              <a:rPr lang="en-US" sz="2000" dirty="0">
                <a:ea typeface="Arial" charset="0"/>
                <a:cs typeface="Arial" charset="0"/>
              </a:rPr>
              <a:t>.</a:t>
            </a:r>
            <a:endParaRPr kumimoji="0" 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Arial" charset="0"/>
              <a:cs typeface="Arial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038600" y="51816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F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ast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Recovery</a:t>
            </a:r>
          </a:p>
        </p:txBody>
      </p:sp>
      <p:cxnSp>
        <p:nvCxnSpPr>
          <p:cNvPr id="9" name="Straight Arrow Connector 8"/>
          <p:cNvCxnSpPr>
            <a:stCxn id="4" idx="6"/>
            <a:endCxn id="6" idx="2"/>
          </p:cNvCxnSpPr>
          <p:nvPr/>
        </p:nvCxnSpPr>
        <p:spPr bwMode="auto">
          <a:xfrm flipV="1">
            <a:off x="3048000" y="2590800"/>
            <a:ext cx="3124200" cy="381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3608636" y="2252246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CWND &gt; </a:t>
            </a:r>
            <a:r>
              <a:rPr lang="en-US" b="0" i="1" dirty="0" err="1">
                <a:latin typeface="+mn-lt"/>
              </a:rPr>
              <a:t>ssthresh</a:t>
            </a:r>
            <a:endParaRPr lang="en-US" b="0" i="1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86200" y="2785646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cxnSp>
        <p:nvCxnSpPr>
          <p:cNvPr id="14" name="Straight Arrow Connector 13"/>
          <p:cNvCxnSpPr/>
          <p:nvPr/>
        </p:nvCxnSpPr>
        <p:spPr bwMode="auto">
          <a:xfrm flipH="1">
            <a:off x="3048000" y="2743200"/>
            <a:ext cx="31242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>
            <a:off x="2505027" y="3159264"/>
            <a:ext cx="1609773" cy="247953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H="1">
            <a:off x="5257800" y="3200400"/>
            <a:ext cx="1600200" cy="22860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/>
          <p:nvPr/>
        </p:nvCxnSpPr>
        <p:spPr bwMode="auto">
          <a:xfrm flipV="1">
            <a:off x="5105400" y="3200400"/>
            <a:ext cx="1447800" cy="2057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>
            <a:stCxn id="7" idx="1"/>
          </p:cNvCxnSpPr>
          <p:nvPr/>
        </p:nvCxnSpPr>
        <p:spPr bwMode="auto">
          <a:xfrm flipH="1" flipV="1">
            <a:off x="2819400" y="3048000"/>
            <a:ext cx="1420066" cy="231214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2286000" y="4495800"/>
            <a:ext cx="1180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err="1">
                <a:latin typeface="+mn-lt"/>
              </a:rPr>
              <a:t>dupACK</a:t>
            </a:r>
            <a:r>
              <a:rPr lang="en-US" b="0" i="1" dirty="0">
                <a:latin typeface="+mn-lt"/>
              </a:rPr>
              <a:t>=3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2800" y="3733800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0" y="4038600"/>
            <a:ext cx="1180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err="1">
                <a:latin typeface="+mn-lt"/>
              </a:rPr>
              <a:t>dupACK</a:t>
            </a:r>
            <a:r>
              <a:rPr lang="en-US" b="0" i="1" dirty="0">
                <a:latin typeface="+mn-lt"/>
              </a:rPr>
              <a:t>=3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1082" y="3810000"/>
            <a:ext cx="1076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+mn-lt"/>
              </a:rPr>
              <a:t>new ACK</a:t>
            </a:r>
          </a:p>
        </p:txBody>
      </p:sp>
      <p:sp>
        <p:nvSpPr>
          <p:cNvPr id="37" name="Freeform 36"/>
          <p:cNvSpPr/>
          <p:nvPr/>
        </p:nvSpPr>
        <p:spPr>
          <a:xfrm rot="976329">
            <a:off x="3086564" y="5666362"/>
            <a:ext cx="1097328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33600" y="5749881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dupACK</a:t>
            </a:r>
          </a:p>
        </p:txBody>
      </p:sp>
      <p:sp>
        <p:nvSpPr>
          <p:cNvPr id="39" name="Freeform 38"/>
          <p:cNvSpPr/>
          <p:nvPr/>
        </p:nvSpPr>
        <p:spPr>
          <a:xfrm>
            <a:off x="883872" y="2667000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42682" y="3349823"/>
            <a:ext cx="1076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+mn-lt"/>
              </a:rPr>
              <a:t>new ACK</a:t>
            </a:r>
          </a:p>
        </p:txBody>
      </p:sp>
      <p:sp>
        <p:nvSpPr>
          <p:cNvPr id="41" name="Freeform 40"/>
          <p:cNvSpPr/>
          <p:nvPr/>
        </p:nvSpPr>
        <p:spPr>
          <a:xfrm rot="4557557">
            <a:off x="1283727" y="1501256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85800" y="1600200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sp>
        <p:nvSpPr>
          <p:cNvPr id="43" name="Freeform 42"/>
          <p:cNvSpPr/>
          <p:nvPr/>
        </p:nvSpPr>
        <p:spPr>
          <a:xfrm rot="10800000">
            <a:off x="7247054" y="1935809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183679" y="1929824"/>
            <a:ext cx="6415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+mn-lt"/>
              </a:rPr>
              <a:t>new </a:t>
            </a:r>
            <a:br>
              <a:rPr lang="en-US" i="1" dirty="0">
                <a:solidFill>
                  <a:srgbClr val="0000FF"/>
                </a:solidFill>
                <a:latin typeface="+mn-lt"/>
              </a:rPr>
            </a:br>
            <a:r>
              <a:rPr lang="en-US" i="1" dirty="0">
                <a:solidFill>
                  <a:srgbClr val="0000FF"/>
                </a:solidFill>
                <a:latin typeface="+mn-lt"/>
              </a:rPr>
              <a:t>ACK</a:t>
            </a:r>
          </a:p>
        </p:txBody>
      </p:sp>
      <p:sp>
        <p:nvSpPr>
          <p:cNvPr id="28" name="Freeform 27"/>
          <p:cNvSpPr/>
          <p:nvPr/>
        </p:nvSpPr>
        <p:spPr>
          <a:xfrm rot="1324048">
            <a:off x="1042966" y="2311961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2861" y="2209800"/>
            <a:ext cx="959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1">
                <a:latin typeface="+mn-lt"/>
              </a:rPr>
              <a:t>dupACK</a:t>
            </a:r>
            <a:endParaRPr lang="en-US" b="0" i="1" dirty="0">
              <a:latin typeface="+mn-lt"/>
            </a:endParaRPr>
          </a:p>
        </p:txBody>
      </p:sp>
      <p:sp>
        <p:nvSpPr>
          <p:cNvPr id="33" name="Freeform 32"/>
          <p:cNvSpPr/>
          <p:nvPr/>
        </p:nvSpPr>
        <p:spPr>
          <a:xfrm rot="15672660">
            <a:off x="6999475" y="3045120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619999" y="3093293"/>
            <a:ext cx="101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1" dirty="0">
                <a:latin typeface="+mn-lt"/>
              </a:rPr>
              <a:t>dupACK</a:t>
            </a:r>
          </a:p>
        </p:txBody>
      </p:sp>
    </p:spTree>
    <p:extLst>
      <p:ext uri="{BB962C8B-B14F-4D97-AF65-F5344CB8AC3E}">
        <p14:creationId xmlns:p14="http://schemas.microsoft.com/office/powerpoint/2010/main" val="1261333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TCP state machine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Oval 3"/>
          <p:cNvSpPr/>
          <p:nvPr/>
        </p:nvSpPr>
        <p:spPr bwMode="auto">
          <a:xfrm>
            <a:off x="1752600" y="2057400"/>
            <a:ext cx="1295400" cy="11430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low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Start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6172200" y="19812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C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ong.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Avoid</a:t>
            </a:r>
            <a:r>
              <a:rPr lang="en-US" sz="2000" dirty="0">
                <a:ea typeface="Arial" charset="0"/>
                <a:cs typeface="Arial" charset="0"/>
              </a:rPr>
              <a:t>.</a:t>
            </a:r>
            <a:endParaRPr kumimoji="0" 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Arial" charset="0"/>
              <a:cs typeface="Arial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038600" y="5181600"/>
            <a:ext cx="1371600" cy="1219200"/>
          </a:xfrm>
          <a:prstGeom prst="ellipse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Arial" charset="0"/>
                <a:cs typeface="Arial" charset="0"/>
              </a:rPr>
              <a:t>F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ast </a:t>
            </a:r>
            <a:b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</a:b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rial" charset="0"/>
                <a:cs typeface="Arial" charset="0"/>
              </a:rPr>
              <a:t>Recovery</a:t>
            </a:r>
          </a:p>
        </p:txBody>
      </p:sp>
      <p:cxnSp>
        <p:nvCxnSpPr>
          <p:cNvPr id="9" name="Straight Arrow Connector 8"/>
          <p:cNvCxnSpPr>
            <a:stCxn id="4" idx="6"/>
            <a:endCxn id="6" idx="2"/>
          </p:cNvCxnSpPr>
          <p:nvPr/>
        </p:nvCxnSpPr>
        <p:spPr bwMode="auto">
          <a:xfrm flipV="1">
            <a:off x="3048000" y="2590800"/>
            <a:ext cx="3124200" cy="381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3608636" y="2252246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  <a:latin typeface="+mn-lt"/>
              </a:rPr>
              <a:t>CWND &gt; </a:t>
            </a:r>
            <a:r>
              <a:rPr lang="en-US" i="1" dirty="0" err="1">
                <a:solidFill>
                  <a:srgbClr val="0000FF"/>
                </a:solidFill>
                <a:latin typeface="+mn-lt"/>
              </a:rPr>
              <a:t>ssthresh</a:t>
            </a:r>
            <a:endParaRPr lang="en-US" i="1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86200" y="2785646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cxnSp>
        <p:nvCxnSpPr>
          <p:cNvPr id="14" name="Straight Arrow Connector 13"/>
          <p:cNvCxnSpPr/>
          <p:nvPr/>
        </p:nvCxnSpPr>
        <p:spPr bwMode="auto">
          <a:xfrm flipH="1">
            <a:off x="3048000" y="2743200"/>
            <a:ext cx="312420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>
            <a:off x="2505027" y="3159264"/>
            <a:ext cx="1609773" cy="2479536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H="1">
            <a:off x="5257800" y="3200400"/>
            <a:ext cx="1600200" cy="22860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/>
          <p:nvPr/>
        </p:nvCxnSpPr>
        <p:spPr bwMode="auto">
          <a:xfrm flipV="1">
            <a:off x="5105400" y="3200400"/>
            <a:ext cx="1447800" cy="2057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>
            <a:stCxn id="7" idx="1"/>
          </p:cNvCxnSpPr>
          <p:nvPr/>
        </p:nvCxnSpPr>
        <p:spPr bwMode="auto">
          <a:xfrm flipH="1" flipV="1">
            <a:off x="2819400" y="3048000"/>
            <a:ext cx="1420066" cy="231214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2286000" y="4495800"/>
            <a:ext cx="1180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err="1">
                <a:latin typeface="+mn-lt"/>
              </a:rPr>
              <a:t>dupACK</a:t>
            </a:r>
            <a:r>
              <a:rPr lang="en-US" b="0" i="1" dirty="0">
                <a:latin typeface="+mn-lt"/>
              </a:rPr>
              <a:t>=3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2800" y="3733800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0" y="4038600"/>
            <a:ext cx="1180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err="1">
                <a:latin typeface="+mn-lt"/>
              </a:rPr>
              <a:t>dupACK</a:t>
            </a:r>
            <a:r>
              <a:rPr lang="en-US" b="0" i="1" dirty="0">
                <a:latin typeface="+mn-lt"/>
              </a:rPr>
              <a:t>=3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1082" y="3810000"/>
            <a:ext cx="1029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ACK</a:t>
            </a:r>
          </a:p>
        </p:txBody>
      </p:sp>
      <p:sp>
        <p:nvSpPr>
          <p:cNvPr id="37" name="Freeform 36"/>
          <p:cNvSpPr/>
          <p:nvPr/>
        </p:nvSpPr>
        <p:spPr>
          <a:xfrm rot="976329">
            <a:off x="3086564" y="5666362"/>
            <a:ext cx="1097328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33600" y="5749881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dupACK</a:t>
            </a:r>
          </a:p>
        </p:txBody>
      </p:sp>
      <p:sp>
        <p:nvSpPr>
          <p:cNvPr id="39" name="Freeform 38"/>
          <p:cNvSpPr/>
          <p:nvPr/>
        </p:nvSpPr>
        <p:spPr>
          <a:xfrm>
            <a:off x="883872" y="2667000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42682" y="3349823"/>
            <a:ext cx="1029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ACK</a:t>
            </a:r>
          </a:p>
        </p:txBody>
      </p:sp>
      <p:sp>
        <p:nvSpPr>
          <p:cNvPr id="41" name="Freeform 40"/>
          <p:cNvSpPr/>
          <p:nvPr/>
        </p:nvSpPr>
        <p:spPr>
          <a:xfrm rot="4557557">
            <a:off x="1283727" y="1501256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85800" y="1600200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timeout</a:t>
            </a:r>
          </a:p>
        </p:txBody>
      </p:sp>
      <p:sp>
        <p:nvSpPr>
          <p:cNvPr id="43" name="Freeform 42"/>
          <p:cNvSpPr/>
          <p:nvPr/>
        </p:nvSpPr>
        <p:spPr>
          <a:xfrm rot="10800000">
            <a:off x="7247054" y="1935809"/>
            <a:ext cx="1097328" cy="6607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183679" y="1929824"/>
            <a:ext cx="6174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>
                <a:latin typeface="+mn-lt"/>
              </a:rPr>
              <a:t>new </a:t>
            </a:r>
            <a:br>
              <a:rPr lang="en-US" b="0" i="1" dirty="0">
                <a:latin typeface="+mn-lt"/>
              </a:rPr>
            </a:br>
            <a:r>
              <a:rPr lang="en-US" b="0" i="1" dirty="0">
                <a:latin typeface="+mn-lt"/>
              </a:rPr>
              <a:t>ACK</a:t>
            </a:r>
          </a:p>
        </p:txBody>
      </p:sp>
      <p:sp>
        <p:nvSpPr>
          <p:cNvPr id="28" name="Freeform 27"/>
          <p:cNvSpPr/>
          <p:nvPr/>
        </p:nvSpPr>
        <p:spPr>
          <a:xfrm rot="1324048">
            <a:off x="1042966" y="2311961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2861" y="2209800"/>
            <a:ext cx="959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1">
                <a:latin typeface="+mn-lt"/>
              </a:rPr>
              <a:t>dupACK</a:t>
            </a:r>
            <a:endParaRPr lang="en-US" b="0" i="1" dirty="0">
              <a:latin typeface="+mn-lt"/>
            </a:endParaRPr>
          </a:p>
        </p:txBody>
      </p:sp>
      <p:sp>
        <p:nvSpPr>
          <p:cNvPr id="33" name="Freeform 32"/>
          <p:cNvSpPr/>
          <p:nvPr/>
        </p:nvSpPr>
        <p:spPr>
          <a:xfrm rot="15672660">
            <a:off x="6999475" y="3045120"/>
            <a:ext cx="889644" cy="432134"/>
          </a:xfrm>
          <a:custGeom>
            <a:avLst/>
            <a:gdLst>
              <a:gd name="connsiteX0" fmla="*/ 840607 w 1097328"/>
              <a:gd name="connsiteY0" fmla="*/ 0 h 796115"/>
              <a:gd name="connsiteX1" fmla="*/ 2885 w 1097328"/>
              <a:gd name="connsiteY1" fmla="*/ 770068 h 796115"/>
              <a:gd name="connsiteX2" fmla="*/ 1097328 w 1097328"/>
              <a:gd name="connsiteY2" fmla="*/ 540399 h 79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328" h="796115">
                <a:moveTo>
                  <a:pt x="840607" y="0"/>
                </a:moveTo>
                <a:cubicBezTo>
                  <a:pt x="400352" y="340001"/>
                  <a:pt x="-39902" y="680002"/>
                  <a:pt x="2885" y="770068"/>
                </a:cubicBezTo>
                <a:cubicBezTo>
                  <a:pt x="45672" y="860134"/>
                  <a:pt x="571500" y="700266"/>
                  <a:pt x="1097328" y="540399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619999" y="3093293"/>
            <a:ext cx="1010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1" dirty="0">
                <a:latin typeface="+mn-lt"/>
              </a:rPr>
              <a:t>dupACK</a:t>
            </a:r>
          </a:p>
        </p:txBody>
      </p:sp>
    </p:spTree>
    <p:extLst>
      <p:ext uri="{BB962C8B-B14F-4D97-AF65-F5344CB8AC3E}">
        <p14:creationId xmlns:p14="http://schemas.microsoft.com/office/powerpoint/2010/main" val="12101261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TCP flavors </a:t>
            </a:r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TCP-Tahoe</a:t>
            </a:r>
          </a:p>
          <a:p>
            <a:pPr lvl="1"/>
            <a:r>
              <a:rPr lang="en-US" dirty="0"/>
              <a:t>CWND =1 on 3 dupACKs</a:t>
            </a:r>
          </a:p>
          <a:p>
            <a:r>
              <a:rPr lang="en-US" dirty="0"/>
              <a:t>TCP-Reno</a:t>
            </a:r>
          </a:p>
          <a:p>
            <a:pPr lvl="1"/>
            <a:r>
              <a:rPr lang="en-US" dirty="0"/>
              <a:t>CWND =1 on timeout</a:t>
            </a:r>
          </a:p>
          <a:p>
            <a:pPr lvl="1"/>
            <a:r>
              <a:rPr lang="en-US" dirty="0"/>
              <a:t>CWND = CWND/2 on 3 dupACKs</a:t>
            </a:r>
          </a:p>
          <a:p>
            <a:r>
              <a:rPr lang="en-US" dirty="0">
                <a:solidFill>
                  <a:srgbClr val="C00000"/>
                </a:solidFill>
              </a:rPr>
              <a:t>TCP-</a:t>
            </a:r>
            <a:r>
              <a:rPr lang="en-US" dirty="0" err="1">
                <a:solidFill>
                  <a:srgbClr val="C00000"/>
                </a:solidFill>
              </a:rPr>
              <a:t>newReno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TCP-Reno + improved fast recovery</a:t>
            </a:r>
          </a:p>
          <a:p>
            <a:r>
              <a:rPr lang="en-US" dirty="0"/>
              <a:t>TCP-SACK</a:t>
            </a:r>
          </a:p>
          <a:p>
            <a:pPr lvl="1"/>
            <a:r>
              <a:rPr lang="en-US" dirty="0"/>
              <a:t>Incorporates selective </a:t>
            </a:r>
            <a:r>
              <a:rPr lang="en-US" altLang="zh-CN" dirty="0"/>
              <a:t>ACK</a:t>
            </a:r>
            <a:endParaRPr lang="en-US" dirty="0"/>
          </a:p>
          <a:p>
            <a:r>
              <a:rPr lang="en-US" altLang="zh-CN" dirty="0"/>
              <a:t>TCP-</a:t>
            </a:r>
            <a:r>
              <a:rPr lang="en-US" altLang="zh-CN" dirty="0" err="1"/>
              <a:t>Vages</a:t>
            </a:r>
            <a:r>
              <a:rPr lang="en-US" dirty="0"/>
              <a:t>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026" name="Picture 2" descr="Reno, Nevada - Wikipedia">
            <a:extLst>
              <a:ext uri="{FF2B5EF4-FFF2-40B4-BE49-F238E27FC236}">
                <a16:creationId xmlns:a16="http://schemas.microsoft.com/office/drawing/2014/main" id="{B1535B2A-D9AA-956A-5B6E-ABE0DF824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857500"/>
            <a:ext cx="1714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ake Tahoe travel - Lonely Planet | California, USA, North America">
            <a:extLst>
              <a:ext uri="{FF2B5EF4-FFF2-40B4-BE49-F238E27FC236}">
                <a16:creationId xmlns:a16="http://schemas.microsoft.com/office/drawing/2014/main" id="{9140B4E4-D22A-23DC-F1F6-70CFD41AC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594757"/>
            <a:ext cx="1601034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 Best Time to Visit Las Vegas in 2023 | Travellers 🧳">
            <a:extLst>
              <a:ext uri="{FF2B5EF4-FFF2-40B4-BE49-F238E27FC236}">
                <a16:creationId xmlns:a16="http://schemas.microsoft.com/office/drawing/2014/main" id="{A6C5D12E-C243-1072-E3FD-93E62EE04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5634037"/>
            <a:ext cx="1714500" cy="107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9418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5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How can they coexist? </a:t>
            </a:r>
          </a:p>
        </p:txBody>
      </p:sp>
      <p:sp>
        <p:nvSpPr>
          <p:cNvPr id="1046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follow the same principle</a:t>
            </a:r>
          </a:p>
          <a:p>
            <a:pPr lvl="1"/>
            <a:r>
              <a:rPr lang="en-US" dirty="0"/>
              <a:t>Increase CWND on good news</a:t>
            </a:r>
          </a:p>
          <a:p>
            <a:pPr lvl="1"/>
            <a:r>
              <a:rPr lang="en-US" dirty="0"/>
              <a:t>Decrease CWND on bad news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Throughput Equation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588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2658283" y="2490686"/>
            <a:ext cx="1910025" cy="2303638"/>
          </a:xfrm>
          <a:custGeom>
            <a:avLst/>
            <a:gdLst>
              <a:gd name="connsiteX0" fmla="*/ 19691 w 1910025"/>
              <a:gd name="connsiteY0" fmla="*/ 1260110 h 2303638"/>
              <a:gd name="connsiteX1" fmla="*/ 0 w 1910025"/>
              <a:gd name="connsiteY1" fmla="*/ 2303638 h 2303638"/>
              <a:gd name="connsiteX2" fmla="*/ 1910025 w 1910025"/>
              <a:gd name="connsiteY2" fmla="*/ 2303638 h 2303638"/>
              <a:gd name="connsiteX3" fmla="*/ 1910025 w 1910025"/>
              <a:gd name="connsiteY3" fmla="*/ 0 h 2303638"/>
              <a:gd name="connsiteX4" fmla="*/ 19691 w 1910025"/>
              <a:gd name="connsiteY4" fmla="*/ 1260110 h 2303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025" h="2303638">
                <a:moveTo>
                  <a:pt x="19691" y="1260110"/>
                </a:moveTo>
                <a:lnTo>
                  <a:pt x="0" y="2303638"/>
                </a:lnTo>
                <a:lnTo>
                  <a:pt x="1910025" y="2303638"/>
                </a:lnTo>
                <a:lnTo>
                  <a:pt x="1910025" y="0"/>
                </a:lnTo>
                <a:lnTo>
                  <a:pt x="19691" y="1260110"/>
                </a:lnTo>
                <a:close/>
              </a:path>
            </a:pathLst>
          </a:custGeom>
          <a:solidFill>
            <a:srgbClr val="D3A6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800" dirty="0">
                <a:solidFill>
                  <a:srgbClr val="000090"/>
                </a:solidFill>
                <a:latin typeface="Arial" pitchFamily="-65" charset="0"/>
              </a:rPr>
              <a:t>A</a:t>
            </a:r>
          </a:p>
        </p:txBody>
      </p:sp>
      <p:sp>
        <p:nvSpPr>
          <p:cNvPr id="245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model for TCP throughput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4582" name="Freeform 4"/>
          <p:cNvSpPr>
            <a:spLocks/>
          </p:cNvSpPr>
          <p:nvPr/>
        </p:nvSpPr>
        <p:spPr bwMode="auto">
          <a:xfrm>
            <a:off x="844550" y="1722438"/>
            <a:ext cx="7842250" cy="3078162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Line 12"/>
          <p:cNvSpPr>
            <a:spLocks noChangeShapeType="1"/>
          </p:cNvSpPr>
          <p:nvPr/>
        </p:nvSpPr>
        <p:spPr bwMode="auto">
          <a:xfrm>
            <a:off x="266382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4" name="Text Box 15"/>
          <p:cNvSpPr txBox="1">
            <a:spLocks noChangeArrowheads="1"/>
          </p:cNvSpPr>
          <p:nvPr/>
        </p:nvSpPr>
        <p:spPr bwMode="auto">
          <a:xfrm>
            <a:off x="2286000" y="1371600"/>
            <a:ext cx="7832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Loss</a:t>
            </a:r>
          </a:p>
        </p:txBody>
      </p:sp>
      <p:sp>
        <p:nvSpPr>
          <p:cNvPr id="24585" name="Freeform 15"/>
          <p:cNvSpPr>
            <a:spLocks/>
          </p:cNvSpPr>
          <p:nvPr/>
        </p:nvSpPr>
        <p:spPr bwMode="auto">
          <a:xfrm>
            <a:off x="844550" y="2484438"/>
            <a:ext cx="1828800" cy="2316162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6" name="Text Box 18"/>
          <p:cNvSpPr txBox="1">
            <a:spLocks noChangeArrowheads="1"/>
          </p:cNvSpPr>
          <p:nvPr/>
        </p:nvSpPr>
        <p:spPr bwMode="auto">
          <a:xfrm>
            <a:off x="7796740" y="4724400"/>
            <a:ext cx="7265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>
                <a:latin typeface="Times New Roman" charset="0"/>
              </a:rPr>
              <a:t>time</a:t>
            </a:r>
          </a:p>
        </p:txBody>
      </p:sp>
      <p:sp>
        <p:nvSpPr>
          <p:cNvPr id="24587" name="Text Box 19"/>
          <p:cNvSpPr txBox="1">
            <a:spLocks noChangeArrowheads="1"/>
          </p:cNvSpPr>
          <p:nvPr/>
        </p:nvSpPr>
        <p:spPr bwMode="auto">
          <a:xfrm>
            <a:off x="53975" y="1384300"/>
            <a:ext cx="812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>
                <a:latin typeface="Times New Roman" charset="0"/>
              </a:rPr>
              <a:t>cwnd</a:t>
            </a:r>
          </a:p>
        </p:txBody>
      </p:sp>
      <p:sp>
        <p:nvSpPr>
          <p:cNvPr id="24588" name="Freeform 34"/>
          <p:cNvSpPr>
            <a:spLocks noChangeArrowheads="1"/>
          </p:cNvSpPr>
          <p:nvPr/>
        </p:nvSpPr>
        <p:spPr bwMode="auto">
          <a:xfrm>
            <a:off x="266382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9" name="Freeform 35"/>
          <p:cNvSpPr>
            <a:spLocks noChangeArrowheads="1"/>
          </p:cNvSpPr>
          <p:nvPr/>
        </p:nvSpPr>
        <p:spPr bwMode="auto">
          <a:xfrm>
            <a:off x="4578350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Freeform 36"/>
          <p:cNvSpPr>
            <a:spLocks noChangeArrowheads="1"/>
          </p:cNvSpPr>
          <p:nvPr/>
        </p:nvSpPr>
        <p:spPr bwMode="auto">
          <a:xfrm>
            <a:off x="649287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Line 12"/>
          <p:cNvSpPr>
            <a:spLocks noChangeShapeType="1"/>
          </p:cNvSpPr>
          <p:nvPr/>
        </p:nvSpPr>
        <p:spPr bwMode="auto">
          <a:xfrm>
            <a:off x="4572000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2" name="Line 12"/>
          <p:cNvSpPr>
            <a:spLocks noChangeShapeType="1"/>
          </p:cNvSpPr>
          <p:nvPr/>
        </p:nvSpPr>
        <p:spPr bwMode="auto">
          <a:xfrm>
            <a:off x="648017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3" name="Line 12"/>
          <p:cNvSpPr>
            <a:spLocks noChangeShapeType="1"/>
          </p:cNvSpPr>
          <p:nvPr/>
        </p:nvSpPr>
        <p:spPr bwMode="auto">
          <a:xfrm>
            <a:off x="8389938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4594" name="Straight Connector 41"/>
          <p:cNvCxnSpPr>
            <a:cxnSpLocks noChangeShapeType="1"/>
            <a:endCxn id="24590" idx="2"/>
          </p:cNvCxnSpPr>
          <p:nvPr/>
        </p:nvCxnSpPr>
        <p:spPr bwMode="auto">
          <a:xfrm>
            <a:off x="863600" y="2484438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5" name="Straight Connector 42"/>
          <p:cNvCxnSpPr>
            <a:cxnSpLocks noChangeShapeType="1"/>
          </p:cNvCxnSpPr>
          <p:nvPr/>
        </p:nvCxnSpPr>
        <p:spPr bwMode="auto">
          <a:xfrm>
            <a:off x="866775" y="3733800"/>
            <a:ext cx="7523163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6" name="Straight Connector 46"/>
          <p:cNvCxnSpPr>
            <a:cxnSpLocks noChangeShapeType="1"/>
            <a:stCxn id="24588" idx="1"/>
          </p:cNvCxnSpPr>
          <p:nvPr/>
        </p:nvCxnSpPr>
        <p:spPr bwMode="auto">
          <a:xfrm flipH="1">
            <a:off x="2663825" y="3754438"/>
            <a:ext cx="19050" cy="1046162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7" name="Straight Connector 49"/>
          <p:cNvCxnSpPr>
            <a:cxnSpLocks noChangeShapeType="1"/>
          </p:cNvCxnSpPr>
          <p:nvPr/>
        </p:nvCxnSpPr>
        <p:spPr bwMode="auto">
          <a:xfrm flipH="1">
            <a:off x="4572000" y="3775075"/>
            <a:ext cx="19050" cy="1046163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5257800" y="2800350"/>
            <a:ext cx="3276600" cy="3295650"/>
            <a:chOff x="4800600" y="3028950"/>
            <a:chExt cx="3276600" cy="3295650"/>
          </a:xfrm>
        </p:grpSpPr>
        <p:sp>
          <p:nvSpPr>
            <p:cNvPr id="24602" name="Oval 52"/>
            <p:cNvSpPr>
              <a:spLocks noChangeArrowheads="1"/>
            </p:cNvSpPr>
            <p:nvPr/>
          </p:nvSpPr>
          <p:spPr bwMode="auto">
            <a:xfrm>
              <a:off x="4800600" y="3028950"/>
              <a:ext cx="685800" cy="6096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4603" name="Straight Connector 60"/>
            <p:cNvCxnSpPr>
              <a:cxnSpLocks noChangeShapeType="1"/>
              <a:stCxn id="24602" idx="5"/>
              <a:endCxn id="24605" idx="0"/>
            </p:cNvCxnSpPr>
            <p:nvPr/>
          </p:nvCxnSpPr>
          <p:spPr bwMode="auto">
            <a:xfrm rot="16200000" flipH="1">
              <a:off x="5839619" y="3096419"/>
              <a:ext cx="412750" cy="131921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grpSp>
          <p:nvGrpSpPr>
            <p:cNvPr id="24604" name="Group 5"/>
            <p:cNvGrpSpPr>
              <a:grpSpLocks/>
            </p:cNvGrpSpPr>
            <p:nvPr/>
          </p:nvGrpSpPr>
          <p:grpSpPr bwMode="auto">
            <a:xfrm>
              <a:off x="5334000" y="3962400"/>
              <a:ext cx="2743200" cy="2362200"/>
              <a:chOff x="5334000" y="3962400"/>
              <a:chExt cx="2743200" cy="2362200"/>
            </a:xfrm>
          </p:grpSpPr>
          <p:sp>
            <p:nvSpPr>
              <p:cNvPr id="24605" name="Oval 53"/>
              <p:cNvSpPr>
                <a:spLocks noChangeArrowheads="1"/>
              </p:cNvSpPr>
              <p:nvPr/>
            </p:nvSpPr>
            <p:spPr bwMode="auto">
              <a:xfrm>
                <a:off x="5334000" y="3962400"/>
                <a:ext cx="2743200" cy="23622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6" name="Freeform 55"/>
              <p:cNvSpPr>
                <a:spLocks noChangeArrowheads="1"/>
              </p:cNvSpPr>
              <p:nvPr/>
            </p:nvSpPr>
            <p:spPr bwMode="auto">
              <a:xfrm>
                <a:off x="5614988" y="5478463"/>
                <a:ext cx="542925" cy="338137"/>
              </a:xfrm>
              <a:custGeom>
                <a:avLst/>
                <a:gdLst>
                  <a:gd name="T0" fmla="*/ 0 w 542872"/>
                  <a:gd name="T1" fmla="*/ 333430 h 339324"/>
                  <a:gd name="T2" fmla="*/ 281266 w 542872"/>
                  <a:gd name="T3" fmla="*/ 333430 h 339324"/>
                  <a:gd name="T4" fmla="*/ 281266 w 542872"/>
                  <a:gd name="T5" fmla="*/ 152424 h 339324"/>
                  <a:gd name="T6" fmla="*/ 543137 w 542872"/>
                  <a:gd name="T7" fmla="*/ 152424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7" name="Freeform 56"/>
              <p:cNvSpPr>
                <a:spLocks noChangeArrowheads="1"/>
              </p:cNvSpPr>
              <p:nvPr/>
            </p:nvSpPr>
            <p:spPr bwMode="auto">
              <a:xfrm>
                <a:off x="6153150" y="5138738"/>
                <a:ext cx="542925" cy="339725"/>
              </a:xfrm>
              <a:custGeom>
                <a:avLst/>
                <a:gdLst>
                  <a:gd name="T0" fmla="*/ 0 w 542872"/>
                  <a:gd name="T1" fmla="*/ 341333 h 339324"/>
                  <a:gd name="T2" fmla="*/ 281266 w 542872"/>
                  <a:gd name="T3" fmla="*/ 341333 h 339324"/>
                  <a:gd name="T4" fmla="*/ 281266 w 542872"/>
                  <a:gd name="T5" fmla="*/ 156038 h 339324"/>
                  <a:gd name="T6" fmla="*/ 543137 w 542872"/>
                  <a:gd name="T7" fmla="*/ 156038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8" name="Freeform 57"/>
              <p:cNvSpPr>
                <a:spLocks noChangeArrowheads="1"/>
              </p:cNvSpPr>
              <p:nvPr/>
            </p:nvSpPr>
            <p:spPr bwMode="auto">
              <a:xfrm>
                <a:off x="6691313" y="4799013"/>
                <a:ext cx="542925" cy="339725"/>
              </a:xfrm>
              <a:custGeom>
                <a:avLst/>
                <a:gdLst>
                  <a:gd name="T0" fmla="*/ 0 w 542872"/>
                  <a:gd name="T1" fmla="*/ 341333 h 339324"/>
                  <a:gd name="T2" fmla="*/ 281266 w 542872"/>
                  <a:gd name="T3" fmla="*/ 341333 h 339324"/>
                  <a:gd name="T4" fmla="*/ 281266 w 542872"/>
                  <a:gd name="T5" fmla="*/ 156038 h 339324"/>
                  <a:gd name="T6" fmla="*/ 543137 w 542872"/>
                  <a:gd name="T7" fmla="*/ 156038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9" name="Freeform 58"/>
              <p:cNvSpPr>
                <a:spLocks noChangeArrowheads="1"/>
              </p:cNvSpPr>
              <p:nvPr/>
            </p:nvSpPr>
            <p:spPr bwMode="auto">
              <a:xfrm>
                <a:off x="7229475" y="4459288"/>
                <a:ext cx="542925" cy="339725"/>
              </a:xfrm>
              <a:custGeom>
                <a:avLst/>
                <a:gdLst>
                  <a:gd name="T0" fmla="*/ 0 w 542872"/>
                  <a:gd name="T1" fmla="*/ 341333 h 339324"/>
                  <a:gd name="T2" fmla="*/ 281266 w 542872"/>
                  <a:gd name="T3" fmla="*/ 341333 h 339324"/>
                  <a:gd name="T4" fmla="*/ 281266 w 542872"/>
                  <a:gd name="T5" fmla="*/ 156038 h 339324"/>
                  <a:gd name="T6" fmla="*/ 543137 w 542872"/>
                  <a:gd name="T7" fmla="*/ 156038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0" name="TextBox 65"/>
              <p:cNvSpPr txBox="1">
                <a:spLocks noChangeArrowheads="1"/>
              </p:cNvSpPr>
              <p:nvPr/>
            </p:nvSpPr>
            <p:spPr bwMode="auto">
              <a:xfrm>
                <a:off x="5826125" y="4821238"/>
                <a:ext cx="327025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/>
                  <a:t>1</a:t>
                </a:r>
              </a:p>
            </p:txBody>
          </p:sp>
          <p:sp>
            <p:nvSpPr>
              <p:cNvPr id="24611" name="TextBox 66"/>
              <p:cNvSpPr txBox="1">
                <a:spLocks noChangeArrowheads="1"/>
              </p:cNvSpPr>
              <p:nvPr/>
            </p:nvSpPr>
            <p:spPr bwMode="auto">
              <a:xfrm>
                <a:off x="6781800" y="5619750"/>
                <a:ext cx="708025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charset="0"/>
                    <a:cs typeface="Times New Roman" charset="0"/>
                  </a:rPr>
                  <a:t>RTT</a:t>
                </a:r>
              </a:p>
            </p:txBody>
          </p:sp>
          <p:cxnSp>
            <p:nvCxnSpPr>
              <p:cNvPr id="24612" name="Straight Arrow Connector 68"/>
              <p:cNvCxnSpPr>
                <a:cxnSpLocks noChangeShapeType="1"/>
              </p:cNvCxnSpPr>
              <p:nvPr/>
            </p:nvCxnSpPr>
            <p:spPr bwMode="auto">
              <a:xfrm rot="10800000">
                <a:off x="7085013" y="4953000"/>
                <a:ext cx="1587" cy="663575"/>
              </a:xfrm>
              <a:prstGeom prst="straightConnector1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24613" name="Straight Arrow Connector 69"/>
              <p:cNvCxnSpPr>
                <a:cxnSpLocks noChangeShapeType="1"/>
              </p:cNvCxnSpPr>
              <p:nvPr/>
            </p:nvCxnSpPr>
            <p:spPr bwMode="auto">
              <a:xfrm>
                <a:off x="6153150" y="5027613"/>
                <a:ext cx="819150" cy="1587"/>
              </a:xfrm>
              <a:prstGeom prst="straightConnector1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</p:grpSp>
      </p:grpSp>
      <p:graphicFrame>
        <p:nvGraphicFramePr>
          <p:cNvPr id="24599" name="Object 2"/>
          <p:cNvGraphicFramePr>
            <a:graphicFrameLocks noChangeAspect="1"/>
          </p:cNvGraphicFramePr>
          <p:nvPr/>
        </p:nvGraphicFramePr>
        <p:xfrm>
          <a:off x="217488" y="2311400"/>
          <a:ext cx="4794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362" imgH="228501" progId="Equation.3">
                  <p:embed/>
                </p:oleObj>
              </mc:Choice>
              <mc:Fallback>
                <p:oleObj name="Equation" r:id="rId2" imgW="317362" imgH="228501" progId="Equation.3">
                  <p:embed/>
                  <p:pic>
                    <p:nvPicPr>
                      <p:cNvPr id="2459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2311400"/>
                        <a:ext cx="4794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0" name="Object 3"/>
          <p:cNvGraphicFramePr>
            <a:graphicFrameLocks noChangeAspect="1"/>
          </p:cNvGraphicFramePr>
          <p:nvPr/>
        </p:nvGraphicFramePr>
        <p:xfrm>
          <a:off x="217488" y="3468688"/>
          <a:ext cx="4794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292" imgH="393359" progId="Equation.3">
                  <p:embed/>
                </p:oleObj>
              </mc:Choice>
              <mc:Fallback>
                <p:oleObj name="Equation" r:id="rId4" imgW="355292" imgH="393359" progId="Equation.3">
                  <p:embed/>
                  <p:pic>
                    <p:nvPicPr>
                      <p:cNvPr id="2460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3468688"/>
                        <a:ext cx="4794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2667000" y="2133600"/>
            <a:ext cx="6172200" cy="2057400"/>
            <a:chOff x="2667000" y="2133600"/>
            <a:chExt cx="6172200" cy="2057400"/>
          </a:xfrm>
        </p:grpSpPr>
        <p:sp>
          <p:nvSpPr>
            <p:cNvPr id="2" name="Rounded Rectangular Callout 1"/>
            <p:cNvSpPr/>
            <p:nvPr/>
          </p:nvSpPr>
          <p:spPr bwMode="auto">
            <a:xfrm>
              <a:off x="5638800" y="2133600"/>
              <a:ext cx="3200400" cy="457200"/>
            </a:xfrm>
            <a:prstGeom prst="wedgeRoundRectCallout">
              <a:avLst>
                <a:gd name="adj1" fmla="val -97801"/>
                <a:gd name="adj2" fmla="val 403124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5" name="Straight Arrow Connector 4"/>
            <p:cNvCxnSpPr/>
            <p:nvPr/>
          </p:nvCxnSpPr>
          <p:spPr bwMode="auto">
            <a:xfrm>
              <a:off x="2667000" y="4191000"/>
              <a:ext cx="190500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6" name="TextBox 5"/>
            <p:cNvSpPr txBox="1"/>
            <p:nvPr/>
          </p:nvSpPr>
          <p:spPr>
            <a:xfrm>
              <a:off x="5638800" y="2133600"/>
              <a:ext cx="320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½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RTTs between drops</a:t>
              </a:r>
            </a:p>
            <a:p>
              <a:r>
                <a:rPr lang="en-US" sz="1800" b="0" dirty="0">
                  <a:latin typeface="+mn-lt"/>
                </a:rPr>
                <a:t> 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52400" y="2743200"/>
            <a:ext cx="3505200" cy="2057400"/>
            <a:chOff x="152400" y="2743200"/>
            <a:chExt cx="3505200" cy="2057400"/>
          </a:xfrm>
        </p:grpSpPr>
        <p:sp>
          <p:nvSpPr>
            <p:cNvPr id="41" name="Rounded Rectangular Callout 40"/>
            <p:cNvSpPr/>
            <p:nvPr/>
          </p:nvSpPr>
          <p:spPr bwMode="auto">
            <a:xfrm>
              <a:off x="228600" y="2743200"/>
              <a:ext cx="3200400" cy="457200"/>
            </a:xfrm>
            <a:prstGeom prst="wedgeRoundRectCallout">
              <a:avLst>
                <a:gd name="adj1" fmla="val 55427"/>
                <a:gd name="adj2" fmla="val 214009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 bwMode="auto">
            <a:xfrm>
              <a:off x="3657600" y="3124200"/>
              <a:ext cx="0" cy="167640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45" name="TextBox 44"/>
            <p:cNvSpPr txBox="1"/>
            <p:nvPr/>
          </p:nvSpPr>
          <p:spPr>
            <a:xfrm>
              <a:off x="152400" y="2743200"/>
              <a:ext cx="33404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Avg. ¾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packets per RTTs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E60B009-79EF-AB83-E946-2EEFF3EC4D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1300"/>
            <a:ext cx="3098800" cy="153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76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F792BE-4556-A84C-88DC-CC3CE7143D3B}"/>
              </a:ext>
            </a:extLst>
          </p:cNvPr>
          <p:cNvSpPr txBox="1"/>
          <p:nvPr/>
        </p:nvSpPr>
        <p:spPr>
          <a:xfrm>
            <a:off x="3200400" y="6290846"/>
            <a:ext cx="845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</a:rPr>
              <a:t>in MSS</a:t>
            </a:r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8863698"/>
              </p:ext>
            </p:extLst>
          </p:nvPr>
        </p:nvGraphicFramePr>
        <p:xfrm>
          <a:off x="3057525" y="4495800"/>
          <a:ext cx="4257675" cy="236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800" imgH="1511300" progId="Equation.3">
                  <p:embed/>
                </p:oleObj>
              </mc:Choice>
              <mc:Fallback>
                <p:oleObj name="Equation" r:id="rId2" imgW="2717800" imgH="1511300" progId="Equation.3">
                  <p:embed/>
                  <p:pic>
                    <p:nvPicPr>
                      <p:cNvPr id="35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25" y="4495800"/>
                        <a:ext cx="4257675" cy="236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reeform 2"/>
          <p:cNvSpPr/>
          <p:nvPr/>
        </p:nvSpPr>
        <p:spPr>
          <a:xfrm>
            <a:off x="2658283" y="2490686"/>
            <a:ext cx="1910025" cy="2303638"/>
          </a:xfrm>
          <a:custGeom>
            <a:avLst/>
            <a:gdLst>
              <a:gd name="connsiteX0" fmla="*/ 19691 w 1910025"/>
              <a:gd name="connsiteY0" fmla="*/ 1260110 h 2303638"/>
              <a:gd name="connsiteX1" fmla="*/ 0 w 1910025"/>
              <a:gd name="connsiteY1" fmla="*/ 2303638 h 2303638"/>
              <a:gd name="connsiteX2" fmla="*/ 1910025 w 1910025"/>
              <a:gd name="connsiteY2" fmla="*/ 2303638 h 2303638"/>
              <a:gd name="connsiteX3" fmla="*/ 1910025 w 1910025"/>
              <a:gd name="connsiteY3" fmla="*/ 0 h 2303638"/>
              <a:gd name="connsiteX4" fmla="*/ 19691 w 1910025"/>
              <a:gd name="connsiteY4" fmla="*/ 1260110 h 2303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025" h="2303638">
                <a:moveTo>
                  <a:pt x="19691" y="1260110"/>
                </a:moveTo>
                <a:lnTo>
                  <a:pt x="0" y="2303638"/>
                </a:lnTo>
                <a:lnTo>
                  <a:pt x="1910025" y="2303638"/>
                </a:lnTo>
                <a:lnTo>
                  <a:pt x="1910025" y="0"/>
                </a:lnTo>
                <a:lnTo>
                  <a:pt x="19691" y="1260110"/>
                </a:lnTo>
                <a:close/>
              </a:path>
            </a:pathLst>
          </a:custGeom>
          <a:solidFill>
            <a:srgbClr val="D3A6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800" dirty="0">
                <a:solidFill>
                  <a:srgbClr val="000090"/>
                </a:solidFill>
                <a:latin typeface="Arial" pitchFamily="-65" charset="0"/>
              </a:rPr>
              <a:t>A</a:t>
            </a:r>
          </a:p>
        </p:txBody>
      </p:sp>
      <p:sp>
        <p:nvSpPr>
          <p:cNvPr id="245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model for TCP throughput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4582" name="Freeform 4"/>
          <p:cNvSpPr>
            <a:spLocks/>
          </p:cNvSpPr>
          <p:nvPr/>
        </p:nvSpPr>
        <p:spPr bwMode="auto">
          <a:xfrm>
            <a:off x="844550" y="1722438"/>
            <a:ext cx="7842250" cy="3078162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Line 12"/>
          <p:cNvSpPr>
            <a:spLocks noChangeShapeType="1"/>
          </p:cNvSpPr>
          <p:nvPr/>
        </p:nvSpPr>
        <p:spPr bwMode="auto">
          <a:xfrm>
            <a:off x="266382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4" name="Text Box 15"/>
          <p:cNvSpPr txBox="1">
            <a:spLocks noChangeArrowheads="1"/>
          </p:cNvSpPr>
          <p:nvPr/>
        </p:nvSpPr>
        <p:spPr bwMode="auto">
          <a:xfrm>
            <a:off x="2286000" y="1371600"/>
            <a:ext cx="7832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Loss</a:t>
            </a:r>
          </a:p>
        </p:txBody>
      </p:sp>
      <p:sp>
        <p:nvSpPr>
          <p:cNvPr id="24585" name="Freeform 15"/>
          <p:cNvSpPr>
            <a:spLocks/>
          </p:cNvSpPr>
          <p:nvPr/>
        </p:nvSpPr>
        <p:spPr bwMode="auto">
          <a:xfrm>
            <a:off x="844550" y="2484438"/>
            <a:ext cx="1828800" cy="2316162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6" name="Text Box 18"/>
          <p:cNvSpPr txBox="1">
            <a:spLocks noChangeArrowheads="1"/>
          </p:cNvSpPr>
          <p:nvPr/>
        </p:nvSpPr>
        <p:spPr bwMode="auto">
          <a:xfrm>
            <a:off x="7796740" y="4724400"/>
            <a:ext cx="7265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>
                <a:latin typeface="Times New Roman" charset="0"/>
              </a:rPr>
              <a:t>time</a:t>
            </a:r>
          </a:p>
        </p:txBody>
      </p:sp>
      <p:sp>
        <p:nvSpPr>
          <p:cNvPr id="24587" name="Text Box 19"/>
          <p:cNvSpPr txBox="1">
            <a:spLocks noChangeArrowheads="1"/>
          </p:cNvSpPr>
          <p:nvPr/>
        </p:nvSpPr>
        <p:spPr bwMode="auto">
          <a:xfrm>
            <a:off x="53975" y="1384300"/>
            <a:ext cx="812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 err="1">
                <a:latin typeface="Times New Roman" charset="0"/>
              </a:rPr>
              <a:t>cwnd</a:t>
            </a:r>
            <a:endParaRPr lang="en-US" i="1" dirty="0">
              <a:latin typeface="Times New Roman" charset="0"/>
            </a:endParaRPr>
          </a:p>
        </p:txBody>
      </p:sp>
      <p:sp>
        <p:nvSpPr>
          <p:cNvPr id="24588" name="Freeform 34"/>
          <p:cNvSpPr>
            <a:spLocks noChangeArrowheads="1"/>
          </p:cNvSpPr>
          <p:nvPr/>
        </p:nvSpPr>
        <p:spPr bwMode="auto">
          <a:xfrm>
            <a:off x="266382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9" name="Freeform 35"/>
          <p:cNvSpPr>
            <a:spLocks noChangeArrowheads="1"/>
          </p:cNvSpPr>
          <p:nvPr/>
        </p:nvSpPr>
        <p:spPr bwMode="auto">
          <a:xfrm>
            <a:off x="4578350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Freeform 36"/>
          <p:cNvSpPr>
            <a:spLocks noChangeArrowheads="1"/>
          </p:cNvSpPr>
          <p:nvPr/>
        </p:nvSpPr>
        <p:spPr bwMode="auto">
          <a:xfrm>
            <a:off x="649287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Line 12"/>
          <p:cNvSpPr>
            <a:spLocks noChangeShapeType="1"/>
          </p:cNvSpPr>
          <p:nvPr/>
        </p:nvSpPr>
        <p:spPr bwMode="auto">
          <a:xfrm>
            <a:off x="4572000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2" name="Line 12"/>
          <p:cNvSpPr>
            <a:spLocks noChangeShapeType="1"/>
          </p:cNvSpPr>
          <p:nvPr/>
        </p:nvSpPr>
        <p:spPr bwMode="auto">
          <a:xfrm>
            <a:off x="648017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3" name="Line 12"/>
          <p:cNvSpPr>
            <a:spLocks noChangeShapeType="1"/>
          </p:cNvSpPr>
          <p:nvPr/>
        </p:nvSpPr>
        <p:spPr bwMode="auto">
          <a:xfrm>
            <a:off x="8389938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4594" name="Straight Connector 41"/>
          <p:cNvCxnSpPr>
            <a:cxnSpLocks noChangeShapeType="1"/>
            <a:endCxn id="24590" idx="2"/>
          </p:cNvCxnSpPr>
          <p:nvPr/>
        </p:nvCxnSpPr>
        <p:spPr bwMode="auto">
          <a:xfrm>
            <a:off x="863600" y="2484438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5" name="Straight Connector 42"/>
          <p:cNvCxnSpPr>
            <a:cxnSpLocks noChangeShapeType="1"/>
          </p:cNvCxnSpPr>
          <p:nvPr/>
        </p:nvCxnSpPr>
        <p:spPr bwMode="auto">
          <a:xfrm>
            <a:off x="866775" y="3733800"/>
            <a:ext cx="7523163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6" name="Straight Connector 46"/>
          <p:cNvCxnSpPr>
            <a:cxnSpLocks noChangeShapeType="1"/>
            <a:stCxn id="24588" idx="1"/>
          </p:cNvCxnSpPr>
          <p:nvPr/>
        </p:nvCxnSpPr>
        <p:spPr bwMode="auto">
          <a:xfrm flipH="1">
            <a:off x="2663825" y="3754438"/>
            <a:ext cx="19050" cy="1046162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7" name="Straight Connector 49"/>
          <p:cNvCxnSpPr>
            <a:cxnSpLocks noChangeShapeType="1"/>
          </p:cNvCxnSpPr>
          <p:nvPr/>
        </p:nvCxnSpPr>
        <p:spPr bwMode="auto">
          <a:xfrm flipH="1">
            <a:off x="4572000" y="3775075"/>
            <a:ext cx="19050" cy="1046163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aphicFrame>
        <p:nvGraphicFramePr>
          <p:cNvPr id="24599" name="Object 2"/>
          <p:cNvGraphicFramePr>
            <a:graphicFrameLocks noChangeAspect="1"/>
          </p:cNvGraphicFramePr>
          <p:nvPr/>
        </p:nvGraphicFramePr>
        <p:xfrm>
          <a:off x="217488" y="2311400"/>
          <a:ext cx="4794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362" imgH="228501" progId="Equation.3">
                  <p:embed/>
                </p:oleObj>
              </mc:Choice>
              <mc:Fallback>
                <p:oleObj name="Equation" r:id="rId4" imgW="317362" imgH="228501" progId="Equation.3">
                  <p:embed/>
                  <p:pic>
                    <p:nvPicPr>
                      <p:cNvPr id="2459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2311400"/>
                        <a:ext cx="4794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0" name="Object 3"/>
          <p:cNvGraphicFramePr>
            <a:graphicFrameLocks noChangeAspect="1"/>
          </p:cNvGraphicFramePr>
          <p:nvPr/>
        </p:nvGraphicFramePr>
        <p:xfrm>
          <a:off x="217488" y="3468688"/>
          <a:ext cx="4794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5292" imgH="393359" progId="Equation.3">
                  <p:embed/>
                </p:oleObj>
              </mc:Choice>
              <mc:Fallback>
                <p:oleObj name="Equation" r:id="rId6" imgW="355292" imgH="393359" progId="Equation.3">
                  <p:embed/>
                  <p:pic>
                    <p:nvPicPr>
                      <p:cNvPr id="2460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3468688"/>
                        <a:ext cx="4794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24"/>
          <p:cNvGrpSpPr/>
          <p:nvPr/>
        </p:nvGrpSpPr>
        <p:grpSpPr>
          <a:xfrm>
            <a:off x="2667000" y="2133600"/>
            <a:ext cx="6172200" cy="2057400"/>
            <a:chOff x="2667000" y="2133600"/>
            <a:chExt cx="6172200" cy="2057400"/>
          </a:xfrm>
        </p:grpSpPr>
        <p:sp>
          <p:nvSpPr>
            <p:cNvPr id="26" name="Rounded Rectangular Callout 25"/>
            <p:cNvSpPr/>
            <p:nvPr/>
          </p:nvSpPr>
          <p:spPr bwMode="auto">
            <a:xfrm>
              <a:off x="5638800" y="2133600"/>
              <a:ext cx="3200400" cy="457200"/>
            </a:xfrm>
            <a:prstGeom prst="wedgeRoundRectCallout">
              <a:avLst>
                <a:gd name="adj1" fmla="val -97801"/>
                <a:gd name="adj2" fmla="val 403124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27" name="Straight Arrow Connector 26"/>
            <p:cNvCxnSpPr/>
            <p:nvPr/>
          </p:nvCxnSpPr>
          <p:spPr bwMode="auto">
            <a:xfrm>
              <a:off x="2667000" y="4191000"/>
              <a:ext cx="190500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28" name="TextBox 27"/>
            <p:cNvSpPr txBox="1"/>
            <p:nvPr/>
          </p:nvSpPr>
          <p:spPr>
            <a:xfrm>
              <a:off x="5638800" y="2133600"/>
              <a:ext cx="320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½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RTTs between drops</a:t>
              </a:r>
            </a:p>
            <a:p>
              <a:r>
                <a:rPr lang="en-US" sz="1800" b="0" dirty="0">
                  <a:latin typeface="+mn-lt"/>
                </a:rPr>
                <a:t> 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52400" y="2743200"/>
            <a:ext cx="3505200" cy="2057400"/>
            <a:chOff x="152400" y="2743200"/>
            <a:chExt cx="3505200" cy="2057400"/>
          </a:xfrm>
        </p:grpSpPr>
        <p:sp>
          <p:nvSpPr>
            <p:cNvPr id="30" name="Rounded Rectangular Callout 29"/>
            <p:cNvSpPr/>
            <p:nvPr/>
          </p:nvSpPr>
          <p:spPr bwMode="auto">
            <a:xfrm>
              <a:off x="228600" y="2743200"/>
              <a:ext cx="3200400" cy="457200"/>
            </a:xfrm>
            <a:prstGeom prst="wedgeRoundRectCallout">
              <a:avLst>
                <a:gd name="adj1" fmla="val 55427"/>
                <a:gd name="adj2" fmla="val 214009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31" name="Straight Arrow Connector 30"/>
            <p:cNvCxnSpPr/>
            <p:nvPr/>
          </p:nvCxnSpPr>
          <p:spPr bwMode="auto">
            <a:xfrm>
              <a:off x="3657600" y="3124200"/>
              <a:ext cx="0" cy="167640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32" name="TextBox 31"/>
            <p:cNvSpPr txBox="1"/>
            <p:nvPr/>
          </p:nvSpPr>
          <p:spPr>
            <a:xfrm>
              <a:off x="152400" y="2743200"/>
              <a:ext cx="33404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Avg. ¾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packets per RTTs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072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(1): </a:t>
            </a:r>
            <a:br>
              <a:rPr lang="en-US" dirty="0"/>
            </a:br>
            <a:r>
              <a:rPr lang="en-US" dirty="0"/>
              <a:t>Different RTTs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2667000"/>
            <a:ext cx="8229600" cy="1219200"/>
          </a:xfrm>
        </p:spPr>
        <p:txBody>
          <a:bodyPr/>
          <a:lstStyle/>
          <a:p>
            <a:r>
              <a:rPr lang="en-US" sz="2400" dirty="0"/>
              <a:t>Flows get throughput inversely proportional to RTT</a:t>
            </a:r>
          </a:p>
          <a:p>
            <a:r>
              <a:rPr lang="en-US" sz="2400" dirty="0">
                <a:solidFill>
                  <a:srgbClr val="0000FF"/>
                </a:solidFill>
              </a:rPr>
              <a:t>TCP unfair in the face of heterogeneous RTTs!</a:t>
            </a:r>
            <a:endParaRPr lang="en-US" sz="2000" dirty="0">
              <a:solidFill>
                <a:srgbClr val="0000FF"/>
              </a:solidFill>
            </a:endParaRPr>
          </a:p>
          <a:p>
            <a:pPr lvl="1"/>
            <a:endParaRPr lang="en-US" sz="2000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828925" y="1600200"/>
          <a:ext cx="3268663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700" imgH="469900" progId="Equation.3">
                  <p:embed/>
                </p:oleObj>
              </mc:Choice>
              <mc:Fallback>
                <p:oleObj name="Equation" r:id="rId2" imgW="1663700" imgH="46990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25" y="1600200"/>
                        <a:ext cx="3268663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41"/>
          <p:cNvGrpSpPr>
            <a:grpSpLocks/>
          </p:cNvGrpSpPr>
          <p:nvPr/>
        </p:nvGrpSpPr>
        <p:grpSpPr bwMode="auto">
          <a:xfrm>
            <a:off x="1524000" y="3743325"/>
            <a:ext cx="6324600" cy="2286000"/>
            <a:chOff x="1152" y="1728"/>
            <a:chExt cx="3984" cy="1440"/>
          </a:xfrm>
        </p:grpSpPr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V="1">
              <a:off x="2736" y="2442"/>
              <a:ext cx="611" cy="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endParaRPr lang="en-US" sz="1800" b="0"/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3421" y="2175"/>
              <a:ext cx="105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endParaRPr lang="en-US" b="0">
                <a:latin typeface="Tahoma" charset="0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152" y="1728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>
                  <a:latin typeface="Tahoma" charset="0"/>
                </a:rPr>
                <a:t>A1</a:t>
              </a:r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1152" y="2819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 dirty="0">
                  <a:latin typeface="Tahoma" charset="0"/>
                </a:rPr>
                <a:t>A2</a:t>
              </a:r>
            </a:p>
          </p:txBody>
        </p:sp>
        <p:sp>
          <p:nvSpPr>
            <p:cNvPr id="20" name="Rectangle 22"/>
            <p:cNvSpPr>
              <a:spLocks noChangeArrowheads="1"/>
            </p:cNvSpPr>
            <p:nvPr/>
          </p:nvSpPr>
          <p:spPr bwMode="auto">
            <a:xfrm>
              <a:off x="4831" y="2867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 dirty="0">
                  <a:latin typeface="Tahoma" charset="0"/>
                </a:rPr>
                <a:t>B2</a:t>
              </a:r>
            </a:p>
          </p:txBody>
        </p:sp>
        <p:sp>
          <p:nvSpPr>
            <p:cNvPr id="21" name="Rectangle 31"/>
            <p:cNvSpPr>
              <a:spLocks noChangeArrowheads="1"/>
            </p:cNvSpPr>
            <p:nvPr/>
          </p:nvSpPr>
          <p:spPr bwMode="auto">
            <a:xfrm>
              <a:off x="4831" y="1728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59304" tIns="29651" rIns="59304" bIns="29651" anchor="ctr"/>
            <a:lstStyle/>
            <a:p>
              <a:pPr algn="ctr"/>
              <a:r>
                <a:rPr lang="en-US" sz="2800" b="0" dirty="0">
                  <a:latin typeface="Tahoma" charset="0"/>
                </a:rPr>
                <a:t>B1</a:t>
              </a:r>
            </a:p>
          </p:txBody>
        </p:sp>
        <p:sp>
          <p:nvSpPr>
            <p:cNvPr id="25" name="Line 38"/>
            <p:cNvSpPr>
              <a:spLocks noChangeShapeType="1"/>
            </p:cNvSpPr>
            <p:nvPr/>
          </p:nvSpPr>
          <p:spPr bwMode="auto">
            <a:xfrm flipV="1">
              <a:off x="3072" y="2448"/>
              <a:ext cx="0" cy="282"/>
            </a:xfrm>
            <a:prstGeom prst="line">
              <a:avLst/>
            </a:prstGeom>
            <a:noFill/>
            <a:ln w="12700">
              <a:solidFill>
                <a:srgbClr val="000090"/>
              </a:solidFill>
              <a:prstDash val="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US" sz="1800" b="0"/>
            </a:p>
          </p:txBody>
        </p:sp>
      </p:grpSp>
      <p:pic>
        <p:nvPicPr>
          <p:cNvPr id="2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657725"/>
            <a:ext cx="645226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657725"/>
            <a:ext cx="645226" cy="37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62400" y="5343525"/>
            <a:ext cx="1291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0" i="1" dirty="0">
                <a:solidFill>
                  <a:srgbClr val="000090"/>
                </a:solidFill>
                <a:latin typeface="+mn-lt"/>
              </a:rPr>
              <a:t>bottleneck</a:t>
            </a:r>
          </a:p>
          <a:p>
            <a:pPr algn="ctr"/>
            <a:r>
              <a:rPr lang="en-US" sz="1800" b="0" i="1" dirty="0">
                <a:solidFill>
                  <a:srgbClr val="000090"/>
                </a:solidFill>
                <a:latin typeface="+mn-lt"/>
              </a:rPr>
              <a:t>link</a:t>
            </a:r>
          </a:p>
        </p:txBody>
      </p:sp>
      <p:sp>
        <p:nvSpPr>
          <p:cNvPr id="44" name="Freeform 43"/>
          <p:cNvSpPr/>
          <p:nvPr/>
        </p:nvSpPr>
        <p:spPr>
          <a:xfrm>
            <a:off x="1877020" y="4152943"/>
            <a:ext cx="5701910" cy="580982"/>
          </a:xfrm>
          <a:custGeom>
            <a:avLst/>
            <a:gdLst>
              <a:gd name="connsiteX0" fmla="*/ 0 w 5701910"/>
              <a:gd name="connsiteY0" fmla="*/ 27020 h 580982"/>
              <a:gd name="connsiteX1" fmla="*/ 2702327 w 5701910"/>
              <a:gd name="connsiteY1" fmla="*/ 580929 h 580982"/>
              <a:gd name="connsiteX2" fmla="*/ 5701910 w 5701910"/>
              <a:gd name="connsiteY2" fmla="*/ 0 h 580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01910" h="580982">
                <a:moveTo>
                  <a:pt x="0" y="27020"/>
                </a:moveTo>
                <a:cubicBezTo>
                  <a:pt x="876004" y="306226"/>
                  <a:pt x="1752009" y="585432"/>
                  <a:pt x="2702327" y="580929"/>
                </a:cubicBezTo>
                <a:cubicBezTo>
                  <a:pt x="3652645" y="576426"/>
                  <a:pt x="5701910" y="0"/>
                  <a:pt x="5701910" y="0"/>
                </a:cubicBezTo>
              </a:path>
            </a:pathLst>
          </a:custGeom>
          <a:ln w="38100" cmpd="sng">
            <a:solidFill>
              <a:srgbClr val="D3A600"/>
            </a:solidFill>
            <a:headEnd type="triangl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Freeform 44"/>
          <p:cNvSpPr/>
          <p:nvPr/>
        </p:nvSpPr>
        <p:spPr>
          <a:xfrm rot="10800000">
            <a:off x="1765690" y="4991142"/>
            <a:ext cx="5701910" cy="580982"/>
          </a:xfrm>
          <a:custGeom>
            <a:avLst/>
            <a:gdLst>
              <a:gd name="connsiteX0" fmla="*/ 0 w 5701910"/>
              <a:gd name="connsiteY0" fmla="*/ 27020 h 580982"/>
              <a:gd name="connsiteX1" fmla="*/ 2702327 w 5701910"/>
              <a:gd name="connsiteY1" fmla="*/ 580929 h 580982"/>
              <a:gd name="connsiteX2" fmla="*/ 5701910 w 5701910"/>
              <a:gd name="connsiteY2" fmla="*/ 0 h 580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01910" h="580982">
                <a:moveTo>
                  <a:pt x="0" y="27020"/>
                </a:moveTo>
                <a:cubicBezTo>
                  <a:pt x="876004" y="306226"/>
                  <a:pt x="1752009" y="585432"/>
                  <a:pt x="2702327" y="580929"/>
                </a:cubicBezTo>
                <a:cubicBezTo>
                  <a:pt x="3652645" y="576426"/>
                  <a:pt x="5701910" y="0"/>
                  <a:pt x="5701910" y="0"/>
                </a:cubicBezTo>
              </a:path>
            </a:pathLst>
          </a:custGeom>
          <a:ln w="38100" cmpd="sng">
            <a:solidFill>
              <a:schemeClr val="accent6"/>
            </a:solidFill>
            <a:headEnd type="triangl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894909" y="4048125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i="1" dirty="0">
                <a:solidFill>
                  <a:srgbClr val="D3A600"/>
                </a:solidFill>
                <a:latin typeface="+mn-lt"/>
              </a:rPr>
              <a:t>100ms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67400" y="5202793"/>
            <a:ext cx="957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i="1" dirty="0">
                <a:solidFill>
                  <a:schemeClr val="accent6"/>
                </a:solidFill>
                <a:latin typeface="+mn-lt"/>
              </a:rPr>
              <a:t>200ms</a:t>
            </a:r>
          </a:p>
        </p:txBody>
      </p:sp>
    </p:spTree>
    <p:extLst>
      <p:ext uri="{BB962C8B-B14F-4D97-AF65-F5344CB8AC3E}">
        <p14:creationId xmlns:p14="http://schemas.microsoft.com/office/powerpoint/2010/main" val="131162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/>
              <a:t>Implications (2): </a:t>
            </a:r>
            <a:br>
              <a:rPr lang="en-US"/>
            </a:br>
            <a:r>
              <a:rPr lang="en-US"/>
              <a:t>High-speed TCP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RTT = 100ms, MSS=1500bytes, BW=100Gbps</a:t>
            </a:r>
          </a:p>
          <a:p>
            <a:r>
              <a:rPr lang="en-US" dirty="0"/>
              <a:t>What value of p is required to reach 100Gbps throughput?</a:t>
            </a:r>
          </a:p>
          <a:p>
            <a:pPr lvl="1"/>
            <a:r>
              <a:rPr lang="en-US" dirty="0"/>
              <a:t>~ 2 x 10</a:t>
            </a:r>
            <a:r>
              <a:rPr lang="en-US" baseline="30000" dirty="0"/>
              <a:t>-12</a:t>
            </a:r>
          </a:p>
          <a:p>
            <a:r>
              <a:rPr lang="en-US" dirty="0"/>
              <a:t>How long between drops?</a:t>
            </a:r>
          </a:p>
          <a:p>
            <a:pPr lvl="1"/>
            <a:r>
              <a:rPr lang="en-US" dirty="0"/>
              <a:t>~ 16.6 hours</a:t>
            </a:r>
          </a:p>
          <a:p>
            <a:r>
              <a:rPr lang="en-US" dirty="0"/>
              <a:t>How much data has been sent in this time?</a:t>
            </a:r>
          </a:p>
          <a:p>
            <a:pPr lvl="1"/>
            <a:r>
              <a:rPr lang="en-US" dirty="0"/>
              <a:t>~ 6 </a:t>
            </a:r>
            <a:r>
              <a:rPr lang="en-US" dirty="0" err="1"/>
              <a:t>petabits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693804"/>
              </p:ext>
            </p:extLst>
          </p:nvPr>
        </p:nvGraphicFramePr>
        <p:xfrm>
          <a:off x="4953000" y="261937"/>
          <a:ext cx="3268663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700" imgH="469900" progId="Equation.3">
                  <p:embed/>
                </p:oleObj>
              </mc:Choice>
              <mc:Fallback>
                <p:oleObj name="Equation" r:id="rId2" imgW="1663700" imgH="46990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61937"/>
                        <a:ext cx="3268663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9940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Adapting TCP to high speed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past a threshold speed, increase CWND faster </a:t>
            </a:r>
          </a:p>
          <a:p>
            <a:pPr lvl="1"/>
            <a:r>
              <a:rPr lang="en-US" dirty="0"/>
              <a:t>A proposed standard [Floyd’03]: once speed is past some threshold, change equation to p</a:t>
            </a:r>
            <a:r>
              <a:rPr lang="en-US" baseline="30000" dirty="0"/>
              <a:t>-.8</a:t>
            </a:r>
            <a:r>
              <a:rPr lang="en-US" dirty="0"/>
              <a:t> rather than p</a:t>
            </a:r>
            <a:r>
              <a:rPr lang="en-US" baseline="30000" dirty="0"/>
              <a:t>-.5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Let the additive constant in AIMD depend on CWND</a:t>
            </a:r>
          </a:p>
          <a:p>
            <a:r>
              <a:rPr lang="en-US" dirty="0"/>
              <a:t>Other approaches?</a:t>
            </a:r>
          </a:p>
          <a:p>
            <a:pPr lvl="1"/>
            <a:r>
              <a:rPr lang="en-US" dirty="0"/>
              <a:t>Multiple simultaneous connections (</a:t>
            </a:r>
            <a:r>
              <a:rPr lang="en-US" dirty="0">
                <a:solidFill>
                  <a:srgbClr val="0000FF"/>
                </a:solidFill>
              </a:rPr>
              <a:t>hack but works today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Router-assisted approaches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44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Implications (3): </a:t>
            </a:r>
            <a:br>
              <a:rPr lang="en-US" dirty="0"/>
            </a:br>
            <a:r>
              <a:rPr lang="en-US" dirty="0"/>
              <a:t>Rate-based CC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throughput is swings between W/2 to W</a:t>
            </a:r>
          </a:p>
          <a:p>
            <a:r>
              <a:rPr lang="en-US" dirty="0"/>
              <a:t>Apps may prefer steady rates (e.g., streaming)</a:t>
            </a:r>
          </a:p>
          <a:p>
            <a:r>
              <a:rPr lang="en-US" dirty="0"/>
              <a:t>“</a:t>
            </a:r>
            <a:r>
              <a:rPr lang="en-US" dirty="0">
                <a:solidFill>
                  <a:srgbClr val="0000FF"/>
                </a:solidFill>
              </a:rPr>
              <a:t>Equation-Based Congestion Control</a:t>
            </a:r>
            <a:r>
              <a:rPr lang="en-US" dirty="0"/>
              <a:t>” </a:t>
            </a:r>
          </a:p>
          <a:p>
            <a:pPr lvl="1"/>
            <a:r>
              <a:rPr lang="en-US" dirty="0"/>
              <a:t>Ignore TCP’s increase/decrease rules and just follow the equation</a:t>
            </a:r>
          </a:p>
          <a:p>
            <a:pPr lvl="1"/>
            <a:r>
              <a:rPr lang="en-US" dirty="0"/>
              <a:t>Measure drop percentage p, and set rate accordingly</a:t>
            </a:r>
          </a:p>
          <a:p>
            <a:r>
              <a:rPr lang="en-US" dirty="0"/>
              <a:t>Following the TCP equation ensures “TCP friendliness”</a:t>
            </a:r>
          </a:p>
          <a:p>
            <a:pPr lvl="1"/>
            <a:r>
              <a:rPr lang="en-US" dirty="0"/>
              <a:t>i.e., use no more than TCP does in similar setting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12285"/>
              </p:ext>
            </p:extLst>
          </p:nvPr>
        </p:nvGraphicFramePr>
        <p:xfrm>
          <a:off x="4953000" y="261937"/>
          <a:ext cx="3268663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700" imgH="469900" progId="Equation.3">
                  <p:embed/>
                </p:oleObj>
              </mc:Choice>
              <mc:Fallback>
                <p:oleObj name="Equation" r:id="rId2" imgW="1663700" imgH="46990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61937"/>
                        <a:ext cx="3268663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161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Implications (4): </a:t>
            </a:r>
            <a:br>
              <a:rPr lang="en-US" dirty="0"/>
            </a:br>
            <a:r>
              <a:rPr lang="en-US" dirty="0"/>
              <a:t>Loss not due to congestion?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will confuse corruption with congestion</a:t>
            </a:r>
          </a:p>
          <a:p>
            <a:r>
              <a:rPr lang="en-US" dirty="0"/>
              <a:t>Flow will cut its rate</a:t>
            </a:r>
          </a:p>
          <a:p>
            <a:pPr lvl="1"/>
            <a:r>
              <a:rPr lang="en-US" dirty="0"/>
              <a:t>Throughput ~ 1/</a:t>
            </a:r>
            <a:r>
              <a:rPr lang="en-US" dirty="0" err="1"/>
              <a:t>sqrt</a:t>
            </a:r>
            <a:r>
              <a:rPr lang="en-US" dirty="0"/>
              <a:t>(p) where p is loss prob.</a:t>
            </a:r>
          </a:p>
          <a:p>
            <a:pPr lvl="1"/>
            <a:r>
              <a:rPr lang="en-US" dirty="0"/>
              <a:t>Applies even for non-congestion losses!</a:t>
            </a:r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4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Implications (5): </a:t>
            </a:r>
            <a:br>
              <a:rPr lang="en-US" dirty="0"/>
            </a:br>
            <a:r>
              <a:rPr lang="en-US" dirty="0"/>
              <a:t>Short flows cannot ramp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50% of flows have &lt; 1500B to send; 80% &lt; 100KB</a:t>
            </a:r>
          </a:p>
          <a:p>
            <a:r>
              <a:rPr lang="en-US" dirty="0">
                <a:sym typeface="Wingdings"/>
              </a:rPr>
              <a:t>Implications </a:t>
            </a:r>
          </a:p>
          <a:p>
            <a:pPr lvl="1"/>
            <a:r>
              <a:rPr lang="en-US" dirty="0">
                <a:sym typeface="Wingdings"/>
              </a:rPr>
              <a:t>Short flows never leave slow start!</a:t>
            </a:r>
          </a:p>
          <a:p>
            <a:pPr lvl="2"/>
            <a:r>
              <a:rPr lang="en-US" dirty="0">
                <a:sym typeface="Wingdings"/>
              </a:rPr>
              <a:t>They never attain their fair share</a:t>
            </a:r>
          </a:p>
          <a:p>
            <a:pPr lvl="1"/>
            <a:r>
              <a:rPr lang="en-US" dirty="0">
                <a:sym typeface="Wingdings"/>
              </a:rPr>
              <a:t>Too few packets to trigger </a:t>
            </a:r>
            <a:r>
              <a:rPr lang="en-US" dirty="0" err="1">
                <a:sym typeface="Wingdings"/>
              </a:rPr>
              <a:t>dupACKs</a:t>
            </a:r>
            <a:r>
              <a:rPr lang="en-US" dirty="0">
                <a:sym typeface="Wingdings"/>
              </a:rPr>
              <a:t> </a:t>
            </a:r>
          </a:p>
          <a:p>
            <a:pPr lvl="2"/>
            <a:r>
              <a:rPr lang="en-US" dirty="0">
                <a:sym typeface="Wingdings"/>
              </a:rPr>
              <a:t>Isolated loss may lead to timeouts</a:t>
            </a:r>
          </a:p>
          <a:p>
            <a:pPr lvl="2"/>
            <a:r>
              <a:rPr lang="en-US" dirty="0">
                <a:sym typeface="Wingdings"/>
              </a:rPr>
              <a:t>At typical timeout values of ~500ms, might severely impact flow completion time</a:t>
            </a:r>
          </a:p>
          <a:p>
            <a:pPr lvl="1"/>
            <a:endParaRPr lang="en-US" dirty="0">
              <a:sym typeface="Wingdings"/>
            </a:endParaRPr>
          </a:p>
          <a:p>
            <a:pPr lvl="1"/>
            <a:endParaRPr lang="en-US" dirty="0">
              <a:sym typeface="Wingding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3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Implications (6): </a:t>
            </a:r>
            <a:br>
              <a:rPr lang="en-US" dirty="0"/>
            </a:br>
            <a:r>
              <a:rPr lang="en-US" dirty="0"/>
              <a:t>Short flows share long delays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flow deliberately overshoots capacity, until it experiences a drop</a:t>
            </a:r>
          </a:p>
          <a:p>
            <a:r>
              <a:rPr lang="en-US" dirty="0"/>
              <a:t>Means that delays are large, and are large for everyone</a:t>
            </a:r>
          </a:p>
          <a:p>
            <a:pPr lvl="1"/>
            <a:r>
              <a:rPr lang="en-US" dirty="0"/>
              <a:t>Consider a flow transferring a 10GB file sharing a  </a:t>
            </a:r>
            <a:br>
              <a:rPr lang="en-US" dirty="0"/>
            </a:br>
            <a:r>
              <a:rPr lang="en-US" dirty="0"/>
              <a:t>bottleneck link with 10 flows transferring 100B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Larger flows dominate smaller ones</a:t>
            </a:r>
          </a:p>
          <a:p>
            <a:endParaRPr lang="en-US" dirty="0"/>
          </a:p>
          <a:p>
            <a:pPr lvl="3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88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Implications (7): </a:t>
            </a:r>
            <a:br>
              <a:rPr lang="en-US" dirty="0"/>
            </a:br>
            <a:r>
              <a:rPr lang="en-US" dirty="0"/>
              <a:t>Cheating</a:t>
            </a:r>
          </a:p>
        </p:txBody>
      </p:sp>
      <p:sp>
        <p:nvSpPr>
          <p:cNvPr id="1050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easy ways to cheat</a:t>
            </a:r>
          </a:p>
          <a:p>
            <a:pPr lvl="1"/>
            <a:r>
              <a:rPr lang="en-US" dirty="0"/>
              <a:t>Increasing CWND faster than +1 MSS per RTT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970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/>
              <a:t>Implications (7): </a:t>
            </a:r>
            <a:br>
              <a:rPr lang="en-US"/>
            </a:br>
            <a:r>
              <a:rPr lang="en-US"/>
              <a:t>Cheating</a:t>
            </a:r>
            <a:endParaRPr lang="en-US" dirty="0"/>
          </a:p>
        </p:txBody>
      </p:sp>
      <p:sp>
        <p:nvSpPr>
          <p:cNvPr id="1050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easy ways to cheat</a:t>
            </a:r>
          </a:p>
          <a:p>
            <a:pPr lvl="1"/>
            <a:r>
              <a:rPr lang="en-US" dirty="0"/>
              <a:t>Increasing CWND faster than +1 MSS per RTT</a:t>
            </a:r>
          </a:p>
          <a:p>
            <a:pPr lvl="1"/>
            <a:r>
              <a:rPr lang="en-US" dirty="0"/>
              <a:t>Using large initial CWND</a:t>
            </a:r>
          </a:p>
          <a:p>
            <a:pPr lvl="2"/>
            <a:r>
              <a:rPr lang="en-US" dirty="0"/>
              <a:t>Common practice by many companies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51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Implications (7): </a:t>
            </a:r>
            <a:br>
              <a:rPr lang="en-US" dirty="0"/>
            </a:br>
            <a:r>
              <a:rPr lang="en-US" dirty="0"/>
              <a:t>Cheating</a:t>
            </a:r>
          </a:p>
        </p:txBody>
      </p:sp>
      <p:sp>
        <p:nvSpPr>
          <p:cNvPr id="1050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easy ways to cheat</a:t>
            </a:r>
          </a:p>
          <a:p>
            <a:pPr lvl="1"/>
            <a:r>
              <a:rPr lang="en-US" dirty="0"/>
              <a:t>Increasing CWND faster than +1 MSS per RTT</a:t>
            </a:r>
          </a:p>
          <a:p>
            <a:pPr lvl="1"/>
            <a:r>
              <a:rPr lang="en-US" dirty="0"/>
              <a:t>Using large initial CWND</a:t>
            </a:r>
          </a:p>
          <a:p>
            <a:pPr lvl="2"/>
            <a:r>
              <a:rPr lang="en-US" dirty="0"/>
              <a:t>Common practice by many companies</a:t>
            </a:r>
          </a:p>
          <a:p>
            <a:pPr lvl="1"/>
            <a:r>
              <a:rPr lang="en-US" dirty="0"/>
              <a:t>Opening many connections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05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Open many connections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Assume </a:t>
            </a:r>
          </a:p>
          <a:p>
            <a:pPr lvl="1"/>
            <a:r>
              <a:rPr lang="en-US" dirty="0"/>
              <a:t>A starts 10 connections to B</a:t>
            </a:r>
          </a:p>
          <a:p>
            <a:pPr lvl="1"/>
            <a:r>
              <a:rPr lang="en-US" dirty="0"/>
              <a:t>D starts 1 connection to E</a:t>
            </a:r>
          </a:p>
          <a:p>
            <a:pPr lvl="1"/>
            <a:r>
              <a:rPr lang="en-US" dirty="0"/>
              <a:t>Each connection gets about the same throughput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Then A gets 10 times more throughput than D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1039813" y="1277938"/>
            <a:ext cx="7480300" cy="534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3556" name="Group 4"/>
          <p:cNvGrpSpPr>
            <a:grpSpLocks/>
          </p:cNvGrpSpPr>
          <p:nvPr/>
        </p:nvGrpSpPr>
        <p:grpSpPr bwMode="auto">
          <a:xfrm>
            <a:off x="1600200" y="1527175"/>
            <a:ext cx="5264150" cy="1673225"/>
            <a:chOff x="1309" y="834"/>
            <a:chExt cx="3316" cy="1054"/>
          </a:xfrm>
        </p:grpSpPr>
        <p:sp>
          <p:nvSpPr>
            <p:cNvPr id="1054725" name="Rectangle 5"/>
            <p:cNvSpPr>
              <a:spLocks noChangeArrowheads="1"/>
            </p:cNvSpPr>
            <p:nvPr/>
          </p:nvSpPr>
          <p:spPr bwMode="auto">
            <a:xfrm>
              <a:off x="1309" y="1006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/>
            <a:p>
              <a:pPr algn="ctr" defTabSz="820738" eaLnBrk="1" hangingPunct="1">
                <a:defRPr/>
              </a:pPr>
              <a:r>
                <a:rPr lang="en-US" sz="3200" b="0">
                  <a:latin typeface="Tahoma" charset="0"/>
                  <a:cs typeface="+mn-cs"/>
                </a:rPr>
                <a:t>A</a:t>
              </a:r>
            </a:p>
          </p:txBody>
        </p:sp>
        <p:sp>
          <p:nvSpPr>
            <p:cNvPr id="1054726" name="Rectangle 6"/>
            <p:cNvSpPr>
              <a:spLocks noChangeArrowheads="1"/>
            </p:cNvSpPr>
            <p:nvPr/>
          </p:nvSpPr>
          <p:spPr bwMode="auto">
            <a:xfrm>
              <a:off x="2443" y="1180"/>
              <a:ext cx="1048" cy="30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/>
            <a:p>
              <a:pPr>
                <a:defRPr/>
              </a:pPr>
              <a:endParaRPr lang="en-US" b="0">
                <a:cs typeface="+mn-cs"/>
              </a:endParaRPr>
            </a:p>
          </p:txBody>
        </p:sp>
        <p:sp>
          <p:nvSpPr>
            <p:cNvPr id="1054727" name="Rectangle 7"/>
            <p:cNvSpPr>
              <a:spLocks noChangeArrowheads="1"/>
            </p:cNvSpPr>
            <p:nvPr/>
          </p:nvSpPr>
          <p:spPr bwMode="auto">
            <a:xfrm>
              <a:off x="4320" y="1006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/>
            <a:p>
              <a:pPr algn="ctr" defTabSz="820738" eaLnBrk="1" hangingPunct="1">
                <a:defRPr/>
              </a:pPr>
              <a:r>
                <a:rPr lang="en-US" sz="3200" b="0">
                  <a:latin typeface="Tahoma" charset="0"/>
                  <a:cs typeface="+mn-cs"/>
                </a:rPr>
                <a:t>B</a:t>
              </a:r>
            </a:p>
          </p:txBody>
        </p:sp>
        <p:sp>
          <p:nvSpPr>
            <p:cNvPr id="1054728" name="Line 8"/>
            <p:cNvSpPr>
              <a:spLocks noChangeShapeType="1"/>
            </p:cNvSpPr>
            <p:nvPr/>
          </p:nvSpPr>
          <p:spPr bwMode="auto">
            <a:xfrm>
              <a:off x="1614" y="1156"/>
              <a:ext cx="829" cy="10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/>
            <a:p>
              <a:pPr>
                <a:defRPr/>
              </a:pPr>
              <a:endParaRPr lang="en-US" b="0">
                <a:cs typeface="+mn-cs"/>
              </a:endParaRPr>
            </a:p>
          </p:txBody>
        </p:sp>
        <p:sp>
          <p:nvSpPr>
            <p:cNvPr id="1054729" name="Line 9"/>
            <p:cNvSpPr>
              <a:spLocks noChangeShapeType="1"/>
            </p:cNvSpPr>
            <p:nvPr/>
          </p:nvSpPr>
          <p:spPr bwMode="auto">
            <a:xfrm flipV="1">
              <a:off x="3491" y="1156"/>
              <a:ext cx="829" cy="10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/>
            <a:p>
              <a:pPr>
                <a:defRPr/>
              </a:pPr>
              <a:endParaRPr lang="en-US" b="0">
                <a:cs typeface="+mn-cs"/>
              </a:endParaRPr>
            </a:p>
          </p:txBody>
        </p:sp>
        <p:sp>
          <p:nvSpPr>
            <p:cNvPr id="1054730" name="Text Box 10"/>
            <p:cNvSpPr txBox="1">
              <a:spLocks noChangeArrowheads="1"/>
            </p:cNvSpPr>
            <p:nvPr/>
          </p:nvSpPr>
          <p:spPr bwMode="auto">
            <a:xfrm>
              <a:off x="3578" y="891"/>
              <a:ext cx="105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endParaRPr lang="en-US" sz="2200" b="0">
                <a:latin typeface="Tahoma" charset="0"/>
                <a:cs typeface="+mn-cs"/>
              </a:endParaRPr>
            </a:p>
          </p:txBody>
        </p:sp>
        <p:sp>
          <p:nvSpPr>
            <p:cNvPr id="1054731" name="Text Box 11"/>
            <p:cNvSpPr txBox="1">
              <a:spLocks noChangeArrowheads="1"/>
            </p:cNvSpPr>
            <p:nvPr/>
          </p:nvSpPr>
          <p:spPr bwMode="auto">
            <a:xfrm>
              <a:off x="1833" y="834"/>
              <a:ext cx="220" cy="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2900" b="0">
                  <a:solidFill>
                    <a:srgbClr val="CC0000"/>
                  </a:solidFill>
                  <a:latin typeface="Tahoma" charset="0"/>
                  <a:cs typeface="+mn-cs"/>
                </a:rPr>
                <a:t>x</a:t>
              </a:r>
            </a:p>
          </p:txBody>
        </p:sp>
        <p:sp>
          <p:nvSpPr>
            <p:cNvPr id="1054732" name="Rectangle 12"/>
            <p:cNvSpPr>
              <a:spLocks noChangeArrowheads="1"/>
            </p:cNvSpPr>
            <p:nvPr/>
          </p:nvSpPr>
          <p:spPr bwMode="auto">
            <a:xfrm>
              <a:off x="1309" y="1392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/>
            <a:p>
              <a:pPr algn="ctr" defTabSz="820738" eaLnBrk="1" hangingPunct="1">
                <a:defRPr/>
              </a:pPr>
              <a:r>
                <a:rPr lang="en-US" sz="3200" b="0">
                  <a:latin typeface="Tahoma" charset="0"/>
                  <a:cs typeface="+mn-cs"/>
                </a:rPr>
                <a:t>D</a:t>
              </a:r>
            </a:p>
          </p:txBody>
        </p:sp>
        <p:sp>
          <p:nvSpPr>
            <p:cNvPr id="1054733" name="Rectangle 13"/>
            <p:cNvSpPr>
              <a:spLocks noChangeArrowheads="1"/>
            </p:cNvSpPr>
            <p:nvPr/>
          </p:nvSpPr>
          <p:spPr bwMode="auto">
            <a:xfrm>
              <a:off x="4320" y="1392"/>
              <a:ext cx="305" cy="3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/>
            <a:p>
              <a:pPr algn="ctr" defTabSz="820738" eaLnBrk="1" hangingPunct="1">
                <a:defRPr/>
              </a:pPr>
              <a:r>
                <a:rPr lang="en-US" sz="3200" b="0">
                  <a:latin typeface="Tahoma" charset="0"/>
                  <a:cs typeface="+mn-cs"/>
                </a:rPr>
                <a:t>E</a:t>
              </a:r>
            </a:p>
          </p:txBody>
        </p:sp>
        <p:sp>
          <p:nvSpPr>
            <p:cNvPr id="1054734" name="Line 14"/>
            <p:cNvSpPr>
              <a:spLocks noChangeShapeType="1"/>
            </p:cNvSpPr>
            <p:nvPr/>
          </p:nvSpPr>
          <p:spPr bwMode="auto">
            <a:xfrm flipV="1">
              <a:off x="1614" y="1392"/>
              <a:ext cx="829" cy="127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/>
            <a:p>
              <a:pPr>
                <a:defRPr/>
              </a:pPr>
              <a:endParaRPr lang="en-US" b="0">
                <a:cs typeface="+mn-cs"/>
              </a:endParaRPr>
            </a:p>
          </p:txBody>
        </p:sp>
        <p:sp>
          <p:nvSpPr>
            <p:cNvPr id="1054735" name="Line 15"/>
            <p:cNvSpPr>
              <a:spLocks noChangeShapeType="1"/>
            </p:cNvSpPr>
            <p:nvPr/>
          </p:nvSpPr>
          <p:spPr bwMode="auto">
            <a:xfrm>
              <a:off x="3491" y="1392"/>
              <a:ext cx="829" cy="127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/>
            <a:p>
              <a:pPr>
                <a:defRPr/>
              </a:pPr>
              <a:endParaRPr lang="en-US" b="0">
                <a:cs typeface="+mn-cs"/>
              </a:endParaRPr>
            </a:p>
          </p:txBody>
        </p:sp>
        <p:sp>
          <p:nvSpPr>
            <p:cNvPr id="1054736" name="Text Box 16"/>
            <p:cNvSpPr txBox="1">
              <a:spLocks noChangeArrowheads="1"/>
            </p:cNvSpPr>
            <p:nvPr/>
          </p:nvSpPr>
          <p:spPr bwMode="auto">
            <a:xfrm>
              <a:off x="1954" y="1566"/>
              <a:ext cx="106" cy="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endParaRPr lang="en-US" sz="2900" b="0">
                <a:latin typeface="Tahoma" charset="0"/>
                <a:cs typeface="+mn-cs"/>
              </a:endParaRPr>
            </a:p>
          </p:txBody>
        </p:sp>
        <p:sp>
          <p:nvSpPr>
            <p:cNvPr id="1054737" name="Text Box 17"/>
            <p:cNvSpPr txBox="1">
              <a:spLocks noChangeArrowheads="1"/>
            </p:cNvSpPr>
            <p:nvPr/>
          </p:nvSpPr>
          <p:spPr bwMode="auto">
            <a:xfrm>
              <a:off x="1833" y="1223"/>
              <a:ext cx="220" cy="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34516" tIns="17257" rIns="34516" bIns="17257" anchor="ctr"/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defRPr/>
              </a:pPr>
              <a:r>
                <a:rPr lang="en-US" sz="2900" b="0">
                  <a:solidFill>
                    <a:srgbClr val="0000FF"/>
                  </a:solidFill>
                  <a:latin typeface="Tahoma" charset="0"/>
                  <a:cs typeface="+mn-cs"/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6758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Implications (8): </a:t>
            </a:r>
            <a:br>
              <a:rPr lang="en-US" dirty="0"/>
            </a:br>
            <a:r>
              <a:rPr lang="en-US" dirty="0"/>
              <a:t>CC intertwined with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CWND adjusted based on ACKs and timeouts</a:t>
            </a:r>
          </a:p>
          <a:p>
            <a:r>
              <a:rPr lang="en-US" dirty="0"/>
              <a:t>Cumulative ACKs and fast retransmit/recovery rules</a:t>
            </a:r>
          </a:p>
          <a:p>
            <a:r>
              <a:rPr lang="en-US" dirty="0"/>
              <a:t>Complicates evolution </a:t>
            </a:r>
          </a:p>
          <a:p>
            <a:pPr lvl="1"/>
            <a:r>
              <a:rPr lang="en-US" dirty="0"/>
              <a:t>Changing from cumulative to selective ACKs is hard</a:t>
            </a:r>
          </a:p>
          <a:p>
            <a:r>
              <a:rPr lang="en-US" dirty="0"/>
              <a:t>Sometimes we want CC but not reliability </a:t>
            </a:r>
          </a:p>
          <a:p>
            <a:pPr lvl="1"/>
            <a:r>
              <a:rPr lang="en-US" dirty="0"/>
              <a:t>e.g., real-time applications</a:t>
            </a:r>
          </a:p>
          <a:p>
            <a:r>
              <a:rPr lang="en-US" dirty="0"/>
              <a:t>We may also want </a:t>
            </a:r>
            <a:r>
              <a:rPr lang="en-US"/>
              <a:t>reliability without CC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8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ular Callout 18"/>
          <p:cNvSpPr/>
          <p:nvPr/>
        </p:nvSpPr>
        <p:spPr bwMode="auto">
          <a:xfrm>
            <a:off x="6858000" y="4800600"/>
            <a:ext cx="2207019" cy="762000"/>
          </a:xfrm>
          <a:prstGeom prst="wedgeRoundRectCallout">
            <a:avLst>
              <a:gd name="adj1" fmla="val -68501"/>
              <a:gd name="adj2" fmla="val 10318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/>
              <a:t>Recap: TCP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Misled by non-congestion losses</a:t>
            </a:r>
          </a:p>
          <a:p>
            <a:r>
              <a:rPr lang="en-US" sz="2400" dirty="0"/>
              <a:t>Fills up queues leading to high delays</a:t>
            </a:r>
          </a:p>
          <a:p>
            <a:r>
              <a:rPr lang="en-US" sz="2400" dirty="0"/>
              <a:t>Short flows complete before discovering available capacity</a:t>
            </a:r>
          </a:p>
          <a:p>
            <a:r>
              <a:rPr lang="en-US" sz="2400" dirty="0"/>
              <a:t>AIMD impractical for high speed links </a:t>
            </a:r>
          </a:p>
          <a:p>
            <a:r>
              <a:rPr lang="en-US" sz="2400" dirty="0"/>
              <a:t>Saw tooth discovery too choppy for some apps</a:t>
            </a:r>
          </a:p>
          <a:p>
            <a:r>
              <a:rPr lang="en-US" sz="2400" dirty="0"/>
              <a:t>Unfair under heterogeneous RTTs</a:t>
            </a:r>
          </a:p>
          <a:p>
            <a:r>
              <a:rPr lang="en-US" sz="2400" dirty="0"/>
              <a:t>Tight coupling with reliability mechanisms</a:t>
            </a:r>
          </a:p>
          <a:p>
            <a:r>
              <a:rPr lang="en-US" sz="2400" dirty="0"/>
              <a:t>End hosts can cheat</a:t>
            </a:r>
          </a:p>
          <a:p>
            <a:endParaRPr lang="en-US" sz="2400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6705600" y="1295400"/>
            <a:ext cx="2362200" cy="762000"/>
            <a:chOff x="6248400" y="2057400"/>
            <a:chExt cx="2743865" cy="762000"/>
          </a:xfrm>
        </p:grpSpPr>
        <p:sp>
          <p:nvSpPr>
            <p:cNvPr id="7" name="Rounded Rectangular Callout 6"/>
            <p:cNvSpPr/>
            <p:nvPr/>
          </p:nvSpPr>
          <p:spPr bwMode="auto">
            <a:xfrm>
              <a:off x="6324600" y="2057400"/>
              <a:ext cx="2667000" cy="762000"/>
            </a:xfrm>
            <a:prstGeom prst="wedgeRoundRectCallout">
              <a:avLst>
                <a:gd name="adj1" fmla="val -59678"/>
                <a:gd name="adj2" fmla="val 33884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48400" y="2118955"/>
              <a:ext cx="2743865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b="0" dirty="0">
                  <a:solidFill>
                    <a:srgbClr val="0000FF"/>
                  </a:solidFill>
                  <a:latin typeface="+mn-lt"/>
                </a:rPr>
                <a:t>Routers tell endpoints </a:t>
              </a:r>
              <a:br>
                <a:rPr lang="en-US" b="0" dirty="0">
                  <a:solidFill>
                    <a:srgbClr val="0000FF"/>
                  </a:solidFill>
                  <a:latin typeface="+mn-lt"/>
                </a:rPr>
              </a:br>
              <a:r>
                <a:rPr lang="en-US" b="0" dirty="0">
                  <a:solidFill>
                    <a:srgbClr val="0000FF"/>
                  </a:solidFill>
                  <a:latin typeface="+mn-lt"/>
                </a:rPr>
                <a:t>  if they’re congested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993452" y="2895599"/>
            <a:ext cx="2133600" cy="1790993"/>
            <a:chOff x="6324600" y="2550885"/>
            <a:chExt cx="2743865" cy="741613"/>
          </a:xfrm>
        </p:grpSpPr>
        <p:sp>
          <p:nvSpPr>
            <p:cNvPr id="12" name="Rounded Rectangular Callout 11"/>
            <p:cNvSpPr/>
            <p:nvPr/>
          </p:nvSpPr>
          <p:spPr bwMode="auto">
            <a:xfrm>
              <a:off x="6324600" y="2550885"/>
              <a:ext cx="2667001" cy="378634"/>
            </a:xfrm>
            <a:prstGeom prst="wedgeRoundRectCallout">
              <a:avLst>
                <a:gd name="adj1" fmla="val -71945"/>
                <a:gd name="adj2" fmla="val -2260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24600" y="2567025"/>
              <a:ext cx="2743865" cy="725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0" dirty="0">
                  <a:solidFill>
                    <a:srgbClr val="0000FF"/>
                  </a:solidFill>
                  <a:latin typeface="+mn-lt"/>
                </a:rPr>
                <a:t>Routers tell</a:t>
              </a:r>
              <a:br>
                <a:rPr lang="en-US" b="0" dirty="0">
                  <a:solidFill>
                    <a:srgbClr val="0000FF"/>
                  </a:solidFill>
                  <a:latin typeface="+mn-lt"/>
                </a:rPr>
              </a:br>
              <a:r>
                <a:rPr lang="en-US" b="0" dirty="0">
                  <a:solidFill>
                    <a:srgbClr val="0000FF"/>
                  </a:solidFill>
                  <a:latin typeface="+mn-lt"/>
                </a:rPr>
                <a:t> endpoints what </a:t>
              </a:r>
              <a:br>
                <a:rPr lang="en-US" b="0" dirty="0">
                  <a:solidFill>
                    <a:srgbClr val="0000FF"/>
                  </a:solidFill>
                  <a:latin typeface="+mn-lt"/>
                </a:rPr>
              </a:br>
              <a:r>
                <a:rPr lang="en-US" b="0" dirty="0">
                  <a:solidFill>
                    <a:srgbClr val="0000FF"/>
                  </a:solidFill>
                  <a:latin typeface="+mn-lt"/>
                </a:rPr>
                <a:t>rate to send at</a:t>
              </a:r>
            </a:p>
          </p:txBody>
        </p:sp>
      </p:grpSp>
      <p:sp>
        <p:nvSpPr>
          <p:cNvPr id="15" name="Oval 14"/>
          <p:cNvSpPr/>
          <p:nvPr/>
        </p:nvSpPr>
        <p:spPr bwMode="auto">
          <a:xfrm>
            <a:off x="723900" y="1524000"/>
            <a:ext cx="5943600" cy="11430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152400" y="2438400"/>
            <a:ext cx="6477000" cy="22098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228600" y="4800600"/>
            <a:ext cx="6477000" cy="6858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40638" y="4915192"/>
            <a:ext cx="213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>
                <a:solidFill>
                  <a:srgbClr val="0000FF"/>
                </a:solidFill>
                <a:latin typeface="+mn-lt"/>
              </a:rPr>
              <a:t>Routers enforce</a:t>
            </a:r>
            <a:br>
              <a:rPr lang="en-US" b="0" dirty="0">
                <a:solidFill>
                  <a:srgbClr val="0000FF"/>
                </a:solidFill>
                <a:latin typeface="+mn-lt"/>
              </a:rPr>
            </a:br>
            <a:r>
              <a:rPr lang="en-US" b="0" dirty="0">
                <a:solidFill>
                  <a:srgbClr val="0000FF"/>
                </a:solidFill>
                <a:latin typeface="+mn-lt"/>
              </a:rPr>
              <a:t>fair sharing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85800" y="5638800"/>
            <a:ext cx="7924800" cy="762000"/>
            <a:chOff x="838200" y="5791200"/>
            <a:chExt cx="7620000" cy="762000"/>
          </a:xfrm>
        </p:grpSpPr>
        <p:sp>
          <p:nvSpPr>
            <p:cNvPr id="4" name="Rounded Rectangle 3"/>
            <p:cNvSpPr/>
            <p:nvPr/>
          </p:nvSpPr>
          <p:spPr bwMode="auto">
            <a:xfrm>
              <a:off x="838200" y="5791200"/>
              <a:ext cx="7620000" cy="762000"/>
            </a:xfrm>
            <a:prstGeom prst="roundRect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05090" y="5939135"/>
              <a:ext cx="7369175" cy="461665"/>
            </a:xfrm>
            <a:prstGeom prst="rect">
              <a:avLst/>
            </a:prstGeom>
            <a:solidFill>
              <a:srgbClr val="D3A600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b="0" dirty="0">
                  <a:solidFill>
                    <a:srgbClr val="0000FF"/>
                  </a:solidFill>
                  <a:latin typeface="+mn-lt"/>
                </a:rPr>
                <a:t>Could fix many of these with some help from routers!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79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" grpId="0" build="p"/>
      <p:bldP spid="15" grpId="0" animBg="1"/>
      <p:bldP spid="16" grpId="0" animBg="1"/>
      <p:bldP spid="17" grpId="0" animBg="1"/>
      <p:bldP spid="1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works even though it has many flaws</a:t>
            </a:r>
          </a:p>
          <a:p>
            <a:r>
              <a:rPr lang="en-US" dirty="0"/>
              <a:t>Many of them can be fixed via assistance from the network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Next: The Network Layer</a:t>
            </a:r>
          </a:p>
          <a:p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SCI4430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I4430" id="{15A3AC05-7A36-854B-8939-3E2E33F8CCC1}" vid="{7D102457-217D-784D-8674-E211CA417DA1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1490459448</TotalTime>
  <Pages>7</Pages>
  <Words>1900</Words>
  <Application>Microsoft Macintosh PowerPoint</Application>
  <PresentationFormat>On-screen Show (4:3)</PresentationFormat>
  <Paragraphs>393</Paragraphs>
  <Slides>39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2" baseType="lpstr">
      <vt:lpstr>ＭＳ Ｐゴシック</vt:lpstr>
      <vt:lpstr>Zapf Dingbats</vt:lpstr>
      <vt:lpstr>Arial</vt:lpstr>
      <vt:lpstr>Arial Black</vt:lpstr>
      <vt:lpstr>Courier New</vt:lpstr>
      <vt:lpstr>Gill Sans</vt:lpstr>
      <vt:lpstr>Helvetica Neue</vt:lpstr>
      <vt:lpstr>Monotype Sorts</vt:lpstr>
      <vt:lpstr>Tahoma</vt:lpstr>
      <vt:lpstr>Times New Roman</vt:lpstr>
      <vt:lpstr>Wingdings</vt:lpstr>
      <vt:lpstr>CSCI4430</vt:lpstr>
      <vt:lpstr>Equation</vt:lpstr>
      <vt:lpstr>CSCI4430 Computer Networks  Lecture 9: Transport Layer –  More on congestion control</vt:lpstr>
      <vt:lpstr>Agenda</vt:lpstr>
      <vt:lpstr>Recap</vt:lpstr>
      <vt:lpstr>CC Implementation</vt:lpstr>
      <vt:lpstr>Event: ACK (new data)</vt:lpstr>
      <vt:lpstr>Event: ACK (new data)</vt:lpstr>
      <vt:lpstr>Event: TimeOut</vt:lpstr>
      <vt:lpstr>Event: dupACK</vt:lpstr>
      <vt:lpstr>Example</vt:lpstr>
      <vt:lpstr>Not done yet!</vt:lpstr>
      <vt:lpstr>Example</vt:lpstr>
      <vt:lpstr>Timeline: [101, 102, …, 110]</vt:lpstr>
      <vt:lpstr>Solution: Fast recovery</vt:lpstr>
      <vt:lpstr>Example</vt:lpstr>
      <vt:lpstr>Timeline: [101, 102, …, 110]</vt:lpstr>
      <vt:lpstr> TCP state machine</vt:lpstr>
      <vt:lpstr>Timeouts ➔ Slow Start</vt:lpstr>
      <vt:lpstr>dupACKs ➔ Fast Recovery</vt:lpstr>
      <vt:lpstr>New ACK changes state ONLY from Fast Recovery</vt:lpstr>
      <vt:lpstr> TCP state machine</vt:lpstr>
      <vt:lpstr>TCP flavors </vt:lpstr>
      <vt:lpstr>How can they coexist? </vt:lpstr>
      <vt:lpstr>TCP Throughput Equation</vt:lpstr>
      <vt:lpstr>A simple model for TCP throughput</vt:lpstr>
      <vt:lpstr>A simple model for TCP throughput</vt:lpstr>
      <vt:lpstr>Implications (1):  Different RTTs</vt:lpstr>
      <vt:lpstr>Implications (2):  High-speed TCP</vt:lpstr>
      <vt:lpstr>Adapting TCP to high speed</vt:lpstr>
      <vt:lpstr>Implications (3):  Rate-based CC</vt:lpstr>
      <vt:lpstr>Implications (4):  Loss not due to congestion?</vt:lpstr>
      <vt:lpstr>Implications (5):  Short flows cannot ramp up</vt:lpstr>
      <vt:lpstr>Implications (6):  Short flows share long delays</vt:lpstr>
      <vt:lpstr>Implications (7):  Cheating</vt:lpstr>
      <vt:lpstr>Implications (7):  Cheating</vt:lpstr>
      <vt:lpstr>Implications (7):  Cheating</vt:lpstr>
      <vt:lpstr>Open many connections</vt:lpstr>
      <vt:lpstr>Implications (8):  CC intertwined with reliability</vt:lpstr>
      <vt:lpstr>Recap: TCP problems</vt:lpstr>
      <vt:lpstr>Summary</vt:lpstr>
    </vt:vector>
  </TitlesOfParts>
  <Manager/>
  <Company>CUHK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CSCI4430 Computer Networks  Lecture 9: Transport Layer –  More on congestion control</dc:title>
  <dc:subject/>
  <dc:creator>Hong Xu</dc:creator>
  <cp:keywords/>
  <dc:description/>
  <cp:lastModifiedBy>Hong Xu</cp:lastModifiedBy>
  <cp:revision>1285</cp:revision>
  <cp:lastPrinted>1999-09-08T17:25:07Z</cp:lastPrinted>
  <dcterms:created xsi:type="dcterms:W3CDTF">2014-01-14T18:15:50Z</dcterms:created>
  <dcterms:modified xsi:type="dcterms:W3CDTF">2025-02-26T03:46:56Z</dcterms:modified>
  <cp:category/>
</cp:coreProperties>
</file>
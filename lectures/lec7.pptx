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2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3.xml" ContentType="application/inkml+xml"/>
  <Override PartName="/ppt/notesSlides/notesSlide13.xml" ContentType="application/vnd.openxmlformats-officedocument.presentationml.notesSlide+xml"/>
  <Override PartName="/ppt/ink/ink4.xml" ContentType="application/inkml+xml"/>
  <Override PartName="/ppt/notesSlides/notesSlide14.xml" ContentType="application/vnd.openxmlformats-officedocument.presentationml.notesSlide+xml"/>
  <Override PartName="/ppt/ink/ink5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ink/ink6.xml" ContentType="application/inkml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ink/ink7.xml" ContentType="application/inkml+xml"/>
  <Override PartName="/ppt/notesSlides/notesSlide23.xml" ContentType="application/vnd.openxmlformats-officedocument.presentationml.notesSlide+xml"/>
  <Override PartName="/ppt/ink/ink8.xml" ContentType="application/inkml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723" r:id="rId1"/>
  </p:sldMasterIdLst>
  <p:notesMasterIdLst>
    <p:notesMasterId r:id="rId57"/>
  </p:notesMasterIdLst>
  <p:handoutMasterIdLst>
    <p:handoutMasterId r:id="rId58"/>
  </p:handoutMasterIdLst>
  <p:sldIdLst>
    <p:sldId id="648" r:id="rId2"/>
    <p:sldId id="487" r:id="rId3"/>
    <p:sldId id="513" r:id="rId4"/>
    <p:sldId id="515" r:id="rId5"/>
    <p:sldId id="526" r:id="rId6"/>
    <p:sldId id="524" r:id="rId7"/>
    <p:sldId id="527" r:id="rId8"/>
    <p:sldId id="528" r:id="rId9"/>
    <p:sldId id="540" r:id="rId10"/>
    <p:sldId id="529" r:id="rId11"/>
    <p:sldId id="530" r:id="rId12"/>
    <p:sldId id="531" r:id="rId13"/>
    <p:sldId id="532" r:id="rId14"/>
    <p:sldId id="533" r:id="rId15"/>
    <p:sldId id="534" r:id="rId16"/>
    <p:sldId id="535" r:id="rId17"/>
    <p:sldId id="536" r:id="rId18"/>
    <p:sldId id="537" r:id="rId19"/>
    <p:sldId id="538" r:id="rId20"/>
    <p:sldId id="539" r:id="rId21"/>
    <p:sldId id="541" r:id="rId22"/>
    <p:sldId id="542" r:id="rId23"/>
    <p:sldId id="543" r:id="rId24"/>
    <p:sldId id="544" r:id="rId25"/>
    <p:sldId id="545" r:id="rId26"/>
    <p:sldId id="546" r:id="rId27"/>
    <p:sldId id="547" r:id="rId28"/>
    <p:sldId id="548" r:id="rId29"/>
    <p:sldId id="549" r:id="rId30"/>
    <p:sldId id="550" r:id="rId31"/>
    <p:sldId id="554" r:id="rId32"/>
    <p:sldId id="556" r:id="rId33"/>
    <p:sldId id="557" r:id="rId34"/>
    <p:sldId id="642" r:id="rId35"/>
    <p:sldId id="558" r:id="rId36"/>
    <p:sldId id="559" r:id="rId37"/>
    <p:sldId id="560" r:id="rId38"/>
    <p:sldId id="561" r:id="rId39"/>
    <p:sldId id="562" r:id="rId40"/>
    <p:sldId id="563" r:id="rId41"/>
    <p:sldId id="564" r:id="rId42"/>
    <p:sldId id="565" r:id="rId43"/>
    <p:sldId id="643" r:id="rId44"/>
    <p:sldId id="566" r:id="rId45"/>
    <p:sldId id="567" r:id="rId46"/>
    <p:sldId id="568" r:id="rId47"/>
    <p:sldId id="569" r:id="rId48"/>
    <p:sldId id="512" r:id="rId49"/>
    <p:sldId id="641" r:id="rId50"/>
    <p:sldId id="639" r:id="rId51"/>
    <p:sldId id="640" r:id="rId52"/>
    <p:sldId id="650" r:id="rId53"/>
    <p:sldId id="551" r:id="rId54"/>
    <p:sldId id="552" r:id="rId55"/>
    <p:sldId id="553" r:id="rId56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  <a:srgbClr val="D60093"/>
    <a:srgbClr val="0000FF"/>
    <a:srgbClr val="D3A600"/>
    <a:srgbClr val="FFCB05"/>
    <a:srgbClr val="333399"/>
    <a:srgbClr val="FF9900"/>
    <a:srgbClr val="00274C"/>
    <a:srgbClr val="FF33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30"/>
    <p:restoredTop sz="96327"/>
  </p:normalViewPr>
  <p:slideViewPr>
    <p:cSldViewPr>
      <p:cViewPr varScale="1">
        <p:scale>
          <a:sx n="128" d="100"/>
          <a:sy n="128" d="100"/>
        </p:scale>
        <p:origin x="592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-1914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fld id="{B29687F7-08B4-A54B-BC56-F290ADA497A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747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2-19T03:26:54.403"/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12289 17531 6609,'0'0'0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6T05:32:21.733"/>
    </inkml:context>
    <inkml:brush xml:id="br0">
      <inkml:brushProperty name="height" value="0.053" units="cm"/>
      <inkml:brushProperty name="color" value="#FF0000"/>
    </inkml:brush>
  </inkml:definitions>
  <inkml:trace contextRef="#ctx0" brushRef="#br0">2495 12156 7853,'0'-12'101,"0"1"1,0-3 445,0-1 0,0 4 0,2-1 1,2-1-1,4-1-43,1 3 1,10-4-1,10 3 1,5-3-72,7-2 1,4-1-1,13 1 1,5 2-187,4 3 0,9-1 1,5 5-1,3 1-174,2-1 0,6 2 1,-1 6-1,1 0-132,2 0 1,0 0-39,3 0 0,-44 3 0,-1 0 0,-3 1 0,0 0 0,44 5-418,-3 5 1,-4 1 93,0 2 1,-7 0 151,-5 1 1,-11-1 114,-5 0 0,-7 0-20,-5 0 0,2-1 103,-8-5 1,0 3 122,-5-9 0,-6 1-133,-1-6 0,1 0 4,5 0 1,-7-2 60,-4-4 0,-4 3 137,-2-9 1,-1 6 25,-5-5-106,-3-1 125,-8-5 1,0 0-105,0 0 1,0 5 142,0 1 0,0 5-111,0-5 0,0 5-38,0-5 1,-6 5-99,0-6 0,1 7 56,5-7 1,0 6-20,0-5 1,0 5 13,0-5 1,0 5-31,0-5 1,0 5 136,0-6 279,0 1-158,0-6 0,0-1-115,0 1 1,0 0-175,0 0 0,0-2 90,0-4 1,0-4-132,0-7 1,0-3 47,0-3 1,0-4-207,0-7 0,0-1 149,0 1 0,-6 1 48,0 4 1,-5 4 178,5 8 0,-8 1-63,3 5 0,-4 9 73,-2 7 0,-6 8-49,0-2 0,0 5 133,5 1 0,1 5-53,0 1 0,6 6-32,-1-7 0,6 7 135,-5-7-114,7 1 1,-4-4 97,8 4-87,0-4-9,0 5-97,0-14 1,-1 3-21,-5-8 0,2 3-13,-8-3 1,7-3-123,-7 4 1,-1 1 95,-10-1 0,-4 1-111,-7-1 0,-8-3-46,-4 9 1,-12-3 25,-5 2 0,-11 4-288,-7-3 1,-6 3 312,-11 2 1,8 0-337,-7 0 0,1-2 416,4-4 0,-1 2 16,1-7 0,6 5 83,0-6 1,0 7-81,5-7 0,-3 8-129,-2-1 1,2 5 50,4 5 0,-4 7 6,3 11 1,-1-2 88,2 8 0,5-3-3,12 3 0,11 2 131,12-9 0,14 1-96,8-5 0,11-7 112,12 0 0,5-7-163,7 2 0,2-4 409,4-2 0,-2 0-318,8 0 0,-8 0 234,2 0 0,2 0-256,-2 0 1,-6 0 93,-6 0 20,1 0-6,-3 0 34,7 0 0,-14 8-92,3 3 0,-5 10-27,-5 2 0,1 9-136,-8 3 1,3 9 86,-3 13 1,-1-2-9,7 9 0,-1 4-142,1 7 0,4 1-40,-4-1 1,6-7-41,6 1 0,-2-2-181,7-10 1,1-5-526,5-6 1,-6-16-223,1-1 1,1-14-1811,10-3 2933,-4-8 0,-2 3 0,-9-7 0</inkml:trace>
  <inkml:trace contextRef="#ctx0" brushRef="#br0" timeOffset="1">17656 13032 8005,'-32'10'-35,"1"-4"0,4-4 0,2-2 0,6-2 1156,6-4 1,7 4-1,14-4-801,9 4 1,8 0-1,9-1 1,1-5 35,-1-2 1,6 5 0,2-7 0,2 1-21,4 1 0,-4-3 1,4 5-1,4 1-69,3-1 0,2-3 1,-3 3-1,3 0 102,6 1 0,8-5-266,-2 6 0,4-1-283,-10 1 0,11 4 269,7-4 0,-5-1-128,-1 1 0,1-2-41,-1 3 1,7 3 40,-2-4 0,2 4-277,-1 2 1,3-6 317,-4 1 1,4-1-148,2 6 1,0 6 125,0-1 1,2 9-32,4-3 1,0-1-105,-41-5 1,1 1 0,42 6-95,-43-4 0,1 1 1,-2-1-1,0-1 98,1-1 1,1 0 0,0 1 0,1 1 33,1-2 0,1-1 1,-2 0-1,1 0 55,3 1 1,1-1 0,-5-2 0,1 0-13,0 3 1,1 0 0,-2-4-1,1-1-8,0 2 0,1 0 1,-3 1-1,-1 0 46,1-1 1,-1-1 0,1 2 0,0-2 104,45-2 0,-46 0 0,1 0-242,3 0 0,-1 0 0,44 0 285,-1 0 1,-5 0-265,0 0 1,-8 6 51,8 0 1,-16-1-149,5-5 0,-11 2 193,-6 4 1,1-4-98,-8 4 0,-2-4 294,-9-2 0,-2 0-223,-4 0 1,-7 0 376,7 0 0,-13 0-361,7 0 1,-5-6 147,0 0 1,3-7-391,-3 1 1,1 3-280,-1-3 1,2 1-2,-8-6 1,1-1 585,-1 1 0,4 0 0,8 0 0</inkml:trace>
  <inkml:trace contextRef="#ctx0" brushRef="#br0" timeOffset="2">18000 12121 8007,'-26'-2'-1,"1"-2"0,2-3 0,-2-1 0,0-1 128,0-1 1,0 6 0,4-3-1,-2 1 404,2 0 0,2 0 1,2 6 14,0 0 1,5 8 0,3 3 0,1 7-25,4 5 0,0 11 1,1 12-1,-3 5-236,2 7 1,-4 3 0,3 10 0,-1 1-224,-2 3 0,6 9 0,-3-2 0,3 2-296,2-6 0,0-11-97,0-4 1,2-13-356,3 1 0,1-20 0,9-6 0,4-12-573,1-5 1,1-4 378,2-10 1,-2-6 89,7-11 789,-7-3 0,12-16 0,-6-2 0</inkml:trace>
  <inkml:trace contextRef="#ctx0" brushRef="#br0" timeOffset="3">17966 12276 8007,'9'-2'0,"-3"-4"242,-4-5 1,-2 1 0,0-1 688,0-3 0,0 5-399,0-3 1,6 7-271,0-7 1,7 3-1,-2-5 1,5 5 221,1 1 1,6-5-182,0 1 1,9 5 41,3 1 1,-1-2-66,6 3 1,4-3 56,2 2 0,6 4-146,5-4 1,-1-1-58,7 1 1,-4-2 65,10 3 1,-4 1-299,9-8 0,5 7 259,1-7 0,12 1-155,-44 2 1,1 1 0,47-4-240,-47 6 1,-1 1 0,44-5 285,-43 5 1,0-1 0,-1-1 0,1 0-76,3 4 0,0 1 0,43-6 51,-3 2 0,-10 4-133,-2-3 0,1 3-196,5 2 0,-2 0 34,-4 0 1,-3 5 142,-8 1 1,5 6-97,1-7 1,-1 7 14,-5-6 0,0 5 106,0-5 0,11 5-70,0-5 1,3 5-31,-9-5 0,5 0-171,7-6 0,0 6 149,0-1 1,-6 7 31,0-7 0,-5 9 50,5-3 1,-7 3-78,1-3 0,-10 4 186,-7-3 0,-4 3-96,-1 2 0,0-5 378,-1-1 1,1 1-281,0 5 0,-7-6 236,1 1 1,0-6-341,6 5 1,-6-7 110,0 2 1,0 1-160,5-1 1,-1 0 88,-4-6 1,-4 0 67,-8 0 0,-1-6-102,-5 0 0,5-1 204,-4 1 0,-5 4-11,-1-4 1,-3-1 28,-3 1 0,0 0-103,0 6 1,6-6 18,0 1 0,0-1-52,-6 6 1,0-6-7,1 0 0,1 1-50,4 5 1,-4 0 63,4 0 1,-4 0 69,-2 0 1,-5 0 17,-1 0 1,-5 0 397,5 0-81,-7 0 362,4 0-280,-8 0-188,7 0 1,-5 2-41,4 3 1,-4-1 380,-2 8 0,0-7-40,0 7 0,0 1-200,0 10 0,0-2-133,0 8 0,0-1-39,0 7 0,0 7 0,0 4 1,-2 5-11,-4 7 0,4 1-164,-3 4 0,3 4 47,2-4 1,0-2 24,0 2 1,0-10-781,0-1 0,0-8-422,0-10 1,2-7 1105,3-4 0,5-4 0,7-2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6T05:32:22.616"/>
    </inkml:context>
    <inkml:brush xml:id="br0">
      <inkml:brushProperty name="height" value="0.053" units="cm"/>
      <inkml:brushProperty name="color" value="#FF0000"/>
    </inkml:brush>
  </inkml:definitions>
  <inkml:trace contextRef="#ctx0" brushRef="#br0">19067 8579 7897,'-17'0'682,"0"0"-202,0 0 0,5 0-134,1 0 0,9 0 0,2 0-117,9 0 1,8 0 0,6-2 0,8-1 142,7-3 0,8-6 0,12 5 0,7-3 0,9-3-115,12-2 1,-36 3 0,1 1 0,8-1 0,1 1 0,5 0 0,2 1-179,7 0 0,1 1 0,1 0 0,1 0-408,3 1 1,1-1-1,-3 1 1,0 1-1,0 0 1,-1 1 153,1-1 1,-1 2-1,-4 3 1,0 0-1,-5-1 1,-1-1-117,-5 0 1,-1 0-1,-8 3 1,-1 0-937,40-5 1,-16 4 440,-1 2 0,-22-1-832,5-5 1618,-24 4 0,6-11 0,-11 7 0,3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6T05:32:29.318"/>
    </inkml:context>
    <inkml:brush xml:id="br0">
      <inkml:brushProperty name="height" value="0.053" units="cm"/>
      <inkml:brushProperty name="color" value="#FF0000"/>
    </inkml:brush>
  </inkml:definitions>
  <inkml:trace contextRef="#ctx0" brushRef="#br0">11788 12379 7897,'-10'0'1060,"1"0"-662,3 0 1,2 0 138,-7 0 1,7 2 0,-2 4 70,4 5 0,4 4 0,2 5 0,2 2-357,-2 7 1,-2 6 0,-2 5 0,0 5-138,0 5 0,0 9-16,0 4 0,0 6 0,0 4 0,0 1-435,0-1 0,0-4 174,0-6 0,0 2-546,0-8 1,0-7 116,0-10 1,1-12-122,5-5 0,-4-4 204,4-1 1,-2-9-596,1-3 249,-3-4 299,6-2 1,-8-2 555,0-4 0,0 2 0,0-7 0,0-1 0,0-5 0</inkml:trace>
  <inkml:trace contextRef="#ctx0" brushRef="#br0" timeOffset="1">11891 12259 7897,'-11'-6'48,"-1"-2"276,-1-1 0,3 5 123,-1-2 1,5 4 62,-5 2 0,1 2 1,-3 4-137,1 5 1,6-1-211,-5 1 1,0 3 0,-5 7-1,1 4 99,-2 1 1,3-3-142,-9 6 0,-1 0-218,1 5 1,-6 0-576,6 1 1,0-3 56,6-3 1,-4 1-1144,4-7 506,-4 0-51,19-13 1302,-6-2 0,8-8 0,-8-8 0,-1-2 0</inkml:trace>
  <inkml:trace contextRef="#ctx0" brushRef="#br0" timeOffset="2">11650 12345 7897,'8'-10'0,"-6"1"1701,4 3-347,-5 4 0,7-6-412,4 8 1,-3 0-514,3 0 0,-1 2-229,6 4 0,-3 5 13,3 12 1,-4-2-73,10 8 1,-4-2-147,-1 1 1,-1 5-31,0-4 1,6 3-255,0 2 0,0-1-458,-6-4 0,-2 1 111,-3-7 1,1 6-437,-7-6 0,5 0-634,-5-6 1706,0 0 0,2 0 0,1 0 0</inkml:trace>
  <inkml:trace contextRef="#ctx0" brushRef="#br0" timeOffset="3">14903 7066 7897,'-25'-11'6,"6"1"1,7 1 0,5-3 0,5-7 482,6-7 0,13-9 0,13-7 0,10-9-301,12-11 1,-20 26 0,3-2-1,5-2 1,2 0 0,3-2-1,0 0 1,3-2 0,0 0-1,0 0 1,1 0-294,0 1 1,0 0-1,-5-1 1,0 2-1,0 6 1,0 1-1,-5 3 1,-2 1-740,28-24 0,-4 7-187,-21 14 1,-7 1 1030,-10 5 0,-4-5 0,-2 6 0</inkml:trace>
  <inkml:trace contextRef="#ctx0" brushRef="#br0" timeOffset="4">15488 5880 9195,'-10'4'3277,"6"7"-2408,8 12 1,4 17-1,5 14 1,-1 13-595,1 11 0,4 14 1,-6-44-1,-1 1-656,2 2 0,-1-1 0,1 2 0,-1 0 0,-2-1 0,-1 1 0,1-2 0,0-1-3539,8 43 3501,0-8 0,0-15 0,1-1 0</inkml:trace>
  <inkml:trace contextRef="#ctx0" brushRef="#br0" timeOffset="5">17002 7049 8067,'0'-9'29,"0"-7"641,0 5 1,0 1 370,0-1-622,0 7 1,0-2-175,0 12 0,0 4 0,0 7-115,0 0 1,0 0-1,0 0 1,0 1-1,0-1 94,0 0 1,-6 6-223,1 0 0,-9 5 1,5-3-1,-3 2-34,1 4 26,-1 1 1,-5 2-1,-2 3-42,-4 3 0,4-2 57,-4 8 0,-2-8 74,2 2 1,-5 2 40,5-2-89,0 1 1,0-9 52,0-3 1,0 3-1,6-5 30,-1 0-1,1 5 0,-2-13 0,0 6 63,2 0-111,-12-6 1,18 8-1,-12-6-23,3 2 0,9 1 27,0-1 0,-1-2-17,-5 8 1,0-8 60,-1 2-73,1 4 0,0-6 0,2 6 25,3-3 0,-3-1-18,3-6 1,3 3-4,-3 3 0,1-4 0,-6 4-43,0-4 0,-1-2 1,1 2 85,0 4-49,0-4 0,0 6 1,-1-8 53,1 0-41,0 8 1,-6-6-5,0 4 1,0-4-25,6-2 0,-6 1 0,0 1-40,2 4 0,2-6 0,2 0 0,-1 0-111,1-5 125,0 3 0,6 2 0,-1-2-37,-1-3 0,-3 3 34,-1-3 17,0 3 0,0 0 0,0-1 18,-1-3 1,1 0 11,0 7 1,0-1-19,-1 0 1,1 0 7,0 0 0,0 1-13,0-1 1,-6-6 25,0 1-48,0-1 0,6 6 1,-1 1 27,1-1 0,0-6-13,0 1 0,0-1-17,-1 6 0,1-1-12,0-5 16,0 4 1,-2-5-11,-4 7 0,4 0 5,-4 0 0,3 1 0,3-1 1,0-6-9,0 1 12,0-1 1,-1 6-8,1 1 1,0-1-1,0 0 3,0 0 2,-1 0 1,1 1 0,0-1 0,0 0 0,0 0 0,-1 0-9,1 1 1,0-1 0,0 0 0,0 0 1,-1 0-1,1 1 0,0-3 4,0-4 4,-1 5 0,7-7 0,0 8 13,-3 1 0,-1-1 2,-2 0 1,-1-2-4,1-3 0,2 3-12,3-4 1,-3 5 1,4 1 0,-5 0 4,-1 0 1,0 0 0,0 1 0,0-7 8,-1 1 1,1-1 12,0 6-6,0-7 1,-1 5 0,1-5 50,0-1 0,0 6-10,0-3 1,-1 1-39,1-1 0,0 3-48,0-4 38,0 5 0,-1-5 0,1 1 6,0 1 1,0-3 4,0 1 0,1 1-7,5 5 0,-4-6-5,3 1-33,-3-1 0,-2 1 0,-1-1 30,1 2-22,8-5 0,-7 5 1,5-5-16,-5 2 0,5-5 31,0 7-83,-1-8 1,-5 11 69,0-4 1,-1 5 1,1 1 0,0-6 3,0 1 0,5-6 0,1 5 21,-1-7 0,-5 9 1,0-5 3,0 1 0,0-3 15,-1 6 1,1-9-31,0 3 1,5 4 4,1 1 10,0-3 1,-7 1-1,1-3 39,0 6 0,0-3-58,-1 3 1,7-7 1,0 7 1,-1-3-3,-5 3 1,0 1 12,-1-7 0,7 7-2,-1-1 1,1-3-17,-6 3 1,2-7-3,3 7 1,-3-3-1,3 3 0,-3 1-5,-2-7 1,5 5 6,1-5 0,-1 2 0,-5-2 0,0-3-13,0 9 0,1-6-20,5 5 31,-4-7 1,5 9 0,-7-5 54,0 1 0,-1-3 6,1 6 1,0-3-1,0 3 0,0 1 11,-1-7 0,1 7-8,0-1 0,6-3 15,-1 3 0,1-3 85,-7 3 0,1 1-103,0-7 0,0 5 243,0-5-164,-1 7 1,3-9 0,2 6 36,1-3 0,1 5-100,-6-7 0,-1 7 4,1-6 0,-2 7 87,-4-2-187,4-3 1,-6 7-1,8-3-129,0 3 0,-1 0-39,1-3 0,0 3-1121,0-3 813,7-5-3286,-5 1 2703,13-8 1,2 0 364,11 0 0,5-10-43,1-7 0,6-8-254,0-9 0,6-2 1014,-6-4 0,-1 3 0,-4-5 0</inkml:trace>
  <inkml:trace contextRef="#ctx0" brushRef="#br0" timeOffset="6">13113 10643 8067,'6'-18'-68,"-1"1"1,1 0 456,2 0 0,-6 5 785,4 1 1,-5 5 728,-1-5-1577,0 7 0,-1 2 1,-3 10-134,-2 1 0,-7-3 1,1 5-39,-3 3 1,-2 1-15,-1 2 0,-1 0 0,-2 1 1,-2-1 394,2 0-521,2 0 1,-4 6-1,-2 2 91,-1 2 1,5-4-19,-2 5 0,-2-5 9,2 6 1,-6-2-294,6 1 171,-7 5 1,10-8 0,-3 5-28,4-1-6,2-8 0,2 9 0,1-5 0,3 2 0,0-6 46,-7 2 39,1 4 1,6-8-1,-1 4 199,-1-4 0,3 0-107,-1 4 1,5-4 479,-5 4-142,7-4-249,-12-2 0,15-5-112,-5-1 0,4-5 155,2 5 0,8-7 105,3 2 0,4 1-50,2-1-266,1 7 1,5-11 0,2 4 211,1-4 0,3-4-38,5-4 0,1 3-282,-1-9 0,1 1 76,-1-7-602,8 1 1,-4 0-1,6 0-152,-2 0 1,-1-1-421,-7 1 0,4 0 229,-3 0 1,1 7-322,-13 5 1,0 3 393,-6 2 864,0-8 0,0 6 0,1-5 0</inkml:trace>
  <inkml:trace contextRef="#ctx0" brushRef="#br0" timeOffset="7">13578 6877 8265,'7'-15'-24,"3"2"1,1 1-1,-1-1 1,-1-3 1360,1-1 0,-6 0-594,2 0 0,-12 7 1,-6 5-471,-3 3 0,4 4 0,-1 1-77,-1 3 1,-8 8 0,-2-3-65,2 4 0,2 2 0,1 1 0,-1 1-152,-4 4 1,2-2-102,-7 7 84,7 1 1,-10 5 0,4 3 89,-5 3 0,7-2-1,-10 8 1,5-6 37,-5 6 0,-1 2 64,-4 9-91,4-11 0,-6 11 0,7-11 81,1 4 0,-1-3-77,1 5 1,5-10-9,1 10 1,1-10 5,-2 3-31,-3-6 0,7 8 0,-6-6-27,2-3 0,8-2 11,-2-2 0,2 1-11,-2-1 1,4 1 45,-4-1-68,4 0 1,-4 1-1,-2 1 109,-1 4 0,3-9-9,-6 3 1,6-3 12,-6 3 0,7 0-7,-7 1 1,2-1 6,-2 1 0,-1-1 49,7 0 0,-8 1 10,3-1 0,1 1-53,-2-1 1,8-2 87,-2-3-148,4 3 0,2-7 0,0 6 3,-1-2 1,1-7-110,0 7 1,0-6 178,0 6-184,7-8 1,-5 11 0,3-5 18,-3 0 1,-2 5-11,0-3 1,-1-2 38,1 1 0,-6-5-6,0 6 0,0-1 27,6 7-3,-8-8 1,6 5 0,-6-5 6,0 0 1,6 5 17,-4-3 0,4-3 4,2 3 0,0-2-21,0 1 65,-1 5 1,1-8 0,0 5 24,0-1 1,0-2 12,-1 1 1,-5 5-95,0-4 1,0 3 46,6 2-38,0-7 1,-2 8 0,-2-5 17,-2 3 0,0 5-15,6-10 1,0 3 12,-1-2 0,1 3-13,0-3 1,5-2-24,1 1 1,0-5 8,-7 6 1,3-6 39,4 5 0,-5-7-33,5 2 0,1 2 13,-1-2-22,-1 8 1,-5-10 0,0 5 0,0-1 0,5 4-55,1-6 0,-1 5-15,-5-5 1,0 6 64,0-6 0,-1 6-51,1-6 1,0 5 26,0-5 1,1 6 55,5-6 0,-4 5 10,3-5 0,-3 2-15,-2-2 1,5-4 9,1 4 0,1-4-34,-1-2 0,-3 6-6,9 0 0,-7 0 26,6-6 0,-7-1-1,2-5 1,3 4-7,2-3 0,-1-3-36,1 3 0,-2-6-16,2 5-69,5-7 1,-7 5-179,8-3 0,-2-4-401,-4 4-666,4-4-189,-5-2 250,7 0 1,2 0 327,3 0 1,-1-8-28,8-3 0,-7-10-1288,7-2 2268,-1-8 0,6-3 0,1-10 0</inkml:trace>
  <inkml:trace contextRef="#ctx0" brushRef="#br0" timeOffset="8">10618 10694 8090,'0'-17'1068,"0"0"1700,0 0-1174,0 7-441,0-5-546,-8 13 1,4 2-239,-7 11 0,7 6-134,-2 6 1,-3 4-43,-3 8 0,3-1-115,-3 0 1,1 6-46,-7 1 1,3 4 155,4-5 1,-5 6 22,5-6 1,1 6 96,-1-6-95,7 1 0,-4-9 0,8-3 127,0-6 0,0-4 154,0-2 0,8-8-196,4-3 0,3-4-93,2-2 1,8-13-299,4-4 1,-1-12 145,7 0 0,-3-3-1479,14-3 0,0-1-274,6-4 0,-1 4-817,1-4 0,0 3 2516,-1 3 0,1-8 0,-1-2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2-22T08:03:12.763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3917 4169 8154,'-1'-12'-5,"-1"0"705,-2-4-343,0 4 1,0-5 45,0 6 1,-1 1 262,1 2 0,3-2 547,-3 2-534,3-2-344,1-1-97,-5-1 60,4 6-724,-4-4 368,5 8 168,0-3-919,0 5 628,-5 0 1,0 5-96,-3 3 0,-2 2 93,2 2 0,-2 4-165,-1 3 583,-1 3-137,1 6 0,-5-3-215,1 5 991,0 1-579,-1-2 0,3-1 148,-2-5 337,2 0-471,2 0 1,3-1 151,0 1 0,6-5 120,-2-3 0,-1-2 218,1-2-620,0 1 1,6-5 110,1 1 1,1-4 129,8 3 1,-4-3-262,8 4 0,1-6 80,2 2 1,4 1-28,4-1 0,1 1 21,2-1 1,2-3-130,-5 3 1,3-1 129,-3 0 0,-1 0-63,-3 4 1,-5-3 1,-3 4 0,-7 1 35,-4 6 1,-6 3-163,-5 5 1,-6 1 132,-10 2 0,-5 4-1299,-2 4 1,-7 4 418,-1 0 1,0-5-1740,4-6 1,5-5-2638,2-3 5077,3-7 0,5-4 0,0-1 0,0 6 0</inkml:trace>
  <inkml:trace contextRef="#ctx0" brushRef="#br0" timeOffset="1">9651 4134 7895,'-12'-11'704,"1"3"1053,-1 1-1156,6 4-17,1-7-24,5 9 1416,0-4 31,0 5 1,0 6-1337,0 5 1,0 10-219,0 5 0,-1 11-148,-3 1 1,-2 10-346,-6 6 1,1 9-207,5-27 0,0 1 0,0 0 0,1 2 142,-1 4 1,0 1-1,1-1 1,0-1 49,1 1 1,1-2 0,0-6-1,1-1-148,2 19 1,1-15-300,3-8 0,2-11-454,5-7 1,1-6-53,-1-6 0,1-6 441,-1-6 1,1-9 190,-1-10 1,0-7 117,1-4 0,-1-8 197,1-7 1,-7 24 0,0 0-124,-1-3 0,-1-1 0,0 0 0,-1 1-144,-1 0 1,-2-1-1,1-2 1,0 0 153,1-3 0,-2 0 0,1 1 0,-1 1 6,0 3 0,-2 1 0,-2-21 636,-2 15 1,-2 12-283,5 7 1808,0 5-984,4 12 657,5 1 0,2 5-699,4 0 0,2 5 302,2 3 0,-1-2-704,5 2 0,-4 3-196,4 4 0,-4 0-258,4-3 1,1 1 129,2 2 0,1-3-383,0 4 0,-5 0 178,-3-1 1,-2 4-301,-2-3 0,1 4-112,-1-1 1,-5 3-250,-2 0 0,-4 3-463,-4 1 1,-7 2 459,-8 3 1,-6 2 42,-2-3 0,-5 7 159,2 1 1,2-1 23,1-7 0,3-2 232,1-5 0,5-2 281,3-2 0,8-6 356,3-5 77,2-6 1,9 3 1191,4-5 1,4 0-799,5 0 0,1 0 603,-2 0 0,4 0-778,4 0 1,-3 5-247,2 3 1,0 2-144,0 2 1,0-1-721,4 1 0,-4-1-365,0 0 1,-2-3-626,-1 0 0,0-5-2210,0 5 1,0-5 3543,0 0 0,-6-6 0,0-4 0</inkml:trace>
  <inkml:trace contextRef="#ctx0" brushRef="#br0" timeOffset="2">4397 8726 8176,'-16'-11'458,"3"4"223,-2-8-642,7 7-148,3 3 1,10 1-72,3 0 1,6 0-367,1 4 1,6-1 160,2-3 0,0 2 385,4-6 0,2 1 0,0-5 0</inkml:trace>
  <inkml:trace contextRef="#ctx0" brushRef="#br0" timeOffset="3">5014 8440 8176,'18'-5'0,"3"0"-540,-2-3 0,-1-1 491,1 6 1,-5-1 547,1 4 0,2-2-308,-2-1 0,4 1-208,-4-1 0,5 1-277,-1 2 1,3-3 170,1-1 1,1-5-693,3 1 815,-3-2 0,14-6 0,-3-2 0</inkml:trace>
  <inkml:trace contextRef="#ctx0" brushRef="#br0" timeOffset="4">5870 8132 8176,'23'-12'-44,"0"1"1,-1-1 166,-3 1 0,3 0-84,1-1 1,0 5-50,4-1 1,2 4-65,1-4 0,5 1 237,3-5-163,-3-4 0,10-2 0,-5-5 0</inkml:trace>
  <inkml:trace contextRef="#ctx0" brushRef="#br0" timeOffset="5">6853 7789 8176,'22'-11'-344,"1"-1"0,4 1 138,-1-1 0,6 2 194,-1 3 0,3-4 9,4 4 0,3-5 3,4-3 0,1 2 0,0-3 0</inkml:trace>
  <inkml:trace contextRef="#ctx0" brushRef="#br0" timeOffset="6">7800 7515 8172,'28'-11'-549,"-2"-1"-68,4 1 0,1-1 411,3 1 0,4-1 206,0 1-338,5 0 0,3-6 0,6-1 0</inkml:trace>
  <inkml:trace contextRef="#ctx0" brushRef="#br0" timeOffset="7">8611 7275 8171,'35'-18'-190,"-1"3"1,4 1-238,0-1 1,1 2 283,-1-2 1,3-2 142,5 2-517,-1 0 0,1-1 0,0-2 0</inkml:trace>
  <inkml:trace contextRef="#ctx0" brushRef="#br0" timeOffset="8">9594 6978 8171,'-6'-11'0,"5"-1"1625,-3 1-1176,-2-1 1,5 5-450,-3-1 0,3 6 0,1-3 0</inkml:trace>
  <inkml:trace contextRef="#ctx0" brushRef="#br0" timeOffset="9">4625 8280 8039,'-10'6'0,"3"3"37,-9-5 0,4 1 88,0-1 1,1 2-182,0 6 0,-1-2 117,1-2 0,1 3-115,2 0 0,-2 2 6,2 6 1,-2-4-210,-1 4 0,-1-3 12,1 3 1,-1 0 119,1 4 1,-2-2 15,-2-2 0,2 3 28,-2-3 1,2-3 80,2-1 0,0 2-2,-1-2 1,2-3 34,2-5 67,-2 1-104,4 3 357,-1 1-270,2-1 1,7-3 171,1-1 1,5-3-8,7 4 1,-1-4-6,5 3 0,0-4-166,4 1 1,0 1 22,0-2 1,1 6-78,3-1 1,-3-2-172,2 2 1,4-4-38,0 3 1,2-3-13,-2 4 197,3-6 0,-4 8 0,6-3 0</inkml:trace>
  <inkml:trace contextRef="#ctx0" brushRef="#br0" timeOffset="10">3986 10153 8186,'0'-7'-140,"0"-1"0,0 0-508,0-3 204,0 5 76,0-5 368,0 10 0,5-4 0,1 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0T06:10:39.574"/>
    </inkml:context>
    <inkml:brush xml:id="br0">
      <inkml:brushProperty name="height" value="0.053" units="cm"/>
      <inkml:brushProperty name="color" value="#FF0000"/>
    </inkml:brush>
  </inkml:definitions>
  <inkml:trace contextRef="#ctx0" brushRef="#br0">13079 8872 8170,'-12'9'220,"1"-1"0,-3-2 1,-1-1 356,-2-1 1,9-4-493,8-6 1,2 4 0,9-3 101,3 3 0,-5 2-45,3 0 1,-6 0-123,5 0 1,-5 0 0,5 0 0,3 0 53,1 0 0,2 0 52,0 0 0,1 2-5,-1 3 1,2-3 71,4 4 1,2-4 130,3-2 0,5 6-65,-4 0 1,3-1-96,3-5 1,5 0-113,0 0 0,0 2-9,-6 4 0,1-4-109,-1 4 1,1-5 61,-1-1 1,-1 6-136,-5 0 1,7 0-3,-1-6 0,-5 5 108,5 1 0,-3 0 149,3-6 1,3 0-70,3 0 0,-4 6 132,4-1 1,-2 1-59,3-6 1,-3 0-34,8 0 1,-8 0-16,2 0 1,-2 0 15,3 0 1,-3 0-108,8 0 1,-8 0 94,2 0 0,-6 0-140,-5 0 1,6 0 67,-1 0 0,-5 0-107,5 0 0,-3 0 31,3 0 0,1 6 26,-1-1 1,0 7 19,1-6 0,1-1-11,4-5 0,-2 2 176,8 4 1,-7-4-93,1 4 0,-2-4 176,2-2 0,-2-6-111,8 0 1,-7 0 46,1 6 1,-4-5-72,-2-1 1,-5-2-149,0 3 1,-2 3 90,1-4 1,5 4-114,-5 2 0,-1 0 126,2 0 0,-6 0-176,6 0 0,-8 6-243,1-1 1,5 3 156,2-2 0,-2-4 280,1 3 1,-5 3-17,6-2 0,0 2 108,5-3 1,-5-3-84,-1 4 1,-1-4 77,2-2 1,3 0-48,-3 0 1,4 0-34,1 0 1,0 0-89,1 0 1,-1-2 78,1-4 1,-1 2-137,1-7 0,5 7 35,0-2 0,0-1-20,-6 1 1,1-6 30,-1 7 0,1-1-8,-1 6 0,6 0 22,0 0 1,-1 0 3,-11 0 0,5 0-49,-5 0 1,9 0 42,-3 0 0,4 2-62,-9 4 0,4-3 55,1 9 1,4-6-4,-3 5 1,3-5 38,-9 5 0,3-7 87,3 2 1,5 2-26,0-3 0,2 3-72,-2-2 1,-4-4-124,5 3 1,1-3 127,-2-2 0,0 0-90,-6 0 1,-1 0 9,-4 0 1,3 0-161,-3 0 1,1 6 140,-1 0 0,-2-1-126,-4-5 0,-2 0 107,7 0 0,-6 6-5,0 0 1,-2 0 86,-3-6 0,6 0-64,0 0 0,0 0 112,-6 0 1,0 0-196,0 0 108,0 0 0,-1-2-340,-5-4-36,5 4 1,-13-6 443,9 8 0,-8-7 0,3-3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0T06:10:39.580"/>
    </inkml:context>
    <inkml:brush xml:id="br0">
      <inkml:brushProperty name="height" value="0.053" units="cm"/>
      <inkml:brushProperty name="color" value="#FF0000"/>
    </inkml:brush>
  </inkml:definitions>
  <inkml:trace contextRef="#ctx0" brushRef="#br0">14369 14941 8038,'0'-17'2444,"0"-1"-391,0 1 1,-2 8 0,-3 3-1545,-7 4 1,-3 4-1,0 4 1,1 5-1064,3 4 1,-1 3 0,-5 1 0,2 2-2153,3 2 1,-3 5 2705,3-5 0,-3 8 0,-2-4 0</inkml:trace>
  <inkml:trace contextRef="#ctx0" brushRef="#br0" timeOffset="1">15109 14459 8038,'27'-17'161,"-4"0"1,-4 0 0,-2 0-1,0-1 1,1 1 0,-1 0 533,0 0 0,-2 5 1,-1 3-1,-5-1-135,-1 1 0,0 3-850,-3-5 188,-3 7 1,4-4 0,-10 10-1,-3 2-391,-3 2 1,-3 7 80,-10-2 0,4 10 116,-4 2 1,-4 2 135,-2-2 1,2 2 521,-1 4 1,-1 3-206,-5-3 0,5-3 179,0 3 1,2-6-123,-1 6 0,-5-6 689,5 5 0,3-7-329,2 2 1,0-4 210,6-1 0,-2-1-278,13 0 0,-6-6-72,7 1 0,6-8-339,11 1 0,5 3 66,6-2 1,-2-1-122,8-5 1,0 0 154,5 0 1,6 0-570,0 0 0,-2 2 192,-9 4 1,2-2-574,-8 7 1,0-5 122,-6 6 1,-8-1-82,-3 6 1,-4-3 109,-2 3 1,-8-4-127,-3 10 1,-12-2-131,-6 2 0,-3-4 312,-3 4 1,1 2 1,0-2 1,1 0 159,4-6 0,5-6 384,6 1 0,3-6 0,4 5 0,-5-7 0,7 4 0</inkml:trace>
  <inkml:trace contextRef="#ctx0" brushRef="#br0" timeOffset="2">15023 15061 8038,'27'-9'-680,"-2"-7"1,-10 7 1165,-3-8 1,1 5 3156,-7 1-2567,7-1 1,-3-5 236,7 0 1,8 5-476,3 1 0,-1-1-357,2-5 1,0 6-318,5-1 1,0 3 80,1-3 0,1-3-294,4 4 1,-9 1 39,3-1 0,-11 5 115,0-6-670,-4 1 213,-2-6-104,-7 0 1,-10 5 162,-11 1 1,-5 7-138,-1-2 1,-6 4 139,0 2 0,-9 0 159,-3 0 0,1 8 122,-6 3 1,9 5 240,2 1 0,6 0-231,-5 0 0,7 0-84,-2 0 1,6 1 540,5-1 0,-1 2-153,7 4 0,0-4-116,6 4 1,2-4-56,4-2 0,9 0-660,8 1 0,8-1-204,-3 0 1,5-7-533,1-5 0,1-3 366,-1-2 1,1 0-240,-1 0 1,0-7 345,1-5 0,-1-3 322,1-2 0,-7-1 466,1 1 0,-8 0 0,4 0 0,-8 0 0</inkml:trace>
  <inkml:trace contextRef="#ctx0" brushRef="#br0" timeOffset="3">15832 14958 8038,'27'-11'256,"-4"-1"0,-4 6 436,-2-5 0,-6-1 504,1-5 1,-2-2-561,1-4 0,2 4 268,-7-4 0,0-2-352,-6 2 0,0-1-482,0 1 1,0 4 183,0-4-214,0 4 0,-8 3-193,-3 5 1,-10 3-195,-2 8 1,-8 2-184,2 4 0,-3 3 223,-2 9 0,-1 4 15,1 1 1,1 2 11,5-2 0,-3-2 568,8 8 1,-6-8-175,6 2 1,2-2 428,10 2 0,1-10 200,5 4-299,3-3 1,2 1 310,11-4 1,6-3-237,6-8 0,-4 0-313,4 0 1,2 0 23,-2 0 1,0 0-323,-6 0 0,1-6 158,-1 1 0,-6-1-233,1 6 0,-7 2 80,7 3 0,-8-1-25,1 8 0,3 5-17,-2 6 1,0 7 74,-6-1 0,0 11 202,0 6 1,-2 6-131,-4 5 0,2 4 214,-7 8 1,-1 0-88,-5-1 0,0 7-171,0-1 1,1-9-14,5-13 1,3-8-193,8-10 0,2-9-170,4-8 0,5-7 191,12-10 0,4-15-1041,7-8 1,8-10 534,4-7 1,4-10-1151,2-7 1,5-14 1645,0 3 1,-21 24-1,1 0 1,-2 0-1,1 0 1</inkml:trace>
  <inkml:trace contextRef="#ctx0" brushRef="#br0" timeOffset="4">16400 14838 8038,'0'-18'437,"0"1"936,0 0 0,0 0 1721,0 0-1478,0 7 1,0 1-865,0 3 1,8 4-721,3-4 1,4 4-259,2 2 1,1 6-1,-1 2 1,2-1-57,4 1 1,-2 3-1176,8-5 1,-8 6 527,2-7 0,-4 7-788,-2-6 0,0 5 229,0-5 1488,-7 7 0,-2-3 0,-8 7 0</inkml:trace>
  <inkml:trace contextRef="#ctx0" brushRef="#br0" timeOffset="5">16365 15010 8038,'-26'0'0,"3"0"3398,4 7-124,9-5-1319,2 6 1,16-8-1125,4 0 1,5 0-368,6 0 0,2 0-488,3 0 1,5 0 76,-5 0 1,5 0-1648,1 0 0,1 0 457,-1 0 1137,-7 0 0,5 0 0,-5 0 0</inkml:trace>
  <inkml:trace contextRef="#ctx0" brushRef="#br0" timeOffset="6">17295 14769 8042,'9'-17'0,"5"0"0,-9-1 4816,-1 1-3707,6 8 1,-6 3 0,5 12 0,-1 5-455,-4 4 1,-1 8-583,3 0 0,-4 8 1,6-3-1,-3 5-258,1 1 0,6 1 150,-7-1 0,7 0-590,-6 1 1,5-1-34,-5 1 0,7-1-331,-1 0 1,-5-5 420,-1 0 1,-2-3-16,2 3 1,-4-4-9,3-8 100,-3 0-1032,-2 0 545,0-7 496,-7-2 1,5-10 98,-4-4 0,4-5 383,2-12 0,0 4 0,0-22 0,0 5 0</inkml:trace>
  <inkml:trace contextRef="#ctx0" brushRef="#br0" timeOffset="7">17673 14872 8042,'0'-17'0,"0"-2"275,0-4 0,0 9 409,0-3 1,2 4 2176,4-4-1329,-4 7 473,13-5-844,-13 13-972,6-6 1,-10 10-114,-4 4 1,-3 5-227,-9 12 1,-1-2 107,-4 8 1,-5 0-75,-13 5 0,5 0-943,-4 1 0,-2-1 425,2 1 0,0 1-778,5 4 1,1-9 662,-1 3 1,9-5-203,3-1 0,3-3-301,3-8 1252,8 1 0,1-9 0,16-1 0,1-8 0</inkml:trace>
  <inkml:trace contextRef="#ctx0" brushRef="#br0" timeOffset="8">17622 15044 9240,'-8'-10'4754,"6"-5"-3003,-6 13-1205,16-13 1,2 13-244,7-4 0,0 4-364,0 2 1,6 0 144,0 0 1,6 0-142,-6 0 0,7 0 114,-1 0 1,4 2-662,1 4 1,0-4-132,1 4 0,-1 1-276,1-1 0,-7 0 285,1-6 0,0 0-159,5 0 0,-5 6 1,0-1 1,-8 1 333,1-6 1,-4-2-169,-7-4 718,-3 4 0,-8-13 0,0 6 0</inkml:trace>
  <inkml:trace contextRef="#ctx0" brushRef="#br0" timeOffset="9">18052 14838 8042,'0'-18'1462,"0"1"1,0 0-915,0 0 1,-8 7 353,-3 5 0,1 3 630,-1 2 0,5 0-967,-5 0 1,-1 7-243,-5 5 0,5 5-348,1 6 1,-1 6 101,-5 11 1,6-2-678,-1 8 0,7-2-55,-7 2 1,8 1-512,-1-7 0,3 1 376,2-7 1,0 4-89,0-3 1,2 1-221,3-13 1,5-6-131,7-6 274,0-7 954,0 4 0,1-16 0,-1-1 0</inkml:trace>
  <inkml:trace contextRef="#ctx0" brushRef="#br0" timeOffset="10">18448 14752 8042,'-10'-17'5014,"1"7"-2437,3 4-1315,4 4 0,-6 10-605,8 3 0,-5 12 196,-1 6 0,-2 11-619,2 6 0,3 4-487,-9 1 0,6 8-461,-5 4 1,5 4-840,-5 2 1,5 6 1272,-5-1 0,-1 1 0,-5-7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0T06:10:39.591"/>
    </inkml:context>
    <inkml:brush xml:id="br0">
      <inkml:brushProperty name="height" value="0.053" units="cm"/>
      <inkml:brushProperty name="color" value="#FF0000"/>
    </inkml:brush>
  </inkml:definitions>
  <inkml:trace contextRef="#ctx0" brushRef="#br0">20375 14889 8083,'2'-17'345,"4"2"0,5 1 0,6 5 449,6 1 1,6 2 0,11 5-1,8-3 65,7-2 0,7-2-604,6 3 0,9 3 0,5-6 0,6 2 15,4 1 1,-43-1 0,-1 0-195,44 0 0,0-5 1,-6 5-1,0 2 72,0 3 1,4 1-683,-4 0 0,-4 0-429,-13 0 0,0 7-2311,0 5 3274,0 3 0,-6 6 0,0 0 0,2 0 0,2 6 0,2 3 0</inkml:trace>
  <inkml:trace contextRef="#ctx0" brushRef="#br0" timeOffset="1">3545 15886 8083,'-8'16'1757,"-3"-5"-1454,3-3 1,6-10 0,10-2 0,2-4 68,3-1 1,8 3 0,4-3-1,2-1-104,3 1 0,3 3 0,1-4 0,2 1-5,5-1 1,3 4 0,9-3 0,3-1 139,1 1 0,14 5-266,-3-2 1,15-1-216,3 1 1,0 0 52,6 6 53,3 0 1,3 0-1,-44 0 1,1 0-91,2 0 0,0 0 0,0 0 0,-1 0-36,2 0 1,-1 0-1,-3 0 1,-1 0-75,2 0 0,-1 0 1,-3 1-1,-1 0-2,2 2 0,0 0 1,39 1-127,-42 1 0,0 1 0,41 0-200,-4 5 0,-6-1 152,0 1 0,-9 3-616,-2-9 1,-8 7 89,-9-6 874,-1-1 0,-3 1 0,0 0 0,0-2 0,-2-3 0</inkml:trace>
  <inkml:trace contextRef="#ctx0" brushRef="#br0" timeOffset="9">11960 15096 8051,'-21'-27'707,"4"2"1,3 2 0,5 0-1,3 2 780,4 2 0,2 2 1,2 2-1,4 1 324,5 3-1693,5 7 1,3-4-1,2 8 1,2 0-25,-2 0 1,6 2-239,1 4 0,3-2 0,-1 5 0,-1 1-20,2-1 0,7 1-329,2 1 0,-6 3 178,-5-9 1,-2 7 45,2-6 1,-5-1 37,-6-5 316,-1 8 687,-8-6-557,-1 6 0,-8-10 139,0-4 1,-8 2-112,-3-7 0,-10 5 158,-2-6 0,-2 9-94,2-3 1,2 4 37,-8 2 1,7 2-260,-7 4 1,8 5-243,-2 12 1,9-2 20,3 8 1,1-1 96,-1 7 1,3-1-537,8 1 1,0 1 271,0 4 0,8-4-648,3 4 1,5 2 357,1-1 0,-2-1-825,-3-6 0,1 0 242,-7 1 0,5-3-189,-5-3 0,-2 3 229,-10-3 1135,-3 4 0,-16 1 0,-2 0 0</inkml:trace>
  <inkml:trace contextRef="#ctx0" brushRef="#br0" timeOffset="10">11943 15869 8051,'-17'0'1072,"-1"0"1569,1 0-1398,8 0 0,1-7 694,8-5 0,0 3-464,0-3 1,10-1-761,7-10 0,2 4-245,10-4 1,-1 4-311,7 2 0,1-1-840,4 1 0,-4 2-104,5 3 0,3-1-557,1 7 0,5 1-848,2 5 0,-1 0 989,1 0 1,-2 0-135,-4 0 0,3 0 648,-3 0 0,-4 5 90,-1 1 0,-7 0 598,-5-6 0,-5 7 0,-6 3 0</inkml:trace>
  <inkml:trace contextRef="#ctx0" brushRef="#br0" timeOffset="11">12769 15508 8051,'-23'-17'0,"0"0"0,-2 2 1323,2 3 0,10-1 1456,-4 7-962,3-7 0,3 11 1444,-1-4-1708,8 4-1752,-3 2 0,7 2 192,0 4 1,5 3-438,1 8 1,2 1 376,-2-1 1,-4 8-362,3 3 1,3-1 99,-2 2 1,-1-3-77,-5 3 1,6 4-304,0-5 0,1-3 229,-1-2 0,-4-4 39,4-2 1,2 0-145,-3 1 83,9-9 209,-5 7 351,8-15 0,-5 7 1,-1-8 1,-5-8 237,6-3 0,-7 1-6,7-1 0,-8-1-151,1-5 1,3 0 542,-2 0 1,5-2-271,-5-4 1,7 4 333,-1-4 0,-3 4-187,3 2 0,-6-1-431,5 1 1,-1 0-324,1 0 0,4 0-397,-3-1 1,3 3-489,2 4 0,1-3 577,-1 9 1,-6-1 9,1 6 1,-1 0 74,6 0 0,-5 7-18,-1 5 1,-5 3 312,6 2 1,-9 1 337,3-1 0,2 6-282,-3 0 1,7 0 8,-6-6 1,1 0-98,-1 0 0,-4 0 70,4 1 0,-2-7-710,1 0 476,-3 1 1,8-1 20,-5 1-221,-3-8 552,14 3 0,-12-9 152,7-3 1,-7 1 174,2-8 0,1 1 26,-1-6 1,5 0 270,-5-1 0,8-5 218,-3 0 0,-1 1-349,1 4 0,1-1-630,5-4 1,0 4 66,0-4 1,0 6-102,1 6 1,-7-3-53,1 9 0,-1-1-437,6 6 1,-5 0 258,-1 0 0,-7 9 48,2 9 1,-4 1 341,-2 9 1,0-5-45,0 6 0,0-8-1012,0 2 373,0-4-60,0-2 213,0 0 0,0-9-290,0-8 0,0-10 33,0-12 0,0-5 762,0-8 0,0-1 0,0-4 0,-8-4 0,-2-8 0</inkml:trace>
  <inkml:trace contextRef="#ctx0" brushRef="#br0" timeOffset="12">13406 15250 8051,'-18'-9'331,"9"1"-72,1 0-429,16 7 0,3-7 99,12 8 1,-2 0-417,8 0 1,-6 2 248,6 4 1,-1-3 237,7 9 0,-1-8 0,0 3 0</inkml:trace>
  <inkml:trace contextRef="#ctx0" brushRef="#br0" timeOffset="13">13887 15096 8051,'0'-18'3597,"0"9"-2899,0-6 1,0 15 67,0 0 0,0 7-286,0 10 1,0 10 27,0 8 1,0 7-174,0 9 1,0 8-138,0 4 0,0 4-190,0 2 1,0 0 103,0 0 1,0-8-217,0-4 0,6-11 46,0-6 1,7-11-140,-1-6 0,3-12-224,2-5 1,0-6-293,1-6 0,5-5-45,0-12 0,1-4-524,-1-8 1,-4-5-443,4 0 0,-5-2 1724,-7 2 0,4-4 0,-5-7 0</inkml:trace>
  <inkml:trace contextRef="#ctx0" brushRef="#br0" timeOffset="14">13801 15353 8051,'-34'0'0,"7"0"2239,4 0 1,12 2-1079,5 4 1,6-4 234,6 4 1,3-4-899,9-2 1,6 5-597,5 1 1,5 2 26,7-2 1,-3-3-198,8 9 0,-8-6-4895,2 5 5163,-4-7 0,7 11 0,1-5 0</inkml:trace>
  <inkml:trace contextRef="#ctx0" brushRef="#br0" timeOffset="15">15040 15078 7944,'10'-17'476,"-2"-6"1,-8 0 0,0 0 0,0 0 0,0 1 1745,0 1-1926,0 9 0,2 4 0,1 12 155,3 8 1,0 9-313,-6 19 0,0 6 1,0 13-1,0 10 73,0 9 0,-2 4-250,-4-2 0,2 3 60,-7-9 0,7 4 0,-4-9 1,3-8-215,-1-5 1,0-14 10,6-8 0,0-7 119,0-10 1,0-9-94,0-8 0,0-8-10,0-9 0,6-10 86,0-7 1,5-3-454,-5-8 1,2-7 189,-3-5 0,-3-8-362,4 2 1,-4-4 239,-2-2 0,2-5-73,3-1 1,-3-5 547,4 5 1,-4 10 369,-2 14 1,0 7 2948,0 9-2528,8 9 1,1 9 984,8 11 0,1 4-852,-1 2 0,0 2-547,0 4 1,6 1-334,0 5 1,8 3-66,-3-4 0,5 5-45,1 1 1,-5-6-66,0 1 1,-6-1-909,5 6 1,-7-5 420,2-1 0,-4 1-824,-1 5 1,-9 0 647,-3 0 1,-4 1 99,-2-1 0,-8 6 260,-3 0 1,-12 5 251,-6-5 1,-3 8 471,-3-3 0,-5 3-281,0-2 1,-6 3 183,6-3 1,-4 1-224,9-1 1,5-4 1128,13-8 1,1-6 228,5 1-259,3-8 1,22 9-317,3-7 0,11 0-76,1-6 0,4 0-367,1 0 1,1 2-239,-1 3 0,0-1-71,1 8 1,1-9 74,4 3 1,-3 2-924,3-3 1,4 1 441,2-6 1,-2 0-1546,1 0 0,-4 0 794,5 0 0,-6-7 620,6-5 0,-14-3 525,2-2 0,-11-8 0,2-2 0</inkml:trace>
  <inkml:trace contextRef="#ctx0" brushRef="#br0" timeOffset="16">15970 14838 7944,'-2'-23'406,"-2"0"0,-4 4 4220,-1 5-2820,5-1-873,-11 13 1,15-5-326,0 7 0,9 0-210,14 0 0,0 1-728,11 5 0,-1-2 282,13 7 1,-6-5-976,6 6 0,0-7 449,5 7 0,3-6-383,3 5 1,-11-5-290,0 5 1,-8-7 568,-3 2 0,-3-2-1117,-3 1 738,-4-3 441,-16 6 615,-9-8 0,-9 0 0,-8 0 0</inkml:trace>
  <inkml:trace contextRef="#ctx0" brushRef="#br0" timeOffset="17">16400 14838 7944,'-19'11'0,"-4"1"0,4-7 1050,-4 7 1,-2-1-444,2 6 0,-2 8 1671,2 4 0,4 11-1020,-4 6 1,4 11-578,2 6 0,5 2-409,1-2 0,7 2-279,-2-7 0,6 5-421,6-6 1,4-7 349,7-10 1,0-6-1260,0-5 0,2-1 728,4-10 1,-4 1-1714,4-14 0,-4 1 255,-1-6 2067,-1 0 0,8 0 0,1 0 0</inkml:trace>
  <inkml:trace contextRef="#ctx0" brushRef="#br0" timeOffset="18">17054 14958 7944,'-16'-17'4440,"5"0"-2924,-4 7 0,5 2-896,-7 8 1,5 2 0,1 6 0,-2 9 133,-3 10 0,-1 15 1,0 10-1,0 9 421,0 6 0,7 9-635,4 4 1,4 2-625,2-1 1,2-7 250,4-11 0,11-9-115,12-9 1,3-8 58,3-3 1,-1-15-189,1-13 1,1-4 59,4-2 0,-2-10-134,8-7 0,-6-10-222,6-13 1,-6-6-344,6-11 1,-7-4-934,1-8 0,-6-7 805,-5-4 1,-6-6-524,-12-6 1,-5 6 667,-12 0 1,-11 17 363,-12 18 0,-17 7-8,-5 9 0,-10 16 58,3 8 1,-5 9-168,6 8 0,1 3 87,10 8 0,6 8-1813,12 4 2178,10 3 0,11 3 0,7-1 0,0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fld id="{C7E9A20B-E167-2E4E-BE18-AA9F5BF5FBB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154" tIns="48580" rIns="97154" bIns="485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notes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34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8413" y="727075"/>
            <a:ext cx="4781550" cy="3586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2151473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14EF427-E3A8-D542-91D3-317F25033480}" type="slidenum"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1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1550" cy="3586163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330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720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ACF0BC53-5167-AD49-B4BB-AAFE0BF7A0D2}" type="slidenum">
              <a:rPr lang="en-US" sz="1300" b="0">
                <a:latin typeface="Times New Roman" charset="0"/>
              </a:rPr>
              <a:pPr eaLnBrk="1" hangingPunct="1"/>
              <a:t>7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494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ACF0BC53-5167-AD49-B4BB-AAFE0BF7A0D2}" type="slidenum">
              <a:rPr lang="en-US" sz="1300" b="0">
                <a:latin typeface="Times New Roman" charset="0"/>
              </a:rPr>
              <a:pPr eaLnBrk="1" hangingPunct="1"/>
              <a:t>8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3363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ACF0BC53-5167-AD49-B4BB-AAFE0BF7A0D2}" type="slidenum">
              <a:rPr lang="en-US" sz="1300" b="0">
                <a:latin typeface="Times New Roman" charset="0"/>
              </a:rPr>
              <a:pPr eaLnBrk="1" hangingPunct="1"/>
              <a:t>10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57908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B336CF3E-E769-AC40-9E12-9CC078555AB7}" type="slidenum">
              <a:rPr lang="en-US" sz="1300" b="0">
                <a:latin typeface="Times New Roman" charset="0"/>
              </a:rPr>
              <a:pPr eaLnBrk="1" hangingPunct="1"/>
              <a:t>11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7900" y="4560888"/>
            <a:ext cx="5359400" cy="4319587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95630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8754433D-2A41-5444-9C42-7A0F027E8C55}" type="slidenum">
              <a:rPr lang="en-US" sz="1300" b="0">
                <a:latin typeface="Times New Roman" charset="0"/>
              </a:rPr>
              <a:pPr eaLnBrk="1" hangingPunct="1"/>
              <a:t>12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7900" y="4560888"/>
            <a:ext cx="5359400" cy="4319587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91166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EBBFC7EA-0BB6-894E-83B3-32EB41C590E5}" type="slidenum">
              <a:rPr lang="en-US" sz="1300" b="0">
                <a:latin typeface="Times New Roman" charset="0"/>
              </a:rPr>
              <a:pPr eaLnBrk="1" hangingPunct="1"/>
              <a:t>13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63384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6A9E29F3-C168-9A47-8C8A-46BDC2A74B93}" type="slidenum">
              <a:rPr lang="en-US" sz="1300" b="0">
                <a:latin typeface="Times New Roman" charset="0"/>
              </a:rPr>
              <a:pPr eaLnBrk="1" hangingPunct="1"/>
              <a:t>14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7900" y="4560888"/>
            <a:ext cx="5359400" cy="4319587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7783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6A9E29F3-C168-9A47-8C8A-46BDC2A74B93}" type="slidenum">
              <a:rPr lang="en-US" sz="1300" b="0">
                <a:latin typeface="Times New Roman" charset="0"/>
              </a:rPr>
              <a:pPr eaLnBrk="1" hangingPunct="1"/>
              <a:t>15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7900" y="4560888"/>
            <a:ext cx="5359400" cy="4319587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56170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ACF0BC53-5167-AD49-B4BB-AAFE0BF7A0D2}" type="slidenum">
              <a:rPr lang="en-US" sz="1300" b="0">
                <a:latin typeface="Times New Roman" charset="0"/>
              </a:rPr>
              <a:pPr eaLnBrk="1" hangingPunct="1"/>
              <a:t>16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82734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97E73F25-B83A-D648-AFA5-DAF8D5ED7F57}" type="slidenum">
              <a:rPr lang="en-US" sz="1300" b="0">
                <a:latin typeface="Times New Roman" charset="0"/>
              </a:rPr>
              <a:pPr eaLnBrk="1" hangingPunct="1"/>
              <a:t>18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85494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ACF0BC53-5167-AD49-B4BB-AAFE0BF7A0D2}" type="slidenum">
              <a:rPr lang="en-US" sz="1300" b="0">
                <a:latin typeface="Times New Roman" charset="0"/>
              </a:rPr>
              <a:pPr eaLnBrk="1" hangingPunct="1"/>
              <a:t>20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56632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If the window moves, the timer is restarted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997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ACF0BC53-5167-AD49-B4BB-AAFE0BF7A0D2}" type="slidenum">
              <a:rPr lang="en-US" sz="1300" b="0">
                <a:latin typeface="Times New Roman" charset="0"/>
              </a:rPr>
              <a:pPr eaLnBrk="1" hangingPunct="1"/>
              <a:t>31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799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0CC3C6E6-5BD2-C34F-9643-EE0DADF7AF6D}" type="slidenum">
              <a:rPr lang="en-US" sz="1300" b="0">
                <a:latin typeface="Times New Roman" charset="0"/>
              </a:rPr>
              <a:pPr eaLnBrk="1" hangingPunct="1"/>
              <a:t>33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0270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7F96CD0B-3BCB-7846-B3E5-AD71ED030C79}" type="slidenum">
              <a:rPr lang="en-US" sz="1300" b="0">
                <a:latin typeface="Times New Roman" charset="0"/>
              </a:rPr>
              <a:pPr eaLnBrk="1" hangingPunct="1"/>
              <a:t>35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29653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ACF0BC53-5167-AD49-B4BB-AAFE0BF7A0D2}" type="slidenum">
              <a:rPr lang="en-US" sz="1300" b="0">
                <a:latin typeface="Times New Roman" charset="0"/>
              </a:rPr>
              <a:pPr eaLnBrk="1" hangingPunct="1"/>
              <a:t>36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91233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ACF0BC53-5167-AD49-B4BB-AAFE0BF7A0D2}" type="slidenum">
              <a:rPr lang="en-US" sz="1300" b="0">
                <a:latin typeface="Times New Roman" charset="0"/>
              </a:rPr>
              <a:pPr eaLnBrk="1" hangingPunct="1"/>
              <a:t>37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2224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ACF0BC53-5167-AD49-B4BB-AAFE0BF7A0D2}" type="slidenum">
              <a:rPr lang="en-US" sz="1300" b="0">
                <a:latin typeface="Times New Roman" charset="0"/>
              </a:rPr>
              <a:pPr eaLnBrk="1" hangingPunct="1"/>
              <a:t>38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15903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ACF0BC53-5167-AD49-B4BB-AAFE0BF7A0D2}" type="slidenum">
              <a:rPr lang="en-US" sz="1300" b="0">
                <a:latin typeface="Times New Roman" charset="0"/>
              </a:rPr>
              <a:pPr eaLnBrk="1" hangingPunct="1"/>
              <a:t>39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95912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05C67908-891F-064C-BF1C-8DC331DCFB45}" type="slidenum">
              <a:rPr lang="en-US" sz="1300" b="0">
                <a:latin typeface="Times New Roman" charset="0"/>
              </a:rPr>
              <a:pPr eaLnBrk="1" hangingPunct="1"/>
              <a:t>40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8704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82994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ACEB63B9-CE76-CA46-A985-4EBE2E5DD35D}" type="slidenum">
              <a:rPr lang="en-US" sz="1300" b="0">
                <a:latin typeface="Times New Roman" charset="0"/>
              </a:rPr>
              <a:pPr eaLnBrk="1" hangingPunct="1"/>
              <a:t>41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62418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165A0D10-E7F8-E946-BE1E-635A5BF6387A}" type="slidenum">
              <a:rPr lang="en-US" sz="1300" b="0">
                <a:latin typeface="Times New Roman" charset="0"/>
              </a:rPr>
              <a:pPr eaLnBrk="1" hangingPunct="1"/>
              <a:t>42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91139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08423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5E9B2A7C-4352-6F4A-9BCA-59016BCB4C2F}" type="slidenum">
              <a:rPr lang="en-US" sz="1300" b="0">
                <a:latin typeface="Times New Roman" charset="0"/>
              </a:rPr>
              <a:pPr eaLnBrk="1" hangingPunct="1"/>
              <a:t>45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Why timer?  Will get packet</a:t>
            </a:r>
            <a:r>
              <a:rPr lang="en-US" baseline="0" dirty="0">
                <a:ea typeface="ＭＳ Ｐゴシック" charset="0"/>
                <a:cs typeface="ＭＳ Ｐゴシック" charset="0"/>
              </a:rPr>
              <a:t> with no state!!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64530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064BC5DD-F3D6-734B-AE37-06D4ABF193E0}" type="slidenum">
              <a:rPr lang="en-US" sz="1300" b="0">
                <a:latin typeface="Times New Roman" charset="0"/>
              </a:rPr>
              <a:pPr eaLnBrk="1" hangingPunct="1"/>
              <a:t>46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0035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638313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E0F2F9F7-F13F-A745-B601-041547EB2A10}" type="slidenum">
              <a:rPr lang="en-US" sz="1300" b="0">
                <a:latin typeface="Times New Roman" charset="0"/>
              </a:rPr>
              <a:pPr eaLnBrk="1" hangingPunct="1"/>
              <a:t>47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0445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276896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2DA42316-7BDE-E242-A2E7-21BC69DF4EEC}" type="slidenum">
              <a:rPr lang="en-US" sz="1300" b="0">
                <a:latin typeface="Times New Roman" charset="0"/>
              </a:rPr>
              <a:pPr eaLnBrk="1" hangingPunct="1"/>
              <a:t>54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1469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0.125 is 1/8,</a:t>
            </a:r>
            <a:r>
              <a:rPr lang="en-US" baseline="0" dirty="0">
                <a:ea typeface="ＭＳ Ｐゴシック" charset="0"/>
                <a:cs typeface="ＭＳ Ｐゴシック" charset="0"/>
              </a:rPr>
              <a:t> which is easier to compute by simple right shifting bits.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7832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7A6ABD5D-5C43-3B8B-4A47-61649E3D115D}"/>
              </a:ext>
            </a:extLst>
          </p:cNvPr>
          <p:cNvGrpSpPr/>
          <p:nvPr/>
        </p:nvGrpSpPr>
        <p:grpSpPr>
          <a:xfrm>
            <a:off x="-37202" y="-17808"/>
            <a:ext cx="9251052" cy="6875808"/>
            <a:chOff x="-37202" y="-17808"/>
            <a:chExt cx="9251052" cy="687580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2FDF3C8-2579-FE76-C255-8D388A2880AF}"/>
                </a:ext>
              </a:extLst>
            </p:cNvPr>
            <p:cNvGrpSpPr/>
            <p:nvPr/>
          </p:nvGrpSpPr>
          <p:grpSpPr>
            <a:xfrm>
              <a:off x="-37202" y="-17808"/>
              <a:ext cx="9244426" cy="1548158"/>
              <a:chOff x="-37202" y="-17808"/>
              <a:chExt cx="9244426" cy="1548158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6D509864-1F3D-8C50-E36A-3487881676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40960" y="-11183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80E07DA5-2FB8-1986-62D0-9BB0764651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7202" y="-17808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766DB696-4315-02EB-D756-79083474CD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05111" y="-635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6" name="Picture 5" descr="Diagram, schematic&#10;&#10;Description automatically generated">
                <a:extLst>
                  <a:ext uri="{FF2B5EF4-FFF2-40B4-BE49-F238E27FC236}">
                    <a16:creationId xmlns:a16="http://schemas.microsoft.com/office/drawing/2014/main" id="{0A6BFE68-C6E3-7A10-DCB8-5FD39DDBA1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19824" y="-11183"/>
                <a:ext cx="787400" cy="952500"/>
              </a:xfrm>
              <a:prstGeom prst="rect">
                <a:avLst/>
              </a:prstGeom>
            </p:spPr>
          </p:pic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743C08E-B7FB-2D84-E28E-CC3A7E03C06F}"/>
                </a:ext>
              </a:extLst>
            </p:cNvPr>
            <p:cNvGrpSpPr/>
            <p:nvPr/>
          </p:nvGrpSpPr>
          <p:grpSpPr>
            <a:xfrm>
              <a:off x="-37202" y="769936"/>
              <a:ext cx="9251052" cy="6088064"/>
              <a:chOff x="-37202" y="769936"/>
              <a:chExt cx="9251052" cy="6088064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3BA3378A-AFC4-1653-B4E5-9C6B3D6766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7525" y="803132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153205CB-0D4F-3284-FBBF-4BC351A30A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0637" y="796507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C72CAB5D-6617-2E21-A6CA-E328F087A6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78163" y="22955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AC10B77-A31F-38D5-8382-985CF6E443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" y="2288899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A3D89739-FD09-01B4-E7B4-C701FC01DE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7525" y="38322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73D27228-5C6E-DC91-30A7-0AFAC16936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0637" y="3825599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A5C2DA61-3005-968A-BDF3-075B1EEF41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1737" y="769936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66484D52-BFEA-C60D-525E-8A2E735CE5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9880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0EDF70D3-66A0-0672-CB97-8ED9B35050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505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B6A4AD92-9E85-875E-19B0-E18A6D7FBE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1737" y="38100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60FF33F9-2A42-D7B7-13B2-7D74E6EE83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05111" y="22955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FF948A23-E96A-3660-C39C-A546002B61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20" name="Picture 19" descr="Diagram, schematic&#10;&#10;Description automatically generated">
                <a:extLst>
                  <a:ext uri="{FF2B5EF4-FFF2-40B4-BE49-F238E27FC236}">
                    <a16:creationId xmlns:a16="http://schemas.microsoft.com/office/drawing/2014/main" id="{8B622CB2-32C0-5EFC-FFC0-B7C19B9D93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6200000">
                <a:off x="898" y="5981700"/>
                <a:ext cx="825500" cy="901700"/>
              </a:xfrm>
              <a:prstGeom prst="rect">
                <a:avLst/>
              </a:prstGeom>
            </p:spPr>
          </p:pic>
        </p:grpSp>
      </p:grpSp>
      <p:sp>
        <p:nvSpPr>
          <p:cNvPr id="18440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96" charset="2"/>
              <a:buNone/>
              <a:defRPr/>
            </a:lvl1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8441" name="Rectangle 9"/>
          <p:cNvSpPr>
            <a:spLocks noGrp="1" noChangeArrowheads="1"/>
          </p:cNvSpPr>
          <p:nvPr>
            <p:ph type="ctrTitle"/>
          </p:nvPr>
        </p:nvSpPr>
        <p:spPr>
          <a:xfrm>
            <a:off x="685800" y="1143000"/>
            <a:ext cx="7772400" cy="20574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828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D56800-6334-BE84-16B6-7402A699A2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D93E6A-DFC3-F407-380A-65EE47A5BD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381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46FBCA-2034-049B-7243-88D60D4898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D3DFD9-081B-E3C1-6BDB-F23B9D5426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877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8B70F-5298-827C-1F78-46F1790437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621DC-16FE-7694-2F83-79847B007A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134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A258BA9-ABEF-2D2D-F1E7-F2356DD503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E6F0A74-64F4-300F-53EB-BC2B1B6CDC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084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55C166-3163-C0BB-0B5E-A60433A07D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F18343-21BC-17F6-D79A-F8EF5B15B4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547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3532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5569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41521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010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8674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8674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1678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title style</a:t>
            </a:r>
            <a:endParaRPr/>
          </a:p>
        </p:txBody>
      </p:sp>
      <p:sp>
        <p:nvSpPr>
          <p:cNvPr id="11" name="Shape 1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937584" indent="-401822">
              <a:spcBef>
                <a:spcPts val="1687"/>
              </a:spcBef>
              <a:buChar char="-"/>
              <a:defRPr sz="2500" i="1"/>
            </a:lvl2pPr>
            <a:lvl3pPr marL="1250112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3pPr>
            <a:lvl4pPr marL="1562640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4pPr>
            <a:lvl5pPr marL="1875168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C076283-46FE-75A6-72E4-8CE13BC3D9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6B11F8-0795-6902-0730-FC53F014C6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095079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819F1C90-BCC2-4A38-9B30-6926C9F242B2}" type="datetime1">
              <a:rPr lang="en-US" altLang="en-US" smtClean="0"/>
              <a:t>2/16/25</a:t>
            </a:fld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05800" y="6400800"/>
            <a:ext cx="625475" cy="457200"/>
          </a:xfrm>
        </p:spPr>
        <p:txBody>
          <a:bodyPr/>
          <a:lstStyle>
            <a:lvl1pPr>
              <a:defRPr/>
            </a:lvl1pPr>
          </a:lstStyle>
          <a:p>
            <a:fld id="{C9399570-805F-4B6D-83F4-39FC9E49A71F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42362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5D9187BA-81F8-B3C4-BE54-802E5CB4AADB}"/>
              </a:ext>
            </a:extLst>
          </p:cNvPr>
          <p:cNvGrpSpPr/>
          <p:nvPr/>
        </p:nvGrpSpPr>
        <p:grpSpPr>
          <a:xfrm>
            <a:off x="-37202" y="769936"/>
            <a:ext cx="9251052" cy="6088064"/>
            <a:chOff x="-37202" y="769936"/>
            <a:chExt cx="9251052" cy="608806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BC71FB7-FA16-2D27-CACE-D02A556CD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7525" y="803132"/>
              <a:ext cx="3098800" cy="15367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7861273-92E0-492B-CA3C-71BA2BBCF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0637" y="796507"/>
              <a:ext cx="3098800" cy="15367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6201456-9595-A276-41A8-30205C2FEC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8163" y="2295524"/>
              <a:ext cx="3098800" cy="15367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F482A01-0A49-6750-039E-5DF6F6D8CD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" y="2288899"/>
              <a:ext cx="3098800" cy="15367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1AB3331-87E4-5291-9B07-04FBF9319A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7525" y="3832224"/>
              <a:ext cx="3098800" cy="15367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4603EAB-DE9B-8605-F5EA-86EE04BB7A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0637" y="3825599"/>
              <a:ext cx="3098800" cy="15367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8BC458A-594C-2231-0980-29D3BCD49A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1737" y="769936"/>
              <a:ext cx="3098800" cy="15367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6605DDB-0D60-730A-9DC4-C473EFEB16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98800" y="5321300"/>
              <a:ext cx="3098800" cy="15367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E3E6929-9A7F-4C0B-5CAA-0969F1F1A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5050" y="5321300"/>
              <a:ext cx="3098800" cy="15367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51D58DE-9738-3628-3BB8-CDE6E50154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1737" y="3810000"/>
              <a:ext cx="3098800" cy="15367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567987B-DB8A-1727-6CAC-CEB7FF1A9C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5111" y="2295524"/>
              <a:ext cx="3098800" cy="15367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0D0A162-213F-2600-105C-FE0FC8A8E8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321300"/>
              <a:ext cx="3098800" cy="1536700"/>
            </a:xfrm>
            <a:prstGeom prst="rect">
              <a:avLst/>
            </a:prstGeom>
          </p:spPr>
        </p:pic>
        <p:pic>
          <p:nvPicPr>
            <p:cNvPr id="19" name="Picture 18" descr="Diagram, schematic&#10;&#10;Description automatically generated">
              <a:extLst>
                <a:ext uri="{FF2B5EF4-FFF2-40B4-BE49-F238E27FC236}">
                  <a16:creationId xmlns:a16="http://schemas.microsoft.com/office/drawing/2014/main" id="{DB469211-2D9E-AB17-3FC0-B7AEAAB22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8" y="5981700"/>
              <a:ext cx="825500" cy="901700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C3F89B2-E890-6C43-5892-22AD02C50523}"/>
              </a:ext>
            </a:extLst>
          </p:cNvPr>
          <p:cNvGrpSpPr/>
          <p:nvPr/>
        </p:nvGrpSpPr>
        <p:grpSpPr>
          <a:xfrm>
            <a:off x="-37202" y="-17808"/>
            <a:ext cx="9244426" cy="1548158"/>
            <a:chOff x="-37202" y="-17808"/>
            <a:chExt cx="9244426" cy="1548158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50C326B-E0CE-7E4B-AAB3-6C17E7E24B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0960" y="-11183"/>
              <a:ext cx="3098800" cy="153670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E40EC80-B3CD-B537-331F-0ADE24D7A1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7202" y="-17808"/>
              <a:ext cx="3098800" cy="15367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4A493CE-633E-1F89-D9FA-C4320B1A38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5111" y="-6350"/>
              <a:ext cx="3098800" cy="1536700"/>
            </a:xfrm>
            <a:prstGeom prst="rect">
              <a:avLst/>
            </a:prstGeom>
          </p:spPr>
        </p:pic>
        <p:pic>
          <p:nvPicPr>
            <p:cNvPr id="22" name="Picture 21" descr="Diagram, schematic&#10;&#10;Description automatically generated">
              <a:extLst>
                <a:ext uri="{FF2B5EF4-FFF2-40B4-BE49-F238E27FC236}">
                  <a16:creationId xmlns:a16="http://schemas.microsoft.com/office/drawing/2014/main" id="{63BA936B-D5C9-23EF-D13E-28E80A17AC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19824" y="-11183"/>
              <a:ext cx="787400" cy="952500"/>
            </a:xfrm>
            <a:prstGeom prst="rect">
              <a:avLst/>
            </a:prstGeom>
          </p:spPr>
        </p:pic>
      </p:grp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37" name="Line 13"/>
          <p:cNvSpPr>
            <a:spLocks noChangeShapeType="1"/>
          </p:cNvSpPr>
          <p:nvPr/>
        </p:nvSpPr>
        <p:spPr bwMode="auto">
          <a:xfrm>
            <a:off x="0" y="1371600"/>
            <a:ext cx="8305800" cy="0"/>
          </a:xfrm>
          <a:prstGeom prst="line">
            <a:avLst/>
          </a:prstGeom>
          <a:noFill/>
          <a:ln w="44450">
            <a:solidFill>
              <a:srgbClr val="FFCB05"/>
            </a:solidFill>
            <a:round/>
            <a:headEnd/>
            <a:tailEnd/>
          </a:ln>
          <a:effectLst>
            <a:outerShdw dist="53882" dir="2700000" algn="ctr" rotWithShape="0">
              <a:srgbClr val="D3A600"/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 sz="1200"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7FC9C51-8850-8B4B-97BB-F12E7B15E3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397EC8AD-C9B9-C2A9-BCD1-F1E8E706B6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98365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135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500" b="0">
          <a:solidFill>
            <a:schemeClr val="tx1"/>
          </a:solidFill>
          <a:effectLst/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Ø"/>
        <a:defRPr sz="2800">
          <a:solidFill>
            <a:schemeClr val="accent2"/>
          </a:solidFill>
          <a:latin typeface="+mn-lt"/>
          <a:ea typeface="ＭＳ Ｐゴシック" charset="-128"/>
          <a:cs typeface="ＭＳ Ｐゴシック" charset="-128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q"/>
        <a:defRPr sz="2400">
          <a:solidFill>
            <a:schemeClr val="accent2"/>
          </a:solidFill>
          <a:latin typeface="+mn-lt"/>
          <a:ea typeface="ＭＳ Ｐゴシック" charset="-128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accent2"/>
          </a:solidFill>
          <a:latin typeface="+mn-lt"/>
          <a:ea typeface="ＭＳ Ｐゴシック" charset="-128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n"/>
        <a:defRPr sz="1200">
          <a:solidFill>
            <a:schemeClr val="accent2"/>
          </a:solidFill>
          <a:latin typeface="+mn-lt"/>
          <a:ea typeface="ＭＳ Ｐゴシック" charset="-128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1200">
          <a:solidFill>
            <a:schemeClr val="accent2"/>
          </a:solidFill>
          <a:latin typeface="+mn-lt"/>
          <a:ea typeface="ＭＳ Ｐゴシック" charset="-128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racker.ietf.org/doc/html/rfc6528" TargetMode="External"/><Relationship Id="rId2" Type="http://schemas.openxmlformats.org/officeDocument/2006/relationships/hyperlink" Target="https://datatracker.ietf.org/doc/html/rfc1948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s://datatracker.ietf.org/doc/html/rfc7413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ally_Floyd" TargetMode="External"/><Relationship Id="rId2" Type="http://schemas.openxmlformats.org/officeDocument/2006/relationships/hyperlink" Target="https://datatracker.ietf.org/doc/rfc3360/" TargetMode="Externa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8150" y="3733800"/>
            <a:ext cx="8248650" cy="1220647"/>
          </a:xfrm>
        </p:spPr>
        <p:txBody>
          <a:bodyPr/>
          <a:lstStyle/>
          <a:p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Hong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Xu,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Henry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CSE@CUHK,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2025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algn="l"/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Material with thanks to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 err="1">
                <a:latin typeface="Arial" charset="0"/>
                <a:ea typeface="ＭＳ Ｐゴシック" charset="0"/>
                <a:cs typeface="ＭＳ Ｐゴシック" charset="0"/>
              </a:rPr>
              <a:t>Mosharaf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Chowdhury,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Aditya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Akella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Sugih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Jamin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Philip Levis, Sylvia Ratnasamy, Peter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Steenkiste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and many other colleague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s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.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-3858" y="1090432"/>
            <a:ext cx="9144000" cy="2286000"/>
          </a:xfrm>
        </p:spPr>
        <p:txBody>
          <a:bodyPr/>
          <a:lstStyle/>
          <a:p>
            <a:pPr algn="ctr"/>
            <a:r>
              <a:rPr lang="en-US" altLang="zh-CN" dirty="0">
                <a:effectLst/>
              </a:rPr>
              <a:t>CSCI4430</a:t>
            </a:r>
            <a:r>
              <a:rPr lang="zh-CN" altLang="en-US" b="1" dirty="0">
                <a:ea typeface="ＭＳ Ｐゴシック" charset="0"/>
              </a:rPr>
              <a:t> </a:t>
            </a:r>
            <a:r>
              <a:rPr lang="en-US" dirty="0"/>
              <a:t>Computer Networks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b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Lecture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7: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Transport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Layer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–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TCP</a:t>
            </a:r>
            <a:endParaRPr lang="en-US" b="1" dirty="0">
              <a:effectLst/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reliable data transfer to TCP</a:t>
            </a:r>
          </a:p>
          <a:p>
            <a:r>
              <a:rPr lang="en-US" dirty="0"/>
              <a:t>TCP connection setup and teardown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649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Designing a reliable transport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Stop and Wait</a:t>
            </a:r>
            <a:r>
              <a:rPr lang="en-US" dirty="0"/>
              <a:t> vs </a:t>
            </a:r>
            <a:r>
              <a:rPr lang="en-US" dirty="0">
                <a:solidFill>
                  <a:srgbClr val="0000FF"/>
                </a:solidFill>
              </a:rPr>
              <a:t>Sliding Window</a:t>
            </a:r>
          </a:p>
          <a:p>
            <a:endParaRPr lang="en-US" dirty="0"/>
          </a:p>
          <a:p>
            <a:r>
              <a:rPr lang="en-US" dirty="0"/>
              <a:t>Sliding Window</a:t>
            </a:r>
          </a:p>
          <a:p>
            <a:pPr lvl="1"/>
            <a:r>
              <a:rPr lang="en-US" dirty="0"/>
              <a:t>Acknowledgements: </a:t>
            </a:r>
            <a:r>
              <a:rPr lang="en-US" dirty="0">
                <a:solidFill>
                  <a:srgbClr val="0000FF"/>
                </a:solidFill>
              </a:rPr>
              <a:t>Cumulative</a:t>
            </a:r>
            <a:r>
              <a:rPr lang="en-US" dirty="0"/>
              <a:t> vs </a:t>
            </a:r>
            <a:r>
              <a:rPr lang="en-US" dirty="0">
                <a:solidFill>
                  <a:srgbClr val="0000FF"/>
                </a:solidFill>
              </a:rPr>
              <a:t>Selective</a:t>
            </a:r>
          </a:p>
          <a:p>
            <a:pPr lvl="1"/>
            <a:r>
              <a:rPr lang="en-US" dirty="0"/>
              <a:t>Resending packets: </a:t>
            </a:r>
            <a:r>
              <a:rPr lang="en-US" dirty="0">
                <a:solidFill>
                  <a:srgbClr val="0000FF"/>
                </a:solidFill>
              </a:rPr>
              <a:t>Go-Back-N</a:t>
            </a:r>
            <a:r>
              <a:rPr lang="en-US" dirty="0"/>
              <a:t> vs </a:t>
            </a:r>
            <a:r>
              <a:rPr lang="en-US" dirty="0">
                <a:solidFill>
                  <a:srgbClr val="0000FF"/>
                </a:solidFill>
              </a:rPr>
              <a:t>Selective Repeat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597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TCP: Transmission Control Protocol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84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TCP Abstraction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TCP delivers a reliable, in-order, byte stream</a:t>
            </a:r>
          </a:p>
          <a:p>
            <a:r>
              <a:rPr lang="en-US" dirty="0">
                <a:solidFill>
                  <a:srgbClr val="0000FF"/>
                </a:solidFill>
              </a:rPr>
              <a:t>Reliable</a:t>
            </a:r>
            <a:r>
              <a:rPr lang="en-US" dirty="0"/>
              <a:t>: TCP resends lost packets (recursively)</a:t>
            </a:r>
          </a:p>
          <a:p>
            <a:pPr lvl="1"/>
            <a:r>
              <a:rPr lang="en-US" dirty="0"/>
              <a:t>Until it gives up and shuts down connection</a:t>
            </a:r>
          </a:p>
          <a:p>
            <a:r>
              <a:rPr lang="en-US" dirty="0">
                <a:solidFill>
                  <a:srgbClr val="0000FF"/>
                </a:solidFill>
              </a:rPr>
              <a:t>In-order</a:t>
            </a:r>
            <a:r>
              <a:rPr lang="en-US" dirty="0"/>
              <a:t>: TCP only hands consecutive chunks of data to application</a:t>
            </a:r>
          </a:p>
          <a:p>
            <a:r>
              <a:rPr lang="en-US" dirty="0">
                <a:solidFill>
                  <a:srgbClr val="0000FF"/>
                </a:solidFill>
              </a:rPr>
              <a:t>Byte stream</a:t>
            </a:r>
            <a:r>
              <a:rPr lang="en-US" dirty="0"/>
              <a:t>: TCP assumes there is an incoming stream of data, and attempts to deliver it to app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061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TCP use from what we’ve seen so far?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of what we’ve seen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Checksums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Sequence numbers</a:t>
            </a:r>
            <a:r>
              <a:rPr lang="en-US" dirty="0"/>
              <a:t> are </a:t>
            </a:r>
            <a:r>
              <a:rPr lang="en-US" u="sng" dirty="0"/>
              <a:t>byte offsets </a:t>
            </a:r>
          </a:p>
          <a:p>
            <a:pPr lvl="1"/>
            <a:r>
              <a:rPr lang="en-US" dirty="0"/>
              <a:t>Sender and receiver maintain a </a:t>
            </a:r>
            <a:r>
              <a:rPr lang="en-US" dirty="0">
                <a:solidFill>
                  <a:srgbClr val="0000FF"/>
                </a:solidFill>
              </a:rPr>
              <a:t>sliding window</a:t>
            </a:r>
          </a:p>
          <a:p>
            <a:pPr lvl="1"/>
            <a:r>
              <a:rPr lang="en-US" dirty="0"/>
              <a:t>Receiver sends </a:t>
            </a:r>
            <a:r>
              <a:rPr lang="en-US" dirty="0">
                <a:solidFill>
                  <a:srgbClr val="0000FF"/>
                </a:solidFill>
              </a:rPr>
              <a:t>cumulative acknowledgements</a:t>
            </a:r>
            <a:r>
              <a:rPr lang="en-US" dirty="0"/>
              <a:t> (like GBN)</a:t>
            </a:r>
          </a:p>
          <a:p>
            <a:pPr lvl="2"/>
            <a:r>
              <a:rPr lang="en-US" dirty="0"/>
              <a:t>Sender maintains a </a:t>
            </a:r>
            <a:r>
              <a:rPr lang="en-US" dirty="0">
                <a:solidFill>
                  <a:srgbClr val="0000FF"/>
                </a:solidFill>
              </a:rPr>
              <a:t>single retransmission timer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Receivers </a:t>
            </a:r>
            <a:r>
              <a:rPr lang="en-US" dirty="0">
                <a:solidFill>
                  <a:srgbClr val="0000FF"/>
                </a:solidFill>
              </a:rPr>
              <a:t>buffer out-of-sequence packets</a:t>
            </a:r>
            <a:r>
              <a:rPr lang="en-US" dirty="0"/>
              <a:t> (like SR)</a:t>
            </a:r>
          </a:p>
          <a:p>
            <a:r>
              <a:rPr lang="en-US" altLang="zh-CN" dirty="0"/>
              <a:t>M</a:t>
            </a:r>
            <a:r>
              <a:rPr lang="en-US" dirty="0"/>
              <a:t>ore: fast retransmit, timeout estimation</a:t>
            </a:r>
            <a:r>
              <a:rPr lang="en-US" altLang="zh-CN" dirty="0"/>
              <a:t>,</a:t>
            </a:r>
            <a:r>
              <a:rPr lang="en-US" dirty="0"/>
              <a:t> etc.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004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the TCP header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6869" name="Rectangle 4"/>
          <p:cNvSpPr>
            <a:spLocks noChangeArrowheads="1"/>
          </p:cNvSpPr>
          <p:nvPr/>
        </p:nvSpPr>
        <p:spPr bwMode="auto">
          <a:xfrm>
            <a:off x="3335338" y="1828800"/>
            <a:ext cx="23622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0" name="Text Box 5"/>
          <p:cNvSpPr txBox="1">
            <a:spLocks noChangeArrowheads="1"/>
          </p:cNvSpPr>
          <p:nvPr/>
        </p:nvSpPr>
        <p:spPr bwMode="auto">
          <a:xfrm>
            <a:off x="3716338" y="1874838"/>
            <a:ext cx="1497012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>
                <a:solidFill>
                  <a:srgbClr val="0000FF"/>
                </a:solidFill>
                <a:latin typeface="Arial" charset="0"/>
              </a:rPr>
              <a:t>Source port</a:t>
            </a:r>
          </a:p>
        </p:txBody>
      </p:sp>
      <p:sp>
        <p:nvSpPr>
          <p:cNvPr id="36871" name="Rectangle 6"/>
          <p:cNvSpPr>
            <a:spLocks noChangeArrowheads="1"/>
          </p:cNvSpPr>
          <p:nvPr/>
        </p:nvSpPr>
        <p:spPr bwMode="auto">
          <a:xfrm>
            <a:off x="5697538" y="1828800"/>
            <a:ext cx="25146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2" name="Text Box 7"/>
          <p:cNvSpPr txBox="1">
            <a:spLocks noChangeArrowheads="1"/>
          </p:cNvSpPr>
          <p:nvPr/>
        </p:nvSpPr>
        <p:spPr bwMode="auto">
          <a:xfrm>
            <a:off x="5849938" y="1874838"/>
            <a:ext cx="1963737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Destination port</a:t>
            </a:r>
          </a:p>
        </p:txBody>
      </p:sp>
      <p:sp>
        <p:nvSpPr>
          <p:cNvPr id="36891" name="Rectangle 26"/>
          <p:cNvSpPr>
            <a:spLocks noChangeArrowheads="1"/>
          </p:cNvSpPr>
          <p:nvPr/>
        </p:nvSpPr>
        <p:spPr bwMode="auto">
          <a:xfrm>
            <a:off x="3335338" y="4800600"/>
            <a:ext cx="4876800" cy="1143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400" b="0">
                <a:solidFill>
                  <a:schemeClr val="bg1"/>
                </a:solidFill>
                <a:latin typeface="Arial" charset="0"/>
              </a:rPr>
              <a:t>Data</a:t>
            </a:r>
          </a:p>
        </p:txBody>
      </p:sp>
      <p:sp>
        <p:nvSpPr>
          <p:cNvPr id="36892" name="Text Box 27"/>
          <p:cNvSpPr txBox="1">
            <a:spLocks noChangeArrowheads="1"/>
          </p:cNvSpPr>
          <p:nvPr/>
        </p:nvSpPr>
        <p:spPr bwMode="auto">
          <a:xfrm>
            <a:off x="762000" y="2362200"/>
            <a:ext cx="169309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Used to Mux </a:t>
            </a:r>
          </a:p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and Demux </a:t>
            </a:r>
          </a:p>
        </p:txBody>
      </p:sp>
      <p:sp>
        <p:nvSpPr>
          <p:cNvPr id="36893" name="Oval 28"/>
          <p:cNvSpPr>
            <a:spLocks noChangeArrowheads="1"/>
          </p:cNvSpPr>
          <p:nvPr/>
        </p:nvSpPr>
        <p:spPr bwMode="auto">
          <a:xfrm>
            <a:off x="3048000" y="1828800"/>
            <a:ext cx="5486400" cy="609600"/>
          </a:xfrm>
          <a:prstGeom prst="ellips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FF6600"/>
              </a:solidFill>
            </a:endParaRPr>
          </a:p>
        </p:txBody>
      </p:sp>
      <p:cxnSp>
        <p:nvCxnSpPr>
          <p:cNvPr id="36895" name="AutoShape 30"/>
          <p:cNvCxnSpPr>
            <a:cxnSpLocks noChangeShapeType="1"/>
            <a:stCxn id="36892" idx="3"/>
            <a:endCxn id="36893" idx="2"/>
          </p:cNvCxnSpPr>
          <p:nvPr/>
        </p:nvCxnSpPr>
        <p:spPr bwMode="auto">
          <a:xfrm flipV="1">
            <a:off x="2455092" y="2133600"/>
            <a:ext cx="592908" cy="582543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409996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9" grpId="0" animBg="1"/>
      <p:bldP spid="36870" grpId="0" animBg="1"/>
      <p:bldP spid="36871" grpId="0" animBg="1"/>
      <p:bldP spid="36872" grpId="0" animBg="1"/>
      <p:bldP spid="36891" grpId="0" animBg="1"/>
      <p:bldP spid="36892" grpId="0"/>
      <p:bldP spid="3689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the TCP header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6869" name="Rectangle 4"/>
          <p:cNvSpPr>
            <a:spLocks noChangeArrowheads="1"/>
          </p:cNvSpPr>
          <p:nvPr/>
        </p:nvSpPr>
        <p:spPr bwMode="auto">
          <a:xfrm>
            <a:off x="3335338" y="1828800"/>
            <a:ext cx="23622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0" name="Text Box 5"/>
          <p:cNvSpPr txBox="1">
            <a:spLocks noChangeArrowheads="1"/>
          </p:cNvSpPr>
          <p:nvPr/>
        </p:nvSpPr>
        <p:spPr bwMode="auto">
          <a:xfrm>
            <a:off x="3716338" y="1874838"/>
            <a:ext cx="1497012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Source port</a:t>
            </a:r>
          </a:p>
        </p:txBody>
      </p:sp>
      <p:sp>
        <p:nvSpPr>
          <p:cNvPr id="36871" name="Rectangle 6"/>
          <p:cNvSpPr>
            <a:spLocks noChangeArrowheads="1"/>
          </p:cNvSpPr>
          <p:nvPr/>
        </p:nvSpPr>
        <p:spPr bwMode="auto">
          <a:xfrm>
            <a:off x="5697538" y="1828800"/>
            <a:ext cx="25146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2" name="Text Box 7"/>
          <p:cNvSpPr txBox="1">
            <a:spLocks noChangeArrowheads="1"/>
          </p:cNvSpPr>
          <p:nvPr/>
        </p:nvSpPr>
        <p:spPr bwMode="auto">
          <a:xfrm>
            <a:off x="5849938" y="1874838"/>
            <a:ext cx="1963737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>
                <a:solidFill>
                  <a:srgbClr val="0000FF"/>
                </a:solidFill>
                <a:latin typeface="Arial" charset="0"/>
              </a:rPr>
              <a:t>Destination port</a:t>
            </a:r>
          </a:p>
        </p:txBody>
      </p:sp>
      <p:sp>
        <p:nvSpPr>
          <p:cNvPr id="36885" name="Rectangle 20"/>
          <p:cNvSpPr>
            <a:spLocks noChangeArrowheads="1"/>
          </p:cNvSpPr>
          <p:nvPr/>
        </p:nvSpPr>
        <p:spPr bwMode="auto">
          <a:xfrm>
            <a:off x="3335338" y="38100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87" name="Text Box 22"/>
          <p:cNvSpPr txBox="1">
            <a:spLocks noChangeArrowheads="1"/>
          </p:cNvSpPr>
          <p:nvPr/>
        </p:nvSpPr>
        <p:spPr bwMode="auto">
          <a:xfrm>
            <a:off x="3700463" y="3897313"/>
            <a:ext cx="1384300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Checksum</a:t>
            </a:r>
          </a:p>
        </p:txBody>
      </p:sp>
      <p:sp>
        <p:nvSpPr>
          <p:cNvPr id="36891" name="Rectangle 26"/>
          <p:cNvSpPr>
            <a:spLocks noChangeArrowheads="1"/>
          </p:cNvSpPr>
          <p:nvPr/>
        </p:nvSpPr>
        <p:spPr bwMode="auto">
          <a:xfrm>
            <a:off x="3335338" y="4800600"/>
            <a:ext cx="4876800" cy="1143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400" b="0">
                <a:solidFill>
                  <a:schemeClr val="bg1"/>
                </a:solidFill>
                <a:latin typeface="Arial" charset="0"/>
              </a:rPr>
              <a:t>Data</a:t>
            </a:r>
          </a:p>
        </p:txBody>
      </p:sp>
      <p:sp>
        <p:nvSpPr>
          <p:cNvPr id="29" name="Text Box 27"/>
          <p:cNvSpPr txBox="1">
            <a:spLocks noChangeArrowheads="1"/>
          </p:cNvSpPr>
          <p:nvPr/>
        </p:nvSpPr>
        <p:spPr bwMode="auto">
          <a:xfrm>
            <a:off x="762000" y="3124200"/>
            <a:ext cx="2549096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Computed </a:t>
            </a:r>
            <a:br>
              <a:rPr lang="en-US" b="0" dirty="0">
                <a:solidFill>
                  <a:srgbClr val="0000FF"/>
                </a:solidFill>
                <a:latin typeface="Arial" charset="0"/>
              </a:rPr>
            </a:br>
            <a:r>
              <a:rPr lang="en-US" b="0" dirty="0">
                <a:solidFill>
                  <a:srgbClr val="0000FF"/>
                </a:solidFill>
                <a:latin typeface="Arial" charset="0"/>
              </a:rPr>
              <a:t>over pseudo-header </a:t>
            </a:r>
          </a:p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and data</a:t>
            </a:r>
          </a:p>
        </p:txBody>
      </p:sp>
      <p:sp>
        <p:nvSpPr>
          <p:cNvPr id="30" name="Oval 28"/>
          <p:cNvSpPr>
            <a:spLocks noChangeArrowheads="1"/>
          </p:cNvSpPr>
          <p:nvPr/>
        </p:nvSpPr>
        <p:spPr bwMode="auto">
          <a:xfrm>
            <a:off x="2971800" y="3810000"/>
            <a:ext cx="3124200" cy="609600"/>
          </a:xfrm>
          <a:prstGeom prst="ellips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FF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0957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TCP </a:t>
            </a:r>
            <a:r>
              <a:rPr lang="en-US" altLang="zh-CN" dirty="0"/>
              <a:t>use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of what we’ve seen</a:t>
            </a:r>
          </a:p>
          <a:p>
            <a:pPr lvl="1"/>
            <a:r>
              <a:rPr lang="en-US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Checksum</a:t>
            </a:r>
            <a:r>
              <a:rPr lang="en-US" dirty="0"/>
              <a:t> 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Sequence numbers</a:t>
            </a:r>
            <a:r>
              <a:rPr lang="en-US" dirty="0"/>
              <a:t> are byte offsets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435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the TCP header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6869" name="Rectangle 4"/>
          <p:cNvSpPr>
            <a:spLocks noChangeArrowheads="1"/>
          </p:cNvSpPr>
          <p:nvPr/>
        </p:nvSpPr>
        <p:spPr bwMode="auto">
          <a:xfrm>
            <a:off x="3335338" y="1828800"/>
            <a:ext cx="23622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0" name="Text Box 5"/>
          <p:cNvSpPr txBox="1">
            <a:spLocks noChangeArrowheads="1"/>
          </p:cNvSpPr>
          <p:nvPr/>
        </p:nvSpPr>
        <p:spPr bwMode="auto">
          <a:xfrm>
            <a:off x="3716338" y="1874838"/>
            <a:ext cx="1497012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>
                <a:solidFill>
                  <a:srgbClr val="0000FF"/>
                </a:solidFill>
                <a:latin typeface="Arial" charset="0"/>
              </a:rPr>
              <a:t>Source port</a:t>
            </a:r>
          </a:p>
        </p:txBody>
      </p:sp>
      <p:sp>
        <p:nvSpPr>
          <p:cNvPr id="36871" name="Rectangle 6"/>
          <p:cNvSpPr>
            <a:spLocks noChangeArrowheads="1"/>
          </p:cNvSpPr>
          <p:nvPr/>
        </p:nvSpPr>
        <p:spPr bwMode="auto">
          <a:xfrm>
            <a:off x="5697538" y="1828800"/>
            <a:ext cx="25146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2" name="Text Box 7"/>
          <p:cNvSpPr txBox="1">
            <a:spLocks noChangeArrowheads="1"/>
          </p:cNvSpPr>
          <p:nvPr/>
        </p:nvSpPr>
        <p:spPr bwMode="auto">
          <a:xfrm>
            <a:off x="5849938" y="1874838"/>
            <a:ext cx="1963737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>
                <a:solidFill>
                  <a:srgbClr val="0000FF"/>
                </a:solidFill>
                <a:latin typeface="Arial" charset="0"/>
              </a:rPr>
              <a:t>Destination port</a:t>
            </a:r>
          </a:p>
        </p:txBody>
      </p:sp>
      <p:sp>
        <p:nvSpPr>
          <p:cNvPr id="36873" name="Rectangle 8"/>
          <p:cNvSpPr>
            <a:spLocks noChangeArrowheads="1"/>
          </p:cNvSpPr>
          <p:nvPr/>
        </p:nvSpPr>
        <p:spPr bwMode="auto">
          <a:xfrm>
            <a:off x="3335338" y="2362200"/>
            <a:ext cx="48768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4" name="Text Box 9"/>
          <p:cNvSpPr txBox="1">
            <a:spLocks noChangeArrowheads="1"/>
          </p:cNvSpPr>
          <p:nvPr/>
        </p:nvSpPr>
        <p:spPr bwMode="auto">
          <a:xfrm>
            <a:off x="4630738" y="2408238"/>
            <a:ext cx="2260600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>
                <a:solidFill>
                  <a:srgbClr val="0000FF"/>
                </a:solidFill>
                <a:latin typeface="Arial" charset="0"/>
              </a:rPr>
              <a:t>Sequence number</a:t>
            </a:r>
          </a:p>
        </p:txBody>
      </p:sp>
      <p:sp>
        <p:nvSpPr>
          <p:cNvPr id="36885" name="Rectangle 20"/>
          <p:cNvSpPr>
            <a:spLocks noChangeArrowheads="1"/>
          </p:cNvSpPr>
          <p:nvPr/>
        </p:nvSpPr>
        <p:spPr bwMode="auto">
          <a:xfrm>
            <a:off x="3335338" y="38100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87" name="Text Box 22"/>
          <p:cNvSpPr txBox="1">
            <a:spLocks noChangeArrowheads="1"/>
          </p:cNvSpPr>
          <p:nvPr/>
        </p:nvSpPr>
        <p:spPr bwMode="auto">
          <a:xfrm>
            <a:off x="3700463" y="3897313"/>
            <a:ext cx="1384300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Checksum</a:t>
            </a:r>
          </a:p>
        </p:txBody>
      </p:sp>
      <p:sp>
        <p:nvSpPr>
          <p:cNvPr id="36891" name="Rectangle 26"/>
          <p:cNvSpPr>
            <a:spLocks noChangeArrowheads="1"/>
          </p:cNvSpPr>
          <p:nvPr/>
        </p:nvSpPr>
        <p:spPr bwMode="auto">
          <a:xfrm>
            <a:off x="3335338" y="4800600"/>
            <a:ext cx="4876800" cy="1143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400" b="0">
                <a:solidFill>
                  <a:schemeClr val="bg1"/>
                </a:solidFill>
                <a:latin typeface="Arial" charset="0"/>
              </a:rPr>
              <a:t>Data</a:t>
            </a:r>
          </a:p>
        </p:txBody>
      </p:sp>
      <p:sp>
        <p:nvSpPr>
          <p:cNvPr id="30" name="Oval 28"/>
          <p:cNvSpPr>
            <a:spLocks noChangeArrowheads="1"/>
          </p:cNvSpPr>
          <p:nvPr/>
        </p:nvSpPr>
        <p:spPr bwMode="auto">
          <a:xfrm>
            <a:off x="4135438" y="2281420"/>
            <a:ext cx="3124200" cy="609600"/>
          </a:xfrm>
          <a:prstGeom prst="ellips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FF6600"/>
              </a:solidFill>
            </a:endParaRPr>
          </a:p>
        </p:txBody>
      </p:sp>
      <p:sp>
        <p:nvSpPr>
          <p:cNvPr id="28" name="Text Box 27"/>
          <p:cNvSpPr txBox="1">
            <a:spLocks noChangeArrowheads="1"/>
          </p:cNvSpPr>
          <p:nvPr/>
        </p:nvSpPr>
        <p:spPr bwMode="auto">
          <a:xfrm>
            <a:off x="916532" y="2554427"/>
            <a:ext cx="2270558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Byte offsets</a:t>
            </a:r>
          </a:p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(NOT packet id),</a:t>
            </a:r>
          </a:p>
          <a:p>
            <a:pPr algn="l"/>
            <a:r>
              <a:rPr lang="en-US" b="0" dirty="0">
                <a:solidFill>
                  <a:schemeClr val="accent2"/>
                </a:solidFill>
                <a:latin typeface="Arial" charset="0"/>
              </a:rPr>
              <a:t>because TCP is a </a:t>
            </a:r>
          </a:p>
          <a:p>
            <a:pPr algn="l"/>
            <a:r>
              <a:rPr lang="en-US" b="0" dirty="0">
                <a:solidFill>
                  <a:schemeClr val="accent2"/>
                </a:solidFill>
                <a:latin typeface="Arial" charset="0"/>
              </a:rPr>
              <a:t>byte stream</a:t>
            </a:r>
          </a:p>
        </p:txBody>
      </p:sp>
    </p:spTree>
    <p:extLst>
      <p:ext uri="{BB962C8B-B14F-4D97-AF65-F5344CB8AC3E}">
        <p14:creationId xmlns:p14="http://schemas.microsoft.com/office/powerpoint/2010/main" val="1208430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</a:t>
            </a:r>
            <a:r>
              <a:rPr lang="ja-JP" altLang="en-US"/>
              <a:t>“</a:t>
            </a:r>
            <a:r>
              <a:rPr lang="en-US" dirty="0"/>
              <a:t>byte </a:t>
            </a:r>
            <a:r>
              <a:rPr lang="en-US" altLang="ja-JP" dirty="0"/>
              <a:t>s</a:t>
            </a:r>
            <a:r>
              <a:rPr lang="en-US" dirty="0"/>
              <a:t>tream</a:t>
            </a:r>
            <a:r>
              <a:rPr lang="ja-JP" altLang="en-US"/>
              <a:t>”</a:t>
            </a:r>
            <a:r>
              <a:rPr lang="en-US" altLang="ja-JP" dirty="0"/>
              <a:t> s</a:t>
            </a:r>
            <a:r>
              <a:rPr lang="en-US" dirty="0"/>
              <a:t>ervice…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11</a:t>
            </a:fld>
            <a:endParaRPr lang="en-US"/>
          </a:p>
        </p:txBody>
      </p:sp>
      <p:grpSp>
        <p:nvGrpSpPr>
          <p:cNvPr id="63492" name="Group 3"/>
          <p:cNvGrpSpPr>
            <a:grpSpLocks/>
          </p:cNvGrpSpPr>
          <p:nvPr/>
        </p:nvGrpSpPr>
        <p:grpSpPr bwMode="auto">
          <a:xfrm>
            <a:off x="1460500" y="2122488"/>
            <a:ext cx="5029200" cy="609600"/>
            <a:chOff x="912" y="1104"/>
            <a:chExt cx="3648" cy="384"/>
          </a:xfrm>
        </p:grpSpPr>
        <p:sp>
          <p:nvSpPr>
            <p:cNvPr id="63589" name="Line 4"/>
            <p:cNvSpPr>
              <a:spLocks noChangeShapeType="1"/>
            </p:cNvSpPr>
            <p:nvPr/>
          </p:nvSpPr>
          <p:spPr bwMode="auto">
            <a:xfrm>
              <a:off x="912" y="1104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90" name="Line 5"/>
            <p:cNvSpPr>
              <a:spLocks noChangeShapeType="1"/>
            </p:cNvSpPr>
            <p:nvPr/>
          </p:nvSpPr>
          <p:spPr bwMode="auto">
            <a:xfrm>
              <a:off x="912" y="1488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91" name="Line 6"/>
            <p:cNvSpPr>
              <a:spLocks noChangeShapeType="1"/>
            </p:cNvSpPr>
            <p:nvPr/>
          </p:nvSpPr>
          <p:spPr bwMode="auto">
            <a:xfrm flipH="1">
              <a:off x="4224" y="1104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92" name="Line 7"/>
            <p:cNvSpPr>
              <a:spLocks noChangeShapeType="1"/>
            </p:cNvSpPr>
            <p:nvPr/>
          </p:nvSpPr>
          <p:spPr bwMode="auto">
            <a:xfrm flipH="1">
              <a:off x="4224" y="1488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3493" name="Line 8"/>
          <p:cNvSpPr>
            <a:spLocks noChangeShapeType="1"/>
          </p:cNvSpPr>
          <p:nvPr/>
        </p:nvSpPr>
        <p:spPr bwMode="auto">
          <a:xfrm>
            <a:off x="14478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94" name="Line 9"/>
          <p:cNvSpPr>
            <a:spLocks noChangeShapeType="1"/>
          </p:cNvSpPr>
          <p:nvPr/>
        </p:nvSpPr>
        <p:spPr bwMode="auto">
          <a:xfrm>
            <a:off x="16002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95" name="Line 10"/>
          <p:cNvSpPr>
            <a:spLocks noChangeShapeType="1"/>
          </p:cNvSpPr>
          <p:nvPr/>
        </p:nvSpPr>
        <p:spPr bwMode="auto">
          <a:xfrm>
            <a:off x="17526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96" name="Line 11"/>
          <p:cNvSpPr>
            <a:spLocks noChangeShapeType="1"/>
          </p:cNvSpPr>
          <p:nvPr/>
        </p:nvSpPr>
        <p:spPr bwMode="auto">
          <a:xfrm>
            <a:off x="19050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97" name="Line 12"/>
          <p:cNvSpPr>
            <a:spLocks noChangeShapeType="1"/>
          </p:cNvSpPr>
          <p:nvPr/>
        </p:nvSpPr>
        <p:spPr bwMode="auto">
          <a:xfrm>
            <a:off x="20574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98" name="Line 13"/>
          <p:cNvSpPr>
            <a:spLocks noChangeShapeType="1"/>
          </p:cNvSpPr>
          <p:nvPr/>
        </p:nvSpPr>
        <p:spPr bwMode="auto">
          <a:xfrm>
            <a:off x="22098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99" name="Line 14"/>
          <p:cNvSpPr>
            <a:spLocks noChangeShapeType="1"/>
          </p:cNvSpPr>
          <p:nvPr/>
        </p:nvSpPr>
        <p:spPr bwMode="auto">
          <a:xfrm>
            <a:off x="23622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00" name="Line 15"/>
          <p:cNvSpPr>
            <a:spLocks noChangeShapeType="1"/>
          </p:cNvSpPr>
          <p:nvPr/>
        </p:nvSpPr>
        <p:spPr bwMode="auto">
          <a:xfrm>
            <a:off x="25146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01" name="Line 16"/>
          <p:cNvSpPr>
            <a:spLocks noChangeShapeType="1"/>
          </p:cNvSpPr>
          <p:nvPr/>
        </p:nvSpPr>
        <p:spPr bwMode="auto">
          <a:xfrm>
            <a:off x="26670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02" name="Line 17"/>
          <p:cNvSpPr>
            <a:spLocks noChangeShapeType="1"/>
          </p:cNvSpPr>
          <p:nvPr/>
        </p:nvSpPr>
        <p:spPr bwMode="auto">
          <a:xfrm>
            <a:off x="28194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03" name="Line 18"/>
          <p:cNvSpPr>
            <a:spLocks noChangeShapeType="1"/>
          </p:cNvSpPr>
          <p:nvPr/>
        </p:nvSpPr>
        <p:spPr bwMode="auto">
          <a:xfrm>
            <a:off x="29718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04" name="Line 19"/>
          <p:cNvSpPr>
            <a:spLocks noChangeShapeType="1"/>
          </p:cNvSpPr>
          <p:nvPr/>
        </p:nvSpPr>
        <p:spPr bwMode="auto">
          <a:xfrm>
            <a:off x="31242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05" name="Line 20"/>
          <p:cNvSpPr>
            <a:spLocks noChangeShapeType="1"/>
          </p:cNvSpPr>
          <p:nvPr/>
        </p:nvSpPr>
        <p:spPr bwMode="auto">
          <a:xfrm>
            <a:off x="32766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06" name="Line 21"/>
          <p:cNvSpPr>
            <a:spLocks noChangeShapeType="1"/>
          </p:cNvSpPr>
          <p:nvPr/>
        </p:nvSpPr>
        <p:spPr bwMode="auto">
          <a:xfrm>
            <a:off x="34290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07" name="Line 22"/>
          <p:cNvSpPr>
            <a:spLocks noChangeShapeType="1"/>
          </p:cNvSpPr>
          <p:nvPr/>
        </p:nvSpPr>
        <p:spPr bwMode="auto">
          <a:xfrm>
            <a:off x="35814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08" name="Line 23"/>
          <p:cNvSpPr>
            <a:spLocks noChangeShapeType="1"/>
          </p:cNvSpPr>
          <p:nvPr/>
        </p:nvSpPr>
        <p:spPr bwMode="auto">
          <a:xfrm>
            <a:off x="37338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09" name="Line 24"/>
          <p:cNvSpPr>
            <a:spLocks noChangeShapeType="1"/>
          </p:cNvSpPr>
          <p:nvPr/>
        </p:nvSpPr>
        <p:spPr bwMode="auto">
          <a:xfrm>
            <a:off x="38862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10" name="Line 25"/>
          <p:cNvSpPr>
            <a:spLocks noChangeShapeType="1"/>
          </p:cNvSpPr>
          <p:nvPr/>
        </p:nvSpPr>
        <p:spPr bwMode="auto">
          <a:xfrm>
            <a:off x="40386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11" name="Line 26"/>
          <p:cNvSpPr>
            <a:spLocks noChangeShapeType="1"/>
          </p:cNvSpPr>
          <p:nvPr/>
        </p:nvSpPr>
        <p:spPr bwMode="auto">
          <a:xfrm>
            <a:off x="41910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12" name="Line 27"/>
          <p:cNvSpPr>
            <a:spLocks noChangeShapeType="1"/>
          </p:cNvSpPr>
          <p:nvPr/>
        </p:nvSpPr>
        <p:spPr bwMode="auto">
          <a:xfrm>
            <a:off x="43434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13" name="Line 28"/>
          <p:cNvSpPr>
            <a:spLocks noChangeShapeType="1"/>
          </p:cNvSpPr>
          <p:nvPr/>
        </p:nvSpPr>
        <p:spPr bwMode="auto">
          <a:xfrm>
            <a:off x="44958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14" name="Line 29"/>
          <p:cNvSpPr>
            <a:spLocks noChangeShapeType="1"/>
          </p:cNvSpPr>
          <p:nvPr/>
        </p:nvSpPr>
        <p:spPr bwMode="auto">
          <a:xfrm>
            <a:off x="46482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15" name="Line 30"/>
          <p:cNvSpPr>
            <a:spLocks noChangeShapeType="1"/>
          </p:cNvSpPr>
          <p:nvPr/>
        </p:nvSpPr>
        <p:spPr bwMode="auto">
          <a:xfrm>
            <a:off x="48006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16" name="Line 31"/>
          <p:cNvSpPr>
            <a:spLocks noChangeShapeType="1"/>
          </p:cNvSpPr>
          <p:nvPr/>
        </p:nvSpPr>
        <p:spPr bwMode="auto">
          <a:xfrm>
            <a:off x="49530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17" name="Line 32"/>
          <p:cNvSpPr>
            <a:spLocks noChangeShapeType="1"/>
          </p:cNvSpPr>
          <p:nvPr/>
        </p:nvSpPr>
        <p:spPr bwMode="auto">
          <a:xfrm>
            <a:off x="51054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18" name="Line 33"/>
          <p:cNvSpPr>
            <a:spLocks noChangeShapeType="1"/>
          </p:cNvSpPr>
          <p:nvPr/>
        </p:nvSpPr>
        <p:spPr bwMode="auto">
          <a:xfrm>
            <a:off x="52578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19" name="Line 34"/>
          <p:cNvSpPr>
            <a:spLocks noChangeShapeType="1"/>
          </p:cNvSpPr>
          <p:nvPr/>
        </p:nvSpPr>
        <p:spPr bwMode="auto">
          <a:xfrm>
            <a:off x="54102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20" name="Line 35"/>
          <p:cNvSpPr>
            <a:spLocks noChangeShapeType="1"/>
          </p:cNvSpPr>
          <p:nvPr/>
        </p:nvSpPr>
        <p:spPr bwMode="auto">
          <a:xfrm>
            <a:off x="55626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21" name="Line 36"/>
          <p:cNvSpPr>
            <a:spLocks noChangeShapeType="1"/>
          </p:cNvSpPr>
          <p:nvPr/>
        </p:nvSpPr>
        <p:spPr bwMode="auto">
          <a:xfrm>
            <a:off x="57150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22" name="Line 37"/>
          <p:cNvSpPr>
            <a:spLocks noChangeShapeType="1"/>
          </p:cNvSpPr>
          <p:nvPr/>
        </p:nvSpPr>
        <p:spPr bwMode="auto">
          <a:xfrm>
            <a:off x="58674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23" name="Line 38"/>
          <p:cNvSpPr>
            <a:spLocks noChangeShapeType="1"/>
          </p:cNvSpPr>
          <p:nvPr/>
        </p:nvSpPr>
        <p:spPr bwMode="auto">
          <a:xfrm>
            <a:off x="60198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24" name="Line 39"/>
          <p:cNvSpPr>
            <a:spLocks noChangeShapeType="1"/>
          </p:cNvSpPr>
          <p:nvPr/>
        </p:nvSpPr>
        <p:spPr bwMode="auto">
          <a:xfrm>
            <a:off x="6172200" y="2128838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25" name="Line 40"/>
          <p:cNvSpPr>
            <a:spLocks noChangeShapeType="1"/>
          </p:cNvSpPr>
          <p:nvPr/>
        </p:nvSpPr>
        <p:spPr bwMode="auto">
          <a:xfrm>
            <a:off x="6324600" y="2128838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26" name="Text Box 41"/>
          <p:cNvSpPr txBox="1">
            <a:spLocks noChangeArrowheads="1"/>
          </p:cNvSpPr>
          <p:nvPr/>
        </p:nvSpPr>
        <p:spPr bwMode="auto">
          <a:xfrm rot="5390887">
            <a:off x="1243013" y="2281238"/>
            <a:ext cx="58578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Times New Roman" charset="0"/>
              </a:rPr>
              <a:t>Byte 0</a:t>
            </a:r>
          </a:p>
        </p:txBody>
      </p:sp>
      <p:sp>
        <p:nvSpPr>
          <p:cNvPr id="63527" name="Text Box 42"/>
          <p:cNvSpPr txBox="1">
            <a:spLocks noChangeArrowheads="1"/>
          </p:cNvSpPr>
          <p:nvPr/>
        </p:nvSpPr>
        <p:spPr bwMode="auto">
          <a:xfrm rot="5390887">
            <a:off x="1395413" y="2281238"/>
            <a:ext cx="58578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Times New Roman" charset="0"/>
              </a:rPr>
              <a:t>Byte 1</a:t>
            </a:r>
          </a:p>
        </p:txBody>
      </p:sp>
      <p:sp>
        <p:nvSpPr>
          <p:cNvPr id="63528" name="Text Box 43"/>
          <p:cNvSpPr txBox="1">
            <a:spLocks noChangeArrowheads="1"/>
          </p:cNvSpPr>
          <p:nvPr/>
        </p:nvSpPr>
        <p:spPr bwMode="auto">
          <a:xfrm rot="5390887">
            <a:off x="1549400" y="2282825"/>
            <a:ext cx="5857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Times New Roman" charset="0"/>
              </a:rPr>
              <a:t>Byte 2</a:t>
            </a:r>
          </a:p>
        </p:txBody>
      </p:sp>
      <p:sp>
        <p:nvSpPr>
          <p:cNvPr id="63529" name="Text Box 44"/>
          <p:cNvSpPr txBox="1">
            <a:spLocks noChangeArrowheads="1"/>
          </p:cNvSpPr>
          <p:nvPr/>
        </p:nvSpPr>
        <p:spPr bwMode="auto">
          <a:xfrm rot="5390887">
            <a:off x="1701800" y="2282825"/>
            <a:ext cx="5857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Times New Roman" charset="0"/>
              </a:rPr>
              <a:t>Byte 3</a:t>
            </a:r>
          </a:p>
        </p:txBody>
      </p:sp>
      <p:sp>
        <p:nvSpPr>
          <p:cNvPr id="63530" name="Line 45"/>
          <p:cNvSpPr>
            <a:spLocks noChangeShapeType="1"/>
          </p:cNvSpPr>
          <p:nvPr/>
        </p:nvSpPr>
        <p:spPr bwMode="auto">
          <a:xfrm>
            <a:off x="2133600" y="2586038"/>
            <a:ext cx="304800" cy="4762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3531" name="Group 46"/>
          <p:cNvGrpSpPr>
            <a:grpSpLocks/>
          </p:cNvGrpSpPr>
          <p:nvPr/>
        </p:nvGrpSpPr>
        <p:grpSpPr bwMode="auto">
          <a:xfrm>
            <a:off x="2743200" y="5334000"/>
            <a:ext cx="5029200" cy="609600"/>
            <a:chOff x="912" y="1104"/>
            <a:chExt cx="3648" cy="384"/>
          </a:xfrm>
        </p:grpSpPr>
        <p:sp>
          <p:nvSpPr>
            <p:cNvPr id="63585" name="Line 47"/>
            <p:cNvSpPr>
              <a:spLocks noChangeShapeType="1"/>
            </p:cNvSpPr>
            <p:nvPr/>
          </p:nvSpPr>
          <p:spPr bwMode="auto">
            <a:xfrm>
              <a:off x="912" y="1104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86" name="Line 48"/>
            <p:cNvSpPr>
              <a:spLocks noChangeShapeType="1"/>
            </p:cNvSpPr>
            <p:nvPr/>
          </p:nvSpPr>
          <p:spPr bwMode="auto">
            <a:xfrm>
              <a:off x="912" y="1488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87" name="Line 49"/>
            <p:cNvSpPr>
              <a:spLocks noChangeShapeType="1"/>
            </p:cNvSpPr>
            <p:nvPr/>
          </p:nvSpPr>
          <p:spPr bwMode="auto">
            <a:xfrm flipH="1">
              <a:off x="4224" y="1104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88" name="Line 50"/>
            <p:cNvSpPr>
              <a:spLocks noChangeShapeType="1"/>
            </p:cNvSpPr>
            <p:nvPr/>
          </p:nvSpPr>
          <p:spPr bwMode="auto">
            <a:xfrm flipH="1">
              <a:off x="4224" y="1488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3532" name="Line 51"/>
          <p:cNvSpPr>
            <a:spLocks noChangeShapeType="1"/>
          </p:cNvSpPr>
          <p:nvPr/>
        </p:nvSpPr>
        <p:spPr bwMode="auto">
          <a:xfrm>
            <a:off x="27432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33" name="Line 52"/>
          <p:cNvSpPr>
            <a:spLocks noChangeShapeType="1"/>
          </p:cNvSpPr>
          <p:nvPr/>
        </p:nvSpPr>
        <p:spPr bwMode="auto">
          <a:xfrm>
            <a:off x="28956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34" name="Line 53"/>
          <p:cNvSpPr>
            <a:spLocks noChangeShapeType="1"/>
          </p:cNvSpPr>
          <p:nvPr/>
        </p:nvSpPr>
        <p:spPr bwMode="auto">
          <a:xfrm>
            <a:off x="30480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35" name="Line 54"/>
          <p:cNvSpPr>
            <a:spLocks noChangeShapeType="1"/>
          </p:cNvSpPr>
          <p:nvPr/>
        </p:nvSpPr>
        <p:spPr bwMode="auto">
          <a:xfrm>
            <a:off x="32004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36" name="Line 55"/>
          <p:cNvSpPr>
            <a:spLocks noChangeShapeType="1"/>
          </p:cNvSpPr>
          <p:nvPr/>
        </p:nvSpPr>
        <p:spPr bwMode="auto">
          <a:xfrm>
            <a:off x="33528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37" name="Line 56"/>
          <p:cNvSpPr>
            <a:spLocks noChangeShapeType="1"/>
          </p:cNvSpPr>
          <p:nvPr/>
        </p:nvSpPr>
        <p:spPr bwMode="auto">
          <a:xfrm>
            <a:off x="35052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38" name="Line 57"/>
          <p:cNvSpPr>
            <a:spLocks noChangeShapeType="1"/>
          </p:cNvSpPr>
          <p:nvPr/>
        </p:nvSpPr>
        <p:spPr bwMode="auto">
          <a:xfrm>
            <a:off x="36576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39" name="Line 58"/>
          <p:cNvSpPr>
            <a:spLocks noChangeShapeType="1"/>
          </p:cNvSpPr>
          <p:nvPr/>
        </p:nvSpPr>
        <p:spPr bwMode="auto">
          <a:xfrm>
            <a:off x="38100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40" name="Line 59"/>
          <p:cNvSpPr>
            <a:spLocks noChangeShapeType="1"/>
          </p:cNvSpPr>
          <p:nvPr/>
        </p:nvSpPr>
        <p:spPr bwMode="auto">
          <a:xfrm>
            <a:off x="39624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41" name="Line 60"/>
          <p:cNvSpPr>
            <a:spLocks noChangeShapeType="1"/>
          </p:cNvSpPr>
          <p:nvPr/>
        </p:nvSpPr>
        <p:spPr bwMode="auto">
          <a:xfrm>
            <a:off x="41148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42" name="Line 61"/>
          <p:cNvSpPr>
            <a:spLocks noChangeShapeType="1"/>
          </p:cNvSpPr>
          <p:nvPr/>
        </p:nvSpPr>
        <p:spPr bwMode="auto">
          <a:xfrm>
            <a:off x="42672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43" name="Line 62"/>
          <p:cNvSpPr>
            <a:spLocks noChangeShapeType="1"/>
          </p:cNvSpPr>
          <p:nvPr/>
        </p:nvSpPr>
        <p:spPr bwMode="auto">
          <a:xfrm>
            <a:off x="44196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44" name="Line 63"/>
          <p:cNvSpPr>
            <a:spLocks noChangeShapeType="1"/>
          </p:cNvSpPr>
          <p:nvPr/>
        </p:nvSpPr>
        <p:spPr bwMode="auto">
          <a:xfrm>
            <a:off x="45720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45" name="Line 64"/>
          <p:cNvSpPr>
            <a:spLocks noChangeShapeType="1"/>
          </p:cNvSpPr>
          <p:nvPr/>
        </p:nvSpPr>
        <p:spPr bwMode="auto">
          <a:xfrm>
            <a:off x="47244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46" name="Line 65"/>
          <p:cNvSpPr>
            <a:spLocks noChangeShapeType="1"/>
          </p:cNvSpPr>
          <p:nvPr/>
        </p:nvSpPr>
        <p:spPr bwMode="auto">
          <a:xfrm>
            <a:off x="48768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47" name="Line 66"/>
          <p:cNvSpPr>
            <a:spLocks noChangeShapeType="1"/>
          </p:cNvSpPr>
          <p:nvPr/>
        </p:nvSpPr>
        <p:spPr bwMode="auto">
          <a:xfrm>
            <a:off x="50292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48" name="Line 67"/>
          <p:cNvSpPr>
            <a:spLocks noChangeShapeType="1"/>
          </p:cNvSpPr>
          <p:nvPr/>
        </p:nvSpPr>
        <p:spPr bwMode="auto">
          <a:xfrm>
            <a:off x="51816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49" name="Line 68"/>
          <p:cNvSpPr>
            <a:spLocks noChangeShapeType="1"/>
          </p:cNvSpPr>
          <p:nvPr/>
        </p:nvSpPr>
        <p:spPr bwMode="auto">
          <a:xfrm>
            <a:off x="53340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50" name="Line 69"/>
          <p:cNvSpPr>
            <a:spLocks noChangeShapeType="1"/>
          </p:cNvSpPr>
          <p:nvPr/>
        </p:nvSpPr>
        <p:spPr bwMode="auto">
          <a:xfrm>
            <a:off x="54864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51" name="Line 70"/>
          <p:cNvSpPr>
            <a:spLocks noChangeShapeType="1"/>
          </p:cNvSpPr>
          <p:nvPr/>
        </p:nvSpPr>
        <p:spPr bwMode="auto">
          <a:xfrm>
            <a:off x="56388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52" name="Line 71"/>
          <p:cNvSpPr>
            <a:spLocks noChangeShapeType="1"/>
          </p:cNvSpPr>
          <p:nvPr/>
        </p:nvSpPr>
        <p:spPr bwMode="auto">
          <a:xfrm>
            <a:off x="57912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53" name="Line 72"/>
          <p:cNvSpPr>
            <a:spLocks noChangeShapeType="1"/>
          </p:cNvSpPr>
          <p:nvPr/>
        </p:nvSpPr>
        <p:spPr bwMode="auto">
          <a:xfrm>
            <a:off x="59436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54" name="Line 73"/>
          <p:cNvSpPr>
            <a:spLocks noChangeShapeType="1"/>
          </p:cNvSpPr>
          <p:nvPr/>
        </p:nvSpPr>
        <p:spPr bwMode="auto">
          <a:xfrm>
            <a:off x="60960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55" name="Line 74"/>
          <p:cNvSpPr>
            <a:spLocks noChangeShapeType="1"/>
          </p:cNvSpPr>
          <p:nvPr/>
        </p:nvSpPr>
        <p:spPr bwMode="auto">
          <a:xfrm>
            <a:off x="62484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56" name="Line 75"/>
          <p:cNvSpPr>
            <a:spLocks noChangeShapeType="1"/>
          </p:cNvSpPr>
          <p:nvPr/>
        </p:nvSpPr>
        <p:spPr bwMode="auto">
          <a:xfrm>
            <a:off x="64008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57" name="Line 76"/>
          <p:cNvSpPr>
            <a:spLocks noChangeShapeType="1"/>
          </p:cNvSpPr>
          <p:nvPr/>
        </p:nvSpPr>
        <p:spPr bwMode="auto">
          <a:xfrm>
            <a:off x="65532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58" name="Line 77"/>
          <p:cNvSpPr>
            <a:spLocks noChangeShapeType="1"/>
          </p:cNvSpPr>
          <p:nvPr/>
        </p:nvSpPr>
        <p:spPr bwMode="auto">
          <a:xfrm>
            <a:off x="67056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59" name="Line 78"/>
          <p:cNvSpPr>
            <a:spLocks noChangeShapeType="1"/>
          </p:cNvSpPr>
          <p:nvPr/>
        </p:nvSpPr>
        <p:spPr bwMode="auto">
          <a:xfrm>
            <a:off x="68580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60" name="Line 79"/>
          <p:cNvSpPr>
            <a:spLocks noChangeShapeType="1"/>
          </p:cNvSpPr>
          <p:nvPr/>
        </p:nvSpPr>
        <p:spPr bwMode="auto">
          <a:xfrm>
            <a:off x="70104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61" name="Line 80"/>
          <p:cNvSpPr>
            <a:spLocks noChangeShapeType="1"/>
          </p:cNvSpPr>
          <p:nvPr/>
        </p:nvSpPr>
        <p:spPr bwMode="auto">
          <a:xfrm>
            <a:off x="71628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62" name="Line 81"/>
          <p:cNvSpPr>
            <a:spLocks noChangeShapeType="1"/>
          </p:cNvSpPr>
          <p:nvPr/>
        </p:nvSpPr>
        <p:spPr bwMode="auto">
          <a:xfrm>
            <a:off x="73152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63" name="Line 82"/>
          <p:cNvSpPr>
            <a:spLocks noChangeShapeType="1"/>
          </p:cNvSpPr>
          <p:nvPr/>
        </p:nvSpPr>
        <p:spPr bwMode="auto">
          <a:xfrm>
            <a:off x="7467600" y="5334000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64" name="Line 83"/>
          <p:cNvSpPr>
            <a:spLocks noChangeShapeType="1"/>
          </p:cNvSpPr>
          <p:nvPr/>
        </p:nvSpPr>
        <p:spPr bwMode="auto">
          <a:xfrm>
            <a:off x="7620000" y="5334000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65" name="Text Box 84"/>
          <p:cNvSpPr txBox="1">
            <a:spLocks noChangeArrowheads="1"/>
          </p:cNvSpPr>
          <p:nvPr/>
        </p:nvSpPr>
        <p:spPr bwMode="auto">
          <a:xfrm rot="5390887">
            <a:off x="2540000" y="5487988"/>
            <a:ext cx="5857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Times New Roman" charset="0"/>
              </a:rPr>
              <a:t>Byte 0</a:t>
            </a:r>
          </a:p>
        </p:txBody>
      </p:sp>
      <p:sp>
        <p:nvSpPr>
          <p:cNvPr id="63566" name="Text Box 85"/>
          <p:cNvSpPr txBox="1">
            <a:spLocks noChangeArrowheads="1"/>
          </p:cNvSpPr>
          <p:nvPr/>
        </p:nvSpPr>
        <p:spPr bwMode="auto">
          <a:xfrm rot="5390887">
            <a:off x="2692400" y="5487988"/>
            <a:ext cx="5857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Times New Roman" charset="0"/>
              </a:rPr>
              <a:t>Byte 1</a:t>
            </a:r>
          </a:p>
        </p:txBody>
      </p:sp>
      <p:sp>
        <p:nvSpPr>
          <p:cNvPr id="63567" name="Text Box 86"/>
          <p:cNvSpPr txBox="1">
            <a:spLocks noChangeArrowheads="1"/>
          </p:cNvSpPr>
          <p:nvPr/>
        </p:nvSpPr>
        <p:spPr bwMode="auto">
          <a:xfrm rot="5390887">
            <a:off x="2844800" y="5487988"/>
            <a:ext cx="5857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Times New Roman" charset="0"/>
              </a:rPr>
              <a:t>Byte 2</a:t>
            </a:r>
          </a:p>
        </p:txBody>
      </p:sp>
      <p:sp>
        <p:nvSpPr>
          <p:cNvPr id="63568" name="Text Box 87"/>
          <p:cNvSpPr txBox="1">
            <a:spLocks noChangeArrowheads="1"/>
          </p:cNvSpPr>
          <p:nvPr/>
        </p:nvSpPr>
        <p:spPr bwMode="auto">
          <a:xfrm rot="5390887">
            <a:off x="2997200" y="5487988"/>
            <a:ext cx="5857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Times New Roman" charset="0"/>
              </a:rPr>
              <a:t>Byte 3</a:t>
            </a:r>
          </a:p>
        </p:txBody>
      </p:sp>
      <p:sp>
        <p:nvSpPr>
          <p:cNvPr id="63569" name="Line 88"/>
          <p:cNvSpPr>
            <a:spLocks noChangeShapeType="1"/>
          </p:cNvSpPr>
          <p:nvPr/>
        </p:nvSpPr>
        <p:spPr bwMode="auto">
          <a:xfrm>
            <a:off x="3429000" y="5486400"/>
            <a:ext cx="4572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70" name="Line 89"/>
          <p:cNvSpPr>
            <a:spLocks noChangeShapeType="1"/>
          </p:cNvSpPr>
          <p:nvPr/>
        </p:nvSpPr>
        <p:spPr bwMode="auto">
          <a:xfrm>
            <a:off x="3429000" y="5791200"/>
            <a:ext cx="4572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71" name="Text Box 90"/>
          <p:cNvSpPr txBox="1">
            <a:spLocks noChangeArrowheads="1"/>
          </p:cNvSpPr>
          <p:nvPr/>
        </p:nvSpPr>
        <p:spPr bwMode="auto">
          <a:xfrm>
            <a:off x="304800" y="1600200"/>
            <a:ext cx="30957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2400" b="0" dirty="0">
                <a:latin typeface="+mn-lt"/>
              </a:rPr>
              <a:t>Application @ Host A</a:t>
            </a:r>
          </a:p>
        </p:txBody>
      </p:sp>
      <p:sp>
        <p:nvSpPr>
          <p:cNvPr id="63572" name="Text Box 91"/>
          <p:cNvSpPr txBox="1">
            <a:spLocks noChangeArrowheads="1"/>
          </p:cNvSpPr>
          <p:nvPr/>
        </p:nvSpPr>
        <p:spPr bwMode="auto">
          <a:xfrm>
            <a:off x="304800" y="6015335"/>
            <a:ext cx="311024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2400" b="0" dirty="0">
                <a:latin typeface="+mn-lt"/>
              </a:rPr>
              <a:t>Application @ Host B</a:t>
            </a:r>
          </a:p>
        </p:txBody>
      </p:sp>
      <p:sp>
        <p:nvSpPr>
          <p:cNvPr id="63573" name="Text Box 92"/>
          <p:cNvSpPr txBox="1">
            <a:spLocks noChangeArrowheads="1"/>
          </p:cNvSpPr>
          <p:nvPr/>
        </p:nvSpPr>
        <p:spPr bwMode="auto">
          <a:xfrm rot="5390887">
            <a:off x="2271713" y="2346325"/>
            <a:ext cx="6619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Times New Roman" charset="0"/>
              </a:rPr>
              <a:t>Byte 80</a:t>
            </a:r>
          </a:p>
        </p:txBody>
      </p:sp>
      <p:sp>
        <p:nvSpPr>
          <p:cNvPr id="63574" name="Line 93"/>
          <p:cNvSpPr>
            <a:spLocks noChangeShapeType="1"/>
          </p:cNvSpPr>
          <p:nvPr/>
        </p:nvSpPr>
        <p:spPr bwMode="auto">
          <a:xfrm>
            <a:off x="2133600" y="2357438"/>
            <a:ext cx="304800" cy="4762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75" name="Text Box 94"/>
          <p:cNvSpPr txBox="1">
            <a:spLocks noChangeArrowheads="1"/>
          </p:cNvSpPr>
          <p:nvPr/>
        </p:nvSpPr>
        <p:spPr bwMode="auto">
          <a:xfrm rot="5390887">
            <a:off x="3568700" y="5548313"/>
            <a:ext cx="6619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Times New Roman" charset="0"/>
              </a:rPr>
              <a:t>Byte 80</a:t>
            </a:r>
          </a:p>
        </p:txBody>
      </p:sp>
      <p:sp>
        <p:nvSpPr>
          <p:cNvPr id="63576" name="Line 95"/>
          <p:cNvSpPr>
            <a:spLocks noChangeShapeType="1"/>
          </p:cNvSpPr>
          <p:nvPr/>
        </p:nvSpPr>
        <p:spPr bwMode="auto">
          <a:xfrm>
            <a:off x="1485900" y="2817813"/>
            <a:ext cx="1295400" cy="2444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77" name="Line 96"/>
          <p:cNvSpPr>
            <a:spLocks noChangeShapeType="1"/>
          </p:cNvSpPr>
          <p:nvPr/>
        </p:nvSpPr>
        <p:spPr bwMode="auto">
          <a:xfrm>
            <a:off x="1981200" y="2819400"/>
            <a:ext cx="1295400" cy="2444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78" name="Line 97"/>
          <p:cNvSpPr>
            <a:spLocks noChangeShapeType="1"/>
          </p:cNvSpPr>
          <p:nvPr/>
        </p:nvSpPr>
        <p:spPr bwMode="auto">
          <a:xfrm>
            <a:off x="2476500" y="2820988"/>
            <a:ext cx="1295400" cy="2444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79" name="Line 98"/>
          <p:cNvSpPr>
            <a:spLocks noChangeShapeType="1"/>
          </p:cNvSpPr>
          <p:nvPr/>
        </p:nvSpPr>
        <p:spPr bwMode="auto">
          <a:xfrm>
            <a:off x="2971800" y="2822575"/>
            <a:ext cx="1295400" cy="2444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80" name="Line 99"/>
          <p:cNvSpPr>
            <a:spLocks noChangeShapeType="1"/>
          </p:cNvSpPr>
          <p:nvPr/>
        </p:nvSpPr>
        <p:spPr bwMode="auto">
          <a:xfrm>
            <a:off x="3467100" y="2824163"/>
            <a:ext cx="1295400" cy="2444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81" name="Line 100"/>
          <p:cNvSpPr>
            <a:spLocks noChangeShapeType="1"/>
          </p:cNvSpPr>
          <p:nvPr/>
        </p:nvSpPr>
        <p:spPr bwMode="auto">
          <a:xfrm>
            <a:off x="3962400" y="2825750"/>
            <a:ext cx="1295400" cy="2444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82" name="Line 101"/>
          <p:cNvSpPr>
            <a:spLocks noChangeShapeType="1"/>
          </p:cNvSpPr>
          <p:nvPr/>
        </p:nvSpPr>
        <p:spPr bwMode="auto">
          <a:xfrm>
            <a:off x="4457700" y="2827338"/>
            <a:ext cx="1295400" cy="2444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83" name="Line 102"/>
          <p:cNvSpPr>
            <a:spLocks noChangeShapeType="1"/>
          </p:cNvSpPr>
          <p:nvPr/>
        </p:nvSpPr>
        <p:spPr bwMode="auto">
          <a:xfrm>
            <a:off x="4953000" y="2828925"/>
            <a:ext cx="1295400" cy="2444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84" name="Line 103"/>
          <p:cNvSpPr>
            <a:spLocks noChangeShapeType="1"/>
          </p:cNvSpPr>
          <p:nvPr/>
        </p:nvSpPr>
        <p:spPr bwMode="auto">
          <a:xfrm>
            <a:off x="5448300" y="2830513"/>
            <a:ext cx="1295400" cy="2444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C366C07-B23D-3349-B590-0E2DBBFE99CB}"/>
                  </a:ext>
                </a:extLst>
              </p14:cNvPr>
              <p14:cNvContentPartPr/>
              <p14:nvPr/>
            </p14:nvContentPartPr>
            <p14:xfrm>
              <a:off x="4424040" y="6311160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C366C07-B23D-3349-B590-0E2DBBFE99C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07840" y="6294960"/>
                <a:ext cx="32760" cy="32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52996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 using TCP </a:t>
            </a:r>
            <a:r>
              <a:rPr lang="ja-JP" altLang="en-US" dirty="0"/>
              <a:t>“</a:t>
            </a:r>
            <a:r>
              <a:rPr lang="en-US" altLang="ja-JP" dirty="0"/>
              <a:t>s</a:t>
            </a:r>
            <a:r>
              <a:rPr lang="en-US" dirty="0"/>
              <a:t>egments</a:t>
            </a:r>
            <a:r>
              <a:rPr lang="ja-JP" altLang="en-US" dirty="0"/>
              <a:t>”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12</a:t>
            </a:fld>
            <a:endParaRPr lang="en-US"/>
          </a:p>
        </p:txBody>
      </p:sp>
      <p:grpSp>
        <p:nvGrpSpPr>
          <p:cNvPr id="65540" name="Group 3"/>
          <p:cNvGrpSpPr>
            <a:grpSpLocks/>
          </p:cNvGrpSpPr>
          <p:nvPr/>
        </p:nvGrpSpPr>
        <p:grpSpPr bwMode="auto">
          <a:xfrm>
            <a:off x="1447800" y="2128838"/>
            <a:ext cx="5029200" cy="609600"/>
            <a:chOff x="912" y="1104"/>
            <a:chExt cx="3648" cy="384"/>
          </a:xfrm>
        </p:grpSpPr>
        <p:sp>
          <p:nvSpPr>
            <p:cNvPr id="65647" name="Line 4"/>
            <p:cNvSpPr>
              <a:spLocks noChangeShapeType="1"/>
            </p:cNvSpPr>
            <p:nvPr/>
          </p:nvSpPr>
          <p:spPr bwMode="auto">
            <a:xfrm>
              <a:off x="912" y="1104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5648" name="Line 5"/>
            <p:cNvSpPr>
              <a:spLocks noChangeShapeType="1"/>
            </p:cNvSpPr>
            <p:nvPr/>
          </p:nvSpPr>
          <p:spPr bwMode="auto">
            <a:xfrm>
              <a:off x="912" y="1488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5649" name="Line 6"/>
            <p:cNvSpPr>
              <a:spLocks noChangeShapeType="1"/>
            </p:cNvSpPr>
            <p:nvPr/>
          </p:nvSpPr>
          <p:spPr bwMode="auto">
            <a:xfrm flipH="1">
              <a:off x="4224" y="1104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5650" name="Line 7"/>
            <p:cNvSpPr>
              <a:spLocks noChangeShapeType="1"/>
            </p:cNvSpPr>
            <p:nvPr/>
          </p:nvSpPr>
          <p:spPr bwMode="auto">
            <a:xfrm flipH="1">
              <a:off x="4224" y="1488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sp>
        <p:nvSpPr>
          <p:cNvPr id="65541" name="Line 8"/>
          <p:cNvSpPr>
            <a:spLocks noChangeShapeType="1"/>
          </p:cNvSpPr>
          <p:nvPr/>
        </p:nvSpPr>
        <p:spPr bwMode="auto">
          <a:xfrm>
            <a:off x="14478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42" name="Line 9"/>
          <p:cNvSpPr>
            <a:spLocks noChangeShapeType="1"/>
          </p:cNvSpPr>
          <p:nvPr/>
        </p:nvSpPr>
        <p:spPr bwMode="auto">
          <a:xfrm>
            <a:off x="16002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43" name="Line 10"/>
          <p:cNvSpPr>
            <a:spLocks noChangeShapeType="1"/>
          </p:cNvSpPr>
          <p:nvPr/>
        </p:nvSpPr>
        <p:spPr bwMode="auto">
          <a:xfrm>
            <a:off x="17526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44" name="Line 11"/>
          <p:cNvSpPr>
            <a:spLocks noChangeShapeType="1"/>
          </p:cNvSpPr>
          <p:nvPr/>
        </p:nvSpPr>
        <p:spPr bwMode="auto">
          <a:xfrm>
            <a:off x="19050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45" name="Line 12"/>
          <p:cNvSpPr>
            <a:spLocks noChangeShapeType="1"/>
          </p:cNvSpPr>
          <p:nvPr/>
        </p:nvSpPr>
        <p:spPr bwMode="auto">
          <a:xfrm>
            <a:off x="20574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46" name="Line 13"/>
          <p:cNvSpPr>
            <a:spLocks noChangeShapeType="1"/>
          </p:cNvSpPr>
          <p:nvPr/>
        </p:nvSpPr>
        <p:spPr bwMode="auto">
          <a:xfrm>
            <a:off x="22098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47" name="Line 14"/>
          <p:cNvSpPr>
            <a:spLocks noChangeShapeType="1"/>
          </p:cNvSpPr>
          <p:nvPr/>
        </p:nvSpPr>
        <p:spPr bwMode="auto">
          <a:xfrm>
            <a:off x="23622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48" name="Line 15"/>
          <p:cNvSpPr>
            <a:spLocks noChangeShapeType="1"/>
          </p:cNvSpPr>
          <p:nvPr/>
        </p:nvSpPr>
        <p:spPr bwMode="auto">
          <a:xfrm>
            <a:off x="25146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49" name="Line 16"/>
          <p:cNvSpPr>
            <a:spLocks noChangeShapeType="1"/>
          </p:cNvSpPr>
          <p:nvPr/>
        </p:nvSpPr>
        <p:spPr bwMode="auto">
          <a:xfrm>
            <a:off x="26670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50" name="Line 17"/>
          <p:cNvSpPr>
            <a:spLocks noChangeShapeType="1"/>
          </p:cNvSpPr>
          <p:nvPr/>
        </p:nvSpPr>
        <p:spPr bwMode="auto">
          <a:xfrm>
            <a:off x="28194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51" name="Line 18"/>
          <p:cNvSpPr>
            <a:spLocks noChangeShapeType="1"/>
          </p:cNvSpPr>
          <p:nvPr/>
        </p:nvSpPr>
        <p:spPr bwMode="auto">
          <a:xfrm>
            <a:off x="29718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52" name="Line 19"/>
          <p:cNvSpPr>
            <a:spLocks noChangeShapeType="1"/>
          </p:cNvSpPr>
          <p:nvPr/>
        </p:nvSpPr>
        <p:spPr bwMode="auto">
          <a:xfrm>
            <a:off x="31242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53" name="Line 20"/>
          <p:cNvSpPr>
            <a:spLocks noChangeShapeType="1"/>
          </p:cNvSpPr>
          <p:nvPr/>
        </p:nvSpPr>
        <p:spPr bwMode="auto">
          <a:xfrm>
            <a:off x="32766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54" name="Line 21"/>
          <p:cNvSpPr>
            <a:spLocks noChangeShapeType="1"/>
          </p:cNvSpPr>
          <p:nvPr/>
        </p:nvSpPr>
        <p:spPr bwMode="auto">
          <a:xfrm>
            <a:off x="34290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55" name="Line 22"/>
          <p:cNvSpPr>
            <a:spLocks noChangeShapeType="1"/>
          </p:cNvSpPr>
          <p:nvPr/>
        </p:nvSpPr>
        <p:spPr bwMode="auto">
          <a:xfrm>
            <a:off x="35814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56" name="Line 23"/>
          <p:cNvSpPr>
            <a:spLocks noChangeShapeType="1"/>
          </p:cNvSpPr>
          <p:nvPr/>
        </p:nvSpPr>
        <p:spPr bwMode="auto">
          <a:xfrm>
            <a:off x="37338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57" name="Line 24"/>
          <p:cNvSpPr>
            <a:spLocks noChangeShapeType="1"/>
          </p:cNvSpPr>
          <p:nvPr/>
        </p:nvSpPr>
        <p:spPr bwMode="auto">
          <a:xfrm>
            <a:off x="38862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58" name="Line 25"/>
          <p:cNvSpPr>
            <a:spLocks noChangeShapeType="1"/>
          </p:cNvSpPr>
          <p:nvPr/>
        </p:nvSpPr>
        <p:spPr bwMode="auto">
          <a:xfrm>
            <a:off x="40386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59" name="Line 26"/>
          <p:cNvSpPr>
            <a:spLocks noChangeShapeType="1"/>
          </p:cNvSpPr>
          <p:nvPr/>
        </p:nvSpPr>
        <p:spPr bwMode="auto">
          <a:xfrm>
            <a:off x="41910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60" name="Line 27"/>
          <p:cNvSpPr>
            <a:spLocks noChangeShapeType="1"/>
          </p:cNvSpPr>
          <p:nvPr/>
        </p:nvSpPr>
        <p:spPr bwMode="auto">
          <a:xfrm>
            <a:off x="43434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61" name="Line 28"/>
          <p:cNvSpPr>
            <a:spLocks noChangeShapeType="1"/>
          </p:cNvSpPr>
          <p:nvPr/>
        </p:nvSpPr>
        <p:spPr bwMode="auto">
          <a:xfrm>
            <a:off x="44958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62" name="Line 29"/>
          <p:cNvSpPr>
            <a:spLocks noChangeShapeType="1"/>
          </p:cNvSpPr>
          <p:nvPr/>
        </p:nvSpPr>
        <p:spPr bwMode="auto">
          <a:xfrm>
            <a:off x="46482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63" name="Line 30"/>
          <p:cNvSpPr>
            <a:spLocks noChangeShapeType="1"/>
          </p:cNvSpPr>
          <p:nvPr/>
        </p:nvSpPr>
        <p:spPr bwMode="auto">
          <a:xfrm>
            <a:off x="48006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64" name="Line 31"/>
          <p:cNvSpPr>
            <a:spLocks noChangeShapeType="1"/>
          </p:cNvSpPr>
          <p:nvPr/>
        </p:nvSpPr>
        <p:spPr bwMode="auto">
          <a:xfrm>
            <a:off x="49530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65" name="Line 32"/>
          <p:cNvSpPr>
            <a:spLocks noChangeShapeType="1"/>
          </p:cNvSpPr>
          <p:nvPr/>
        </p:nvSpPr>
        <p:spPr bwMode="auto">
          <a:xfrm>
            <a:off x="51054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66" name="Line 33"/>
          <p:cNvSpPr>
            <a:spLocks noChangeShapeType="1"/>
          </p:cNvSpPr>
          <p:nvPr/>
        </p:nvSpPr>
        <p:spPr bwMode="auto">
          <a:xfrm>
            <a:off x="52578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67" name="Line 34"/>
          <p:cNvSpPr>
            <a:spLocks noChangeShapeType="1"/>
          </p:cNvSpPr>
          <p:nvPr/>
        </p:nvSpPr>
        <p:spPr bwMode="auto">
          <a:xfrm>
            <a:off x="54102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68" name="Line 35"/>
          <p:cNvSpPr>
            <a:spLocks noChangeShapeType="1"/>
          </p:cNvSpPr>
          <p:nvPr/>
        </p:nvSpPr>
        <p:spPr bwMode="auto">
          <a:xfrm>
            <a:off x="55626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69" name="Line 36"/>
          <p:cNvSpPr>
            <a:spLocks noChangeShapeType="1"/>
          </p:cNvSpPr>
          <p:nvPr/>
        </p:nvSpPr>
        <p:spPr bwMode="auto">
          <a:xfrm>
            <a:off x="57150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70" name="Line 37"/>
          <p:cNvSpPr>
            <a:spLocks noChangeShapeType="1"/>
          </p:cNvSpPr>
          <p:nvPr/>
        </p:nvSpPr>
        <p:spPr bwMode="auto">
          <a:xfrm>
            <a:off x="58674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71" name="Line 38"/>
          <p:cNvSpPr>
            <a:spLocks noChangeShapeType="1"/>
          </p:cNvSpPr>
          <p:nvPr/>
        </p:nvSpPr>
        <p:spPr bwMode="auto">
          <a:xfrm>
            <a:off x="6019800" y="21288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72" name="Line 39"/>
          <p:cNvSpPr>
            <a:spLocks noChangeShapeType="1"/>
          </p:cNvSpPr>
          <p:nvPr/>
        </p:nvSpPr>
        <p:spPr bwMode="auto">
          <a:xfrm>
            <a:off x="6172200" y="2128838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73" name="Line 40"/>
          <p:cNvSpPr>
            <a:spLocks noChangeShapeType="1"/>
          </p:cNvSpPr>
          <p:nvPr/>
        </p:nvSpPr>
        <p:spPr bwMode="auto">
          <a:xfrm>
            <a:off x="6324600" y="2128838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74" name="Text Box 41"/>
          <p:cNvSpPr txBox="1">
            <a:spLocks noChangeArrowheads="1"/>
          </p:cNvSpPr>
          <p:nvPr/>
        </p:nvSpPr>
        <p:spPr bwMode="auto">
          <a:xfrm rot="5390887">
            <a:off x="1225440" y="2280057"/>
            <a:ext cx="62093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+mn-lt"/>
              </a:rPr>
              <a:t>Byte 0</a:t>
            </a:r>
          </a:p>
        </p:txBody>
      </p:sp>
      <p:sp>
        <p:nvSpPr>
          <p:cNvPr id="65575" name="Text Box 42"/>
          <p:cNvSpPr txBox="1">
            <a:spLocks noChangeArrowheads="1"/>
          </p:cNvSpPr>
          <p:nvPr/>
        </p:nvSpPr>
        <p:spPr bwMode="auto">
          <a:xfrm rot="5390887">
            <a:off x="1377840" y="2280057"/>
            <a:ext cx="62093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+mn-lt"/>
              </a:rPr>
              <a:t>Byte 1</a:t>
            </a:r>
          </a:p>
        </p:txBody>
      </p:sp>
      <p:sp>
        <p:nvSpPr>
          <p:cNvPr id="65576" name="Text Box 43"/>
          <p:cNvSpPr txBox="1">
            <a:spLocks noChangeArrowheads="1"/>
          </p:cNvSpPr>
          <p:nvPr/>
        </p:nvSpPr>
        <p:spPr bwMode="auto">
          <a:xfrm rot="5390887">
            <a:off x="1531828" y="2281645"/>
            <a:ext cx="62093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+mn-lt"/>
              </a:rPr>
              <a:t>Byte 2</a:t>
            </a:r>
          </a:p>
        </p:txBody>
      </p:sp>
      <p:sp>
        <p:nvSpPr>
          <p:cNvPr id="65577" name="Text Box 44"/>
          <p:cNvSpPr txBox="1">
            <a:spLocks noChangeArrowheads="1"/>
          </p:cNvSpPr>
          <p:nvPr/>
        </p:nvSpPr>
        <p:spPr bwMode="auto">
          <a:xfrm rot="5390887">
            <a:off x="1684228" y="2281645"/>
            <a:ext cx="62093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+mn-lt"/>
              </a:rPr>
              <a:t>Byte 3</a:t>
            </a:r>
          </a:p>
        </p:txBody>
      </p:sp>
      <p:sp>
        <p:nvSpPr>
          <p:cNvPr id="65578" name="Line 45"/>
          <p:cNvSpPr>
            <a:spLocks noChangeShapeType="1"/>
          </p:cNvSpPr>
          <p:nvPr/>
        </p:nvSpPr>
        <p:spPr bwMode="auto">
          <a:xfrm>
            <a:off x="2133600" y="2586038"/>
            <a:ext cx="304800" cy="4762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grpSp>
        <p:nvGrpSpPr>
          <p:cNvPr id="65579" name="Group 46"/>
          <p:cNvGrpSpPr>
            <a:grpSpLocks/>
          </p:cNvGrpSpPr>
          <p:nvPr/>
        </p:nvGrpSpPr>
        <p:grpSpPr bwMode="auto">
          <a:xfrm>
            <a:off x="2743200" y="5334000"/>
            <a:ext cx="5029200" cy="609600"/>
            <a:chOff x="912" y="1104"/>
            <a:chExt cx="3648" cy="384"/>
          </a:xfrm>
        </p:grpSpPr>
        <p:sp>
          <p:nvSpPr>
            <p:cNvPr id="65643" name="Line 47"/>
            <p:cNvSpPr>
              <a:spLocks noChangeShapeType="1"/>
            </p:cNvSpPr>
            <p:nvPr/>
          </p:nvSpPr>
          <p:spPr bwMode="auto">
            <a:xfrm>
              <a:off x="912" y="1104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5644" name="Line 48"/>
            <p:cNvSpPr>
              <a:spLocks noChangeShapeType="1"/>
            </p:cNvSpPr>
            <p:nvPr/>
          </p:nvSpPr>
          <p:spPr bwMode="auto">
            <a:xfrm>
              <a:off x="912" y="1488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5645" name="Line 49"/>
            <p:cNvSpPr>
              <a:spLocks noChangeShapeType="1"/>
            </p:cNvSpPr>
            <p:nvPr/>
          </p:nvSpPr>
          <p:spPr bwMode="auto">
            <a:xfrm flipH="1">
              <a:off x="4224" y="1104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5646" name="Line 50"/>
            <p:cNvSpPr>
              <a:spLocks noChangeShapeType="1"/>
            </p:cNvSpPr>
            <p:nvPr/>
          </p:nvSpPr>
          <p:spPr bwMode="auto">
            <a:xfrm flipH="1">
              <a:off x="4224" y="1488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sp>
        <p:nvSpPr>
          <p:cNvPr id="65580" name="Line 51"/>
          <p:cNvSpPr>
            <a:spLocks noChangeShapeType="1"/>
          </p:cNvSpPr>
          <p:nvPr/>
        </p:nvSpPr>
        <p:spPr bwMode="auto">
          <a:xfrm>
            <a:off x="27432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81" name="Line 52"/>
          <p:cNvSpPr>
            <a:spLocks noChangeShapeType="1"/>
          </p:cNvSpPr>
          <p:nvPr/>
        </p:nvSpPr>
        <p:spPr bwMode="auto">
          <a:xfrm>
            <a:off x="28956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82" name="Line 53"/>
          <p:cNvSpPr>
            <a:spLocks noChangeShapeType="1"/>
          </p:cNvSpPr>
          <p:nvPr/>
        </p:nvSpPr>
        <p:spPr bwMode="auto">
          <a:xfrm>
            <a:off x="30480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83" name="Line 54"/>
          <p:cNvSpPr>
            <a:spLocks noChangeShapeType="1"/>
          </p:cNvSpPr>
          <p:nvPr/>
        </p:nvSpPr>
        <p:spPr bwMode="auto">
          <a:xfrm>
            <a:off x="32004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84" name="Line 55"/>
          <p:cNvSpPr>
            <a:spLocks noChangeShapeType="1"/>
          </p:cNvSpPr>
          <p:nvPr/>
        </p:nvSpPr>
        <p:spPr bwMode="auto">
          <a:xfrm>
            <a:off x="33528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85" name="Line 56"/>
          <p:cNvSpPr>
            <a:spLocks noChangeShapeType="1"/>
          </p:cNvSpPr>
          <p:nvPr/>
        </p:nvSpPr>
        <p:spPr bwMode="auto">
          <a:xfrm>
            <a:off x="35052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86" name="Line 57"/>
          <p:cNvSpPr>
            <a:spLocks noChangeShapeType="1"/>
          </p:cNvSpPr>
          <p:nvPr/>
        </p:nvSpPr>
        <p:spPr bwMode="auto">
          <a:xfrm>
            <a:off x="36576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87" name="Line 58"/>
          <p:cNvSpPr>
            <a:spLocks noChangeShapeType="1"/>
          </p:cNvSpPr>
          <p:nvPr/>
        </p:nvSpPr>
        <p:spPr bwMode="auto">
          <a:xfrm>
            <a:off x="38100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88" name="Line 59"/>
          <p:cNvSpPr>
            <a:spLocks noChangeShapeType="1"/>
          </p:cNvSpPr>
          <p:nvPr/>
        </p:nvSpPr>
        <p:spPr bwMode="auto">
          <a:xfrm>
            <a:off x="39624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89" name="Line 60"/>
          <p:cNvSpPr>
            <a:spLocks noChangeShapeType="1"/>
          </p:cNvSpPr>
          <p:nvPr/>
        </p:nvSpPr>
        <p:spPr bwMode="auto">
          <a:xfrm>
            <a:off x="41148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90" name="Line 61"/>
          <p:cNvSpPr>
            <a:spLocks noChangeShapeType="1"/>
          </p:cNvSpPr>
          <p:nvPr/>
        </p:nvSpPr>
        <p:spPr bwMode="auto">
          <a:xfrm>
            <a:off x="42672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91" name="Line 62"/>
          <p:cNvSpPr>
            <a:spLocks noChangeShapeType="1"/>
          </p:cNvSpPr>
          <p:nvPr/>
        </p:nvSpPr>
        <p:spPr bwMode="auto">
          <a:xfrm>
            <a:off x="44196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92" name="Line 63"/>
          <p:cNvSpPr>
            <a:spLocks noChangeShapeType="1"/>
          </p:cNvSpPr>
          <p:nvPr/>
        </p:nvSpPr>
        <p:spPr bwMode="auto">
          <a:xfrm>
            <a:off x="45720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93" name="Line 64"/>
          <p:cNvSpPr>
            <a:spLocks noChangeShapeType="1"/>
          </p:cNvSpPr>
          <p:nvPr/>
        </p:nvSpPr>
        <p:spPr bwMode="auto">
          <a:xfrm>
            <a:off x="47244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94" name="Line 65"/>
          <p:cNvSpPr>
            <a:spLocks noChangeShapeType="1"/>
          </p:cNvSpPr>
          <p:nvPr/>
        </p:nvSpPr>
        <p:spPr bwMode="auto">
          <a:xfrm>
            <a:off x="48768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95" name="Line 66"/>
          <p:cNvSpPr>
            <a:spLocks noChangeShapeType="1"/>
          </p:cNvSpPr>
          <p:nvPr/>
        </p:nvSpPr>
        <p:spPr bwMode="auto">
          <a:xfrm>
            <a:off x="50292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96" name="Line 67"/>
          <p:cNvSpPr>
            <a:spLocks noChangeShapeType="1"/>
          </p:cNvSpPr>
          <p:nvPr/>
        </p:nvSpPr>
        <p:spPr bwMode="auto">
          <a:xfrm>
            <a:off x="51816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97" name="Line 68"/>
          <p:cNvSpPr>
            <a:spLocks noChangeShapeType="1"/>
          </p:cNvSpPr>
          <p:nvPr/>
        </p:nvSpPr>
        <p:spPr bwMode="auto">
          <a:xfrm>
            <a:off x="53340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98" name="Line 69"/>
          <p:cNvSpPr>
            <a:spLocks noChangeShapeType="1"/>
          </p:cNvSpPr>
          <p:nvPr/>
        </p:nvSpPr>
        <p:spPr bwMode="auto">
          <a:xfrm>
            <a:off x="54864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599" name="Line 70"/>
          <p:cNvSpPr>
            <a:spLocks noChangeShapeType="1"/>
          </p:cNvSpPr>
          <p:nvPr/>
        </p:nvSpPr>
        <p:spPr bwMode="auto">
          <a:xfrm>
            <a:off x="56388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00" name="Line 71"/>
          <p:cNvSpPr>
            <a:spLocks noChangeShapeType="1"/>
          </p:cNvSpPr>
          <p:nvPr/>
        </p:nvSpPr>
        <p:spPr bwMode="auto">
          <a:xfrm>
            <a:off x="57912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01" name="Line 72"/>
          <p:cNvSpPr>
            <a:spLocks noChangeShapeType="1"/>
          </p:cNvSpPr>
          <p:nvPr/>
        </p:nvSpPr>
        <p:spPr bwMode="auto">
          <a:xfrm>
            <a:off x="59436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02" name="Line 73"/>
          <p:cNvSpPr>
            <a:spLocks noChangeShapeType="1"/>
          </p:cNvSpPr>
          <p:nvPr/>
        </p:nvSpPr>
        <p:spPr bwMode="auto">
          <a:xfrm>
            <a:off x="60960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03" name="Line 74"/>
          <p:cNvSpPr>
            <a:spLocks noChangeShapeType="1"/>
          </p:cNvSpPr>
          <p:nvPr/>
        </p:nvSpPr>
        <p:spPr bwMode="auto">
          <a:xfrm>
            <a:off x="62484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04" name="Line 75"/>
          <p:cNvSpPr>
            <a:spLocks noChangeShapeType="1"/>
          </p:cNvSpPr>
          <p:nvPr/>
        </p:nvSpPr>
        <p:spPr bwMode="auto">
          <a:xfrm>
            <a:off x="64008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05" name="Line 76"/>
          <p:cNvSpPr>
            <a:spLocks noChangeShapeType="1"/>
          </p:cNvSpPr>
          <p:nvPr/>
        </p:nvSpPr>
        <p:spPr bwMode="auto">
          <a:xfrm>
            <a:off x="65532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06" name="Line 77"/>
          <p:cNvSpPr>
            <a:spLocks noChangeShapeType="1"/>
          </p:cNvSpPr>
          <p:nvPr/>
        </p:nvSpPr>
        <p:spPr bwMode="auto">
          <a:xfrm>
            <a:off x="67056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07" name="Line 78"/>
          <p:cNvSpPr>
            <a:spLocks noChangeShapeType="1"/>
          </p:cNvSpPr>
          <p:nvPr/>
        </p:nvSpPr>
        <p:spPr bwMode="auto">
          <a:xfrm>
            <a:off x="68580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08" name="Line 79"/>
          <p:cNvSpPr>
            <a:spLocks noChangeShapeType="1"/>
          </p:cNvSpPr>
          <p:nvPr/>
        </p:nvSpPr>
        <p:spPr bwMode="auto">
          <a:xfrm>
            <a:off x="70104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09" name="Line 80"/>
          <p:cNvSpPr>
            <a:spLocks noChangeShapeType="1"/>
          </p:cNvSpPr>
          <p:nvPr/>
        </p:nvSpPr>
        <p:spPr bwMode="auto">
          <a:xfrm>
            <a:off x="71628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10" name="Line 81"/>
          <p:cNvSpPr>
            <a:spLocks noChangeShapeType="1"/>
          </p:cNvSpPr>
          <p:nvPr/>
        </p:nvSpPr>
        <p:spPr bwMode="auto">
          <a:xfrm>
            <a:off x="7315200" y="5334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11" name="Line 82"/>
          <p:cNvSpPr>
            <a:spLocks noChangeShapeType="1"/>
          </p:cNvSpPr>
          <p:nvPr/>
        </p:nvSpPr>
        <p:spPr bwMode="auto">
          <a:xfrm>
            <a:off x="7467600" y="5334000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12" name="Line 83"/>
          <p:cNvSpPr>
            <a:spLocks noChangeShapeType="1"/>
          </p:cNvSpPr>
          <p:nvPr/>
        </p:nvSpPr>
        <p:spPr bwMode="auto">
          <a:xfrm>
            <a:off x="7620000" y="5334000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13" name="Text Box 84"/>
          <p:cNvSpPr txBox="1">
            <a:spLocks noChangeArrowheads="1"/>
          </p:cNvSpPr>
          <p:nvPr/>
        </p:nvSpPr>
        <p:spPr bwMode="auto">
          <a:xfrm rot="5390887">
            <a:off x="2522427" y="5486808"/>
            <a:ext cx="62093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+mn-lt"/>
              </a:rPr>
              <a:t>Byte 0</a:t>
            </a:r>
          </a:p>
        </p:txBody>
      </p:sp>
      <p:sp>
        <p:nvSpPr>
          <p:cNvPr id="65614" name="Text Box 85"/>
          <p:cNvSpPr txBox="1">
            <a:spLocks noChangeArrowheads="1"/>
          </p:cNvSpPr>
          <p:nvPr/>
        </p:nvSpPr>
        <p:spPr bwMode="auto">
          <a:xfrm rot="5390887">
            <a:off x="2674827" y="5486808"/>
            <a:ext cx="62093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+mn-lt"/>
              </a:rPr>
              <a:t>Byte 1</a:t>
            </a:r>
          </a:p>
        </p:txBody>
      </p:sp>
      <p:sp>
        <p:nvSpPr>
          <p:cNvPr id="65615" name="Text Box 86"/>
          <p:cNvSpPr txBox="1">
            <a:spLocks noChangeArrowheads="1"/>
          </p:cNvSpPr>
          <p:nvPr/>
        </p:nvSpPr>
        <p:spPr bwMode="auto">
          <a:xfrm rot="5390887">
            <a:off x="2827227" y="5486808"/>
            <a:ext cx="62093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+mn-lt"/>
              </a:rPr>
              <a:t>Byte 2</a:t>
            </a:r>
          </a:p>
        </p:txBody>
      </p:sp>
      <p:sp>
        <p:nvSpPr>
          <p:cNvPr id="65616" name="Text Box 87"/>
          <p:cNvSpPr txBox="1">
            <a:spLocks noChangeArrowheads="1"/>
          </p:cNvSpPr>
          <p:nvPr/>
        </p:nvSpPr>
        <p:spPr bwMode="auto">
          <a:xfrm rot="5390887">
            <a:off x="2979627" y="5486808"/>
            <a:ext cx="62093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+mn-lt"/>
              </a:rPr>
              <a:t>Byte 3</a:t>
            </a:r>
          </a:p>
        </p:txBody>
      </p:sp>
      <p:sp>
        <p:nvSpPr>
          <p:cNvPr id="65617" name="Line 88"/>
          <p:cNvSpPr>
            <a:spLocks noChangeShapeType="1"/>
          </p:cNvSpPr>
          <p:nvPr/>
        </p:nvSpPr>
        <p:spPr bwMode="auto">
          <a:xfrm>
            <a:off x="3429000" y="5486400"/>
            <a:ext cx="4572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18" name="Line 89"/>
          <p:cNvSpPr>
            <a:spLocks noChangeShapeType="1"/>
          </p:cNvSpPr>
          <p:nvPr/>
        </p:nvSpPr>
        <p:spPr bwMode="auto">
          <a:xfrm>
            <a:off x="3429000" y="5791200"/>
            <a:ext cx="4572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19" name="Text Box 90"/>
          <p:cNvSpPr txBox="1">
            <a:spLocks noChangeArrowheads="1"/>
          </p:cNvSpPr>
          <p:nvPr/>
        </p:nvSpPr>
        <p:spPr bwMode="auto">
          <a:xfrm>
            <a:off x="304800" y="1600200"/>
            <a:ext cx="10951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2400" b="0">
                <a:latin typeface="+mn-lt"/>
              </a:rPr>
              <a:t>Host A</a:t>
            </a:r>
          </a:p>
        </p:txBody>
      </p:sp>
      <p:sp>
        <p:nvSpPr>
          <p:cNvPr id="65620" name="Text Box 91"/>
          <p:cNvSpPr txBox="1">
            <a:spLocks noChangeArrowheads="1"/>
          </p:cNvSpPr>
          <p:nvPr/>
        </p:nvSpPr>
        <p:spPr bwMode="auto">
          <a:xfrm>
            <a:off x="304800" y="4805363"/>
            <a:ext cx="11082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2400" b="0">
                <a:latin typeface="+mn-lt"/>
              </a:rPr>
              <a:t>Host B</a:t>
            </a:r>
          </a:p>
        </p:txBody>
      </p:sp>
      <p:sp>
        <p:nvSpPr>
          <p:cNvPr id="65621" name="Rectangle 92"/>
          <p:cNvSpPr>
            <a:spLocks noChangeArrowheads="1"/>
          </p:cNvSpPr>
          <p:nvPr/>
        </p:nvSpPr>
        <p:spPr bwMode="auto">
          <a:xfrm>
            <a:off x="1447800" y="3200400"/>
            <a:ext cx="12192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65622" name="Text Box 93"/>
          <p:cNvSpPr txBox="1">
            <a:spLocks noChangeArrowheads="1"/>
          </p:cNvSpPr>
          <p:nvPr/>
        </p:nvSpPr>
        <p:spPr bwMode="auto">
          <a:xfrm rot="5390887">
            <a:off x="2249448" y="2345144"/>
            <a:ext cx="70651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+mn-lt"/>
              </a:rPr>
              <a:t>Byte 80</a:t>
            </a:r>
          </a:p>
        </p:txBody>
      </p:sp>
      <p:sp>
        <p:nvSpPr>
          <p:cNvPr id="65623" name="Line 94"/>
          <p:cNvSpPr>
            <a:spLocks noChangeShapeType="1"/>
          </p:cNvSpPr>
          <p:nvPr/>
        </p:nvSpPr>
        <p:spPr bwMode="auto">
          <a:xfrm>
            <a:off x="2133600" y="2357438"/>
            <a:ext cx="304800" cy="4762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24" name="Rectangle 95"/>
          <p:cNvSpPr>
            <a:spLocks noChangeArrowheads="1"/>
          </p:cNvSpPr>
          <p:nvPr/>
        </p:nvSpPr>
        <p:spPr bwMode="auto">
          <a:xfrm>
            <a:off x="2743200" y="4495800"/>
            <a:ext cx="12192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65625" name="Line 96"/>
          <p:cNvSpPr>
            <a:spLocks noChangeShapeType="1"/>
          </p:cNvSpPr>
          <p:nvPr/>
        </p:nvSpPr>
        <p:spPr bwMode="auto">
          <a:xfrm>
            <a:off x="1447800" y="35814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26" name="Line 97"/>
          <p:cNvSpPr>
            <a:spLocks noChangeShapeType="1"/>
          </p:cNvSpPr>
          <p:nvPr/>
        </p:nvSpPr>
        <p:spPr bwMode="auto">
          <a:xfrm>
            <a:off x="2667000" y="35814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27" name="Line 98"/>
          <p:cNvSpPr>
            <a:spLocks noChangeShapeType="1"/>
          </p:cNvSpPr>
          <p:nvPr/>
        </p:nvSpPr>
        <p:spPr bwMode="auto">
          <a:xfrm>
            <a:off x="1524000" y="2743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28" name="Line 99"/>
          <p:cNvSpPr>
            <a:spLocks noChangeShapeType="1"/>
          </p:cNvSpPr>
          <p:nvPr/>
        </p:nvSpPr>
        <p:spPr bwMode="auto">
          <a:xfrm>
            <a:off x="1676400" y="2743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29" name="Line 100"/>
          <p:cNvSpPr>
            <a:spLocks noChangeShapeType="1"/>
          </p:cNvSpPr>
          <p:nvPr/>
        </p:nvSpPr>
        <p:spPr bwMode="auto">
          <a:xfrm>
            <a:off x="1828800" y="2743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30" name="Line 101"/>
          <p:cNvSpPr>
            <a:spLocks noChangeShapeType="1"/>
          </p:cNvSpPr>
          <p:nvPr/>
        </p:nvSpPr>
        <p:spPr bwMode="auto">
          <a:xfrm>
            <a:off x="1981200" y="2743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31" name="Line 102"/>
          <p:cNvSpPr>
            <a:spLocks noChangeShapeType="1"/>
          </p:cNvSpPr>
          <p:nvPr/>
        </p:nvSpPr>
        <p:spPr bwMode="auto">
          <a:xfrm>
            <a:off x="2590800" y="2743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32" name="Line 103"/>
          <p:cNvSpPr>
            <a:spLocks noChangeShapeType="1"/>
          </p:cNvSpPr>
          <p:nvPr/>
        </p:nvSpPr>
        <p:spPr bwMode="auto">
          <a:xfrm>
            <a:off x="2133600" y="2967038"/>
            <a:ext cx="304800" cy="4762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33" name="Line 104"/>
          <p:cNvSpPr>
            <a:spLocks noChangeShapeType="1"/>
          </p:cNvSpPr>
          <p:nvPr/>
        </p:nvSpPr>
        <p:spPr bwMode="auto">
          <a:xfrm>
            <a:off x="2819400" y="4876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34" name="Line 105"/>
          <p:cNvSpPr>
            <a:spLocks noChangeShapeType="1"/>
          </p:cNvSpPr>
          <p:nvPr/>
        </p:nvSpPr>
        <p:spPr bwMode="auto">
          <a:xfrm>
            <a:off x="2971800" y="4876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35" name="Line 106"/>
          <p:cNvSpPr>
            <a:spLocks noChangeShapeType="1"/>
          </p:cNvSpPr>
          <p:nvPr/>
        </p:nvSpPr>
        <p:spPr bwMode="auto">
          <a:xfrm>
            <a:off x="3124200" y="4876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36" name="Line 107"/>
          <p:cNvSpPr>
            <a:spLocks noChangeShapeType="1"/>
          </p:cNvSpPr>
          <p:nvPr/>
        </p:nvSpPr>
        <p:spPr bwMode="auto">
          <a:xfrm>
            <a:off x="3276600" y="4876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37" name="Line 108"/>
          <p:cNvSpPr>
            <a:spLocks noChangeShapeType="1"/>
          </p:cNvSpPr>
          <p:nvPr/>
        </p:nvSpPr>
        <p:spPr bwMode="auto">
          <a:xfrm>
            <a:off x="3886200" y="4876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38" name="Line 109"/>
          <p:cNvSpPr>
            <a:spLocks noChangeShapeType="1"/>
          </p:cNvSpPr>
          <p:nvPr/>
        </p:nvSpPr>
        <p:spPr bwMode="auto">
          <a:xfrm>
            <a:off x="3429000" y="5100638"/>
            <a:ext cx="304800" cy="4762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5639" name="Text Box 110"/>
          <p:cNvSpPr txBox="1">
            <a:spLocks noChangeArrowheads="1"/>
          </p:cNvSpPr>
          <p:nvPr/>
        </p:nvSpPr>
        <p:spPr bwMode="auto">
          <a:xfrm>
            <a:off x="1498600" y="3203575"/>
            <a:ext cx="11938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800" b="0" dirty="0">
                <a:solidFill>
                  <a:srgbClr val="000099"/>
                </a:solidFill>
                <a:latin typeface="+mn-lt"/>
              </a:rPr>
              <a:t>TCP Data</a:t>
            </a:r>
          </a:p>
        </p:txBody>
      </p:sp>
      <p:sp>
        <p:nvSpPr>
          <p:cNvPr id="65640" name="Text Box 111"/>
          <p:cNvSpPr txBox="1">
            <a:spLocks noChangeArrowheads="1"/>
          </p:cNvSpPr>
          <p:nvPr/>
        </p:nvSpPr>
        <p:spPr bwMode="auto">
          <a:xfrm>
            <a:off x="2717800" y="4513263"/>
            <a:ext cx="11938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800" b="0">
                <a:solidFill>
                  <a:srgbClr val="000099"/>
                </a:solidFill>
                <a:latin typeface="+mn-lt"/>
              </a:rPr>
              <a:t>TCP Data</a:t>
            </a:r>
          </a:p>
        </p:txBody>
      </p:sp>
      <p:sp>
        <p:nvSpPr>
          <p:cNvPr id="65641" name="Text Box 112"/>
          <p:cNvSpPr txBox="1">
            <a:spLocks noChangeArrowheads="1"/>
          </p:cNvSpPr>
          <p:nvPr/>
        </p:nvSpPr>
        <p:spPr bwMode="auto">
          <a:xfrm rot="5390887">
            <a:off x="3546434" y="5547133"/>
            <a:ext cx="70651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>
                <a:latin typeface="+mn-lt"/>
              </a:rPr>
              <a:t>Byte 80</a:t>
            </a:r>
          </a:p>
        </p:txBody>
      </p:sp>
      <p:sp>
        <p:nvSpPr>
          <p:cNvPr id="947313" name="AutoShape 113"/>
          <p:cNvSpPr>
            <a:spLocks noChangeArrowheads="1"/>
          </p:cNvSpPr>
          <p:nvPr/>
        </p:nvSpPr>
        <p:spPr bwMode="auto">
          <a:xfrm>
            <a:off x="4114800" y="2890838"/>
            <a:ext cx="4648200" cy="1528762"/>
          </a:xfrm>
          <a:prstGeom prst="wedgeRectCallout">
            <a:avLst>
              <a:gd name="adj1" fmla="val -80620"/>
              <a:gd name="adj2" fmla="val -16061"/>
            </a:avLst>
          </a:prstGeom>
          <a:solidFill>
            <a:srgbClr val="D3A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457200" indent="-457200" algn="l" eaLnBrk="0" hangingPunct="0"/>
            <a:r>
              <a:rPr lang="en-US" sz="2400" b="0" i="1" dirty="0">
                <a:solidFill>
                  <a:schemeClr val="bg1"/>
                </a:solidFill>
                <a:latin typeface="+mn-lt"/>
              </a:rPr>
              <a:t>Segment</a:t>
            </a:r>
            <a:r>
              <a:rPr lang="en-US" sz="2400" b="0" dirty="0">
                <a:solidFill>
                  <a:schemeClr val="bg1"/>
                </a:solidFill>
                <a:latin typeface="+mn-lt"/>
              </a:rPr>
              <a:t> sent when:</a:t>
            </a:r>
          </a:p>
          <a:p>
            <a:pPr marL="457200" indent="-457200" algn="l" eaLnBrk="0" hangingPunct="0">
              <a:buFontTx/>
              <a:buAutoNum type="arabicPeriod"/>
            </a:pPr>
            <a:r>
              <a:rPr lang="en-US" sz="2000" b="0" dirty="0">
                <a:solidFill>
                  <a:schemeClr val="bg1"/>
                </a:solidFill>
                <a:latin typeface="+mn-lt"/>
              </a:rPr>
              <a:t>Segment full (Max Segment Size),</a:t>
            </a:r>
          </a:p>
          <a:p>
            <a:pPr marL="457200" indent="-457200" algn="l" eaLnBrk="0" hangingPunct="0">
              <a:buFontTx/>
              <a:buAutoNum type="arabicPeriod"/>
            </a:pPr>
            <a:r>
              <a:rPr lang="en-US" sz="2000" b="0" dirty="0">
                <a:solidFill>
                  <a:schemeClr val="bg1"/>
                </a:solidFill>
                <a:latin typeface="+mn-lt"/>
              </a:rPr>
              <a:t>Not full, but times out</a:t>
            </a:r>
          </a:p>
        </p:txBody>
      </p:sp>
    </p:spTree>
    <p:extLst>
      <p:ext uri="{BB962C8B-B14F-4D97-AF65-F5344CB8AC3E}">
        <p14:creationId xmlns:p14="http://schemas.microsoft.com/office/powerpoint/2010/main" val="1354460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1" grpId="0" animBg="1"/>
      <p:bldP spid="65542" grpId="0" animBg="1"/>
      <p:bldP spid="65543" grpId="0" animBg="1"/>
      <p:bldP spid="65544" grpId="0" animBg="1"/>
      <p:bldP spid="65545" grpId="0" animBg="1"/>
      <p:bldP spid="65546" grpId="0" animBg="1"/>
      <p:bldP spid="65547" grpId="0" animBg="1"/>
      <p:bldP spid="65548" grpId="0" animBg="1"/>
      <p:bldP spid="65549" grpId="0" animBg="1"/>
      <p:bldP spid="65550" grpId="0" animBg="1"/>
      <p:bldP spid="65551" grpId="0" animBg="1"/>
      <p:bldP spid="65552" grpId="0" animBg="1"/>
      <p:bldP spid="65553" grpId="0" animBg="1"/>
      <p:bldP spid="65554" grpId="0" animBg="1"/>
      <p:bldP spid="65555" grpId="0" animBg="1"/>
      <p:bldP spid="65556" grpId="0" animBg="1"/>
      <p:bldP spid="65557" grpId="0" animBg="1"/>
      <p:bldP spid="65558" grpId="0" animBg="1"/>
      <p:bldP spid="65559" grpId="0" animBg="1"/>
      <p:bldP spid="65560" grpId="0" animBg="1"/>
      <p:bldP spid="65561" grpId="0" animBg="1"/>
      <p:bldP spid="65562" grpId="0" animBg="1"/>
      <p:bldP spid="65563" grpId="0" animBg="1"/>
      <p:bldP spid="65564" grpId="0" animBg="1"/>
      <p:bldP spid="65565" grpId="0" animBg="1"/>
      <p:bldP spid="65566" grpId="0" animBg="1"/>
      <p:bldP spid="65567" grpId="0" animBg="1"/>
      <p:bldP spid="65568" grpId="0" animBg="1"/>
      <p:bldP spid="65569" grpId="0" animBg="1"/>
      <p:bldP spid="65570" grpId="0" animBg="1"/>
      <p:bldP spid="65571" grpId="0" animBg="1"/>
      <p:bldP spid="65572" grpId="0" animBg="1"/>
      <p:bldP spid="65573" grpId="0" animBg="1"/>
      <p:bldP spid="65574" grpId="0"/>
      <p:bldP spid="65575" grpId="0"/>
      <p:bldP spid="65576" grpId="0"/>
      <p:bldP spid="65577" grpId="0"/>
      <p:bldP spid="65578" grpId="0" animBg="1"/>
      <p:bldP spid="65580" grpId="0" animBg="1"/>
      <p:bldP spid="65581" grpId="0" animBg="1"/>
      <p:bldP spid="65582" grpId="0" animBg="1"/>
      <p:bldP spid="65583" grpId="0" animBg="1"/>
      <p:bldP spid="65584" grpId="0" animBg="1"/>
      <p:bldP spid="65585" grpId="0" animBg="1"/>
      <p:bldP spid="65586" grpId="0" animBg="1"/>
      <p:bldP spid="65587" grpId="0" animBg="1"/>
      <p:bldP spid="65588" grpId="0" animBg="1"/>
      <p:bldP spid="65589" grpId="0" animBg="1"/>
      <p:bldP spid="65590" grpId="0" animBg="1"/>
      <p:bldP spid="65591" grpId="0" animBg="1"/>
      <p:bldP spid="65592" grpId="0" animBg="1"/>
      <p:bldP spid="65593" grpId="0" animBg="1"/>
      <p:bldP spid="65594" grpId="0" animBg="1"/>
      <p:bldP spid="65595" grpId="0" animBg="1"/>
      <p:bldP spid="65596" grpId="0" animBg="1"/>
      <p:bldP spid="65597" grpId="0" animBg="1"/>
      <p:bldP spid="65598" grpId="0" animBg="1"/>
      <p:bldP spid="65599" grpId="0" animBg="1"/>
      <p:bldP spid="65600" grpId="0" animBg="1"/>
      <p:bldP spid="65601" grpId="0" animBg="1"/>
      <p:bldP spid="65602" grpId="0" animBg="1"/>
      <p:bldP spid="65603" grpId="0" animBg="1"/>
      <p:bldP spid="65604" grpId="0" animBg="1"/>
      <p:bldP spid="65605" grpId="0" animBg="1"/>
      <p:bldP spid="65606" grpId="0" animBg="1"/>
      <p:bldP spid="65607" grpId="0" animBg="1"/>
      <p:bldP spid="65608" grpId="0" animBg="1"/>
      <p:bldP spid="65609" grpId="0" animBg="1"/>
      <p:bldP spid="65610" grpId="0" animBg="1"/>
      <p:bldP spid="65611" grpId="0" animBg="1"/>
      <p:bldP spid="65612" grpId="0" animBg="1"/>
      <p:bldP spid="65613" grpId="0"/>
      <p:bldP spid="65614" grpId="0"/>
      <p:bldP spid="65615" grpId="0"/>
      <p:bldP spid="65616" grpId="0"/>
      <p:bldP spid="65617" grpId="0" animBg="1"/>
      <p:bldP spid="65618" grpId="0" animBg="1"/>
      <p:bldP spid="65619" grpId="0"/>
      <p:bldP spid="65620" grpId="0"/>
      <p:bldP spid="65621" grpId="0" animBg="1"/>
      <p:bldP spid="65622" grpId="0"/>
      <p:bldP spid="65623" grpId="0" animBg="1"/>
      <p:bldP spid="65624" grpId="0" animBg="1"/>
      <p:bldP spid="65625" grpId="0" animBg="1"/>
      <p:bldP spid="65626" grpId="0" animBg="1"/>
      <p:bldP spid="65627" grpId="0" animBg="1"/>
      <p:bldP spid="65628" grpId="0" animBg="1"/>
      <p:bldP spid="65629" grpId="0" animBg="1"/>
      <p:bldP spid="65630" grpId="0" animBg="1"/>
      <p:bldP spid="65631" grpId="0" animBg="1"/>
      <p:bldP spid="65632" grpId="0" animBg="1"/>
      <p:bldP spid="65633" grpId="0" animBg="1"/>
      <p:bldP spid="65634" grpId="0" animBg="1"/>
      <p:bldP spid="65635" grpId="0" animBg="1"/>
      <p:bldP spid="65636" grpId="0" animBg="1"/>
      <p:bldP spid="65637" grpId="0" animBg="1"/>
      <p:bldP spid="65638" grpId="0" animBg="1"/>
      <p:bldP spid="65639" grpId="0"/>
      <p:bldP spid="65640" grpId="0"/>
      <p:bldP spid="65641" grpId="0"/>
      <p:bldP spid="9473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3893129" cy="1143000"/>
          </a:xfrm>
        </p:spPr>
        <p:txBody>
          <a:bodyPr/>
          <a:lstStyle/>
          <a:p>
            <a:r>
              <a:rPr lang="en-US" dirty="0"/>
              <a:t>TCP segment</a:t>
            </a:r>
          </a:p>
        </p:txBody>
      </p:sp>
      <p:sp>
        <p:nvSpPr>
          <p:cNvPr id="4915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IP packet</a:t>
            </a:r>
          </a:p>
          <a:p>
            <a:pPr lvl="1"/>
            <a:r>
              <a:rPr lang="en-US" dirty="0"/>
              <a:t>No bigger than </a:t>
            </a:r>
            <a:r>
              <a:rPr lang="en-US" dirty="0">
                <a:solidFill>
                  <a:srgbClr val="0000FF"/>
                </a:solidFill>
              </a:rPr>
              <a:t>Maximum Transmission Unit (MTU)</a:t>
            </a:r>
          </a:p>
          <a:p>
            <a:pPr lvl="1"/>
            <a:r>
              <a:rPr lang="en-US" dirty="0"/>
              <a:t>E.g., up to 1500 bytes </a:t>
            </a:r>
            <a:r>
              <a:rPr lang="en-US" altLang="zh-CN" dirty="0"/>
              <a:t>in</a:t>
            </a:r>
            <a:r>
              <a:rPr lang="en-US" dirty="0"/>
              <a:t> Ethernet</a:t>
            </a:r>
          </a:p>
          <a:p>
            <a:r>
              <a:rPr lang="en-US" dirty="0"/>
              <a:t>TCP packet</a:t>
            </a:r>
          </a:p>
          <a:p>
            <a:pPr lvl="1"/>
            <a:r>
              <a:rPr lang="en-US" dirty="0"/>
              <a:t>TCP header and data inside</a:t>
            </a:r>
          </a:p>
          <a:p>
            <a:pPr lvl="1"/>
            <a:r>
              <a:rPr lang="en-US" dirty="0"/>
              <a:t>TCP header </a:t>
            </a:r>
            <a:r>
              <a:rPr lang="en-US" dirty="0">
                <a:sym typeface="Symbol" charset="0"/>
              </a:rPr>
              <a:t></a:t>
            </a:r>
            <a:r>
              <a:rPr lang="en-US" dirty="0"/>
              <a:t> 20 bytes long</a:t>
            </a:r>
          </a:p>
          <a:p>
            <a:r>
              <a:rPr lang="en-US" dirty="0"/>
              <a:t>TCP segment</a:t>
            </a:r>
          </a:p>
          <a:p>
            <a:pPr lvl="1"/>
            <a:r>
              <a:rPr lang="en-US" dirty="0"/>
              <a:t>No more than </a:t>
            </a:r>
            <a:r>
              <a:rPr lang="en-US" dirty="0">
                <a:solidFill>
                  <a:srgbClr val="0000FF"/>
                </a:solidFill>
              </a:rPr>
              <a:t>Maximum Segment Size (MSS)</a:t>
            </a:r>
            <a:endParaRPr lang="en-US" dirty="0"/>
          </a:p>
          <a:p>
            <a:pPr lvl="1"/>
            <a:r>
              <a:rPr lang="en-US" dirty="0"/>
              <a:t>E.g., up to 1460 consecutive bytes from the stream</a:t>
            </a:r>
          </a:p>
          <a:p>
            <a:pPr lvl="1"/>
            <a:r>
              <a:rPr lang="en-US" dirty="0"/>
              <a:t>MSS = MTU – (IP header) – (TCP header)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13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4267200" y="323850"/>
            <a:ext cx="4572000" cy="800100"/>
            <a:chOff x="4267200" y="323850"/>
            <a:chExt cx="4572000" cy="800100"/>
          </a:xfrm>
        </p:grpSpPr>
        <p:sp>
          <p:nvSpPr>
            <p:cNvPr id="67589" name="Rectangle 4"/>
            <p:cNvSpPr>
              <a:spLocks noChangeArrowheads="1"/>
            </p:cNvSpPr>
            <p:nvPr/>
          </p:nvSpPr>
          <p:spPr bwMode="auto">
            <a:xfrm>
              <a:off x="4267200" y="323850"/>
              <a:ext cx="4572000" cy="8001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>
                  <a:lumMod val="75000"/>
                  <a:lumOff val="2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7590" name="Line 5"/>
            <p:cNvSpPr>
              <a:spLocks noChangeShapeType="1"/>
            </p:cNvSpPr>
            <p:nvPr/>
          </p:nvSpPr>
          <p:spPr bwMode="auto">
            <a:xfrm>
              <a:off x="8007927" y="323850"/>
              <a:ext cx="0" cy="800100"/>
            </a:xfrm>
            <a:prstGeom prst="line">
              <a:avLst/>
            </a:prstGeom>
            <a:noFill/>
            <a:ln w="38100">
              <a:solidFill>
                <a:schemeClr val="accent4">
                  <a:lumMod val="60000"/>
                  <a:lumOff val="40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7591" name="Text Box 6"/>
            <p:cNvSpPr txBox="1">
              <a:spLocks noChangeArrowheads="1"/>
            </p:cNvSpPr>
            <p:nvPr/>
          </p:nvSpPr>
          <p:spPr bwMode="auto">
            <a:xfrm>
              <a:off x="8010814" y="666750"/>
              <a:ext cx="69313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l"/>
              <a:r>
                <a:rPr lang="en-US" sz="1600" b="0" dirty="0">
                  <a:latin typeface="+mn-lt"/>
                </a:rPr>
                <a:t>IP Hdr</a:t>
              </a:r>
            </a:p>
          </p:txBody>
        </p:sp>
        <p:sp>
          <p:nvSpPr>
            <p:cNvPr id="67592" name="Line 7"/>
            <p:cNvSpPr>
              <a:spLocks noChangeShapeType="1"/>
            </p:cNvSpPr>
            <p:nvPr/>
          </p:nvSpPr>
          <p:spPr bwMode="auto">
            <a:xfrm>
              <a:off x="4267200" y="590550"/>
              <a:ext cx="37407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7594" name="Text Box 9"/>
            <p:cNvSpPr txBox="1">
              <a:spLocks noChangeArrowheads="1"/>
            </p:cNvSpPr>
            <p:nvPr/>
          </p:nvSpPr>
          <p:spPr bwMode="auto">
            <a:xfrm>
              <a:off x="5652655" y="323850"/>
              <a:ext cx="70924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l"/>
              <a:r>
                <a:rPr lang="en-US" sz="1400" b="0" dirty="0">
                  <a:latin typeface="+mn-lt"/>
                </a:rPr>
                <a:t>IP Data</a:t>
              </a:r>
            </a:p>
          </p:txBody>
        </p:sp>
      </p:grpSp>
      <p:grpSp>
        <p:nvGrpSpPr>
          <p:cNvPr id="67595" name="Group 10"/>
          <p:cNvGrpSpPr>
            <a:grpSpLocks/>
          </p:cNvGrpSpPr>
          <p:nvPr/>
        </p:nvGrpSpPr>
        <p:grpSpPr bwMode="auto">
          <a:xfrm>
            <a:off x="4336473" y="677862"/>
            <a:ext cx="3602182" cy="381000"/>
            <a:chOff x="1200" y="1296"/>
            <a:chExt cx="3168" cy="336"/>
          </a:xfrm>
        </p:grpSpPr>
        <p:sp>
          <p:nvSpPr>
            <p:cNvPr id="67598" name="Rectangle 11"/>
            <p:cNvSpPr>
              <a:spLocks noChangeArrowheads="1"/>
            </p:cNvSpPr>
            <p:nvPr/>
          </p:nvSpPr>
          <p:spPr bwMode="auto">
            <a:xfrm>
              <a:off x="1200" y="1296"/>
              <a:ext cx="3168" cy="33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7599" name="Line 12"/>
            <p:cNvSpPr>
              <a:spLocks noChangeShapeType="1"/>
            </p:cNvSpPr>
            <p:nvPr/>
          </p:nvSpPr>
          <p:spPr bwMode="auto">
            <a:xfrm>
              <a:off x="3792" y="1296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sp>
        <p:nvSpPr>
          <p:cNvPr id="67596" name="Text Box 13"/>
          <p:cNvSpPr txBox="1">
            <a:spLocks noChangeArrowheads="1"/>
          </p:cNvSpPr>
          <p:nvPr/>
        </p:nvSpPr>
        <p:spPr bwMode="auto">
          <a:xfrm>
            <a:off x="7283714" y="677862"/>
            <a:ext cx="654942" cy="3810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no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1200" b="0" dirty="0">
                <a:solidFill>
                  <a:schemeClr val="bg1"/>
                </a:solidFill>
                <a:latin typeface="+mn-lt"/>
              </a:rPr>
              <a:t>TCP Hdr</a:t>
            </a:r>
          </a:p>
        </p:txBody>
      </p:sp>
      <p:sp>
        <p:nvSpPr>
          <p:cNvPr id="67597" name="Text Box 14"/>
          <p:cNvSpPr txBox="1">
            <a:spLocks noChangeArrowheads="1"/>
          </p:cNvSpPr>
          <p:nvPr/>
        </p:nvSpPr>
        <p:spPr bwMode="auto">
          <a:xfrm>
            <a:off x="5313507" y="715962"/>
            <a:ext cx="144606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 dirty="0">
                <a:latin typeface="+mn-lt"/>
              </a:rPr>
              <a:t>TCP Data (segment)</a:t>
            </a:r>
          </a:p>
        </p:txBody>
      </p:sp>
    </p:spTree>
    <p:extLst>
      <p:ext uri="{BB962C8B-B14F-4D97-AF65-F5344CB8AC3E}">
        <p14:creationId xmlns:p14="http://schemas.microsoft.com/office/powerpoint/2010/main" val="199961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6" grpId="0" uiExpand="1" build="p"/>
      <p:bldP spid="67596" grpId="0" animBg="1"/>
      <p:bldP spid="6759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Rectangle 2"/>
          <p:cNvSpPr>
            <a:spLocks noChangeArrowheads="1"/>
          </p:cNvSpPr>
          <p:nvPr/>
        </p:nvSpPr>
        <p:spPr bwMode="auto">
          <a:xfrm>
            <a:off x="2617788" y="2384425"/>
            <a:ext cx="1219200" cy="609600"/>
          </a:xfrm>
          <a:prstGeom prst="rect">
            <a:avLst/>
          </a:prstGeom>
          <a:solidFill>
            <a:srgbClr val="FFCB05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963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 numbers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14</a:t>
            </a:fld>
            <a:endParaRPr lang="en-US"/>
          </a:p>
        </p:txBody>
      </p:sp>
      <p:grpSp>
        <p:nvGrpSpPr>
          <p:cNvPr id="69637" name="Group 4"/>
          <p:cNvGrpSpPr>
            <a:grpSpLocks/>
          </p:cNvGrpSpPr>
          <p:nvPr/>
        </p:nvGrpSpPr>
        <p:grpSpPr bwMode="auto">
          <a:xfrm>
            <a:off x="1703388" y="2379663"/>
            <a:ext cx="5029200" cy="609600"/>
            <a:chOff x="912" y="1104"/>
            <a:chExt cx="3648" cy="384"/>
          </a:xfrm>
        </p:grpSpPr>
        <p:sp>
          <p:nvSpPr>
            <p:cNvPr id="69739" name="Line 5"/>
            <p:cNvSpPr>
              <a:spLocks noChangeShapeType="1"/>
            </p:cNvSpPr>
            <p:nvPr/>
          </p:nvSpPr>
          <p:spPr bwMode="auto">
            <a:xfrm>
              <a:off x="912" y="1104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740" name="Line 6"/>
            <p:cNvSpPr>
              <a:spLocks noChangeShapeType="1"/>
            </p:cNvSpPr>
            <p:nvPr/>
          </p:nvSpPr>
          <p:spPr bwMode="auto">
            <a:xfrm>
              <a:off x="912" y="1488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741" name="Line 7"/>
            <p:cNvSpPr>
              <a:spLocks noChangeShapeType="1"/>
            </p:cNvSpPr>
            <p:nvPr/>
          </p:nvSpPr>
          <p:spPr bwMode="auto">
            <a:xfrm flipH="1">
              <a:off x="4224" y="1104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742" name="Line 8"/>
            <p:cNvSpPr>
              <a:spLocks noChangeShapeType="1"/>
            </p:cNvSpPr>
            <p:nvPr/>
          </p:nvSpPr>
          <p:spPr bwMode="auto">
            <a:xfrm flipH="1">
              <a:off x="4224" y="1488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9638" name="Line 9"/>
          <p:cNvSpPr>
            <a:spLocks noChangeShapeType="1"/>
          </p:cNvSpPr>
          <p:nvPr/>
        </p:nvSpPr>
        <p:spPr bwMode="auto">
          <a:xfrm>
            <a:off x="17033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39" name="Line 10"/>
          <p:cNvSpPr>
            <a:spLocks noChangeShapeType="1"/>
          </p:cNvSpPr>
          <p:nvPr/>
        </p:nvSpPr>
        <p:spPr bwMode="auto">
          <a:xfrm>
            <a:off x="18557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40" name="Line 11"/>
          <p:cNvSpPr>
            <a:spLocks noChangeShapeType="1"/>
          </p:cNvSpPr>
          <p:nvPr/>
        </p:nvSpPr>
        <p:spPr bwMode="auto">
          <a:xfrm>
            <a:off x="20081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41" name="Line 12"/>
          <p:cNvSpPr>
            <a:spLocks noChangeShapeType="1"/>
          </p:cNvSpPr>
          <p:nvPr/>
        </p:nvSpPr>
        <p:spPr bwMode="auto">
          <a:xfrm>
            <a:off x="21605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42" name="Line 13"/>
          <p:cNvSpPr>
            <a:spLocks noChangeShapeType="1"/>
          </p:cNvSpPr>
          <p:nvPr/>
        </p:nvSpPr>
        <p:spPr bwMode="auto">
          <a:xfrm>
            <a:off x="23129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43" name="Line 14"/>
          <p:cNvSpPr>
            <a:spLocks noChangeShapeType="1"/>
          </p:cNvSpPr>
          <p:nvPr/>
        </p:nvSpPr>
        <p:spPr bwMode="auto">
          <a:xfrm>
            <a:off x="24653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44" name="Line 15"/>
          <p:cNvSpPr>
            <a:spLocks noChangeShapeType="1"/>
          </p:cNvSpPr>
          <p:nvPr/>
        </p:nvSpPr>
        <p:spPr bwMode="auto">
          <a:xfrm>
            <a:off x="26177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45" name="Line 16"/>
          <p:cNvSpPr>
            <a:spLocks noChangeShapeType="1"/>
          </p:cNvSpPr>
          <p:nvPr/>
        </p:nvSpPr>
        <p:spPr bwMode="auto">
          <a:xfrm>
            <a:off x="27701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46" name="Line 17"/>
          <p:cNvSpPr>
            <a:spLocks noChangeShapeType="1"/>
          </p:cNvSpPr>
          <p:nvPr/>
        </p:nvSpPr>
        <p:spPr bwMode="auto">
          <a:xfrm>
            <a:off x="29225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47" name="Line 18"/>
          <p:cNvSpPr>
            <a:spLocks noChangeShapeType="1"/>
          </p:cNvSpPr>
          <p:nvPr/>
        </p:nvSpPr>
        <p:spPr bwMode="auto">
          <a:xfrm>
            <a:off x="30749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48" name="Line 19"/>
          <p:cNvSpPr>
            <a:spLocks noChangeShapeType="1"/>
          </p:cNvSpPr>
          <p:nvPr/>
        </p:nvSpPr>
        <p:spPr bwMode="auto">
          <a:xfrm>
            <a:off x="32273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49" name="Line 20"/>
          <p:cNvSpPr>
            <a:spLocks noChangeShapeType="1"/>
          </p:cNvSpPr>
          <p:nvPr/>
        </p:nvSpPr>
        <p:spPr bwMode="auto">
          <a:xfrm>
            <a:off x="33797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50" name="Line 21"/>
          <p:cNvSpPr>
            <a:spLocks noChangeShapeType="1"/>
          </p:cNvSpPr>
          <p:nvPr/>
        </p:nvSpPr>
        <p:spPr bwMode="auto">
          <a:xfrm>
            <a:off x="35321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51" name="Line 22"/>
          <p:cNvSpPr>
            <a:spLocks noChangeShapeType="1"/>
          </p:cNvSpPr>
          <p:nvPr/>
        </p:nvSpPr>
        <p:spPr bwMode="auto">
          <a:xfrm>
            <a:off x="36845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52" name="Line 23"/>
          <p:cNvSpPr>
            <a:spLocks noChangeShapeType="1"/>
          </p:cNvSpPr>
          <p:nvPr/>
        </p:nvSpPr>
        <p:spPr bwMode="auto">
          <a:xfrm>
            <a:off x="38369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53" name="Line 24"/>
          <p:cNvSpPr>
            <a:spLocks noChangeShapeType="1"/>
          </p:cNvSpPr>
          <p:nvPr/>
        </p:nvSpPr>
        <p:spPr bwMode="auto">
          <a:xfrm>
            <a:off x="39893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54" name="Line 25"/>
          <p:cNvSpPr>
            <a:spLocks noChangeShapeType="1"/>
          </p:cNvSpPr>
          <p:nvPr/>
        </p:nvSpPr>
        <p:spPr bwMode="auto">
          <a:xfrm>
            <a:off x="41417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55" name="Line 26"/>
          <p:cNvSpPr>
            <a:spLocks noChangeShapeType="1"/>
          </p:cNvSpPr>
          <p:nvPr/>
        </p:nvSpPr>
        <p:spPr bwMode="auto">
          <a:xfrm>
            <a:off x="42941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56" name="Line 27"/>
          <p:cNvSpPr>
            <a:spLocks noChangeShapeType="1"/>
          </p:cNvSpPr>
          <p:nvPr/>
        </p:nvSpPr>
        <p:spPr bwMode="auto">
          <a:xfrm>
            <a:off x="44465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57" name="Line 28"/>
          <p:cNvSpPr>
            <a:spLocks noChangeShapeType="1"/>
          </p:cNvSpPr>
          <p:nvPr/>
        </p:nvSpPr>
        <p:spPr bwMode="auto">
          <a:xfrm>
            <a:off x="45989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58" name="Line 29"/>
          <p:cNvSpPr>
            <a:spLocks noChangeShapeType="1"/>
          </p:cNvSpPr>
          <p:nvPr/>
        </p:nvSpPr>
        <p:spPr bwMode="auto">
          <a:xfrm>
            <a:off x="47513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59" name="Line 30"/>
          <p:cNvSpPr>
            <a:spLocks noChangeShapeType="1"/>
          </p:cNvSpPr>
          <p:nvPr/>
        </p:nvSpPr>
        <p:spPr bwMode="auto">
          <a:xfrm>
            <a:off x="49037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60" name="Line 31"/>
          <p:cNvSpPr>
            <a:spLocks noChangeShapeType="1"/>
          </p:cNvSpPr>
          <p:nvPr/>
        </p:nvSpPr>
        <p:spPr bwMode="auto">
          <a:xfrm>
            <a:off x="50561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61" name="Line 32"/>
          <p:cNvSpPr>
            <a:spLocks noChangeShapeType="1"/>
          </p:cNvSpPr>
          <p:nvPr/>
        </p:nvSpPr>
        <p:spPr bwMode="auto">
          <a:xfrm>
            <a:off x="52085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62" name="Line 33"/>
          <p:cNvSpPr>
            <a:spLocks noChangeShapeType="1"/>
          </p:cNvSpPr>
          <p:nvPr/>
        </p:nvSpPr>
        <p:spPr bwMode="auto">
          <a:xfrm>
            <a:off x="53609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63" name="Line 34"/>
          <p:cNvSpPr>
            <a:spLocks noChangeShapeType="1"/>
          </p:cNvSpPr>
          <p:nvPr/>
        </p:nvSpPr>
        <p:spPr bwMode="auto">
          <a:xfrm>
            <a:off x="55133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64" name="Line 35"/>
          <p:cNvSpPr>
            <a:spLocks noChangeShapeType="1"/>
          </p:cNvSpPr>
          <p:nvPr/>
        </p:nvSpPr>
        <p:spPr bwMode="auto">
          <a:xfrm>
            <a:off x="56657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65" name="Line 36"/>
          <p:cNvSpPr>
            <a:spLocks noChangeShapeType="1"/>
          </p:cNvSpPr>
          <p:nvPr/>
        </p:nvSpPr>
        <p:spPr bwMode="auto">
          <a:xfrm>
            <a:off x="58181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66" name="Line 37"/>
          <p:cNvSpPr>
            <a:spLocks noChangeShapeType="1"/>
          </p:cNvSpPr>
          <p:nvPr/>
        </p:nvSpPr>
        <p:spPr bwMode="auto">
          <a:xfrm>
            <a:off x="59705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67" name="Line 38"/>
          <p:cNvSpPr>
            <a:spLocks noChangeShapeType="1"/>
          </p:cNvSpPr>
          <p:nvPr/>
        </p:nvSpPr>
        <p:spPr bwMode="auto">
          <a:xfrm>
            <a:off x="61229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68" name="Line 39"/>
          <p:cNvSpPr>
            <a:spLocks noChangeShapeType="1"/>
          </p:cNvSpPr>
          <p:nvPr/>
        </p:nvSpPr>
        <p:spPr bwMode="auto">
          <a:xfrm>
            <a:off x="62753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69" name="Line 40"/>
          <p:cNvSpPr>
            <a:spLocks noChangeShapeType="1"/>
          </p:cNvSpPr>
          <p:nvPr/>
        </p:nvSpPr>
        <p:spPr bwMode="auto">
          <a:xfrm>
            <a:off x="6427788" y="2379663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70" name="Line 41"/>
          <p:cNvSpPr>
            <a:spLocks noChangeShapeType="1"/>
          </p:cNvSpPr>
          <p:nvPr/>
        </p:nvSpPr>
        <p:spPr bwMode="auto">
          <a:xfrm>
            <a:off x="6580188" y="2379663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705" name="Text Box 80"/>
          <p:cNvSpPr txBox="1">
            <a:spLocks noChangeArrowheads="1"/>
          </p:cNvSpPr>
          <p:nvPr/>
        </p:nvSpPr>
        <p:spPr bwMode="auto">
          <a:xfrm>
            <a:off x="263525" y="2362200"/>
            <a:ext cx="10951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2400" b="0" dirty="0">
                <a:latin typeface="+mn-lt"/>
              </a:rPr>
              <a:t>Host A</a:t>
            </a:r>
          </a:p>
        </p:txBody>
      </p:sp>
      <p:sp>
        <p:nvSpPr>
          <p:cNvPr id="69729" name="Text Box 104"/>
          <p:cNvSpPr txBox="1">
            <a:spLocks noChangeArrowheads="1"/>
          </p:cNvSpPr>
          <p:nvPr/>
        </p:nvSpPr>
        <p:spPr bwMode="auto">
          <a:xfrm>
            <a:off x="762000" y="1524000"/>
            <a:ext cx="33137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800" b="0" dirty="0">
                <a:solidFill>
                  <a:srgbClr val="000099"/>
                </a:solidFill>
                <a:latin typeface="+mn-lt"/>
              </a:rPr>
              <a:t>ISN (Initial Sequence Number)</a:t>
            </a:r>
          </a:p>
        </p:txBody>
      </p:sp>
      <p:sp>
        <p:nvSpPr>
          <p:cNvPr id="69731" name="AutoShape 106"/>
          <p:cNvSpPr>
            <a:spLocks noChangeArrowheads="1"/>
          </p:cNvSpPr>
          <p:nvPr/>
        </p:nvSpPr>
        <p:spPr bwMode="auto">
          <a:xfrm>
            <a:off x="76200" y="3352800"/>
            <a:ext cx="2362200" cy="914400"/>
          </a:xfrm>
          <a:prstGeom prst="wedgeRectCallout">
            <a:avLst>
              <a:gd name="adj1" fmla="val 61239"/>
              <a:gd name="adj2" fmla="val -89071"/>
            </a:avLst>
          </a:prstGeom>
          <a:solidFill>
            <a:srgbClr val="FFCB05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1800" b="0" dirty="0">
                <a:solidFill>
                  <a:srgbClr val="0000FF"/>
                </a:solidFill>
                <a:latin typeface="+mn-lt"/>
                <a:cs typeface="Courier"/>
              </a:rPr>
              <a:t>Sequence number  </a:t>
            </a:r>
            <a:br>
              <a:rPr lang="en-US" sz="1800" b="0" dirty="0">
                <a:solidFill>
                  <a:srgbClr val="0000FF"/>
                </a:solidFill>
                <a:latin typeface="+mn-lt"/>
                <a:cs typeface="Courier"/>
              </a:rPr>
            </a:br>
            <a:r>
              <a:rPr lang="en-US" sz="1800" b="0" dirty="0">
                <a:solidFill>
                  <a:srgbClr val="0000FF"/>
                </a:solidFill>
                <a:latin typeface="+mn-lt"/>
                <a:cs typeface="Courier"/>
              </a:rPr>
              <a:t>= 1</a:t>
            </a:r>
            <a:r>
              <a:rPr lang="en-US" sz="1800" b="0" baseline="30000" dirty="0">
                <a:solidFill>
                  <a:srgbClr val="0000FF"/>
                </a:solidFill>
                <a:latin typeface="+mn-lt"/>
                <a:cs typeface="Courier"/>
              </a:rPr>
              <a:t>st</a:t>
            </a:r>
            <a:r>
              <a:rPr lang="en-US" sz="1800" b="0" dirty="0">
                <a:solidFill>
                  <a:srgbClr val="0000FF"/>
                </a:solidFill>
                <a:latin typeface="+mn-lt"/>
                <a:cs typeface="Courier"/>
              </a:rPr>
              <a:t> byte in segment = ISN + k</a:t>
            </a:r>
          </a:p>
        </p:txBody>
      </p:sp>
      <p:cxnSp>
        <p:nvCxnSpPr>
          <p:cNvPr id="3" name="Straight Arrow Connector 2"/>
          <p:cNvCxnSpPr/>
          <p:nvPr/>
        </p:nvCxnSpPr>
        <p:spPr bwMode="auto">
          <a:xfrm>
            <a:off x="1676400" y="2209800"/>
            <a:ext cx="914400" cy="0"/>
          </a:xfrm>
          <a:prstGeom prst="straightConnector1">
            <a:avLst/>
          </a:prstGeom>
          <a:noFill/>
          <a:ln w="3175" cap="flat" cmpd="sng" algn="ctr">
            <a:solidFill>
              <a:srgbClr val="0000FF"/>
            </a:solidFill>
            <a:prstDash val="solid"/>
            <a:round/>
            <a:headEnd type="arrow"/>
            <a:tailEnd type="arrow"/>
          </a:ln>
          <a:effectLst/>
        </p:spPr>
      </p:cxnSp>
      <p:sp>
        <p:nvSpPr>
          <p:cNvPr id="118" name="Line 105"/>
          <p:cNvSpPr>
            <a:spLocks noChangeShapeType="1"/>
          </p:cNvSpPr>
          <p:nvPr/>
        </p:nvSpPr>
        <p:spPr bwMode="auto">
          <a:xfrm>
            <a:off x="1676400" y="1905000"/>
            <a:ext cx="26988" cy="479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704795" y="1809690"/>
            <a:ext cx="8467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k</a:t>
            </a:r>
            <a:r>
              <a:rPr lang="en-US" sz="1600" b="0" dirty="0">
                <a:solidFill>
                  <a:srgbClr val="0000FF"/>
                </a:solidFill>
                <a:latin typeface="+mn-lt"/>
              </a:rPr>
              <a:t> bytes</a:t>
            </a:r>
          </a:p>
        </p:txBody>
      </p:sp>
    </p:spTree>
    <p:extLst>
      <p:ext uri="{BB962C8B-B14F-4D97-AF65-F5344CB8AC3E}">
        <p14:creationId xmlns:p14="http://schemas.microsoft.com/office/powerpoint/2010/main" val="977996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729" grpId="0"/>
      <p:bldP spid="69731" grpId="0" animBg="1"/>
      <p:bldP spid="118" grpId="0" animBg="1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Rectangle 2"/>
          <p:cNvSpPr>
            <a:spLocks noChangeArrowheads="1"/>
          </p:cNvSpPr>
          <p:nvPr/>
        </p:nvSpPr>
        <p:spPr bwMode="auto">
          <a:xfrm>
            <a:off x="2617788" y="2384425"/>
            <a:ext cx="1219200" cy="609600"/>
          </a:xfrm>
          <a:prstGeom prst="rect">
            <a:avLst/>
          </a:prstGeom>
          <a:solidFill>
            <a:srgbClr val="FFCB05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6963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 numbers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15</a:t>
            </a:fld>
            <a:endParaRPr lang="en-US"/>
          </a:p>
        </p:txBody>
      </p:sp>
      <p:grpSp>
        <p:nvGrpSpPr>
          <p:cNvPr id="69637" name="Group 4"/>
          <p:cNvGrpSpPr>
            <a:grpSpLocks/>
          </p:cNvGrpSpPr>
          <p:nvPr/>
        </p:nvGrpSpPr>
        <p:grpSpPr bwMode="auto">
          <a:xfrm>
            <a:off x="1703388" y="2379663"/>
            <a:ext cx="5029200" cy="609600"/>
            <a:chOff x="912" y="1104"/>
            <a:chExt cx="3648" cy="384"/>
          </a:xfrm>
        </p:grpSpPr>
        <p:sp>
          <p:nvSpPr>
            <p:cNvPr id="69739" name="Line 5"/>
            <p:cNvSpPr>
              <a:spLocks noChangeShapeType="1"/>
            </p:cNvSpPr>
            <p:nvPr/>
          </p:nvSpPr>
          <p:spPr bwMode="auto">
            <a:xfrm>
              <a:off x="912" y="1104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9740" name="Line 6"/>
            <p:cNvSpPr>
              <a:spLocks noChangeShapeType="1"/>
            </p:cNvSpPr>
            <p:nvPr/>
          </p:nvSpPr>
          <p:spPr bwMode="auto">
            <a:xfrm>
              <a:off x="912" y="1488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9741" name="Line 7"/>
            <p:cNvSpPr>
              <a:spLocks noChangeShapeType="1"/>
            </p:cNvSpPr>
            <p:nvPr/>
          </p:nvSpPr>
          <p:spPr bwMode="auto">
            <a:xfrm flipH="1">
              <a:off x="4224" y="1104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9742" name="Line 8"/>
            <p:cNvSpPr>
              <a:spLocks noChangeShapeType="1"/>
            </p:cNvSpPr>
            <p:nvPr/>
          </p:nvSpPr>
          <p:spPr bwMode="auto">
            <a:xfrm flipH="1">
              <a:off x="4224" y="1488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sp>
        <p:nvSpPr>
          <p:cNvPr id="69638" name="Line 9"/>
          <p:cNvSpPr>
            <a:spLocks noChangeShapeType="1"/>
          </p:cNvSpPr>
          <p:nvPr/>
        </p:nvSpPr>
        <p:spPr bwMode="auto">
          <a:xfrm>
            <a:off x="17033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39" name="Line 10"/>
          <p:cNvSpPr>
            <a:spLocks noChangeShapeType="1"/>
          </p:cNvSpPr>
          <p:nvPr/>
        </p:nvSpPr>
        <p:spPr bwMode="auto">
          <a:xfrm>
            <a:off x="18557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40" name="Line 11"/>
          <p:cNvSpPr>
            <a:spLocks noChangeShapeType="1"/>
          </p:cNvSpPr>
          <p:nvPr/>
        </p:nvSpPr>
        <p:spPr bwMode="auto">
          <a:xfrm>
            <a:off x="20081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41" name="Line 12"/>
          <p:cNvSpPr>
            <a:spLocks noChangeShapeType="1"/>
          </p:cNvSpPr>
          <p:nvPr/>
        </p:nvSpPr>
        <p:spPr bwMode="auto">
          <a:xfrm>
            <a:off x="21605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42" name="Line 13"/>
          <p:cNvSpPr>
            <a:spLocks noChangeShapeType="1"/>
          </p:cNvSpPr>
          <p:nvPr/>
        </p:nvSpPr>
        <p:spPr bwMode="auto">
          <a:xfrm>
            <a:off x="23129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43" name="Line 14"/>
          <p:cNvSpPr>
            <a:spLocks noChangeShapeType="1"/>
          </p:cNvSpPr>
          <p:nvPr/>
        </p:nvSpPr>
        <p:spPr bwMode="auto">
          <a:xfrm>
            <a:off x="24653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44" name="Line 15"/>
          <p:cNvSpPr>
            <a:spLocks noChangeShapeType="1"/>
          </p:cNvSpPr>
          <p:nvPr/>
        </p:nvSpPr>
        <p:spPr bwMode="auto">
          <a:xfrm>
            <a:off x="26177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45" name="Line 16"/>
          <p:cNvSpPr>
            <a:spLocks noChangeShapeType="1"/>
          </p:cNvSpPr>
          <p:nvPr/>
        </p:nvSpPr>
        <p:spPr bwMode="auto">
          <a:xfrm>
            <a:off x="27701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46" name="Line 17"/>
          <p:cNvSpPr>
            <a:spLocks noChangeShapeType="1"/>
          </p:cNvSpPr>
          <p:nvPr/>
        </p:nvSpPr>
        <p:spPr bwMode="auto">
          <a:xfrm>
            <a:off x="29225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47" name="Line 18"/>
          <p:cNvSpPr>
            <a:spLocks noChangeShapeType="1"/>
          </p:cNvSpPr>
          <p:nvPr/>
        </p:nvSpPr>
        <p:spPr bwMode="auto">
          <a:xfrm>
            <a:off x="30749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48" name="Line 19"/>
          <p:cNvSpPr>
            <a:spLocks noChangeShapeType="1"/>
          </p:cNvSpPr>
          <p:nvPr/>
        </p:nvSpPr>
        <p:spPr bwMode="auto">
          <a:xfrm>
            <a:off x="32273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49" name="Line 20"/>
          <p:cNvSpPr>
            <a:spLocks noChangeShapeType="1"/>
          </p:cNvSpPr>
          <p:nvPr/>
        </p:nvSpPr>
        <p:spPr bwMode="auto">
          <a:xfrm>
            <a:off x="33797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50" name="Line 21"/>
          <p:cNvSpPr>
            <a:spLocks noChangeShapeType="1"/>
          </p:cNvSpPr>
          <p:nvPr/>
        </p:nvSpPr>
        <p:spPr bwMode="auto">
          <a:xfrm>
            <a:off x="35321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51" name="Line 22"/>
          <p:cNvSpPr>
            <a:spLocks noChangeShapeType="1"/>
          </p:cNvSpPr>
          <p:nvPr/>
        </p:nvSpPr>
        <p:spPr bwMode="auto">
          <a:xfrm>
            <a:off x="36845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52" name="Line 23"/>
          <p:cNvSpPr>
            <a:spLocks noChangeShapeType="1"/>
          </p:cNvSpPr>
          <p:nvPr/>
        </p:nvSpPr>
        <p:spPr bwMode="auto">
          <a:xfrm>
            <a:off x="38369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53" name="Line 24"/>
          <p:cNvSpPr>
            <a:spLocks noChangeShapeType="1"/>
          </p:cNvSpPr>
          <p:nvPr/>
        </p:nvSpPr>
        <p:spPr bwMode="auto">
          <a:xfrm>
            <a:off x="39893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54" name="Line 25"/>
          <p:cNvSpPr>
            <a:spLocks noChangeShapeType="1"/>
          </p:cNvSpPr>
          <p:nvPr/>
        </p:nvSpPr>
        <p:spPr bwMode="auto">
          <a:xfrm>
            <a:off x="41417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55" name="Line 26"/>
          <p:cNvSpPr>
            <a:spLocks noChangeShapeType="1"/>
          </p:cNvSpPr>
          <p:nvPr/>
        </p:nvSpPr>
        <p:spPr bwMode="auto">
          <a:xfrm>
            <a:off x="42941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56" name="Line 27"/>
          <p:cNvSpPr>
            <a:spLocks noChangeShapeType="1"/>
          </p:cNvSpPr>
          <p:nvPr/>
        </p:nvSpPr>
        <p:spPr bwMode="auto">
          <a:xfrm>
            <a:off x="44465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57" name="Line 28"/>
          <p:cNvSpPr>
            <a:spLocks noChangeShapeType="1"/>
          </p:cNvSpPr>
          <p:nvPr/>
        </p:nvSpPr>
        <p:spPr bwMode="auto">
          <a:xfrm>
            <a:off x="45989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58" name="Line 29"/>
          <p:cNvSpPr>
            <a:spLocks noChangeShapeType="1"/>
          </p:cNvSpPr>
          <p:nvPr/>
        </p:nvSpPr>
        <p:spPr bwMode="auto">
          <a:xfrm>
            <a:off x="47513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59" name="Line 30"/>
          <p:cNvSpPr>
            <a:spLocks noChangeShapeType="1"/>
          </p:cNvSpPr>
          <p:nvPr/>
        </p:nvSpPr>
        <p:spPr bwMode="auto">
          <a:xfrm>
            <a:off x="49037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60" name="Line 31"/>
          <p:cNvSpPr>
            <a:spLocks noChangeShapeType="1"/>
          </p:cNvSpPr>
          <p:nvPr/>
        </p:nvSpPr>
        <p:spPr bwMode="auto">
          <a:xfrm>
            <a:off x="50561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61" name="Line 32"/>
          <p:cNvSpPr>
            <a:spLocks noChangeShapeType="1"/>
          </p:cNvSpPr>
          <p:nvPr/>
        </p:nvSpPr>
        <p:spPr bwMode="auto">
          <a:xfrm>
            <a:off x="52085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62" name="Line 33"/>
          <p:cNvSpPr>
            <a:spLocks noChangeShapeType="1"/>
          </p:cNvSpPr>
          <p:nvPr/>
        </p:nvSpPr>
        <p:spPr bwMode="auto">
          <a:xfrm>
            <a:off x="53609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63" name="Line 34"/>
          <p:cNvSpPr>
            <a:spLocks noChangeShapeType="1"/>
          </p:cNvSpPr>
          <p:nvPr/>
        </p:nvSpPr>
        <p:spPr bwMode="auto">
          <a:xfrm>
            <a:off x="55133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64" name="Line 35"/>
          <p:cNvSpPr>
            <a:spLocks noChangeShapeType="1"/>
          </p:cNvSpPr>
          <p:nvPr/>
        </p:nvSpPr>
        <p:spPr bwMode="auto">
          <a:xfrm>
            <a:off x="56657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65" name="Line 36"/>
          <p:cNvSpPr>
            <a:spLocks noChangeShapeType="1"/>
          </p:cNvSpPr>
          <p:nvPr/>
        </p:nvSpPr>
        <p:spPr bwMode="auto">
          <a:xfrm>
            <a:off x="58181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66" name="Line 37"/>
          <p:cNvSpPr>
            <a:spLocks noChangeShapeType="1"/>
          </p:cNvSpPr>
          <p:nvPr/>
        </p:nvSpPr>
        <p:spPr bwMode="auto">
          <a:xfrm>
            <a:off x="59705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67" name="Line 38"/>
          <p:cNvSpPr>
            <a:spLocks noChangeShapeType="1"/>
          </p:cNvSpPr>
          <p:nvPr/>
        </p:nvSpPr>
        <p:spPr bwMode="auto">
          <a:xfrm>
            <a:off x="61229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68" name="Line 39"/>
          <p:cNvSpPr>
            <a:spLocks noChangeShapeType="1"/>
          </p:cNvSpPr>
          <p:nvPr/>
        </p:nvSpPr>
        <p:spPr bwMode="auto">
          <a:xfrm>
            <a:off x="6275388" y="23796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69" name="Line 40"/>
          <p:cNvSpPr>
            <a:spLocks noChangeShapeType="1"/>
          </p:cNvSpPr>
          <p:nvPr/>
        </p:nvSpPr>
        <p:spPr bwMode="auto">
          <a:xfrm>
            <a:off x="6427788" y="2379663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70" name="Line 41"/>
          <p:cNvSpPr>
            <a:spLocks noChangeShapeType="1"/>
          </p:cNvSpPr>
          <p:nvPr/>
        </p:nvSpPr>
        <p:spPr bwMode="auto">
          <a:xfrm>
            <a:off x="6580188" y="2379663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grpSp>
        <p:nvGrpSpPr>
          <p:cNvPr id="69671" name="Group 42"/>
          <p:cNvGrpSpPr>
            <a:grpSpLocks/>
          </p:cNvGrpSpPr>
          <p:nvPr/>
        </p:nvGrpSpPr>
        <p:grpSpPr bwMode="auto">
          <a:xfrm>
            <a:off x="2998788" y="5584825"/>
            <a:ext cx="5029200" cy="609600"/>
            <a:chOff x="912" y="1104"/>
            <a:chExt cx="3648" cy="384"/>
          </a:xfrm>
        </p:grpSpPr>
        <p:sp>
          <p:nvSpPr>
            <p:cNvPr id="69735" name="Line 43"/>
            <p:cNvSpPr>
              <a:spLocks noChangeShapeType="1"/>
            </p:cNvSpPr>
            <p:nvPr/>
          </p:nvSpPr>
          <p:spPr bwMode="auto">
            <a:xfrm>
              <a:off x="912" y="1104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9736" name="Line 44"/>
            <p:cNvSpPr>
              <a:spLocks noChangeShapeType="1"/>
            </p:cNvSpPr>
            <p:nvPr/>
          </p:nvSpPr>
          <p:spPr bwMode="auto">
            <a:xfrm>
              <a:off x="912" y="1488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9737" name="Line 45"/>
            <p:cNvSpPr>
              <a:spLocks noChangeShapeType="1"/>
            </p:cNvSpPr>
            <p:nvPr/>
          </p:nvSpPr>
          <p:spPr bwMode="auto">
            <a:xfrm flipH="1">
              <a:off x="4224" y="1104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9738" name="Line 46"/>
            <p:cNvSpPr>
              <a:spLocks noChangeShapeType="1"/>
            </p:cNvSpPr>
            <p:nvPr/>
          </p:nvSpPr>
          <p:spPr bwMode="auto">
            <a:xfrm flipH="1">
              <a:off x="4224" y="1488"/>
              <a:ext cx="336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sp>
        <p:nvSpPr>
          <p:cNvPr id="69672" name="Line 47"/>
          <p:cNvSpPr>
            <a:spLocks noChangeShapeType="1"/>
          </p:cNvSpPr>
          <p:nvPr/>
        </p:nvSpPr>
        <p:spPr bwMode="auto">
          <a:xfrm>
            <a:off x="29987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73" name="Line 48"/>
          <p:cNvSpPr>
            <a:spLocks noChangeShapeType="1"/>
          </p:cNvSpPr>
          <p:nvPr/>
        </p:nvSpPr>
        <p:spPr bwMode="auto">
          <a:xfrm>
            <a:off x="31511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74" name="Line 49"/>
          <p:cNvSpPr>
            <a:spLocks noChangeShapeType="1"/>
          </p:cNvSpPr>
          <p:nvPr/>
        </p:nvSpPr>
        <p:spPr bwMode="auto">
          <a:xfrm>
            <a:off x="33035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75" name="Line 50"/>
          <p:cNvSpPr>
            <a:spLocks noChangeShapeType="1"/>
          </p:cNvSpPr>
          <p:nvPr/>
        </p:nvSpPr>
        <p:spPr bwMode="auto">
          <a:xfrm>
            <a:off x="34559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76" name="Line 51"/>
          <p:cNvSpPr>
            <a:spLocks noChangeShapeType="1"/>
          </p:cNvSpPr>
          <p:nvPr/>
        </p:nvSpPr>
        <p:spPr bwMode="auto">
          <a:xfrm>
            <a:off x="36083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77" name="Line 52"/>
          <p:cNvSpPr>
            <a:spLocks noChangeShapeType="1"/>
          </p:cNvSpPr>
          <p:nvPr/>
        </p:nvSpPr>
        <p:spPr bwMode="auto">
          <a:xfrm>
            <a:off x="37607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78" name="Line 53"/>
          <p:cNvSpPr>
            <a:spLocks noChangeShapeType="1"/>
          </p:cNvSpPr>
          <p:nvPr/>
        </p:nvSpPr>
        <p:spPr bwMode="auto">
          <a:xfrm>
            <a:off x="39131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79" name="Line 54"/>
          <p:cNvSpPr>
            <a:spLocks noChangeShapeType="1"/>
          </p:cNvSpPr>
          <p:nvPr/>
        </p:nvSpPr>
        <p:spPr bwMode="auto">
          <a:xfrm>
            <a:off x="40655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80" name="Line 55"/>
          <p:cNvSpPr>
            <a:spLocks noChangeShapeType="1"/>
          </p:cNvSpPr>
          <p:nvPr/>
        </p:nvSpPr>
        <p:spPr bwMode="auto">
          <a:xfrm>
            <a:off x="42179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81" name="Line 56"/>
          <p:cNvSpPr>
            <a:spLocks noChangeShapeType="1"/>
          </p:cNvSpPr>
          <p:nvPr/>
        </p:nvSpPr>
        <p:spPr bwMode="auto">
          <a:xfrm>
            <a:off x="43703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82" name="Line 57"/>
          <p:cNvSpPr>
            <a:spLocks noChangeShapeType="1"/>
          </p:cNvSpPr>
          <p:nvPr/>
        </p:nvSpPr>
        <p:spPr bwMode="auto">
          <a:xfrm>
            <a:off x="45227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83" name="Line 58"/>
          <p:cNvSpPr>
            <a:spLocks noChangeShapeType="1"/>
          </p:cNvSpPr>
          <p:nvPr/>
        </p:nvSpPr>
        <p:spPr bwMode="auto">
          <a:xfrm>
            <a:off x="46751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84" name="Line 59"/>
          <p:cNvSpPr>
            <a:spLocks noChangeShapeType="1"/>
          </p:cNvSpPr>
          <p:nvPr/>
        </p:nvSpPr>
        <p:spPr bwMode="auto">
          <a:xfrm>
            <a:off x="48275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85" name="Line 60"/>
          <p:cNvSpPr>
            <a:spLocks noChangeShapeType="1"/>
          </p:cNvSpPr>
          <p:nvPr/>
        </p:nvSpPr>
        <p:spPr bwMode="auto">
          <a:xfrm>
            <a:off x="49799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86" name="Line 61"/>
          <p:cNvSpPr>
            <a:spLocks noChangeShapeType="1"/>
          </p:cNvSpPr>
          <p:nvPr/>
        </p:nvSpPr>
        <p:spPr bwMode="auto">
          <a:xfrm>
            <a:off x="51323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87" name="Line 62"/>
          <p:cNvSpPr>
            <a:spLocks noChangeShapeType="1"/>
          </p:cNvSpPr>
          <p:nvPr/>
        </p:nvSpPr>
        <p:spPr bwMode="auto">
          <a:xfrm>
            <a:off x="52847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88" name="Line 63"/>
          <p:cNvSpPr>
            <a:spLocks noChangeShapeType="1"/>
          </p:cNvSpPr>
          <p:nvPr/>
        </p:nvSpPr>
        <p:spPr bwMode="auto">
          <a:xfrm>
            <a:off x="54371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89" name="Line 64"/>
          <p:cNvSpPr>
            <a:spLocks noChangeShapeType="1"/>
          </p:cNvSpPr>
          <p:nvPr/>
        </p:nvSpPr>
        <p:spPr bwMode="auto">
          <a:xfrm>
            <a:off x="55895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90" name="Line 65"/>
          <p:cNvSpPr>
            <a:spLocks noChangeShapeType="1"/>
          </p:cNvSpPr>
          <p:nvPr/>
        </p:nvSpPr>
        <p:spPr bwMode="auto">
          <a:xfrm>
            <a:off x="57419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91" name="Line 66"/>
          <p:cNvSpPr>
            <a:spLocks noChangeShapeType="1"/>
          </p:cNvSpPr>
          <p:nvPr/>
        </p:nvSpPr>
        <p:spPr bwMode="auto">
          <a:xfrm>
            <a:off x="58943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92" name="Line 67"/>
          <p:cNvSpPr>
            <a:spLocks noChangeShapeType="1"/>
          </p:cNvSpPr>
          <p:nvPr/>
        </p:nvSpPr>
        <p:spPr bwMode="auto">
          <a:xfrm>
            <a:off x="60467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93" name="Line 68"/>
          <p:cNvSpPr>
            <a:spLocks noChangeShapeType="1"/>
          </p:cNvSpPr>
          <p:nvPr/>
        </p:nvSpPr>
        <p:spPr bwMode="auto">
          <a:xfrm>
            <a:off x="61991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94" name="Line 69"/>
          <p:cNvSpPr>
            <a:spLocks noChangeShapeType="1"/>
          </p:cNvSpPr>
          <p:nvPr/>
        </p:nvSpPr>
        <p:spPr bwMode="auto">
          <a:xfrm>
            <a:off x="63515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95" name="Line 70"/>
          <p:cNvSpPr>
            <a:spLocks noChangeShapeType="1"/>
          </p:cNvSpPr>
          <p:nvPr/>
        </p:nvSpPr>
        <p:spPr bwMode="auto">
          <a:xfrm>
            <a:off x="65039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96" name="Line 71"/>
          <p:cNvSpPr>
            <a:spLocks noChangeShapeType="1"/>
          </p:cNvSpPr>
          <p:nvPr/>
        </p:nvSpPr>
        <p:spPr bwMode="auto">
          <a:xfrm>
            <a:off x="66563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97" name="Line 72"/>
          <p:cNvSpPr>
            <a:spLocks noChangeShapeType="1"/>
          </p:cNvSpPr>
          <p:nvPr/>
        </p:nvSpPr>
        <p:spPr bwMode="auto">
          <a:xfrm>
            <a:off x="68087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98" name="Line 73"/>
          <p:cNvSpPr>
            <a:spLocks noChangeShapeType="1"/>
          </p:cNvSpPr>
          <p:nvPr/>
        </p:nvSpPr>
        <p:spPr bwMode="auto">
          <a:xfrm>
            <a:off x="69611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699" name="Line 74"/>
          <p:cNvSpPr>
            <a:spLocks noChangeShapeType="1"/>
          </p:cNvSpPr>
          <p:nvPr/>
        </p:nvSpPr>
        <p:spPr bwMode="auto">
          <a:xfrm>
            <a:off x="71135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00" name="Line 75"/>
          <p:cNvSpPr>
            <a:spLocks noChangeShapeType="1"/>
          </p:cNvSpPr>
          <p:nvPr/>
        </p:nvSpPr>
        <p:spPr bwMode="auto">
          <a:xfrm>
            <a:off x="72659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01" name="Line 76"/>
          <p:cNvSpPr>
            <a:spLocks noChangeShapeType="1"/>
          </p:cNvSpPr>
          <p:nvPr/>
        </p:nvSpPr>
        <p:spPr bwMode="auto">
          <a:xfrm>
            <a:off x="74183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02" name="Line 77"/>
          <p:cNvSpPr>
            <a:spLocks noChangeShapeType="1"/>
          </p:cNvSpPr>
          <p:nvPr/>
        </p:nvSpPr>
        <p:spPr bwMode="auto">
          <a:xfrm>
            <a:off x="7570788" y="55848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03" name="Line 78"/>
          <p:cNvSpPr>
            <a:spLocks noChangeShapeType="1"/>
          </p:cNvSpPr>
          <p:nvPr/>
        </p:nvSpPr>
        <p:spPr bwMode="auto">
          <a:xfrm>
            <a:off x="7723188" y="5584825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04" name="Line 79"/>
          <p:cNvSpPr>
            <a:spLocks noChangeShapeType="1"/>
          </p:cNvSpPr>
          <p:nvPr/>
        </p:nvSpPr>
        <p:spPr bwMode="auto">
          <a:xfrm>
            <a:off x="7875588" y="5584825"/>
            <a:ext cx="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06" name="Text Box 81"/>
          <p:cNvSpPr txBox="1">
            <a:spLocks noChangeArrowheads="1"/>
          </p:cNvSpPr>
          <p:nvPr/>
        </p:nvSpPr>
        <p:spPr bwMode="auto">
          <a:xfrm>
            <a:off x="1634904" y="5638800"/>
            <a:ext cx="11082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2400" b="0" dirty="0">
                <a:latin typeface="+mn-lt"/>
              </a:rPr>
              <a:t>Host B</a:t>
            </a:r>
          </a:p>
        </p:txBody>
      </p:sp>
      <p:sp>
        <p:nvSpPr>
          <p:cNvPr id="69707" name="Rectangle 82"/>
          <p:cNvSpPr>
            <a:spLocks noChangeArrowheads="1"/>
          </p:cNvSpPr>
          <p:nvPr/>
        </p:nvSpPr>
        <p:spPr bwMode="auto">
          <a:xfrm>
            <a:off x="2613025" y="3451225"/>
            <a:ext cx="12192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69708" name="Rectangle 83"/>
          <p:cNvSpPr>
            <a:spLocks noChangeArrowheads="1"/>
          </p:cNvSpPr>
          <p:nvPr/>
        </p:nvSpPr>
        <p:spPr bwMode="auto">
          <a:xfrm>
            <a:off x="3913188" y="4746625"/>
            <a:ext cx="12192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69709" name="Line 84"/>
          <p:cNvSpPr>
            <a:spLocks noChangeShapeType="1"/>
          </p:cNvSpPr>
          <p:nvPr/>
        </p:nvSpPr>
        <p:spPr bwMode="auto">
          <a:xfrm>
            <a:off x="2617788" y="3832225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10" name="Line 85"/>
          <p:cNvSpPr>
            <a:spLocks noChangeShapeType="1"/>
          </p:cNvSpPr>
          <p:nvPr/>
        </p:nvSpPr>
        <p:spPr bwMode="auto">
          <a:xfrm>
            <a:off x="3836988" y="3832225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11" name="Line 86"/>
          <p:cNvSpPr>
            <a:spLocks noChangeShapeType="1"/>
          </p:cNvSpPr>
          <p:nvPr/>
        </p:nvSpPr>
        <p:spPr bwMode="auto">
          <a:xfrm>
            <a:off x="2689225" y="29940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12" name="Line 87"/>
          <p:cNvSpPr>
            <a:spLocks noChangeShapeType="1"/>
          </p:cNvSpPr>
          <p:nvPr/>
        </p:nvSpPr>
        <p:spPr bwMode="auto">
          <a:xfrm>
            <a:off x="2841625" y="29940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13" name="Line 88"/>
          <p:cNvSpPr>
            <a:spLocks noChangeShapeType="1"/>
          </p:cNvSpPr>
          <p:nvPr/>
        </p:nvSpPr>
        <p:spPr bwMode="auto">
          <a:xfrm>
            <a:off x="2994025" y="29940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14" name="Line 89"/>
          <p:cNvSpPr>
            <a:spLocks noChangeShapeType="1"/>
          </p:cNvSpPr>
          <p:nvPr/>
        </p:nvSpPr>
        <p:spPr bwMode="auto">
          <a:xfrm>
            <a:off x="3146425" y="29940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15" name="Line 90"/>
          <p:cNvSpPr>
            <a:spLocks noChangeShapeType="1"/>
          </p:cNvSpPr>
          <p:nvPr/>
        </p:nvSpPr>
        <p:spPr bwMode="auto">
          <a:xfrm>
            <a:off x="3756025" y="29940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16" name="Line 91"/>
          <p:cNvSpPr>
            <a:spLocks noChangeShapeType="1"/>
          </p:cNvSpPr>
          <p:nvPr/>
        </p:nvSpPr>
        <p:spPr bwMode="auto">
          <a:xfrm>
            <a:off x="3298825" y="3217863"/>
            <a:ext cx="304800" cy="4762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17" name="Line 92"/>
          <p:cNvSpPr>
            <a:spLocks noChangeShapeType="1"/>
          </p:cNvSpPr>
          <p:nvPr/>
        </p:nvSpPr>
        <p:spPr bwMode="auto">
          <a:xfrm>
            <a:off x="3989388" y="51276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18" name="Line 93"/>
          <p:cNvSpPr>
            <a:spLocks noChangeShapeType="1"/>
          </p:cNvSpPr>
          <p:nvPr/>
        </p:nvSpPr>
        <p:spPr bwMode="auto">
          <a:xfrm>
            <a:off x="4141788" y="51276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19" name="Line 94"/>
          <p:cNvSpPr>
            <a:spLocks noChangeShapeType="1"/>
          </p:cNvSpPr>
          <p:nvPr/>
        </p:nvSpPr>
        <p:spPr bwMode="auto">
          <a:xfrm>
            <a:off x="4294188" y="51276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20" name="Line 95"/>
          <p:cNvSpPr>
            <a:spLocks noChangeShapeType="1"/>
          </p:cNvSpPr>
          <p:nvPr/>
        </p:nvSpPr>
        <p:spPr bwMode="auto">
          <a:xfrm>
            <a:off x="4446588" y="51276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21" name="Line 96"/>
          <p:cNvSpPr>
            <a:spLocks noChangeShapeType="1"/>
          </p:cNvSpPr>
          <p:nvPr/>
        </p:nvSpPr>
        <p:spPr bwMode="auto">
          <a:xfrm>
            <a:off x="5056188" y="51276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22" name="Line 97"/>
          <p:cNvSpPr>
            <a:spLocks noChangeShapeType="1"/>
          </p:cNvSpPr>
          <p:nvPr/>
        </p:nvSpPr>
        <p:spPr bwMode="auto">
          <a:xfrm>
            <a:off x="4598988" y="5351463"/>
            <a:ext cx="304800" cy="4762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9723" name="Text Box 98"/>
          <p:cNvSpPr txBox="1">
            <a:spLocks noChangeArrowheads="1"/>
          </p:cNvSpPr>
          <p:nvPr/>
        </p:nvSpPr>
        <p:spPr bwMode="auto">
          <a:xfrm>
            <a:off x="2663825" y="3454400"/>
            <a:ext cx="11938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800" b="0">
                <a:solidFill>
                  <a:srgbClr val="000099"/>
                </a:solidFill>
                <a:latin typeface="+mn-lt"/>
              </a:rPr>
              <a:t>TCP Data</a:t>
            </a:r>
          </a:p>
        </p:txBody>
      </p:sp>
      <p:sp>
        <p:nvSpPr>
          <p:cNvPr id="69724" name="Text Box 99"/>
          <p:cNvSpPr txBox="1">
            <a:spLocks noChangeArrowheads="1"/>
          </p:cNvSpPr>
          <p:nvPr/>
        </p:nvSpPr>
        <p:spPr bwMode="auto">
          <a:xfrm>
            <a:off x="3887788" y="4764088"/>
            <a:ext cx="11938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800" b="0">
                <a:solidFill>
                  <a:srgbClr val="000099"/>
                </a:solidFill>
                <a:latin typeface="+mn-lt"/>
              </a:rPr>
              <a:t>TCP Data</a:t>
            </a:r>
          </a:p>
        </p:txBody>
      </p:sp>
      <p:sp>
        <p:nvSpPr>
          <p:cNvPr id="69725" name="Rectangle 100"/>
          <p:cNvSpPr>
            <a:spLocks noChangeArrowheads="1"/>
          </p:cNvSpPr>
          <p:nvPr/>
        </p:nvSpPr>
        <p:spPr bwMode="auto">
          <a:xfrm>
            <a:off x="3836988" y="3451225"/>
            <a:ext cx="5334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69726" name="Text Box 101"/>
          <p:cNvSpPr txBox="1">
            <a:spLocks noChangeArrowheads="1"/>
          </p:cNvSpPr>
          <p:nvPr/>
        </p:nvSpPr>
        <p:spPr bwMode="auto">
          <a:xfrm>
            <a:off x="3913188" y="3424238"/>
            <a:ext cx="5180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 dirty="0">
                <a:solidFill>
                  <a:srgbClr val="000099"/>
                </a:solidFill>
                <a:latin typeface="+mn-lt"/>
              </a:rPr>
              <a:t>TCP </a:t>
            </a:r>
          </a:p>
          <a:p>
            <a:pPr algn="l"/>
            <a:r>
              <a:rPr lang="en-US" sz="1200" b="0" dirty="0">
                <a:solidFill>
                  <a:srgbClr val="000099"/>
                </a:solidFill>
                <a:latin typeface="+mn-lt"/>
              </a:rPr>
              <a:t>HDR</a:t>
            </a:r>
          </a:p>
        </p:txBody>
      </p:sp>
      <p:sp>
        <p:nvSpPr>
          <p:cNvPr id="69727" name="Rectangle 102"/>
          <p:cNvSpPr>
            <a:spLocks noChangeArrowheads="1"/>
          </p:cNvSpPr>
          <p:nvPr/>
        </p:nvSpPr>
        <p:spPr bwMode="auto">
          <a:xfrm>
            <a:off x="5132388" y="4746625"/>
            <a:ext cx="5334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69728" name="Text Box 103"/>
          <p:cNvSpPr txBox="1">
            <a:spLocks noChangeArrowheads="1"/>
          </p:cNvSpPr>
          <p:nvPr/>
        </p:nvSpPr>
        <p:spPr bwMode="auto">
          <a:xfrm>
            <a:off x="5159375" y="4746625"/>
            <a:ext cx="5180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200" b="0" dirty="0">
                <a:solidFill>
                  <a:srgbClr val="000099"/>
                </a:solidFill>
                <a:latin typeface="+mn-lt"/>
              </a:rPr>
              <a:t>TCP </a:t>
            </a:r>
          </a:p>
          <a:p>
            <a:pPr algn="l"/>
            <a:r>
              <a:rPr lang="en-US" sz="1200" b="0" dirty="0">
                <a:solidFill>
                  <a:srgbClr val="000099"/>
                </a:solidFill>
                <a:latin typeface="+mn-lt"/>
              </a:rPr>
              <a:t>HDR</a:t>
            </a:r>
          </a:p>
        </p:txBody>
      </p:sp>
      <p:sp>
        <p:nvSpPr>
          <p:cNvPr id="69732" name="Rectangle 107"/>
          <p:cNvSpPr>
            <a:spLocks noChangeArrowheads="1"/>
          </p:cNvSpPr>
          <p:nvPr/>
        </p:nvSpPr>
        <p:spPr bwMode="auto">
          <a:xfrm>
            <a:off x="3913188" y="5584825"/>
            <a:ext cx="1219200" cy="6096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951404" name="AutoShape 108"/>
          <p:cNvSpPr>
            <a:spLocks noChangeArrowheads="1"/>
          </p:cNvSpPr>
          <p:nvPr/>
        </p:nvSpPr>
        <p:spPr bwMode="auto">
          <a:xfrm>
            <a:off x="5741988" y="3756025"/>
            <a:ext cx="3325812" cy="914400"/>
          </a:xfrm>
          <a:prstGeom prst="wedgeRectCallout">
            <a:avLst>
              <a:gd name="adj1" fmla="val -66104"/>
              <a:gd name="adj2" fmla="val 149045"/>
            </a:avLst>
          </a:prstGeom>
          <a:solidFill>
            <a:srgbClr val="FFCB05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1800" b="0" dirty="0">
                <a:solidFill>
                  <a:srgbClr val="0000FF"/>
                </a:solidFill>
                <a:latin typeface="+mn-lt"/>
              </a:rPr>
              <a:t>ACK sequence number </a:t>
            </a:r>
          </a:p>
          <a:p>
            <a:pPr algn="ctr" eaLnBrk="0" hangingPunct="0"/>
            <a:r>
              <a:rPr lang="en-US" sz="1800" b="0" dirty="0">
                <a:solidFill>
                  <a:srgbClr val="0000FF"/>
                </a:solidFill>
                <a:latin typeface="+mn-lt"/>
              </a:rPr>
              <a:t>= next expected byte</a:t>
            </a:r>
          </a:p>
          <a:p>
            <a:pPr algn="ctr" eaLnBrk="0" hangingPunct="0"/>
            <a:r>
              <a:rPr lang="en-US" sz="1800" b="0" dirty="0">
                <a:solidFill>
                  <a:srgbClr val="0000FF"/>
                </a:solidFill>
                <a:latin typeface="+mn-lt"/>
              </a:rPr>
              <a:t>= </a:t>
            </a:r>
            <a:r>
              <a:rPr lang="en-US" sz="1800" b="0" dirty="0" err="1">
                <a:solidFill>
                  <a:srgbClr val="0000FF"/>
                </a:solidFill>
                <a:latin typeface="+mn-lt"/>
              </a:rPr>
              <a:t>seqno</a:t>
            </a:r>
            <a:r>
              <a:rPr lang="en-US" sz="1800" b="0" dirty="0">
                <a:solidFill>
                  <a:srgbClr val="0000FF"/>
                </a:solidFill>
                <a:latin typeface="+mn-lt"/>
              </a:rPr>
              <a:t> + length(data)</a:t>
            </a:r>
          </a:p>
        </p:txBody>
      </p:sp>
      <p:sp>
        <p:nvSpPr>
          <p:cNvPr id="951405" name="Rectangle 109"/>
          <p:cNvSpPr>
            <a:spLocks noChangeArrowheads="1"/>
          </p:cNvSpPr>
          <p:nvPr/>
        </p:nvSpPr>
        <p:spPr bwMode="auto">
          <a:xfrm>
            <a:off x="5132388" y="5584825"/>
            <a:ext cx="152400" cy="609600"/>
          </a:xfrm>
          <a:prstGeom prst="rect">
            <a:avLst/>
          </a:prstGeom>
          <a:solidFill>
            <a:srgbClr val="FFCB05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111" name="Text Box 80"/>
          <p:cNvSpPr txBox="1">
            <a:spLocks noChangeArrowheads="1"/>
          </p:cNvSpPr>
          <p:nvPr/>
        </p:nvSpPr>
        <p:spPr bwMode="auto">
          <a:xfrm>
            <a:off x="263525" y="2362200"/>
            <a:ext cx="10951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2400" b="0" dirty="0">
                <a:latin typeface="+mn-lt"/>
              </a:rPr>
              <a:t>Host A</a:t>
            </a:r>
          </a:p>
        </p:txBody>
      </p:sp>
      <p:sp>
        <p:nvSpPr>
          <p:cNvPr id="112" name="Text Box 104"/>
          <p:cNvSpPr txBox="1">
            <a:spLocks noChangeArrowheads="1"/>
          </p:cNvSpPr>
          <p:nvPr/>
        </p:nvSpPr>
        <p:spPr bwMode="auto">
          <a:xfrm>
            <a:off x="762000" y="1524000"/>
            <a:ext cx="33137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800" b="0" dirty="0">
                <a:solidFill>
                  <a:srgbClr val="000099"/>
                </a:solidFill>
                <a:latin typeface="+mn-lt"/>
              </a:rPr>
              <a:t>ISN (Initial Sequence Number)</a:t>
            </a:r>
          </a:p>
        </p:txBody>
      </p:sp>
      <p:sp>
        <p:nvSpPr>
          <p:cNvPr id="113" name="AutoShape 106"/>
          <p:cNvSpPr>
            <a:spLocks noChangeArrowheads="1"/>
          </p:cNvSpPr>
          <p:nvPr/>
        </p:nvSpPr>
        <p:spPr bwMode="auto">
          <a:xfrm>
            <a:off x="76200" y="3352800"/>
            <a:ext cx="2362200" cy="914400"/>
          </a:xfrm>
          <a:prstGeom prst="wedgeRectCallout">
            <a:avLst>
              <a:gd name="adj1" fmla="val 61239"/>
              <a:gd name="adj2" fmla="val -89071"/>
            </a:avLst>
          </a:prstGeom>
          <a:solidFill>
            <a:srgbClr val="FFCB05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1800" b="0" dirty="0">
                <a:solidFill>
                  <a:srgbClr val="0000FF"/>
                </a:solidFill>
                <a:latin typeface="+mn-lt"/>
                <a:cs typeface="Courier"/>
              </a:rPr>
              <a:t>Sequence number  </a:t>
            </a:r>
            <a:br>
              <a:rPr lang="en-US" sz="1800" b="0" dirty="0">
                <a:solidFill>
                  <a:srgbClr val="0000FF"/>
                </a:solidFill>
                <a:latin typeface="+mn-lt"/>
                <a:cs typeface="Courier"/>
              </a:rPr>
            </a:br>
            <a:r>
              <a:rPr lang="en-US" sz="1800" b="0" dirty="0">
                <a:solidFill>
                  <a:srgbClr val="0000FF"/>
                </a:solidFill>
                <a:latin typeface="+mn-lt"/>
                <a:cs typeface="Courier"/>
              </a:rPr>
              <a:t>= 1</a:t>
            </a:r>
            <a:r>
              <a:rPr lang="en-US" sz="1800" b="0" baseline="30000" dirty="0">
                <a:solidFill>
                  <a:srgbClr val="0000FF"/>
                </a:solidFill>
                <a:latin typeface="+mn-lt"/>
                <a:cs typeface="Courier"/>
              </a:rPr>
              <a:t>st</a:t>
            </a:r>
            <a:r>
              <a:rPr lang="en-US" sz="1800" b="0" dirty="0">
                <a:solidFill>
                  <a:srgbClr val="0000FF"/>
                </a:solidFill>
                <a:latin typeface="+mn-lt"/>
                <a:cs typeface="Courier"/>
              </a:rPr>
              <a:t> byte in segment = ISN + k</a:t>
            </a:r>
          </a:p>
        </p:txBody>
      </p:sp>
      <p:cxnSp>
        <p:nvCxnSpPr>
          <p:cNvPr id="114" name="Straight Arrow Connector 113"/>
          <p:cNvCxnSpPr/>
          <p:nvPr/>
        </p:nvCxnSpPr>
        <p:spPr bwMode="auto">
          <a:xfrm>
            <a:off x="1676400" y="2209800"/>
            <a:ext cx="914400" cy="0"/>
          </a:xfrm>
          <a:prstGeom prst="straightConnector1">
            <a:avLst/>
          </a:prstGeom>
          <a:noFill/>
          <a:ln w="3175" cap="flat" cmpd="sng" algn="ctr">
            <a:solidFill>
              <a:srgbClr val="0000FF"/>
            </a:solidFill>
            <a:prstDash val="solid"/>
            <a:round/>
            <a:headEnd type="arrow"/>
            <a:tailEnd type="arrow"/>
          </a:ln>
          <a:effectLst/>
        </p:spPr>
      </p:cxnSp>
      <p:sp>
        <p:nvSpPr>
          <p:cNvPr id="115" name="Line 105"/>
          <p:cNvSpPr>
            <a:spLocks noChangeShapeType="1"/>
          </p:cNvSpPr>
          <p:nvPr/>
        </p:nvSpPr>
        <p:spPr bwMode="auto">
          <a:xfrm>
            <a:off x="1676400" y="1905000"/>
            <a:ext cx="26988" cy="479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7" name="TextBox 116"/>
          <p:cNvSpPr txBox="1"/>
          <p:nvPr/>
        </p:nvSpPr>
        <p:spPr>
          <a:xfrm>
            <a:off x="1979687" y="1828800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k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8724CA6-1C4E-F7A7-9896-C0D83769C4CB}"/>
                  </a:ext>
                </a:extLst>
              </p14:cNvPr>
              <p14:cNvContentPartPr/>
              <p14:nvPr/>
            </p14:nvContentPartPr>
            <p14:xfrm>
              <a:off x="824760" y="3937320"/>
              <a:ext cx="7712640" cy="822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8724CA6-1C4E-F7A7-9896-C0D83769C4C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5400" y="3927960"/>
                <a:ext cx="7731360" cy="84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5324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1404" grpId="0" animBg="1"/>
      <p:bldP spid="95140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the TCP header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36869" name="Rectangle 4"/>
          <p:cNvSpPr>
            <a:spLocks noChangeArrowheads="1"/>
          </p:cNvSpPr>
          <p:nvPr/>
        </p:nvSpPr>
        <p:spPr bwMode="auto">
          <a:xfrm>
            <a:off x="3335338" y="1828800"/>
            <a:ext cx="23622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0" name="Text Box 5"/>
          <p:cNvSpPr txBox="1">
            <a:spLocks noChangeArrowheads="1"/>
          </p:cNvSpPr>
          <p:nvPr/>
        </p:nvSpPr>
        <p:spPr bwMode="auto">
          <a:xfrm>
            <a:off x="3716338" y="1874838"/>
            <a:ext cx="1497012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>
                <a:solidFill>
                  <a:srgbClr val="0000FF"/>
                </a:solidFill>
                <a:latin typeface="Arial" charset="0"/>
              </a:rPr>
              <a:t>Source port</a:t>
            </a:r>
          </a:p>
        </p:txBody>
      </p:sp>
      <p:sp>
        <p:nvSpPr>
          <p:cNvPr id="36871" name="Rectangle 6"/>
          <p:cNvSpPr>
            <a:spLocks noChangeArrowheads="1"/>
          </p:cNvSpPr>
          <p:nvPr/>
        </p:nvSpPr>
        <p:spPr bwMode="auto">
          <a:xfrm>
            <a:off x="5697538" y="1828800"/>
            <a:ext cx="25146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2" name="Text Box 7"/>
          <p:cNvSpPr txBox="1">
            <a:spLocks noChangeArrowheads="1"/>
          </p:cNvSpPr>
          <p:nvPr/>
        </p:nvSpPr>
        <p:spPr bwMode="auto">
          <a:xfrm>
            <a:off x="5849938" y="1874838"/>
            <a:ext cx="1963737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>
                <a:solidFill>
                  <a:srgbClr val="0000FF"/>
                </a:solidFill>
                <a:latin typeface="Arial" charset="0"/>
              </a:rPr>
              <a:t>Destination port</a:t>
            </a:r>
          </a:p>
        </p:txBody>
      </p:sp>
      <p:sp>
        <p:nvSpPr>
          <p:cNvPr id="36873" name="Rectangle 8"/>
          <p:cNvSpPr>
            <a:spLocks noChangeArrowheads="1"/>
          </p:cNvSpPr>
          <p:nvPr/>
        </p:nvSpPr>
        <p:spPr bwMode="auto">
          <a:xfrm>
            <a:off x="3335338" y="2362200"/>
            <a:ext cx="48768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4" name="Text Box 9"/>
          <p:cNvSpPr txBox="1">
            <a:spLocks noChangeArrowheads="1"/>
          </p:cNvSpPr>
          <p:nvPr/>
        </p:nvSpPr>
        <p:spPr bwMode="auto">
          <a:xfrm>
            <a:off x="4630738" y="2408238"/>
            <a:ext cx="2260600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>
                <a:solidFill>
                  <a:srgbClr val="0000FF"/>
                </a:solidFill>
                <a:latin typeface="Arial" charset="0"/>
              </a:rPr>
              <a:t>Sequence number</a:t>
            </a:r>
          </a:p>
        </p:txBody>
      </p:sp>
      <p:sp>
        <p:nvSpPr>
          <p:cNvPr id="36885" name="Rectangle 20"/>
          <p:cNvSpPr>
            <a:spLocks noChangeArrowheads="1"/>
          </p:cNvSpPr>
          <p:nvPr/>
        </p:nvSpPr>
        <p:spPr bwMode="auto">
          <a:xfrm>
            <a:off x="3335338" y="38100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87" name="Text Box 22"/>
          <p:cNvSpPr txBox="1">
            <a:spLocks noChangeArrowheads="1"/>
          </p:cNvSpPr>
          <p:nvPr/>
        </p:nvSpPr>
        <p:spPr bwMode="auto">
          <a:xfrm>
            <a:off x="3700463" y="3897313"/>
            <a:ext cx="1384300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Checksum</a:t>
            </a:r>
          </a:p>
        </p:txBody>
      </p:sp>
      <p:sp>
        <p:nvSpPr>
          <p:cNvPr id="36891" name="Rectangle 26"/>
          <p:cNvSpPr>
            <a:spLocks noChangeArrowheads="1"/>
          </p:cNvSpPr>
          <p:nvPr/>
        </p:nvSpPr>
        <p:spPr bwMode="auto">
          <a:xfrm>
            <a:off x="3335338" y="4800600"/>
            <a:ext cx="4876800" cy="1143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400" b="0">
                <a:solidFill>
                  <a:schemeClr val="bg1"/>
                </a:solidFill>
                <a:latin typeface="Arial" charset="0"/>
              </a:rPr>
              <a:t>Data</a:t>
            </a:r>
          </a:p>
        </p:txBody>
      </p:sp>
      <p:sp>
        <p:nvSpPr>
          <p:cNvPr id="30" name="Oval 28"/>
          <p:cNvSpPr>
            <a:spLocks noChangeArrowheads="1"/>
          </p:cNvSpPr>
          <p:nvPr/>
        </p:nvSpPr>
        <p:spPr bwMode="auto">
          <a:xfrm>
            <a:off x="4135438" y="2281420"/>
            <a:ext cx="3124200" cy="609600"/>
          </a:xfrm>
          <a:prstGeom prst="ellips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FF6600"/>
              </a:solidFill>
            </a:endParaRPr>
          </a:p>
        </p:txBody>
      </p:sp>
      <p:sp>
        <p:nvSpPr>
          <p:cNvPr id="28" name="Text Box 27"/>
          <p:cNvSpPr txBox="1">
            <a:spLocks noChangeArrowheads="1"/>
          </p:cNvSpPr>
          <p:nvPr/>
        </p:nvSpPr>
        <p:spPr bwMode="auto">
          <a:xfrm>
            <a:off x="916532" y="2554427"/>
            <a:ext cx="1907631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Starting byte offset of data carried in this segment</a:t>
            </a:r>
          </a:p>
        </p:txBody>
      </p:sp>
    </p:spTree>
    <p:extLst>
      <p:ext uri="{BB962C8B-B14F-4D97-AF65-F5344CB8AC3E}">
        <p14:creationId xmlns:p14="http://schemas.microsoft.com/office/powerpoint/2010/main" val="1623063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TCP </a:t>
            </a:r>
            <a:r>
              <a:rPr lang="en-US" altLang="zh-CN" dirty="0"/>
              <a:t>use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of what we’ve seen</a:t>
            </a:r>
          </a:p>
          <a:p>
            <a:pPr lvl="1"/>
            <a:r>
              <a:rPr lang="en-US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Checksum </a:t>
            </a:r>
          </a:p>
          <a:p>
            <a:pPr lvl="1"/>
            <a:r>
              <a:rPr lang="en-US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Sequence numbers are byte offsets </a:t>
            </a:r>
          </a:p>
          <a:p>
            <a:pPr lvl="1"/>
            <a:r>
              <a:rPr lang="en-US" dirty="0"/>
              <a:t>Receiver sends </a:t>
            </a:r>
            <a:r>
              <a:rPr lang="en-US" dirty="0">
                <a:solidFill>
                  <a:srgbClr val="0000FF"/>
                </a:solidFill>
              </a:rPr>
              <a:t>cumulative acknowledgements</a:t>
            </a:r>
            <a:r>
              <a:rPr lang="en-US" dirty="0"/>
              <a:t> (like GBN)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5610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ACKs and sequence numbers</a:t>
            </a:r>
          </a:p>
        </p:txBody>
      </p:sp>
      <p:sp>
        <p:nvSpPr>
          <p:cNvPr id="924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Sender sends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dirty="0"/>
              <a:t>packet </a:t>
            </a:r>
          </a:p>
          <a:p>
            <a:pPr lvl="1"/>
            <a:r>
              <a:rPr lang="en-US" dirty="0"/>
              <a:t>Data starts with sequence number X</a:t>
            </a:r>
          </a:p>
          <a:p>
            <a:pPr lvl="1"/>
            <a:r>
              <a:rPr lang="en-US" dirty="0"/>
              <a:t>Packet contains B bytes [X, X+1, X+2, ….X+B-1]</a:t>
            </a:r>
          </a:p>
          <a:p>
            <a:r>
              <a:rPr lang="en-US" dirty="0"/>
              <a:t>Upon packet </a:t>
            </a:r>
            <a:r>
              <a:rPr lang="en-US" altLang="zh-CN" dirty="0"/>
              <a:t>reception</a:t>
            </a:r>
            <a:r>
              <a:rPr lang="en-US" dirty="0"/>
              <a:t>, receiver sends an ACK</a:t>
            </a:r>
          </a:p>
          <a:p>
            <a:pPr lvl="1"/>
            <a:r>
              <a:rPr lang="en-US" dirty="0"/>
              <a:t> If all data prior to X </a:t>
            </a:r>
            <a:r>
              <a:rPr lang="en-US" altLang="zh-CN" dirty="0"/>
              <a:t>has</a:t>
            </a:r>
            <a:r>
              <a:rPr lang="zh-CN" altLang="en-US" dirty="0"/>
              <a:t> </a:t>
            </a:r>
            <a:r>
              <a:rPr lang="en-US" altLang="zh-CN" dirty="0"/>
              <a:t>been</a:t>
            </a:r>
            <a:r>
              <a:rPr lang="en-US" dirty="0"/>
              <a:t> received:</a:t>
            </a:r>
          </a:p>
          <a:p>
            <a:pPr lvl="2"/>
            <a:r>
              <a:rPr lang="en-US" dirty="0"/>
              <a:t>ACK acknowledges </a:t>
            </a:r>
            <a:r>
              <a:rPr lang="en-US" dirty="0">
                <a:solidFill>
                  <a:srgbClr val="0000FF"/>
                </a:solidFill>
              </a:rPr>
              <a:t>X+B</a:t>
            </a:r>
            <a:r>
              <a:rPr lang="en-US" dirty="0"/>
              <a:t> (</a:t>
            </a:r>
            <a:r>
              <a:rPr lang="en-US" altLang="zh-CN" dirty="0"/>
              <a:t>i.e.</a:t>
            </a:r>
            <a:r>
              <a:rPr lang="en-US" dirty="0"/>
              <a:t> next expected byte)</a:t>
            </a:r>
          </a:p>
          <a:p>
            <a:pPr lvl="1"/>
            <a:r>
              <a:rPr lang="en-US" dirty="0"/>
              <a:t>If highest in-order byte received is Y </a:t>
            </a:r>
            <a:r>
              <a:rPr lang="en-US" dirty="0" err="1"/>
              <a:t>s.t.</a:t>
            </a:r>
            <a:r>
              <a:rPr lang="en-US" dirty="0"/>
              <a:t> (Y+1) &lt; X</a:t>
            </a:r>
          </a:p>
          <a:p>
            <a:pPr lvl="2"/>
            <a:r>
              <a:rPr lang="en-US" dirty="0"/>
              <a:t>ACK acknowledges </a:t>
            </a:r>
            <a:r>
              <a:rPr lang="en-US" dirty="0">
                <a:solidFill>
                  <a:srgbClr val="0000FF"/>
                </a:solidFill>
              </a:rPr>
              <a:t>Y+1</a:t>
            </a:r>
          </a:p>
          <a:p>
            <a:pPr lvl="2"/>
            <a:r>
              <a:rPr lang="en-US" dirty="0"/>
              <a:t>Even if this has been </a:t>
            </a:r>
            <a:r>
              <a:rPr lang="en-US" dirty="0" err="1"/>
              <a:t>ACKed</a:t>
            </a:r>
            <a:r>
              <a:rPr lang="en-US" dirty="0"/>
              <a:t> before</a:t>
            </a:r>
          </a:p>
          <a:p>
            <a:pPr lvl="8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18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E83F96B-2957-5B91-F209-AAEB65D9528A}"/>
                  </a:ext>
                </a:extLst>
              </p14:cNvPr>
              <p14:cNvContentPartPr/>
              <p14:nvPr/>
            </p14:nvContentPartPr>
            <p14:xfrm>
              <a:off x="6836760" y="2983320"/>
              <a:ext cx="981720" cy="1054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E83F96B-2957-5B91-F209-AAEB65D9528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27400" y="2973960"/>
                <a:ext cx="1000440" cy="12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01128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467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Sender: </a:t>
            </a:r>
            <a:r>
              <a:rPr lang="en-US" dirty="0" err="1"/>
              <a:t>seqno</a:t>
            </a:r>
            <a:r>
              <a:rPr lang="en-US" dirty="0"/>
              <a:t>=X, length=B</a:t>
            </a:r>
          </a:p>
          <a:p>
            <a:r>
              <a:rPr lang="en-US" dirty="0"/>
              <a:t>Receiver: ACK=X+B</a:t>
            </a:r>
          </a:p>
          <a:p>
            <a:r>
              <a:rPr lang="en-US" dirty="0"/>
              <a:t>Sender: </a:t>
            </a:r>
            <a:r>
              <a:rPr lang="en-US" dirty="0" err="1"/>
              <a:t>seqno</a:t>
            </a:r>
            <a:r>
              <a:rPr lang="en-US" dirty="0"/>
              <a:t>=X+B, length=B</a:t>
            </a:r>
          </a:p>
          <a:p>
            <a:r>
              <a:rPr lang="en-US" dirty="0"/>
              <a:t>Receiver: ACK=X+2B</a:t>
            </a:r>
          </a:p>
          <a:p>
            <a:r>
              <a:rPr lang="en-US" dirty="0"/>
              <a:t>Sender: </a:t>
            </a:r>
            <a:r>
              <a:rPr lang="en-US" dirty="0" err="1"/>
              <a:t>seqno</a:t>
            </a:r>
            <a:r>
              <a:rPr lang="en-US" dirty="0"/>
              <a:t>=X+2B, length=B</a:t>
            </a:r>
          </a:p>
          <a:p>
            <a:endParaRPr lang="en-US" dirty="0"/>
          </a:p>
          <a:p>
            <a:r>
              <a:rPr lang="en-US" dirty="0" err="1">
                <a:solidFill>
                  <a:srgbClr val="0000FF"/>
                </a:solidFill>
              </a:rPr>
              <a:t>Seqno</a:t>
            </a:r>
            <a:r>
              <a:rPr lang="en-US" dirty="0">
                <a:solidFill>
                  <a:srgbClr val="0000FF"/>
                </a:solidFill>
              </a:rPr>
              <a:t> of next packet is same as last ACK field</a:t>
            </a:r>
          </a:p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122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the TCP header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36869" name="Rectangle 4"/>
          <p:cNvSpPr>
            <a:spLocks noChangeArrowheads="1"/>
          </p:cNvSpPr>
          <p:nvPr/>
        </p:nvSpPr>
        <p:spPr bwMode="auto">
          <a:xfrm>
            <a:off x="3335338" y="1828800"/>
            <a:ext cx="23622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0" name="Text Box 5"/>
          <p:cNvSpPr txBox="1">
            <a:spLocks noChangeArrowheads="1"/>
          </p:cNvSpPr>
          <p:nvPr/>
        </p:nvSpPr>
        <p:spPr bwMode="auto">
          <a:xfrm>
            <a:off x="3716338" y="1874838"/>
            <a:ext cx="1497012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>
                <a:solidFill>
                  <a:srgbClr val="0000FF"/>
                </a:solidFill>
                <a:latin typeface="Arial" charset="0"/>
              </a:rPr>
              <a:t>Source port</a:t>
            </a:r>
          </a:p>
        </p:txBody>
      </p:sp>
      <p:sp>
        <p:nvSpPr>
          <p:cNvPr id="36871" name="Rectangle 6"/>
          <p:cNvSpPr>
            <a:spLocks noChangeArrowheads="1"/>
          </p:cNvSpPr>
          <p:nvPr/>
        </p:nvSpPr>
        <p:spPr bwMode="auto">
          <a:xfrm>
            <a:off x="5697538" y="1828800"/>
            <a:ext cx="25146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2" name="Text Box 7"/>
          <p:cNvSpPr txBox="1">
            <a:spLocks noChangeArrowheads="1"/>
          </p:cNvSpPr>
          <p:nvPr/>
        </p:nvSpPr>
        <p:spPr bwMode="auto">
          <a:xfrm>
            <a:off x="5849938" y="1874838"/>
            <a:ext cx="1963737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>
                <a:solidFill>
                  <a:srgbClr val="0000FF"/>
                </a:solidFill>
                <a:latin typeface="Arial" charset="0"/>
              </a:rPr>
              <a:t>Destination port</a:t>
            </a:r>
          </a:p>
        </p:txBody>
      </p:sp>
      <p:sp>
        <p:nvSpPr>
          <p:cNvPr id="36873" name="Rectangle 8"/>
          <p:cNvSpPr>
            <a:spLocks noChangeArrowheads="1"/>
          </p:cNvSpPr>
          <p:nvPr/>
        </p:nvSpPr>
        <p:spPr bwMode="auto">
          <a:xfrm>
            <a:off x="3335338" y="2362200"/>
            <a:ext cx="48768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4" name="Text Box 9"/>
          <p:cNvSpPr txBox="1">
            <a:spLocks noChangeArrowheads="1"/>
          </p:cNvSpPr>
          <p:nvPr/>
        </p:nvSpPr>
        <p:spPr bwMode="auto">
          <a:xfrm>
            <a:off x="4630738" y="2408238"/>
            <a:ext cx="2260600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>
                <a:solidFill>
                  <a:srgbClr val="0000FF"/>
                </a:solidFill>
                <a:latin typeface="Arial" charset="0"/>
              </a:rPr>
              <a:t>Sequence number</a:t>
            </a:r>
          </a:p>
        </p:txBody>
      </p:sp>
      <p:sp>
        <p:nvSpPr>
          <p:cNvPr id="36875" name="Rectangle 10"/>
          <p:cNvSpPr>
            <a:spLocks noChangeArrowheads="1"/>
          </p:cNvSpPr>
          <p:nvPr/>
        </p:nvSpPr>
        <p:spPr bwMode="auto">
          <a:xfrm>
            <a:off x="3335338" y="2819400"/>
            <a:ext cx="48768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6" name="Text Box 11"/>
          <p:cNvSpPr txBox="1">
            <a:spLocks noChangeArrowheads="1"/>
          </p:cNvSpPr>
          <p:nvPr/>
        </p:nvSpPr>
        <p:spPr bwMode="auto">
          <a:xfrm>
            <a:off x="4630738" y="2865438"/>
            <a:ext cx="2138727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>
                <a:solidFill>
                  <a:srgbClr val="0000FF"/>
                </a:solidFill>
                <a:latin typeface="Arial" charset="0"/>
              </a:rPr>
              <a:t>Acknowledgment</a:t>
            </a:r>
          </a:p>
        </p:txBody>
      </p:sp>
      <p:sp>
        <p:nvSpPr>
          <p:cNvPr id="36885" name="Rectangle 20"/>
          <p:cNvSpPr>
            <a:spLocks noChangeArrowheads="1"/>
          </p:cNvSpPr>
          <p:nvPr/>
        </p:nvSpPr>
        <p:spPr bwMode="auto">
          <a:xfrm>
            <a:off x="3335338" y="38100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87" name="Text Box 22"/>
          <p:cNvSpPr txBox="1">
            <a:spLocks noChangeArrowheads="1"/>
          </p:cNvSpPr>
          <p:nvPr/>
        </p:nvSpPr>
        <p:spPr bwMode="auto">
          <a:xfrm>
            <a:off x="3700463" y="3897313"/>
            <a:ext cx="1384300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Checksum</a:t>
            </a:r>
          </a:p>
        </p:txBody>
      </p:sp>
      <p:sp>
        <p:nvSpPr>
          <p:cNvPr id="36891" name="Rectangle 26"/>
          <p:cNvSpPr>
            <a:spLocks noChangeArrowheads="1"/>
          </p:cNvSpPr>
          <p:nvPr/>
        </p:nvSpPr>
        <p:spPr bwMode="auto">
          <a:xfrm>
            <a:off x="3335338" y="4800600"/>
            <a:ext cx="4876800" cy="1143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400" b="0">
                <a:solidFill>
                  <a:schemeClr val="bg1"/>
                </a:solidFill>
                <a:latin typeface="Arial" charset="0"/>
              </a:rPr>
              <a:t>Data</a:t>
            </a:r>
          </a:p>
        </p:txBody>
      </p:sp>
      <p:sp>
        <p:nvSpPr>
          <p:cNvPr id="30" name="Oval 28"/>
          <p:cNvSpPr>
            <a:spLocks noChangeArrowheads="1"/>
          </p:cNvSpPr>
          <p:nvPr/>
        </p:nvSpPr>
        <p:spPr bwMode="auto">
          <a:xfrm>
            <a:off x="4135438" y="2743200"/>
            <a:ext cx="3124200" cy="609600"/>
          </a:xfrm>
          <a:prstGeom prst="ellips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FF6600"/>
              </a:solidFill>
            </a:endParaRPr>
          </a:p>
        </p:txBody>
      </p:sp>
      <p:sp>
        <p:nvSpPr>
          <p:cNvPr id="28" name="Text Box 27"/>
          <p:cNvSpPr txBox="1">
            <a:spLocks noChangeArrowheads="1"/>
          </p:cNvSpPr>
          <p:nvPr/>
        </p:nvSpPr>
        <p:spPr bwMode="auto">
          <a:xfrm>
            <a:off x="916532" y="2554427"/>
            <a:ext cx="2129881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r>
              <a:rPr lang="en-US" b="0" dirty="0">
                <a:solidFill>
                  <a:srgbClr val="0000FF"/>
                </a:solidFill>
                <a:latin typeface="Arial" charset="0"/>
              </a:rPr>
              <a:t>Acknowledgment gives </a:t>
            </a:r>
            <a:r>
              <a:rPr lang="en-US" b="0" dirty="0" err="1">
                <a:solidFill>
                  <a:srgbClr val="0000FF"/>
                </a:solidFill>
                <a:latin typeface="Arial" charset="0"/>
              </a:rPr>
              <a:t>seqno</a:t>
            </a:r>
            <a:r>
              <a:rPr lang="en-US" b="0" dirty="0">
                <a:solidFill>
                  <a:srgbClr val="0000FF"/>
                </a:solidFill>
                <a:latin typeface="Arial" charset="0"/>
              </a:rPr>
              <a:t> just beyond highest </a:t>
            </a:r>
            <a:r>
              <a:rPr lang="en-US" b="0" dirty="0" err="1">
                <a:solidFill>
                  <a:srgbClr val="0000FF"/>
                </a:solidFill>
                <a:latin typeface="Arial" charset="0"/>
              </a:rPr>
              <a:t>seqno</a:t>
            </a:r>
            <a:r>
              <a:rPr lang="en-US" b="0" dirty="0">
                <a:solidFill>
                  <a:srgbClr val="0000FF"/>
                </a:solidFill>
                <a:latin typeface="Arial" charset="0"/>
              </a:rPr>
              <a:t> received </a:t>
            </a:r>
            <a:r>
              <a:rPr lang="en-US" u="sng" dirty="0">
                <a:solidFill>
                  <a:srgbClr val="0000FF"/>
                </a:solidFill>
                <a:latin typeface="Arial" charset="0"/>
              </a:rPr>
              <a:t>in order</a:t>
            </a:r>
          </a:p>
        </p:txBody>
      </p:sp>
    </p:spTree>
    <p:extLst>
      <p:ext uri="{BB962C8B-B14F-4D97-AF65-F5344CB8AC3E}">
        <p14:creationId xmlns:p14="http://schemas.microsoft.com/office/powerpoint/2010/main" val="21344963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TCP </a:t>
            </a:r>
            <a:r>
              <a:rPr lang="en-US" altLang="zh-CN" dirty="0"/>
              <a:t>use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of what we’ve seen</a:t>
            </a:r>
          </a:p>
          <a:p>
            <a:pPr lvl="1"/>
            <a:r>
              <a:rPr lang="en-US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Checksum </a:t>
            </a:r>
          </a:p>
          <a:p>
            <a:pPr lvl="1"/>
            <a:r>
              <a:rPr lang="en-US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Sequence numbers are byte offsets </a:t>
            </a:r>
          </a:p>
          <a:p>
            <a:pPr lvl="1"/>
            <a:r>
              <a:rPr lang="en-US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Receiver sends cumulative acknowledgements (like GBN)</a:t>
            </a:r>
          </a:p>
          <a:p>
            <a:pPr lvl="1"/>
            <a:r>
              <a:rPr lang="en-US" dirty="0"/>
              <a:t>Receivers </a:t>
            </a:r>
            <a:r>
              <a:rPr lang="en-US" dirty="0">
                <a:solidFill>
                  <a:srgbClr val="0000FF"/>
                </a:solidFill>
              </a:rPr>
              <a:t>can buffer out-of-</a:t>
            </a:r>
            <a:r>
              <a:rPr lang="en-US" altLang="zh-CN" dirty="0">
                <a:solidFill>
                  <a:srgbClr val="0000FF"/>
                </a:solidFill>
              </a:rPr>
              <a:t>order</a:t>
            </a:r>
            <a:r>
              <a:rPr lang="en-US" dirty="0">
                <a:solidFill>
                  <a:srgbClr val="0000FF"/>
                </a:solidFill>
              </a:rPr>
              <a:t> packets</a:t>
            </a:r>
            <a:r>
              <a:rPr lang="en-US" dirty="0"/>
              <a:t> (like SR)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4475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Loss with cumulative ACKs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Sender sends 100B packets:</a:t>
            </a:r>
          </a:p>
          <a:p>
            <a:pPr lvl="1"/>
            <a:r>
              <a:rPr lang="en-US" dirty="0" err="1"/>
              <a:t>Seqnos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dirty="0"/>
              <a:t>100, 200, 300, 400, 500, 600, 700, 800, …</a:t>
            </a:r>
          </a:p>
          <a:p>
            <a:r>
              <a:rPr lang="en-US" dirty="0"/>
              <a:t>Assume the fifth packet (</a:t>
            </a:r>
            <a:r>
              <a:rPr lang="en-US" dirty="0" err="1"/>
              <a:t>seqno</a:t>
            </a:r>
            <a:r>
              <a:rPr lang="en-US" dirty="0"/>
              <a:t> 500) is lost, but no others</a:t>
            </a:r>
          </a:p>
          <a:p>
            <a:r>
              <a:rPr lang="en-US" dirty="0"/>
              <a:t>Stream of ACKs will be:</a:t>
            </a:r>
          </a:p>
          <a:p>
            <a:pPr lvl="1"/>
            <a:r>
              <a:rPr lang="en-US" dirty="0"/>
              <a:t>200, 300, 400, 500, 500, 500, 500,…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22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793092A-44EB-38B0-FDEE-EED8F0E5E700}"/>
                  </a:ext>
                </a:extLst>
              </p14:cNvPr>
              <p14:cNvContentPartPr/>
              <p14:nvPr/>
            </p14:nvContentPartPr>
            <p14:xfrm>
              <a:off x="3754080" y="2091960"/>
              <a:ext cx="2367000" cy="2773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793092A-44EB-38B0-FDEE-EED8F0E5E70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44720" y="2082600"/>
                <a:ext cx="2385720" cy="279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67471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TCP introduce?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Most of what we’ve seen</a:t>
            </a:r>
          </a:p>
          <a:p>
            <a:pPr lvl="1"/>
            <a:r>
              <a:rPr lang="en-US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Checksum </a:t>
            </a:r>
          </a:p>
          <a:p>
            <a:pPr lvl="1"/>
            <a:r>
              <a:rPr lang="en-US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Sequence numbers are byte offsets </a:t>
            </a:r>
          </a:p>
          <a:p>
            <a:pPr lvl="1"/>
            <a:r>
              <a:rPr lang="en-US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Receiver sends cumulative acknowledgements (like GBN)</a:t>
            </a:r>
          </a:p>
          <a:p>
            <a:pPr lvl="1"/>
            <a:r>
              <a:rPr lang="en-US">
                <a:solidFill>
                  <a:schemeClr val="accent6">
                    <a:lumMod val="50000"/>
                    <a:lumOff val="50000"/>
                  </a:schemeClr>
                </a:solidFill>
              </a:rPr>
              <a:t>Receiver</a:t>
            </a:r>
            <a:r>
              <a:rPr lang="en-US" altLang="zh-CN">
                <a:solidFill>
                  <a:schemeClr val="accent6">
                    <a:lumMod val="50000"/>
                    <a:lumOff val="50000"/>
                  </a:schemeClr>
                </a:solidFill>
              </a:rPr>
              <a:t>s</a:t>
            </a:r>
            <a:r>
              <a:rPr lang="en-US">
                <a:solidFill>
                  <a:schemeClr val="accent6">
                    <a:lumMod val="50000"/>
                    <a:lumOff val="50000"/>
                  </a:schemeClr>
                </a:solidFill>
              </a:rPr>
              <a:t> buffer </a:t>
            </a:r>
            <a:r>
              <a:rPr lang="en-US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out-of-</a:t>
            </a:r>
            <a:r>
              <a:rPr lang="en-US" altLang="zh-CN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order</a:t>
            </a:r>
            <a:r>
              <a:rPr lang="en-US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 packets (like SR)</a:t>
            </a:r>
          </a:p>
          <a:p>
            <a:r>
              <a:rPr lang="en-US" dirty="0"/>
              <a:t>Introduces </a:t>
            </a:r>
            <a:r>
              <a:rPr lang="en-US" dirty="0">
                <a:solidFill>
                  <a:srgbClr val="0000FF"/>
                </a:solidFill>
              </a:rPr>
              <a:t>fast retransmit</a:t>
            </a:r>
            <a:r>
              <a:rPr lang="en-US" dirty="0"/>
              <a:t>: duplicate ACKs trigger early retransmission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4679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Loss with cumulative ACKs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Duplicate ACKs</a:t>
            </a:r>
            <a:r>
              <a:rPr lang="en-US" dirty="0"/>
              <a:t> are a sign of an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isolated</a:t>
            </a:r>
            <a:r>
              <a:rPr lang="en-US" dirty="0"/>
              <a:t> </a:t>
            </a:r>
            <a:r>
              <a:rPr lang="en-US" dirty="0">
                <a:solidFill>
                  <a:srgbClr val="009900"/>
                </a:solidFill>
              </a:rPr>
              <a:t>loss</a:t>
            </a:r>
          </a:p>
          <a:p>
            <a:pPr lvl="1"/>
            <a:r>
              <a:rPr lang="en-US" dirty="0"/>
              <a:t>The lack of ACK progress means 500 hasn’t been delivered</a:t>
            </a:r>
          </a:p>
          <a:p>
            <a:pPr lvl="1"/>
            <a:r>
              <a:rPr lang="en-US" dirty="0"/>
              <a:t>Stream of ACKs means some packets are being delivered</a:t>
            </a:r>
          </a:p>
          <a:p>
            <a:r>
              <a:rPr lang="en-US" dirty="0"/>
              <a:t>Trigger retransmission </a:t>
            </a:r>
            <a:r>
              <a:rPr lang="en-US" altLang="zh-CN" dirty="0"/>
              <a:t>after</a:t>
            </a:r>
            <a:r>
              <a:rPr lang="en-US" dirty="0"/>
              <a:t> k duplicate ACKs</a:t>
            </a:r>
          </a:p>
          <a:p>
            <a:pPr lvl="2"/>
            <a:r>
              <a:rPr lang="en-US" dirty="0"/>
              <a:t>TCP uses k=3</a:t>
            </a:r>
          </a:p>
          <a:p>
            <a:pPr lvl="2"/>
            <a:r>
              <a:rPr lang="en-US" dirty="0"/>
              <a:t>Faster than waiting for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dirty="0"/>
              <a:t>timeout</a:t>
            </a:r>
          </a:p>
          <a:p>
            <a:pPr lvl="2"/>
            <a:r>
              <a:rPr lang="en-US" altLang="zh-CN" i="1" dirty="0">
                <a:solidFill>
                  <a:srgbClr val="D60093"/>
                </a:solidFill>
              </a:rPr>
              <a:t>Is</a:t>
            </a:r>
            <a:r>
              <a:rPr lang="zh-CN" altLang="en-US" i="1" dirty="0">
                <a:solidFill>
                  <a:srgbClr val="D60093"/>
                </a:solidFill>
              </a:rPr>
              <a:t> </a:t>
            </a:r>
            <a:r>
              <a:rPr lang="en-US" altLang="zh-CN" i="1" dirty="0">
                <a:solidFill>
                  <a:srgbClr val="D60093"/>
                </a:solidFill>
              </a:rPr>
              <a:t>this</a:t>
            </a:r>
            <a:r>
              <a:rPr lang="zh-CN" altLang="en-US" i="1" dirty="0">
                <a:solidFill>
                  <a:srgbClr val="D60093"/>
                </a:solidFill>
              </a:rPr>
              <a:t> </a:t>
            </a:r>
            <a:r>
              <a:rPr lang="en-US" altLang="zh-CN" i="1" dirty="0">
                <a:solidFill>
                  <a:srgbClr val="D60093"/>
                </a:solidFill>
              </a:rPr>
              <a:t>always</a:t>
            </a:r>
            <a:r>
              <a:rPr lang="zh-CN" altLang="en-US" i="1" dirty="0">
                <a:solidFill>
                  <a:srgbClr val="D60093"/>
                </a:solidFill>
              </a:rPr>
              <a:t> </a:t>
            </a:r>
            <a:r>
              <a:rPr lang="en-US" altLang="zh-CN" i="1" dirty="0">
                <a:solidFill>
                  <a:srgbClr val="D60093"/>
                </a:solidFill>
              </a:rPr>
              <a:t>right?</a:t>
            </a:r>
            <a:r>
              <a:rPr lang="zh-CN" altLang="en-US" i="1" dirty="0">
                <a:solidFill>
                  <a:srgbClr val="D60093"/>
                </a:solidFill>
              </a:rPr>
              <a:t> </a:t>
            </a:r>
            <a:r>
              <a:rPr lang="en-US" altLang="zh-CN" dirty="0"/>
              <a:t>Why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why</a:t>
            </a:r>
            <a:r>
              <a:rPr lang="zh-CN" altLang="en-US" dirty="0"/>
              <a:t> </a:t>
            </a:r>
            <a:r>
              <a:rPr lang="en-US" altLang="zh-CN" dirty="0"/>
              <a:t>not?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250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Loss with cumulative ACKs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choices after resending</a:t>
            </a:r>
          </a:p>
          <a:p>
            <a:pPr lvl="1"/>
            <a:r>
              <a:rPr lang="en-US" dirty="0"/>
              <a:t>Send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dirty="0"/>
              <a:t>missing packet and move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dirty="0"/>
              <a:t>sliding window by the number of dup ACKs</a:t>
            </a:r>
          </a:p>
          <a:p>
            <a:pPr lvl="2"/>
            <a:r>
              <a:rPr lang="en-US" dirty="0"/>
              <a:t>Speeds up transmission, but might be wrong</a:t>
            </a:r>
          </a:p>
          <a:p>
            <a:pPr lvl="1"/>
            <a:r>
              <a:rPr lang="en-US" dirty="0"/>
              <a:t>Send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dirty="0"/>
              <a:t>missing packet, and wait for ACK to move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dirty="0"/>
              <a:t>sliding window</a:t>
            </a:r>
          </a:p>
          <a:p>
            <a:pPr lvl="2"/>
            <a:r>
              <a:rPr lang="en-US" dirty="0"/>
              <a:t>Is slowed down by </a:t>
            </a:r>
            <a:r>
              <a:rPr lang="en-US" altLang="zh-CN" dirty="0"/>
              <a:t>lost</a:t>
            </a:r>
            <a:r>
              <a:rPr lang="en-US" dirty="0"/>
              <a:t> packets</a:t>
            </a:r>
          </a:p>
          <a:p>
            <a:pPr lvl="1"/>
            <a:endParaRPr lang="en-US" dirty="0"/>
          </a:p>
          <a:p>
            <a:r>
              <a:rPr lang="en-US" dirty="0">
                <a:solidFill>
                  <a:srgbClr val="0000FF"/>
                </a:solidFill>
              </a:rPr>
              <a:t>Which should TCP do?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Choose correctness</a:t>
            </a:r>
          </a:p>
          <a:p>
            <a:pPr lvl="1"/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224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TCP introduce?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Most of what we’ve seen</a:t>
            </a:r>
          </a:p>
          <a:p>
            <a:pPr lvl="1"/>
            <a:r>
              <a:rPr lang="en-US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Checksum </a:t>
            </a:r>
          </a:p>
          <a:p>
            <a:pPr lvl="1"/>
            <a:r>
              <a:rPr lang="en-US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Sequence numbers are byte offsets </a:t>
            </a:r>
          </a:p>
          <a:p>
            <a:pPr lvl="1"/>
            <a:r>
              <a:rPr lang="en-US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Receiver sends cumulative acknowledgements (like GBN)</a:t>
            </a:r>
          </a:p>
          <a:p>
            <a:pPr lvl="1"/>
            <a:r>
              <a:rPr lang="en-US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Receivers buffer out-of-sequence packets (like SR)</a:t>
            </a:r>
          </a:p>
          <a:p>
            <a:r>
              <a:rPr lang="en-US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Introduces fast retransmit: duplicate ACKs trigger early retransmission</a:t>
            </a:r>
          </a:p>
          <a:p>
            <a:r>
              <a:rPr lang="en-US" dirty="0"/>
              <a:t>Sender maintains a </a:t>
            </a:r>
            <a:r>
              <a:rPr lang="en-US" dirty="0">
                <a:solidFill>
                  <a:srgbClr val="0000FF"/>
                </a:solidFill>
              </a:rPr>
              <a:t>single retransmission timer</a:t>
            </a:r>
            <a:r>
              <a:rPr lang="en-US" dirty="0"/>
              <a:t> (like GBN) and retransmits on timeout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38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Retransmission timeout</a:t>
            </a:r>
          </a:p>
        </p:txBody>
      </p:sp>
      <p:sp>
        <p:nvSpPr>
          <p:cNvPr id="11427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sender hasn’t received an ACK by timeout, </a:t>
            </a:r>
            <a:r>
              <a:rPr lang="en-US" dirty="0">
                <a:solidFill>
                  <a:srgbClr val="0000FF"/>
                </a:solidFill>
              </a:rPr>
              <a:t>retransmit the first packet</a:t>
            </a:r>
            <a:r>
              <a:rPr lang="en-US" dirty="0"/>
              <a:t> in the window</a:t>
            </a:r>
          </a:p>
          <a:p>
            <a:r>
              <a:rPr lang="en-US" dirty="0"/>
              <a:t>How do we pick a timeout value?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96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546" name="Line 2"/>
          <p:cNvSpPr>
            <a:spLocks noChangeShapeType="1"/>
          </p:cNvSpPr>
          <p:nvPr/>
        </p:nvSpPr>
        <p:spPr bwMode="auto">
          <a:xfrm>
            <a:off x="5799345" y="1988415"/>
            <a:ext cx="0" cy="762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arrow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3254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illustration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0EC942-05ED-D34B-9AB2-72470975F1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1132548" name="Line 4"/>
          <p:cNvSpPr>
            <a:spLocks noChangeShapeType="1"/>
          </p:cNvSpPr>
          <p:nvPr/>
        </p:nvSpPr>
        <p:spPr bwMode="auto">
          <a:xfrm>
            <a:off x="3589545" y="1836015"/>
            <a:ext cx="0" cy="419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2549" name="Line 5"/>
          <p:cNvSpPr>
            <a:spLocks noChangeShapeType="1"/>
          </p:cNvSpPr>
          <p:nvPr/>
        </p:nvSpPr>
        <p:spPr bwMode="auto">
          <a:xfrm>
            <a:off x="1349583" y="1988415"/>
            <a:ext cx="1173162" cy="27305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2550" name="Text Box 6"/>
          <p:cNvSpPr txBox="1">
            <a:spLocks noChangeArrowheads="1"/>
          </p:cNvSpPr>
          <p:nvPr/>
        </p:nvSpPr>
        <p:spPr bwMode="auto">
          <a:xfrm>
            <a:off x="1608345" y="1836015"/>
            <a:ext cx="309563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>
            <a:spAutoFit/>
          </a:bodyPr>
          <a:lstStyle/>
          <a:p>
            <a:pPr eaLnBrk="1" hangingPunct="1"/>
            <a:r>
              <a:rPr lang="en-US" sz="1800">
                <a:latin typeface="Tahoma" charset="0"/>
              </a:rPr>
              <a:t>1</a:t>
            </a:r>
          </a:p>
        </p:txBody>
      </p:sp>
      <p:sp>
        <p:nvSpPr>
          <p:cNvPr id="1132551" name="Line 7"/>
          <p:cNvSpPr>
            <a:spLocks noChangeShapeType="1"/>
          </p:cNvSpPr>
          <p:nvPr/>
        </p:nvSpPr>
        <p:spPr bwMode="auto">
          <a:xfrm>
            <a:off x="1379745" y="1759815"/>
            <a:ext cx="0" cy="419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2552" name="Line 8"/>
          <p:cNvSpPr>
            <a:spLocks noChangeShapeType="1"/>
          </p:cNvSpPr>
          <p:nvPr/>
        </p:nvSpPr>
        <p:spPr bwMode="auto">
          <a:xfrm>
            <a:off x="1379745" y="4807815"/>
            <a:ext cx="2209800" cy="51435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2553" name="Text Box 9"/>
          <p:cNvSpPr txBox="1">
            <a:spLocks noChangeArrowheads="1"/>
          </p:cNvSpPr>
          <p:nvPr/>
        </p:nvSpPr>
        <p:spPr bwMode="auto">
          <a:xfrm>
            <a:off x="1638508" y="4655415"/>
            <a:ext cx="309562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>
            <a:spAutoFit/>
          </a:bodyPr>
          <a:lstStyle/>
          <a:p>
            <a:pPr eaLnBrk="1" hangingPunct="1"/>
            <a:r>
              <a:rPr lang="en-US" sz="1800">
                <a:latin typeface="Tahoma" charset="0"/>
              </a:rPr>
              <a:t>1</a:t>
            </a:r>
          </a:p>
        </p:txBody>
      </p:sp>
      <p:sp>
        <p:nvSpPr>
          <p:cNvPr id="1132554" name="Text Box 10"/>
          <p:cNvSpPr txBox="1">
            <a:spLocks noChangeArrowheads="1"/>
          </p:cNvSpPr>
          <p:nvPr/>
        </p:nvSpPr>
        <p:spPr bwMode="auto">
          <a:xfrm>
            <a:off x="223267" y="5946362"/>
            <a:ext cx="4661678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1429" tIns="45714" rIns="91429" bIns="45714">
            <a:spAutoFit/>
          </a:bodyPr>
          <a:lstStyle/>
          <a:p>
            <a:pPr algn="ctr" eaLnBrk="1" hangingPunct="1"/>
            <a:r>
              <a:rPr lang="en-US" sz="2400" b="0" dirty="0">
                <a:solidFill>
                  <a:srgbClr val="0000FF"/>
                </a:solidFill>
                <a:latin typeface="+mn-lt"/>
              </a:rPr>
              <a:t>Timeout too long </a:t>
            </a:r>
            <a:r>
              <a:rPr lang="en-US" sz="2400" b="0" dirty="0">
                <a:solidFill>
                  <a:srgbClr val="0000FF"/>
                </a:solidFill>
                <a:latin typeface="+mn-lt"/>
                <a:sym typeface="Wingdings" charset="0"/>
              </a:rPr>
              <a:t> inefficient</a:t>
            </a:r>
            <a:endParaRPr lang="en-US" sz="2400" b="0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1132555" name="Line 11"/>
          <p:cNvSpPr>
            <a:spLocks noChangeShapeType="1"/>
          </p:cNvSpPr>
          <p:nvPr/>
        </p:nvSpPr>
        <p:spPr bwMode="auto">
          <a:xfrm>
            <a:off x="8237745" y="1836015"/>
            <a:ext cx="0" cy="419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2556" name="Line 12"/>
          <p:cNvSpPr>
            <a:spLocks noChangeShapeType="1"/>
          </p:cNvSpPr>
          <p:nvPr/>
        </p:nvSpPr>
        <p:spPr bwMode="auto">
          <a:xfrm>
            <a:off x="5997783" y="1988415"/>
            <a:ext cx="2239962" cy="5207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2557" name="Text Box 13"/>
          <p:cNvSpPr txBox="1">
            <a:spLocks noChangeArrowheads="1"/>
          </p:cNvSpPr>
          <p:nvPr/>
        </p:nvSpPr>
        <p:spPr bwMode="auto">
          <a:xfrm>
            <a:off x="6180345" y="1836015"/>
            <a:ext cx="309563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>
            <a:spAutoFit/>
          </a:bodyPr>
          <a:lstStyle/>
          <a:p>
            <a:pPr eaLnBrk="1" hangingPunct="1"/>
            <a:r>
              <a:rPr lang="en-US" sz="1800" dirty="0">
                <a:latin typeface="Tahoma" charset="0"/>
              </a:rPr>
              <a:t>1</a:t>
            </a:r>
          </a:p>
        </p:txBody>
      </p:sp>
      <p:sp>
        <p:nvSpPr>
          <p:cNvPr id="1132558" name="Line 14"/>
          <p:cNvSpPr>
            <a:spLocks noChangeShapeType="1"/>
          </p:cNvSpPr>
          <p:nvPr/>
        </p:nvSpPr>
        <p:spPr bwMode="auto">
          <a:xfrm flipH="1">
            <a:off x="6027945" y="2521815"/>
            <a:ext cx="2209800" cy="6096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32559" name="Line 15"/>
          <p:cNvSpPr>
            <a:spLocks noChangeShapeType="1"/>
          </p:cNvSpPr>
          <p:nvPr/>
        </p:nvSpPr>
        <p:spPr bwMode="auto">
          <a:xfrm>
            <a:off x="6027945" y="2750415"/>
            <a:ext cx="2209800" cy="51435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2560" name="Text Box 16"/>
          <p:cNvSpPr txBox="1">
            <a:spLocks noChangeArrowheads="1"/>
          </p:cNvSpPr>
          <p:nvPr/>
        </p:nvSpPr>
        <p:spPr bwMode="auto">
          <a:xfrm>
            <a:off x="6210508" y="2612303"/>
            <a:ext cx="309562" cy="3667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>
            <a:spAutoFit/>
          </a:bodyPr>
          <a:lstStyle/>
          <a:p>
            <a:pPr eaLnBrk="1" hangingPunct="1"/>
            <a:r>
              <a:rPr lang="en-US" sz="1800">
                <a:latin typeface="Tahoma" charset="0"/>
              </a:rPr>
              <a:t>1</a:t>
            </a:r>
          </a:p>
        </p:txBody>
      </p:sp>
      <p:sp>
        <p:nvSpPr>
          <p:cNvPr id="1132561" name="Text Box 17"/>
          <p:cNvSpPr txBox="1">
            <a:spLocks noChangeArrowheads="1"/>
          </p:cNvSpPr>
          <p:nvPr/>
        </p:nvSpPr>
        <p:spPr bwMode="auto">
          <a:xfrm>
            <a:off x="5020483" y="5950815"/>
            <a:ext cx="4284062" cy="830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1429" tIns="45714" rIns="91429" bIns="45714">
            <a:spAutoFit/>
          </a:bodyPr>
          <a:lstStyle/>
          <a:p>
            <a:pPr algn="ctr" eaLnBrk="1" hangingPunct="1"/>
            <a:r>
              <a:rPr lang="en-US" sz="2400" b="0" dirty="0">
                <a:solidFill>
                  <a:srgbClr val="0000FF"/>
                </a:solidFill>
                <a:latin typeface="+mn-lt"/>
              </a:rPr>
              <a:t>Timeout too short </a:t>
            </a:r>
            <a:r>
              <a:rPr lang="en-US" sz="2400" b="0" dirty="0">
                <a:solidFill>
                  <a:srgbClr val="0000FF"/>
                </a:solidFill>
                <a:latin typeface="+mn-lt"/>
                <a:sym typeface="Wingdings" charset="0"/>
              </a:rPr>
              <a:t> </a:t>
            </a:r>
          </a:p>
          <a:p>
            <a:pPr algn="ctr" eaLnBrk="1" hangingPunct="1"/>
            <a:r>
              <a:rPr lang="en-US" sz="2400" b="0" dirty="0">
                <a:solidFill>
                  <a:srgbClr val="0000FF"/>
                </a:solidFill>
                <a:latin typeface="+mn-lt"/>
                <a:sym typeface="Wingdings" charset="0"/>
              </a:rPr>
              <a:t>duplicate packets </a:t>
            </a:r>
            <a:endParaRPr lang="en-US" sz="2400" b="0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1132562" name="Line 18"/>
          <p:cNvSpPr>
            <a:spLocks noChangeShapeType="1"/>
          </p:cNvSpPr>
          <p:nvPr/>
        </p:nvSpPr>
        <p:spPr bwMode="auto">
          <a:xfrm>
            <a:off x="1151145" y="1988415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/>
          </a:p>
        </p:txBody>
      </p:sp>
      <p:sp>
        <p:nvSpPr>
          <p:cNvPr id="1132563" name="Text Box 19"/>
          <p:cNvSpPr txBox="1">
            <a:spLocks noChangeArrowheads="1"/>
          </p:cNvSpPr>
          <p:nvPr/>
        </p:nvSpPr>
        <p:spPr bwMode="auto">
          <a:xfrm>
            <a:off x="762000" y="2367828"/>
            <a:ext cx="592137" cy="3667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>
            <a:spAutoFit/>
          </a:bodyPr>
          <a:lstStyle/>
          <a:p>
            <a:pPr eaLnBrk="1" hangingPunct="1"/>
            <a:r>
              <a:rPr lang="en-US" sz="1800">
                <a:latin typeface="Tahoma" charset="0"/>
              </a:rPr>
              <a:t>RTT</a:t>
            </a:r>
          </a:p>
        </p:txBody>
      </p:sp>
      <p:sp>
        <p:nvSpPr>
          <p:cNvPr id="1132564" name="Line 20"/>
          <p:cNvSpPr>
            <a:spLocks noChangeShapeType="1"/>
          </p:cNvSpPr>
          <p:nvPr/>
        </p:nvSpPr>
        <p:spPr bwMode="auto">
          <a:xfrm>
            <a:off x="2446545" y="2140815"/>
            <a:ext cx="152400" cy="228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132565" name="Line 21"/>
          <p:cNvSpPr>
            <a:spLocks noChangeShapeType="1"/>
          </p:cNvSpPr>
          <p:nvPr/>
        </p:nvSpPr>
        <p:spPr bwMode="auto">
          <a:xfrm flipH="1">
            <a:off x="2446545" y="2140815"/>
            <a:ext cx="152400" cy="228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132566" name="Line 22"/>
          <p:cNvSpPr>
            <a:spLocks noChangeShapeType="1"/>
          </p:cNvSpPr>
          <p:nvPr/>
        </p:nvSpPr>
        <p:spPr bwMode="auto">
          <a:xfrm>
            <a:off x="693945" y="1988415"/>
            <a:ext cx="0" cy="28194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132567" name="Text Box 23"/>
          <p:cNvSpPr txBox="1">
            <a:spLocks noChangeArrowheads="1"/>
          </p:cNvSpPr>
          <p:nvPr/>
        </p:nvSpPr>
        <p:spPr bwMode="auto">
          <a:xfrm>
            <a:off x="76200" y="3472728"/>
            <a:ext cx="1154320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Timeout</a:t>
            </a:r>
          </a:p>
        </p:txBody>
      </p:sp>
      <p:sp>
        <p:nvSpPr>
          <p:cNvPr id="1132568" name="Line 24"/>
          <p:cNvSpPr>
            <a:spLocks noChangeShapeType="1"/>
          </p:cNvSpPr>
          <p:nvPr/>
        </p:nvSpPr>
        <p:spPr bwMode="auto">
          <a:xfrm>
            <a:off x="541545" y="4807815"/>
            <a:ext cx="838200" cy="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132569" name="Line 25"/>
          <p:cNvSpPr>
            <a:spLocks noChangeShapeType="1"/>
          </p:cNvSpPr>
          <p:nvPr/>
        </p:nvSpPr>
        <p:spPr bwMode="auto">
          <a:xfrm>
            <a:off x="541545" y="1988415"/>
            <a:ext cx="838200" cy="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132570" name="Line 26"/>
          <p:cNvSpPr>
            <a:spLocks noChangeShapeType="1"/>
          </p:cNvSpPr>
          <p:nvPr/>
        </p:nvSpPr>
        <p:spPr bwMode="auto">
          <a:xfrm>
            <a:off x="998745" y="3131415"/>
            <a:ext cx="381000" cy="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132571" name="Line 27"/>
          <p:cNvSpPr>
            <a:spLocks noChangeShapeType="1"/>
          </p:cNvSpPr>
          <p:nvPr/>
        </p:nvSpPr>
        <p:spPr bwMode="auto">
          <a:xfrm>
            <a:off x="4884945" y="3131415"/>
            <a:ext cx="1143000" cy="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132572" name="Line 28"/>
          <p:cNvSpPr>
            <a:spLocks noChangeShapeType="1"/>
          </p:cNvSpPr>
          <p:nvPr/>
        </p:nvSpPr>
        <p:spPr bwMode="auto">
          <a:xfrm>
            <a:off x="4884945" y="1988415"/>
            <a:ext cx="1143000" cy="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132573" name="Text Box 29"/>
          <p:cNvSpPr txBox="1">
            <a:spLocks noChangeArrowheads="1"/>
          </p:cNvSpPr>
          <p:nvPr/>
        </p:nvSpPr>
        <p:spPr bwMode="auto">
          <a:xfrm>
            <a:off x="4892675" y="2140815"/>
            <a:ext cx="1154320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FF0000"/>
                </a:solidFill>
              </a:rPr>
              <a:t>Timeout</a:t>
            </a:r>
          </a:p>
        </p:txBody>
      </p:sp>
      <p:sp>
        <p:nvSpPr>
          <p:cNvPr id="1132574" name="Line 30"/>
          <p:cNvSpPr>
            <a:spLocks noChangeShapeType="1"/>
          </p:cNvSpPr>
          <p:nvPr/>
        </p:nvSpPr>
        <p:spPr bwMode="auto">
          <a:xfrm>
            <a:off x="5646945" y="2750415"/>
            <a:ext cx="381000" cy="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132575" name="Line 31"/>
          <p:cNvSpPr>
            <a:spLocks noChangeShapeType="1"/>
          </p:cNvSpPr>
          <p:nvPr/>
        </p:nvSpPr>
        <p:spPr bwMode="auto">
          <a:xfrm>
            <a:off x="6027945" y="1759815"/>
            <a:ext cx="0" cy="419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2576" name="Line 32"/>
          <p:cNvSpPr>
            <a:spLocks noChangeShapeType="1"/>
          </p:cNvSpPr>
          <p:nvPr/>
        </p:nvSpPr>
        <p:spPr bwMode="auto">
          <a:xfrm>
            <a:off x="4884945" y="1988415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32577" name="Text Box 33"/>
          <p:cNvSpPr txBox="1">
            <a:spLocks noChangeArrowheads="1"/>
          </p:cNvSpPr>
          <p:nvPr/>
        </p:nvSpPr>
        <p:spPr bwMode="auto">
          <a:xfrm>
            <a:off x="4808745" y="2521815"/>
            <a:ext cx="592138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>
            <a:spAutoFit/>
          </a:bodyPr>
          <a:lstStyle/>
          <a:p>
            <a:pPr eaLnBrk="1" hangingPunct="1"/>
            <a:r>
              <a:rPr lang="en-US" sz="1800">
                <a:latin typeface="Tahoma" charset="0"/>
              </a:rPr>
              <a:t>RTT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8B9E061-D1AA-DC4F-9214-689EACC33966}"/>
                  </a:ext>
                </a:extLst>
              </p14:cNvPr>
              <p14:cNvContentPartPr/>
              <p14:nvPr/>
            </p14:nvContentPartPr>
            <p14:xfrm>
              <a:off x="1311480" y="1434960"/>
              <a:ext cx="2360520" cy="22204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8B9E061-D1AA-DC4F-9214-689EACC3396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95280" y="1418760"/>
                <a:ext cx="2392920" cy="2252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33363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2546" grpId="0" animBg="1"/>
      <p:bldP spid="1132555" grpId="0" animBg="1"/>
      <p:bldP spid="1132556" grpId="0" animBg="1"/>
      <p:bldP spid="1132557" grpId="0" animBg="1"/>
      <p:bldP spid="1132558" grpId="0" animBg="1"/>
      <p:bldP spid="1132559" grpId="0" animBg="1"/>
      <p:bldP spid="1132560" grpId="0" animBg="1"/>
      <p:bldP spid="1132561" grpId="0"/>
      <p:bldP spid="1132571" grpId="0" animBg="1"/>
      <p:bldP spid="1132572" grpId="0" animBg="1"/>
      <p:bldP spid="1132573" grpId="0" animBg="1"/>
      <p:bldP spid="1132574" grpId="0" animBg="1"/>
      <p:bldP spid="1132575" grpId="0" animBg="1"/>
      <p:bldP spid="1132576" grpId="0" animBg="1"/>
      <p:bldP spid="113257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Retransmission timeout</a:t>
            </a:r>
          </a:p>
        </p:txBody>
      </p:sp>
      <p:sp>
        <p:nvSpPr>
          <p:cNvPr id="11479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sender hasn’t received an ACK by timeout, retransmit the first packet in the window</a:t>
            </a:r>
          </a:p>
          <a:p>
            <a:r>
              <a:rPr lang="en-US" dirty="0"/>
              <a:t>How to set timeout?</a:t>
            </a:r>
          </a:p>
          <a:p>
            <a:pPr lvl="1"/>
            <a:r>
              <a:rPr lang="en-US" dirty="0"/>
              <a:t>Too long: connection has low throughput</a:t>
            </a:r>
          </a:p>
          <a:p>
            <a:pPr lvl="1"/>
            <a:r>
              <a:rPr lang="en-US" dirty="0"/>
              <a:t>Too short: retransmit packet that was just delayed</a:t>
            </a:r>
          </a:p>
          <a:p>
            <a:r>
              <a:rPr lang="en-US" dirty="0"/>
              <a:t>Solution: </a:t>
            </a:r>
            <a:r>
              <a:rPr lang="en-US" dirty="0">
                <a:solidFill>
                  <a:srgbClr val="0000FF"/>
                </a:solidFill>
              </a:rPr>
              <a:t>make timeout proportional to RTT</a:t>
            </a:r>
          </a:p>
          <a:p>
            <a:pPr lvl="1"/>
            <a:r>
              <a:rPr lang="en-US" dirty="0"/>
              <a:t>But how do we measure RTT?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590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14"/>
          <p:cNvGrpSpPr>
            <a:grpSpLocks/>
          </p:cNvGrpSpPr>
          <p:nvPr/>
        </p:nvGrpSpPr>
        <p:grpSpPr bwMode="auto">
          <a:xfrm>
            <a:off x="1435893" y="2209800"/>
            <a:ext cx="6272213" cy="4292600"/>
            <a:chOff x="782" y="1865"/>
            <a:chExt cx="3951" cy="2704"/>
          </a:xfrm>
        </p:grpSpPr>
        <p:pic>
          <p:nvPicPr>
            <p:cNvPr id="35" name="Picture 1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2" y="1865"/>
              <a:ext cx="3951" cy="27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" name="Rectangle 13"/>
            <p:cNvSpPr>
              <a:spLocks noChangeArrowheads="1"/>
            </p:cNvSpPr>
            <p:nvPr/>
          </p:nvSpPr>
          <p:spPr bwMode="auto">
            <a:xfrm>
              <a:off x="2070" y="1926"/>
              <a:ext cx="1404" cy="1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FF"/>
                </a:solidFill>
                <a:ea typeface="ＭＳ Ｐゴシック" charset="0"/>
              </a:endParaRPr>
            </a:p>
          </p:txBody>
        </p:sp>
      </p:grpSp>
      <p:sp>
        <p:nvSpPr>
          <p:cNvPr id="114381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RTT estimation</a:t>
            </a:r>
          </a:p>
        </p:txBody>
      </p:sp>
      <p:sp>
        <p:nvSpPr>
          <p:cNvPr id="1143812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Exponential weighted average of RTT samples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33" name="Text Box 3"/>
          <p:cNvSpPr txBox="1">
            <a:spLocks noChangeArrowheads="1"/>
          </p:cNvSpPr>
          <p:nvPr/>
        </p:nvSpPr>
        <p:spPr bwMode="auto">
          <a:xfrm>
            <a:off x="1263242" y="2133600"/>
            <a:ext cx="661751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 b="1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EstimatedRTT</a:t>
            </a:r>
            <a:r>
              <a:rPr lang="en-US" sz="2000" b="1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 = (1- </a:t>
            </a:r>
            <a:r>
              <a:rPr lang="en-US" sz="2000" b="1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  <a:sym typeface="Symbol" charset="0"/>
              </a:rPr>
              <a:t></a:t>
            </a:r>
            <a:r>
              <a:rPr lang="en-US" sz="2000" b="1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)*</a:t>
            </a:r>
            <a:r>
              <a:rPr lang="en-US" sz="2000" b="1" dirty="0" err="1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EstimatedRTT</a:t>
            </a:r>
            <a:r>
              <a:rPr lang="en-US" sz="2000" b="1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 + </a:t>
            </a:r>
            <a:r>
              <a:rPr lang="en-US" sz="2000" b="1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  <a:sym typeface="Symbol" charset="0"/>
              </a:rPr>
              <a:t></a:t>
            </a:r>
            <a:r>
              <a:rPr lang="en-US" sz="2000" b="1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*SampleRTT</a:t>
            </a:r>
          </a:p>
        </p:txBody>
      </p:sp>
    </p:spTree>
    <p:extLst>
      <p:ext uri="{BB962C8B-B14F-4D97-AF65-F5344CB8AC3E}">
        <p14:creationId xmlns:p14="http://schemas.microsoft.com/office/powerpoint/2010/main" val="1533952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the TCP header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36869" name="Rectangle 4"/>
          <p:cNvSpPr>
            <a:spLocks noChangeArrowheads="1"/>
          </p:cNvSpPr>
          <p:nvPr/>
        </p:nvSpPr>
        <p:spPr bwMode="auto">
          <a:xfrm>
            <a:off x="3335338" y="1828800"/>
            <a:ext cx="23622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0" name="Text Box 5"/>
          <p:cNvSpPr txBox="1">
            <a:spLocks noChangeArrowheads="1"/>
          </p:cNvSpPr>
          <p:nvPr/>
        </p:nvSpPr>
        <p:spPr bwMode="auto">
          <a:xfrm>
            <a:off x="3716338" y="1874838"/>
            <a:ext cx="1497012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>
                <a:solidFill>
                  <a:srgbClr val="0000FF"/>
                </a:solidFill>
                <a:latin typeface="Arial" charset="0"/>
              </a:rPr>
              <a:t>Source port</a:t>
            </a:r>
          </a:p>
        </p:txBody>
      </p:sp>
      <p:sp>
        <p:nvSpPr>
          <p:cNvPr id="36871" name="Rectangle 6"/>
          <p:cNvSpPr>
            <a:spLocks noChangeArrowheads="1"/>
          </p:cNvSpPr>
          <p:nvPr/>
        </p:nvSpPr>
        <p:spPr bwMode="auto">
          <a:xfrm>
            <a:off x="5697538" y="1828800"/>
            <a:ext cx="25146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2" name="Text Box 7"/>
          <p:cNvSpPr txBox="1">
            <a:spLocks noChangeArrowheads="1"/>
          </p:cNvSpPr>
          <p:nvPr/>
        </p:nvSpPr>
        <p:spPr bwMode="auto">
          <a:xfrm>
            <a:off x="5849938" y="1874838"/>
            <a:ext cx="1963737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>
                <a:solidFill>
                  <a:srgbClr val="0000FF"/>
                </a:solidFill>
                <a:latin typeface="Arial" charset="0"/>
              </a:rPr>
              <a:t>Destination port</a:t>
            </a:r>
          </a:p>
        </p:txBody>
      </p:sp>
      <p:sp>
        <p:nvSpPr>
          <p:cNvPr id="36873" name="Rectangle 8"/>
          <p:cNvSpPr>
            <a:spLocks noChangeArrowheads="1"/>
          </p:cNvSpPr>
          <p:nvPr/>
        </p:nvSpPr>
        <p:spPr bwMode="auto">
          <a:xfrm>
            <a:off x="3335338" y="2362200"/>
            <a:ext cx="48768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4" name="Text Box 9"/>
          <p:cNvSpPr txBox="1">
            <a:spLocks noChangeArrowheads="1"/>
          </p:cNvSpPr>
          <p:nvPr/>
        </p:nvSpPr>
        <p:spPr bwMode="auto">
          <a:xfrm>
            <a:off x="4630738" y="2408238"/>
            <a:ext cx="2260600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>
                <a:solidFill>
                  <a:srgbClr val="0000FF"/>
                </a:solidFill>
                <a:latin typeface="Arial" charset="0"/>
              </a:rPr>
              <a:t>Sequence number</a:t>
            </a:r>
          </a:p>
        </p:txBody>
      </p:sp>
      <p:sp>
        <p:nvSpPr>
          <p:cNvPr id="36875" name="Rectangle 10"/>
          <p:cNvSpPr>
            <a:spLocks noChangeArrowheads="1"/>
          </p:cNvSpPr>
          <p:nvPr/>
        </p:nvSpPr>
        <p:spPr bwMode="auto">
          <a:xfrm>
            <a:off x="3335338" y="2819400"/>
            <a:ext cx="48768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6" name="Text Box 11"/>
          <p:cNvSpPr txBox="1">
            <a:spLocks noChangeArrowheads="1"/>
          </p:cNvSpPr>
          <p:nvPr/>
        </p:nvSpPr>
        <p:spPr bwMode="auto">
          <a:xfrm>
            <a:off x="4630738" y="2865438"/>
            <a:ext cx="2138727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>
                <a:solidFill>
                  <a:srgbClr val="0000FF"/>
                </a:solidFill>
                <a:latin typeface="Arial" charset="0"/>
              </a:rPr>
              <a:t>Acknowledgment</a:t>
            </a:r>
          </a:p>
        </p:txBody>
      </p:sp>
      <p:sp>
        <p:nvSpPr>
          <p:cNvPr id="36877" name="Rectangle 12"/>
          <p:cNvSpPr>
            <a:spLocks noChangeArrowheads="1"/>
          </p:cNvSpPr>
          <p:nvPr/>
        </p:nvSpPr>
        <p:spPr bwMode="auto">
          <a:xfrm>
            <a:off x="3335338" y="32766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80" name="Text Box 15"/>
          <p:cNvSpPr txBox="1">
            <a:spLocks noChangeArrowheads="1"/>
          </p:cNvSpPr>
          <p:nvPr/>
        </p:nvSpPr>
        <p:spPr bwMode="auto">
          <a:xfrm>
            <a:off x="3265488" y="3352800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HdrLen</a:t>
            </a:r>
          </a:p>
        </p:txBody>
      </p:sp>
      <p:sp>
        <p:nvSpPr>
          <p:cNvPr id="36881" name="Line 16"/>
          <p:cNvSpPr>
            <a:spLocks noChangeShapeType="1"/>
          </p:cNvSpPr>
          <p:nvPr/>
        </p:nvSpPr>
        <p:spPr bwMode="auto">
          <a:xfrm>
            <a:off x="4249738" y="3276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84" name="Text Box 19"/>
          <p:cNvSpPr txBox="1">
            <a:spLocks noChangeArrowheads="1"/>
          </p:cNvSpPr>
          <p:nvPr/>
        </p:nvSpPr>
        <p:spPr bwMode="auto">
          <a:xfrm>
            <a:off x="4325938" y="3398838"/>
            <a:ext cx="184731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endParaRPr lang="en-US" b="0" dirty="0">
              <a:solidFill>
                <a:srgbClr val="0000FF"/>
              </a:solidFill>
              <a:latin typeface="Arial" charset="0"/>
            </a:endParaRPr>
          </a:p>
        </p:txBody>
      </p:sp>
      <p:sp>
        <p:nvSpPr>
          <p:cNvPr id="36885" name="Rectangle 20"/>
          <p:cNvSpPr>
            <a:spLocks noChangeArrowheads="1"/>
          </p:cNvSpPr>
          <p:nvPr/>
        </p:nvSpPr>
        <p:spPr bwMode="auto">
          <a:xfrm>
            <a:off x="3335338" y="38100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86" name="Rectangle 21"/>
          <p:cNvSpPr>
            <a:spLocks noChangeArrowheads="1"/>
          </p:cNvSpPr>
          <p:nvPr/>
        </p:nvSpPr>
        <p:spPr bwMode="auto">
          <a:xfrm>
            <a:off x="5773738" y="38100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87" name="Text Box 22"/>
          <p:cNvSpPr txBox="1">
            <a:spLocks noChangeArrowheads="1"/>
          </p:cNvSpPr>
          <p:nvPr/>
        </p:nvSpPr>
        <p:spPr bwMode="auto">
          <a:xfrm>
            <a:off x="3700463" y="3897313"/>
            <a:ext cx="1384300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Checksum</a:t>
            </a:r>
          </a:p>
        </p:txBody>
      </p:sp>
      <p:sp>
        <p:nvSpPr>
          <p:cNvPr id="36888" name="Text Box 23"/>
          <p:cNvSpPr txBox="1">
            <a:spLocks noChangeArrowheads="1"/>
          </p:cNvSpPr>
          <p:nvPr/>
        </p:nvSpPr>
        <p:spPr bwMode="auto">
          <a:xfrm>
            <a:off x="6062663" y="3897313"/>
            <a:ext cx="1793875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Urgent pointer</a:t>
            </a:r>
          </a:p>
        </p:txBody>
      </p:sp>
      <p:sp>
        <p:nvSpPr>
          <p:cNvPr id="36891" name="Rectangle 26"/>
          <p:cNvSpPr>
            <a:spLocks noChangeArrowheads="1"/>
          </p:cNvSpPr>
          <p:nvPr/>
        </p:nvSpPr>
        <p:spPr bwMode="auto">
          <a:xfrm>
            <a:off x="3335338" y="4800600"/>
            <a:ext cx="4876800" cy="1143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400" b="0">
                <a:solidFill>
                  <a:schemeClr val="bg1"/>
                </a:solidFill>
                <a:latin typeface="Arial" charset="0"/>
              </a:rPr>
              <a:t>Data</a:t>
            </a:r>
          </a:p>
        </p:txBody>
      </p:sp>
      <p:sp>
        <p:nvSpPr>
          <p:cNvPr id="29" name="Oval 28"/>
          <p:cNvSpPr>
            <a:spLocks noChangeArrowheads="1"/>
          </p:cNvSpPr>
          <p:nvPr/>
        </p:nvSpPr>
        <p:spPr bwMode="auto">
          <a:xfrm>
            <a:off x="3194050" y="3200400"/>
            <a:ext cx="1131888" cy="609600"/>
          </a:xfrm>
          <a:prstGeom prst="ellips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FF6600"/>
              </a:solidFill>
            </a:endParaRPr>
          </a:p>
        </p:txBody>
      </p:sp>
      <p:sp>
        <p:nvSpPr>
          <p:cNvPr id="31" name="Text Box 27"/>
          <p:cNvSpPr txBox="1">
            <a:spLocks noChangeArrowheads="1"/>
          </p:cNvSpPr>
          <p:nvPr/>
        </p:nvSpPr>
        <p:spPr bwMode="auto">
          <a:xfrm>
            <a:off x="916532" y="2554427"/>
            <a:ext cx="2129881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r>
              <a:rPr lang="en-US" b="0" dirty="0">
                <a:solidFill>
                  <a:srgbClr val="0000FF"/>
                </a:solidFill>
                <a:latin typeface="Arial" charset="0"/>
              </a:rPr>
              <a:t>Number of 4-byte words in the header</a:t>
            </a:r>
          </a:p>
        </p:txBody>
      </p:sp>
    </p:spTree>
    <p:extLst>
      <p:ext uri="{BB962C8B-B14F-4D97-AF65-F5344CB8AC3E}">
        <p14:creationId xmlns:p14="http://schemas.microsoft.com/office/powerpoint/2010/main" val="2181116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Connection Establishment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81F2EB77-FB6C-2244-A076-ADF097535D48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1205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Sequence Number (ISN)</a:t>
            </a:r>
          </a:p>
        </p:txBody>
      </p:sp>
      <p:sp>
        <p:nvSpPr>
          <p:cNvPr id="9533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Sequence number for the very first byte</a:t>
            </a:r>
          </a:p>
          <a:p>
            <a:r>
              <a:rPr lang="en-US" dirty="0">
                <a:solidFill>
                  <a:srgbClr val="0000FF"/>
                </a:solidFill>
              </a:rPr>
              <a:t>Why not just use ISN = 0?</a:t>
            </a:r>
          </a:p>
          <a:p>
            <a:pPr lvl="1"/>
            <a:r>
              <a:rPr lang="en-US" dirty="0"/>
              <a:t>Practical issue</a:t>
            </a:r>
          </a:p>
          <a:p>
            <a:pPr lvl="2"/>
            <a:r>
              <a:rPr lang="en-US" dirty="0"/>
              <a:t>IP addresses and port #s uniquely identify a connection</a:t>
            </a:r>
          </a:p>
          <a:p>
            <a:pPr lvl="2"/>
            <a:r>
              <a:rPr lang="en-US" dirty="0"/>
              <a:t>Eventually, though, these port #s do get used again; small chance an old packet is still in flight</a:t>
            </a:r>
          </a:p>
          <a:p>
            <a:pPr lvl="2"/>
            <a:r>
              <a:rPr lang="en-US" dirty="0"/>
              <a:t>Also, others might try to spoof your connection</a:t>
            </a:r>
          </a:p>
          <a:p>
            <a:pPr lvl="1"/>
            <a:r>
              <a:rPr lang="en-US" dirty="0"/>
              <a:t>Why does using ISN help?</a:t>
            </a:r>
          </a:p>
          <a:p>
            <a:r>
              <a:rPr lang="en-US" dirty="0"/>
              <a:t>Hosts exchange ISNs when establishing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new</a:t>
            </a:r>
            <a:r>
              <a:rPr lang="en-US" dirty="0"/>
              <a:t> connection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64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3347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272FD-BA80-A222-1505-36FB4C15D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Sequence Number (ISN)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482A2-A2F0-00B9-550D-BAA626177E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00200"/>
            <a:ext cx="6629400" cy="4419600"/>
          </a:xfrm>
        </p:spPr>
        <p:txBody>
          <a:bodyPr/>
          <a:lstStyle/>
          <a:p>
            <a:r>
              <a:rPr lang="en-US" altLang="zh-CN" dirty="0"/>
              <a:t>Check</a:t>
            </a:r>
            <a:r>
              <a:rPr lang="zh-CN" altLang="en-US" dirty="0"/>
              <a:t> </a:t>
            </a:r>
            <a:r>
              <a:rPr lang="en-US" altLang="zh-CN" dirty="0"/>
              <a:t>RFC1948</a:t>
            </a:r>
          </a:p>
          <a:p>
            <a:pPr lvl="1"/>
            <a:r>
              <a:rPr lang="en-US" altLang="zh-CN" dirty="0"/>
              <a:t>obsoleted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RFC6528</a:t>
            </a:r>
            <a:r>
              <a:rPr lang="zh-CN" altLang="en-US" dirty="0"/>
              <a:t> </a:t>
            </a:r>
            <a:r>
              <a:rPr lang="en-US" altLang="zh-CN" dirty="0"/>
              <a:t>now</a:t>
            </a:r>
          </a:p>
          <a:p>
            <a:pPr lvl="1"/>
            <a:r>
              <a:rPr lang="en-US" altLang="zh-CN" dirty="0">
                <a:hlinkClick r:id="rId2"/>
              </a:rPr>
              <a:t>https://datatracker.ietf.org/doc/html/rfc1948</a:t>
            </a:r>
            <a:endParaRPr lang="en-US" altLang="zh-CN" dirty="0"/>
          </a:p>
          <a:p>
            <a:pPr lvl="1"/>
            <a:r>
              <a:rPr lang="en-US" altLang="zh-CN" dirty="0">
                <a:hlinkClick r:id="rId3"/>
              </a:rPr>
              <a:t>https://datatracker.ietf.org/doc/html/rfc6528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cryptographic</a:t>
            </a:r>
            <a:r>
              <a:rPr lang="zh-CN" altLang="en-US" dirty="0"/>
              <a:t> </a:t>
            </a:r>
            <a:r>
              <a:rPr lang="en-US" altLang="zh-CN" dirty="0"/>
              <a:t>hash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ports,</a:t>
            </a:r>
            <a:r>
              <a:rPr lang="zh-CN" altLang="en-US" dirty="0"/>
              <a:t> </a:t>
            </a:r>
            <a:r>
              <a:rPr lang="en-US" altLang="zh-CN" dirty="0"/>
              <a:t>addresses,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secret</a:t>
            </a:r>
            <a:r>
              <a:rPr lang="zh-CN" altLang="en-US" dirty="0"/>
              <a:t> </a:t>
            </a:r>
            <a:r>
              <a:rPr lang="en-US" altLang="zh-CN" dirty="0"/>
              <a:t>key</a:t>
            </a:r>
            <a:r>
              <a:rPr lang="zh-CN" altLang="en-US" dirty="0"/>
              <a:t> </a:t>
            </a:r>
            <a:endParaRPr lang="en-HK" altLang="zh-CN" dirty="0"/>
          </a:p>
          <a:p>
            <a:pPr lvl="1"/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random!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9007248-D62D-9EF4-55E8-C5B26FE7A2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3657600"/>
            <a:ext cx="2321169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DEEA6AB-6F23-4D4E-F11C-1A3D4EE66172}"/>
              </a:ext>
            </a:extLst>
          </p:cNvPr>
          <p:cNvSpPr txBox="1"/>
          <p:nvPr/>
        </p:nvSpPr>
        <p:spPr>
          <a:xfrm>
            <a:off x="4038600" y="6138446"/>
            <a:ext cx="2057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Steven</a:t>
            </a:r>
            <a:r>
              <a:rPr lang="zh-CN" altLang="en-US" dirty="0"/>
              <a:t> </a:t>
            </a:r>
            <a:r>
              <a:rPr lang="en-US" altLang="zh-CN" dirty="0"/>
              <a:t>M.</a:t>
            </a:r>
            <a:r>
              <a:rPr lang="zh-CN" altLang="en-US" dirty="0"/>
              <a:t> </a:t>
            </a:r>
            <a:r>
              <a:rPr lang="en-US" altLang="zh-CN" dirty="0" err="1"/>
              <a:t>Bellovin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8273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Establishing a TCP connection</a:t>
            </a:r>
          </a:p>
        </p:txBody>
      </p:sp>
      <p:sp>
        <p:nvSpPr>
          <p:cNvPr id="957443" name="Rectangle 3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>
                <a:solidFill>
                  <a:srgbClr val="0000FF"/>
                </a:solidFill>
              </a:rPr>
              <a:t>Three-way handshake</a:t>
            </a:r>
            <a:r>
              <a:rPr lang="en-US" sz="2400" dirty="0"/>
              <a:t> to establish </a:t>
            </a:r>
            <a:r>
              <a:rPr lang="en-US" altLang="zh-CN" sz="2400" dirty="0"/>
              <a:t>a</a:t>
            </a:r>
            <a:r>
              <a:rPr lang="zh-CN" altLang="en-US" sz="2400" dirty="0"/>
              <a:t> </a:t>
            </a:r>
            <a:r>
              <a:rPr lang="en-US" sz="2400" dirty="0"/>
              <a:t>connection</a:t>
            </a:r>
          </a:p>
          <a:p>
            <a:pPr lvl="1"/>
            <a:r>
              <a:rPr lang="en-US" sz="2000" dirty="0"/>
              <a:t>Host A sends a SYN (open; </a:t>
            </a:r>
            <a:r>
              <a:rPr lang="ja-JP" altLang="en-US" sz="2000" dirty="0"/>
              <a:t>“</a:t>
            </a:r>
            <a:r>
              <a:rPr lang="en-US" sz="2000" dirty="0"/>
              <a:t>synchronize sequence numbers</a:t>
            </a:r>
            <a:r>
              <a:rPr lang="ja-JP" altLang="en-US" sz="2000" dirty="0"/>
              <a:t>”</a:t>
            </a:r>
            <a:r>
              <a:rPr lang="en-US" sz="2000" dirty="0"/>
              <a:t>) to host B</a:t>
            </a:r>
          </a:p>
          <a:p>
            <a:pPr lvl="1"/>
            <a:r>
              <a:rPr lang="en-US" sz="2000" dirty="0"/>
              <a:t>Host B returns a SYN acknowledgment (SYN ACK)</a:t>
            </a:r>
          </a:p>
          <a:p>
            <a:pPr lvl="1"/>
            <a:r>
              <a:rPr lang="en-US" sz="2000" dirty="0"/>
              <a:t>Host A sends an ACK to acknowledge the SYN ACK</a:t>
            </a:r>
          </a:p>
          <a:p>
            <a:r>
              <a:rPr lang="en-US" altLang="zh-CN" sz="2700" dirty="0">
                <a:solidFill>
                  <a:srgbClr val="232323"/>
                </a:solidFill>
              </a:rPr>
              <a:t>Both</a:t>
            </a:r>
            <a:r>
              <a:rPr lang="zh-CN" altLang="en-US" sz="2700" dirty="0">
                <a:solidFill>
                  <a:srgbClr val="232323"/>
                </a:solidFill>
              </a:rPr>
              <a:t> </a:t>
            </a:r>
            <a:r>
              <a:rPr lang="en-US" altLang="zh-CN" sz="2700" dirty="0">
                <a:solidFill>
                  <a:srgbClr val="232323"/>
                </a:solidFill>
              </a:rPr>
              <a:t>parties</a:t>
            </a:r>
            <a:r>
              <a:rPr lang="zh-CN" altLang="en-US" sz="2700" dirty="0">
                <a:solidFill>
                  <a:srgbClr val="232323"/>
                </a:solidFill>
              </a:rPr>
              <a:t> </a:t>
            </a:r>
            <a:r>
              <a:rPr lang="en-US" altLang="zh-CN" sz="2700" dirty="0">
                <a:solidFill>
                  <a:srgbClr val="232323"/>
                </a:solidFill>
              </a:rPr>
              <a:t>need</a:t>
            </a:r>
            <a:r>
              <a:rPr lang="zh-CN" altLang="en-US" sz="2700" dirty="0">
                <a:solidFill>
                  <a:srgbClr val="232323"/>
                </a:solidFill>
              </a:rPr>
              <a:t> </a:t>
            </a:r>
            <a:r>
              <a:rPr lang="en-US" altLang="zh-CN" sz="2700" dirty="0">
                <a:solidFill>
                  <a:srgbClr val="232323"/>
                </a:solidFill>
              </a:rPr>
              <a:t>to</a:t>
            </a:r>
            <a:r>
              <a:rPr lang="zh-CN" altLang="en-US" sz="2700" dirty="0">
                <a:solidFill>
                  <a:srgbClr val="232323"/>
                </a:solidFill>
              </a:rPr>
              <a:t> </a:t>
            </a:r>
            <a:r>
              <a:rPr lang="en-US" altLang="zh-CN" sz="2700" dirty="0">
                <a:solidFill>
                  <a:srgbClr val="232323"/>
                </a:solidFill>
              </a:rPr>
              <a:t>send</a:t>
            </a:r>
            <a:r>
              <a:rPr lang="zh-CN" altLang="en-US" sz="2700" dirty="0">
                <a:solidFill>
                  <a:srgbClr val="232323"/>
                </a:solidFill>
              </a:rPr>
              <a:t> </a:t>
            </a:r>
            <a:r>
              <a:rPr lang="en-US" altLang="zh-CN" sz="2700" dirty="0">
                <a:solidFill>
                  <a:srgbClr val="232323"/>
                </a:solidFill>
              </a:rPr>
              <a:t>their</a:t>
            </a:r>
            <a:r>
              <a:rPr lang="zh-CN" altLang="en-US" sz="2700" dirty="0">
                <a:solidFill>
                  <a:srgbClr val="232323"/>
                </a:solidFill>
              </a:rPr>
              <a:t> </a:t>
            </a:r>
            <a:r>
              <a:rPr lang="en-US" altLang="zh-CN" sz="2700" dirty="0">
                <a:solidFill>
                  <a:srgbClr val="232323"/>
                </a:solidFill>
              </a:rPr>
              <a:t>ISNs</a:t>
            </a:r>
            <a:endParaRPr lang="en-US" sz="2300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F36FED86-94EF-254D-90EE-B810FE8299EE}" type="slidenum">
              <a:rPr lang="en-US" smtClean="0"/>
              <a:pPr/>
              <a:t>35</a:t>
            </a:fld>
            <a:endParaRPr lang="en-US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6146800" y="2230438"/>
            <a:ext cx="1603375" cy="631826"/>
            <a:chOff x="1544" y="979"/>
            <a:chExt cx="1010" cy="398"/>
          </a:xfrm>
        </p:grpSpPr>
        <p:sp>
          <p:nvSpPr>
            <p:cNvPr id="75798" name="Line 5"/>
            <p:cNvSpPr>
              <a:spLocks noChangeShapeType="1"/>
            </p:cNvSpPr>
            <p:nvPr/>
          </p:nvSpPr>
          <p:spPr bwMode="auto">
            <a:xfrm rot="5400000" flipV="1">
              <a:off x="1958" y="782"/>
              <a:ext cx="181" cy="101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75799" name="Text Box 6"/>
            <p:cNvSpPr txBox="1">
              <a:spLocks noChangeArrowheads="1"/>
            </p:cNvSpPr>
            <p:nvPr/>
          </p:nvSpPr>
          <p:spPr bwMode="auto">
            <a:xfrm rot="605430">
              <a:off x="1821" y="979"/>
              <a:ext cx="45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>
                  <a:solidFill>
                    <a:srgbClr val="0000FF"/>
                  </a:solidFill>
                  <a:latin typeface="Arial" charset="0"/>
                  <a:ea typeface="Arial" charset="0"/>
                </a:rPr>
                <a:t>SYN</a:t>
              </a:r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6157913" y="2871787"/>
            <a:ext cx="1574800" cy="520700"/>
            <a:chOff x="1551" y="1383"/>
            <a:chExt cx="992" cy="328"/>
          </a:xfrm>
        </p:grpSpPr>
        <p:sp>
          <p:nvSpPr>
            <p:cNvPr id="75796" name="Line 8"/>
            <p:cNvSpPr>
              <a:spLocks noChangeShapeType="1"/>
            </p:cNvSpPr>
            <p:nvPr/>
          </p:nvSpPr>
          <p:spPr bwMode="auto">
            <a:xfrm rot="5400000">
              <a:off x="1952" y="1121"/>
              <a:ext cx="189" cy="992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75797" name="Text Box 9"/>
            <p:cNvSpPr txBox="1">
              <a:spLocks noChangeArrowheads="1"/>
            </p:cNvSpPr>
            <p:nvPr/>
          </p:nvSpPr>
          <p:spPr bwMode="auto">
            <a:xfrm rot="10146980" flipH="1" flipV="1">
              <a:off x="1631" y="1383"/>
              <a:ext cx="8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>
                  <a:solidFill>
                    <a:srgbClr val="FF3300"/>
                  </a:solidFill>
                  <a:latin typeface="Arial" charset="0"/>
                  <a:ea typeface="Arial" charset="0"/>
                </a:rPr>
                <a:t>SYN ACK</a:t>
              </a:r>
            </a:p>
          </p:txBody>
        </p:sp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6135688" y="3527427"/>
            <a:ext cx="1600200" cy="614363"/>
            <a:chOff x="1537" y="1796"/>
            <a:chExt cx="1008" cy="387"/>
          </a:xfrm>
        </p:grpSpPr>
        <p:sp>
          <p:nvSpPr>
            <p:cNvPr id="75794" name="Line 11"/>
            <p:cNvSpPr>
              <a:spLocks noChangeShapeType="1"/>
            </p:cNvSpPr>
            <p:nvPr/>
          </p:nvSpPr>
          <p:spPr bwMode="auto">
            <a:xfrm rot="5400000" flipV="1">
              <a:off x="1897" y="1535"/>
              <a:ext cx="288" cy="1008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75795" name="Text Box 12"/>
            <p:cNvSpPr txBox="1">
              <a:spLocks noChangeArrowheads="1"/>
            </p:cNvSpPr>
            <p:nvPr/>
          </p:nvSpPr>
          <p:spPr bwMode="auto">
            <a:xfrm rot="1044999">
              <a:off x="1827" y="1796"/>
              <a:ext cx="45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 dirty="0">
                  <a:solidFill>
                    <a:srgbClr val="0000FF"/>
                  </a:solidFill>
                  <a:latin typeface="Arial" charset="0"/>
                  <a:ea typeface="Arial" charset="0"/>
                </a:rPr>
                <a:t>ACK</a:t>
              </a:r>
            </a:p>
          </p:txBody>
        </p:sp>
      </p:grpSp>
      <p:sp>
        <p:nvSpPr>
          <p:cNvPr id="75784" name="Line 13"/>
          <p:cNvSpPr>
            <a:spLocks noChangeShapeType="1"/>
          </p:cNvSpPr>
          <p:nvPr/>
        </p:nvSpPr>
        <p:spPr bwMode="auto">
          <a:xfrm rot="16200000" flipH="1">
            <a:off x="6295231" y="3809206"/>
            <a:ext cx="2890837" cy="635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75785" name="Line 14"/>
          <p:cNvSpPr>
            <a:spLocks noChangeShapeType="1"/>
          </p:cNvSpPr>
          <p:nvPr/>
        </p:nvSpPr>
        <p:spPr bwMode="auto">
          <a:xfrm rot="5400000">
            <a:off x="4744244" y="3769518"/>
            <a:ext cx="2797175" cy="23813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75786" name="Text Box 15"/>
          <p:cNvSpPr txBox="1">
            <a:spLocks noChangeArrowheads="1"/>
          </p:cNvSpPr>
          <p:nvPr/>
        </p:nvSpPr>
        <p:spPr bwMode="auto">
          <a:xfrm>
            <a:off x="5970588" y="1916112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2400" b="0">
                <a:solidFill>
                  <a:srgbClr val="0000FF"/>
                </a:solidFill>
                <a:latin typeface="Arial" charset="0"/>
                <a:ea typeface="Arial" charset="0"/>
              </a:rPr>
              <a:t>A</a:t>
            </a:r>
          </a:p>
        </p:txBody>
      </p:sp>
      <p:sp>
        <p:nvSpPr>
          <p:cNvPr id="75787" name="Text Box 16"/>
          <p:cNvSpPr txBox="1">
            <a:spLocks noChangeArrowheads="1"/>
          </p:cNvSpPr>
          <p:nvPr/>
        </p:nvSpPr>
        <p:spPr bwMode="auto">
          <a:xfrm>
            <a:off x="7537450" y="1878012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2400" b="0">
                <a:solidFill>
                  <a:srgbClr val="FF3300"/>
                </a:solidFill>
                <a:latin typeface="Arial" charset="0"/>
                <a:ea typeface="Arial" charset="0"/>
              </a:rPr>
              <a:t>B</a:t>
            </a:r>
          </a:p>
        </p:txBody>
      </p:sp>
      <p:grpSp>
        <p:nvGrpSpPr>
          <p:cNvPr id="5" name="Group 17"/>
          <p:cNvGrpSpPr>
            <a:grpSpLocks/>
          </p:cNvGrpSpPr>
          <p:nvPr/>
        </p:nvGrpSpPr>
        <p:grpSpPr bwMode="auto">
          <a:xfrm>
            <a:off x="6140450" y="4059238"/>
            <a:ext cx="1627188" cy="968376"/>
            <a:chOff x="1540" y="2131"/>
            <a:chExt cx="1025" cy="610"/>
          </a:xfrm>
        </p:grpSpPr>
        <p:sp>
          <p:nvSpPr>
            <p:cNvPr id="75790" name="Line 18"/>
            <p:cNvSpPr>
              <a:spLocks noChangeShapeType="1"/>
            </p:cNvSpPr>
            <p:nvPr/>
          </p:nvSpPr>
          <p:spPr bwMode="auto">
            <a:xfrm rot="5400000" flipV="1">
              <a:off x="1896" y="1874"/>
              <a:ext cx="296" cy="100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75791" name="Text Box 19"/>
            <p:cNvSpPr txBox="1">
              <a:spLocks noChangeArrowheads="1"/>
            </p:cNvSpPr>
            <p:nvPr/>
          </p:nvSpPr>
          <p:spPr bwMode="auto">
            <a:xfrm rot="1003808">
              <a:off x="1809" y="2131"/>
              <a:ext cx="45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 dirty="0">
                  <a:solidFill>
                    <a:srgbClr val="0000FF"/>
                  </a:solidFill>
                  <a:latin typeface="Arial" charset="0"/>
                  <a:ea typeface="Arial" charset="0"/>
                </a:rPr>
                <a:t>Data</a:t>
              </a:r>
            </a:p>
          </p:txBody>
        </p:sp>
        <p:sp>
          <p:nvSpPr>
            <p:cNvPr id="75792" name="Line 20"/>
            <p:cNvSpPr>
              <a:spLocks noChangeShapeType="1"/>
            </p:cNvSpPr>
            <p:nvPr/>
          </p:nvSpPr>
          <p:spPr bwMode="auto">
            <a:xfrm rot="5400000" flipV="1">
              <a:off x="1914" y="2089"/>
              <a:ext cx="296" cy="100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75793" name="Text Box 21"/>
            <p:cNvSpPr txBox="1">
              <a:spLocks noChangeArrowheads="1"/>
            </p:cNvSpPr>
            <p:nvPr/>
          </p:nvSpPr>
          <p:spPr bwMode="auto">
            <a:xfrm rot="1003808">
              <a:off x="1827" y="2346"/>
              <a:ext cx="45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>
                  <a:solidFill>
                    <a:srgbClr val="0000FF"/>
                  </a:solidFill>
                  <a:latin typeface="Arial" charset="0"/>
                  <a:ea typeface="Arial" charset="0"/>
                </a:rPr>
                <a:t>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6745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744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the TCP header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36869" name="Rectangle 4"/>
          <p:cNvSpPr>
            <a:spLocks noChangeArrowheads="1"/>
          </p:cNvSpPr>
          <p:nvPr/>
        </p:nvSpPr>
        <p:spPr bwMode="auto">
          <a:xfrm>
            <a:off x="3335338" y="1828800"/>
            <a:ext cx="23622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0" name="Text Box 5"/>
          <p:cNvSpPr txBox="1">
            <a:spLocks noChangeArrowheads="1"/>
          </p:cNvSpPr>
          <p:nvPr/>
        </p:nvSpPr>
        <p:spPr bwMode="auto">
          <a:xfrm>
            <a:off x="3716338" y="1874838"/>
            <a:ext cx="1497012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Source port</a:t>
            </a:r>
          </a:p>
        </p:txBody>
      </p:sp>
      <p:sp>
        <p:nvSpPr>
          <p:cNvPr id="36871" name="Rectangle 6"/>
          <p:cNvSpPr>
            <a:spLocks noChangeArrowheads="1"/>
          </p:cNvSpPr>
          <p:nvPr/>
        </p:nvSpPr>
        <p:spPr bwMode="auto">
          <a:xfrm>
            <a:off x="5697538" y="1828800"/>
            <a:ext cx="25146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2" name="Text Box 7"/>
          <p:cNvSpPr txBox="1">
            <a:spLocks noChangeArrowheads="1"/>
          </p:cNvSpPr>
          <p:nvPr/>
        </p:nvSpPr>
        <p:spPr bwMode="auto">
          <a:xfrm>
            <a:off x="5849938" y="1874838"/>
            <a:ext cx="1963737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Destination port</a:t>
            </a:r>
          </a:p>
        </p:txBody>
      </p:sp>
      <p:sp>
        <p:nvSpPr>
          <p:cNvPr id="36873" name="Rectangle 8"/>
          <p:cNvSpPr>
            <a:spLocks noChangeArrowheads="1"/>
          </p:cNvSpPr>
          <p:nvPr/>
        </p:nvSpPr>
        <p:spPr bwMode="auto">
          <a:xfrm>
            <a:off x="3335338" y="2362200"/>
            <a:ext cx="48768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4" name="Text Box 9"/>
          <p:cNvSpPr txBox="1">
            <a:spLocks noChangeArrowheads="1"/>
          </p:cNvSpPr>
          <p:nvPr/>
        </p:nvSpPr>
        <p:spPr bwMode="auto">
          <a:xfrm>
            <a:off x="4630738" y="2408238"/>
            <a:ext cx="2260600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Sequence number</a:t>
            </a:r>
          </a:p>
        </p:txBody>
      </p:sp>
      <p:sp>
        <p:nvSpPr>
          <p:cNvPr id="36875" name="Rectangle 10"/>
          <p:cNvSpPr>
            <a:spLocks noChangeArrowheads="1"/>
          </p:cNvSpPr>
          <p:nvPr/>
        </p:nvSpPr>
        <p:spPr bwMode="auto">
          <a:xfrm>
            <a:off x="3335338" y="2819400"/>
            <a:ext cx="48768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6" name="Text Box 11"/>
          <p:cNvSpPr txBox="1">
            <a:spLocks noChangeArrowheads="1"/>
          </p:cNvSpPr>
          <p:nvPr/>
        </p:nvSpPr>
        <p:spPr bwMode="auto">
          <a:xfrm>
            <a:off x="4630738" y="2865438"/>
            <a:ext cx="2138727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Acknowledgment</a:t>
            </a:r>
          </a:p>
        </p:txBody>
      </p:sp>
      <p:sp>
        <p:nvSpPr>
          <p:cNvPr id="36877" name="Rectangle 12"/>
          <p:cNvSpPr>
            <a:spLocks noChangeArrowheads="1"/>
          </p:cNvSpPr>
          <p:nvPr/>
        </p:nvSpPr>
        <p:spPr bwMode="auto">
          <a:xfrm>
            <a:off x="3335338" y="32766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0" name="Text Box 15"/>
          <p:cNvSpPr txBox="1">
            <a:spLocks noChangeArrowheads="1"/>
          </p:cNvSpPr>
          <p:nvPr/>
        </p:nvSpPr>
        <p:spPr bwMode="auto">
          <a:xfrm>
            <a:off x="3265488" y="3352800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HdrLen</a:t>
            </a:r>
          </a:p>
        </p:txBody>
      </p:sp>
      <p:sp>
        <p:nvSpPr>
          <p:cNvPr id="36881" name="Line 16"/>
          <p:cNvSpPr>
            <a:spLocks noChangeShapeType="1"/>
          </p:cNvSpPr>
          <p:nvPr/>
        </p:nvSpPr>
        <p:spPr bwMode="auto">
          <a:xfrm>
            <a:off x="4249738" y="3276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2" name="Line 17"/>
          <p:cNvSpPr>
            <a:spLocks noChangeShapeType="1"/>
          </p:cNvSpPr>
          <p:nvPr/>
        </p:nvSpPr>
        <p:spPr bwMode="auto">
          <a:xfrm>
            <a:off x="4706938" y="3276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3" name="Text Box 18"/>
          <p:cNvSpPr txBox="1">
            <a:spLocks noChangeArrowheads="1"/>
          </p:cNvSpPr>
          <p:nvPr/>
        </p:nvSpPr>
        <p:spPr bwMode="auto">
          <a:xfrm>
            <a:off x="4919663" y="3363913"/>
            <a:ext cx="813043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Flags</a:t>
            </a:r>
          </a:p>
        </p:txBody>
      </p:sp>
      <p:sp>
        <p:nvSpPr>
          <p:cNvPr id="36884" name="Text Box 19"/>
          <p:cNvSpPr txBox="1">
            <a:spLocks noChangeArrowheads="1"/>
          </p:cNvSpPr>
          <p:nvPr/>
        </p:nvSpPr>
        <p:spPr bwMode="auto">
          <a:xfrm>
            <a:off x="4325938" y="3398838"/>
            <a:ext cx="325437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0</a:t>
            </a:r>
          </a:p>
        </p:txBody>
      </p:sp>
      <p:sp>
        <p:nvSpPr>
          <p:cNvPr id="36885" name="Rectangle 20"/>
          <p:cNvSpPr>
            <a:spLocks noChangeArrowheads="1"/>
          </p:cNvSpPr>
          <p:nvPr/>
        </p:nvSpPr>
        <p:spPr bwMode="auto">
          <a:xfrm>
            <a:off x="3335338" y="38100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6" name="Rectangle 21"/>
          <p:cNvSpPr>
            <a:spLocks noChangeArrowheads="1"/>
          </p:cNvSpPr>
          <p:nvPr/>
        </p:nvSpPr>
        <p:spPr bwMode="auto">
          <a:xfrm>
            <a:off x="5773738" y="38100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7" name="Text Box 22"/>
          <p:cNvSpPr txBox="1">
            <a:spLocks noChangeArrowheads="1"/>
          </p:cNvSpPr>
          <p:nvPr/>
        </p:nvSpPr>
        <p:spPr bwMode="auto">
          <a:xfrm>
            <a:off x="3700463" y="3897313"/>
            <a:ext cx="1384300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Checksum</a:t>
            </a:r>
          </a:p>
        </p:txBody>
      </p:sp>
      <p:sp>
        <p:nvSpPr>
          <p:cNvPr id="36888" name="Text Box 23"/>
          <p:cNvSpPr txBox="1">
            <a:spLocks noChangeArrowheads="1"/>
          </p:cNvSpPr>
          <p:nvPr/>
        </p:nvSpPr>
        <p:spPr bwMode="auto">
          <a:xfrm>
            <a:off x="6062663" y="3897313"/>
            <a:ext cx="1793875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Urgent pointer</a:t>
            </a:r>
          </a:p>
        </p:txBody>
      </p:sp>
      <p:sp>
        <p:nvSpPr>
          <p:cNvPr id="36891" name="Rectangle 26"/>
          <p:cNvSpPr>
            <a:spLocks noChangeArrowheads="1"/>
          </p:cNvSpPr>
          <p:nvPr/>
        </p:nvSpPr>
        <p:spPr bwMode="auto">
          <a:xfrm>
            <a:off x="3335338" y="4800600"/>
            <a:ext cx="4876800" cy="1143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400" b="0">
                <a:solidFill>
                  <a:schemeClr val="bg1"/>
                </a:solidFill>
                <a:latin typeface="Arial" charset="0"/>
              </a:rPr>
              <a:t>Data</a:t>
            </a:r>
          </a:p>
        </p:txBody>
      </p:sp>
      <p:sp>
        <p:nvSpPr>
          <p:cNvPr id="29" name="Oval 28"/>
          <p:cNvSpPr>
            <a:spLocks noChangeArrowheads="1"/>
          </p:cNvSpPr>
          <p:nvPr/>
        </p:nvSpPr>
        <p:spPr bwMode="auto">
          <a:xfrm>
            <a:off x="4811712" y="3276600"/>
            <a:ext cx="1131888" cy="609600"/>
          </a:xfrm>
          <a:prstGeom prst="ellips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1" name="Text Box 27"/>
          <p:cNvSpPr txBox="1">
            <a:spLocks noChangeArrowheads="1"/>
          </p:cNvSpPr>
          <p:nvPr/>
        </p:nvSpPr>
        <p:spPr bwMode="auto">
          <a:xfrm>
            <a:off x="916532" y="2554427"/>
            <a:ext cx="2129881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r>
              <a:rPr lang="en-US" dirty="0">
                <a:solidFill>
                  <a:srgbClr val="0000FF"/>
                </a:solidFill>
                <a:latin typeface="Arial" charset="0"/>
              </a:rPr>
              <a:t>Flags:</a:t>
            </a:r>
          </a:p>
          <a:p>
            <a:r>
              <a:rPr lang="en-US" b="0" u="sng" dirty="0">
                <a:solidFill>
                  <a:srgbClr val="0000FF"/>
                </a:solidFill>
                <a:latin typeface="Arial" charset="0"/>
              </a:rPr>
              <a:t>SYN</a:t>
            </a:r>
          </a:p>
          <a:p>
            <a:r>
              <a:rPr lang="en-US" b="0" u="sng" dirty="0">
                <a:solidFill>
                  <a:srgbClr val="0000FF"/>
                </a:solidFill>
                <a:latin typeface="Arial" charset="0"/>
              </a:rPr>
              <a:t>ACK</a:t>
            </a:r>
          </a:p>
          <a:p>
            <a:r>
              <a:rPr lang="en-US" b="0" dirty="0">
                <a:solidFill>
                  <a:srgbClr val="0000FF"/>
                </a:solidFill>
                <a:latin typeface="Arial" charset="0"/>
              </a:rPr>
              <a:t>FIN</a:t>
            </a:r>
          </a:p>
          <a:p>
            <a:r>
              <a:rPr lang="en-US" b="0" dirty="0">
                <a:solidFill>
                  <a:srgbClr val="0000FF"/>
                </a:solidFill>
                <a:latin typeface="Arial" charset="0"/>
              </a:rPr>
              <a:t>RST</a:t>
            </a:r>
          </a:p>
          <a:p>
            <a:r>
              <a:rPr lang="en-US" b="0" dirty="0">
                <a:solidFill>
                  <a:srgbClr val="0000FF"/>
                </a:solidFill>
                <a:latin typeface="Arial" charset="0"/>
              </a:rPr>
              <a:t>PSH</a:t>
            </a:r>
          </a:p>
          <a:p>
            <a:r>
              <a:rPr lang="en-US" b="0" dirty="0">
                <a:solidFill>
                  <a:srgbClr val="0000FF"/>
                </a:solidFill>
                <a:latin typeface="Arial" charset="0"/>
              </a:rPr>
              <a:t>URG</a:t>
            </a:r>
          </a:p>
          <a:p>
            <a:endParaRPr lang="en-US" b="0" dirty="0">
              <a:solidFill>
                <a:srgbClr val="0000FF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57031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A’s initial SYN packet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36869" name="Rectangle 4"/>
          <p:cNvSpPr>
            <a:spLocks noChangeArrowheads="1"/>
          </p:cNvSpPr>
          <p:nvPr/>
        </p:nvSpPr>
        <p:spPr bwMode="auto">
          <a:xfrm>
            <a:off x="3335338" y="1828800"/>
            <a:ext cx="23622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0" name="Text Box 5"/>
          <p:cNvSpPr txBox="1">
            <a:spLocks noChangeArrowheads="1"/>
          </p:cNvSpPr>
          <p:nvPr/>
        </p:nvSpPr>
        <p:spPr bwMode="auto">
          <a:xfrm>
            <a:off x="3999303" y="1874838"/>
            <a:ext cx="1029897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A’s port</a:t>
            </a:r>
          </a:p>
        </p:txBody>
      </p:sp>
      <p:sp>
        <p:nvSpPr>
          <p:cNvPr id="36871" name="Rectangle 6"/>
          <p:cNvSpPr>
            <a:spLocks noChangeArrowheads="1"/>
          </p:cNvSpPr>
          <p:nvPr/>
        </p:nvSpPr>
        <p:spPr bwMode="auto">
          <a:xfrm>
            <a:off x="5697538" y="1828800"/>
            <a:ext cx="25146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2" name="Text Box 7"/>
          <p:cNvSpPr txBox="1">
            <a:spLocks noChangeArrowheads="1"/>
          </p:cNvSpPr>
          <p:nvPr/>
        </p:nvSpPr>
        <p:spPr bwMode="auto">
          <a:xfrm>
            <a:off x="6418723" y="1874838"/>
            <a:ext cx="1048877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B’s port</a:t>
            </a:r>
          </a:p>
        </p:txBody>
      </p:sp>
      <p:sp>
        <p:nvSpPr>
          <p:cNvPr id="36873" name="Rectangle 8"/>
          <p:cNvSpPr>
            <a:spLocks noChangeArrowheads="1"/>
          </p:cNvSpPr>
          <p:nvPr/>
        </p:nvSpPr>
        <p:spPr bwMode="auto">
          <a:xfrm>
            <a:off x="3335338" y="2362200"/>
            <a:ext cx="48768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4" name="Text Box 9"/>
          <p:cNvSpPr txBox="1">
            <a:spLocks noChangeArrowheads="1"/>
          </p:cNvSpPr>
          <p:nvPr/>
        </p:nvSpPr>
        <p:spPr bwMode="auto">
          <a:xfrm>
            <a:off x="3993867" y="2408238"/>
            <a:ext cx="3397533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A’s Initial Sequence Number</a:t>
            </a:r>
          </a:p>
        </p:txBody>
      </p:sp>
      <p:sp>
        <p:nvSpPr>
          <p:cNvPr id="36875" name="Rectangle 10"/>
          <p:cNvSpPr>
            <a:spLocks noChangeArrowheads="1"/>
          </p:cNvSpPr>
          <p:nvPr/>
        </p:nvSpPr>
        <p:spPr bwMode="auto">
          <a:xfrm>
            <a:off x="3335338" y="2819400"/>
            <a:ext cx="48768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6" name="Text Box 11"/>
          <p:cNvSpPr txBox="1">
            <a:spLocks noChangeArrowheads="1"/>
          </p:cNvSpPr>
          <p:nvPr/>
        </p:nvSpPr>
        <p:spPr bwMode="auto">
          <a:xfrm>
            <a:off x="5407132" y="2865438"/>
            <a:ext cx="612668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N/A</a:t>
            </a:r>
          </a:p>
        </p:txBody>
      </p:sp>
      <p:sp>
        <p:nvSpPr>
          <p:cNvPr id="36877" name="Rectangle 12"/>
          <p:cNvSpPr>
            <a:spLocks noChangeArrowheads="1"/>
          </p:cNvSpPr>
          <p:nvPr/>
        </p:nvSpPr>
        <p:spPr bwMode="auto">
          <a:xfrm>
            <a:off x="3335338" y="32766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0" name="Text Box 15"/>
          <p:cNvSpPr txBox="1">
            <a:spLocks noChangeArrowheads="1"/>
          </p:cNvSpPr>
          <p:nvPr/>
        </p:nvSpPr>
        <p:spPr bwMode="auto">
          <a:xfrm>
            <a:off x="3265488" y="3344863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b="0" dirty="0">
                <a:solidFill>
                  <a:srgbClr val="0000FF"/>
                </a:solidFill>
                <a:latin typeface="Arial" charset="0"/>
              </a:rPr>
              <a:t>5</a:t>
            </a:r>
          </a:p>
        </p:txBody>
      </p:sp>
      <p:sp>
        <p:nvSpPr>
          <p:cNvPr id="36881" name="Line 16"/>
          <p:cNvSpPr>
            <a:spLocks noChangeShapeType="1"/>
          </p:cNvSpPr>
          <p:nvPr/>
        </p:nvSpPr>
        <p:spPr bwMode="auto">
          <a:xfrm>
            <a:off x="4249738" y="3276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2" name="Line 17"/>
          <p:cNvSpPr>
            <a:spLocks noChangeShapeType="1"/>
          </p:cNvSpPr>
          <p:nvPr/>
        </p:nvSpPr>
        <p:spPr bwMode="auto">
          <a:xfrm>
            <a:off x="4706938" y="3276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3" name="Text Box 18"/>
          <p:cNvSpPr txBox="1">
            <a:spLocks noChangeArrowheads="1"/>
          </p:cNvSpPr>
          <p:nvPr/>
        </p:nvSpPr>
        <p:spPr bwMode="auto">
          <a:xfrm>
            <a:off x="4919663" y="3343245"/>
            <a:ext cx="713657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SYN</a:t>
            </a:r>
          </a:p>
        </p:txBody>
      </p:sp>
      <p:sp>
        <p:nvSpPr>
          <p:cNvPr id="36884" name="Text Box 19"/>
          <p:cNvSpPr txBox="1">
            <a:spLocks noChangeArrowheads="1"/>
          </p:cNvSpPr>
          <p:nvPr/>
        </p:nvSpPr>
        <p:spPr bwMode="auto">
          <a:xfrm>
            <a:off x="4325938" y="3344863"/>
            <a:ext cx="325437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chemeClr val="accent2"/>
                </a:solidFill>
                <a:latin typeface="Arial" charset="0"/>
              </a:rPr>
              <a:t>0</a:t>
            </a:r>
          </a:p>
        </p:txBody>
      </p:sp>
      <p:sp>
        <p:nvSpPr>
          <p:cNvPr id="36885" name="Rectangle 20"/>
          <p:cNvSpPr>
            <a:spLocks noChangeArrowheads="1"/>
          </p:cNvSpPr>
          <p:nvPr/>
        </p:nvSpPr>
        <p:spPr bwMode="auto">
          <a:xfrm>
            <a:off x="3335338" y="38100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6" name="Rectangle 21"/>
          <p:cNvSpPr>
            <a:spLocks noChangeArrowheads="1"/>
          </p:cNvSpPr>
          <p:nvPr/>
        </p:nvSpPr>
        <p:spPr bwMode="auto">
          <a:xfrm>
            <a:off x="5773738" y="38100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7" name="Text Box 22"/>
          <p:cNvSpPr txBox="1">
            <a:spLocks noChangeArrowheads="1"/>
          </p:cNvSpPr>
          <p:nvPr/>
        </p:nvSpPr>
        <p:spPr bwMode="auto">
          <a:xfrm>
            <a:off x="3700463" y="3897313"/>
            <a:ext cx="1384300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chemeClr val="accent2"/>
                </a:solidFill>
                <a:latin typeface="Arial" charset="0"/>
              </a:rPr>
              <a:t>Checksum</a:t>
            </a:r>
          </a:p>
        </p:txBody>
      </p:sp>
      <p:sp>
        <p:nvSpPr>
          <p:cNvPr id="36888" name="Text Box 23"/>
          <p:cNvSpPr txBox="1">
            <a:spLocks noChangeArrowheads="1"/>
          </p:cNvSpPr>
          <p:nvPr/>
        </p:nvSpPr>
        <p:spPr bwMode="auto">
          <a:xfrm>
            <a:off x="6062663" y="3897313"/>
            <a:ext cx="1793875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chemeClr val="accent2"/>
                </a:solidFill>
                <a:latin typeface="Arial" charset="0"/>
              </a:rPr>
              <a:t>Urgent pointer</a:t>
            </a:r>
          </a:p>
        </p:txBody>
      </p:sp>
      <p:sp>
        <p:nvSpPr>
          <p:cNvPr id="28" name="Text Box 27"/>
          <p:cNvSpPr txBox="1">
            <a:spLocks noChangeArrowheads="1"/>
          </p:cNvSpPr>
          <p:nvPr/>
        </p:nvSpPr>
        <p:spPr bwMode="auto">
          <a:xfrm>
            <a:off x="916532" y="2554427"/>
            <a:ext cx="212988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r>
              <a:rPr lang="en-US" b="0" dirty="0">
                <a:solidFill>
                  <a:srgbClr val="0000FF"/>
                </a:solidFill>
                <a:latin typeface="Arial" charset="0"/>
              </a:rPr>
              <a:t>A tells B to open a connection</a:t>
            </a:r>
          </a:p>
        </p:txBody>
      </p:sp>
    </p:spTree>
    <p:extLst>
      <p:ext uri="{BB962C8B-B14F-4D97-AF65-F5344CB8AC3E}">
        <p14:creationId xmlns:p14="http://schemas.microsoft.com/office/powerpoint/2010/main" val="2723644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</a:t>
            </a:r>
            <a:r>
              <a:rPr lang="en-US" altLang="zh-CN" dirty="0"/>
              <a:t>2</a:t>
            </a:r>
            <a:r>
              <a:rPr lang="en-US" dirty="0"/>
              <a:t>: B’s SYN-ACK packet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36869" name="Rectangle 4"/>
          <p:cNvSpPr>
            <a:spLocks noChangeArrowheads="1"/>
          </p:cNvSpPr>
          <p:nvPr/>
        </p:nvSpPr>
        <p:spPr bwMode="auto">
          <a:xfrm>
            <a:off x="3335338" y="1828800"/>
            <a:ext cx="23622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0" name="Text Box 5"/>
          <p:cNvSpPr txBox="1">
            <a:spLocks noChangeArrowheads="1"/>
          </p:cNvSpPr>
          <p:nvPr/>
        </p:nvSpPr>
        <p:spPr bwMode="auto">
          <a:xfrm>
            <a:off x="3999303" y="1874838"/>
            <a:ext cx="1048877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B’s port</a:t>
            </a:r>
          </a:p>
        </p:txBody>
      </p:sp>
      <p:sp>
        <p:nvSpPr>
          <p:cNvPr id="36871" name="Rectangle 6"/>
          <p:cNvSpPr>
            <a:spLocks noChangeArrowheads="1"/>
          </p:cNvSpPr>
          <p:nvPr/>
        </p:nvSpPr>
        <p:spPr bwMode="auto">
          <a:xfrm>
            <a:off x="5697538" y="1828800"/>
            <a:ext cx="25146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2" name="Text Box 7"/>
          <p:cNvSpPr txBox="1">
            <a:spLocks noChangeArrowheads="1"/>
          </p:cNvSpPr>
          <p:nvPr/>
        </p:nvSpPr>
        <p:spPr bwMode="auto">
          <a:xfrm>
            <a:off x="6418723" y="1874838"/>
            <a:ext cx="1048877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A’s port</a:t>
            </a:r>
          </a:p>
        </p:txBody>
      </p:sp>
      <p:sp>
        <p:nvSpPr>
          <p:cNvPr id="36873" name="Rectangle 8"/>
          <p:cNvSpPr>
            <a:spLocks noChangeArrowheads="1"/>
          </p:cNvSpPr>
          <p:nvPr/>
        </p:nvSpPr>
        <p:spPr bwMode="auto">
          <a:xfrm>
            <a:off x="3335338" y="2362200"/>
            <a:ext cx="48768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4" name="Text Box 9"/>
          <p:cNvSpPr txBox="1">
            <a:spLocks noChangeArrowheads="1"/>
          </p:cNvSpPr>
          <p:nvPr/>
        </p:nvSpPr>
        <p:spPr bwMode="auto">
          <a:xfrm>
            <a:off x="3993867" y="2408238"/>
            <a:ext cx="3397533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B’s Initial Sequence Number</a:t>
            </a:r>
          </a:p>
        </p:txBody>
      </p:sp>
      <p:sp>
        <p:nvSpPr>
          <p:cNvPr id="36875" name="Rectangle 10"/>
          <p:cNvSpPr>
            <a:spLocks noChangeArrowheads="1"/>
          </p:cNvSpPr>
          <p:nvPr/>
        </p:nvSpPr>
        <p:spPr bwMode="auto">
          <a:xfrm>
            <a:off x="3335338" y="2819400"/>
            <a:ext cx="48768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6" name="Text Box 11"/>
          <p:cNvSpPr txBox="1">
            <a:spLocks noChangeArrowheads="1"/>
          </p:cNvSpPr>
          <p:nvPr/>
        </p:nvSpPr>
        <p:spPr bwMode="auto">
          <a:xfrm>
            <a:off x="4724400" y="2865438"/>
            <a:ext cx="1986891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>
                <a:solidFill>
                  <a:srgbClr val="0000FF"/>
                </a:solidFill>
                <a:latin typeface="Arial" charset="0"/>
              </a:rPr>
              <a:t>ACK=A’s ISN+1</a:t>
            </a:r>
            <a:endParaRPr lang="en-US" b="0" dirty="0">
              <a:solidFill>
                <a:srgbClr val="0000FF"/>
              </a:solidFill>
              <a:latin typeface="Arial" charset="0"/>
            </a:endParaRPr>
          </a:p>
        </p:txBody>
      </p:sp>
      <p:sp>
        <p:nvSpPr>
          <p:cNvPr id="36877" name="Rectangle 12"/>
          <p:cNvSpPr>
            <a:spLocks noChangeArrowheads="1"/>
          </p:cNvSpPr>
          <p:nvPr/>
        </p:nvSpPr>
        <p:spPr bwMode="auto">
          <a:xfrm>
            <a:off x="3335338" y="32766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0" name="Text Box 15"/>
          <p:cNvSpPr txBox="1">
            <a:spLocks noChangeArrowheads="1"/>
          </p:cNvSpPr>
          <p:nvPr/>
        </p:nvSpPr>
        <p:spPr bwMode="auto">
          <a:xfrm>
            <a:off x="3265488" y="3344863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b="0" dirty="0">
                <a:solidFill>
                  <a:srgbClr val="0000FF"/>
                </a:solidFill>
                <a:latin typeface="Arial" charset="0"/>
              </a:rPr>
              <a:t>5</a:t>
            </a:r>
          </a:p>
        </p:txBody>
      </p:sp>
      <p:sp>
        <p:nvSpPr>
          <p:cNvPr id="36881" name="Line 16"/>
          <p:cNvSpPr>
            <a:spLocks noChangeShapeType="1"/>
          </p:cNvSpPr>
          <p:nvPr/>
        </p:nvSpPr>
        <p:spPr bwMode="auto">
          <a:xfrm>
            <a:off x="4249738" y="3276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2" name="Line 17"/>
          <p:cNvSpPr>
            <a:spLocks noChangeShapeType="1"/>
          </p:cNvSpPr>
          <p:nvPr/>
        </p:nvSpPr>
        <p:spPr bwMode="auto">
          <a:xfrm>
            <a:off x="4706938" y="3276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3" name="Text Box 18"/>
          <p:cNvSpPr txBox="1">
            <a:spLocks noChangeArrowheads="1"/>
          </p:cNvSpPr>
          <p:nvPr/>
        </p:nvSpPr>
        <p:spPr bwMode="auto">
          <a:xfrm>
            <a:off x="4724400" y="3389412"/>
            <a:ext cx="971741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400" b="0">
                <a:solidFill>
                  <a:srgbClr val="0000FF"/>
                </a:solidFill>
                <a:latin typeface="Arial" charset="0"/>
              </a:rPr>
              <a:t>SYN|ACK</a:t>
            </a:r>
            <a:endParaRPr lang="en-US" sz="1400" b="0" dirty="0">
              <a:solidFill>
                <a:srgbClr val="0000FF"/>
              </a:solidFill>
              <a:latin typeface="Arial" charset="0"/>
            </a:endParaRPr>
          </a:p>
        </p:txBody>
      </p:sp>
      <p:sp>
        <p:nvSpPr>
          <p:cNvPr id="36884" name="Text Box 19"/>
          <p:cNvSpPr txBox="1">
            <a:spLocks noChangeArrowheads="1"/>
          </p:cNvSpPr>
          <p:nvPr/>
        </p:nvSpPr>
        <p:spPr bwMode="auto">
          <a:xfrm>
            <a:off x="4325938" y="3344863"/>
            <a:ext cx="325437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chemeClr val="accent2"/>
                </a:solidFill>
                <a:latin typeface="Arial" charset="0"/>
              </a:rPr>
              <a:t>0</a:t>
            </a:r>
          </a:p>
        </p:txBody>
      </p:sp>
      <p:sp>
        <p:nvSpPr>
          <p:cNvPr id="36885" name="Rectangle 20"/>
          <p:cNvSpPr>
            <a:spLocks noChangeArrowheads="1"/>
          </p:cNvSpPr>
          <p:nvPr/>
        </p:nvSpPr>
        <p:spPr bwMode="auto">
          <a:xfrm>
            <a:off x="3335338" y="38100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6" name="Rectangle 21"/>
          <p:cNvSpPr>
            <a:spLocks noChangeArrowheads="1"/>
          </p:cNvSpPr>
          <p:nvPr/>
        </p:nvSpPr>
        <p:spPr bwMode="auto">
          <a:xfrm>
            <a:off x="5773738" y="38100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7" name="Text Box 22"/>
          <p:cNvSpPr txBox="1">
            <a:spLocks noChangeArrowheads="1"/>
          </p:cNvSpPr>
          <p:nvPr/>
        </p:nvSpPr>
        <p:spPr bwMode="auto">
          <a:xfrm>
            <a:off x="3700463" y="3897313"/>
            <a:ext cx="1384300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chemeClr val="accent2"/>
                </a:solidFill>
                <a:latin typeface="Arial" charset="0"/>
              </a:rPr>
              <a:t>Checksum</a:t>
            </a:r>
          </a:p>
        </p:txBody>
      </p:sp>
      <p:sp>
        <p:nvSpPr>
          <p:cNvPr id="36888" name="Text Box 23"/>
          <p:cNvSpPr txBox="1">
            <a:spLocks noChangeArrowheads="1"/>
          </p:cNvSpPr>
          <p:nvPr/>
        </p:nvSpPr>
        <p:spPr bwMode="auto">
          <a:xfrm>
            <a:off x="6062663" y="3897313"/>
            <a:ext cx="1793875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chemeClr val="accent2"/>
                </a:solidFill>
                <a:latin typeface="Arial" charset="0"/>
              </a:rPr>
              <a:t>Urgent pointer</a:t>
            </a:r>
          </a:p>
        </p:txBody>
      </p:sp>
      <p:sp>
        <p:nvSpPr>
          <p:cNvPr id="28" name="Text Box 27"/>
          <p:cNvSpPr txBox="1">
            <a:spLocks noChangeArrowheads="1"/>
          </p:cNvSpPr>
          <p:nvPr/>
        </p:nvSpPr>
        <p:spPr bwMode="auto">
          <a:xfrm>
            <a:off x="916532" y="2554427"/>
            <a:ext cx="2129881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r>
              <a:rPr lang="en-US" b="0" dirty="0">
                <a:solidFill>
                  <a:srgbClr val="0000FF"/>
                </a:solidFill>
                <a:latin typeface="Arial" charset="0"/>
              </a:rPr>
              <a:t>B tells it accepts and is ready to accept next packet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D5954FD-6531-4D61-F7D3-C5A4DA9AB98C}"/>
                  </a:ext>
                </a:extLst>
              </p14:cNvPr>
              <p14:cNvContentPartPr/>
              <p14:nvPr/>
            </p14:nvContentPartPr>
            <p14:xfrm>
              <a:off x="4680720" y="3193920"/>
              <a:ext cx="1948320" cy="93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D5954FD-6531-4D61-F7D3-C5A4DA9AB98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71360" y="3184560"/>
                <a:ext cx="1967040" cy="11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901089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</a:t>
            </a:r>
            <a:r>
              <a:rPr lang="en-US" altLang="zh-CN" dirty="0"/>
              <a:t>3</a:t>
            </a:r>
            <a:r>
              <a:rPr lang="en-US" dirty="0"/>
              <a:t>: A’s ACK to SYN-ACK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36869" name="Rectangle 4"/>
          <p:cNvSpPr>
            <a:spLocks noChangeArrowheads="1"/>
          </p:cNvSpPr>
          <p:nvPr/>
        </p:nvSpPr>
        <p:spPr bwMode="auto">
          <a:xfrm>
            <a:off x="3335338" y="1828800"/>
            <a:ext cx="23622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0" name="Text Box 5"/>
          <p:cNvSpPr txBox="1">
            <a:spLocks noChangeArrowheads="1"/>
          </p:cNvSpPr>
          <p:nvPr/>
        </p:nvSpPr>
        <p:spPr bwMode="auto">
          <a:xfrm>
            <a:off x="3999303" y="1874838"/>
            <a:ext cx="1029897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A’s port</a:t>
            </a:r>
          </a:p>
        </p:txBody>
      </p:sp>
      <p:sp>
        <p:nvSpPr>
          <p:cNvPr id="36871" name="Rectangle 6"/>
          <p:cNvSpPr>
            <a:spLocks noChangeArrowheads="1"/>
          </p:cNvSpPr>
          <p:nvPr/>
        </p:nvSpPr>
        <p:spPr bwMode="auto">
          <a:xfrm>
            <a:off x="5697538" y="1828800"/>
            <a:ext cx="25146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2" name="Text Box 7"/>
          <p:cNvSpPr txBox="1">
            <a:spLocks noChangeArrowheads="1"/>
          </p:cNvSpPr>
          <p:nvPr/>
        </p:nvSpPr>
        <p:spPr bwMode="auto">
          <a:xfrm>
            <a:off x="6418723" y="1874838"/>
            <a:ext cx="1048877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B’s port</a:t>
            </a:r>
          </a:p>
        </p:txBody>
      </p:sp>
      <p:sp>
        <p:nvSpPr>
          <p:cNvPr id="36873" name="Rectangle 8"/>
          <p:cNvSpPr>
            <a:spLocks noChangeArrowheads="1"/>
          </p:cNvSpPr>
          <p:nvPr/>
        </p:nvSpPr>
        <p:spPr bwMode="auto">
          <a:xfrm>
            <a:off x="3335338" y="2362200"/>
            <a:ext cx="48768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4" name="Text Box 9"/>
          <p:cNvSpPr txBox="1">
            <a:spLocks noChangeArrowheads="1"/>
          </p:cNvSpPr>
          <p:nvPr/>
        </p:nvSpPr>
        <p:spPr bwMode="auto">
          <a:xfrm>
            <a:off x="3993867" y="2408238"/>
            <a:ext cx="3830279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A’s Initial Sequence Number + 1</a:t>
            </a:r>
          </a:p>
        </p:txBody>
      </p:sp>
      <p:sp>
        <p:nvSpPr>
          <p:cNvPr id="36875" name="Rectangle 10"/>
          <p:cNvSpPr>
            <a:spLocks noChangeArrowheads="1"/>
          </p:cNvSpPr>
          <p:nvPr/>
        </p:nvSpPr>
        <p:spPr bwMode="auto">
          <a:xfrm>
            <a:off x="3335338" y="2819400"/>
            <a:ext cx="48768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77" name="Rectangle 12"/>
          <p:cNvSpPr>
            <a:spLocks noChangeArrowheads="1"/>
          </p:cNvSpPr>
          <p:nvPr/>
        </p:nvSpPr>
        <p:spPr bwMode="auto">
          <a:xfrm>
            <a:off x="3335338" y="32766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0" name="Text Box 15"/>
          <p:cNvSpPr txBox="1">
            <a:spLocks noChangeArrowheads="1"/>
          </p:cNvSpPr>
          <p:nvPr/>
        </p:nvSpPr>
        <p:spPr bwMode="auto">
          <a:xfrm>
            <a:off x="3265488" y="3344863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b="0" dirty="0">
                <a:solidFill>
                  <a:srgbClr val="0000FF"/>
                </a:solidFill>
                <a:latin typeface="Arial" charset="0"/>
              </a:rPr>
              <a:t>5</a:t>
            </a:r>
          </a:p>
        </p:txBody>
      </p:sp>
      <p:sp>
        <p:nvSpPr>
          <p:cNvPr id="36881" name="Line 16"/>
          <p:cNvSpPr>
            <a:spLocks noChangeShapeType="1"/>
          </p:cNvSpPr>
          <p:nvPr/>
        </p:nvSpPr>
        <p:spPr bwMode="auto">
          <a:xfrm>
            <a:off x="4249738" y="3276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2" name="Line 17"/>
          <p:cNvSpPr>
            <a:spLocks noChangeShapeType="1"/>
          </p:cNvSpPr>
          <p:nvPr/>
        </p:nvSpPr>
        <p:spPr bwMode="auto">
          <a:xfrm>
            <a:off x="4706938" y="3276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3" name="Text Box 18"/>
          <p:cNvSpPr txBox="1">
            <a:spLocks noChangeArrowheads="1"/>
          </p:cNvSpPr>
          <p:nvPr/>
        </p:nvSpPr>
        <p:spPr bwMode="auto">
          <a:xfrm>
            <a:off x="4919663" y="3343245"/>
            <a:ext cx="713657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ACK</a:t>
            </a:r>
          </a:p>
        </p:txBody>
      </p:sp>
      <p:sp>
        <p:nvSpPr>
          <p:cNvPr id="36884" name="Text Box 19"/>
          <p:cNvSpPr txBox="1">
            <a:spLocks noChangeArrowheads="1"/>
          </p:cNvSpPr>
          <p:nvPr/>
        </p:nvSpPr>
        <p:spPr bwMode="auto">
          <a:xfrm>
            <a:off x="4325938" y="3344863"/>
            <a:ext cx="325437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chemeClr val="accent2"/>
                </a:solidFill>
                <a:latin typeface="Arial" charset="0"/>
              </a:rPr>
              <a:t>0</a:t>
            </a:r>
          </a:p>
        </p:txBody>
      </p:sp>
      <p:sp>
        <p:nvSpPr>
          <p:cNvPr id="36885" name="Rectangle 20"/>
          <p:cNvSpPr>
            <a:spLocks noChangeArrowheads="1"/>
          </p:cNvSpPr>
          <p:nvPr/>
        </p:nvSpPr>
        <p:spPr bwMode="auto">
          <a:xfrm>
            <a:off x="3335338" y="38100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6" name="Rectangle 21"/>
          <p:cNvSpPr>
            <a:spLocks noChangeArrowheads="1"/>
          </p:cNvSpPr>
          <p:nvPr/>
        </p:nvSpPr>
        <p:spPr bwMode="auto">
          <a:xfrm>
            <a:off x="5773738" y="3810000"/>
            <a:ext cx="24384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6887" name="Text Box 22"/>
          <p:cNvSpPr txBox="1">
            <a:spLocks noChangeArrowheads="1"/>
          </p:cNvSpPr>
          <p:nvPr/>
        </p:nvSpPr>
        <p:spPr bwMode="auto">
          <a:xfrm>
            <a:off x="3700463" y="3897313"/>
            <a:ext cx="1384300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chemeClr val="accent2"/>
                </a:solidFill>
                <a:latin typeface="Arial" charset="0"/>
              </a:rPr>
              <a:t>Checksum</a:t>
            </a:r>
          </a:p>
        </p:txBody>
      </p:sp>
      <p:sp>
        <p:nvSpPr>
          <p:cNvPr id="36888" name="Text Box 23"/>
          <p:cNvSpPr txBox="1">
            <a:spLocks noChangeArrowheads="1"/>
          </p:cNvSpPr>
          <p:nvPr/>
        </p:nvSpPr>
        <p:spPr bwMode="auto">
          <a:xfrm>
            <a:off x="6062663" y="3897313"/>
            <a:ext cx="1793875" cy="3968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chemeClr val="accent2"/>
                </a:solidFill>
                <a:latin typeface="Arial" charset="0"/>
              </a:rPr>
              <a:t>Urgent pointer</a:t>
            </a:r>
          </a:p>
        </p:txBody>
      </p:sp>
      <p:sp>
        <p:nvSpPr>
          <p:cNvPr id="28" name="Text Box 27"/>
          <p:cNvSpPr txBox="1">
            <a:spLocks noChangeArrowheads="1"/>
          </p:cNvSpPr>
          <p:nvPr/>
        </p:nvSpPr>
        <p:spPr bwMode="auto">
          <a:xfrm>
            <a:off x="916532" y="2554427"/>
            <a:ext cx="212988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r>
              <a:rPr lang="en-US" b="0" dirty="0">
                <a:solidFill>
                  <a:srgbClr val="0000FF"/>
                </a:solidFill>
                <a:latin typeface="Arial" charset="0"/>
              </a:rPr>
              <a:t>A tells B to open a connection</a:t>
            </a: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4724400" y="2865438"/>
            <a:ext cx="1986891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b="0" dirty="0">
                <a:solidFill>
                  <a:srgbClr val="0000FF"/>
                </a:solidFill>
                <a:latin typeface="Arial" charset="0"/>
              </a:rPr>
              <a:t>ACK=B’s ISN+1</a:t>
            </a:r>
          </a:p>
        </p:txBody>
      </p:sp>
    </p:spTree>
    <p:extLst>
      <p:ext uri="{BB962C8B-B14F-4D97-AF65-F5344CB8AC3E}">
        <p14:creationId xmlns:p14="http://schemas.microsoft.com/office/powerpoint/2010/main" val="15141869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TCP’s 3-</a:t>
            </a:r>
            <a:r>
              <a:rPr lang="en-US" altLang="zh-CN"/>
              <a:t>w</a:t>
            </a:r>
            <a:r>
              <a:rPr lang="en-US"/>
              <a:t>ay </a:t>
            </a:r>
            <a:r>
              <a:rPr lang="en-US" dirty="0"/>
              <a:t>handshaking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86020" name="Line 3"/>
          <p:cNvSpPr>
            <a:spLocks noChangeShapeType="1"/>
          </p:cNvSpPr>
          <p:nvPr/>
        </p:nvSpPr>
        <p:spPr bwMode="auto">
          <a:xfrm>
            <a:off x="1985963" y="3041650"/>
            <a:ext cx="1587" cy="26670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>
              <a:solidFill>
                <a:srgbClr val="0000FF"/>
              </a:solidFill>
            </a:endParaRPr>
          </a:p>
        </p:txBody>
      </p:sp>
      <p:sp>
        <p:nvSpPr>
          <p:cNvPr id="86021" name="Text Box 4"/>
          <p:cNvSpPr txBox="1">
            <a:spLocks noChangeArrowheads="1"/>
          </p:cNvSpPr>
          <p:nvPr/>
        </p:nvSpPr>
        <p:spPr bwMode="auto">
          <a:xfrm>
            <a:off x="889000" y="2426494"/>
            <a:ext cx="18700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78" tIns="44445" rIns="90478" bIns="44445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1800">
                <a:solidFill>
                  <a:srgbClr val="0000FF"/>
                </a:solidFill>
                <a:latin typeface="Arial" charset="0"/>
              </a:rPr>
              <a:t>Client (initiator)</a:t>
            </a:r>
          </a:p>
        </p:txBody>
      </p:sp>
      <p:sp>
        <p:nvSpPr>
          <p:cNvPr id="86022" name="Text Box 5"/>
          <p:cNvSpPr txBox="1">
            <a:spLocks noChangeArrowheads="1"/>
          </p:cNvSpPr>
          <p:nvPr/>
        </p:nvSpPr>
        <p:spPr bwMode="auto">
          <a:xfrm>
            <a:off x="6403975" y="2426493"/>
            <a:ext cx="8921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78" tIns="44445" rIns="90478" bIns="44445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1800" dirty="0">
                <a:solidFill>
                  <a:srgbClr val="FF0000"/>
                </a:solidFill>
                <a:latin typeface="Arial" charset="0"/>
              </a:rPr>
              <a:t>Server</a:t>
            </a:r>
          </a:p>
        </p:txBody>
      </p:sp>
      <p:sp>
        <p:nvSpPr>
          <p:cNvPr id="86023" name="Line 6"/>
          <p:cNvSpPr>
            <a:spLocks noChangeShapeType="1"/>
          </p:cNvSpPr>
          <p:nvPr/>
        </p:nvSpPr>
        <p:spPr bwMode="auto">
          <a:xfrm>
            <a:off x="6858000" y="3041650"/>
            <a:ext cx="1588" cy="26670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>
              <a:solidFill>
                <a:srgbClr val="FF0000"/>
              </a:solidFill>
            </a:endParaRP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1981200" y="3295650"/>
            <a:ext cx="4876800" cy="736600"/>
            <a:chOff x="1248" y="2176"/>
            <a:chExt cx="3072" cy="464"/>
          </a:xfrm>
        </p:grpSpPr>
        <p:sp>
          <p:nvSpPr>
            <p:cNvPr id="86036" name="Line 8"/>
            <p:cNvSpPr>
              <a:spLocks noChangeShapeType="1"/>
            </p:cNvSpPr>
            <p:nvPr/>
          </p:nvSpPr>
          <p:spPr bwMode="auto">
            <a:xfrm>
              <a:off x="1248" y="2256"/>
              <a:ext cx="3072" cy="384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>
                <a:solidFill>
                  <a:srgbClr val="0000FF"/>
                </a:solidFill>
              </a:endParaRPr>
            </a:p>
          </p:txBody>
        </p:sp>
        <p:sp>
          <p:nvSpPr>
            <p:cNvPr id="86037" name="Text Box 9"/>
            <p:cNvSpPr txBox="1">
              <a:spLocks noChangeArrowheads="1"/>
            </p:cNvSpPr>
            <p:nvPr/>
          </p:nvSpPr>
          <p:spPr bwMode="auto">
            <a:xfrm rot="429064">
              <a:off x="1931" y="2176"/>
              <a:ext cx="1318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78" tIns="44445" rIns="90478" bIns="44445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sz="1800">
                  <a:solidFill>
                    <a:srgbClr val="0000FF"/>
                  </a:solidFill>
                  <a:latin typeface="Arial" charset="0"/>
                </a:rPr>
                <a:t>SYN, SeqNum = x</a:t>
              </a:r>
            </a:p>
          </p:txBody>
        </p:sp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1982788" y="4162425"/>
            <a:ext cx="4875212" cy="631825"/>
            <a:chOff x="1248" y="2722"/>
            <a:chExt cx="3072" cy="398"/>
          </a:xfrm>
        </p:grpSpPr>
        <p:sp>
          <p:nvSpPr>
            <p:cNvPr id="86034" name="Line 11"/>
            <p:cNvSpPr>
              <a:spLocks noChangeShapeType="1"/>
            </p:cNvSpPr>
            <p:nvPr/>
          </p:nvSpPr>
          <p:spPr bwMode="auto">
            <a:xfrm flipH="1">
              <a:off x="1248" y="2784"/>
              <a:ext cx="3072" cy="336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86035" name="Text Box 12"/>
            <p:cNvSpPr txBox="1">
              <a:spLocks noChangeArrowheads="1"/>
            </p:cNvSpPr>
            <p:nvPr/>
          </p:nvSpPr>
          <p:spPr bwMode="auto">
            <a:xfrm rot="-375610">
              <a:off x="1440" y="2722"/>
              <a:ext cx="2628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78" tIns="44445" rIns="90478" bIns="44445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sz="1800">
                  <a:solidFill>
                    <a:srgbClr val="FF0000"/>
                  </a:solidFill>
                  <a:latin typeface="Arial" charset="0"/>
                </a:rPr>
                <a:t>SYN + ACK, SeqNum = y, Ack = x + 1</a:t>
              </a:r>
            </a:p>
          </p:txBody>
        </p:sp>
      </p:grp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1981200" y="4972050"/>
            <a:ext cx="4876800" cy="736600"/>
            <a:chOff x="1248" y="3232"/>
            <a:chExt cx="3072" cy="464"/>
          </a:xfrm>
        </p:grpSpPr>
        <p:sp>
          <p:nvSpPr>
            <p:cNvPr id="86032" name="Line 14"/>
            <p:cNvSpPr>
              <a:spLocks noChangeShapeType="1"/>
            </p:cNvSpPr>
            <p:nvPr/>
          </p:nvSpPr>
          <p:spPr bwMode="auto">
            <a:xfrm>
              <a:off x="1248" y="3312"/>
              <a:ext cx="3072" cy="384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>
                <a:solidFill>
                  <a:srgbClr val="0000FF"/>
                </a:solidFill>
              </a:endParaRPr>
            </a:p>
          </p:txBody>
        </p:sp>
        <p:sp>
          <p:nvSpPr>
            <p:cNvPr id="86033" name="Text Box 15"/>
            <p:cNvSpPr txBox="1">
              <a:spLocks noChangeArrowheads="1"/>
            </p:cNvSpPr>
            <p:nvPr/>
          </p:nvSpPr>
          <p:spPr bwMode="auto">
            <a:xfrm rot="429064">
              <a:off x="1964" y="3232"/>
              <a:ext cx="1259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78" tIns="44445" rIns="90478" bIns="44445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sz="1800">
                  <a:solidFill>
                    <a:srgbClr val="0000FF"/>
                  </a:solidFill>
                  <a:latin typeface="Arial" charset="0"/>
                </a:rPr>
                <a:t>ACK, Ack = y + 1</a:t>
              </a:r>
            </a:p>
          </p:txBody>
        </p:sp>
      </p:grpSp>
      <p:sp>
        <p:nvSpPr>
          <p:cNvPr id="86027" name="Text Box 16"/>
          <p:cNvSpPr txBox="1">
            <a:spLocks noChangeArrowheads="1"/>
          </p:cNvSpPr>
          <p:nvPr/>
        </p:nvSpPr>
        <p:spPr bwMode="auto">
          <a:xfrm>
            <a:off x="1219200" y="1638300"/>
            <a:ext cx="866775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78" tIns="44445" rIns="90478" bIns="44445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1800" i="1" dirty="0">
                <a:solidFill>
                  <a:srgbClr val="0000FF"/>
                </a:solidFill>
                <a:latin typeface="Arial" charset="0"/>
              </a:rPr>
              <a:t>Active</a:t>
            </a:r>
            <a:br>
              <a:rPr lang="en-US" sz="1800" i="1" dirty="0">
                <a:solidFill>
                  <a:srgbClr val="0000FF"/>
                </a:solidFill>
                <a:latin typeface="Arial" charset="0"/>
              </a:rPr>
            </a:br>
            <a:r>
              <a:rPr lang="en-US" sz="1800" i="1" dirty="0">
                <a:solidFill>
                  <a:srgbClr val="0000FF"/>
                </a:solidFill>
                <a:latin typeface="Arial" charset="0"/>
              </a:rPr>
              <a:t>Open</a:t>
            </a:r>
          </a:p>
        </p:txBody>
      </p:sp>
      <p:sp>
        <p:nvSpPr>
          <p:cNvPr id="86028" name="Text Box 17"/>
          <p:cNvSpPr txBox="1">
            <a:spLocks noChangeArrowheads="1"/>
          </p:cNvSpPr>
          <p:nvPr/>
        </p:nvSpPr>
        <p:spPr bwMode="auto">
          <a:xfrm>
            <a:off x="6324600" y="1638300"/>
            <a:ext cx="1031875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78" tIns="44445" rIns="90478" bIns="44445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1800" i="1" dirty="0">
                <a:solidFill>
                  <a:srgbClr val="FF0000"/>
                </a:solidFill>
                <a:latin typeface="Arial" charset="0"/>
              </a:rPr>
              <a:t>Passive</a:t>
            </a:r>
            <a:br>
              <a:rPr lang="en-US" sz="1800" i="1" dirty="0">
                <a:solidFill>
                  <a:srgbClr val="FF0000"/>
                </a:solidFill>
                <a:latin typeface="Arial" charset="0"/>
              </a:rPr>
            </a:br>
            <a:r>
              <a:rPr lang="en-US" sz="1800" i="1" dirty="0">
                <a:solidFill>
                  <a:srgbClr val="FF0000"/>
                </a:solidFill>
                <a:latin typeface="Arial" charset="0"/>
              </a:rPr>
              <a:t>Open</a:t>
            </a:r>
          </a:p>
        </p:txBody>
      </p:sp>
      <p:sp>
        <p:nvSpPr>
          <p:cNvPr id="967698" name="Text Box 18"/>
          <p:cNvSpPr txBox="1">
            <a:spLocks noChangeArrowheads="1"/>
          </p:cNvSpPr>
          <p:nvPr/>
        </p:nvSpPr>
        <p:spPr bwMode="auto">
          <a:xfrm>
            <a:off x="606425" y="2998787"/>
            <a:ext cx="1416050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78" tIns="44445" rIns="90478" bIns="44445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1800" dirty="0">
                <a:solidFill>
                  <a:srgbClr val="0000FF"/>
                </a:solidFill>
                <a:latin typeface="Courier" charset="0"/>
              </a:rPr>
              <a:t>connect()</a:t>
            </a:r>
          </a:p>
        </p:txBody>
      </p:sp>
      <p:sp>
        <p:nvSpPr>
          <p:cNvPr id="86030" name="Text Box 19"/>
          <p:cNvSpPr txBox="1">
            <a:spLocks noChangeArrowheads="1"/>
          </p:cNvSpPr>
          <p:nvPr/>
        </p:nvSpPr>
        <p:spPr bwMode="auto">
          <a:xfrm>
            <a:off x="6934200" y="2998787"/>
            <a:ext cx="1277938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78" tIns="44445" rIns="90478" bIns="44445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1800" dirty="0">
                <a:solidFill>
                  <a:srgbClr val="FF0000"/>
                </a:solidFill>
                <a:latin typeface="Courier" charset="0"/>
              </a:rPr>
              <a:t>listen()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D3FBAAD-6F85-3074-DF8D-4A41C23AF137}"/>
                  </a:ext>
                </a:extLst>
              </p14:cNvPr>
              <p14:cNvContentPartPr/>
              <p14:nvPr/>
            </p14:nvContentPartPr>
            <p14:xfrm>
              <a:off x="5104800" y="5131080"/>
              <a:ext cx="1536840" cy="600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D3FBAAD-6F85-3074-DF8D-4A41C23AF13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95440" y="5121720"/>
                <a:ext cx="1555560" cy="61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21394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769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i</a:t>
            </a:r>
            <a:r>
              <a:rPr lang="en-US" dirty="0"/>
              <a:t>f the SYN </a:t>
            </a:r>
            <a:r>
              <a:rPr lang="en-US" altLang="zh-CN" dirty="0"/>
              <a:t>is</a:t>
            </a:r>
            <a:r>
              <a:rPr lang="en-US" dirty="0"/>
              <a:t> Lost?</a:t>
            </a:r>
          </a:p>
        </p:txBody>
      </p:sp>
      <p:sp>
        <p:nvSpPr>
          <p:cNvPr id="9697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the SYN packet gets lost</a:t>
            </a:r>
          </a:p>
          <a:p>
            <a:pPr lvl="1"/>
            <a:r>
              <a:rPr lang="en-US" altLang="zh-CN" dirty="0"/>
              <a:t>D</a:t>
            </a:r>
            <a:r>
              <a:rPr lang="en-US" dirty="0"/>
              <a:t>ropped by the network or server is busy</a:t>
            </a:r>
          </a:p>
          <a:p>
            <a:r>
              <a:rPr lang="en-US" dirty="0"/>
              <a:t>Eventually, no SYN-ACK arrives</a:t>
            </a:r>
          </a:p>
          <a:p>
            <a:pPr lvl="1"/>
            <a:r>
              <a:rPr lang="en-US" dirty="0"/>
              <a:t>Sender retransmits the SYN on timeout</a:t>
            </a:r>
          </a:p>
          <a:p>
            <a:r>
              <a:rPr lang="en-US" dirty="0"/>
              <a:t>How should the TCP sender set the timer?</a:t>
            </a:r>
          </a:p>
          <a:p>
            <a:pPr lvl="1"/>
            <a:r>
              <a:rPr lang="en-US" dirty="0"/>
              <a:t>Sender has no idea how far away the receiver is</a:t>
            </a:r>
          </a:p>
          <a:p>
            <a:pPr lvl="1"/>
            <a:r>
              <a:rPr lang="en-US" dirty="0"/>
              <a:t>Hard to guess a reasonable length of time to wait</a:t>
            </a:r>
          </a:p>
          <a:p>
            <a:pPr lvl="1"/>
            <a:r>
              <a:rPr lang="en-US" dirty="0"/>
              <a:t>SHOULD (RFCs 1122 &amp; 2988) use default of 3 seconds</a:t>
            </a:r>
          </a:p>
          <a:p>
            <a:pPr lvl="2"/>
            <a:r>
              <a:rPr lang="en-US" dirty="0"/>
              <a:t>Some implementations instead use 6 seconds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41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D20B4F0-64F8-98C0-6754-6C45C117714D}"/>
                  </a:ext>
                </a:extLst>
              </p14:cNvPr>
              <p14:cNvContentPartPr/>
              <p14:nvPr/>
            </p14:nvContentPartPr>
            <p14:xfrm>
              <a:off x="1265760" y="5304600"/>
              <a:ext cx="6825600" cy="436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D20B4F0-64F8-98C0-6754-6C45C117714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56400" y="5295240"/>
                <a:ext cx="6844320" cy="455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62629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9731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 loss and web downloads</a:t>
            </a:r>
          </a:p>
        </p:txBody>
      </p:sp>
      <p:sp>
        <p:nvSpPr>
          <p:cNvPr id="971779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7924800" cy="4724400"/>
          </a:xfrm>
        </p:spPr>
        <p:txBody>
          <a:bodyPr/>
          <a:lstStyle/>
          <a:p>
            <a:r>
              <a:rPr lang="en-US" dirty="0"/>
              <a:t>User clicks on a hypertext link</a:t>
            </a:r>
          </a:p>
          <a:p>
            <a:pPr lvl="1"/>
            <a:r>
              <a:rPr lang="en-US" dirty="0"/>
              <a:t>Browser creates a socket and does a </a:t>
            </a:r>
            <a:r>
              <a:rPr lang="ja-JP" altLang="en-US" dirty="0"/>
              <a:t>“</a:t>
            </a:r>
            <a:r>
              <a:rPr lang="en-US" dirty="0"/>
              <a:t>connect</a:t>
            </a:r>
            <a:r>
              <a:rPr lang="ja-JP" altLang="en-US" dirty="0"/>
              <a:t>”</a:t>
            </a:r>
            <a:endParaRPr lang="en-US" dirty="0"/>
          </a:p>
          <a:p>
            <a:pPr lvl="1"/>
            <a:r>
              <a:rPr lang="en-US" dirty="0"/>
              <a:t>The </a:t>
            </a:r>
            <a:r>
              <a:rPr lang="ja-JP" altLang="en-US" dirty="0"/>
              <a:t>“</a:t>
            </a:r>
            <a:r>
              <a:rPr lang="en-US" dirty="0"/>
              <a:t>connect</a:t>
            </a:r>
            <a:r>
              <a:rPr lang="ja-JP" altLang="en-US" dirty="0"/>
              <a:t>”</a:t>
            </a:r>
            <a:r>
              <a:rPr lang="en-US" dirty="0"/>
              <a:t> triggers the OS to transmit a SYN</a:t>
            </a:r>
          </a:p>
          <a:p>
            <a:r>
              <a:rPr lang="en-US" dirty="0"/>
              <a:t>If the SYN is lost…</a:t>
            </a:r>
          </a:p>
          <a:p>
            <a:pPr lvl="1"/>
            <a:r>
              <a:rPr lang="en-US" dirty="0"/>
              <a:t>3-6 seconds of delay: can be very long</a:t>
            </a:r>
          </a:p>
          <a:p>
            <a:pPr lvl="1"/>
            <a:r>
              <a:rPr lang="en-US" dirty="0"/>
              <a:t>User </a:t>
            </a:r>
            <a:r>
              <a:rPr lang="en-US" altLang="zh-CN" dirty="0"/>
              <a:t>will</a:t>
            </a:r>
            <a:r>
              <a:rPr lang="en-US" dirty="0"/>
              <a:t> become impatient and can retry</a:t>
            </a:r>
          </a:p>
          <a:p>
            <a:r>
              <a:rPr lang="en-US" dirty="0"/>
              <a:t>User triggers an </a:t>
            </a:r>
            <a:r>
              <a:rPr lang="ja-JP" altLang="en-US" dirty="0"/>
              <a:t>“</a:t>
            </a:r>
            <a:r>
              <a:rPr lang="en-US" dirty="0"/>
              <a:t>abort</a:t>
            </a:r>
            <a:r>
              <a:rPr lang="ja-JP" altLang="en-US" dirty="0"/>
              <a:t>”</a:t>
            </a:r>
            <a:r>
              <a:rPr lang="en-US" dirty="0"/>
              <a:t> of the </a:t>
            </a:r>
            <a:r>
              <a:rPr lang="ja-JP" altLang="en-US" dirty="0"/>
              <a:t>“</a:t>
            </a:r>
            <a:r>
              <a:rPr lang="en-US" dirty="0"/>
              <a:t>connect</a:t>
            </a:r>
            <a:r>
              <a:rPr lang="ja-JP" altLang="en-US" dirty="0"/>
              <a:t>”</a:t>
            </a:r>
            <a:endParaRPr lang="en-US" dirty="0"/>
          </a:p>
          <a:p>
            <a:pPr lvl="1"/>
            <a:r>
              <a:rPr lang="en-US" dirty="0"/>
              <a:t>Browser creates a new socket and another </a:t>
            </a:r>
            <a:r>
              <a:rPr lang="ja-JP" altLang="en-US" dirty="0"/>
              <a:t>“</a:t>
            </a:r>
            <a:r>
              <a:rPr lang="en-US" dirty="0"/>
              <a:t>connect</a:t>
            </a:r>
            <a:r>
              <a:rPr lang="ja-JP" altLang="en-US" dirty="0"/>
              <a:t>”</a:t>
            </a:r>
            <a:endParaRPr lang="en-US" altLang="ja-JP" dirty="0"/>
          </a:p>
          <a:p>
            <a:pPr lvl="1"/>
            <a:r>
              <a:rPr lang="en-US" dirty="0"/>
              <a:t>Can be effective in some cases</a:t>
            </a:r>
            <a:r>
              <a:rPr lang="en-US" altLang="zh-CN" dirty="0"/>
              <a:t>;</a:t>
            </a:r>
            <a:r>
              <a:rPr lang="zh-CN" altLang="en-US" dirty="0"/>
              <a:t> </a:t>
            </a:r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sometimes</a:t>
            </a:r>
            <a:r>
              <a:rPr lang="zh-CN" altLang="en-US" dirty="0"/>
              <a:t> </a:t>
            </a:r>
            <a:r>
              <a:rPr lang="en-US" altLang="zh-CN" dirty="0"/>
              <a:t>just</a:t>
            </a:r>
            <a:r>
              <a:rPr lang="zh-CN" altLang="en-US" dirty="0"/>
              <a:t> </a:t>
            </a:r>
            <a:r>
              <a:rPr lang="en-US" altLang="zh-CN" dirty="0"/>
              <a:t>add</a:t>
            </a:r>
            <a:r>
              <a:rPr lang="zh-CN" altLang="en-US" dirty="0"/>
              <a:t> </a:t>
            </a:r>
            <a:r>
              <a:rPr lang="en-US" altLang="zh-CN" dirty="0"/>
              <a:t>more</a:t>
            </a:r>
            <a:r>
              <a:rPr lang="zh-CN" altLang="en-US" dirty="0"/>
              <a:t> </a:t>
            </a:r>
            <a:r>
              <a:rPr lang="en-US" altLang="zh-CN" dirty="0"/>
              <a:t>workload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strained</a:t>
            </a:r>
            <a:r>
              <a:rPr lang="zh-CN" altLang="en-US" dirty="0"/>
              <a:t> </a:t>
            </a:r>
            <a:r>
              <a:rPr lang="en-US" altLang="zh-CN" dirty="0"/>
              <a:t>server…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616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7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1779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9CDC5-346D-8E45-9502-F25B0CDFA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TCP</a:t>
            </a:r>
            <a:r>
              <a:rPr lang="zh-CN" altLang="en-US" dirty="0"/>
              <a:t> </a:t>
            </a:r>
            <a:r>
              <a:rPr lang="en-US" altLang="zh-CN" dirty="0"/>
              <a:t>Fast</a:t>
            </a:r>
            <a:r>
              <a:rPr lang="zh-CN" altLang="en-US" dirty="0"/>
              <a:t> </a:t>
            </a:r>
            <a:r>
              <a:rPr lang="en-US" altLang="zh-CN" dirty="0"/>
              <a:t>Open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91446-BA05-47F3-2E0A-2E3E1B2B6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Check</a:t>
            </a:r>
            <a:r>
              <a:rPr lang="zh-CN" altLang="en-US" dirty="0"/>
              <a:t> </a:t>
            </a:r>
            <a:r>
              <a:rPr lang="en-US" altLang="zh-CN" dirty="0"/>
              <a:t>out</a:t>
            </a:r>
            <a:r>
              <a:rPr lang="zh-CN" altLang="en-US" dirty="0"/>
              <a:t> </a:t>
            </a:r>
            <a:r>
              <a:rPr lang="en-US" altLang="zh-CN" dirty="0"/>
              <a:t>TCP</a:t>
            </a:r>
            <a:r>
              <a:rPr lang="zh-CN" altLang="en-US" dirty="0"/>
              <a:t> </a:t>
            </a:r>
            <a:r>
              <a:rPr lang="en-US" altLang="zh-CN" dirty="0"/>
              <a:t>Fast</a:t>
            </a:r>
            <a:r>
              <a:rPr lang="zh-CN" altLang="en-US" dirty="0"/>
              <a:t> </a:t>
            </a:r>
            <a:r>
              <a:rPr lang="en-US" altLang="zh-CN" dirty="0"/>
              <a:t>Open</a:t>
            </a:r>
            <a:r>
              <a:rPr lang="zh-CN" altLang="en-US" dirty="0"/>
              <a:t> </a:t>
            </a:r>
            <a:r>
              <a:rPr lang="en-US" altLang="zh-CN" dirty="0"/>
              <a:t>(TFO)</a:t>
            </a:r>
          </a:p>
          <a:p>
            <a:pPr lvl="1"/>
            <a:r>
              <a:rPr lang="en-US" dirty="0">
                <a:hlinkClick r:id="rId2"/>
              </a:rPr>
              <a:t>https://datatracker.ietf.org/doc/html/rfc7413</a:t>
            </a:r>
            <a:endParaRPr lang="en-US" dirty="0"/>
          </a:p>
          <a:p>
            <a:r>
              <a:rPr lang="en-US" altLang="zh-CN" dirty="0"/>
              <a:t>Widely</a:t>
            </a:r>
            <a:r>
              <a:rPr lang="zh-CN" altLang="en-US" dirty="0"/>
              <a:t> </a:t>
            </a:r>
            <a:r>
              <a:rPr lang="en-US" altLang="zh-CN" dirty="0"/>
              <a:t>supported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default</a:t>
            </a:r>
            <a:r>
              <a:rPr lang="zh-CN" altLang="en-US" dirty="0"/>
              <a:t> </a:t>
            </a:r>
            <a:r>
              <a:rPr lang="en-US" altLang="zh-CN" dirty="0"/>
              <a:t>option</a:t>
            </a:r>
            <a:r>
              <a:rPr lang="zh-CN" altLang="en-US" dirty="0"/>
              <a:t> </a:t>
            </a:r>
            <a:r>
              <a:rPr lang="en-US" altLang="zh-CN" dirty="0"/>
              <a:t>now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2345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connection teardown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1664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 termination, one side at a time</a:t>
            </a:r>
          </a:p>
        </p:txBody>
      </p:sp>
      <p:sp>
        <p:nvSpPr>
          <p:cNvPr id="97792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3769472"/>
            <a:ext cx="7924800" cy="2250327"/>
          </a:xfrm>
        </p:spPr>
        <p:txBody>
          <a:bodyPr/>
          <a:lstStyle/>
          <a:p>
            <a:r>
              <a:rPr lang="en-US" sz="2400" dirty="0"/>
              <a:t>Finish (FIN) to close and receive remaining bytes</a:t>
            </a:r>
          </a:p>
          <a:p>
            <a:pPr lvl="1"/>
            <a:r>
              <a:rPr lang="en-US" sz="2000" dirty="0"/>
              <a:t>FIN occupies one byte in the sequence space</a:t>
            </a:r>
          </a:p>
          <a:p>
            <a:r>
              <a:rPr lang="en-US" sz="2400" dirty="0"/>
              <a:t>Other </a:t>
            </a:r>
            <a:r>
              <a:rPr lang="en-US" altLang="zh-CN" sz="2400" dirty="0"/>
              <a:t>end</a:t>
            </a:r>
            <a:r>
              <a:rPr lang="en-US" sz="2400" dirty="0"/>
              <a:t> acks the byte to confirm</a:t>
            </a:r>
          </a:p>
          <a:p>
            <a:r>
              <a:rPr lang="en-US" sz="2400" dirty="0"/>
              <a:t>Closes A’s side of the connection, but not B’s</a:t>
            </a:r>
          </a:p>
          <a:p>
            <a:pPr lvl="1"/>
            <a:r>
              <a:rPr lang="en-US" sz="2000" dirty="0"/>
              <a:t>Until B likewise sends a FIN</a:t>
            </a:r>
          </a:p>
          <a:p>
            <a:pPr lvl="1"/>
            <a:r>
              <a:rPr lang="en-US" sz="2000" dirty="0"/>
              <a:t>Which A then </a:t>
            </a:r>
            <a:r>
              <a:rPr lang="en-US" sz="2000" dirty="0" err="1"/>
              <a:t>acks</a:t>
            </a:r>
            <a:endParaRPr lang="en-US" sz="2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B930FF-7D65-D44A-915F-30DFD4D275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97285" name="Line 4"/>
          <p:cNvSpPr>
            <a:spLocks noChangeShapeType="1"/>
          </p:cNvSpPr>
          <p:nvPr/>
        </p:nvSpPr>
        <p:spPr bwMode="auto">
          <a:xfrm flipV="1">
            <a:off x="1471613" y="1762125"/>
            <a:ext cx="287337" cy="16033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86" name="Line 5"/>
          <p:cNvSpPr>
            <a:spLocks noChangeShapeType="1"/>
          </p:cNvSpPr>
          <p:nvPr/>
        </p:nvSpPr>
        <p:spPr bwMode="auto">
          <a:xfrm>
            <a:off x="1989138" y="1779588"/>
            <a:ext cx="300037" cy="157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87" name="Line 6"/>
          <p:cNvSpPr>
            <a:spLocks noChangeShapeType="1"/>
          </p:cNvSpPr>
          <p:nvPr/>
        </p:nvSpPr>
        <p:spPr bwMode="auto">
          <a:xfrm flipV="1">
            <a:off x="2581275" y="1776413"/>
            <a:ext cx="457200" cy="1600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88" name="Line 7"/>
          <p:cNvSpPr>
            <a:spLocks noChangeShapeType="1"/>
          </p:cNvSpPr>
          <p:nvPr/>
        </p:nvSpPr>
        <p:spPr bwMode="auto">
          <a:xfrm flipV="1">
            <a:off x="3113088" y="1771650"/>
            <a:ext cx="469900" cy="15986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89" name="Text Box 8"/>
          <p:cNvSpPr txBox="1">
            <a:spLocks noChangeArrowheads="1"/>
          </p:cNvSpPr>
          <p:nvPr/>
        </p:nvSpPr>
        <p:spPr bwMode="auto">
          <a:xfrm rot="-4794570">
            <a:off x="979488" y="2366962"/>
            <a:ext cx="692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b="0">
                <a:latin typeface="Times New Roman" charset="0"/>
              </a:rPr>
              <a:t>SYN</a:t>
            </a:r>
          </a:p>
        </p:txBody>
      </p:sp>
      <p:sp>
        <p:nvSpPr>
          <p:cNvPr id="97290" name="Text Box 9"/>
          <p:cNvSpPr txBox="1">
            <a:spLocks noChangeArrowheads="1"/>
          </p:cNvSpPr>
          <p:nvPr/>
        </p:nvSpPr>
        <p:spPr bwMode="auto">
          <a:xfrm rot="4712803">
            <a:off x="1703388" y="2360613"/>
            <a:ext cx="1292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b="0">
                <a:latin typeface="Times New Roman" charset="0"/>
              </a:rPr>
              <a:t>SYN ACK</a:t>
            </a:r>
          </a:p>
        </p:txBody>
      </p:sp>
      <p:sp>
        <p:nvSpPr>
          <p:cNvPr id="97291" name="Text Box 10"/>
          <p:cNvSpPr txBox="1">
            <a:spLocks noChangeArrowheads="1"/>
          </p:cNvSpPr>
          <p:nvPr/>
        </p:nvSpPr>
        <p:spPr bwMode="auto">
          <a:xfrm rot="-4355001">
            <a:off x="2373313" y="2138363"/>
            <a:ext cx="720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b="0">
                <a:latin typeface="Times New Roman" charset="0"/>
              </a:rPr>
              <a:t>ACK</a:t>
            </a:r>
          </a:p>
        </p:txBody>
      </p:sp>
      <p:sp>
        <p:nvSpPr>
          <p:cNvPr id="97292" name="Text Box 11"/>
          <p:cNvSpPr txBox="1">
            <a:spLocks noChangeArrowheads="1"/>
          </p:cNvSpPr>
          <p:nvPr/>
        </p:nvSpPr>
        <p:spPr bwMode="auto">
          <a:xfrm rot="-4396192">
            <a:off x="2824163" y="2382838"/>
            <a:ext cx="663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b="0">
                <a:latin typeface="Times New Roman" charset="0"/>
              </a:rPr>
              <a:t>Data</a:t>
            </a: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4833938" y="1773238"/>
            <a:ext cx="465137" cy="1603375"/>
            <a:chOff x="3406" y="1115"/>
            <a:chExt cx="293" cy="1010"/>
          </a:xfrm>
        </p:grpSpPr>
        <p:sp>
          <p:nvSpPr>
            <p:cNvPr id="97326" name="Line 13"/>
            <p:cNvSpPr>
              <a:spLocks noChangeShapeType="1"/>
            </p:cNvSpPr>
            <p:nvPr/>
          </p:nvSpPr>
          <p:spPr bwMode="auto">
            <a:xfrm flipV="1">
              <a:off x="3551" y="1115"/>
              <a:ext cx="148" cy="101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327" name="Text Box 14"/>
            <p:cNvSpPr txBox="1">
              <a:spLocks noChangeArrowheads="1"/>
            </p:cNvSpPr>
            <p:nvPr/>
          </p:nvSpPr>
          <p:spPr bwMode="auto">
            <a:xfrm rot="-4702247">
              <a:off x="3344" y="1472"/>
              <a:ext cx="37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>
                  <a:latin typeface="Times New Roman" charset="0"/>
                </a:rPr>
                <a:t>FIN</a:t>
              </a:r>
            </a:p>
          </p:txBody>
        </p:sp>
      </p:grp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5576888" y="1771650"/>
            <a:ext cx="514350" cy="1573213"/>
            <a:chOff x="3874" y="1114"/>
            <a:chExt cx="324" cy="991"/>
          </a:xfrm>
        </p:grpSpPr>
        <p:sp>
          <p:nvSpPr>
            <p:cNvPr id="97324" name="Line 16"/>
            <p:cNvSpPr>
              <a:spLocks noChangeShapeType="1"/>
            </p:cNvSpPr>
            <p:nvPr/>
          </p:nvSpPr>
          <p:spPr bwMode="auto">
            <a:xfrm>
              <a:off x="3874" y="1114"/>
              <a:ext cx="175" cy="9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325" name="Text Box 17"/>
            <p:cNvSpPr txBox="1">
              <a:spLocks noChangeArrowheads="1"/>
            </p:cNvSpPr>
            <p:nvPr/>
          </p:nvSpPr>
          <p:spPr bwMode="auto">
            <a:xfrm rot="4688575">
              <a:off x="3846" y="1465"/>
              <a:ext cx="45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>
                  <a:latin typeface="Times New Roman" charset="0"/>
                </a:rPr>
                <a:t>ACK</a:t>
              </a:r>
            </a:p>
          </p:txBody>
        </p:sp>
      </p:grpSp>
      <p:sp>
        <p:nvSpPr>
          <p:cNvPr id="97295" name="Line 18"/>
          <p:cNvSpPr>
            <a:spLocks noChangeShapeType="1"/>
          </p:cNvSpPr>
          <p:nvPr/>
        </p:nvSpPr>
        <p:spPr bwMode="auto">
          <a:xfrm>
            <a:off x="3706813" y="1773238"/>
            <a:ext cx="379412" cy="15843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96" name="Line 19"/>
          <p:cNvSpPr>
            <a:spLocks noChangeShapeType="1"/>
          </p:cNvSpPr>
          <p:nvPr/>
        </p:nvSpPr>
        <p:spPr bwMode="auto">
          <a:xfrm flipV="1">
            <a:off x="1263650" y="1752600"/>
            <a:ext cx="70421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97" name="Line 20"/>
          <p:cNvSpPr>
            <a:spLocks noChangeShapeType="1"/>
          </p:cNvSpPr>
          <p:nvPr/>
        </p:nvSpPr>
        <p:spPr bwMode="auto">
          <a:xfrm flipV="1">
            <a:off x="1279525" y="3352800"/>
            <a:ext cx="71024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98" name="Text Box 21"/>
          <p:cNvSpPr txBox="1">
            <a:spLocks noChangeArrowheads="1"/>
          </p:cNvSpPr>
          <p:nvPr/>
        </p:nvSpPr>
        <p:spPr bwMode="auto">
          <a:xfrm rot="4676639">
            <a:off x="3724275" y="2371725"/>
            <a:ext cx="720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b="0">
                <a:latin typeface="Times New Roman" charset="0"/>
              </a:rPr>
              <a:t>ACK</a:t>
            </a:r>
          </a:p>
        </p:txBody>
      </p:sp>
      <p:sp>
        <p:nvSpPr>
          <p:cNvPr id="97299" name="Line 22"/>
          <p:cNvSpPr>
            <a:spLocks noChangeShapeType="1"/>
          </p:cNvSpPr>
          <p:nvPr/>
        </p:nvSpPr>
        <p:spPr bwMode="auto">
          <a:xfrm>
            <a:off x="2554288" y="3597275"/>
            <a:ext cx="17795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300" name="Text Box 23"/>
          <p:cNvSpPr txBox="1">
            <a:spLocks noChangeArrowheads="1"/>
          </p:cNvSpPr>
          <p:nvPr/>
        </p:nvSpPr>
        <p:spPr bwMode="auto">
          <a:xfrm>
            <a:off x="1951038" y="3398838"/>
            <a:ext cx="590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1800" b="0">
                <a:latin typeface="Times New Roman" charset="0"/>
              </a:rPr>
              <a:t>time</a:t>
            </a:r>
            <a:endParaRPr lang="en-US" sz="2400" b="0">
              <a:latin typeface="Times New Roman" charset="0"/>
            </a:endParaRPr>
          </a:p>
        </p:txBody>
      </p:sp>
      <p:sp>
        <p:nvSpPr>
          <p:cNvPr id="97301" name="Text Box 24"/>
          <p:cNvSpPr txBox="1">
            <a:spLocks noChangeArrowheads="1"/>
          </p:cNvSpPr>
          <p:nvPr/>
        </p:nvSpPr>
        <p:spPr bwMode="auto">
          <a:xfrm>
            <a:off x="774700" y="3109913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2400" b="0">
                <a:latin typeface="Times New Roman" charset="0"/>
              </a:rPr>
              <a:t>A</a:t>
            </a:r>
          </a:p>
        </p:txBody>
      </p:sp>
      <p:sp>
        <p:nvSpPr>
          <p:cNvPr id="97302" name="Text Box 25"/>
          <p:cNvSpPr txBox="1">
            <a:spLocks noChangeArrowheads="1"/>
          </p:cNvSpPr>
          <p:nvPr/>
        </p:nvSpPr>
        <p:spPr bwMode="auto">
          <a:xfrm>
            <a:off x="731838" y="1571625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2400" b="0">
                <a:latin typeface="Times New Roman" charset="0"/>
              </a:rPr>
              <a:t>B</a:t>
            </a:r>
          </a:p>
        </p:txBody>
      </p:sp>
      <p:sp>
        <p:nvSpPr>
          <p:cNvPr id="97303" name="Oval 26"/>
          <p:cNvSpPr>
            <a:spLocks noChangeArrowheads="1"/>
          </p:cNvSpPr>
          <p:nvPr/>
        </p:nvSpPr>
        <p:spPr bwMode="auto">
          <a:xfrm>
            <a:off x="4246563" y="3108325"/>
            <a:ext cx="82550" cy="8413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7304" name="Oval 27"/>
          <p:cNvSpPr>
            <a:spLocks noChangeArrowheads="1"/>
          </p:cNvSpPr>
          <p:nvPr/>
        </p:nvSpPr>
        <p:spPr bwMode="auto">
          <a:xfrm>
            <a:off x="4452938" y="3116263"/>
            <a:ext cx="80962" cy="8413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7305" name="Oval 28"/>
          <p:cNvSpPr>
            <a:spLocks noChangeArrowheads="1"/>
          </p:cNvSpPr>
          <p:nvPr/>
        </p:nvSpPr>
        <p:spPr bwMode="auto">
          <a:xfrm>
            <a:off x="4668838" y="3108325"/>
            <a:ext cx="80962" cy="8413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" name="Group 29"/>
          <p:cNvGrpSpPr>
            <a:grpSpLocks/>
          </p:cNvGrpSpPr>
          <p:nvPr/>
        </p:nvGrpSpPr>
        <p:grpSpPr bwMode="auto">
          <a:xfrm>
            <a:off x="6226175" y="1781175"/>
            <a:ext cx="517525" cy="1573213"/>
            <a:chOff x="4283" y="1120"/>
            <a:chExt cx="326" cy="991"/>
          </a:xfrm>
        </p:grpSpPr>
        <p:sp>
          <p:nvSpPr>
            <p:cNvPr id="97322" name="Line 30"/>
            <p:cNvSpPr>
              <a:spLocks noChangeShapeType="1"/>
            </p:cNvSpPr>
            <p:nvPr/>
          </p:nvSpPr>
          <p:spPr bwMode="auto">
            <a:xfrm>
              <a:off x="4283" y="1120"/>
              <a:ext cx="175" cy="9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323" name="Text Box 31"/>
            <p:cNvSpPr txBox="1">
              <a:spLocks noChangeArrowheads="1"/>
            </p:cNvSpPr>
            <p:nvPr/>
          </p:nvSpPr>
          <p:spPr bwMode="auto">
            <a:xfrm rot="4688575">
              <a:off x="4297" y="1472"/>
              <a:ext cx="37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>
                  <a:latin typeface="Times New Roman" charset="0"/>
                </a:rPr>
                <a:t>FIN</a:t>
              </a:r>
            </a:p>
          </p:txBody>
        </p:sp>
      </p:grpSp>
      <p:grpSp>
        <p:nvGrpSpPr>
          <p:cNvPr id="5" name="Group 32"/>
          <p:cNvGrpSpPr>
            <a:grpSpLocks/>
          </p:cNvGrpSpPr>
          <p:nvPr/>
        </p:nvGrpSpPr>
        <p:grpSpPr bwMode="auto">
          <a:xfrm>
            <a:off x="6797675" y="1743075"/>
            <a:ext cx="466725" cy="1603375"/>
            <a:chOff x="4643" y="1096"/>
            <a:chExt cx="294" cy="1010"/>
          </a:xfrm>
        </p:grpSpPr>
        <p:sp>
          <p:nvSpPr>
            <p:cNvPr id="97320" name="Line 33"/>
            <p:cNvSpPr>
              <a:spLocks noChangeShapeType="1"/>
            </p:cNvSpPr>
            <p:nvPr/>
          </p:nvSpPr>
          <p:spPr bwMode="auto">
            <a:xfrm flipV="1">
              <a:off x="4789" y="1096"/>
              <a:ext cx="148" cy="101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321" name="Text Box 34"/>
            <p:cNvSpPr txBox="1">
              <a:spLocks noChangeArrowheads="1"/>
            </p:cNvSpPr>
            <p:nvPr/>
          </p:nvSpPr>
          <p:spPr bwMode="auto">
            <a:xfrm rot="-4702247">
              <a:off x="4541" y="1450"/>
              <a:ext cx="45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>
                  <a:latin typeface="Times New Roman" charset="0"/>
                </a:rPr>
                <a:t>ACK</a:t>
              </a:r>
            </a:p>
          </p:txBody>
        </p:sp>
      </p:grpSp>
      <p:grpSp>
        <p:nvGrpSpPr>
          <p:cNvPr id="6" name="Group 35"/>
          <p:cNvGrpSpPr>
            <a:grpSpLocks/>
          </p:cNvGrpSpPr>
          <p:nvPr/>
        </p:nvGrpSpPr>
        <p:grpSpPr bwMode="auto">
          <a:xfrm>
            <a:off x="6934200" y="3200400"/>
            <a:ext cx="2078038" cy="3484563"/>
            <a:chOff x="4368" y="2016"/>
            <a:chExt cx="1309" cy="2195"/>
          </a:xfrm>
        </p:grpSpPr>
        <p:cxnSp>
          <p:nvCxnSpPr>
            <p:cNvPr id="97317" name="AutoShape 36"/>
            <p:cNvCxnSpPr>
              <a:cxnSpLocks noChangeShapeType="1"/>
              <a:stCxn id="97319" idx="0"/>
              <a:endCxn id="97318" idx="4"/>
            </p:cNvCxnSpPr>
            <p:nvPr/>
          </p:nvCxnSpPr>
          <p:spPr bwMode="auto">
            <a:xfrm flipH="1" flipV="1">
              <a:off x="4854" y="2208"/>
              <a:ext cx="169" cy="1200"/>
            </a:xfrm>
            <a:prstGeom prst="straightConnector1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97318" name="Oval 37"/>
            <p:cNvSpPr>
              <a:spLocks noChangeArrowheads="1"/>
            </p:cNvSpPr>
            <p:nvPr/>
          </p:nvSpPr>
          <p:spPr bwMode="auto">
            <a:xfrm>
              <a:off x="4428" y="2016"/>
              <a:ext cx="852" cy="192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FF"/>
                </a:solidFill>
              </a:endParaRPr>
            </a:p>
          </p:txBody>
        </p:sp>
        <p:sp>
          <p:nvSpPr>
            <p:cNvPr id="97319" name="Text Box 38"/>
            <p:cNvSpPr txBox="1">
              <a:spLocks noChangeArrowheads="1"/>
            </p:cNvSpPr>
            <p:nvPr/>
          </p:nvSpPr>
          <p:spPr bwMode="auto">
            <a:xfrm>
              <a:off x="4368" y="3408"/>
              <a:ext cx="1309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sz="1600" dirty="0">
                  <a:solidFill>
                    <a:srgbClr val="0000FF"/>
                  </a:solidFill>
                  <a:latin typeface="Arial" charset="0"/>
                </a:rPr>
                <a:t>TIME_WAIT</a:t>
              </a:r>
              <a:r>
                <a:rPr lang="en-US" sz="1600" b="0" dirty="0">
                  <a:solidFill>
                    <a:srgbClr val="0000FF"/>
                  </a:solidFill>
                  <a:latin typeface="Arial" charset="0"/>
                </a:rPr>
                <a:t>:</a:t>
              </a:r>
            </a:p>
            <a:p>
              <a:pPr algn="l" eaLnBrk="1" hangingPunct="1">
                <a:spcBef>
                  <a:spcPct val="50000"/>
                </a:spcBef>
              </a:pPr>
              <a:r>
                <a:rPr lang="en-US" sz="1600" b="0" dirty="0">
                  <a:solidFill>
                    <a:srgbClr val="0000FF"/>
                  </a:solidFill>
                  <a:latin typeface="Arial" charset="0"/>
                </a:rPr>
                <a:t>Avoid reincarnation</a:t>
              </a:r>
            </a:p>
            <a:p>
              <a:pPr algn="l" eaLnBrk="1" hangingPunct="1">
                <a:lnSpc>
                  <a:spcPct val="90000"/>
                </a:lnSpc>
                <a:spcBef>
                  <a:spcPct val="50000"/>
                </a:spcBef>
              </a:pPr>
              <a:r>
                <a:rPr lang="en-US" sz="1600" b="0" dirty="0">
                  <a:solidFill>
                    <a:srgbClr val="0000FF"/>
                  </a:solidFill>
                  <a:latin typeface="Arial" charset="0"/>
                </a:rPr>
                <a:t>B will retransmit FIN </a:t>
              </a:r>
              <a:br>
                <a:rPr lang="en-US" sz="1600" b="0" dirty="0">
                  <a:solidFill>
                    <a:srgbClr val="0000FF"/>
                  </a:solidFill>
                  <a:latin typeface="Arial" charset="0"/>
                </a:rPr>
              </a:br>
              <a:r>
                <a:rPr lang="en-US" sz="1600" b="0" dirty="0">
                  <a:solidFill>
                    <a:srgbClr val="0000FF"/>
                  </a:solidFill>
                  <a:latin typeface="Arial" charset="0"/>
                </a:rPr>
                <a:t>if ACK is lost</a:t>
              </a:r>
            </a:p>
          </p:txBody>
        </p:sp>
      </p:grpSp>
      <p:grpSp>
        <p:nvGrpSpPr>
          <p:cNvPr id="7" name="Group 39"/>
          <p:cNvGrpSpPr>
            <a:grpSpLocks/>
          </p:cNvGrpSpPr>
          <p:nvPr/>
        </p:nvGrpSpPr>
        <p:grpSpPr bwMode="auto">
          <a:xfrm>
            <a:off x="5715000" y="2971800"/>
            <a:ext cx="2143125" cy="2105025"/>
            <a:chOff x="3600" y="1872"/>
            <a:chExt cx="1350" cy="1326"/>
          </a:xfrm>
        </p:grpSpPr>
        <p:cxnSp>
          <p:nvCxnSpPr>
            <p:cNvPr id="97314" name="AutoShape 40"/>
            <p:cNvCxnSpPr>
              <a:cxnSpLocks noChangeShapeType="1"/>
              <a:stCxn id="97316" idx="0"/>
              <a:endCxn id="97315" idx="4"/>
            </p:cNvCxnSpPr>
            <p:nvPr/>
          </p:nvCxnSpPr>
          <p:spPr bwMode="auto">
            <a:xfrm flipH="1" flipV="1">
              <a:off x="3696" y="2256"/>
              <a:ext cx="723" cy="576"/>
            </a:xfrm>
            <a:prstGeom prst="straightConnector1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97315" name="Oval 41"/>
            <p:cNvSpPr>
              <a:spLocks noChangeArrowheads="1"/>
            </p:cNvSpPr>
            <p:nvPr/>
          </p:nvSpPr>
          <p:spPr bwMode="auto">
            <a:xfrm>
              <a:off x="3600" y="1872"/>
              <a:ext cx="192" cy="384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FF"/>
                </a:solidFill>
              </a:endParaRPr>
            </a:p>
          </p:txBody>
        </p:sp>
        <p:sp>
          <p:nvSpPr>
            <p:cNvPr id="97316" name="Text Box 42"/>
            <p:cNvSpPr txBox="1">
              <a:spLocks noChangeArrowheads="1"/>
            </p:cNvSpPr>
            <p:nvPr/>
          </p:nvSpPr>
          <p:spPr bwMode="auto">
            <a:xfrm>
              <a:off x="3888" y="2832"/>
              <a:ext cx="106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600" b="0" dirty="0">
                  <a:solidFill>
                    <a:srgbClr val="0000FF"/>
                  </a:solidFill>
                  <a:latin typeface="Arial" charset="0"/>
                </a:rPr>
                <a:t>Connection</a:t>
              </a:r>
              <a:br>
                <a:rPr lang="en-US" sz="1600" b="0" dirty="0">
                  <a:solidFill>
                    <a:srgbClr val="0000FF"/>
                  </a:solidFill>
                  <a:latin typeface="Arial" charset="0"/>
                </a:rPr>
              </a:br>
              <a:r>
                <a:rPr lang="en-US" sz="1600" b="0" dirty="0">
                  <a:solidFill>
                    <a:srgbClr val="0000FF"/>
                  </a:solidFill>
                  <a:latin typeface="Arial" charset="0"/>
                </a:rPr>
                <a:t>now </a:t>
              </a:r>
              <a:r>
                <a:rPr lang="en-US" sz="1600" dirty="0">
                  <a:solidFill>
                    <a:srgbClr val="0000FF"/>
                  </a:solidFill>
                  <a:latin typeface="Arial" charset="0"/>
                </a:rPr>
                <a:t>half-closed</a:t>
              </a:r>
              <a:endParaRPr lang="en-US" sz="1600" b="0" dirty="0">
                <a:solidFill>
                  <a:srgbClr val="0000FF"/>
                </a:solidFill>
                <a:latin typeface="Arial" charset="0"/>
              </a:endParaRPr>
            </a:p>
          </p:txBody>
        </p:sp>
      </p:grpSp>
      <p:grpSp>
        <p:nvGrpSpPr>
          <p:cNvPr id="8" name="Group 43"/>
          <p:cNvGrpSpPr>
            <a:grpSpLocks/>
          </p:cNvGrpSpPr>
          <p:nvPr/>
        </p:nvGrpSpPr>
        <p:grpSpPr bwMode="auto">
          <a:xfrm>
            <a:off x="7886700" y="3124200"/>
            <a:ext cx="1257300" cy="1571625"/>
            <a:chOff x="4968" y="1968"/>
            <a:chExt cx="792" cy="990"/>
          </a:xfrm>
        </p:grpSpPr>
        <p:cxnSp>
          <p:nvCxnSpPr>
            <p:cNvPr id="97311" name="AutoShape 44"/>
            <p:cNvCxnSpPr>
              <a:cxnSpLocks noChangeShapeType="1"/>
              <a:stCxn id="97313" idx="0"/>
              <a:endCxn id="97312" idx="4"/>
            </p:cNvCxnSpPr>
            <p:nvPr/>
          </p:nvCxnSpPr>
          <p:spPr bwMode="auto">
            <a:xfrm flipH="1" flipV="1">
              <a:off x="5232" y="2360"/>
              <a:ext cx="132" cy="232"/>
            </a:xfrm>
            <a:prstGeom prst="straightConnector1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97312" name="Oval 45"/>
            <p:cNvSpPr>
              <a:spLocks noChangeArrowheads="1"/>
            </p:cNvSpPr>
            <p:nvPr/>
          </p:nvSpPr>
          <p:spPr bwMode="auto">
            <a:xfrm>
              <a:off x="5136" y="1968"/>
              <a:ext cx="192" cy="384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FF"/>
                </a:solidFill>
              </a:endParaRPr>
            </a:p>
          </p:txBody>
        </p:sp>
        <p:sp>
          <p:nvSpPr>
            <p:cNvPr id="97313" name="Text Box 46"/>
            <p:cNvSpPr txBox="1">
              <a:spLocks noChangeArrowheads="1"/>
            </p:cNvSpPr>
            <p:nvPr/>
          </p:nvSpPr>
          <p:spPr bwMode="auto">
            <a:xfrm>
              <a:off x="4968" y="2592"/>
              <a:ext cx="79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600" b="0" dirty="0">
                  <a:solidFill>
                    <a:srgbClr val="0000FF"/>
                  </a:solidFill>
                  <a:latin typeface="Arial" charset="0"/>
                </a:rPr>
                <a:t>Connection</a:t>
              </a:r>
              <a:br>
                <a:rPr lang="en-US" sz="1600" b="0" dirty="0">
                  <a:solidFill>
                    <a:srgbClr val="0000FF"/>
                  </a:solidFill>
                  <a:latin typeface="Arial" charset="0"/>
                </a:rPr>
              </a:br>
              <a:r>
                <a:rPr lang="en-US" sz="1600" b="0" dirty="0">
                  <a:solidFill>
                    <a:srgbClr val="0000FF"/>
                  </a:solidFill>
                  <a:latin typeface="Arial" charset="0"/>
                </a:rPr>
                <a:t>now </a:t>
              </a:r>
              <a:r>
                <a:rPr lang="en-US" sz="1600" dirty="0">
                  <a:solidFill>
                    <a:srgbClr val="0000FF"/>
                  </a:solidFill>
                  <a:latin typeface="Arial" charset="0"/>
                </a:rPr>
                <a:t>closed</a:t>
              </a:r>
              <a:endParaRPr lang="en-US" sz="1600" b="0" dirty="0">
                <a:solidFill>
                  <a:srgbClr val="0000FF"/>
                </a:solidFill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918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792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 termination, both together</a:t>
            </a:r>
          </a:p>
        </p:txBody>
      </p:sp>
      <p:sp>
        <p:nvSpPr>
          <p:cNvPr id="979971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5229224"/>
            <a:ext cx="7924800" cy="790575"/>
          </a:xfrm>
        </p:spPr>
        <p:txBody>
          <a:bodyPr/>
          <a:lstStyle/>
          <a:p>
            <a:r>
              <a:rPr lang="en-US" sz="2400" dirty="0"/>
              <a:t>Same as before, but B sets FIN with their ack of A’s FIN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99333" name="Line 4"/>
          <p:cNvSpPr>
            <a:spLocks noChangeShapeType="1"/>
          </p:cNvSpPr>
          <p:nvPr/>
        </p:nvSpPr>
        <p:spPr bwMode="auto">
          <a:xfrm flipV="1">
            <a:off x="2044700" y="1758950"/>
            <a:ext cx="287338" cy="16033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34" name="Line 5"/>
          <p:cNvSpPr>
            <a:spLocks noChangeShapeType="1"/>
          </p:cNvSpPr>
          <p:nvPr/>
        </p:nvSpPr>
        <p:spPr bwMode="auto">
          <a:xfrm>
            <a:off x="2562225" y="1776413"/>
            <a:ext cx="300038" cy="157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35" name="Line 6"/>
          <p:cNvSpPr>
            <a:spLocks noChangeShapeType="1"/>
          </p:cNvSpPr>
          <p:nvPr/>
        </p:nvSpPr>
        <p:spPr bwMode="auto">
          <a:xfrm flipV="1">
            <a:off x="3154363" y="1773238"/>
            <a:ext cx="457200" cy="1600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36" name="Line 7"/>
          <p:cNvSpPr>
            <a:spLocks noChangeShapeType="1"/>
          </p:cNvSpPr>
          <p:nvPr/>
        </p:nvSpPr>
        <p:spPr bwMode="auto">
          <a:xfrm flipV="1">
            <a:off x="3686175" y="1768475"/>
            <a:ext cx="469900" cy="15986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37" name="Text Box 8"/>
          <p:cNvSpPr txBox="1">
            <a:spLocks noChangeArrowheads="1"/>
          </p:cNvSpPr>
          <p:nvPr/>
        </p:nvSpPr>
        <p:spPr bwMode="auto">
          <a:xfrm rot="-4794570">
            <a:off x="1552576" y="2363787"/>
            <a:ext cx="692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b="0">
                <a:latin typeface="Times New Roman" charset="0"/>
              </a:rPr>
              <a:t>SYN</a:t>
            </a:r>
          </a:p>
        </p:txBody>
      </p:sp>
      <p:sp>
        <p:nvSpPr>
          <p:cNvPr id="99338" name="Text Box 9"/>
          <p:cNvSpPr txBox="1">
            <a:spLocks noChangeArrowheads="1"/>
          </p:cNvSpPr>
          <p:nvPr/>
        </p:nvSpPr>
        <p:spPr bwMode="auto">
          <a:xfrm rot="4712803">
            <a:off x="2276475" y="2357438"/>
            <a:ext cx="1292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b="0">
                <a:latin typeface="Times New Roman" charset="0"/>
              </a:rPr>
              <a:t>SYN ACK</a:t>
            </a:r>
          </a:p>
        </p:txBody>
      </p:sp>
      <p:sp>
        <p:nvSpPr>
          <p:cNvPr id="99339" name="Text Box 10"/>
          <p:cNvSpPr txBox="1">
            <a:spLocks noChangeArrowheads="1"/>
          </p:cNvSpPr>
          <p:nvPr/>
        </p:nvSpPr>
        <p:spPr bwMode="auto">
          <a:xfrm rot="-4355001">
            <a:off x="2946400" y="2135188"/>
            <a:ext cx="720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b="0">
                <a:latin typeface="Times New Roman" charset="0"/>
              </a:rPr>
              <a:t>ACK</a:t>
            </a:r>
          </a:p>
        </p:txBody>
      </p:sp>
      <p:sp>
        <p:nvSpPr>
          <p:cNvPr id="99340" name="Text Box 11"/>
          <p:cNvSpPr txBox="1">
            <a:spLocks noChangeArrowheads="1"/>
          </p:cNvSpPr>
          <p:nvPr/>
        </p:nvSpPr>
        <p:spPr bwMode="auto">
          <a:xfrm rot="-4396192">
            <a:off x="3397250" y="2379663"/>
            <a:ext cx="663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b="0">
                <a:latin typeface="Times New Roman" charset="0"/>
              </a:rPr>
              <a:t>Data</a:t>
            </a: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5407025" y="1770063"/>
            <a:ext cx="465138" cy="1603375"/>
            <a:chOff x="3406" y="1115"/>
            <a:chExt cx="293" cy="1010"/>
          </a:xfrm>
        </p:grpSpPr>
        <p:sp>
          <p:nvSpPr>
            <p:cNvPr id="99367" name="Line 13"/>
            <p:cNvSpPr>
              <a:spLocks noChangeShapeType="1"/>
            </p:cNvSpPr>
            <p:nvPr/>
          </p:nvSpPr>
          <p:spPr bwMode="auto">
            <a:xfrm flipV="1">
              <a:off x="3551" y="1115"/>
              <a:ext cx="148" cy="101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9368" name="Text Box 14"/>
            <p:cNvSpPr txBox="1">
              <a:spLocks noChangeArrowheads="1"/>
            </p:cNvSpPr>
            <p:nvPr/>
          </p:nvSpPr>
          <p:spPr bwMode="auto">
            <a:xfrm rot="-4702247">
              <a:off x="3344" y="1472"/>
              <a:ext cx="37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>
                  <a:latin typeface="Times New Roman" charset="0"/>
                </a:rPr>
                <a:t>FIN</a:t>
              </a:r>
            </a:p>
          </p:txBody>
        </p:sp>
      </p:grp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6149975" y="1768475"/>
            <a:ext cx="512763" cy="1573213"/>
            <a:chOff x="3874" y="1114"/>
            <a:chExt cx="323" cy="991"/>
          </a:xfrm>
        </p:grpSpPr>
        <p:sp>
          <p:nvSpPr>
            <p:cNvPr id="99365" name="Line 16"/>
            <p:cNvSpPr>
              <a:spLocks noChangeShapeType="1"/>
            </p:cNvSpPr>
            <p:nvPr/>
          </p:nvSpPr>
          <p:spPr bwMode="auto">
            <a:xfrm>
              <a:off x="3874" y="1114"/>
              <a:ext cx="175" cy="9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9366" name="Text Box 17"/>
            <p:cNvSpPr txBox="1">
              <a:spLocks noChangeArrowheads="1"/>
            </p:cNvSpPr>
            <p:nvPr/>
          </p:nvSpPr>
          <p:spPr bwMode="auto">
            <a:xfrm rot="4688575">
              <a:off x="3631" y="1466"/>
              <a:ext cx="88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>
                  <a:latin typeface="Times New Roman" charset="0"/>
                </a:rPr>
                <a:t>FIN + ACK</a:t>
              </a:r>
            </a:p>
          </p:txBody>
        </p:sp>
      </p:grpSp>
      <p:sp>
        <p:nvSpPr>
          <p:cNvPr id="99343" name="Line 18"/>
          <p:cNvSpPr>
            <a:spLocks noChangeShapeType="1"/>
          </p:cNvSpPr>
          <p:nvPr/>
        </p:nvSpPr>
        <p:spPr bwMode="auto">
          <a:xfrm>
            <a:off x="4279900" y="1770063"/>
            <a:ext cx="379413" cy="15843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44" name="Line 19"/>
          <p:cNvSpPr>
            <a:spLocks noChangeShapeType="1"/>
          </p:cNvSpPr>
          <p:nvPr/>
        </p:nvSpPr>
        <p:spPr bwMode="auto">
          <a:xfrm flipV="1">
            <a:off x="1836738" y="1739900"/>
            <a:ext cx="64214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45" name="Line 20"/>
          <p:cNvSpPr>
            <a:spLocks noChangeShapeType="1"/>
          </p:cNvSpPr>
          <p:nvPr/>
        </p:nvSpPr>
        <p:spPr bwMode="auto">
          <a:xfrm flipV="1">
            <a:off x="1852613" y="3352800"/>
            <a:ext cx="644525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46" name="Text Box 21"/>
          <p:cNvSpPr txBox="1">
            <a:spLocks noChangeArrowheads="1"/>
          </p:cNvSpPr>
          <p:nvPr/>
        </p:nvSpPr>
        <p:spPr bwMode="auto">
          <a:xfrm rot="4676639">
            <a:off x="4297363" y="2368550"/>
            <a:ext cx="720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b="0">
                <a:latin typeface="Times New Roman" charset="0"/>
              </a:rPr>
              <a:t>ACK</a:t>
            </a:r>
          </a:p>
        </p:txBody>
      </p:sp>
      <p:sp>
        <p:nvSpPr>
          <p:cNvPr id="99347" name="Line 22"/>
          <p:cNvSpPr>
            <a:spLocks noChangeShapeType="1"/>
          </p:cNvSpPr>
          <p:nvPr/>
        </p:nvSpPr>
        <p:spPr bwMode="auto">
          <a:xfrm>
            <a:off x="3127375" y="3594100"/>
            <a:ext cx="17795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48" name="Text Box 23"/>
          <p:cNvSpPr txBox="1">
            <a:spLocks noChangeArrowheads="1"/>
          </p:cNvSpPr>
          <p:nvPr/>
        </p:nvSpPr>
        <p:spPr bwMode="auto">
          <a:xfrm>
            <a:off x="2524125" y="3395663"/>
            <a:ext cx="590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1800" b="0">
                <a:latin typeface="Times New Roman" charset="0"/>
              </a:rPr>
              <a:t>time</a:t>
            </a:r>
            <a:endParaRPr lang="en-US" sz="2400" b="0">
              <a:latin typeface="Times New Roman" charset="0"/>
            </a:endParaRPr>
          </a:p>
        </p:txBody>
      </p:sp>
      <p:sp>
        <p:nvSpPr>
          <p:cNvPr id="99349" name="Text Box 24"/>
          <p:cNvSpPr txBox="1">
            <a:spLocks noChangeArrowheads="1"/>
          </p:cNvSpPr>
          <p:nvPr/>
        </p:nvSpPr>
        <p:spPr bwMode="auto">
          <a:xfrm>
            <a:off x="1347788" y="3106738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2400" b="0">
                <a:latin typeface="Times New Roman" charset="0"/>
              </a:rPr>
              <a:t>A</a:t>
            </a:r>
          </a:p>
        </p:txBody>
      </p:sp>
      <p:sp>
        <p:nvSpPr>
          <p:cNvPr id="99350" name="Text Box 25"/>
          <p:cNvSpPr txBox="1">
            <a:spLocks noChangeArrowheads="1"/>
          </p:cNvSpPr>
          <p:nvPr/>
        </p:nvSpPr>
        <p:spPr bwMode="auto">
          <a:xfrm>
            <a:off x="1304925" y="156845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2400" b="0">
                <a:latin typeface="Times New Roman" charset="0"/>
              </a:rPr>
              <a:t>B</a:t>
            </a:r>
          </a:p>
        </p:txBody>
      </p:sp>
      <p:sp>
        <p:nvSpPr>
          <p:cNvPr id="99351" name="Oval 26"/>
          <p:cNvSpPr>
            <a:spLocks noChangeArrowheads="1"/>
          </p:cNvSpPr>
          <p:nvPr/>
        </p:nvSpPr>
        <p:spPr bwMode="auto">
          <a:xfrm>
            <a:off x="4819650" y="3105150"/>
            <a:ext cx="82550" cy="8413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9352" name="Oval 27"/>
          <p:cNvSpPr>
            <a:spLocks noChangeArrowheads="1"/>
          </p:cNvSpPr>
          <p:nvPr/>
        </p:nvSpPr>
        <p:spPr bwMode="auto">
          <a:xfrm>
            <a:off x="5026025" y="3113088"/>
            <a:ext cx="80963" cy="8413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9353" name="Oval 28"/>
          <p:cNvSpPr>
            <a:spLocks noChangeArrowheads="1"/>
          </p:cNvSpPr>
          <p:nvPr/>
        </p:nvSpPr>
        <p:spPr bwMode="auto">
          <a:xfrm>
            <a:off x="5241925" y="3105150"/>
            <a:ext cx="80963" cy="8413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" name="Group 29"/>
          <p:cNvGrpSpPr>
            <a:grpSpLocks/>
          </p:cNvGrpSpPr>
          <p:nvPr/>
        </p:nvGrpSpPr>
        <p:grpSpPr bwMode="auto">
          <a:xfrm>
            <a:off x="6629400" y="1752600"/>
            <a:ext cx="466725" cy="1603375"/>
            <a:chOff x="4643" y="1096"/>
            <a:chExt cx="294" cy="1010"/>
          </a:xfrm>
        </p:grpSpPr>
        <p:sp>
          <p:nvSpPr>
            <p:cNvPr id="99363" name="Line 30"/>
            <p:cNvSpPr>
              <a:spLocks noChangeShapeType="1"/>
            </p:cNvSpPr>
            <p:nvPr/>
          </p:nvSpPr>
          <p:spPr bwMode="auto">
            <a:xfrm flipV="1">
              <a:off x="4789" y="1096"/>
              <a:ext cx="148" cy="101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9364" name="Text Box 31"/>
            <p:cNvSpPr txBox="1">
              <a:spLocks noChangeArrowheads="1"/>
            </p:cNvSpPr>
            <p:nvPr/>
          </p:nvSpPr>
          <p:spPr bwMode="auto">
            <a:xfrm rot="-4702247">
              <a:off x="4541" y="1450"/>
              <a:ext cx="45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>
                  <a:latin typeface="Times New Roman" charset="0"/>
                </a:rPr>
                <a:t>ACK</a:t>
              </a:r>
            </a:p>
          </p:txBody>
        </p:sp>
      </p:grpSp>
      <p:grpSp>
        <p:nvGrpSpPr>
          <p:cNvPr id="5" name="Group 32"/>
          <p:cNvGrpSpPr>
            <a:grpSpLocks/>
          </p:cNvGrpSpPr>
          <p:nvPr/>
        </p:nvGrpSpPr>
        <p:grpSpPr bwMode="auto">
          <a:xfrm>
            <a:off x="7467600" y="3124200"/>
            <a:ext cx="1212850" cy="2105025"/>
            <a:chOff x="4704" y="1968"/>
            <a:chExt cx="764" cy="1326"/>
          </a:xfrm>
        </p:grpSpPr>
        <p:cxnSp>
          <p:nvCxnSpPr>
            <p:cNvPr id="99360" name="AutoShape 33"/>
            <p:cNvCxnSpPr>
              <a:cxnSpLocks noChangeShapeType="1"/>
              <a:stCxn id="99362" idx="0"/>
              <a:endCxn id="99361" idx="4"/>
            </p:cNvCxnSpPr>
            <p:nvPr/>
          </p:nvCxnSpPr>
          <p:spPr bwMode="auto">
            <a:xfrm flipV="1">
              <a:off x="5086" y="2360"/>
              <a:ext cx="146" cy="568"/>
            </a:xfrm>
            <a:prstGeom prst="straightConnector1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99361" name="Oval 34"/>
            <p:cNvSpPr>
              <a:spLocks noChangeArrowheads="1"/>
            </p:cNvSpPr>
            <p:nvPr/>
          </p:nvSpPr>
          <p:spPr bwMode="auto">
            <a:xfrm>
              <a:off x="5136" y="1968"/>
              <a:ext cx="192" cy="384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FF6600"/>
                </a:solidFill>
              </a:endParaRPr>
            </a:p>
          </p:txBody>
        </p:sp>
        <p:sp>
          <p:nvSpPr>
            <p:cNvPr id="99362" name="Text Box 35"/>
            <p:cNvSpPr txBox="1">
              <a:spLocks noChangeArrowheads="1"/>
            </p:cNvSpPr>
            <p:nvPr/>
          </p:nvSpPr>
          <p:spPr bwMode="auto">
            <a:xfrm>
              <a:off x="4704" y="2928"/>
              <a:ext cx="764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600" b="0" dirty="0">
                  <a:solidFill>
                    <a:srgbClr val="0000FF"/>
                  </a:solidFill>
                  <a:latin typeface="Arial" charset="0"/>
                </a:rPr>
                <a:t>Connection</a:t>
              </a:r>
              <a:br>
                <a:rPr lang="en-US" sz="1600" b="0" dirty="0">
                  <a:solidFill>
                    <a:srgbClr val="0000FF"/>
                  </a:solidFill>
                  <a:latin typeface="Arial" charset="0"/>
                </a:rPr>
              </a:br>
              <a:r>
                <a:rPr lang="en-US" sz="1600" b="0" dirty="0">
                  <a:solidFill>
                    <a:srgbClr val="0000FF"/>
                  </a:solidFill>
                  <a:latin typeface="Arial" charset="0"/>
                </a:rPr>
                <a:t>now closed</a:t>
              </a:r>
            </a:p>
          </p:txBody>
        </p:sp>
      </p:grpSp>
      <p:grpSp>
        <p:nvGrpSpPr>
          <p:cNvPr id="6" name="Group 36"/>
          <p:cNvGrpSpPr>
            <a:grpSpLocks/>
          </p:cNvGrpSpPr>
          <p:nvPr/>
        </p:nvGrpSpPr>
        <p:grpSpPr bwMode="auto">
          <a:xfrm>
            <a:off x="5257800" y="3200400"/>
            <a:ext cx="3124200" cy="1735138"/>
            <a:chOff x="3312" y="2016"/>
            <a:chExt cx="1968" cy="1093"/>
          </a:xfrm>
        </p:grpSpPr>
        <p:cxnSp>
          <p:nvCxnSpPr>
            <p:cNvPr id="99357" name="AutoShape 37"/>
            <p:cNvCxnSpPr>
              <a:cxnSpLocks noChangeShapeType="1"/>
              <a:stCxn id="99359" idx="0"/>
              <a:endCxn id="99358" idx="4"/>
            </p:cNvCxnSpPr>
            <p:nvPr/>
          </p:nvCxnSpPr>
          <p:spPr bwMode="auto">
            <a:xfrm rot="5400000" flipH="1" flipV="1">
              <a:off x="4274" y="1871"/>
              <a:ext cx="189" cy="862"/>
            </a:xfrm>
            <a:prstGeom prst="straightConnector1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99358" name="Oval 38"/>
            <p:cNvSpPr>
              <a:spLocks noChangeArrowheads="1"/>
            </p:cNvSpPr>
            <p:nvPr/>
          </p:nvSpPr>
          <p:spPr bwMode="auto">
            <a:xfrm>
              <a:off x="4320" y="2016"/>
              <a:ext cx="960" cy="192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FF6600"/>
                </a:solidFill>
              </a:endParaRPr>
            </a:p>
          </p:txBody>
        </p:sp>
        <p:sp>
          <p:nvSpPr>
            <p:cNvPr id="99359" name="Text Box 39"/>
            <p:cNvSpPr txBox="1">
              <a:spLocks noChangeArrowheads="1"/>
            </p:cNvSpPr>
            <p:nvPr/>
          </p:nvSpPr>
          <p:spPr bwMode="auto">
            <a:xfrm>
              <a:off x="3312" y="2397"/>
              <a:ext cx="1251" cy="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sz="1600" dirty="0">
                  <a:solidFill>
                    <a:srgbClr val="0000FF"/>
                  </a:solidFill>
                  <a:latin typeface="Arial" charset="0"/>
                </a:rPr>
                <a:t>TIME_WAIT</a:t>
              </a:r>
              <a:r>
                <a:rPr lang="en-US" sz="1600" b="0" dirty="0">
                  <a:solidFill>
                    <a:srgbClr val="0000FF"/>
                  </a:solidFill>
                  <a:latin typeface="Arial" charset="0"/>
                </a:rPr>
                <a:t>:</a:t>
              </a:r>
            </a:p>
            <a:p>
              <a:pPr algn="l" eaLnBrk="1" hangingPunct="1">
                <a:lnSpc>
                  <a:spcPct val="40000"/>
                </a:lnSpc>
                <a:spcBef>
                  <a:spcPct val="50000"/>
                </a:spcBef>
              </a:pPr>
              <a:r>
                <a:rPr lang="en-US" sz="1600" b="0" dirty="0">
                  <a:solidFill>
                    <a:srgbClr val="0000FF"/>
                  </a:solidFill>
                  <a:latin typeface="Arial" charset="0"/>
                </a:rPr>
                <a:t>Avoid reincarnation</a:t>
              </a:r>
            </a:p>
            <a:p>
              <a:pPr algn="l" eaLnBrk="1" hangingPunct="1">
                <a:lnSpc>
                  <a:spcPct val="90000"/>
                </a:lnSpc>
                <a:spcBef>
                  <a:spcPct val="50000"/>
                </a:spcBef>
              </a:pPr>
              <a:r>
                <a:rPr lang="en-US" sz="1600" b="0" dirty="0">
                  <a:solidFill>
                    <a:srgbClr val="0000FF"/>
                  </a:solidFill>
                  <a:latin typeface="Arial" charset="0"/>
                </a:rPr>
                <a:t>Can retransmit</a:t>
              </a:r>
              <a:br>
                <a:rPr lang="en-US" sz="1600" b="0" dirty="0">
                  <a:solidFill>
                    <a:srgbClr val="0000FF"/>
                  </a:solidFill>
                  <a:latin typeface="Arial" charset="0"/>
                </a:rPr>
              </a:br>
              <a:r>
                <a:rPr lang="en-US" sz="1600" b="0" dirty="0">
                  <a:solidFill>
                    <a:srgbClr val="0000FF"/>
                  </a:solidFill>
                  <a:latin typeface="Arial" charset="0"/>
                </a:rPr>
                <a:t>FIN ACK if ACK lost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2244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9971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Abrupt termination</a:t>
            </a:r>
          </a:p>
        </p:txBody>
      </p:sp>
      <p:sp>
        <p:nvSpPr>
          <p:cNvPr id="98406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3788570"/>
            <a:ext cx="7924800" cy="2231229"/>
          </a:xfrm>
        </p:spPr>
        <p:txBody>
          <a:bodyPr/>
          <a:lstStyle/>
          <a:p>
            <a:r>
              <a:rPr lang="en-US" sz="2400" dirty="0"/>
              <a:t>A sends a RESET (RST) to B</a:t>
            </a:r>
          </a:p>
          <a:p>
            <a:pPr lvl="1"/>
            <a:r>
              <a:rPr lang="en-US" sz="2000" dirty="0"/>
              <a:t>E.g., because application process on A crashed</a:t>
            </a:r>
          </a:p>
          <a:p>
            <a:r>
              <a:rPr lang="en-US" sz="2400" dirty="0"/>
              <a:t>That’s it</a:t>
            </a:r>
          </a:p>
          <a:p>
            <a:pPr lvl="1"/>
            <a:r>
              <a:rPr lang="en-US" sz="2000" dirty="0"/>
              <a:t>B does not ack the RST</a:t>
            </a:r>
          </a:p>
          <a:p>
            <a:pPr lvl="1"/>
            <a:r>
              <a:rPr lang="en-US" sz="2000" dirty="0"/>
              <a:t>Thus, RST is not delivered reliably, and any data in flight is lost</a:t>
            </a:r>
          </a:p>
          <a:p>
            <a:pPr lvl="1"/>
            <a:r>
              <a:rPr lang="en-US" sz="2000" dirty="0"/>
              <a:t>But: if B sends anything more, will elicit another RST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103429" name="Line 4"/>
          <p:cNvSpPr>
            <a:spLocks noChangeShapeType="1"/>
          </p:cNvSpPr>
          <p:nvPr/>
        </p:nvSpPr>
        <p:spPr bwMode="auto">
          <a:xfrm flipV="1">
            <a:off x="2044700" y="1758950"/>
            <a:ext cx="287338" cy="16033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30" name="Line 5"/>
          <p:cNvSpPr>
            <a:spLocks noChangeShapeType="1"/>
          </p:cNvSpPr>
          <p:nvPr/>
        </p:nvSpPr>
        <p:spPr bwMode="auto">
          <a:xfrm>
            <a:off x="2562225" y="1776413"/>
            <a:ext cx="300038" cy="157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31" name="Line 6"/>
          <p:cNvSpPr>
            <a:spLocks noChangeShapeType="1"/>
          </p:cNvSpPr>
          <p:nvPr/>
        </p:nvSpPr>
        <p:spPr bwMode="auto">
          <a:xfrm flipV="1">
            <a:off x="3154363" y="1773238"/>
            <a:ext cx="457200" cy="1600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32" name="Line 7"/>
          <p:cNvSpPr>
            <a:spLocks noChangeShapeType="1"/>
          </p:cNvSpPr>
          <p:nvPr/>
        </p:nvSpPr>
        <p:spPr bwMode="auto">
          <a:xfrm flipV="1">
            <a:off x="3686175" y="1768475"/>
            <a:ext cx="469900" cy="15986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33" name="Text Box 8"/>
          <p:cNvSpPr txBox="1">
            <a:spLocks noChangeArrowheads="1"/>
          </p:cNvSpPr>
          <p:nvPr/>
        </p:nvSpPr>
        <p:spPr bwMode="auto">
          <a:xfrm rot="-4794570">
            <a:off x="1552576" y="2363787"/>
            <a:ext cx="692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b="0">
                <a:latin typeface="Times New Roman" charset="0"/>
              </a:rPr>
              <a:t>SYN</a:t>
            </a:r>
          </a:p>
        </p:txBody>
      </p:sp>
      <p:sp>
        <p:nvSpPr>
          <p:cNvPr id="103434" name="Text Box 9"/>
          <p:cNvSpPr txBox="1">
            <a:spLocks noChangeArrowheads="1"/>
          </p:cNvSpPr>
          <p:nvPr/>
        </p:nvSpPr>
        <p:spPr bwMode="auto">
          <a:xfrm rot="4712803">
            <a:off x="2276475" y="2357438"/>
            <a:ext cx="1292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b="0">
                <a:latin typeface="Times New Roman" charset="0"/>
              </a:rPr>
              <a:t>SYN ACK</a:t>
            </a:r>
          </a:p>
        </p:txBody>
      </p:sp>
      <p:sp>
        <p:nvSpPr>
          <p:cNvPr id="103435" name="Text Box 10"/>
          <p:cNvSpPr txBox="1">
            <a:spLocks noChangeArrowheads="1"/>
          </p:cNvSpPr>
          <p:nvPr/>
        </p:nvSpPr>
        <p:spPr bwMode="auto">
          <a:xfrm rot="-4355001">
            <a:off x="2946400" y="2135188"/>
            <a:ext cx="720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b="0">
                <a:latin typeface="Times New Roman" charset="0"/>
              </a:rPr>
              <a:t>ACK</a:t>
            </a:r>
          </a:p>
        </p:txBody>
      </p:sp>
      <p:sp>
        <p:nvSpPr>
          <p:cNvPr id="103436" name="Text Box 11"/>
          <p:cNvSpPr txBox="1">
            <a:spLocks noChangeArrowheads="1"/>
          </p:cNvSpPr>
          <p:nvPr/>
        </p:nvSpPr>
        <p:spPr bwMode="auto">
          <a:xfrm rot="-4396192">
            <a:off x="3397250" y="2379663"/>
            <a:ext cx="663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b="0">
                <a:latin typeface="Times New Roman" charset="0"/>
              </a:rPr>
              <a:t>Data</a:t>
            </a: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5407025" y="1770063"/>
            <a:ext cx="465138" cy="1603375"/>
            <a:chOff x="3406" y="1115"/>
            <a:chExt cx="293" cy="1010"/>
          </a:xfrm>
        </p:grpSpPr>
        <p:sp>
          <p:nvSpPr>
            <p:cNvPr id="103455" name="Line 13"/>
            <p:cNvSpPr>
              <a:spLocks noChangeShapeType="1"/>
            </p:cNvSpPr>
            <p:nvPr/>
          </p:nvSpPr>
          <p:spPr bwMode="auto">
            <a:xfrm flipV="1">
              <a:off x="3551" y="1115"/>
              <a:ext cx="148" cy="101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456" name="Text Box 14"/>
            <p:cNvSpPr txBox="1">
              <a:spLocks noChangeArrowheads="1"/>
            </p:cNvSpPr>
            <p:nvPr/>
          </p:nvSpPr>
          <p:spPr bwMode="auto">
            <a:xfrm rot="-4702247">
              <a:off x="3326" y="1470"/>
              <a:ext cx="4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>
                  <a:latin typeface="Times New Roman" charset="0"/>
                </a:rPr>
                <a:t>RST</a:t>
              </a:r>
            </a:p>
          </p:txBody>
        </p:sp>
      </p:grpSp>
      <p:sp>
        <p:nvSpPr>
          <p:cNvPr id="103438" name="Line 15"/>
          <p:cNvSpPr>
            <a:spLocks noChangeShapeType="1"/>
          </p:cNvSpPr>
          <p:nvPr/>
        </p:nvSpPr>
        <p:spPr bwMode="auto">
          <a:xfrm>
            <a:off x="4279900" y="1770063"/>
            <a:ext cx="379413" cy="15843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39" name="Line 16"/>
          <p:cNvSpPr>
            <a:spLocks noChangeShapeType="1"/>
          </p:cNvSpPr>
          <p:nvPr/>
        </p:nvSpPr>
        <p:spPr bwMode="auto">
          <a:xfrm flipV="1">
            <a:off x="1836738" y="1739900"/>
            <a:ext cx="64214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40" name="Line 17"/>
          <p:cNvSpPr>
            <a:spLocks noChangeShapeType="1"/>
          </p:cNvSpPr>
          <p:nvPr/>
        </p:nvSpPr>
        <p:spPr bwMode="auto">
          <a:xfrm flipV="1">
            <a:off x="1852613" y="3352800"/>
            <a:ext cx="644525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41" name="Text Box 18"/>
          <p:cNvSpPr txBox="1">
            <a:spLocks noChangeArrowheads="1"/>
          </p:cNvSpPr>
          <p:nvPr/>
        </p:nvSpPr>
        <p:spPr bwMode="auto">
          <a:xfrm rot="4676639">
            <a:off x="4297363" y="2368550"/>
            <a:ext cx="720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b="0">
                <a:latin typeface="Times New Roman" charset="0"/>
              </a:rPr>
              <a:t>ACK</a:t>
            </a:r>
          </a:p>
        </p:txBody>
      </p:sp>
      <p:sp>
        <p:nvSpPr>
          <p:cNvPr id="103442" name="Line 19"/>
          <p:cNvSpPr>
            <a:spLocks noChangeShapeType="1"/>
          </p:cNvSpPr>
          <p:nvPr/>
        </p:nvSpPr>
        <p:spPr bwMode="auto">
          <a:xfrm>
            <a:off x="3127375" y="3594100"/>
            <a:ext cx="17795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43" name="Text Box 20"/>
          <p:cNvSpPr txBox="1">
            <a:spLocks noChangeArrowheads="1"/>
          </p:cNvSpPr>
          <p:nvPr/>
        </p:nvSpPr>
        <p:spPr bwMode="auto">
          <a:xfrm>
            <a:off x="2524125" y="3395663"/>
            <a:ext cx="590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1800" b="0">
                <a:latin typeface="Times New Roman" charset="0"/>
              </a:rPr>
              <a:t>time</a:t>
            </a:r>
            <a:endParaRPr lang="en-US" sz="2400" b="0">
              <a:latin typeface="Times New Roman" charset="0"/>
            </a:endParaRPr>
          </a:p>
        </p:txBody>
      </p:sp>
      <p:sp>
        <p:nvSpPr>
          <p:cNvPr id="103444" name="Text Box 21"/>
          <p:cNvSpPr txBox="1">
            <a:spLocks noChangeArrowheads="1"/>
          </p:cNvSpPr>
          <p:nvPr/>
        </p:nvSpPr>
        <p:spPr bwMode="auto">
          <a:xfrm>
            <a:off x="1347788" y="3106738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2400" b="0">
                <a:latin typeface="Times New Roman" charset="0"/>
              </a:rPr>
              <a:t>A</a:t>
            </a:r>
          </a:p>
        </p:txBody>
      </p:sp>
      <p:sp>
        <p:nvSpPr>
          <p:cNvPr id="103445" name="Text Box 22"/>
          <p:cNvSpPr txBox="1">
            <a:spLocks noChangeArrowheads="1"/>
          </p:cNvSpPr>
          <p:nvPr/>
        </p:nvSpPr>
        <p:spPr bwMode="auto">
          <a:xfrm>
            <a:off x="1304925" y="156845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2400" b="0">
                <a:latin typeface="Times New Roman" charset="0"/>
              </a:rPr>
              <a:t>B</a:t>
            </a:r>
          </a:p>
        </p:txBody>
      </p:sp>
      <p:sp>
        <p:nvSpPr>
          <p:cNvPr id="103446" name="Oval 23"/>
          <p:cNvSpPr>
            <a:spLocks noChangeArrowheads="1"/>
          </p:cNvSpPr>
          <p:nvPr/>
        </p:nvSpPr>
        <p:spPr bwMode="auto">
          <a:xfrm>
            <a:off x="4819650" y="3105150"/>
            <a:ext cx="82550" cy="8413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447" name="Oval 24"/>
          <p:cNvSpPr>
            <a:spLocks noChangeArrowheads="1"/>
          </p:cNvSpPr>
          <p:nvPr/>
        </p:nvSpPr>
        <p:spPr bwMode="auto">
          <a:xfrm>
            <a:off x="5026025" y="3113088"/>
            <a:ext cx="80963" cy="8413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448" name="Oval 25"/>
          <p:cNvSpPr>
            <a:spLocks noChangeArrowheads="1"/>
          </p:cNvSpPr>
          <p:nvPr/>
        </p:nvSpPr>
        <p:spPr bwMode="auto">
          <a:xfrm>
            <a:off x="5241925" y="3105150"/>
            <a:ext cx="80963" cy="8413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6373813" y="1773238"/>
            <a:ext cx="574675" cy="1584325"/>
            <a:chOff x="4015" y="1117"/>
            <a:chExt cx="362" cy="998"/>
          </a:xfrm>
        </p:grpSpPr>
        <p:sp>
          <p:nvSpPr>
            <p:cNvPr id="103453" name="Line 27"/>
            <p:cNvSpPr>
              <a:spLocks noChangeShapeType="1"/>
            </p:cNvSpPr>
            <p:nvPr/>
          </p:nvSpPr>
          <p:spPr bwMode="auto">
            <a:xfrm>
              <a:off x="4015" y="1117"/>
              <a:ext cx="239" cy="9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454" name="Text Box 28"/>
            <p:cNvSpPr txBox="1">
              <a:spLocks noChangeArrowheads="1"/>
            </p:cNvSpPr>
            <p:nvPr/>
          </p:nvSpPr>
          <p:spPr bwMode="auto">
            <a:xfrm rot="4676639">
              <a:off x="4043" y="1494"/>
              <a:ext cx="41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>
                  <a:latin typeface="Times New Roman" charset="0"/>
                </a:rPr>
                <a:t>Data</a:t>
              </a:r>
            </a:p>
          </p:txBody>
        </p:sp>
      </p:grpSp>
      <p:grpSp>
        <p:nvGrpSpPr>
          <p:cNvPr id="4" name="Group 29"/>
          <p:cNvGrpSpPr>
            <a:grpSpLocks/>
          </p:cNvGrpSpPr>
          <p:nvPr/>
        </p:nvGrpSpPr>
        <p:grpSpPr bwMode="auto">
          <a:xfrm>
            <a:off x="6858000" y="1773238"/>
            <a:ext cx="465138" cy="1603375"/>
            <a:chOff x="4320" y="1117"/>
            <a:chExt cx="293" cy="1010"/>
          </a:xfrm>
        </p:grpSpPr>
        <p:sp>
          <p:nvSpPr>
            <p:cNvPr id="103451" name="Line 30"/>
            <p:cNvSpPr>
              <a:spLocks noChangeShapeType="1"/>
            </p:cNvSpPr>
            <p:nvPr/>
          </p:nvSpPr>
          <p:spPr bwMode="auto">
            <a:xfrm flipV="1">
              <a:off x="4465" y="1117"/>
              <a:ext cx="148" cy="101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452" name="Text Box 31"/>
            <p:cNvSpPr txBox="1">
              <a:spLocks noChangeArrowheads="1"/>
            </p:cNvSpPr>
            <p:nvPr/>
          </p:nvSpPr>
          <p:spPr bwMode="auto">
            <a:xfrm rot="-4702247">
              <a:off x="4240" y="1472"/>
              <a:ext cx="4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 dirty="0">
                  <a:latin typeface="Times New Roman" charset="0"/>
                </a:rPr>
                <a:t>RST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65529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4067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Reliability is not easy!</a:t>
            </a:r>
          </a:p>
          <a:p>
            <a:endParaRPr lang="en-US" dirty="0"/>
          </a:p>
          <a:p>
            <a:r>
              <a:rPr lang="en-US" dirty="0"/>
              <a:t>Next</a:t>
            </a:r>
          </a:p>
          <a:p>
            <a:pPr lvl="1"/>
            <a:r>
              <a:rPr lang="en-US" dirty="0"/>
              <a:t>Flow control</a:t>
            </a:r>
          </a:p>
          <a:p>
            <a:pPr lvl="1"/>
            <a:r>
              <a:rPr lang="en-US" dirty="0"/>
              <a:t>LOTs of </a:t>
            </a:r>
            <a:r>
              <a:rPr lang="en-US"/>
              <a:t>congestion control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813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Additional</a:t>
            </a:r>
            <a:r>
              <a:rPr lang="zh-CN" altLang="en-US" dirty="0"/>
              <a:t> </a:t>
            </a:r>
            <a:r>
              <a:rPr lang="en-US" altLang="zh-CN" dirty="0"/>
              <a:t>material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TCP</a:t>
            </a:r>
            <a:r>
              <a:rPr lang="zh-CN" altLang="en-US" dirty="0"/>
              <a:t> </a:t>
            </a:r>
            <a:r>
              <a:rPr lang="en-US" altLang="zh-CN"/>
              <a:t>reset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98816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DF5E3-84AF-CC41-A08F-7927B8935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</a:t>
            </a:r>
            <a:r>
              <a:rPr lang="zh-CN" altLang="en-US" dirty="0"/>
              <a:t> </a:t>
            </a:r>
            <a:r>
              <a:rPr lang="en-US" altLang="zh-CN" dirty="0"/>
              <a:t>reset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D5E7F-628C-8544-9752-22E9EE5CC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</a:t>
            </a:r>
            <a:r>
              <a:rPr lang="en-US" altLang="zh-CN" dirty="0"/>
              <a:t>he</a:t>
            </a:r>
            <a:r>
              <a:rPr lang="zh-CN" altLang="en-US" dirty="0"/>
              <a:t> </a:t>
            </a:r>
            <a:r>
              <a:rPr lang="en-US" altLang="zh-CN" dirty="0"/>
              <a:t>following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RFC3360,</a:t>
            </a:r>
            <a:r>
              <a:rPr lang="zh-CN" altLang="en-US" dirty="0"/>
              <a:t> </a:t>
            </a:r>
            <a:r>
              <a:rPr lang="en-US" altLang="zh-CN" dirty="0"/>
              <a:t>“Inappropriate TCP Resets Considered Harmful”,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Sally</a:t>
            </a:r>
            <a:r>
              <a:rPr lang="zh-CN" altLang="en-US" dirty="0"/>
              <a:t> </a:t>
            </a:r>
            <a:r>
              <a:rPr lang="en-US" altLang="zh-CN" dirty="0"/>
              <a:t>Floyd</a:t>
            </a:r>
          </a:p>
          <a:p>
            <a:pPr lvl="1"/>
            <a:r>
              <a:rPr lang="en-US" altLang="zh-CN" dirty="0"/>
              <a:t>TCP</a:t>
            </a:r>
            <a:r>
              <a:rPr lang="zh-CN" altLang="en-US" dirty="0"/>
              <a:t> </a:t>
            </a:r>
            <a:r>
              <a:rPr lang="en-US" altLang="zh-CN" dirty="0"/>
              <a:t>reset</a:t>
            </a:r>
            <a:r>
              <a:rPr lang="zh-CN" altLang="en-US" dirty="0"/>
              <a:t> </a:t>
            </a:r>
            <a:r>
              <a:rPr lang="en-US" altLang="zh-CN" dirty="0"/>
              <a:t>was</a:t>
            </a:r>
            <a:r>
              <a:rPr lang="zh-CN" altLang="en-US" dirty="0"/>
              <a:t> </a:t>
            </a:r>
            <a:r>
              <a:rPr lang="en-US" altLang="zh-CN" dirty="0"/>
              <a:t>devised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HK" altLang="zh-CN" dirty="0"/>
              <a:t>prevent old duplicate connection initiations from causing confusion in TCP's three-way handshake. The reset is also used when a host receives data for a TCP connection that no longer exists.</a:t>
            </a:r>
            <a:endParaRPr lang="en-US" altLang="zh-CN" dirty="0"/>
          </a:p>
          <a:p>
            <a:pPr lvl="1"/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practice,</a:t>
            </a:r>
            <a:r>
              <a:rPr lang="zh-CN" altLang="en-US" dirty="0"/>
              <a:t> </a:t>
            </a:r>
            <a:r>
              <a:rPr lang="en-HK" altLang="zh-CN" dirty="0"/>
              <a:t>a number of firewalls and load-balancers send a reset in response to a TCP SYN packet that use flags from the Reserved field in the TCP header.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75354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FA98A-2455-1A42-9216-51C7DC3A9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TCP</a:t>
            </a:r>
            <a:r>
              <a:rPr lang="zh-CN" altLang="en-US" dirty="0"/>
              <a:t> </a:t>
            </a:r>
            <a:r>
              <a:rPr lang="en-US" altLang="zh-CN" dirty="0"/>
              <a:t>reset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839E4-E0A2-2349-AF83-EAC64A927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00200"/>
            <a:ext cx="7924800" cy="1981200"/>
          </a:xfrm>
        </p:spPr>
        <p:txBody>
          <a:bodyPr/>
          <a:lstStyle/>
          <a:p>
            <a:r>
              <a:rPr lang="en-US" dirty="0"/>
              <a:t>RFC 793 and RFC 1122 both include Jon </a:t>
            </a:r>
            <a:r>
              <a:rPr lang="en-US" dirty="0" err="1"/>
              <a:t>Postel's</a:t>
            </a:r>
            <a:r>
              <a:rPr lang="en-US" dirty="0"/>
              <a:t> famous robustness principle, also from RFC 791: "</a:t>
            </a:r>
            <a:r>
              <a:rPr lang="en-US" dirty="0">
                <a:solidFill>
                  <a:srgbClr val="0000FF"/>
                </a:solidFill>
              </a:rPr>
              <a:t>Be liberal in what you accept, and conservative in what you send."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C98763-A58D-934D-A6C8-D5300251EA0B}"/>
              </a:ext>
            </a:extLst>
          </p:cNvPr>
          <p:cNvSpPr txBox="1"/>
          <p:nvPr/>
        </p:nvSpPr>
        <p:spPr>
          <a:xfrm>
            <a:off x="3352800" y="3593812"/>
            <a:ext cx="5867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https://datatracker.ietf.org/doc/rfc3360/</a:t>
            </a:r>
            <a:endParaRPr lang="en-US" dirty="0"/>
          </a:p>
          <a:p>
            <a:r>
              <a:rPr lang="en-US" altLang="zh-CN" dirty="0"/>
              <a:t>Sally</a:t>
            </a:r>
            <a:r>
              <a:rPr lang="zh-CN" altLang="en-US" dirty="0"/>
              <a:t> </a:t>
            </a:r>
            <a:r>
              <a:rPr lang="en-US" altLang="zh-CN" dirty="0"/>
              <a:t>Floyd,</a:t>
            </a:r>
            <a:r>
              <a:rPr lang="zh-CN" altLang="en-US" dirty="0"/>
              <a:t> </a:t>
            </a:r>
            <a:r>
              <a:rPr lang="en-HK" altLang="zh-CN" dirty="0">
                <a:hlinkClick r:id="rId3"/>
              </a:rPr>
              <a:t>https://en.wikipedia.org/wiki/Sally_Floyd</a:t>
            </a:r>
            <a:endParaRPr lang="en-HK" altLang="zh-CN" dirty="0"/>
          </a:p>
        </p:txBody>
      </p:sp>
    </p:spTree>
    <p:extLst>
      <p:ext uri="{BB962C8B-B14F-4D97-AF65-F5344CB8AC3E}">
        <p14:creationId xmlns:p14="http://schemas.microsoft.com/office/powerpoint/2010/main" val="37138108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63267-9769-0907-1F5D-51F3BA366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947D98D-5733-4A6B-685B-E0A64275E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Additional</a:t>
            </a:r>
            <a:r>
              <a:rPr lang="zh-CN" altLang="en-US" dirty="0"/>
              <a:t> </a:t>
            </a:r>
            <a:r>
              <a:rPr lang="en-US" altLang="zh-CN" dirty="0"/>
              <a:t>material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RTT</a:t>
            </a:r>
            <a:r>
              <a:rPr lang="zh-CN" altLang="en-US" dirty="0"/>
              <a:t> </a:t>
            </a:r>
            <a:r>
              <a:rPr lang="en-US" altLang="zh-CN" dirty="0"/>
              <a:t>Estimation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230CD39-8F66-62F2-A23E-5B967BFF4C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77009-96DC-FB7A-A66D-F342C58881A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28495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Problem: Ambiguous measurements</a:t>
            </a:r>
          </a:p>
        </p:txBody>
      </p:sp>
      <p:sp>
        <p:nvSpPr>
          <p:cNvPr id="11448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How do we differentiate between the real ACK, and ACK of the retransmitted packet?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1144836" name="Line 4"/>
          <p:cNvSpPr>
            <a:spLocks noChangeShapeType="1"/>
          </p:cNvSpPr>
          <p:nvPr/>
        </p:nvSpPr>
        <p:spPr bwMode="auto">
          <a:xfrm>
            <a:off x="1773458" y="3429000"/>
            <a:ext cx="0" cy="2743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sz="1400">
              <a:latin typeface="+mn-lt"/>
            </a:endParaRPr>
          </a:p>
        </p:txBody>
      </p:sp>
      <p:sp>
        <p:nvSpPr>
          <p:cNvPr id="1144837" name="Line 5"/>
          <p:cNvSpPr>
            <a:spLocks noChangeShapeType="1"/>
          </p:cNvSpPr>
          <p:nvPr/>
        </p:nvSpPr>
        <p:spPr bwMode="auto">
          <a:xfrm>
            <a:off x="3830858" y="3429000"/>
            <a:ext cx="0" cy="2743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sz="1400">
              <a:latin typeface="+mn-lt"/>
            </a:endParaRPr>
          </a:p>
        </p:txBody>
      </p:sp>
      <p:sp>
        <p:nvSpPr>
          <p:cNvPr id="1144838" name="Line 6"/>
          <p:cNvSpPr>
            <a:spLocks noChangeShapeType="1"/>
          </p:cNvSpPr>
          <p:nvPr/>
        </p:nvSpPr>
        <p:spPr bwMode="auto">
          <a:xfrm>
            <a:off x="1773458" y="3810000"/>
            <a:ext cx="20574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sz="1400">
              <a:latin typeface="+mn-lt"/>
            </a:endParaRPr>
          </a:p>
        </p:txBody>
      </p:sp>
      <p:sp>
        <p:nvSpPr>
          <p:cNvPr id="1144839" name="Line 7"/>
          <p:cNvSpPr>
            <a:spLocks noChangeShapeType="1"/>
          </p:cNvSpPr>
          <p:nvPr/>
        </p:nvSpPr>
        <p:spPr bwMode="auto">
          <a:xfrm>
            <a:off x="1773458" y="4648200"/>
            <a:ext cx="20574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sz="1400">
              <a:latin typeface="+mn-lt"/>
            </a:endParaRPr>
          </a:p>
        </p:txBody>
      </p:sp>
      <p:sp>
        <p:nvSpPr>
          <p:cNvPr id="1144840" name="Line 8"/>
          <p:cNvSpPr>
            <a:spLocks noChangeShapeType="1"/>
          </p:cNvSpPr>
          <p:nvPr/>
        </p:nvSpPr>
        <p:spPr bwMode="auto">
          <a:xfrm flipH="1">
            <a:off x="1773458" y="5181600"/>
            <a:ext cx="20574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sz="1400">
              <a:latin typeface="+mn-lt"/>
            </a:endParaRPr>
          </a:p>
        </p:txBody>
      </p:sp>
      <p:sp>
        <p:nvSpPr>
          <p:cNvPr id="1144841" name="Text Box 9"/>
          <p:cNvSpPr txBox="1">
            <a:spLocks noChangeArrowheads="1"/>
          </p:cNvSpPr>
          <p:nvPr/>
        </p:nvSpPr>
        <p:spPr bwMode="auto">
          <a:xfrm rot="-755306">
            <a:off x="2408353" y="5167106"/>
            <a:ext cx="571710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400">
                <a:latin typeface="+mn-lt"/>
              </a:rPr>
              <a:t>ACK</a:t>
            </a:r>
          </a:p>
        </p:txBody>
      </p:sp>
      <p:sp>
        <p:nvSpPr>
          <p:cNvPr id="1144842" name="Text Box 10"/>
          <p:cNvSpPr txBox="1">
            <a:spLocks noChangeArrowheads="1"/>
          </p:cNvSpPr>
          <p:nvPr/>
        </p:nvSpPr>
        <p:spPr bwMode="auto">
          <a:xfrm rot="873085">
            <a:off x="1971424" y="4586081"/>
            <a:ext cx="1529704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400">
                <a:latin typeface="+mn-lt"/>
              </a:rPr>
              <a:t>Retransmission</a:t>
            </a:r>
          </a:p>
        </p:txBody>
      </p:sp>
      <p:sp>
        <p:nvSpPr>
          <p:cNvPr id="1144843" name="Text Box 11"/>
          <p:cNvSpPr txBox="1">
            <a:spLocks noChangeArrowheads="1"/>
          </p:cNvSpPr>
          <p:nvPr/>
        </p:nvSpPr>
        <p:spPr bwMode="auto">
          <a:xfrm rot="802585">
            <a:off x="1734620" y="3795506"/>
            <a:ext cx="2068401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400">
                <a:latin typeface="+mn-lt"/>
              </a:rPr>
              <a:t>Original Transmission</a:t>
            </a:r>
          </a:p>
        </p:txBody>
      </p:sp>
      <p:sp>
        <p:nvSpPr>
          <p:cNvPr id="1144844" name="Line 12"/>
          <p:cNvSpPr>
            <a:spLocks noChangeShapeType="1"/>
          </p:cNvSpPr>
          <p:nvPr/>
        </p:nvSpPr>
        <p:spPr bwMode="auto">
          <a:xfrm>
            <a:off x="1544858" y="3810000"/>
            <a:ext cx="22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sz="1400">
              <a:latin typeface="+mn-lt"/>
            </a:endParaRPr>
          </a:p>
        </p:txBody>
      </p:sp>
      <p:sp>
        <p:nvSpPr>
          <p:cNvPr id="1144845" name="Line 13"/>
          <p:cNvSpPr>
            <a:spLocks noChangeShapeType="1"/>
          </p:cNvSpPr>
          <p:nvPr/>
        </p:nvSpPr>
        <p:spPr bwMode="auto">
          <a:xfrm>
            <a:off x="1544858" y="5638800"/>
            <a:ext cx="22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sz="1400">
              <a:latin typeface="+mn-lt"/>
            </a:endParaRPr>
          </a:p>
        </p:txBody>
      </p:sp>
      <p:sp>
        <p:nvSpPr>
          <p:cNvPr id="1144846" name="Line 14"/>
          <p:cNvSpPr>
            <a:spLocks noChangeShapeType="1"/>
          </p:cNvSpPr>
          <p:nvPr/>
        </p:nvSpPr>
        <p:spPr bwMode="auto">
          <a:xfrm flipV="1">
            <a:off x="1621058" y="3810000"/>
            <a:ext cx="0" cy="1828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sz="1400">
              <a:latin typeface="+mn-lt"/>
            </a:endParaRPr>
          </a:p>
        </p:txBody>
      </p:sp>
      <p:sp>
        <p:nvSpPr>
          <p:cNvPr id="1144847" name="Text Box 15"/>
          <p:cNvSpPr txBox="1">
            <a:spLocks noChangeArrowheads="1"/>
          </p:cNvSpPr>
          <p:nvPr/>
        </p:nvSpPr>
        <p:spPr bwMode="auto">
          <a:xfrm rot="-5400000">
            <a:off x="821561" y="4571000"/>
            <a:ext cx="1170368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400">
                <a:latin typeface="+mn-lt"/>
              </a:rPr>
              <a:t>SampleRTT</a:t>
            </a:r>
          </a:p>
        </p:txBody>
      </p:sp>
      <p:sp>
        <p:nvSpPr>
          <p:cNvPr id="1144848" name="Text Box 16"/>
          <p:cNvSpPr txBox="1">
            <a:spLocks noChangeArrowheads="1"/>
          </p:cNvSpPr>
          <p:nvPr/>
        </p:nvSpPr>
        <p:spPr bwMode="auto">
          <a:xfrm>
            <a:off x="1337797" y="3095625"/>
            <a:ext cx="798296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400">
                <a:latin typeface="+mn-lt"/>
              </a:rPr>
              <a:t>Sender</a:t>
            </a:r>
          </a:p>
        </p:txBody>
      </p:sp>
      <p:sp>
        <p:nvSpPr>
          <p:cNvPr id="1144849" name="Text Box 17"/>
          <p:cNvSpPr txBox="1">
            <a:spLocks noChangeArrowheads="1"/>
          </p:cNvSpPr>
          <p:nvPr/>
        </p:nvSpPr>
        <p:spPr bwMode="auto">
          <a:xfrm>
            <a:off x="3327839" y="3095625"/>
            <a:ext cx="939361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400">
                <a:latin typeface="+mn-lt"/>
              </a:rPr>
              <a:t>Receiver</a:t>
            </a:r>
          </a:p>
        </p:txBody>
      </p:sp>
      <p:sp>
        <p:nvSpPr>
          <p:cNvPr id="1144850" name="Line 18"/>
          <p:cNvSpPr>
            <a:spLocks noChangeShapeType="1"/>
          </p:cNvSpPr>
          <p:nvPr/>
        </p:nvSpPr>
        <p:spPr bwMode="auto">
          <a:xfrm>
            <a:off x="5431058" y="3429000"/>
            <a:ext cx="0" cy="2743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sz="1400">
              <a:latin typeface="+mn-lt"/>
            </a:endParaRPr>
          </a:p>
        </p:txBody>
      </p:sp>
      <p:sp>
        <p:nvSpPr>
          <p:cNvPr id="1144851" name="Line 19"/>
          <p:cNvSpPr>
            <a:spLocks noChangeShapeType="1"/>
          </p:cNvSpPr>
          <p:nvPr/>
        </p:nvSpPr>
        <p:spPr bwMode="auto">
          <a:xfrm>
            <a:off x="7488458" y="3429000"/>
            <a:ext cx="0" cy="2743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sz="1400">
              <a:latin typeface="+mn-lt"/>
            </a:endParaRPr>
          </a:p>
        </p:txBody>
      </p:sp>
      <p:sp>
        <p:nvSpPr>
          <p:cNvPr id="1144852" name="Line 20"/>
          <p:cNvSpPr>
            <a:spLocks noChangeShapeType="1"/>
          </p:cNvSpPr>
          <p:nvPr/>
        </p:nvSpPr>
        <p:spPr bwMode="auto">
          <a:xfrm>
            <a:off x="5431058" y="3810000"/>
            <a:ext cx="20574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sz="1400">
              <a:latin typeface="+mn-lt"/>
            </a:endParaRPr>
          </a:p>
        </p:txBody>
      </p:sp>
      <p:sp>
        <p:nvSpPr>
          <p:cNvPr id="1144853" name="Line 21"/>
          <p:cNvSpPr>
            <a:spLocks noChangeShapeType="1"/>
          </p:cNvSpPr>
          <p:nvPr/>
        </p:nvSpPr>
        <p:spPr bwMode="auto">
          <a:xfrm>
            <a:off x="5431058" y="4648200"/>
            <a:ext cx="20574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sz="1400">
              <a:latin typeface="+mn-lt"/>
            </a:endParaRPr>
          </a:p>
        </p:txBody>
      </p:sp>
      <p:sp>
        <p:nvSpPr>
          <p:cNvPr id="1144854" name="Line 22"/>
          <p:cNvSpPr>
            <a:spLocks noChangeShapeType="1"/>
          </p:cNvSpPr>
          <p:nvPr/>
        </p:nvSpPr>
        <p:spPr bwMode="auto">
          <a:xfrm flipH="1">
            <a:off x="5431058" y="4343400"/>
            <a:ext cx="20574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sz="1400">
              <a:latin typeface="+mn-lt"/>
            </a:endParaRPr>
          </a:p>
        </p:txBody>
      </p:sp>
      <p:sp>
        <p:nvSpPr>
          <p:cNvPr id="1144855" name="Text Box 23"/>
          <p:cNvSpPr txBox="1">
            <a:spLocks noChangeArrowheads="1"/>
          </p:cNvSpPr>
          <p:nvPr/>
        </p:nvSpPr>
        <p:spPr bwMode="auto">
          <a:xfrm rot="-755306">
            <a:off x="6370753" y="4281281"/>
            <a:ext cx="571710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400">
                <a:latin typeface="+mn-lt"/>
              </a:rPr>
              <a:t>ACK</a:t>
            </a:r>
          </a:p>
        </p:txBody>
      </p:sp>
      <p:sp>
        <p:nvSpPr>
          <p:cNvPr id="1144856" name="Text Box 24"/>
          <p:cNvSpPr txBox="1">
            <a:spLocks noChangeArrowheads="1"/>
          </p:cNvSpPr>
          <p:nvPr/>
        </p:nvSpPr>
        <p:spPr bwMode="auto">
          <a:xfrm rot="873085">
            <a:off x="5629024" y="4586081"/>
            <a:ext cx="1529704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400">
                <a:latin typeface="+mn-lt"/>
              </a:rPr>
              <a:t>Retransmission</a:t>
            </a:r>
          </a:p>
        </p:txBody>
      </p:sp>
      <p:sp>
        <p:nvSpPr>
          <p:cNvPr id="1144857" name="Text Box 25"/>
          <p:cNvSpPr txBox="1">
            <a:spLocks noChangeArrowheads="1"/>
          </p:cNvSpPr>
          <p:nvPr/>
        </p:nvSpPr>
        <p:spPr bwMode="auto">
          <a:xfrm rot="802585">
            <a:off x="5392220" y="3795506"/>
            <a:ext cx="2068401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400">
                <a:latin typeface="+mn-lt"/>
              </a:rPr>
              <a:t>Original Transmission</a:t>
            </a:r>
          </a:p>
        </p:txBody>
      </p:sp>
      <p:sp>
        <p:nvSpPr>
          <p:cNvPr id="1144858" name="Line 26"/>
          <p:cNvSpPr>
            <a:spLocks noChangeShapeType="1"/>
          </p:cNvSpPr>
          <p:nvPr/>
        </p:nvSpPr>
        <p:spPr bwMode="auto">
          <a:xfrm>
            <a:off x="5202458" y="3810000"/>
            <a:ext cx="22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sz="1400">
              <a:latin typeface="+mn-lt"/>
            </a:endParaRPr>
          </a:p>
        </p:txBody>
      </p:sp>
      <p:sp>
        <p:nvSpPr>
          <p:cNvPr id="1144859" name="Line 27"/>
          <p:cNvSpPr>
            <a:spLocks noChangeShapeType="1"/>
          </p:cNvSpPr>
          <p:nvPr/>
        </p:nvSpPr>
        <p:spPr bwMode="auto">
          <a:xfrm>
            <a:off x="5202458" y="4876800"/>
            <a:ext cx="22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sz="1400">
              <a:latin typeface="+mn-lt"/>
            </a:endParaRPr>
          </a:p>
        </p:txBody>
      </p:sp>
      <p:sp>
        <p:nvSpPr>
          <p:cNvPr id="1144860" name="Line 28"/>
          <p:cNvSpPr>
            <a:spLocks noChangeShapeType="1"/>
          </p:cNvSpPr>
          <p:nvPr/>
        </p:nvSpPr>
        <p:spPr bwMode="auto">
          <a:xfrm flipV="1">
            <a:off x="5278658" y="3810000"/>
            <a:ext cx="0" cy="1066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sz="1400">
              <a:latin typeface="+mn-lt"/>
            </a:endParaRPr>
          </a:p>
        </p:txBody>
      </p:sp>
      <p:sp>
        <p:nvSpPr>
          <p:cNvPr id="1144861" name="Text Box 29"/>
          <p:cNvSpPr txBox="1">
            <a:spLocks noChangeArrowheads="1"/>
          </p:cNvSpPr>
          <p:nvPr/>
        </p:nvSpPr>
        <p:spPr bwMode="auto">
          <a:xfrm rot="-5400000">
            <a:off x="4479161" y="4136025"/>
            <a:ext cx="1170368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400">
                <a:latin typeface="+mn-lt"/>
              </a:rPr>
              <a:t>SampleRTT</a:t>
            </a:r>
          </a:p>
        </p:txBody>
      </p:sp>
      <p:sp>
        <p:nvSpPr>
          <p:cNvPr id="1144862" name="Text Box 30"/>
          <p:cNvSpPr txBox="1">
            <a:spLocks noChangeArrowheads="1"/>
          </p:cNvSpPr>
          <p:nvPr/>
        </p:nvSpPr>
        <p:spPr bwMode="auto">
          <a:xfrm>
            <a:off x="4995397" y="3095625"/>
            <a:ext cx="798296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400">
                <a:latin typeface="+mn-lt"/>
              </a:rPr>
              <a:t>Sender</a:t>
            </a:r>
          </a:p>
        </p:txBody>
      </p:sp>
      <p:sp>
        <p:nvSpPr>
          <p:cNvPr id="1144863" name="Text Box 31"/>
          <p:cNvSpPr txBox="1">
            <a:spLocks noChangeArrowheads="1"/>
          </p:cNvSpPr>
          <p:nvPr/>
        </p:nvSpPr>
        <p:spPr bwMode="auto">
          <a:xfrm>
            <a:off x="6985439" y="3095625"/>
            <a:ext cx="939361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400">
                <a:latin typeface="+mn-lt"/>
              </a:rPr>
              <a:t>Receiver</a:t>
            </a:r>
          </a:p>
        </p:txBody>
      </p:sp>
    </p:spTree>
    <p:extLst>
      <p:ext uri="{BB962C8B-B14F-4D97-AF65-F5344CB8AC3E}">
        <p14:creationId xmlns:p14="http://schemas.microsoft.com/office/powerpoint/2010/main" val="135911848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Karn</a:t>
            </a:r>
            <a:r>
              <a:rPr lang="en-US" dirty="0"/>
              <a:t>/Partridge algorithm</a:t>
            </a:r>
          </a:p>
        </p:txBody>
      </p:sp>
      <p:sp>
        <p:nvSpPr>
          <p:cNvPr id="9984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Don’t use SampleRTT from retransmissions</a:t>
            </a:r>
          </a:p>
          <a:p>
            <a:pPr lvl="1"/>
            <a:r>
              <a:rPr lang="en-US" dirty="0"/>
              <a:t>Once retransmitted, ignore that segment in the future</a:t>
            </a:r>
          </a:p>
          <a:p>
            <a:r>
              <a:rPr lang="en-US" dirty="0"/>
              <a:t>Computes </a:t>
            </a:r>
            <a:r>
              <a:rPr lang="en-US" dirty="0" err="1"/>
              <a:t>EstimatedRTT</a:t>
            </a:r>
            <a:r>
              <a:rPr lang="en-US" dirty="0"/>
              <a:t> using </a:t>
            </a:r>
            <a:r>
              <a:rPr lang="el-GR" dirty="0"/>
              <a:t>α</a:t>
            </a:r>
            <a:r>
              <a:rPr lang="en-US" dirty="0"/>
              <a:t> = 0.125</a:t>
            </a:r>
          </a:p>
          <a:p>
            <a:r>
              <a:rPr lang="en-US" dirty="0">
                <a:solidFill>
                  <a:srgbClr val="0000FF"/>
                </a:solidFill>
              </a:rPr>
              <a:t>Timeout value (RTO)  = 2 × </a:t>
            </a:r>
            <a:r>
              <a:rPr lang="en-US" dirty="0" err="1">
                <a:solidFill>
                  <a:srgbClr val="0000FF"/>
                </a:solidFill>
              </a:rPr>
              <a:t>EstimatedRTT</a:t>
            </a:r>
            <a:endParaRPr lang="en-US" dirty="0">
              <a:solidFill>
                <a:srgbClr val="0000FF"/>
              </a:solidFill>
            </a:endParaRPr>
          </a:p>
          <a:p>
            <a:pPr lvl="1"/>
            <a:r>
              <a:rPr lang="en-US" dirty="0"/>
              <a:t>Employs </a:t>
            </a:r>
            <a:r>
              <a:rPr lang="en-US" dirty="0">
                <a:solidFill>
                  <a:srgbClr val="0000FF"/>
                </a:solidFill>
              </a:rPr>
              <a:t>exponential </a:t>
            </a:r>
            <a:r>
              <a:rPr lang="en-US" dirty="0" err="1">
                <a:solidFill>
                  <a:srgbClr val="0000FF"/>
                </a:solidFill>
              </a:rPr>
              <a:t>backoff</a:t>
            </a:r>
            <a:endParaRPr lang="en-US" dirty="0">
              <a:solidFill>
                <a:srgbClr val="0000FF"/>
              </a:solidFill>
            </a:endParaRPr>
          </a:p>
          <a:p>
            <a:pPr lvl="2"/>
            <a:r>
              <a:rPr lang="en-US" dirty="0"/>
              <a:t>Every time RTO timer expires, set RTO </a:t>
            </a:r>
            <a:r>
              <a:rPr lang="en-US" dirty="0">
                <a:sym typeface="Symbol" charset="0"/>
              </a:rPr>
              <a:t> 2·RTO</a:t>
            </a:r>
          </a:p>
          <a:p>
            <a:pPr lvl="3"/>
            <a:r>
              <a:rPr lang="en-US" dirty="0">
                <a:sym typeface="Symbol" charset="0"/>
              </a:rPr>
              <a:t>(Up  to maximum  60 sec)</a:t>
            </a:r>
          </a:p>
          <a:p>
            <a:pPr lvl="2"/>
            <a:r>
              <a:rPr lang="en-US" dirty="0">
                <a:sym typeface="Symbol" charset="0"/>
              </a:rPr>
              <a:t>Every time new measurement comes in (= successful original transmission), collapse RTO back to 2 </a:t>
            </a:r>
            <a:r>
              <a:rPr lang="en-US" dirty="0"/>
              <a:t>× </a:t>
            </a:r>
            <a:r>
              <a:rPr lang="en-US" dirty="0" err="1"/>
              <a:t>EstimatedRTT</a:t>
            </a:r>
            <a:endParaRPr lang="en-US" dirty="0"/>
          </a:p>
          <a:p>
            <a:r>
              <a:rPr lang="en-US" dirty="0">
                <a:solidFill>
                  <a:srgbClr val="0000FF"/>
                </a:solidFill>
              </a:rPr>
              <a:t>Sensitive to RTT variations</a:t>
            </a:r>
          </a:p>
          <a:p>
            <a:pPr lvl="1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0907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Jacobson/</a:t>
            </a:r>
            <a:r>
              <a:rPr lang="en-US" dirty="0" err="1"/>
              <a:t>Karels</a:t>
            </a:r>
            <a:r>
              <a:rPr lang="en-US" dirty="0"/>
              <a:t>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Problem</a:t>
            </a:r>
            <a:r>
              <a:rPr lang="en-US" dirty="0"/>
              <a:t>: need to better capture variability in RTT</a:t>
            </a:r>
          </a:p>
          <a:p>
            <a:pPr lvl="1"/>
            <a:r>
              <a:rPr lang="en-US" dirty="0"/>
              <a:t>Directly measure deviation</a:t>
            </a:r>
          </a:p>
          <a:p>
            <a:endParaRPr lang="en-US" dirty="0"/>
          </a:p>
          <a:p>
            <a:r>
              <a:rPr lang="en-US" dirty="0"/>
              <a:t>Deviation = | SampleRTT – </a:t>
            </a:r>
            <a:r>
              <a:rPr lang="en-US" dirty="0" err="1"/>
              <a:t>EstimatedRTT</a:t>
            </a:r>
            <a:r>
              <a:rPr lang="en-US" dirty="0"/>
              <a:t> | </a:t>
            </a:r>
          </a:p>
          <a:p>
            <a:r>
              <a:rPr lang="en-US" dirty="0" err="1"/>
              <a:t>DevRTT</a:t>
            </a:r>
            <a:r>
              <a:rPr lang="en-US" dirty="0"/>
              <a:t>: exponential average of Deviation</a:t>
            </a:r>
          </a:p>
          <a:p>
            <a:endParaRPr lang="en-US" dirty="0"/>
          </a:p>
          <a:p>
            <a:r>
              <a:rPr lang="en-US" dirty="0">
                <a:solidFill>
                  <a:srgbClr val="0000FF"/>
                </a:solidFill>
              </a:rPr>
              <a:t>RTO = </a:t>
            </a:r>
            <a:r>
              <a:rPr lang="en-US" dirty="0" err="1">
                <a:solidFill>
                  <a:srgbClr val="0000FF"/>
                </a:solidFill>
              </a:rPr>
              <a:t>EstimatedRTT</a:t>
            </a:r>
            <a:r>
              <a:rPr lang="en-US" dirty="0">
                <a:solidFill>
                  <a:srgbClr val="0000FF"/>
                </a:solidFill>
              </a:rPr>
              <a:t> + 4 x </a:t>
            </a:r>
            <a:r>
              <a:rPr lang="en-US" dirty="0" err="1">
                <a:solidFill>
                  <a:srgbClr val="0000FF"/>
                </a:solidFill>
              </a:rPr>
              <a:t>DevRTT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537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sci teaching">
  <a:themeElements>
    <a:clrScheme name="">
      <a:dk1>
        <a:srgbClr val="333399"/>
      </a:dk1>
      <a:lt1>
        <a:srgbClr val="FFFFFF"/>
      </a:lt1>
      <a:dk2>
        <a:srgbClr val="CC0000"/>
      </a:dk2>
      <a:lt2>
        <a:srgbClr val="CECECE"/>
      </a:lt2>
      <a:accent1>
        <a:srgbClr val="EBEBEB"/>
      </a:accent1>
      <a:accent2>
        <a:srgbClr val="232323"/>
      </a:accent2>
      <a:accent3>
        <a:srgbClr val="FFFFFF"/>
      </a:accent3>
      <a:accent4>
        <a:srgbClr val="2A2A82"/>
      </a:accent4>
      <a:accent5>
        <a:srgbClr val="F3F3F3"/>
      </a:accent5>
      <a:accent6>
        <a:srgbClr val="1F1F1F"/>
      </a:accent6>
      <a:hlink>
        <a:srgbClr val="9C9C9C"/>
      </a:hlink>
      <a:folHlink>
        <a:srgbClr val="676767"/>
      </a:folHlink>
    </a:clrScheme>
    <a:fontScheme name="dbllineb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bllineb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bllineb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sci teaching" id="{2544B9EB-22C5-894E-8225-D41CCBCFB37A}" vid="{814176C4-F8E2-3E49-9BEB-3A929C7DAC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CSCI lecture</Template>
  <TotalTime>1490460794</TotalTime>
  <Pages>7</Pages>
  <Words>2419</Words>
  <Application>Microsoft Macintosh PowerPoint</Application>
  <PresentationFormat>On-screen Show (4:3)</PresentationFormat>
  <Paragraphs>559</Paragraphs>
  <Slides>55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7" baseType="lpstr">
      <vt:lpstr>ＭＳ Ｐゴシック</vt:lpstr>
      <vt:lpstr>Arial</vt:lpstr>
      <vt:lpstr>Arial Black</vt:lpstr>
      <vt:lpstr>Courier</vt:lpstr>
      <vt:lpstr>Gill Sans</vt:lpstr>
      <vt:lpstr>Helvetica Neue</vt:lpstr>
      <vt:lpstr>Monotype Sorts</vt:lpstr>
      <vt:lpstr>Symbol</vt:lpstr>
      <vt:lpstr>Tahoma</vt:lpstr>
      <vt:lpstr>Times New Roman</vt:lpstr>
      <vt:lpstr>Wingdings</vt:lpstr>
      <vt:lpstr>csci teaching</vt:lpstr>
      <vt:lpstr>CSCI4430 Computer Networks  Lecture 7: Transport Layer – TCP</vt:lpstr>
      <vt:lpstr>Agenda</vt:lpstr>
      <vt:lpstr>Recap: Designing a reliable transport protocol</vt:lpstr>
      <vt:lpstr>TCP: Transmission Control Protocol</vt:lpstr>
      <vt:lpstr>The TCP Abstraction</vt:lpstr>
      <vt:lpstr>What does TCP use from what we’ve seen so far?</vt:lpstr>
      <vt:lpstr>Build the TCP header</vt:lpstr>
      <vt:lpstr>Build the TCP header</vt:lpstr>
      <vt:lpstr>What does TCP use?</vt:lpstr>
      <vt:lpstr>Build the TCP header</vt:lpstr>
      <vt:lpstr>TCP “byte stream” service…</vt:lpstr>
      <vt:lpstr>… using TCP “segments”</vt:lpstr>
      <vt:lpstr>TCP segment</vt:lpstr>
      <vt:lpstr>Sequence numbers</vt:lpstr>
      <vt:lpstr>Sequence numbers</vt:lpstr>
      <vt:lpstr>Build the TCP header</vt:lpstr>
      <vt:lpstr>What does TCP use?</vt:lpstr>
      <vt:lpstr>ACKs and sequence numbers</vt:lpstr>
      <vt:lpstr>Typical operation</vt:lpstr>
      <vt:lpstr>Build the TCP header</vt:lpstr>
      <vt:lpstr>What does TCP use?</vt:lpstr>
      <vt:lpstr>Loss with cumulative ACKs</vt:lpstr>
      <vt:lpstr>What does TCP introduce?</vt:lpstr>
      <vt:lpstr>Loss with cumulative ACKs</vt:lpstr>
      <vt:lpstr>Loss with cumulative ACKs</vt:lpstr>
      <vt:lpstr>What does TCP introduce?</vt:lpstr>
      <vt:lpstr>Retransmission timeout</vt:lpstr>
      <vt:lpstr>Timing illustration</vt:lpstr>
      <vt:lpstr>Retransmission timeout</vt:lpstr>
      <vt:lpstr>RTT estimation</vt:lpstr>
      <vt:lpstr>Build the TCP header</vt:lpstr>
      <vt:lpstr>TCP Connection Establishment</vt:lpstr>
      <vt:lpstr>Initial Sequence Number (ISN)</vt:lpstr>
      <vt:lpstr>Initial Sequence Number (ISN)</vt:lpstr>
      <vt:lpstr>Establishing a TCP connection</vt:lpstr>
      <vt:lpstr>Build the TCP header</vt:lpstr>
      <vt:lpstr>Step 1: A’s initial SYN packet</vt:lpstr>
      <vt:lpstr>Step 2: B’s SYN-ACK packet</vt:lpstr>
      <vt:lpstr>Step 3: A’s ACK to SYN-ACK</vt:lpstr>
      <vt:lpstr>TCP’s 3-way handshaking</vt:lpstr>
      <vt:lpstr>What if the SYN is Lost?</vt:lpstr>
      <vt:lpstr>SYN loss and web downloads</vt:lpstr>
      <vt:lpstr>TCP Fast Open</vt:lpstr>
      <vt:lpstr>TCP connection teardown</vt:lpstr>
      <vt:lpstr>Normal termination, one side at a time</vt:lpstr>
      <vt:lpstr>Normal termination, both together</vt:lpstr>
      <vt:lpstr>Abrupt termination</vt:lpstr>
      <vt:lpstr>Summary</vt:lpstr>
      <vt:lpstr>Additional material on TCP reset</vt:lpstr>
      <vt:lpstr>TCP reset</vt:lpstr>
      <vt:lpstr>TCP reset</vt:lpstr>
      <vt:lpstr>Additional material on RTT Estimation</vt:lpstr>
      <vt:lpstr>Problem: Ambiguous measurements</vt:lpstr>
      <vt:lpstr>Karn/Partridge algorithm</vt:lpstr>
      <vt:lpstr>Jacobson/Karels algorithm</vt:lpstr>
    </vt:vector>
  </TitlesOfParts>
  <Manager/>
  <Company>UC Riverside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CS153: Lecture 3 - Processes</dc:title>
  <dc:subject/>
  <dc:creator>Harsha V. Madhyastha</dc:creator>
  <cp:keywords/>
  <dc:description/>
  <cp:lastModifiedBy>Hong Xu</cp:lastModifiedBy>
  <cp:revision>1454</cp:revision>
  <cp:lastPrinted>1999-09-08T17:25:07Z</cp:lastPrinted>
  <dcterms:created xsi:type="dcterms:W3CDTF">2014-01-14T18:15:50Z</dcterms:created>
  <dcterms:modified xsi:type="dcterms:W3CDTF">2025-02-16T13:42:06Z</dcterms:modified>
  <cp:category/>
</cp:coreProperties>
</file>
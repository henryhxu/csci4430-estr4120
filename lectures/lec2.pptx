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2"/>
  </p:notesMasterIdLst>
  <p:handoutMasterIdLst>
    <p:handoutMasterId r:id="rId43"/>
  </p:handoutMasterIdLst>
  <p:sldIdLst>
    <p:sldId id="648" r:id="rId2"/>
    <p:sldId id="487" r:id="rId3"/>
    <p:sldId id="635" r:id="rId4"/>
    <p:sldId id="634" r:id="rId5"/>
    <p:sldId id="636" r:id="rId6"/>
    <p:sldId id="637" r:id="rId7"/>
    <p:sldId id="599" r:id="rId8"/>
    <p:sldId id="601" r:id="rId9"/>
    <p:sldId id="600" r:id="rId10"/>
    <p:sldId id="602" r:id="rId11"/>
    <p:sldId id="598" r:id="rId12"/>
    <p:sldId id="603" r:id="rId13"/>
    <p:sldId id="604" r:id="rId14"/>
    <p:sldId id="605" r:id="rId15"/>
    <p:sldId id="607" r:id="rId16"/>
    <p:sldId id="608" r:id="rId17"/>
    <p:sldId id="609" r:id="rId18"/>
    <p:sldId id="610" r:id="rId19"/>
    <p:sldId id="611" r:id="rId20"/>
    <p:sldId id="606" r:id="rId21"/>
    <p:sldId id="612" r:id="rId22"/>
    <p:sldId id="616" r:id="rId23"/>
    <p:sldId id="615" r:id="rId24"/>
    <p:sldId id="613" r:id="rId25"/>
    <p:sldId id="618" r:id="rId26"/>
    <p:sldId id="619" r:id="rId27"/>
    <p:sldId id="620" r:id="rId28"/>
    <p:sldId id="621" r:id="rId29"/>
    <p:sldId id="622" r:id="rId30"/>
    <p:sldId id="623" r:id="rId31"/>
    <p:sldId id="624" r:id="rId32"/>
    <p:sldId id="625" r:id="rId33"/>
    <p:sldId id="617" r:id="rId34"/>
    <p:sldId id="627" r:id="rId35"/>
    <p:sldId id="628" r:id="rId36"/>
    <p:sldId id="629" r:id="rId37"/>
    <p:sldId id="626" r:id="rId38"/>
    <p:sldId id="631" r:id="rId39"/>
    <p:sldId id="630" r:id="rId40"/>
    <p:sldId id="597" r:id="rId4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99"/>
    <a:srgbClr val="D3A600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0"/>
    <p:restoredTop sz="96327"/>
  </p:normalViewPr>
  <p:slideViewPr>
    <p:cSldViewPr>
      <p:cViewPr varScale="1">
        <p:scale>
          <a:sx n="127" d="100"/>
          <a:sy n="127" d="100"/>
        </p:scale>
        <p:origin x="7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0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7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8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70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80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8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726E393-C360-5843-A496-63EA60DC7DC8}" type="slidenum">
              <a:rPr lang="en-US" sz="1300" b="0">
                <a:latin typeface="Times New Roman" charset="0"/>
              </a:rPr>
              <a:pPr eaLnBrk="1" hangingPunct="1"/>
              <a:t>17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02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606A353-8C25-8144-93E4-85B5ED34151E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9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294567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hape 2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4754" name="Shape 2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63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27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72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52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7E223B3-ED0D-0B48-B88B-1C353A074062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70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hape 2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7826" name="Shape 2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3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22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07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8402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1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4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4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1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4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40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707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302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3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2: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Layering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communication organized?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744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3026" y="3810000"/>
              <a:ext cx="14029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192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6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8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0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1146469" cy="26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of) What happens…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804" y="3059506"/>
            <a:ext cx="12747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77" y="3059506"/>
            <a:ext cx="11464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77" y="4313631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DC445311-78B0-718D-609D-43F46935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622" y="5168746"/>
            <a:ext cx="1129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52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7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9</a:t>
            </a:r>
            <a:r>
              <a:rPr lang="en-US" sz="1800" b="0" dirty="0">
                <a:latin typeface="+mn-lt"/>
              </a:rPr>
              <a:t>.1</a:t>
            </a:r>
            <a:r>
              <a:rPr lang="en-US" altLang="zh-CN" sz="1800" b="0" dirty="0">
                <a:latin typeface="+mn-lt"/>
              </a:rPr>
              <a:t>1</a:t>
            </a:r>
            <a:endParaRPr lang="en-US" sz="1800" b="0" dirty="0">
              <a:latin typeface="+mn-lt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B9184955-92B1-E5C0-448B-E8C780F2A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437" y="5109669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18.207.84.236</a:t>
            </a:r>
          </a:p>
        </p:txBody>
      </p:sp>
    </p:spTree>
    <p:extLst>
      <p:ext uri="{BB962C8B-B14F-4D97-AF65-F5344CB8AC3E}">
        <p14:creationId xmlns:p14="http://schemas.microsoft.com/office/powerpoint/2010/main" val="18943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/>
      <p:bldP spid="34" grpId="0"/>
      <p:bldP spid="35" grpId="0" animBg="1"/>
      <p:bldP spid="36" grpId="0" animBg="1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08C3F3-AAC9-6E48-B9A8-97405BE6ABB2}"/>
              </a:ext>
            </a:extLst>
          </p:cNvPr>
          <p:cNvSpPr/>
          <p:nvPr/>
        </p:nvSpPr>
        <p:spPr bwMode="auto">
          <a:xfrm>
            <a:off x="7697227" y="206248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938163-4198-9E43-BECD-168DA8278F1D}"/>
              </a:ext>
            </a:extLst>
          </p:cNvPr>
          <p:cNvSpPr/>
          <p:nvPr/>
        </p:nvSpPr>
        <p:spPr bwMode="auto">
          <a:xfrm>
            <a:off x="7697227" y="2057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3024" y="3810000"/>
              <a:ext cx="14029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192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1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6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8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</a:t>
              </a:r>
              <a:r>
                <a:rPr lang="en-US" altLang="zh-CN" sz="1800" b="0" dirty="0">
                  <a:solidFill>
                    <a:srgbClr val="0000FF"/>
                  </a:solidFill>
                  <a:latin typeface="+mn-lt"/>
                </a:rPr>
                <a:t>0</a:t>
              </a:r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1146468" cy="26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</a:t>
              </a:r>
              <a:r>
                <a:rPr lang="en-US" altLang="zh-CN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0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(More of) What happens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804" y="3059506"/>
            <a:ext cx="12747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77" y="3059506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</a:t>
            </a:r>
            <a:r>
              <a:rPr lang="en-US" altLang="zh-CN" sz="1800" b="0" dirty="0">
                <a:solidFill>
                  <a:srgbClr val="FF3300"/>
                </a:solidFill>
                <a:latin typeface="+mn-lt"/>
              </a:rPr>
              <a:t>0</a:t>
            </a:r>
            <a:r>
              <a:rPr lang="en-US" sz="1800" b="0" dirty="0">
                <a:solidFill>
                  <a:srgbClr val="FF3300"/>
                </a:solidFill>
                <a:latin typeface="+mn-lt"/>
              </a:rPr>
              <a:t>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77" y="4313631"/>
            <a:ext cx="101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0</a:t>
            </a:r>
            <a:r>
              <a:rPr lang="en-US" sz="1800" b="0" dirty="0">
                <a:latin typeface="+mn-lt"/>
              </a:rPr>
              <a:t>.1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 flipH="1"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BC495-69A2-1549-A24F-EED312FB8AF1}"/>
              </a:ext>
            </a:extLst>
          </p:cNvPr>
          <p:cNvSpPr/>
          <p:nvPr/>
        </p:nvSpPr>
        <p:spPr bwMode="auto">
          <a:xfrm>
            <a:off x="7697227" y="1676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46619C-F3D4-E048-8B84-FAB96EDA59D8}"/>
              </a:ext>
            </a:extLst>
          </p:cNvPr>
          <p:cNvSpPr/>
          <p:nvPr/>
        </p:nvSpPr>
        <p:spPr bwMode="auto">
          <a:xfrm>
            <a:off x="7697227" y="186944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57E1D-4E65-B943-BC57-4109740BBB13}"/>
              </a:ext>
            </a:extLst>
          </p:cNvPr>
          <p:cNvSpPr/>
          <p:nvPr/>
        </p:nvSpPr>
        <p:spPr bwMode="auto">
          <a:xfrm>
            <a:off x="7697227" y="225552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238BD1D4-E630-B4F7-7955-627F70E52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622" y="5168746"/>
            <a:ext cx="11293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52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7</a:t>
            </a:r>
            <a:r>
              <a:rPr lang="en-US" sz="1800" b="0" dirty="0">
                <a:latin typeface="+mn-lt"/>
              </a:rPr>
              <a:t>.</a:t>
            </a:r>
            <a:r>
              <a:rPr lang="en-US" altLang="zh-CN" sz="1800" b="0" dirty="0">
                <a:latin typeface="+mn-lt"/>
              </a:rPr>
              <a:t>9</a:t>
            </a:r>
            <a:r>
              <a:rPr lang="en-US" sz="1800" b="0" dirty="0">
                <a:latin typeface="+mn-lt"/>
              </a:rPr>
              <a:t>.1</a:t>
            </a:r>
            <a:r>
              <a:rPr lang="en-US" altLang="zh-CN" sz="1800" b="0" dirty="0">
                <a:latin typeface="+mn-lt"/>
              </a:rPr>
              <a:t>1</a:t>
            </a:r>
            <a:endParaRPr lang="en-US" sz="1800" b="0" dirty="0">
              <a:latin typeface="+mn-lt"/>
            </a:endParaRP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id="{1F52BE1A-4DBE-E388-B5DA-042A65DF4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437" y="5109669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zh-CN" sz="1800" b="0" dirty="0">
                <a:latin typeface="+mn-lt"/>
              </a:rPr>
              <a:t>18.207.84.236</a:t>
            </a:r>
          </a:p>
        </p:txBody>
      </p:sp>
    </p:spTree>
    <p:extLst>
      <p:ext uri="{BB962C8B-B14F-4D97-AF65-F5344CB8AC3E}">
        <p14:creationId xmlns:p14="http://schemas.microsoft.com/office/powerpoint/2010/main" val="2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11111E-6 L -0.19445 0.43565 C -0.23525 0.5338 -0.29636 0.5868 -0.35955 0.5868 C -0.43212 0.5868 -0.48993 0.5338 -0.53073 0.43565 L -0.725 1.11111E-6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3.7037E-7 L -0.1948 0.42292 C -0.23559 0.51829 -0.29653 0.56968 -0.3599 0.56968 C -0.43247 0.56968 -0.49028 0.51829 -0.53108 0.42292 L -0.725 3.7037E-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667 C -0.00677 1.11111E-6 -0.03021 -0.01597 -0.03837 -0.01597 C -0.09028 -0.01597 -0.14375 0.24051 -0.14375 0.49722 C -0.14375 0.36782 -0.17049 0.24051 -0.19566 0.24051 C -0.2224 0.24051 -0.24757 0.36967 -0.24757 0.49722 C -0.24757 0.43333 -0.26094 0.36782 -0.27431 0.36782 C -0.28768 0.36782 -0.30105 0.43148 -0.30105 0.49722 C -0.30105 0.46435 -0.30764 0.43333 -0.31424 0.43333 C -0.32101 0.43333 -0.32761 0.4662 -0.32761 0.49722 C -0.32761 0.48055 -0.33108 0.46435 -0.33438 0.46435 C -0.33611 0.46435 -0.34098 0.48102 -0.34098 0.49722 C -0.34098 0.48912 -0.34271 0.48055 -0.34445 0.48055 C -0.34445 0.47847 -0.34792 0.48866 -0.34792 0.49722 C -0.34792 0.49282 -0.34792 0.48912 -0.34966 0.48912 C -0.34966 0.49097 -0.35139 0.49329 -0.35139 0.49722 C -0.35139 0.49514 -0.35139 0.49282 -0.35139 0.49097 C -0.35313 0.49097 -0.35313 0.49282 -0.35313 0.49514 C -0.35486 0.49514 -0.35486 0.49329 -0.35486 0.49097 C -0.3566 0.49097 -0.3566 0.49282 -0.3566 0.49514 " pathEditMode="relative" rAng="0" ptsTypes="AAAAAAAAAAAAAAAAAAA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0" y="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-0.19462 0.36458 C -0.23559 0.44676 -0.29618 0.4912 -0.35955 0.4912 C -0.4323 0.4912 -0.49011 0.44676 -0.53108 0.36458 L -0.725 3.7037E-7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-0.19445 0.41042 C -0.23559 0.50278 -0.29636 0.55278 -0.3599 0.55278 C -0.4323 0.55278 -0.49011 0.50278 -0.53108 0.41042 L -0.725 -4.44444E-6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763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36" grpId="0" animBg="1"/>
      <p:bldP spid="3" grpId="0" animBg="1"/>
      <p:bldP spid="41" grpId="0" animBg="1"/>
      <p:bldP spid="42" grpId="0" animBg="1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get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8FD97-E2A7-C844-B4EE-E1BC304EC53D}"/>
              </a:ext>
            </a:extLst>
          </p:cNvPr>
          <p:cNvSpPr/>
          <p:nvPr/>
        </p:nvSpPr>
        <p:spPr bwMode="auto">
          <a:xfrm>
            <a:off x="1983055" y="3220249"/>
            <a:ext cx="640080" cy="73152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8797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559045"/>
            <a:ext cx="7620000" cy="30469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3200" b="0" i="1" dirty="0">
                <a:solidFill>
                  <a:srgbClr val="0000FF"/>
                </a:solidFill>
              </a:rPr>
              <a:t>Dear </a:t>
            </a:r>
            <a:r>
              <a:rPr lang="en-US" altLang="zh-CN" sz="3200" b="0" i="1" dirty="0">
                <a:solidFill>
                  <a:srgbClr val="0000FF"/>
                </a:solidFill>
              </a:rPr>
              <a:t>Jensen</a:t>
            </a:r>
            <a:r>
              <a:rPr lang="en-US" sz="3200" b="0" i="1" dirty="0">
                <a:solidFill>
                  <a:srgbClr val="0000FF"/>
                </a:solidFill>
              </a:rPr>
              <a:t>,</a:t>
            </a:r>
          </a:p>
          <a:p>
            <a:pPr algn="l" eaLnBrk="1" hangingPunct="1"/>
            <a:endParaRPr lang="en-US" sz="32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altLang="zh-CN" sz="3200" b="0" i="1" dirty="0">
                <a:solidFill>
                  <a:srgbClr val="0000FF"/>
                </a:solidFill>
              </a:rPr>
              <a:t>We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need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to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talk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about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the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pricing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of</a:t>
            </a:r>
            <a:r>
              <a:rPr lang="zh-CN" alt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your</a:t>
            </a:r>
            <a:r>
              <a:rPr lang="en-US" sz="3200" b="0" i="1" dirty="0">
                <a:solidFill>
                  <a:srgbClr val="0000FF"/>
                </a:solidFill>
              </a:rPr>
              <a:t> </a:t>
            </a:r>
            <a:r>
              <a:rPr lang="en-US" altLang="zh-CN" sz="3200" b="0" i="1" dirty="0">
                <a:solidFill>
                  <a:srgbClr val="0000FF"/>
                </a:solidFill>
              </a:rPr>
              <a:t>GPUs</a:t>
            </a:r>
            <a:r>
              <a:rPr lang="en-US" sz="3200" b="0" i="1" dirty="0">
                <a:solidFill>
                  <a:srgbClr val="0000FF"/>
                </a:solidFill>
              </a:rPr>
              <a:t>.</a:t>
            </a:r>
          </a:p>
          <a:p>
            <a:pPr algn="l" eaLnBrk="1" hangingPunct="1"/>
            <a:endParaRPr lang="en-US" sz="3200" b="0" i="1" dirty="0">
              <a:solidFill>
                <a:srgbClr val="0000FF"/>
              </a:solidFill>
            </a:endParaRPr>
          </a:p>
          <a:p>
            <a:pPr algn="l" eaLnBrk="1" hangingPunct="1"/>
            <a:r>
              <a:rPr lang="en-US" sz="3200" b="0" i="1" dirty="0">
                <a:solidFill>
                  <a:srgbClr val="0000FF"/>
                </a:solidFill>
              </a:rPr>
              <a:t>					--</a:t>
            </a:r>
            <a:r>
              <a:rPr lang="en-US" altLang="zh-CN" sz="3200" b="0" i="1" dirty="0">
                <a:solidFill>
                  <a:srgbClr val="0000FF"/>
                </a:solidFill>
              </a:rPr>
              <a:t>Satya</a:t>
            </a:r>
            <a:endParaRPr lang="en-US" sz="3200" b="0" i="1" dirty="0">
              <a:solidFill>
                <a:srgbClr val="0000FF"/>
              </a:solidFill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90600"/>
          </a:xfrm>
        </p:spPr>
        <p:txBody>
          <a:bodyPr/>
          <a:lstStyle/>
          <a:p>
            <a:r>
              <a:rPr lang="en-US" dirty="0"/>
              <a:t>CEO A writes letter to CEO 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397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CEO A writes letter to CEO B</a:t>
            </a:r>
          </a:p>
          <a:p>
            <a:pPr lvl="1"/>
            <a:r>
              <a:rPr lang="en-US" dirty="0"/>
              <a:t>Folds letter and hands it to administrative aide</a:t>
            </a:r>
          </a:p>
          <a:p>
            <a:r>
              <a:rPr lang="en-US" dirty="0"/>
              <a:t>Aide:</a:t>
            </a:r>
          </a:p>
          <a:p>
            <a:pPr lvl="1"/>
            <a:r>
              <a:rPr lang="en-US" dirty="0"/>
              <a:t>Puts letter in envelope with CEO B’s full name</a:t>
            </a:r>
          </a:p>
          <a:p>
            <a:pPr lvl="1"/>
            <a:r>
              <a:rPr lang="en-US" dirty="0"/>
              <a:t>Takes to </a:t>
            </a:r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endParaRPr lang="en-US" dirty="0"/>
          </a:p>
          <a:p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r>
              <a:rPr lang="en-US" dirty="0"/>
              <a:t> Office</a:t>
            </a:r>
          </a:p>
          <a:p>
            <a:pPr lvl="1"/>
            <a:r>
              <a:rPr lang="en-US" dirty="0"/>
              <a:t>Puts letter in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larger envelope</a:t>
            </a:r>
          </a:p>
          <a:p>
            <a:pPr lvl="1"/>
            <a:r>
              <a:rPr lang="en-US" dirty="0"/>
              <a:t>Puts name and street address on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envelope</a:t>
            </a:r>
          </a:p>
          <a:p>
            <a:pPr lvl="1"/>
            <a:r>
              <a:rPr lang="en-US" dirty="0"/>
              <a:t>Puts package on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delivery truck</a:t>
            </a:r>
          </a:p>
          <a:p>
            <a:r>
              <a:rPr lang="en-US" altLang="zh-CN" dirty="0"/>
              <a:t>SF</a:t>
            </a:r>
            <a:r>
              <a:rPr lang="zh-CN" altLang="en-US" dirty="0"/>
              <a:t> </a:t>
            </a:r>
            <a:r>
              <a:rPr lang="en-US" altLang="zh-CN" dirty="0"/>
              <a:t>Express</a:t>
            </a:r>
            <a:r>
              <a:rPr lang="en-US" dirty="0"/>
              <a:t> delivers to 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dirty="0"/>
              <a:t>other company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77947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486400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+mn-lt"/>
              </a:rPr>
              <a:t>SF</a:t>
            </a:r>
            <a:r>
              <a:rPr lang="zh-CN" altLang="en-US" sz="2400" dirty="0"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Express</a:t>
            </a:r>
            <a:endParaRPr lang="en-US" sz="2400" dirty="0">
              <a:latin typeface="+mn-lt"/>
            </a:endParaRPr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1916112" y="4043363"/>
            <a:ext cx="0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flipH="1">
            <a:off x="1911350" y="5029200"/>
            <a:ext cx="9525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>
            <a:off x="7353300" y="4038600"/>
            <a:ext cx="0" cy="5286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7348538" y="5024438"/>
            <a:ext cx="9525" cy="5286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1" name="Straight Arrow Connector 20"/>
          <p:cNvCxnSpPr>
            <a:cxnSpLocks noChangeShapeType="1"/>
            <a:stCxn id="8" idx="3"/>
            <a:endCxn id="17" idx="1"/>
          </p:cNvCxnSpPr>
          <p:nvPr/>
        </p:nvCxnSpPr>
        <p:spPr bwMode="auto">
          <a:xfrm flipV="1">
            <a:off x="2851987" y="5712467"/>
            <a:ext cx="3947276" cy="476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" name="TextBox 23"/>
          <p:cNvSpPr txBox="1"/>
          <p:nvPr/>
        </p:nvSpPr>
        <p:spPr>
          <a:xfrm>
            <a:off x="3048000" y="5486400"/>
            <a:ext cx="3505200" cy="461657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SF-Express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 Envelope</a:t>
            </a:r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</p:spTree>
    <p:extLst>
      <p:ext uri="{BB962C8B-B14F-4D97-AF65-F5344CB8AC3E}">
        <p14:creationId xmlns:p14="http://schemas.microsoft.com/office/powerpoint/2010/main" val="47167163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3" y="3352800"/>
            <a:ext cx="9143613" cy="2895600"/>
            <a:chOff x="0" y="2971800"/>
            <a:chExt cx="9144000" cy="2895600"/>
          </a:xfrm>
        </p:grpSpPr>
        <p:sp>
          <p:nvSpPr>
            <p:cNvPr id="16405" name="Rectangle 29"/>
            <p:cNvSpPr>
              <a:spLocks noChangeArrowheads="1"/>
            </p:cNvSpPr>
            <p:nvPr/>
          </p:nvSpPr>
          <p:spPr bwMode="auto">
            <a:xfrm>
              <a:off x="0" y="4953000"/>
              <a:ext cx="9144000" cy="914400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6" name="Rectangle 25"/>
            <p:cNvSpPr>
              <a:spLocks noChangeArrowheads="1"/>
            </p:cNvSpPr>
            <p:nvPr/>
          </p:nvSpPr>
          <p:spPr bwMode="auto">
            <a:xfrm>
              <a:off x="0" y="3962400"/>
              <a:ext cx="91440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6407" name="Rectangle 1"/>
            <p:cNvSpPr>
              <a:spLocks noChangeArrowheads="1"/>
            </p:cNvSpPr>
            <p:nvPr/>
          </p:nvSpPr>
          <p:spPr bwMode="auto">
            <a:xfrm>
              <a:off x="0" y="2971800"/>
              <a:ext cx="9144000" cy="914400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490662" y="3581400"/>
            <a:ext cx="850900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868" y="4572000"/>
            <a:ext cx="852488" cy="461963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5486400"/>
            <a:ext cx="2156663" cy="461657"/>
          </a:xfrm>
          <a:prstGeom prst="rect">
            <a:avLst/>
          </a:prstGeom>
          <a:noFill/>
        </p:spPr>
        <p:txBody>
          <a:bodyPr wrap="squar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927850" y="35766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7850" y="4567238"/>
            <a:ext cx="850900" cy="461962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Aide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9263" y="5481638"/>
            <a:ext cx="1861387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altLang="zh-CN" sz="2400" dirty="0"/>
              <a:t>SF</a:t>
            </a:r>
            <a:r>
              <a:rPr lang="zh-CN" altLang="en-US" sz="2400" dirty="0"/>
              <a:t> </a:t>
            </a:r>
            <a:r>
              <a:rPr lang="en-US" altLang="zh-CN" sz="2400" dirty="0"/>
              <a:t>Express</a:t>
            </a:r>
            <a:endParaRPr lang="en-US" sz="2400" dirty="0"/>
          </a:p>
        </p:txBody>
      </p:sp>
      <p:sp>
        <p:nvSpPr>
          <p:cNvPr id="163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path of the letter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766888"/>
          </a:xfrm>
        </p:spPr>
        <p:txBody>
          <a:bodyPr/>
          <a:lstStyle/>
          <a:p>
            <a:r>
              <a:rPr lang="en-US" dirty="0"/>
              <a:t>“Peers” in same layer understand each other</a:t>
            </a:r>
          </a:p>
          <a:p>
            <a:pPr lvl="1"/>
            <a:r>
              <a:rPr lang="en-US" dirty="0"/>
              <a:t>No one else needs to</a:t>
            </a:r>
          </a:p>
          <a:p>
            <a:r>
              <a:rPr lang="en-US" dirty="0"/>
              <a:t>Lowest level has most packaging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581400" y="3590925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400" y="4495800"/>
            <a:ext cx="2057400" cy="523875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</a:rPr>
              <a:t>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5600" y="3581400"/>
            <a:ext cx="3657600" cy="52387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Semantic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9400" y="4495800"/>
            <a:ext cx="365760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0" y="5486400"/>
            <a:ext cx="3505200" cy="461963"/>
          </a:xfrm>
          <a:prstGeom prst="rect">
            <a:avLst/>
          </a:prstGeom>
          <a:noFill/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SF-Express</a:t>
            </a:r>
            <a:r>
              <a:rPr lang="en-US" sz="2400" dirty="0">
                <a:solidFill>
                  <a:srgbClr val="0000FF"/>
                </a:solidFill>
                <a:latin typeface="+mn-lt"/>
              </a:rPr>
              <a:t> Envelope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634DE2-1D3F-D34C-8679-64E49E726B6B}"/>
              </a:ext>
            </a:extLst>
          </p:cNvPr>
          <p:cNvSpPr txBox="1"/>
          <p:nvPr/>
        </p:nvSpPr>
        <p:spPr>
          <a:xfrm>
            <a:off x="2819400" y="5410200"/>
            <a:ext cx="3657600" cy="52387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</p:spPr>
        <p:txBody>
          <a:bodyPr lIns="91430" tIns="45716" rIns="91430" bIns="45716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8000"/>
                </a:solidFill>
                <a:latin typeface="+mn-lt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7131254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0" grpId="0"/>
      <p:bldP spid="27" grpId="0" animBg="1"/>
      <p:bldP spid="26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Decompose</a:t>
            </a:r>
            <a:r>
              <a:rPr lang="en-US" dirty="0"/>
              <a:t> the problem into tasks</a:t>
            </a:r>
          </a:p>
          <a:p>
            <a:r>
              <a:rPr lang="en-US" dirty="0">
                <a:solidFill>
                  <a:srgbClr val="0000FF"/>
                </a:solidFill>
              </a:rPr>
              <a:t>Organize</a:t>
            </a:r>
            <a:r>
              <a:rPr lang="en-US" dirty="0"/>
              <a:t>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6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Internet: Decomposition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9143613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9143613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9143613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9143613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91440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18033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7113587" y="30480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93" y="3502343"/>
            <a:ext cx="6019545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93" y="2703671"/>
            <a:ext cx="6019545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3" y="1905000"/>
            <a:ext cx="6019545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0" y="4301014"/>
            <a:ext cx="6019545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0" y="5099685"/>
            <a:ext cx="6019800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2052943"/>
            <a:ext cx="2029703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81600"/>
            <a:ext cx="3672780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+mn-lt"/>
              </a:rPr>
              <a:t>Physical transfer of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432288"/>
            <a:ext cx="4838164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local</a:t>
            </a:r>
            <a:r>
              <a:rPr lang="en-US" sz="24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</a:rPr>
              <a:t> packet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40131"/>
            <a:ext cx="5041745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Best-effort </a:t>
            </a:r>
            <a:r>
              <a:rPr lang="en-US" sz="2400" dirty="0">
                <a:solidFill>
                  <a:srgbClr val="D3A600"/>
                </a:solidFill>
                <a:latin typeface="+mn-lt"/>
              </a:rPr>
              <a:t>global</a:t>
            </a:r>
            <a:r>
              <a:rPr lang="en-US" sz="2400" dirty="0">
                <a:latin typeface="+mn-lt"/>
              </a:rPr>
              <a:t> packet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878180"/>
            <a:ext cx="4730762" cy="461657"/>
          </a:xfrm>
          <a:prstGeom prst="rect">
            <a:avLst/>
          </a:prstGeom>
          <a:noFill/>
        </p:spPr>
        <p:txBody>
          <a:bodyPr wrap="none" lIns="91430" tIns="45716" rIns="91430" bIns="45716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+mn-lt"/>
              </a:rPr>
              <a:t>Reliable or </a:t>
            </a:r>
            <a:r>
              <a:rPr lang="en-US" sz="2400">
                <a:solidFill>
                  <a:schemeClr val="tx1">
                    <a:lumMod val="75000"/>
                  </a:schemeClr>
                </a:solidFill>
                <a:latin typeface="+mn-lt"/>
              </a:rPr>
              <a:t>unreliable transport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534354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21097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08848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2040"/>
            <a:ext cx="1407758" cy="36576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00FF"/>
                </a:solidFill>
              </a:rPr>
              <a:t>in built </a:t>
            </a:r>
            <a:r>
              <a:rPr lang="en-US" sz="2000" i="1" dirty="0">
                <a:solidFill>
                  <a:srgbClr val="0000FF"/>
                </a:solidFill>
              </a:rPr>
              <a:t>on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9" name="Rectangle 2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2" name="Rectangle 31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5" name="Rectangle 3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38" name="Rectangle 37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602732" y="30535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681181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layers</a:t>
            </a:r>
          </a:p>
        </p:txBody>
      </p:sp>
      <p:sp>
        <p:nvSpPr>
          <p:cNvPr id="88" name="Content Placeholder 87"/>
          <p:cNvSpPr>
            <a:spLocks noGrp="1"/>
          </p:cNvSpPr>
          <p:nvPr>
            <p:ph idx="1"/>
          </p:nvPr>
        </p:nvSpPr>
        <p:spPr>
          <a:xfrm>
            <a:off x="685800" y="1600200"/>
            <a:ext cx="5656314" cy="4419600"/>
          </a:xfrm>
        </p:spPr>
        <p:txBody>
          <a:bodyPr/>
          <a:lstStyle/>
          <a:p>
            <a:r>
              <a:rPr lang="en-US" dirty="0"/>
              <a:t>OSI stands for Open Systems Interconnection model</a:t>
            </a:r>
          </a:p>
          <a:p>
            <a:pPr lvl="1"/>
            <a:r>
              <a:rPr lang="en-US" dirty="0"/>
              <a:t>Developed by the ISO</a:t>
            </a:r>
          </a:p>
          <a:p>
            <a:endParaRPr lang="en-US" dirty="0"/>
          </a:p>
          <a:p>
            <a:r>
              <a:rPr lang="en-US" dirty="0"/>
              <a:t>Session and presentation layers are often implemented as part of the application layer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113587" y="2146997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sp>
        <p:nvSpPr>
          <p:cNvPr id="29" name="Rectangle 28"/>
          <p:cNvSpPr>
            <a:spLocks/>
          </p:cNvSpPr>
          <p:nvPr/>
        </p:nvSpPr>
        <p:spPr bwMode="auto">
          <a:xfrm>
            <a:off x="7117085" y="2604641"/>
            <a:ext cx="1649412" cy="431800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7167809" y="2642741"/>
            <a:ext cx="1540967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Presentation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113587" y="3059810"/>
            <a:ext cx="1649412" cy="430213"/>
          </a:xfrm>
          <a:prstGeom prst="rect">
            <a:avLst/>
          </a:prstGeom>
          <a:solidFill>
            <a:srgbClr val="D3A600"/>
          </a:solidFill>
          <a:ln w="25400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101600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370706" y="3097910"/>
            <a:ext cx="1131675" cy="354013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38100" tIns="38100" rIns="90479" bIns="38100" anchor="ctr">
            <a:spAutoFit/>
          </a:bodyPr>
          <a:lstStyle/>
          <a:p>
            <a:pPr marL="12699" algn="ctr">
              <a:defRPr/>
            </a:pPr>
            <a:r>
              <a:rPr lang="en-US" sz="18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2732" y="21782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2732" y="263587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2732" y="309025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D3A600"/>
                </a:solidFill>
              </a:rPr>
              <a:t>L5</a:t>
            </a: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7113587" y="35083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7113587" y="39655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7" name="Rectangle 76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78" name="Group 77"/>
          <p:cNvGrpSpPr>
            <a:grpSpLocks/>
          </p:cNvGrpSpPr>
          <p:nvPr/>
        </p:nvGrpSpPr>
        <p:grpSpPr bwMode="auto">
          <a:xfrm>
            <a:off x="7113587" y="44211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Rectangle 79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7113587" y="48783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Rectangle 82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6602732" y="35396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02732" y="39952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2732" y="44524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2732" y="49088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54917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2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2" name="Rectangle 5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Rectangle 5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54" name="Group 53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5" name="Rectangle 5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Rectangle 5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58" name="Rectangle 5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60" name="Group 59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61" name="Rectangle 6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6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64" name="Rectangle 6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5" name="Rectangle 6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and protocols 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Communication between peer layers on</a:t>
            </a:r>
            <a:br>
              <a:rPr lang="en-US" dirty="0"/>
            </a:br>
            <a:r>
              <a:rPr lang="en-US" dirty="0"/>
              <a:t>different systems is defined by </a:t>
            </a:r>
            <a:r>
              <a:rPr lang="en-US" dirty="0">
                <a:solidFill>
                  <a:srgbClr val="0000FF"/>
                </a:solidFill>
              </a:rPr>
              <a:t>protocols</a:t>
            </a:r>
          </a:p>
          <a:p>
            <a:pPr lvl="1"/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20503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504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505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506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507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2" name="Rectangle 7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Rectangle 72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75" name="Rectangle 74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Rectangle 75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78" name="Rectangle 77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Rectangle 78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1" name="Rectangle 8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Rectangle 81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84" name="Rectangle 83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Rectangle 84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1383051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22558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8" y="152400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5022850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9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349625"/>
            <a:ext cx="508000" cy="98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4186237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Line 11"/>
          <p:cNvSpPr>
            <a:spLocks noChangeShapeType="1"/>
          </p:cNvSpPr>
          <p:nvPr/>
        </p:nvSpPr>
        <p:spPr bwMode="auto">
          <a:xfrm>
            <a:off x="3843338" y="2057400"/>
            <a:ext cx="1825625" cy="608012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1" name="Line 12"/>
          <p:cNvSpPr>
            <a:spLocks noChangeShapeType="1"/>
          </p:cNvSpPr>
          <p:nvPr/>
        </p:nvSpPr>
        <p:spPr bwMode="auto">
          <a:xfrm>
            <a:off x="3843338" y="4033837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2" name="Line 13"/>
          <p:cNvSpPr>
            <a:spLocks noChangeShapeType="1"/>
          </p:cNvSpPr>
          <p:nvPr/>
        </p:nvSpPr>
        <p:spPr bwMode="auto">
          <a:xfrm flipH="1">
            <a:off x="3843338" y="3046412"/>
            <a:ext cx="1825625" cy="608013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3" name="Line 14"/>
          <p:cNvSpPr>
            <a:spLocks noChangeShapeType="1"/>
          </p:cNvSpPr>
          <p:nvPr/>
        </p:nvSpPr>
        <p:spPr bwMode="auto">
          <a:xfrm flipH="1">
            <a:off x="3843338" y="4946650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sp>
        <p:nvSpPr>
          <p:cNvPr id="21514" name="Rectangle 15"/>
          <p:cNvSpPr>
            <a:spLocks/>
          </p:cNvSpPr>
          <p:nvPr/>
        </p:nvSpPr>
        <p:spPr bwMode="auto">
          <a:xfrm>
            <a:off x="3862388" y="1709737"/>
            <a:ext cx="14255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Friendly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greeting</a:t>
            </a:r>
          </a:p>
        </p:txBody>
      </p:sp>
      <p:sp>
        <p:nvSpPr>
          <p:cNvPr id="21515" name="Rectangle 17"/>
          <p:cNvSpPr>
            <a:spLocks/>
          </p:cNvSpPr>
          <p:nvPr/>
        </p:nvSpPr>
        <p:spPr bwMode="auto">
          <a:xfrm>
            <a:off x="4169569" y="3965575"/>
            <a:ext cx="8112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Time?</a:t>
            </a:r>
          </a:p>
        </p:txBody>
      </p:sp>
      <p:sp>
        <p:nvSpPr>
          <p:cNvPr id="21516" name="Rectangle 18"/>
          <p:cNvSpPr>
            <a:spLocks/>
          </p:cNvSpPr>
          <p:nvPr/>
        </p:nvSpPr>
        <p:spPr bwMode="auto">
          <a:xfrm>
            <a:off x="4090662" y="4953000"/>
            <a:ext cx="969024" cy="19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12:10 PM</a:t>
            </a:r>
            <a:endParaRPr lang="en-US" dirty="0">
              <a:cs typeface="Times New Roman" charset="0"/>
            </a:endParaRPr>
          </a:p>
        </p:txBody>
      </p:sp>
      <p:sp>
        <p:nvSpPr>
          <p:cNvPr id="21517" name="Rectangle 21"/>
          <p:cNvSpPr>
            <a:spLocks/>
          </p:cNvSpPr>
          <p:nvPr/>
        </p:nvSpPr>
        <p:spPr bwMode="auto">
          <a:xfrm>
            <a:off x="3648847" y="5486400"/>
            <a:ext cx="1852663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 dirty="0">
                <a:cs typeface="Times New Roman" charset="0"/>
              </a:rPr>
              <a:t>Thanks!</a:t>
            </a:r>
            <a:br>
              <a:rPr lang="en-US" dirty="0">
                <a:cs typeface="Times New Roman" charset="0"/>
              </a:rPr>
            </a:br>
            <a:r>
              <a:rPr lang="en-US" dirty="0">
                <a:cs typeface="Times New Roman" charset="0"/>
              </a:rPr>
              <a:t> Let’s g</a:t>
            </a:r>
            <a:r>
              <a:rPr lang="en-US" altLang="zh-CN" dirty="0">
                <a:cs typeface="Times New Roman" charset="0"/>
              </a:rPr>
              <a:t>o</a:t>
            </a:r>
            <a:r>
              <a:rPr lang="zh-CN" altLang="en-US" dirty="0">
                <a:cs typeface="Times New Roman" charset="0"/>
              </a:rPr>
              <a:t> </a:t>
            </a:r>
            <a:r>
              <a:rPr lang="en-US" altLang="zh-CN" dirty="0">
                <a:cs typeface="Times New Roman" charset="0"/>
              </a:rPr>
              <a:t>for</a:t>
            </a:r>
            <a:r>
              <a:rPr lang="zh-CN" altLang="en-US" dirty="0">
                <a:cs typeface="Times New Roman" charset="0"/>
              </a:rPr>
              <a:t> </a:t>
            </a:r>
            <a:r>
              <a:rPr lang="en-US" altLang="zh-CN" dirty="0">
                <a:cs typeface="Times New Roman" charset="0"/>
              </a:rPr>
              <a:t>lunch</a:t>
            </a:r>
            <a:endParaRPr lang="en-US" dirty="0">
              <a:cs typeface="Times New Roman" charset="0"/>
            </a:endParaRPr>
          </a:p>
        </p:txBody>
      </p:sp>
      <p:sp>
        <p:nvSpPr>
          <p:cNvPr id="21518" name="Rectangle 15"/>
          <p:cNvSpPr>
            <a:spLocks/>
          </p:cNvSpPr>
          <p:nvPr/>
        </p:nvSpPr>
        <p:spPr bwMode="auto">
          <a:xfrm>
            <a:off x="3862388" y="2822575"/>
            <a:ext cx="14255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489" bIns="0">
            <a:spAutoFit/>
          </a:bodyPr>
          <a:lstStyle/>
          <a:p>
            <a:pPr marL="38100" algn="ctr">
              <a:lnSpc>
                <a:spcPct val="80000"/>
              </a:lnSpc>
            </a:pPr>
            <a:r>
              <a:rPr lang="en-US">
                <a:cs typeface="Times New Roman" charset="0"/>
              </a:rPr>
              <a:t>Friendly</a:t>
            </a:r>
            <a:br>
              <a:rPr lang="en-US">
                <a:cs typeface="Times New Roman" charset="0"/>
              </a:rPr>
            </a:br>
            <a:r>
              <a:rPr lang="en-US">
                <a:cs typeface="Times New Roman" charset="0"/>
              </a:rPr>
              <a:t> greeting</a:t>
            </a:r>
          </a:p>
        </p:txBody>
      </p:sp>
      <p:sp>
        <p:nvSpPr>
          <p:cNvPr id="21519" name="Line 12"/>
          <p:cNvSpPr>
            <a:spLocks noChangeShapeType="1"/>
          </p:cNvSpPr>
          <p:nvPr/>
        </p:nvSpPr>
        <p:spPr bwMode="auto">
          <a:xfrm>
            <a:off x="3775075" y="5794375"/>
            <a:ext cx="1825625" cy="609600"/>
          </a:xfrm>
          <a:prstGeom prst="line">
            <a:avLst/>
          </a:prstGeom>
          <a:noFill/>
          <a:ln w="50800">
            <a:solidFill>
              <a:srgbClr val="114FF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/>
          </a:p>
        </p:txBody>
      </p:sp>
      <p:pic>
        <p:nvPicPr>
          <p:cNvPr id="21520" name="Picture 1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795962"/>
            <a:ext cx="3460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50800">
                <a:solidFill>
                  <a:srgbClr val="114FFB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2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Protocol?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4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21511" grpId="0" animBg="1"/>
      <p:bldP spid="21512" grpId="0" animBg="1"/>
      <p:bldP spid="21513" grpId="0" animBg="1"/>
      <p:bldP spid="21514" grpId="0"/>
      <p:bldP spid="21515" grpId="0"/>
      <p:bldP spid="21516" grpId="0"/>
      <p:bldP spid="21517" grpId="0"/>
      <p:bldP spid="21518" grpId="0"/>
      <p:bldP spid="215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1597152" y="5171282"/>
            <a:ext cx="6099048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Data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4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(in the same layer)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Header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instructions on how to process </a:t>
            </a:r>
            <a:r>
              <a:rPr lang="en-US" altLang="zh-CN" dirty="0">
                <a:solidFill>
                  <a:srgbClr val="0000FF"/>
                </a:solidFill>
              </a:rPr>
              <a:t>packet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Each protocol defines the format of its headers</a:t>
            </a:r>
          </a:p>
          <a:p>
            <a:pPr lvl="2"/>
            <a:r>
              <a:rPr lang="en-US" dirty="0"/>
              <a:t>e.g., “the first 32 bits carry the destination address”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3352800" y="5171282"/>
            <a:ext cx="43434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Payload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600200" y="5171282"/>
            <a:ext cx="1752600" cy="6096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Header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25412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Protocol?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agreement between parties on how to communicate</a:t>
            </a:r>
          </a:p>
          <a:p>
            <a:r>
              <a:rPr lang="en-US" dirty="0"/>
              <a:t>Defines the </a:t>
            </a:r>
            <a:r>
              <a:rPr lang="en-US" dirty="0">
                <a:solidFill>
                  <a:srgbClr val="0000FF"/>
                </a:solidFill>
              </a:rPr>
              <a:t>syntax</a:t>
            </a:r>
            <a:r>
              <a:rPr lang="en-US" dirty="0"/>
              <a:t> of communication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semantics</a:t>
            </a:r>
          </a:p>
          <a:p>
            <a:pPr lvl="1"/>
            <a:r>
              <a:rPr lang="en-US" dirty="0"/>
              <a:t>“First a hello, then a request…”</a:t>
            </a:r>
          </a:p>
          <a:p>
            <a:pPr lvl="1"/>
            <a:r>
              <a:rPr lang="en-US" dirty="0"/>
              <a:t>We will study many protocols later in the semester</a:t>
            </a:r>
          </a:p>
          <a:p>
            <a:r>
              <a:rPr lang="en-US" dirty="0"/>
              <a:t>Protocols exist at many levels, hardware, and software</a:t>
            </a:r>
          </a:p>
          <a:p>
            <a:pPr lvl="1"/>
            <a:r>
              <a:rPr lang="en-US" dirty="0"/>
              <a:t>Defined by standards bodies like IETF, IEEE, ITU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089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at different layers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8693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network layer 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3505200" y="3502343"/>
            <a:ext cx="5638806" cy="737235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3505200" y="2703671"/>
            <a:ext cx="5638806" cy="737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05200" y="1905000"/>
            <a:ext cx="5638806" cy="73723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3504807" y="4301014"/>
            <a:ext cx="5638806" cy="73723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3504956" y="5099685"/>
            <a:ext cx="5639044" cy="737235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2813"/>
            <a:endParaRPr lang="en-US"/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371600" y="212542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371600" y="28194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371600" y="3657600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371600" y="4419600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23" name="Rectangle 2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1371600" y="5208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6" name="Rectangle 25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60745" y="2130981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45" y="28506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45" y="3687246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745" y="4450834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745" y="5239028"/>
            <a:ext cx="453970" cy="36933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0052" y="2157991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9052" y="2129139"/>
            <a:ext cx="78739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000" y="2858889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9021" y="2857388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2926" y="3687246"/>
            <a:ext cx="402674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469" y="4484965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725" y="4488601"/>
            <a:ext cx="7232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4492569"/>
            <a:ext cx="112082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0804" y="5283636"/>
            <a:ext cx="80021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PSTN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0076" y="5304528"/>
            <a:ext cx="8258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2636" y="5304528"/>
            <a:ext cx="9925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Copper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0844" y="5304528"/>
            <a:ext cx="9669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4692" y="2141634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NTP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9580" y="213505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953333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</p:spTree>
    <p:extLst>
      <p:ext uri="{BB962C8B-B14F-4D97-AF65-F5344CB8AC3E}">
        <p14:creationId xmlns:p14="http://schemas.microsoft.com/office/powerpoint/2010/main" val="11733585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</a:p>
        </p:txBody>
      </p:sp>
      <p:sp>
        <p:nvSpPr>
          <p:cNvPr id="67586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the problem into tasks</a:t>
            </a:r>
          </a:p>
          <a:p>
            <a:r>
              <a:rPr lang="en-US" dirty="0"/>
              <a:t>Organize these tasks</a:t>
            </a:r>
          </a:p>
          <a:p>
            <a:r>
              <a:rPr lang="en-US" dirty="0">
                <a:solidFill>
                  <a:srgbClr val="0000FF"/>
                </a:solidFill>
              </a:rPr>
              <a:t>Assign</a:t>
            </a:r>
            <a:r>
              <a:rPr lang="en-US" dirty="0"/>
              <a:t> tasks to entities (who does what)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87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gets implemented where?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72855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272855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1" name="Rectangle 10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272855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14" name="Rectangle 13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272855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1272855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6200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7" name="Straight Connector 44"/>
          <p:cNvCxnSpPr>
            <a:cxnSpLocks noChangeShapeType="1"/>
          </p:cNvCxnSpPr>
          <p:nvPr/>
        </p:nvCxnSpPr>
        <p:spPr bwMode="auto">
          <a:xfrm>
            <a:off x="2957513" y="25495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" name="Straight Connector 46"/>
          <p:cNvCxnSpPr>
            <a:cxnSpLocks noChangeShapeType="1"/>
          </p:cNvCxnSpPr>
          <p:nvPr/>
        </p:nvCxnSpPr>
        <p:spPr bwMode="auto">
          <a:xfrm>
            <a:off x="2957513" y="29940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Straight Connector 47"/>
          <p:cNvCxnSpPr>
            <a:cxnSpLocks noChangeShapeType="1"/>
          </p:cNvCxnSpPr>
          <p:nvPr/>
        </p:nvCxnSpPr>
        <p:spPr bwMode="auto">
          <a:xfrm>
            <a:off x="2957513" y="34512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Straight Connector 48"/>
          <p:cNvCxnSpPr>
            <a:cxnSpLocks noChangeShapeType="1"/>
          </p:cNvCxnSpPr>
          <p:nvPr/>
        </p:nvCxnSpPr>
        <p:spPr bwMode="auto">
          <a:xfrm>
            <a:off x="2957513" y="3984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Straight Connector 49"/>
          <p:cNvCxnSpPr>
            <a:cxnSpLocks noChangeShapeType="1"/>
          </p:cNvCxnSpPr>
          <p:nvPr/>
        </p:nvCxnSpPr>
        <p:spPr bwMode="auto">
          <a:xfrm>
            <a:off x="2957513" y="4365625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6221732" y="236220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3" name="Rectangle 32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6221732" y="2822575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6" name="Rectangle 35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6221732" y="3279775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Rectangle 39"/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6221732" y="3735388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42" name="Rectangle 41"/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Rectangle 42"/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6221732" y="4192588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45" name="Rectangle 44"/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Rectangle 45"/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080430" y="2367756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0430" y="2853809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0430" y="330942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80430" y="376662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0430" y="4223028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</p:spTree>
    <p:extLst>
      <p:ext uri="{BB962C8B-B14F-4D97-AF65-F5344CB8AC3E}">
        <p14:creationId xmlns:p14="http://schemas.microsoft.com/office/powerpoint/2010/main" val="2030078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</a:t>
            </a:r>
            <a:br>
              <a:rPr lang="en-US"/>
            </a:br>
            <a:r>
              <a:rPr lang="en-US"/>
              <a:t>at the end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wire, must make it up to application</a:t>
            </a:r>
          </a:p>
          <a:p>
            <a:pPr lvl="3"/>
            <a:endParaRPr lang="en-US" dirty="0"/>
          </a:p>
          <a:p>
            <a:r>
              <a:rPr lang="en-US" dirty="0"/>
              <a:t>Therefore, </a:t>
            </a:r>
            <a:r>
              <a:rPr lang="en-US" dirty="0">
                <a:solidFill>
                  <a:srgbClr val="0000FF"/>
                </a:solidFill>
              </a:rPr>
              <a:t>all layers must exist at host!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r>
              <a:rPr lang="en-US" dirty="0"/>
              <a:t>The network does not support reliable delivery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(and above) not supported</a:t>
            </a:r>
          </a:p>
          <a:p>
            <a:endParaRPr lang="en-US" dirty="0">
              <a:sym typeface="Wingdings" charset="0"/>
            </a:endParaRPr>
          </a:p>
          <a:p>
            <a:endParaRPr lang="en-US" dirty="0">
              <a:sym typeface="Wingdings" charset="0"/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Diagram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16219507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look: End system</a:t>
            </a:r>
          </a:p>
        </p:txBody>
      </p:sp>
      <p:sp>
        <p:nvSpPr>
          <p:cNvPr id="133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Web server, browser, mail, game </a:t>
            </a:r>
          </a:p>
          <a:p>
            <a:r>
              <a:rPr lang="en-US" dirty="0"/>
              <a:t>Transport and network layer </a:t>
            </a:r>
          </a:p>
          <a:p>
            <a:pPr lvl="1"/>
            <a:r>
              <a:rPr lang="en-US" dirty="0"/>
              <a:t>Typically part of the operating system</a:t>
            </a:r>
          </a:p>
          <a:p>
            <a:r>
              <a:rPr lang="en-US" dirty="0"/>
              <a:t>Datalink and physical layer</a:t>
            </a:r>
          </a:p>
          <a:p>
            <a:pPr lvl="1"/>
            <a:r>
              <a:rPr lang="en-US" dirty="0"/>
              <a:t>hardware/firmware/drivers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7169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gets implemented in </a:t>
            </a:r>
            <a:br>
              <a:rPr lang="en-US"/>
            </a:br>
            <a:r>
              <a:rPr lang="en-US"/>
              <a:t>the network?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Bits arrive on wire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physical layer (L1)</a:t>
            </a:r>
          </a:p>
          <a:p>
            <a:r>
              <a:rPr lang="en-US" dirty="0"/>
              <a:t>Packets must be delivered across links and </a:t>
            </a:r>
            <a:br>
              <a:rPr lang="en-US" dirty="0"/>
            </a:br>
            <a:r>
              <a:rPr lang="en-US" dirty="0"/>
              <a:t>local networks </a:t>
            </a:r>
            <a:r>
              <a:rPr lang="en-US" dirty="0">
                <a:sym typeface="Wingdings" charset="0"/>
              </a:rPr>
              <a:t> </a:t>
            </a:r>
            <a:r>
              <a:rPr lang="en-US" dirty="0"/>
              <a:t>datalink layer (L2)</a:t>
            </a:r>
          </a:p>
          <a:p>
            <a:r>
              <a:rPr lang="en-US" dirty="0"/>
              <a:t>Packets must be delivered between networks </a:t>
            </a:r>
            <a:br>
              <a:rPr lang="en-US" dirty="0"/>
            </a:br>
            <a:r>
              <a:rPr lang="en-US" dirty="0"/>
              <a:t>for global delivery </a:t>
            </a:r>
            <a:r>
              <a:rPr lang="en-US" dirty="0">
                <a:sym typeface="Wingdings" charset="0"/>
              </a:rPr>
              <a:t> network layer (L3)</a:t>
            </a:r>
          </a:p>
          <a:p>
            <a:endParaRPr lang="en-US" dirty="0">
              <a:sym typeface="Wingdings" charset="0"/>
            </a:endParaRP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Switches</a:t>
            </a:r>
            <a:r>
              <a:rPr lang="en-US" dirty="0">
                <a:sym typeface="Wingdings" charset="0"/>
              </a:rPr>
              <a:t> implement only physical and datalink layers (L1, L2)</a:t>
            </a:r>
          </a:p>
          <a:p>
            <a:r>
              <a:rPr lang="en-US" dirty="0">
                <a:solidFill>
                  <a:srgbClr val="0000FF"/>
                </a:solidFill>
                <a:sym typeface="Wingdings" charset="0"/>
              </a:rPr>
              <a:t>Routers</a:t>
            </a:r>
            <a:r>
              <a:rPr lang="en-US" dirty="0">
                <a:sym typeface="Wingdings" charset="0"/>
              </a:rPr>
              <a:t> implement the network layer too (L1, L2, L3)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3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7521480C-ED20-354C-8D4F-38F03EF2220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3" name="Shape 377"/>
          <p:cNvSpPr/>
          <p:nvPr/>
        </p:nvSpPr>
        <p:spPr bwMode="auto"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 bwMode="auto"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 bwMode="auto"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47" name="Shape 381"/>
          <p:cNvSpPr/>
          <p:nvPr/>
        </p:nvSpPr>
        <p:spPr bwMode="auto">
          <a:xfrm flipH="1" flipV="1">
            <a:off x="5461000" y="5145088"/>
            <a:ext cx="2141538" cy="9969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 bwMode="auto"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 bwMode="auto"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 bwMode="auto"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 bwMode="auto"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 bwMode="auto"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 bwMode="auto"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2" name="Shape 396"/>
          <p:cNvSpPr/>
          <p:nvPr/>
        </p:nvSpPr>
        <p:spPr bwMode="auto">
          <a:xfrm flipH="1">
            <a:off x="5440363" y="4283075"/>
            <a:ext cx="1798637" cy="8493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3" name="Shape 397"/>
          <p:cNvSpPr/>
          <p:nvPr/>
        </p:nvSpPr>
        <p:spPr bwMode="auto">
          <a:xfrm>
            <a:off x="5505450" y="5194300"/>
            <a:ext cx="790575" cy="1131888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4" name="Shape 398"/>
          <p:cNvSpPr/>
          <p:nvPr/>
        </p:nvSpPr>
        <p:spPr bwMode="auto">
          <a:xfrm>
            <a:off x="7072313" y="4062413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65" name="Shape 399"/>
          <p:cNvSpPr/>
          <p:nvPr/>
        </p:nvSpPr>
        <p:spPr bwMode="auto">
          <a:xfrm>
            <a:off x="6122988" y="614045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6" name="Shape 400"/>
          <p:cNvSpPr/>
          <p:nvPr/>
        </p:nvSpPr>
        <p:spPr bwMode="auto">
          <a:xfrm flipH="1" flipV="1">
            <a:off x="5505450" y="5108575"/>
            <a:ext cx="1724025" cy="49212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67" name="Shape 401"/>
          <p:cNvSpPr/>
          <p:nvPr/>
        </p:nvSpPr>
        <p:spPr bwMode="auto">
          <a:xfrm>
            <a:off x="7072313" y="5426075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9" name="Shape 403"/>
          <p:cNvSpPr/>
          <p:nvPr/>
        </p:nvSpPr>
        <p:spPr bwMode="auto">
          <a:xfrm>
            <a:off x="7404100" y="5911850"/>
            <a:ext cx="368300" cy="414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0" name="Shape 404"/>
          <p:cNvSpPr/>
          <p:nvPr/>
        </p:nvSpPr>
        <p:spPr bwMode="auto">
          <a:xfrm>
            <a:off x="3167063" y="3667125"/>
            <a:ext cx="2327275" cy="147796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 bwMode="auto">
          <a:xfrm>
            <a:off x="4999038" y="4316374"/>
            <a:ext cx="110126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 bwMode="auto">
          <a:xfrm>
            <a:off x="3197225" y="2579649"/>
            <a:ext cx="64280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sp>
        <p:nvSpPr>
          <p:cNvPr id="76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8" name="Shape 412"/>
          <p:cNvSpPr/>
          <p:nvPr/>
        </p:nvSpPr>
        <p:spPr bwMode="auto">
          <a:xfrm>
            <a:off x="5256213" y="4889500"/>
            <a:ext cx="460375" cy="51593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9" name="Shape 413"/>
          <p:cNvSpPr/>
          <p:nvPr/>
        </p:nvSpPr>
        <p:spPr bwMode="auto"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</p:spTree>
    <p:extLst>
      <p:ext uri="{BB962C8B-B14F-4D97-AF65-F5344CB8AC3E}">
        <p14:creationId xmlns:p14="http://schemas.microsoft.com/office/powerpoint/2010/main" val="78723784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network</a:t>
            </a:r>
          </a:p>
        </p:txBody>
      </p:sp>
      <p:sp>
        <p:nvSpPr>
          <p:cNvPr id="49" name="Shape 38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1AC9CF9B-2E61-2745-A65C-A9A1FF7D72A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3" name="Shape 377"/>
          <p:cNvSpPr/>
          <p:nvPr/>
        </p:nvSpPr>
        <p:spPr>
          <a:xfrm>
            <a:off x="4270375" y="4340225"/>
            <a:ext cx="2838450" cy="1862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Shape 378"/>
          <p:cNvSpPr/>
          <p:nvPr/>
        </p:nvSpPr>
        <p:spPr>
          <a:xfrm>
            <a:off x="1135063" y="2314575"/>
            <a:ext cx="3760787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46" name="Shape 380"/>
          <p:cNvSpPr/>
          <p:nvPr/>
        </p:nvSpPr>
        <p:spPr>
          <a:xfrm>
            <a:off x="2947988" y="2301875"/>
            <a:ext cx="325437" cy="139065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0" name="Shape 384"/>
          <p:cNvSpPr/>
          <p:nvPr/>
        </p:nvSpPr>
        <p:spPr>
          <a:xfrm>
            <a:off x="1104900" y="3162300"/>
            <a:ext cx="2073275" cy="49371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3" name="Shape 387"/>
          <p:cNvSpPr/>
          <p:nvPr/>
        </p:nvSpPr>
        <p:spPr>
          <a:xfrm>
            <a:off x="914400" y="2944813"/>
            <a:ext cx="368300" cy="414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6" name="Shape 390"/>
          <p:cNvSpPr/>
          <p:nvPr/>
        </p:nvSpPr>
        <p:spPr>
          <a:xfrm>
            <a:off x="1203325" y="2092325"/>
            <a:ext cx="1943100" cy="151447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7" name="Shape 391"/>
          <p:cNvSpPr/>
          <p:nvPr/>
        </p:nvSpPr>
        <p:spPr>
          <a:xfrm>
            <a:off x="1884363" y="2214563"/>
            <a:ext cx="1293812" cy="1379537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58" name="Shape 392"/>
          <p:cNvSpPr/>
          <p:nvPr/>
        </p:nvSpPr>
        <p:spPr>
          <a:xfrm>
            <a:off x="1016000" y="1828800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59" name="Shape 393"/>
          <p:cNvSpPr/>
          <p:nvPr/>
        </p:nvSpPr>
        <p:spPr>
          <a:xfrm>
            <a:off x="1698625" y="1984375"/>
            <a:ext cx="368300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70" name="Shape 404"/>
          <p:cNvSpPr/>
          <p:nvPr/>
        </p:nvSpPr>
        <p:spPr>
          <a:xfrm>
            <a:off x="3962400" y="4114800"/>
            <a:ext cx="7620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74" name="Shape 408"/>
          <p:cNvSpPr/>
          <p:nvPr/>
        </p:nvSpPr>
        <p:spPr>
          <a:xfrm>
            <a:off x="5486400" y="45719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75" name="Shape 409"/>
          <p:cNvSpPr/>
          <p:nvPr/>
        </p:nvSpPr>
        <p:spPr>
          <a:xfrm>
            <a:off x="3197225" y="2579656"/>
            <a:ext cx="642791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link</a:t>
            </a:r>
          </a:p>
        </p:txBody>
      </p:sp>
      <p:grpSp>
        <p:nvGrpSpPr>
          <p:cNvPr id="34831" name="Group 1"/>
          <p:cNvGrpSpPr>
            <a:grpSpLocks/>
          </p:cNvGrpSpPr>
          <p:nvPr/>
        </p:nvGrpSpPr>
        <p:grpSpPr bwMode="auto">
          <a:xfrm>
            <a:off x="5867400" y="4343400"/>
            <a:ext cx="1905000" cy="2209800"/>
            <a:chOff x="5255956" y="4061776"/>
            <a:chExt cx="2516444" cy="2491424"/>
          </a:xfrm>
        </p:grpSpPr>
        <p:sp>
          <p:nvSpPr>
            <p:cNvPr id="47" name="Shape 381"/>
            <p:cNvSpPr/>
            <p:nvPr/>
          </p:nvSpPr>
          <p:spPr>
            <a:xfrm flipH="1" flipV="1">
              <a:off x="5461466" y="5144615"/>
              <a:ext cx="2141075" cy="996927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2" name="Shape 396"/>
            <p:cNvSpPr/>
            <p:nvPr/>
          </p:nvSpPr>
          <p:spPr>
            <a:xfrm flipH="1">
              <a:off x="5440495" y="4283713"/>
              <a:ext cx="1799257" cy="848373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3" name="Shape 397"/>
            <p:cNvSpPr/>
            <p:nvPr/>
          </p:nvSpPr>
          <p:spPr>
            <a:xfrm>
              <a:off x="5505504" y="5194730"/>
              <a:ext cx="790582" cy="1131164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4" name="Shape 398"/>
            <p:cNvSpPr/>
            <p:nvPr/>
          </p:nvSpPr>
          <p:spPr>
            <a:xfrm>
              <a:off x="7071990" y="406177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5" name="Shape 399"/>
            <p:cNvSpPr/>
            <p:nvPr/>
          </p:nvSpPr>
          <p:spPr>
            <a:xfrm>
              <a:off x="6122033" y="6139753"/>
              <a:ext cx="369078" cy="41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6" name="Shape 400"/>
            <p:cNvSpPr/>
            <p:nvPr/>
          </p:nvSpPr>
          <p:spPr>
            <a:xfrm flipH="1" flipV="1">
              <a:off x="5505504" y="5107029"/>
              <a:ext cx="1723764" cy="493989"/>
            </a:xfrm>
            <a:prstGeom prst="line">
              <a:avLst/>
            </a:prstGeom>
            <a:ln w="63500">
              <a:solidFill>
                <a:srgbClr val="797979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457130" fontAlgn="auto">
                <a:spcBef>
                  <a:spcPts val="0"/>
                </a:spcBef>
                <a:spcAft>
                  <a:spcPts val="0"/>
                </a:spcAft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b="0" kern="0">
                <a:solidFill>
                  <a:sysClr val="windowText" lastClr="000000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67" name="Shape 401"/>
            <p:cNvSpPr/>
            <p:nvPr/>
          </p:nvSpPr>
          <p:spPr>
            <a:xfrm>
              <a:off x="7071990" y="542561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69" name="Shape 403"/>
            <p:cNvSpPr/>
            <p:nvPr/>
          </p:nvSpPr>
          <p:spPr>
            <a:xfrm>
              <a:off x="7403322" y="5912446"/>
              <a:ext cx="369078" cy="413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78" name="Shape 412"/>
            <p:cNvSpPr/>
            <p:nvPr/>
          </p:nvSpPr>
          <p:spPr>
            <a:xfrm>
              <a:off x="5255956" y="4888671"/>
              <a:ext cx="461348" cy="51725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914259" fontAlgn="auto">
                <a:spcBef>
                  <a:spcPts val="0"/>
                </a:spcBef>
                <a:spcAft>
                  <a:spcPts val="0"/>
                </a:spcAft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b="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sp>
        <p:nvSpPr>
          <p:cNvPr id="79" name="Shape 413"/>
          <p:cNvSpPr/>
          <p:nvPr/>
        </p:nvSpPr>
        <p:spPr>
          <a:xfrm>
            <a:off x="2757488" y="2025650"/>
            <a:ext cx="369887" cy="412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0" name="Shape 404"/>
          <p:cNvSpPr/>
          <p:nvPr/>
        </p:nvSpPr>
        <p:spPr>
          <a:xfrm flipV="1">
            <a:off x="5334000" y="53340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1" name="Shape 404"/>
          <p:cNvSpPr/>
          <p:nvPr/>
        </p:nvSpPr>
        <p:spPr>
          <a:xfrm>
            <a:off x="5029200" y="4724400"/>
            <a:ext cx="8382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80" name="Shape 414"/>
          <p:cNvSpPr/>
          <p:nvPr/>
        </p:nvSpPr>
        <p:spPr>
          <a:xfrm>
            <a:off x="3568700" y="8267700"/>
            <a:ext cx="6261100" cy="7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793" tIns="50793" rIns="50793" bIns="50793" anchor="ctr">
            <a:spAutoFit/>
          </a:bodyPr>
          <a:lstStyle>
            <a:lvl1pPr>
              <a:defRPr b="1">
                <a:solidFill>
                  <a:srgbClr val="D4FB7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4200" b="0" kern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Internet Service Provider</a:t>
            </a:r>
          </a:p>
        </p:txBody>
      </p:sp>
      <p:sp>
        <p:nvSpPr>
          <p:cNvPr id="35" name="Shape 404"/>
          <p:cNvSpPr/>
          <p:nvPr/>
        </p:nvSpPr>
        <p:spPr>
          <a:xfrm flipH="1" flipV="1">
            <a:off x="3352800" y="3733800"/>
            <a:ext cx="381000" cy="2286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6" name="Shape 404"/>
          <p:cNvSpPr/>
          <p:nvPr/>
        </p:nvSpPr>
        <p:spPr>
          <a:xfrm flipH="1">
            <a:off x="3200400" y="4191000"/>
            <a:ext cx="685800" cy="5334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7" name="Shape 404"/>
          <p:cNvSpPr/>
          <p:nvPr/>
        </p:nvSpPr>
        <p:spPr>
          <a:xfrm flipH="1" flipV="1">
            <a:off x="4114800" y="4648200"/>
            <a:ext cx="609600" cy="76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8" name="Shape 404"/>
          <p:cNvSpPr/>
          <p:nvPr/>
        </p:nvSpPr>
        <p:spPr>
          <a:xfrm flipV="1">
            <a:off x="4800600" y="4114800"/>
            <a:ext cx="152400" cy="45720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algn="l" defTabSz="457130" fontAlgn="auto">
              <a:spcBef>
                <a:spcPts val="0"/>
              </a:spcBef>
              <a:spcAft>
                <a:spcPts val="0"/>
              </a:spcAft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 b="0" kern="0">
              <a:solidFill>
                <a:sysClr val="windowText" lastClr="000000"/>
              </a:solidFill>
              <a:ea typeface="Arial" charset="0"/>
              <a:cs typeface="Arial" charset="0"/>
              <a:sym typeface="Helvetica"/>
            </a:endParaRPr>
          </a:p>
        </p:txBody>
      </p:sp>
      <p:sp>
        <p:nvSpPr>
          <p:cNvPr id="33" name="Shape 410"/>
          <p:cNvSpPr/>
          <p:nvPr/>
        </p:nvSpPr>
        <p:spPr>
          <a:xfrm>
            <a:off x="3733800" y="38100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2" name="Shape 410"/>
          <p:cNvSpPr/>
          <p:nvPr/>
        </p:nvSpPr>
        <p:spPr>
          <a:xfrm>
            <a:off x="4572000" y="4419600"/>
            <a:ext cx="460375" cy="517525"/>
          </a:xfrm>
          <a:prstGeom prst="roundRect">
            <a:avLst>
              <a:gd name="adj" fmla="val 30000"/>
            </a:avLst>
          </a:pr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660066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  <p:sp>
        <p:nvSpPr>
          <p:cNvPr id="39" name="Shape 408"/>
          <p:cNvSpPr/>
          <p:nvPr/>
        </p:nvSpPr>
        <p:spPr>
          <a:xfrm>
            <a:off x="5939722" y="3581335"/>
            <a:ext cx="1223078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lang="en-US" sz="2800" b="0" kern="0" dirty="0">
                <a:solidFill>
                  <a:srgbClr val="D3A600"/>
                </a:solidFill>
                <a:latin typeface="Arial" charset="0"/>
                <a:ea typeface="Arial" charset="0"/>
                <a:cs typeface="Arial" charset="0"/>
              </a:rPr>
              <a:t>routers</a:t>
            </a:r>
            <a:endParaRPr sz="2800" b="0" kern="0" dirty="0">
              <a:solidFill>
                <a:srgbClr val="D3A600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4843" name="Straight Arrow Connector 4"/>
          <p:cNvCxnSpPr>
            <a:cxnSpLocks noChangeShapeType="1"/>
            <a:stCxn id="39" idx="1"/>
            <a:endCxn id="33" idx="3"/>
          </p:cNvCxnSpPr>
          <p:nvPr/>
        </p:nvCxnSpPr>
        <p:spPr bwMode="auto">
          <a:xfrm flipH="1">
            <a:off x="4194175" y="3848068"/>
            <a:ext cx="1745547" cy="220695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44" name="Straight Arrow Connector 41"/>
          <p:cNvCxnSpPr>
            <a:cxnSpLocks noChangeShapeType="1"/>
            <a:stCxn id="39" idx="1"/>
            <a:endCxn id="31" idx="0"/>
          </p:cNvCxnSpPr>
          <p:nvPr/>
        </p:nvCxnSpPr>
        <p:spPr bwMode="auto">
          <a:xfrm flipH="1">
            <a:off x="5029200" y="3848068"/>
            <a:ext cx="910522" cy="876332"/>
          </a:xfrm>
          <a:prstGeom prst="straightConnector1">
            <a:avLst/>
          </a:prstGeom>
          <a:noFill/>
          <a:ln w="28575">
            <a:solidFill>
              <a:srgbClr val="D3A60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8" name="Shape 408"/>
          <p:cNvSpPr/>
          <p:nvPr/>
        </p:nvSpPr>
        <p:spPr>
          <a:xfrm>
            <a:off x="1905000" y="3657568"/>
            <a:ext cx="1101249" cy="53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3" tIns="50793" rIns="50793" bIns="50793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defTabSz="914259" fontAlgn="auto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</a:defRPr>
            </a:pPr>
            <a:r>
              <a:rPr sz="2800" b="0" kern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51" name="Shape 410"/>
          <p:cNvSpPr/>
          <p:nvPr/>
        </p:nvSpPr>
        <p:spPr bwMode="auto">
          <a:xfrm>
            <a:off x="2997200" y="3379788"/>
            <a:ext cx="461963" cy="51593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914259" fontAlgn="auto"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 b="0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778976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Switches vs. Routers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do what routers do but </a:t>
            </a:r>
            <a:r>
              <a:rPr lang="en-US" dirty="0">
                <a:solidFill>
                  <a:srgbClr val="0000FF"/>
                </a:solidFill>
              </a:rPr>
              <a:t>don’t participate in global delivery</a:t>
            </a:r>
            <a:r>
              <a:rPr lang="en-US" dirty="0"/>
              <a:t>, just local delivery</a:t>
            </a:r>
          </a:p>
          <a:p>
            <a:pPr lvl="1"/>
            <a:r>
              <a:rPr lang="en-US" dirty="0"/>
              <a:t>Switches only need to support L1, L2</a:t>
            </a:r>
          </a:p>
          <a:p>
            <a:pPr lvl="1"/>
            <a:r>
              <a:rPr lang="en-US" dirty="0"/>
              <a:t>Routers support L1-L3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Won’t focus on the router/switch distinction</a:t>
            </a:r>
          </a:p>
          <a:p>
            <a:pPr lvl="1"/>
            <a:r>
              <a:rPr lang="en-US" dirty="0"/>
              <a:t>Almost all boxes support network layer these days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7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layer interact</a:t>
            </a:r>
            <a:r>
              <a:rPr lang="en-US" altLang="zh-CN" dirty="0"/>
              <a:t>s</a:t>
            </a:r>
            <a:r>
              <a:rPr lang="en-US" dirty="0"/>
              <a:t> with its peers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corresponding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54600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communication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goes down to physical network</a:t>
            </a:r>
          </a:p>
          <a:p>
            <a:r>
              <a:rPr lang="en-US" dirty="0"/>
              <a:t>Then up to relevant layer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40" name="AutoShape 38"/>
            <p:cNvCxnSpPr>
              <a:cxnSpLocks noChangeShapeType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8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protocol-centric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0193-71F9-334D-9136-A5F4AF37B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89" name="Rectangle 10"/>
          <p:cNvSpPr>
            <a:spLocks noChangeArrowheads="1"/>
          </p:cNvSpPr>
          <p:nvPr/>
        </p:nvSpPr>
        <p:spPr bwMode="auto">
          <a:xfrm>
            <a:off x="658813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0" name="Text Box 11"/>
          <p:cNvSpPr txBox="1">
            <a:spLocks noChangeArrowheads="1"/>
          </p:cNvSpPr>
          <p:nvPr/>
        </p:nvSpPr>
        <p:spPr bwMode="auto">
          <a:xfrm>
            <a:off x="722475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3" name="Line 14"/>
          <p:cNvSpPr>
            <a:spLocks noChangeShapeType="1"/>
          </p:cNvSpPr>
          <p:nvPr/>
        </p:nvSpPr>
        <p:spPr bwMode="auto">
          <a:xfrm>
            <a:off x="1136650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8" name="Rectangle 19"/>
          <p:cNvSpPr>
            <a:spLocks noChangeArrowheads="1"/>
          </p:cNvSpPr>
          <p:nvPr/>
        </p:nvSpPr>
        <p:spPr bwMode="auto">
          <a:xfrm>
            <a:off x="764857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2" name="Text Box 23"/>
          <p:cNvSpPr txBox="1">
            <a:spLocks noChangeArrowheads="1"/>
          </p:cNvSpPr>
          <p:nvPr/>
        </p:nvSpPr>
        <p:spPr bwMode="auto">
          <a:xfrm>
            <a:off x="77281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5" name="Line 26"/>
          <p:cNvSpPr>
            <a:spLocks noChangeShapeType="1"/>
          </p:cNvSpPr>
          <p:nvPr/>
        </p:nvSpPr>
        <p:spPr bwMode="auto">
          <a:xfrm>
            <a:off x="8091488" y="5032375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7" name="Line 28"/>
          <p:cNvSpPr>
            <a:spLocks noChangeShapeType="1"/>
          </p:cNvSpPr>
          <p:nvPr/>
        </p:nvSpPr>
        <p:spPr bwMode="auto">
          <a:xfrm>
            <a:off x="1128713" y="6254750"/>
            <a:ext cx="0" cy="373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8" name="Line 29"/>
          <p:cNvSpPr>
            <a:spLocks noChangeShapeType="1"/>
          </p:cNvSpPr>
          <p:nvPr/>
        </p:nvSpPr>
        <p:spPr bwMode="auto">
          <a:xfrm>
            <a:off x="796925" y="66278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11" name="Rectangle 36"/>
          <p:cNvSpPr>
            <a:spLocks noChangeArrowheads="1"/>
          </p:cNvSpPr>
          <p:nvPr/>
        </p:nvSpPr>
        <p:spPr bwMode="auto">
          <a:xfrm>
            <a:off x="22955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2" name="Text Box 37"/>
          <p:cNvSpPr txBox="1">
            <a:spLocks noChangeArrowheads="1"/>
          </p:cNvSpPr>
          <p:nvPr/>
        </p:nvSpPr>
        <p:spPr bwMode="auto">
          <a:xfrm>
            <a:off x="2351250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Ethernet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grpSp>
        <p:nvGrpSpPr>
          <p:cNvPr id="46113" name="Group 38"/>
          <p:cNvGrpSpPr>
            <a:grpSpLocks/>
          </p:cNvGrpSpPr>
          <p:nvPr/>
        </p:nvGrpSpPr>
        <p:grpSpPr bwMode="auto">
          <a:xfrm>
            <a:off x="6126739" y="5649119"/>
            <a:ext cx="1016864" cy="606425"/>
            <a:chOff x="280" y="3421"/>
            <a:chExt cx="646" cy="367"/>
          </a:xfrm>
          <a:solidFill>
            <a:schemeClr val="accent2">
              <a:lumMod val="75000"/>
              <a:lumOff val="25000"/>
            </a:schemeClr>
          </a:solidFill>
        </p:grpSpPr>
        <p:sp>
          <p:nvSpPr>
            <p:cNvPr id="46143" name="Rectangle 39"/>
            <p:cNvSpPr>
              <a:spLocks noChangeArrowheads="1"/>
            </p:cNvSpPr>
            <p:nvPr/>
          </p:nvSpPr>
          <p:spPr bwMode="auto">
            <a:xfrm>
              <a:off x="280" y="3421"/>
              <a:ext cx="64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rIns="0" anchor="ctr"/>
            <a:lstStyle/>
            <a:p>
              <a:pPr algn="ctr"/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46144" name="Text Box 40"/>
            <p:cNvSpPr txBox="1">
              <a:spLocks noChangeArrowheads="1"/>
            </p:cNvSpPr>
            <p:nvPr/>
          </p:nvSpPr>
          <p:spPr bwMode="auto">
            <a:xfrm>
              <a:off x="325" y="3429"/>
              <a:ext cx="565" cy="3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Ethernet</a:t>
              </a:r>
            </a:p>
            <a:p>
              <a:pPr algn="ctr">
                <a:lnSpc>
                  <a:spcPct val="90000"/>
                </a:lnSpc>
              </a:pPr>
              <a:r>
                <a:rPr lang="en-US" sz="1600" b="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interface</a:t>
              </a:r>
            </a:p>
          </p:txBody>
        </p:sp>
      </p:grpSp>
      <p:sp>
        <p:nvSpPr>
          <p:cNvPr id="46114" name="Line 41"/>
          <p:cNvSpPr>
            <a:spLocks noChangeShapeType="1"/>
          </p:cNvSpPr>
          <p:nvPr/>
        </p:nvSpPr>
        <p:spPr bwMode="auto">
          <a:xfrm flipH="1">
            <a:off x="2733675" y="6283325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5" name="Line 42"/>
          <p:cNvSpPr>
            <a:spLocks noChangeShapeType="1"/>
          </p:cNvSpPr>
          <p:nvPr/>
        </p:nvSpPr>
        <p:spPr bwMode="auto">
          <a:xfrm flipH="1">
            <a:off x="2714625" y="5046663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6" name="Line 43"/>
          <p:cNvSpPr>
            <a:spLocks noChangeShapeType="1"/>
          </p:cNvSpPr>
          <p:nvPr/>
        </p:nvSpPr>
        <p:spPr bwMode="auto">
          <a:xfrm>
            <a:off x="3517900" y="5060950"/>
            <a:ext cx="5413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17" name="Rectangle 44"/>
          <p:cNvSpPr>
            <a:spLocks noChangeArrowheads="1"/>
          </p:cNvSpPr>
          <p:nvPr/>
        </p:nvSpPr>
        <p:spPr bwMode="auto">
          <a:xfrm>
            <a:off x="3603625" y="5649119"/>
            <a:ext cx="906463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18" name="Text Box 45"/>
          <p:cNvSpPr txBox="1">
            <a:spLocks noChangeArrowheads="1"/>
          </p:cNvSpPr>
          <p:nvPr/>
        </p:nvSpPr>
        <p:spPr bwMode="auto">
          <a:xfrm>
            <a:off x="3679988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19" name="Rectangle 46"/>
          <p:cNvSpPr>
            <a:spLocks noChangeArrowheads="1"/>
          </p:cNvSpPr>
          <p:nvPr/>
        </p:nvSpPr>
        <p:spPr bwMode="auto">
          <a:xfrm>
            <a:off x="4878388" y="5649119"/>
            <a:ext cx="906462" cy="606425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5716" rIns="0" bIns="45716" anchor="ctr"/>
          <a:lstStyle/>
          <a:p>
            <a:pPr algn="ctr"/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46120" name="Text Box 47"/>
          <p:cNvSpPr txBox="1">
            <a:spLocks noChangeArrowheads="1"/>
          </p:cNvSpPr>
          <p:nvPr/>
        </p:nvSpPr>
        <p:spPr bwMode="auto">
          <a:xfrm>
            <a:off x="4946813" y="5684570"/>
            <a:ext cx="787074" cy="53552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6" rIns="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SONET</a:t>
            </a:r>
          </a:p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interface</a:t>
            </a:r>
          </a:p>
        </p:txBody>
      </p:sp>
      <p:sp>
        <p:nvSpPr>
          <p:cNvPr id="46121" name="Line 48"/>
          <p:cNvSpPr>
            <a:spLocks noChangeShapeType="1"/>
          </p:cNvSpPr>
          <p:nvPr/>
        </p:nvSpPr>
        <p:spPr bwMode="auto">
          <a:xfrm flipH="1">
            <a:off x="6669088" y="6243638"/>
            <a:ext cx="0" cy="360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2" name="Line 49"/>
          <p:cNvSpPr>
            <a:spLocks noChangeShapeType="1"/>
          </p:cNvSpPr>
          <p:nvPr/>
        </p:nvSpPr>
        <p:spPr bwMode="auto">
          <a:xfrm flipH="1">
            <a:off x="6211888" y="6589713"/>
            <a:ext cx="2327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3" name="Line 50"/>
          <p:cNvSpPr>
            <a:spLocks noChangeShapeType="1"/>
          </p:cNvSpPr>
          <p:nvPr/>
        </p:nvSpPr>
        <p:spPr bwMode="auto">
          <a:xfrm>
            <a:off x="8121650" y="6246813"/>
            <a:ext cx="1588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4" name="Line 51"/>
          <p:cNvSpPr>
            <a:spLocks noChangeShapeType="1"/>
          </p:cNvSpPr>
          <p:nvPr/>
        </p:nvSpPr>
        <p:spPr bwMode="auto">
          <a:xfrm flipH="1">
            <a:off x="5291138" y="5073650"/>
            <a:ext cx="541337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5" name="Line 52"/>
          <p:cNvSpPr>
            <a:spLocks noChangeShapeType="1"/>
          </p:cNvSpPr>
          <p:nvPr/>
        </p:nvSpPr>
        <p:spPr bwMode="auto">
          <a:xfrm>
            <a:off x="6108700" y="5073650"/>
            <a:ext cx="527050" cy="595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6" name="Line 55"/>
          <p:cNvSpPr>
            <a:spLocks noChangeShapeType="1"/>
          </p:cNvSpPr>
          <p:nvPr/>
        </p:nvSpPr>
        <p:spPr bwMode="auto">
          <a:xfrm flipH="1">
            <a:off x="4043363" y="62452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7" name="Line 56"/>
          <p:cNvSpPr>
            <a:spLocks noChangeShapeType="1"/>
          </p:cNvSpPr>
          <p:nvPr/>
        </p:nvSpPr>
        <p:spPr bwMode="auto">
          <a:xfrm flipH="1">
            <a:off x="5303838" y="6257925"/>
            <a:ext cx="1587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8" name="Line 57"/>
          <p:cNvSpPr>
            <a:spLocks noChangeShapeType="1"/>
          </p:cNvSpPr>
          <p:nvPr/>
        </p:nvSpPr>
        <p:spPr bwMode="auto">
          <a:xfrm>
            <a:off x="4060825" y="6589713"/>
            <a:ext cx="1246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5543101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hape 2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layering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Why layers?</a:t>
            </a:r>
          </a:p>
        </p:txBody>
      </p:sp>
      <p:sp>
        <p:nvSpPr>
          <p:cNvPr id="290" name="Shape 29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Reduce complexity</a:t>
            </a:r>
          </a:p>
          <a:p>
            <a:r>
              <a:rPr lang="en-US" sz="2400" dirty="0"/>
              <a:t>Improve flexibility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Why not?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Higher overheads</a:t>
            </a:r>
          </a:p>
          <a:p>
            <a:r>
              <a:rPr lang="en-US" sz="2400" dirty="0"/>
              <a:t>Cross-layer information often useful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4400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90" grpId="0" uiExpand="1" build="p"/>
      <p:bldP spid="10" grpId="0" build="p"/>
      <p:bldP spid="11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45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hourglass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network-layer protocol (IP)</a:t>
            </a:r>
          </a:p>
          <a:p>
            <a:r>
              <a:rPr lang="en-US" dirty="0"/>
              <a:t>Allows arbitrary networks to interoperate</a:t>
            </a:r>
          </a:p>
          <a:p>
            <a:pPr lvl="1"/>
            <a:r>
              <a:rPr lang="en-US" dirty="0"/>
              <a:t>Any network that supports IP can exchange packets</a:t>
            </a:r>
          </a:p>
          <a:p>
            <a:r>
              <a:rPr lang="en-US" dirty="0">
                <a:solidFill>
                  <a:srgbClr val="0000FF"/>
                </a:solidFill>
              </a:rPr>
              <a:t>Decouples</a:t>
            </a:r>
            <a:r>
              <a:rPr lang="en-US" dirty="0"/>
              <a:t> applications from low-level networking technologies</a:t>
            </a:r>
          </a:p>
          <a:p>
            <a:pPr lvl="1"/>
            <a:r>
              <a:rPr lang="en-US" dirty="0"/>
              <a:t>Applications function on all networks</a:t>
            </a:r>
          </a:p>
          <a:p>
            <a:r>
              <a:rPr lang="en-US" dirty="0"/>
              <a:t>Supports simultaneous innovations above and below IP</a:t>
            </a:r>
          </a:p>
          <a:p>
            <a:r>
              <a:rPr lang="en-US" dirty="0"/>
              <a:t>But changing IP itself is hard (e.g., IPv4 </a:t>
            </a:r>
            <a:r>
              <a:rPr lang="en-US" dirty="0">
                <a:sym typeface="Wingdings"/>
              </a:rPr>
              <a:t> IPv6)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03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network functionality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End-to-end arguments </a:t>
            </a:r>
            <a:r>
              <a:rPr lang="en-US" dirty="0"/>
              <a:t>by </a:t>
            </a:r>
            <a:r>
              <a:rPr lang="en-US" dirty="0" err="1"/>
              <a:t>Saltzer</a:t>
            </a:r>
            <a:r>
              <a:rPr lang="en-US" dirty="0"/>
              <a:t>, Reed, and Clark</a:t>
            </a:r>
          </a:p>
          <a:p>
            <a:pPr lvl="1"/>
            <a:r>
              <a:rPr lang="en-US" dirty="0"/>
              <a:t>Dumb network and smart end systems</a:t>
            </a:r>
          </a:p>
          <a:p>
            <a:pPr lvl="1"/>
            <a:r>
              <a:rPr lang="en-US" dirty="0"/>
              <a:t>Functions that can be </a:t>
            </a:r>
            <a:r>
              <a:rPr lang="en-US" i="1" dirty="0">
                <a:solidFill>
                  <a:srgbClr val="0000FF"/>
                </a:solidFill>
              </a:rPr>
              <a:t>completely</a:t>
            </a:r>
            <a:r>
              <a:rPr lang="en-US" dirty="0"/>
              <a:t> and </a:t>
            </a:r>
            <a:r>
              <a:rPr lang="en-US" i="1" dirty="0">
                <a:solidFill>
                  <a:srgbClr val="0000FF"/>
                </a:solidFill>
              </a:rPr>
              <a:t>correctly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implemented </a:t>
            </a:r>
            <a:r>
              <a:rPr lang="en-US" i="1" dirty="0">
                <a:solidFill>
                  <a:srgbClr val="0000FF"/>
                </a:solidFill>
              </a:rPr>
              <a:t>only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with the knowledge of application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en-US" dirty="0"/>
              <a:t> end host, should not be pushed into the network</a:t>
            </a:r>
          </a:p>
          <a:p>
            <a:pPr lvl="1"/>
            <a:r>
              <a:rPr lang="en-US" dirty="0"/>
              <a:t>Sometimes necessary to break this for performance and policy optimizations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Fate sharing</a:t>
            </a:r>
            <a:r>
              <a:rPr lang="en-US" dirty="0"/>
              <a:t>: fail together or don’t fail at 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6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Layering is a good way to organize networks</a:t>
            </a:r>
          </a:p>
          <a:p>
            <a:pPr lvl="0"/>
            <a:r>
              <a:rPr lang="en-US" dirty="0"/>
              <a:t>Unified Internet layer decouples applications from networks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technologies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independently</a:t>
            </a:r>
            <a:endParaRPr lang="en-US" dirty="0"/>
          </a:p>
          <a:p>
            <a:pPr lvl="0"/>
            <a:r>
              <a:rPr lang="en-US" dirty="0"/>
              <a:t>E2E argument encourages us to keep IP simple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57808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1490459529</TotalTime>
  <Pages>7</Pages>
  <Words>1417</Words>
  <Application>Microsoft Macintosh PowerPoint</Application>
  <PresentationFormat>On-screen Show (4:3)</PresentationFormat>
  <Paragraphs>517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ＭＳ Ｐゴシック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Times New Roman</vt:lpstr>
      <vt:lpstr>Wingdings</vt:lpstr>
      <vt:lpstr>csci teaching</vt:lpstr>
      <vt:lpstr>CSCI4430 Computer Networks  Lecture 2: Layering</vt:lpstr>
      <vt:lpstr>Agenda</vt:lpstr>
      <vt:lpstr>What we want</vt:lpstr>
      <vt:lpstr>(Some of) What happens…</vt:lpstr>
      <vt:lpstr>(More of) What happens</vt:lpstr>
      <vt:lpstr>What we get</vt:lpstr>
      <vt:lpstr>Inspiration…</vt:lpstr>
      <vt:lpstr>Inspiration…</vt:lpstr>
      <vt:lpstr>The path of the letter</vt:lpstr>
      <vt:lpstr>The path of the letter</vt:lpstr>
      <vt:lpstr>Three steps</vt:lpstr>
      <vt:lpstr>Back to the Internet: Decomposition</vt:lpstr>
      <vt:lpstr>Communication organization</vt:lpstr>
      <vt:lpstr>OSI layers</vt:lpstr>
      <vt:lpstr>Layers</vt:lpstr>
      <vt:lpstr>Layers and protocols </vt:lpstr>
      <vt:lpstr>What is a Protocol?</vt:lpstr>
      <vt:lpstr>What is a Protocol?</vt:lpstr>
      <vt:lpstr>What is a Protocol?</vt:lpstr>
      <vt:lpstr>Protocols at different layers</vt:lpstr>
      <vt:lpstr>ONE network layer protocol</vt:lpstr>
      <vt:lpstr>Layer encapsulation:  Protocol headers</vt:lpstr>
      <vt:lpstr>Three steps</vt:lpstr>
      <vt:lpstr>What gets implemented where?</vt:lpstr>
      <vt:lpstr>What gets implemented  at the end systems?</vt:lpstr>
      <vt:lpstr>What gets implemented in  the network? </vt:lpstr>
      <vt:lpstr>Simple Diagram</vt:lpstr>
      <vt:lpstr>A closer look: End system</vt:lpstr>
      <vt:lpstr>What gets implemented in  the network? </vt:lpstr>
      <vt:lpstr>A closer look at the network</vt:lpstr>
      <vt:lpstr>A closer look at the network</vt:lpstr>
      <vt:lpstr>Switches vs. Routers</vt:lpstr>
      <vt:lpstr>Logical communication</vt:lpstr>
      <vt:lpstr>Physical communication</vt:lpstr>
      <vt:lpstr>A protocol-centric diagram</vt:lpstr>
      <vt:lpstr>Pros and cons of layering</vt:lpstr>
      <vt:lpstr>IP is the narrow waist of the layering hourglass</vt:lpstr>
      <vt:lpstr>Implications of hourglass </vt:lpstr>
      <vt:lpstr>Placing network functionality</vt:lpstr>
      <vt:lpstr>Summary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2: Layering</dc:title>
  <dc:subject/>
  <dc:creator>Hong Xu</dc:creator>
  <cp:keywords/>
  <dc:description/>
  <cp:lastModifiedBy>Hong Xu</cp:lastModifiedBy>
  <cp:revision>1420</cp:revision>
  <cp:lastPrinted>1999-09-08T17:25:07Z</cp:lastPrinted>
  <dcterms:created xsi:type="dcterms:W3CDTF">2014-01-14T18:15:50Z</dcterms:created>
  <dcterms:modified xsi:type="dcterms:W3CDTF">2025-01-13T05:54:23Z</dcterms:modified>
  <cp:category/>
</cp:coreProperties>
</file>
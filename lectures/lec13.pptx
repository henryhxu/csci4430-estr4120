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1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ink/ink2.xml" ContentType="application/inkml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22" r:id="rId1"/>
  </p:sldMasterIdLst>
  <p:notesMasterIdLst>
    <p:notesMasterId r:id="rId95"/>
  </p:notesMasterIdLst>
  <p:handoutMasterIdLst>
    <p:handoutMasterId r:id="rId96"/>
  </p:handoutMasterIdLst>
  <p:sldIdLst>
    <p:sldId id="638" r:id="rId2"/>
    <p:sldId id="513" r:id="rId3"/>
    <p:sldId id="581" r:id="rId4"/>
    <p:sldId id="514" r:id="rId5"/>
    <p:sldId id="515" r:id="rId6"/>
    <p:sldId id="516" r:id="rId7"/>
    <p:sldId id="518" r:id="rId8"/>
    <p:sldId id="517" r:id="rId9"/>
    <p:sldId id="552" r:id="rId10"/>
    <p:sldId id="519" r:id="rId11"/>
    <p:sldId id="520" r:id="rId12"/>
    <p:sldId id="523" r:id="rId13"/>
    <p:sldId id="522" r:id="rId14"/>
    <p:sldId id="524" r:id="rId15"/>
    <p:sldId id="525" r:id="rId16"/>
    <p:sldId id="526" r:id="rId17"/>
    <p:sldId id="527" r:id="rId18"/>
    <p:sldId id="528" r:id="rId19"/>
    <p:sldId id="530" r:id="rId20"/>
    <p:sldId id="531" r:id="rId21"/>
    <p:sldId id="532" r:id="rId22"/>
    <p:sldId id="533" r:id="rId23"/>
    <p:sldId id="534" r:id="rId24"/>
    <p:sldId id="535" r:id="rId25"/>
    <p:sldId id="536" r:id="rId26"/>
    <p:sldId id="537" r:id="rId27"/>
    <p:sldId id="538" r:id="rId28"/>
    <p:sldId id="539" r:id="rId29"/>
    <p:sldId id="540" r:id="rId30"/>
    <p:sldId id="541" r:id="rId31"/>
    <p:sldId id="542" r:id="rId32"/>
    <p:sldId id="543" r:id="rId33"/>
    <p:sldId id="544" r:id="rId34"/>
    <p:sldId id="547" r:id="rId35"/>
    <p:sldId id="548" r:id="rId36"/>
    <p:sldId id="549" r:id="rId37"/>
    <p:sldId id="550" r:id="rId38"/>
    <p:sldId id="553" r:id="rId39"/>
    <p:sldId id="554" r:id="rId40"/>
    <p:sldId id="555" r:id="rId41"/>
    <p:sldId id="556" r:id="rId42"/>
    <p:sldId id="557" r:id="rId43"/>
    <p:sldId id="573" r:id="rId44"/>
    <p:sldId id="574" r:id="rId45"/>
    <p:sldId id="575" r:id="rId46"/>
    <p:sldId id="561" r:id="rId47"/>
    <p:sldId id="576" r:id="rId48"/>
    <p:sldId id="563" r:id="rId49"/>
    <p:sldId id="564" r:id="rId50"/>
    <p:sldId id="565" r:id="rId51"/>
    <p:sldId id="566" r:id="rId52"/>
    <p:sldId id="577" r:id="rId53"/>
    <p:sldId id="578" r:id="rId54"/>
    <p:sldId id="579" r:id="rId55"/>
    <p:sldId id="580" r:id="rId56"/>
    <p:sldId id="640" r:id="rId57"/>
    <p:sldId id="641" r:id="rId58"/>
    <p:sldId id="642" r:id="rId59"/>
    <p:sldId id="521" r:id="rId60"/>
    <p:sldId id="643" r:id="rId61"/>
    <p:sldId id="644" r:id="rId62"/>
    <p:sldId id="645" r:id="rId63"/>
    <p:sldId id="646" r:id="rId64"/>
    <p:sldId id="529" r:id="rId65"/>
    <p:sldId id="647" r:id="rId66"/>
    <p:sldId id="648" r:id="rId67"/>
    <p:sldId id="649" r:id="rId68"/>
    <p:sldId id="650" r:id="rId69"/>
    <p:sldId id="651" r:id="rId70"/>
    <p:sldId id="652" r:id="rId71"/>
    <p:sldId id="653" r:id="rId72"/>
    <p:sldId id="654" r:id="rId73"/>
    <p:sldId id="655" r:id="rId74"/>
    <p:sldId id="656" r:id="rId75"/>
    <p:sldId id="657" r:id="rId76"/>
    <p:sldId id="658" r:id="rId77"/>
    <p:sldId id="659" r:id="rId78"/>
    <p:sldId id="660" r:id="rId79"/>
    <p:sldId id="545" r:id="rId80"/>
    <p:sldId id="661" r:id="rId81"/>
    <p:sldId id="662" r:id="rId82"/>
    <p:sldId id="663" r:id="rId83"/>
    <p:sldId id="664" r:id="rId84"/>
    <p:sldId id="512" r:id="rId85"/>
    <p:sldId id="665" r:id="rId86"/>
    <p:sldId id="667" r:id="rId87"/>
    <p:sldId id="668" r:id="rId88"/>
    <p:sldId id="669" r:id="rId89"/>
    <p:sldId id="670" r:id="rId90"/>
    <p:sldId id="671" r:id="rId91"/>
    <p:sldId id="672" r:id="rId92"/>
    <p:sldId id="673" r:id="rId93"/>
    <p:sldId id="674" r:id="rId94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D60093"/>
    <a:srgbClr val="333399"/>
    <a:srgbClr val="FFCB05"/>
    <a:srgbClr val="FF9900"/>
    <a:srgbClr val="00274C"/>
    <a:srgbClr val="009900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59"/>
    <p:restoredTop sz="96327"/>
  </p:normalViewPr>
  <p:slideViewPr>
    <p:cSldViewPr>
      <p:cViewPr varScale="1">
        <p:scale>
          <a:sx n="127" d="100"/>
          <a:sy n="127" d="100"/>
        </p:scale>
        <p:origin x="95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8T03:08:37.52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10553 8646 7769,'-23'-5'66,"0"-2"1,2 1-1,2 2 1,3 5-67,4 7 0,-5 5 0,-1 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4-02T08:38:04.810"/>
    </inkml:context>
    <inkml:brush xml:id="br0">
      <inkml:brushProperty name="width" value="0.12114" units="cm"/>
      <inkml:brushProperty name="height" value="0.12114" units="cm"/>
      <inkml:brushProperty name="color" value="#FF0000"/>
    </inkml:brush>
    <inkml:brush xml:id="br1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8360 11946 8897,'0'12'-15,"-5"-1"0,-1 0 0</inkml:trace>
  <inkml:trace contextRef="#ctx0" brushRef="#br1" timeOffset="1">9833 13762 8279,'-5'-19'-118,"-1"1"1,0 2-1,2 2 1,3 1-232,1 2 1,0 6 348,0 5 0,10 10 0,2 8 0</inkml:trace>
  <inkml:trace contextRef="#ctx0" brushRef="#br1" timeOffset="2">11158 16275 7982,'-11'-35'63,"1"-4"1,2 0-1,4 2 1,4 9-1,4 12 184,4 12-247,2 13 0,1 8 0,1 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1T08:30:23.442"/>
    </inkml:context>
    <inkml:brush xml:id="br0">
      <inkml:brushProperty name="height" value="0.053" units="cm"/>
      <inkml:brushProperty name="color" value="#FF0000"/>
    </inkml:brush>
  </inkml:definitions>
  <inkml:trace contextRef="#ctx0" brushRef="#br0">3769 10952 8077,'-18'2'426,"1"4"0,0-4-93,0 3 1,2-1-1,1 0 420,3 2-44,7-1-198,-4 3 0,10-6-1,4 4 0,-2-4-210,7-2 0,1-2 151,5-4 1,6 4-82,0-4 1,2-1 105,-2 1 0,1-2-25,5 3 1,9 3-32,-3-4 1,5-2-272,0 3 27,-4-9 0,16 10 4,0-7 0,5 7-155,6-2 0,4-1-117,-4 1 0,8 0-512,-2 6 470,11 0 1,-23 0 0,10 2-295,-6 4-235,-3-4 428,-7 13 1,-5-7-445,0 3 112,-8 4 295,5-5 0,-9 1-138,0 1 156,1-8 0,-7 3-1,1-7 1,0 0-180,5 0 0,-1 0 461,-5 0 0,-1-5-275,-4-1 1,-4-7 130,4 1 0,-4 3-162,-1-3 0,-7 6-680,1-5 379,-9 7 1,7-9-1260,-4 7 748,-4 0 1091,5 6 0,-14-7 0,-3-3 0</inkml:trace>
  <inkml:trace contextRef="#ctx0" brushRef="#br0" timeOffset="1">3838 11055 8015,'-8'-9'1025,"6"-7"-1287,-4 5 0,4 1 1567,2-1 0,2 1-539,4-1 0,4-4 132,7 3 1,8-3-372,3-2 0,5 1 20,1 5 0,8-4-119,4 3 1,6 3 146,5-3-396,-3 8 1,13-3 85,-4 7 0,4 0-84,1 0 1,1 2-163,0 3 0,2-1 191,3 8 0,-3-7-123,4 7 1,-6-6-183,-6 5 1,2-5 118,-8 5 1,0-7-352,-5 2 257,-8 3 0,4-5-33,-8 8 0,0-9 134,-5 3 0,-3 2 121,-3-3 1,1 1-80,-7-6 1,2 6 249,-2 0-157,-4-1 348,6-5-250,-8 0-673,0 0-475,-7 0-508,-2 0 832,-8 0-1686,0 0 0,0-15 2246,0-8 0,-8-15 0,-2-6 0</inkml:trace>
  <inkml:trace contextRef="#ctx0" brushRef="#br0" timeOffset="2">3029 10522 7999,'-17'0'97,"-1"6"1,1 0 602,0-3 1,0-1-190,-1-2 1,1 6-138,0 0 0,6 5-86,-1-5 0,3 2 0,-5-4 115,3 1 1,5 3-153,-6-2 1,1-4-29,-6 3 1,-2-3 196,-4-2 0,4 0-49,-4 0 0,-2 0-208,2 0 6,-8 0 1,12-4 13,-4-7 1,-2-2-116,2-16 0,0-7-22,6-10 0,2-6-257,3-5 0,5 1 242,7-7-151,0 0 65,15 2 1,-1 2 272,14 7-184,1 1 1,11 1 246,0 4 0,0 4-52,-5 8 1,5 5 43,0 1 1,0 7-103,-5-2 0,-7 5-103,1 7 0,-14-2-144,3 7 0,-5 0-701,4 6-13,-7 0 1,-1 0-1015,-3 0-1965,-4 0 2831,13 0 1,-11 0 937,7 0 0,1 0 0,5 0 0</inkml:trace>
  <inkml:trace contextRef="#ctx0" brushRef="#br0" timeOffset="3">2874 9336 7999,'-35'-8'0,"7"6"1177,-1-3 1,8-3 1545,-2 2-516,4 0 375,9 6-798,3 0-1444,22 0 1,-2 0 0,16 0 0,0 0-67,5 0 1,6 0-214,1 0 1,6-1 119,-1-5 0,-2 4-405,2-4 1,-6 4 216,6 2 0,-6-5-419,6-1 1,-8 0 192,3 6 0,-13 2-15,-5 4 1,-4 3 236,-1 8 1,-9 3 400,-3 3 1,-8 5-670,-10 12 0,-7 4 114,-15 8 0,-6-1-2320,0 1 1513,-8 7 1,10-11 75,-8 4 896,7-5 0,3 1 0,7 0 0,-1 0 0,-3-3 0</inkml:trace>
  <inkml:trace contextRef="#ctx0" brushRef="#br0" timeOffset="4">2960 10625 7967,'-27'0'273,"-3"0"0,5 2 0,0 2 63,0 2 0,0 1 1,2-3 197,-6 2 0,3 0 46,-3-6 0,8 5 1,-4 1 280,0-2 1,4-2-367,-7-2 1,7-6-29,-2 0 0,-2-7-128,2 2 0,-6 1-116,6-1 1,-7-1-85,1-5 1,-4 0 111,-1 0 0,0-1 10,-1 1-94,1 0 1,-6 0-3,-1 0 0,-1-1-138,2 1 0,4-2 50,-4-4-481,3-4 325,3-15 0,1-2-804,5-7 614,3-1 1,15-7-89,5-4 0,3 2 104,2-2 1,0 2 127,0-2 0,7-4 43,5 4 1,5-6 13,6-5 0,4 3-144,7-4 1,2 3 491,5-3 0,-1 5 19,11-5 0,-9 6-61,10 6 1,2-4 50,3 4 0,8-5-168,-33 30 1,-1 1 0,28-32-33,-1 1 1,-5 6 119,-1 11 0,-6 7 131,0 4 1,-16 11-153,-1 6 0,-8 6 205,-4 6 412,-7 3-122,-3 8 825,-7 0-755,0 0 0,-1 6-1219,-5-1 0,4 3 272,-4-2-4920,4-4 2832,2 13 2282,8-13 0,9 13 0,10-5 0</inkml:trace>
  <inkml:trace contextRef="#ctx0" brushRef="#br0" timeOffset="5">2685 8029 8115,'-35'-7'1330,"3"3"284,3-8 1,4 8 1787,8-1-1759,0 3 731,7 2-1752,2 0 1,10 0-473,4 0 0,4-6 109,7 0 0,8-1 14,3 1 0,7 4-91,5-4 0,4 4 30,8 2 0,-1-5-295,1-1 1,-1 0 128,1 6 0,0 0-713,-1 0 1,7 6 339,-1 0 0,-7 5-27,-10-5 1,-6 7 70,-5-1 1,0 3 243,-12 2 1,-4 0 276,-13 1 0,-4 6 731,-7 5 0,-14 9-460,-15 2 0,-14 10-155,3 2 0,-10 1-1613,3 10 0,-3-2 828,9 2 1,1-2 430,16-3 0,3-3 0,13 4 0,2-5 0,3-6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1T08:30:23.475"/>
    </inkml:context>
    <inkml:brush xml:id="br0">
      <inkml:brushProperty name="height" value="0.053" units="cm"/>
      <inkml:brushProperty name="color" value="#FF0000"/>
    </inkml:brush>
  </inkml:definitions>
  <inkml:trace contextRef="#ctx0" brushRef="#br0">602 3611 8000,'-15'-27'1098,"4"4"1,-3 4-1,8 2-567,3-1 0,18 7 0,14 1-411,13 3 0,17-5-8,10 7 0,9-9-81,14 3 1,-40 6 0,1 0-217,7-1 0,1 1 0,2 0 1,2 0 136,3 0 1,1-1 0,0-1 0,0 0-249,0 4 0,0 1 1,2-4-1,1 0 156,0 3 1,-1 0 0,4 0 0,0 1 16,-3 2 0,-1 0 0,-2-3 0,0 0 18,-3 0 0,0 0 1,2 0-1,1 0 88,2 3 0,2 0 0,4 0 0,1 0 9,-4 1 0,1-2 0,6-2 0,0-1 79,-3-2 0,-1 0 0,6 2 1,0 1-340,0 0 1,1 0 0,3-1 0,2 0 272,0 2 1,0-1-1,0-3 1,-1 0-268,-2 3 1,0 0-1,3-3 1,0-1 372,0 1 0,0 1 1,-1 0-1,0 0-25,-4-1 1,-2 1 0,-3 2-1,-3 0 19,-4-3 0,0 0 0,-2 4 0,-1 1 16,1-2 0,-2 0 1,-6-1-1,-2 0 44,-2 1 1,-1 0 0,-7 0 0,-1 1 262,43 2 0,-11-6-294,-7 0 1,-13 1-462,-9 5 0,-10-2 562,-13-4 0,1 4-685,-7-4 0,6-3 1711,-6-3-1261,7-11 0,-3-3 0,8-9 0</inkml:trace>
  <inkml:trace contextRef="#ctx0" brushRef="#br0" timeOffset="1">1033 1565 8059,'-16'-12'1273,"5"6"-265,5 10 1,4 19-1215,2 29 0,0 11-142,0 17-287,0 8 0,-1-32 0,0 2 506,-2 5 1,0 1-1,2 4 1,-1 3 14,-4 9 0,0 0 0,1 0 0,-1-1-254,-2 4 1,-2 0-1,-1-3 1,0-1 314,-1 1 1,1 0 0,-3-3 0,1-1-39,4-3 1,1-3-1,-3-5 1,2-4-40,6-8 0,1-2 0,-4 36 109,6-12 0,0-14-134,0-9 0,0-16 198,0-13 1,2-12 245,4-5 0,-3-6-657,9-6 0,5-13 183,6-15 1,8-27 70,-3-25 0,-9 30 0,1-3 114,0-8 0,0-3 0,0-4 0,0-1 0,-3 1 0,0 1 0</inkml:trace>
  <inkml:trace contextRef="#ctx0" brushRef="#br0" timeOffset="2">1170 2235 7980,'0'-86'0,"-11"10"0,-12 7 0,-10 17 757,-13 18 1,-1 3-70,6 14 0,3-4 77,9 10 0,5-3-365,6 3 0,9 1-136,3 5 0,12 1-627,5-8 0,16-1 279,13-10 1,8-4-192,21-7 0,4-2 21,13-4 0,-38 21 0,1 1 150,0-2 0,0 0 0,4 2 0,1 2 88,-3 1 1,1 1 0,-1 1 0,1 1 134,2 3 1,1 1 0,3-1-1,1 1-92,-2-1 0,1 1 1,3 2-1,0 0-209,-4 0 0,1 1 0,2 2 0,0 0 288,3-3 1,0 1 0,5 2 0,0 0-15,3-3 1,1 0-1,1 3 1,0 1-174,-2-4 1,1 0 0,2 1 0,1-1-240,5-3 0,1 0 1,5 1-1,2-1 361,1 1 0,0-1 1,-1 1-1,-2-1-61,-8 0 0,-1 1 1,4-1-1,0 1-64,2-1 0,1 0 0,-3 1 0,0-1 110,-1 1 0,1-1 0,0 0 1,0 1 58,0-1 0,-1 1 1,0 2-1,0 2-115,-2 1 1,-1 0 0,-3-1-1,0 1 54,-2 0 1,-1 0 0,-2 0-1,0 0-246,-3 3 0,0 0 0,1 0 0,1 0 129,-1 0 0,-2 0 0,-3 3 0,-1 0-104,-1 0 0,0 0 0,-4 0 0,-1-1 47,2-1 0,1-2 1,-4 2-1,1 0-63,2 2 1,0 0 0,-6-2 0,0 0 90,1 2 0,-1 0 1,41-1-69,0-2 1,-3 0 431,3 0 0,-17 0-197,-1 0 1,-16 0 557,-7 0 0,-1 5-541,-10 1 1,-7 5 544,-10-5 0,-6 8-407,-6-3 0,-3 4 415,-8 3 0,-8 1 92,-3 4 1,-10 9-47,-2 8 0,-8 10-295,3 1 0,1 16-204,-2 13 1,14-30 0,0 2-438,-5 4 0,-1 2 1,3 10-1,0 2 286,-2 9 1,0 2 0,1 2 0,2 1-469,-1 7 0,1 1 1,1-1-1,0 1 307,1 3 0,1-1 1,1-2-1,1 0-274,3 0 1,1-1-1,3-10 1,0-3-599,2-3 0,1-1 0,0-6 1,2-2 1021,0-6 0,0 0 0,0-3 0,0-1 0,0-2 0,0 1 0,0-3 0,0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21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A025C15-66E6-F945-A0DB-3C9682879329}" type="slidenum">
              <a:rPr lang="en-US" sz="1300" b="0">
                <a:latin typeface="Times New Roman" charset="0"/>
              </a:rPr>
              <a:pPr eaLnBrk="1" hangingPunct="1"/>
              <a:t>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885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922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BDA431-9B69-4845-A20F-A89342A9AAE2}" type="slidenum">
              <a:rPr lang="en-US"/>
              <a:pPr/>
              <a:t>10</a:t>
            </a:fld>
            <a:endParaRPr lang="en-US"/>
          </a:p>
        </p:txBody>
      </p:sp>
      <p:sp>
        <p:nvSpPr>
          <p:cNvPr id="1120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0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28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73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27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BDA431-9B69-4845-A20F-A89342A9AAE2}" type="slidenum">
              <a:rPr lang="en-US"/>
              <a:pPr/>
              <a:t>13</a:t>
            </a:fld>
            <a:endParaRPr lang="en-US"/>
          </a:p>
        </p:txBody>
      </p:sp>
      <p:sp>
        <p:nvSpPr>
          <p:cNvPr id="1120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0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95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C4775AA-6F91-DB45-94C9-1927444BC962}" type="slidenum">
              <a:rPr lang="en-US" sz="1300" b="0">
                <a:latin typeface="Times New Roman" charset="0"/>
              </a:rPr>
              <a:pPr eaLnBrk="1" hangingPunct="1"/>
              <a:t>15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14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71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0DDA135-E27F-2D44-A4C5-E5161DD793A5}" type="slidenum">
              <a:rPr lang="en-US" sz="1300" b="0">
                <a:latin typeface="Times New Roman" charset="0"/>
              </a:rPr>
              <a:pPr eaLnBrk="1" hangingPunct="1"/>
              <a:t>21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54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9621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4B8AC0EA-8456-AD4F-9673-F9A30533C698}" type="slidenum">
              <a:rPr lang="en-US" sz="1300" b="0">
                <a:latin typeface="Times New Roman" charset="0"/>
              </a:rPr>
              <a:pPr eaLnBrk="1" hangingPunct="1"/>
              <a:t>22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9570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789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B0C462F0-F4EF-5244-A49E-6CE8D6940A21}" type="slidenum">
              <a:rPr lang="en-US" sz="1300" b="0">
                <a:latin typeface="Times New Roman" charset="0"/>
              </a:rPr>
              <a:pPr eaLnBrk="1" hangingPunct="1"/>
              <a:t>23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0950" y="708025"/>
            <a:ext cx="4814888" cy="3611563"/>
          </a:xfrm>
          <a:solidFill>
            <a:srgbClr val="FFFFFF"/>
          </a:solidFill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2975" y="4564063"/>
            <a:ext cx="5429250" cy="43338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fr-F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78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C5B461-466A-F348-BE51-87D2A94E4DCC}" type="slidenum">
              <a:rPr lang="en-US"/>
              <a:pPr/>
              <a:t>25</a:t>
            </a:fld>
            <a:endParaRPr lang="en-US"/>
          </a:p>
        </p:txBody>
      </p:sp>
      <p:sp>
        <p:nvSpPr>
          <p:cNvPr id="112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12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660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0DDA135-E27F-2D44-A4C5-E5161DD793A5}" type="slidenum">
              <a:rPr lang="en-US" sz="1300" b="0">
                <a:latin typeface="Times New Roman" charset="0"/>
              </a:rPr>
              <a:pPr eaLnBrk="1" hangingPunct="1"/>
              <a:t>27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54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4854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8F04983E-37FB-4A48-871E-EF21B66175D9}" type="slidenum">
              <a:rPr lang="en-US" sz="1300" b="0">
                <a:latin typeface="Times New Roman" charset="0"/>
              </a:rPr>
              <a:pPr eaLnBrk="1" hangingPunct="1"/>
              <a:t>29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 w="12700" cap="flat">
            <a:solidFill>
              <a:schemeClr val="tx1"/>
            </a:solidFill>
          </a:ln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490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00DDA135-E27F-2D44-A4C5-E5161DD793A5}" type="slidenum">
              <a:rPr lang="en-US" sz="1300" b="0">
                <a:latin typeface="Times New Roman" charset="0"/>
              </a:rPr>
              <a:pPr eaLnBrk="1" hangingPunct="1"/>
              <a:t>31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54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3040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C4775AA-6F91-DB45-94C9-1927444BC962}" type="slidenum">
              <a:rPr lang="en-US" sz="1300" b="0">
                <a:latin typeface="Times New Roman" charset="0"/>
              </a:rPr>
              <a:pPr eaLnBrk="1" hangingPunct="1"/>
              <a:t>39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910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4CA1317-0D24-8C45-9979-8A048FDBAF42}" type="slidenum">
              <a:rPr lang="en-US" sz="1300" b="0">
                <a:latin typeface="Times New Roman" charset="0"/>
              </a:rPr>
              <a:pPr eaLnBrk="1" hangingPunct="1"/>
              <a:t>40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 err="1">
                <a:ea typeface="ＭＳ Ｐゴシック" charset="0"/>
                <a:cs typeface="ＭＳ Ｐゴシック" charset="0"/>
              </a:rPr>
              <a:t>Ehy</a:t>
            </a:r>
            <a:r>
              <a:rPr lang="en-US" dirty="0">
                <a:ea typeface="ＭＳ Ｐゴシック" charset="0"/>
                <a:cs typeface="ＭＳ Ｐゴシック" charset="0"/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968641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432177F9-D46C-9E47-A59B-29E08ABE9F97}" type="slidenum">
              <a:rPr lang="en-US" sz="1300" b="0">
                <a:latin typeface="Times New Roman" charset="0"/>
              </a:rPr>
              <a:pPr eaLnBrk="1" hangingPunct="1"/>
              <a:t>49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Arrows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are routing message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832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86217817-1DE6-EC4D-9339-BD283CA19325}" type="slidenum">
              <a:rPr lang="en-US" sz="1300" b="0">
                <a:latin typeface="Times New Roman" charset="0"/>
              </a:rPr>
              <a:pPr eaLnBrk="1" hangingPunct="1"/>
              <a:t>57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solidFill>
            <a:srgbClr val="FFFFFF"/>
          </a:solidFill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59300"/>
            <a:ext cx="5851525" cy="432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zh-CN" dirty="0">
              <a:ea typeface="宋体" charset="0"/>
              <a:cs typeface="宋体" charset="0"/>
            </a:endParaRPr>
          </a:p>
          <a:p>
            <a:r>
              <a:rPr lang="en-US" altLang="zh-CN" dirty="0">
                <a:ea typeface="宋体" charset="0"/>
                <a:cs typeface="宋体" charset="0"/>
              </a:rPr>
              <a:t>Arrows:</a:t>
            </a:r>
            <a:r>
              <a:rPr lang="en-US" altLang="zh-CN" baseline="0" dirty="0">
                <a:ea typeface="宋体" charset="0"/>
                <a:cs typeface="宋体" charset="0"/>
              </a:rPr>
              <a:t> routing messages!</a:t>
            </a:r>
            <a:endParaRPr lang="en-US" altLang="zh-CN" dirty="0">
              <a:ea typeface="宋体" charset="0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5085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1EB4CF9-310C-3546-88B2-B2DAF8910793}" type="slidenum">
              <a:rPr lang="en-US" sz="1300" b="0">
                <a:latin typeface="Times New Roman" charset="0"/>
              </a:rPr>
              <a:pPr eaLnBrk="1" hangingPunct="1"/>
              <a:t>62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27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b="1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8557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1EB4CF9-310C-3546-88B2-B2DAF8910793}" type="slidenum">
              <a:rPr lang="en-US" sz="1300" b="0">
                <a:latin typeface="Times New Roman" charset="0"/>
              </a:rPr>
              <a:pPr eaLnBrk="1" hangingPunct="1"/>
              <a:t>64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27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b="1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0382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1EB4CF9-310C-3546-88B2-B2DAF8910793}" type="slidenum">
              <a:rPr lang="en-US" sz="1300" b="0">
                <a:latin typeface="Times New Roman" charset="0"/>
              </a:rPr>
              <a:pPr eaLnBrk="1" hangingPunct="1"/>
              <a:t>65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solidFill>
            <a:srgbClr val="FFFFFF"/>
          </a:solidFill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27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b="1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9119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8B0EAE-3B4D-1F4F-8A5A-7698E2F7FCE1}" type="slidenum">
              <a:rPr lang="en-US"/>
              <a:pPr/>
              <a:t>68</a:t>
            </a:fld>
            <a:endParaRPr lang="en-US"/>
          </a:p>
        </p:txBody>
      </p:sp>
      <p:sp>
        <p:nvSpPr>
          <p:cNvPr id="1056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9012" cy="35988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56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5474" y="4559719"/>
            <a:ext cx="5364254" cy="432127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106063" tIns="53031" rIns="106063" bIns="5303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034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667D5A-DA07-DF4D-A443-18CA09A84EAD}" type="slidenum">
              <a:rPr lang="en-US"/>
              <a:pPr/>
              <a:t>69</a:t>
            </a:fld>
            <a:endParaRPr lang="en-US"/>
          </a:p>
        </p:txBody>
      </p:sp>
      <p:sp>
        <p:nvSpPr>
          <p:cNvPr id="1054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9012" cy="35988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54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5474" y="4559719"/>
            <a:ext cx="5364254" cy="432127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106063" tIns="53031" rIns="106063" bIns="5303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550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667D5A-DA07-DF4D-A443-18CA09A84EAD}" type="slidenum">
              <a:rPr lang="en-US"/>
              <a:pPr/>
              <a:t>70</a:t>
            </a:fld>
            <a:endParaRPr lang="en-US"/>
          </a:p>
        </p:txBody>
      </p:sp>
      <p:sp>
        <p:nvSpPr>
          <p:cNvPr id="1054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9012" cy="35988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054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5474" y="4559719"/>
            <a:ext cx="5364254" cy="432127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106063" tIns="53031" rIns="106063" bIns="5303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1835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2174EE3-F7D3-7B40-98C7-00C55495C7AA}" type="slidenum">
              <a:rPr lang="en-US" sz="1300" b="0">
                <a:latin typeface="Times New Roman" charset="0"/>
              </a:rPr>
              <a:pPr eaLnBrk="1" hangingPunct="1"/>
              <a:t>71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8242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F9E4DFA3-1EFD-224F-A536-91773F1A572C}" type="slidenum">
              <a:rPr lang="en-US" sz="1300" b="0">
                <a:latin typeface="Times New Roman" charset="0"/>
              </a:rPr>
              <a:pPr eaLnBrk="1" hangingPunct="1"/>
              <a:t>72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solidFill>
            <a:srgbClr val="FFFFFF"/>
          </a:solidFill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106063" tIns="53031" rIns="106063" bIns="53031"/>
          <a:lstStyle/>
          <a:p>
            <a:r>
              <a:rPr lang="en-US" sz="1800" dirty="0">
                <a:ea typeface="ＭＳ Ｐゴシック" charset="0"/>
                <a:cs typeface="ＭＳ Ｐゴシック" charset="0"/>
              </a:rPr>
              <a:t>Because communicated to all IBGP routers within AS, all routers have a common view of how to exit the AS.</a:t>
            </a:r>
          </a:p>
          <a:p>
            <a:r>
              <a:rPr lang="en-US" sz="1800" dirty="0">
                <a:ea typeface="ＭＳ Ｐゴシック" charset="0"/>
                <a:cs typeface="ＭＳ Ｐゴシック" charset="0"/>
              </a:rPr>
              <a:t>This differs from MED in 2 ways: (1) the destination prefix can be anywhere in the internet, not just in the next AS (as in the case for MED). (2) the AS that sets </a:t>
            </a:r>
            <a:r>
              <a:rPr lang="en-US" sz="1800" dirty="0" err="1">
                <a:ea typeface="ＭＳ Ｐゴシック" charset="0"/>
                <a:cs typeface="ＭＳ Ｐゴシック" charset="0"/>
              </a:rPr>
              <a:t>Local_Pref</a:t>
            </a:r>
            <a:r>
              <a:rPr lang="en-US" sz="1800" dirty="0">
                <a:ea typeface="ＭＳ Ｐゴシック" charset="0"/>
                <a:cs typeface="ＭＳ Ｐゴシック" charset="0"/>
              </a:rPr>
              <a:t>, is also the one that uses it. This allows one node to tell everyone locally what the best way out is.</a:t>
            </a:r>
          </a:p>
          <a:p>
            <a:endParaRPr lang="en-US" sz="1800" dirty="0">
              <a:ea typeface="ＭＳ Ｐゴシック" charset="0"/>
              <a:cs typeface="ＭＳ Ｐゴシック" charset="0"/>
            </a:endParaRPr>
          </a:p>
          <a:p>
            <a:r>
              <a:rPr lang="en-US" sz="1800" dirty="0">
                <a:ea typeface="ＭＳ Ｐゴシック" charset="0"/>
                <a:cs typeface="ＭＳ Ｐゴシック" charset="0"/>
              </a:rPr>
              <a:t>MED can</a:t>
            </a:r>
            <a:r>
              <a:rPr lang="ja-JP" altLang="en-US" sz="1800" dirty="0">
                <a:ea typeface="ＭＳ Ｐゴシック" charset="0"/>
                <a:cs typeface="ＭＳ Ｐゴシック" charset="0"/>
              </a:rPr>
              <a:t>’</a:t>
            </a:r>
            <a:r>
              <a:rPr lang="en-US" sz="1800" dirty="0">
                <a:ea typeface="ＭＳ Ｐゴシック" charset="0"/>
                <a:cs typeface="ＭＳ Ｐゴシック" charset="0"/>
              </a:rPr>
              <a:t>t be used in this example because there is exactly one connection between any pair of AS</a:t>
            </a:r>
            <a:r>
              <a:rPr lang="ja-JP" altLang="en-US" sz="1800" dirty="0">
                <a:ea typeface="ＭＳ Ｐゴシック" charset="0"/>
                <a:cs typeface="ＭＳ Ｐゴシック" charset="0"/>
              </a:rPr>
              <a:t>’</a:t>
            </a:r>
            <a:r>
              <a:rPr lang="en-US" sz="1800" dirty="0">
                <a:ea typeface="ＭＳ Ｐゴシック" charset="0"/>
                <a:cs typeface="ＭＳ Ｐゴシック" charset="0"/>
              </a:rPr>
              <a:t>s.</a:t>
            </a:r>
          </a:p>
          <a:p>
            <a:endParaRPr lang="en-US" dirty="0">
              <a:ea typeface="ＭＳ Ｐゴシック" charset="0"/>
              <a:cs typeface="ＭＳ Ｐゴシック" charset="0"/>
            </a:endParaRPr>
          </a:p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945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A55E516-9422-2847-ADEE-448CB5ED14F6}" type="slidenum">
              <a:rPr lang="en-US" sz="1300" b="0">
                <a:latin typeface="Times New Roman" charset="0"/>
              </a:rPr>
              <a:pPr eaLnBrk="1" hangingPunct="1"/>
              <a:t>74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 w="12700" cap="flat">
            <a:solidFill>
              <a:schemeClr val="tx1"/>
            </a:solidFill>
          </a:ln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21175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4319" tIns="47160" rIns="94319" bIns="47160"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3215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C682C33F-9931-8842-9FF7-1280D31A00DD}" type="slidenum">
              <a:rPr lang="en-US" sz="1300" b="0">
                <a:latin typeface="Times New Roman" charset="0"/>
              </a:rPr>
              <a:pPr eaLnBrk="1" hangingPunct="1"/>
              <a:t>76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0763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AAE66B98-CCA1-0044-B8AF-B9669DEED8EE}" type="slidenum">
              <a:rPr lang="en-US" sz="1300" b="0">
                <a:latin typeface="Times New Roman" charset="0"/>
              </a:rPr>
              <a:pPr eaLnBrk="1" hangingPunct="1"/>
              <a:t>77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5235" tIns="47617" rIns="95235" bIns="47617"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73964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5BA704E-9369-3B4E-B37B-3424964AFB77}" type="slidenum">
              <a:rPr lang="en-US" sz="1300" b="0">
                <a:latin typeface="Times New Roman" charset="0"/>
              </a:rPr>
              <a:pPr eaLnBrk="1" hangingPunct="1"/>
              <a:t>78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9068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4DE28487-56D5-C344-8A1B-3420E4D927E6}" type="slidenum">
              <a:rPr lang="en-US" sz="1300" b="0">
                <a:latin typeface="Times New Roman" charset="0"/>
              </a:rPr>
              <a:pPr eaLnBrk="1" hangingPunct="1"/>
              <a:t>80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235" tIns="47617" rIns="95235" bIns="47617"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Lesson: not being optimal: who cares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Not being connected: we all care!!</a:t>
            </a:r>
          </a:p>
        </p:txBody>
      </p:sp>
    </p:spTree>
    <p:extLst>
      <p:ext uri="{BB962C8B-B14F-4D97-AF65-F5344CB8AC3E}">
        <p14:creationId xmlns:p14="http://schemas.microsoft.com/office/powerpoint/2010/main" val="18595845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075A4076-981B-E14E-BF7D-F23C58614226}" type="slidenum">
              <a:rPr lang="en-US" sz="1300" b="0">
                <a:latin typeface="Times New Roman" charset="0"/>
              </a:rPr>
              <a:pPr eaLnBrk="1" hangingPunct="1"/>
              <a:t>81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5376" tIns="47688" rIns="95376" bIns="47688"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0411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4DE28487-56D5-C344-8A1B-3420E4D927E6}" type="slidenum">
              <a:rPr lang="en-US" sz="1300" b="0">
                <a:latin typeface="Times New Roman" charset="0"/>
              </a:rPr>
              <a:pPr eaLnBrk="1" hangingPunct="1"/>
              <a:t>82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235" tIns="47617" rIns="95235" bIns="47617"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Lesson: not being optimal: who cares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Not being connected: we all care!!</a:t>
            </a:r>
          </a:p>
        </p:txBody>
      </p:sp>
    </p:spTree>
    <p:extLst>
      <p:ext uri="{BB962C8B-B14F-4D97-AF65-F5344CB8AC3E}">
        <p14:creationId xmlns:p14="http://schemas.microsoft.com/office/powerpoint/2010/main" val="11649794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4DE28487-56D5-C344-8A1B-3420E4D927E6}" type="slidenum">
              <a:rPr lang="en-US" sz="1300" b="0">
                <a:latin typeface="Times New Roman" charset="0"/>
              </a:rPr>
              <a:pPr eaLnBrk="1" hangingPunct="1"/>
              <a:t>83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1258888" y="722313"/>
            <a:ext cx="4799012" cy="3598862"/>
          </a:xfrm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5750" cy="431958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235" tIns="47617" rIns="95235" bIns="47617"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Lesson: not being optimal: who cares</a:t>
            </a: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Not being connected: we all care!!</a:t>
            </a:r>
          </a:p>
        </p:txBody>
      </p:sp>
    </p:spTree>
    <p:extLst>
      <p:ext uri="{BB962C8B-B14F-4D97-AF65-F5344CB8AC3E}">
        <p14:creationId xmlns:p14="http://schemas.microsoft.com/office/powerpoint/2010/main" val="15908264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721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does a router determine which</a:t>
            </a:r>
            <a:r>
              <a:rPr lang="en-US" baseline="0" dirty="0"/>
              <a:t> output port for the packet!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4D7B7-8497-9440-908B-E77F83F666B6}" type="slidenum">
              <a:rPr lang="en-US" smtClean="0"/>
              <a:pPr>
                <a:defRPr/>
              </a:pPr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799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A8D30E7F-23DC-AB44-B0E5-C01BC33DA8FF}" type="slidenum">
              <a:rPr lang="en-US" sz="1300" b="0">
                <a:latin typeface="Times New Roman" charset="0"/>
              </a:rPr>
              <a:pPr eaLnBrk="1" hangingPunct="1"/>
              <a:t>92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Idea: build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tree to help with match. When a new packet comes in, walk the tree to determine the correct port.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Each level in the tree: one bit.  Root: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all wild cards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5735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A8D30E7F-23DC-AB44-B0E5-C01BC33DA8FF}" type="slidenum">
              <a:rPr lang="en-US" sz="1300" b="0">
                <a:latin typeface="Times New Roman" charset="0"/>
              </a:rPr>
              <a:pPr eaLnBrk="1" hangingPunct="1"/>
              <a:t>93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Idea: build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tree to help with match. When a new packet comes in, walk the tree to determine the correct port.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r>
              <a:rPr lang="en-US" dirty="0">
                <a:ea typeface="ＭＳ Ｐゴシック" charset="0"/>
                <a:cs typeface="ＭＳ Ｐゴシック" charset="0"/>
              </a:rPr>
              <a:t>Each level in the tree: one bit.  Root:</a:t>
            </a:r>
            <a:r>
              <a:rPr lang="en-US" baseline="0" dirty="0">
                <a:ea typeface="ＭＳ Ｐゴシック" charset="0"/>
                <a:cs typeface="ＭＳ Ｐゴシック" charset="0"/>
              </a:rPr>
              <a:t> all wild cards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737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56800-6334-BE84-16B6-7402A699A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93E6A-DFC3-F407-380A-65EE47A5B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33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6FBCA-2034-049B-7243-88D60D489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DFD9-081B-E3C1-6BDB-F23B9D542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88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B70F-5298-827C-1F78-46F1790437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21DC-16FE-7694-2F83-79847B007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429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258BA9-ABEF-2D2D-F1E7-F2356DD50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6F0A74-64F4-300F-53EB-BC2B1B6CD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11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5C166-3163-C0BB-0B5E-A60433A07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8343-21BC-17F6-D79A-F8EF5B15B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3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47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220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263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6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8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076283-46FE-75A6-72E4-8CE13BC3D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6B11F8-0795-6902-0730-FC53F014C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6464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EECS 489 – Lecture 14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97EC8AD-C9B9-C2A9-BCD1-F1E8E706B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836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0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dr-report.org/as2.0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://tools.ietf.org/html/rfc4271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://queue.acm.org/detail.cfm?id=2668966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bgpstream.com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Patri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ck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Lee,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13: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Network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Layer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–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br>
              <a:rPr lang="en-HK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</a:b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Inter-domain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Routing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 and terminology</a:t>
            </a:r>
            <a:endParaRPr lang="en-US" dirty="0"/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98" name="Picture 9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8003" y="2359424"/>
            <a:ext cx="417443" cy="640080"/>
          </a:xfrm>
          <a:prstGeom prst="rect">
            <a:avLst/>
          </a:prstGeom>
        </p:spPr>
      </p:pic>
      <p:sp>
        <p:nvSpPr>
          <p:cNvPr id="4" name="Cloud 3"/>
          <p:cNvSpPr/>
          <p:nvPr/>
        </p:nvSpPr>
        <p:spPr bwMode="auto">
          <a:xfrm>
            <a:off x="2895600" y="3886200"/>
            <a:ext cx="2133600" cy="16002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Cloud 11"/>
          <p:cNvSpPr/>
          <p:nvPr/>
        </p:nvSpPr>
        <p:spPr bwMode="auto">
          <a:xfrm>
            <a:off x="1600200" y="2133600"/>
            <a:ext cx="2133600" cy="1600200"/>
          </a:xfrm>
          <a:prstGeom prst="cloud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Cloud 12"/>
          <p:cNvSpPr/>
          <p:nvPr/>
        </p:nvSpPr>
        <p:spPr bwMode="auto">
          <a:xfrm>
            <a:off x="5638800" y="2971800"/>
            <a:ext cx="2133600" cy="1600200"/>
          </a:xfrm>
          <a:prstGeom prst="cloud">
            <a:avLst/>
          </a:prstGeom>
          <a:solidFill>
            <a:schemeClr val="accent1">
              <a:lumMod val="9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Cube 10"/>
          <p:cNvSpPr/>
          <p:nvPr/>
        </p:nvSpPr>
        <p:spPr bwMode="auto">
          <a:xfrm>
            <a:off x="1524000" y="2895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7" name="Cube 16"/>
          <p:cNvSpPr/>
          <p:nvPr/>
        </p:nvSpPr>
        <p:spPr bwMode="auto">
          <a:xfrm>
            <a:off x="2514600" y="2895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8" name="Cube 17"/>
          <p:cNvSpPr/>
          <p:nvPr/>
        </p:nvSpPr>
        <p:spPr bwMode="auto">
          <a:xfrm>
            <a:off x="3276600" y="2514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9" name="Cube 18"/>
          <p:cNvSpPr/>
          <p:nvPr/>
        </p:nvSpPr>
        <p:spPr bwMode="auto">
          <a:xfrm>
            <a:off x="3124200" y="3276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0" name="Cube 19"/>
          <p:cNvSpPr/>
          <p:nvPr/>
        </p:nvSpPr>
        <p:spPr bwMode="auto">
          <a:xfrm>
            <a:off x="2209800" y="34290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1" name="Cube 20"/>
          <p:cNvSpPr/>
          <p:nvPr/>
        </p:nvSpPr>
        <p:spPr bwMode="auto">
          <a:xfrm>
            <a:off x="2895600" y="46482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Cube 21"/>
          <p:cNvSpPr/>
          <p:nvPr/>
        </p:nvSpPr>
        <p:spPr bwMode="auto">
          <a:xfrm>
            <a:off x="3124200" y="4038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Cube 22"/>
          <p:cNvSpPr/>
          <p:nvPr/>
        </p:nvSpPr>
        <p:spPr bwMode="auto">
          <a:xfrm>
            <a:off x="4572000" y="4038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4" name="Cube 23"/>
          <p:cNvSpPr/>
          <p:nvPr/>
        </p:nvSpPr>
        <p:spPr bwMode="auto">
          <a:xfrm>
            <a:off x="3429000" y="51054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5" name="Cube 24"/>
          <p:cNvSpPr/>
          <p:nvPr/>
        </p:nvSpPr>
        <p:spPr bwMode="auto">
          <a:xfrm>
            <a:off x="4343400" y="49530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6" name="Cube 25"/>
          <p:cNvSpPr/>
          <p:nvPr/>
        </p:nvSpPr>
        <p:spPr bwMode="auto">
          <a:xfrm>
            <a:off x="5638800" y="3657600"/>
            <a:ext cx="381000" cy="228600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7" name="Cube 26"/>
          <p:cNvSpPr/>
          <p:nvPr/>
        </p:nvSpPr>
        <p:spPr bwMode="auto">
          <a:xfrm>
            <a:off x="6096000" y="32004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8" name="Cube 27"/>
          <p:cNvSpPr/>
          <p:nvPr/>
        </p:nvSpPr>
        <p:spPr bwMode="auto">
          <a:xfrm>
            <a:off x="7391400" y="3657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9" name="Cube 28"/>
          <p:cNvSpPr/>
          <p:nvPr/>
        </p:nvSpPr>
        <p:spPr bwMode="auto">
          <a:xfrm>
            <a:off x="6400800" y="42672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0" name="Cube 29"/>
          <p:cNvSpPr/>
          <p:nvPr/>
        </p:nvSpPr>
        <p:spPr bwMode="auto">
          <a:xfrm>
            <a:off x="6858000" y="32004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1" name="Cube 30"/>
          <p:cNvSpPr/>
          <p:nvPr/>
        </p:nvSpPr>
        <p:spPr bwMode="auto">
          <a:xfrm>
            <a:off x="3810000" y="44196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2" name="Cube 31"/>
          <p:cNvSpPr/>
          <p:nvPr/>
        </p:nvSpPr>
        <p:spPr bwMode="auto">
          <a:xfrm>
            <a:off x="2667000" y="2362200"/>
            <a:ext cx="381000" cy="228600"/>
          </a:xfrm>
          <a:prstGeom prst="cube">
            <a:avLst/>
          </a:prstGeom>
          <a:solidFill>
            <a:srgbClr val="3366FF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33" name="Straight Connector 32"/>
          <p:cNvCxnSpPr/>
          <p:nvPr/>
        </p:nvCxnSpPr>
        <p:spPr bwMode="auto">
          <a:xfrm>
            <a:off x="1066800" y="3036910"/>
            <a:ext cx="394789" cy="156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/>
          <p:cNvCxnSpPr/>
          <p:nvPr/>
        </p:nvCxnSpPr>
        <p:spPr bwMode="auto">
          <a:xfrm>
            <a:off x="3657600" y="2665435"/>
            <a:ext cx="394789" cy="156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/>
          <p:nvPr/>
        </p:nvCxnSpPr>
        <p:spPr bwMode="auto">
          <a:xfrm>
            <a:off x="7696200" y="3733800"/>
            <a:ext cx="394789" cy="156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/>
          <p:cNvCxnSpPr/>
          <p:nvPr/>
        </p:nvCxnSpPr>
        <p:spPr bwMode="auto">
          <a:xfrm>
            <a:off x="2438400" y="4799035"/>
            <a:ext cx="394789" cy="156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Straight Connector 41"/>
          <p:cNvCxnSpPr>
            <a:stCxn id="11" idx="5"/>
            <a:endCxn id="32" idx="2"/>
          </p:cNvCxnSpPr>
          <p:nvPr/>
        </p:nvCxnSpPr>
        <p:spPr bwMode="auto">
          <a:xfrm flipV="1">
            <a:off x="1905000" y="2505075"/>
            <a:ext cx="762000" cy="4762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/>
          <p:cNvCxnSpPr>
            <a:stCxn id="18" idx="3"/>
            <a:endCxn id="19" idx="0"/>
          </p:cNvCxnSpPr>
          <p:nvPr/>
        </p:nvCxnSpPr>
        <p:spPr bwMode="auto">
          <a:xfrm flipH="1">
            <a:off x="3343275" y="2743200"/>
            <a:ext cx="95250" cy="5334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/>
          <p:cNvCxnSpPr>
            <a:endCxn id="20" idx="2"/>
          </p:cNvCxnSpPr>
          <p:nvPr/>
        </p:nvCxnSpPr>
        <p:spPr bwMode="auto">
          <a:xfrm>
            <a:off x="1828800" y="3124200"/>
            <a:ext cx="381000" cy="4476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/>
          <p:cNvCxnSpPr>
            <a:stCxn id="17" idx="3"/>
            <a:endCxn id="20" idx="0"/>
          </p:cNvCxnSpPr>
          <p:nvPr/>
        </p:nvCxnSpPr>
        <p:spPr bwMode="auto">
          <a:xfrm flipH="1">
            <a:off x="2428875" y="3124200"/>
            <a:ext cx="247650" cy="304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/>
          <p:cNvCxnSpPr>
            <a:stCxn id="20" idx="5"/>
            <a:endCxn id="19" idx="2"/>
          </p:cNvCxnSpPr>
          <p:nvPr/>
        </p:nvCxnSpPr>
        <p:spPr bwMode="auto">
          <a:xfrm flipV="1">
            <a:off x="2590800" y="3419475"/>
            <a:ext cx="533400" cy="952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>
            <a:stCxn id="18" idx="2"/>
          </p:cNvCxnSpPr>
          <p:nvPr/>
        </p:nvCxnSpPr>
        <p:spPr bwMode="auto">
          <a:xfrm flipH="1" flipV="1">
            <a:off x="3048000" y="2514600"/>
            <a:ext cx="228600" cy="1428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Straight Connector 62"/>
          <p:cNvCxnSpPr>
            <a:stCxn id="32" idx="3"/>
            <a:endCxn id="17" idx="0"/>
          </p:cNvCxnSpPr>
          <p:nvPr/>
        </p:nvCxnSpPr>
        <p:spPr bwMode="auto">
          <a:xfrm flipH="1">
            <a:off x="2733675" y="2590800"/>
            <a:ext cx="95250" cy="304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/>
          <p:cNvCxnSpPr>
            <a:stCxn id="19" idx="3"/>
          </p:cNvCxnSpPr>
          <p:nvPr/>
        </p:nvCxnSpPr>
        <p:spPr bwMode="auto">
          <a:xfrm flipH="1">
            <a:off x="3276600" y="3505200"/>
            <a:ext cx="9525" cy="5143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31" idx="1"/>
          </p:cNvCxnSpPr>
          <p:nvPr/>
        </p:nvCxnSpPr>
        <p:spPr bwMode="auto">
          <a:xfrm flipH="1" flipV="1">
            <a:off x="3429001" y="4171950"/>
            <a:ext cx="542924" cy="304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Straight Connector 75"/>
          <p:cNvCxnSpPr>
            <a:stCxn id="21" idx="0"/>
            <a:endCxn id="22" idx="3"/>
          </p:cNvCxnSpPr>
          <p:nvPr/>
        </p:nvCxnSpPr>
        <p:spPr bwMode="auto">
          <a:xfrm flipV="1">
            <a:off x="3114675" y="4267200"/>
            <a:ext cx="171450" cy="381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Straight Connector 78"/>
          <p:cNvCxnSpPr>
            <a:endCxn id="24" idx="0"/>
          </p:cNvCxnSpPr>
          <p:nvPr/>
        </p:nvCxnSpPr>
        <p:spPr bwMode="auto">
          <a:xfrm>
            <a:off x="3267075" y="4800600"/>
            <a:ext cx="381000" cy="304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Straight Connector 80"/>
          <p:cNvCxnSpPr>
            <a:endCxn id="25" idx="0"/>
          </p:cNvCxnSpPr>
          <p:nvPr/>
        </p:nvCxnSpPr>
        <p:spPr bwMode="auto">
          <a:xfrm flipH="1">
            <a:off x="4562475" y="4267200"/>
            <a:ext cx="161926" cy="6858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stCxn id="23" idx="2"/>
            <a:endCxn id="31" idx="5"/>
          </p:cNvCxnSpPr>
          <p:nvPr/>
        </p:nvCxnSpPr>
        <p:spPr bwMode="auto">
          <a:xfrm flipH="1">
            <a:off x="4191000" y="4181475"/>
            <a:ext cx="381000" cy="3238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Straight Connector 86"/>
          <p:cNvCxnSpPr>
            <a:stCxn id="24" idx="4"/>
            <a:endCxn id="25" idx="2"/>
          </p:cNvCxnSpPr>
          <p:nvPr/>
        </p:nvCxnSpPr>
        <p:spPr bwMode="auto">
          <a:xfrm flipV="1">
            <a:off x="3752850" y="5095875"/>
            <a:ext cx="590550" cy="1524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stCxn id="24" idx="0"/>
            <a:endCxn id="31" idx="3"/>
          </p:cNvCxnSpPr>
          <p:nvPr/>
        </p:nvCxnSpPr>
        <p:spPr bwMode="auto">
          <a:xfrm flipV="1">
            <a:off x="3648075" y="4648200"/>
            <a:ext cx="323850" cy="4572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>
            <a:stCxn id="26" idx="2"/>
          </p:cNvCxnSpPr>
          <p:nvPr/>
        </p:nvCxnSpPr>
        <p:spPr bwMode="auto">
          <a:xfrm flipH="1">
            <a:off x="4953000" y="3800475"/>
            <a:ext cx="685800" cy="31432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Straight Connector 95"/>
          <p:cNvCxnSpPr>
            <a:stCxn id="26" idx="3"/>
            <a:endCxn id="29" idx="2"/>
          </p:cNvCxnSpPr>
          <p:nvPr/>
        </p:nvCxnSpPr>
        <p:spPr bwMode="auto">
          <a:xfrm>
            <a:off x="5800725" y="3886200"/>
            <a:ext cx="600075" cy="5238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9" name="Straight Connector 98"/>
          <p:cNvCxnSpPr>
            <a:stCxn id="28" idx="3"/>
            <a:endCxn id="29" idx="4"/>
          </p:cNvCxnSpPr>
          <p:nvPr/>
        </p:nvCxnSpPr>
        <p:spPr bwMode="auto">
          <a:xfrm flipH="1">
            <a:off x="6724650" y="3886200"/>
            <a:ext cx="828675" cy="5238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Straight Connector 101"/>
          <p:cNvCxnSpPr>
            <a:stCxn id="30" idx="2"/>
            <a:endCxn id="27" idx="5"/>
          </p:cNvCxnSpPr>
          <p:nvPr/>
        </p:nvCxnSpPr>
        <p:spPr bwMode="auto">
          <a:xfrm flipH="1" flipV="1">
            <a:off x="6477000" y="3286125"/>
            <a:ext cx="381000" cy="5715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5" name="Straight Connector 104"/>
          <p:cNvCxnSpPr>
            <a:stCxn id="27" idx="3"/>
            <a:endCxn id="26" idx="5"/>
          </p:cNvCxnSpPr>
          <p:nvPr/>
        </p:nvCxnSpPr>
        <p:spPr bwMode="auto">
          <a:xfrm flipH="1">
            <a:off x="6019800" y="3429000"/>
            <a:ext cx="238125" cy="31432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9" name="Straight Connector 108"/>
          <p:cNvCxnSpPr>
            <a:stCxn id="28" idx="1"/>
            <a:endCxn id="30" idx="4"/>
          </p:cNvCxnSpPr>
          <p:nvPr/>
        </p:nvCxnSpPr>
        <p:spPr bwMode="auto">
          <a:xfrm flipH="1" flipV="1">
            <a:off x="7181850" y="3343275"/>
            <a:ext cx="371475" cy="3714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1" name="Straight Connector 110"/>
          <p:cNvCxnSpPr>
            <a:stCxn id="29" idx="0"/>
            <a:endCxn id="30" idx="3"/>
          </p:cNvCxnSpPr>
          <p:nvPr/>
        </p:nvCxnSpPr>
        <p:spPr bwMode="auto">
          <a:xfrm flipV="1">
            <a:off x="6619875" y="3429000"/>
            <a:ext cx="400050" cy="8382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Straight Connector 115"/>
          <p:cNvCxnSpPr/>
          <p:nvPr/>
        </p:nvCxnSpPr>
        <p:spPr bwMode="auto">
          <a:xfrm flipH="1" flipV="1">
            <a:off x="6553200" y="4549820"/>
            <a:ext cx="6895" cy="32698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3" name="Rounded Rectangle 72"/>
          <p:cNvSpPr/>
          <p:nvPr/>
        </p:nvSpPr>
        <p:spPr bwMode="auto">
          <a:xfrm>
            <a:off x="6096000" y="1524000"/>
            <a:ext cx="2133600" cy="121920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“End hosts”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0" dirty="0">
                <a:solidFill>
                  <a:schemeClr val="bg1"/>
                </a:solidFill>
              </a:rPr>
              <a:t>“Clients”, “Users”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“End points”</a:t>
            </a:r>
          </a:p>
        </p:txBody>
      </p:sp>
      <p:sp>
        <p:nvSpPr>
          <p:cNvPr id="123" name="Rounded Rectangle 122"/>
          <p:cNvSpPr/>
          <p:nvPr/>
        </p:nvSpPr>
        <p:spPr bwMode="auto">
          <a:xfrm>
            <a:off x="5486400" y="5707008"/>
            <a:ext cx="2743200" cy="609600"/>
          </a:xfrm>
          <a:prstGeom prst="roundRect">
            <a:avLst/>
          </a:prstGeom>
          <a:solidFill>
            <a:srgbClr val="0000FF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“Interior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Routers”</a:t>
            </a:r>
          </a:p>
        </p:txBody>
      </p:sp>
      <p:sp>
        <p:nvSpPr>
          <p:cNvPr id="125" name="Rounded Rectangle 124"/>
          <p:cNvSpPr/>
          <p:nvPr/>
        </p:nvSpPr>
        <p:spPr bwMode="auto">
          <a:xfrm>
            <a:off x="369849" y="266700"/>
            <a:ext cx="7620000" cy="94141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“Autonomous </a:t>
            </a:r>
            <a:r>
              <a:rPr lang="en-US" sz="2000" b="0" dirty="0">
                <a:solidFill>
                  <a:schemeClr val="bg1"/>
                </a:solidFill>
              </a:rPr>
              <a:t>System (AS)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” or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“Domain”</a:t>
            </a:r>
            <a:br>
              <a:rPr lang="en-US" sz="2000" b="0" dirty="0">
                <a:solidFill>
                  <a:schemeClr val="bg1"/>
                </a:solidFill>
              </a:rPr>
            </a:br>
            <a:r>
              <a:rPr lang="en-US" sz="2000" b="0" dirty="0">
                <a:solidFill>
                  <a:schemeClr val="bg1"/>
                </a:solidFill>
              </a:rPr>
              <a:t>Region of a network under a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single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administrative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entity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3" name="Oval 2"/>
          <p:cNvSpPr/>
          <p:nvPr/>
        </p:nvSpPr>
        <p:spPr bwMode="auto">
          <a:xfrm>
            <a:off x="228600" y="2667000"/>
            <a:ext cx="1219200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4" name="Oval 63"/>
          <p:cNvSpPr/>
          <p:nvPr/>
        </p:nvSpPr>
        <p:spPr bwMode="auto">
          <a:xfrm>
            <a:off x="3771900" y="2219325"/>
            <a:ext cx="1219200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5" name="Oval 64"/>
          <p:cNvSpPr/>
          <p:nvPr/>
        </p:nvSpPr>
        <p:spPr bwMode="auto">
          <a:xfrm>
            <a:off x="7859751" y="3352800"/>
            <a:ext cx="945606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6" name="Oval 65"/>
          <p:cNvSpPr/>
          <p:nvPr/>
        </p:nvSpPr>
        <p:spPr bwMode="auto">
          <a:xfrm>
            <a:off x="1600200" y="4419600"/>
            <a:ext cx="1219200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7" name="Oval 66"/>
          <p:cNvSpPr/>
          <p:nvPr/>
        </p:nvSpPr>
        <p:spPr bwMode="auto">
          <a:xfrm>
            <a:off x="5934307" y="4781550"/>
            <a:ext cx="1219200" cy="838200"/>
          </a:xfrm>
          <a:prstGeom prst="ellipse">
            <a:avLst/>
          </a:prstGeom>
          <a:noFill/>
          <a:ln w="1905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68" name="Oval 67"/>
          <p:cNvSpPr/>
          <p:nvPr/>
        </p:nvSpPr>
        <p:spPr bwMode="auto">
          <a:xfrm>
            <a:off x="4267200" y="3886200"/>
            <a:ext cx="838200" cy="609600"/>
          </a:xfrm>
          <a:prstGeom prst="ellipse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70" name="Oval 69"/>
          <p:cNvSpPr/>
          <p:nvPr/>
        </p:nvSpPr>
        <p:spPr bwMode="auto">
          <a:xfrm>
            <a:off x="5410200" y="3505200"/>
            <a:ext cx="838200" cy="609600"/>
          </a:xfrm>
          <a:prstGeom prst="ellipse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71" name="Oval 70"/>
          <p:cNvSpPr/>
          <p:nvPr/>
        </p:nvSpPr>
        <p:spPr bwMode="auto">
          <a:xfrm>
            <a:off x="2895600" y="3048000"/>
            <a:ext cx="838200" cy="609600"/>
          </a:xfrm>
          <a:prstGeom prst="ellipse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sp>
        <p:nvSpPr>
          <p:cNvPr id="72" name="Oval 71"/>
          <p:cNvSpPr/>
          <p:nvPr/>
        </p:nvSpPr>
        <p:spPr bwMode="auto">
          <a:xfrm>
            <a:off x="2895600" y="3886200"/>
            <a:ext cx="838200" cy="609600"/>
          </a:xfrm>
          <a:prstGeom prst="ellipse">
            <a:avLst/>
          </a:prstGeom>
          <a:noFill/>
          <a:ln w="19050" cap="flat" cmpd="sng" algn="ctr">
            <a:solidFill>
              <a:srgbClr val="D3A6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Courier New" charset="0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2438400" y="1208110"/>
            <a:ext cx="3505200" cy="2769583"/>
            <a:chOff x="2438400" y="1295400"/>
            <a:chExt cx="3505200" cy="2679311"/>
          </a:xfrm>
        </p:grpSpPr>
        <p:cxnSp>
          <p:nvCxnSpPr>
            <p:cNvPr id="15" name="Straight Arrow Connector 14"/>
            <p:cNvCxnSpPr/>
            <p:nvPr/>
          </p:nvCxnSpPr>
          <p:spPr bwMode="auto">
            <a:xfrm>
              <a:off x="2438400" y="1295400"/>
              <a:ext cx="76200" cy="914400"/>
            </a:xfrm>
            <a:prstGeom prst="straightConnector1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75" name="Straight Arrow Connector 74"/>
            <p:cNvCxnSpPr>
              <a:endCxn id="4" idx="3"/>
            </p:cNvCxnSpPr>
            <p:nvPr/>
          </p:nvCxnSpPr>
          <p:spPr bwMode="auto">
            <a:xfrm>
              <a:off x="3962400" y="1295400"/>
              <a:ext cx="0" cy="2679311"/>
            </a:xfrm>
            <a:prstGeom prst="straightConnector1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77" name="Straight Arrow Connector 76"/>
            <p:cNvCxnSpPr/>
            <p:nvPr/>
          </p:nvCxnSpPr>
          <p:spPr bwMode="auto">
            <a:xfrm>
              <a:off x="4485446" y="1295400"/>
              <a:ext cx="1458154" cy="2057399"/>
            </a:xfrm>
            <a:prstGeom prst="straightConnector1">
              <a:avLst/>
            </a:prstGeom>
            <a:noFill/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41" name="Group 40"/>
          <p:cNvGrpSpPr/>
          <p:nvPr/>
        </p:nvGrpSpPr>
        <p:grpSpPr>
          <a:xfrm>
            <a:off x="1371600" y="2667000"/>
            <a:ext cx="6019800" cy="2667000"/>
            <a:chOff x="1371600" y="2667000"/>
            <a:chExt cx="6019800" cy="2667000"/>
          </a:xfrm>
        </p:grpSpPr>
        <p:sp>
          <p:nvSpPr>
            <p:cNvPr id="80" name="Oval 79"/>
            <p:cNvSpPr/>
            <p:nvPr/>
          </p:nvSpPr>
          <p:spPr bwMode="auto">
            <a:xfrm>
              <a:off x="1371600" y="26670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2" name="Oval 81"/>
            <p:cNvSpPr/>
            <p:nvPr/>
          </p:nvSpPr>
          <p:spPr bwMode="auto">
            <a:xfrm>
              <a:off x="3581400" y="4267200"/>
              <a:ext cx="838200" cy="6096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3" name="Oval 82"/>
            <p:cNvSpPr/>
            <p:nvPr/>
          </p:nvSpPr>
          <p:spPr bwMode="auto">
            <a:xfrm>
              <a:off x="2362200" y="26670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5" name="Oval 84"/>
            <p:cNvSpPr/>
            <p:nvPr/>
          </p:nvSpPr>
          <p:spPr bwMode="auto">
            <a:xfrm>
              <a:off x="4191000" y="48006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6" name="Oval 85"/>
            <p:cNvSpPr/>
            <p:nvPr/>
          </p:nvSpPr>
          <p:spPr bwMode="auto">
            <a:xfrm>
              <a:off x="6705600" y="30480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  <p:sp>
          <p:nvSpPr>
            <p:cNvPr id="88" name="Oval 87"/>
            <p:cNvSpPr/>
            <p:nvPr/>
          </p:nvSpPr>
          <p:spPr bwMode="auto">
            <a:xfrm>
              <a:off x="6248400" y="4114800"/>
              <a:ext cx="685800" cy="533400"/>
            </a:xfrm>
            <a:prstGeom prst="ellipse">
              <a:avLst/>
            </a:prstGeom>
            <a:noFill/>
            <a:ln w="19050" cap="flat" cmpd="sng" algn="ctr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urier New" charset="0"/>
              </a:endParaRPr>
            </a:p>
          </p:txBody>
        </p:sp>
      </p:grpSp>
      <p:sp>
        <p:nvSpPr>
          <p:cNvPr id="91" name="Freeform 90"/>
          <p:cNvSpPr/>
          <p:nvPr/>
        </p:nvSpPr>
        <p:spPr>
          <a:xfrm>
            <a:off x="1064110" y="3266204"/>
            <a:ext cx="5565290" cy="1610596"/>
          </a:xfrm>
          <a:custGeom>
            <a:avLst/>
            <a:gdLst>
              <a:gd name="connsiteX0" fmla="*/ 0 w 5565290"/>
              <a:gd name="connsiteY0" fmla="*/ 11246 h 1610596"/>
              <a:gd name="connsiteX1" fmla="*/ 564396 w 5565290"/>
              <a:gd name="connsiteY1" fmla="*/ 42605 h 1610596"/>
              <a:gd name="connsiteX2" fmla="*/ 1285569 w 5565290"/>
              <a:gd name="connsiteY2" fmla="*/ 356204 h 1610596"/>
              <a:gd name="connsiteX3" fmla="*/ 2194874 w 5565290"/>
              <a:gd name="connsiteY3" fmla="*/ 356204 h 1610596"/>
              <a:gd name="connsiteX4" fmla="*/ 2257584 w 5565290"/>
              <a:gd name="connsiteY4" fmla="*/ 936360 h 1610596"/>
              <a:gd name="connsiteX5" fmla="*/ 2931724 w 5565290"/>
              <a:gd name="connsiteY5" fmla="*/ 1281318 h 1610596"/>
              <a:gd name="connsiteX6" fmla="*/ 3652897 w 5565290"/>
              <a:gd name="connsiteY6" fmla="*/ 1030440 h 1610596"/>
              <a:gd name="connsiteX7" fmla="*/ 4734656 w 5565290"/>
              <a:gd name="connsiteY7" fmla="*/ 560042 h 1610596"/>
              <a:gd name="connsiteX8" fmla="*/ 5502862 w 5565290"/>
              <a:gd name="connsiteY8" fmla="*/ 1296998 h 1610596"/>
              <a:gd name="connsiteX9" fmla="*/ 5518539 w 5565290"/>
              <a:gd name="connsiteY9" fmla="*/ 1610596 h 1610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565290" h="1610596">
                <a:moveTo>
                  <a:pt x="0" y="11246"/>
                </a:moveTo>
                <a:cubicBezTo>
                  <a:pt x="175067" y="-1821"/>
                  <a:pt x="350135" y="-14888"/>
                  <a:pt x="564396" y="42605"/>
                </a:cubicBezTo>
                <a:cubicBezTo>
                  <a:pt x="778657" y="100098"/>
                  <a:pt x="1013823" y="303938"/>
                  <a:pt x="1285569" y="356204"/>
                </a:cubicBezTo>
                <a:cubicBezTo>
                  <a:pt x="1557315" y="408471"/>
                  <a:pt x="2032872" y="259511"/>
                  <a:pt x="2194874" y="356204"/>
                </a:cubicBezTo>
                <a:cubicBezTo>
                  <a:pt x="2356876" y="452897"/>
                  <a:pt x="2134776" y="782174"/>
                  <a:pt x="2257584" y="936360"/>
                </a:cubicBezTo>
                <a:cubicBezTo>
                  <a:pt x="2380392" y="1090546"/>
                  <a:pt x="2699172" y="1265638"/>
                  <a:pt x="2931724" y="1281318"/>
                </a:cubicBezTo>
                <a:cubicBezTo>
                  <a:pt x="3164276" y="1296998"/>
                  <a:pt x="3352408" y="1150653"/>
                  <a:pt x="3652897" y="1030440"/>
                </a:cubicBezTo>
                <a:cubicBezTo>
                  <a:pt x="3953386" y="910227"/>
                  <a:pt x="4426329" y="515616"/>
                  <a:pt x="4734656" y="560042"/>
                </a:cubicBezTo>
                <a:cubicBezTo>
                  <a:pt x="5042983" y="604468"/>
                  <a:pt x="5372215" y="1121906"/>
                  <a:pt x="5502862" y="1296998"/>
                </a:cubicBezTo>
                <a:cubicBezTo>
                  <a:pt x="5633509" y="1472090"/>
                  <a:pt x="5518539" y="1610596"/>
                  <a:pt x="5518539" y="1610596"/>
                </a:cubicBezTo>
              </a:path>
            </a:pathLst>
          </a:custGeom>
          <a:ln w="38100" cmpd="sng">
            <a:solidFill>
              <a:srgbClr val="008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2" name="Rounded Rectangle 91"/>
          <p:cNvSpPr/>
          <p:nvPr/>
        </p:nvSpPr>
        <p:spPr bwMode="auto">
          <a:xfrm>
            <a:off x="762000" y="3810000"/>
            <a:ext cx="2133600" cy="609600"/>
          </a:xfrm>
          <a:prstGeom prst="roundRect">
            <a:avLst/>
          </a:prstGeom>
          <a:solidFill>
            <a:srgbClr val="008000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“Route” or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“Path”</a:t>
            </a:r>
          </a:p>
        </p:txBody>
      </p:sp>
      <p:sp>
        <p:nvSpPr>
          <p:cNvPr id="124" name="Rounded Rectangle 123"/>
          <p:cNvSpPr/>
          <p:nvPr/>
        </p:nvSpPr>
        <p:spPr bwMode="auto">
          <a:xfrm>
            <a:off x="1371600" y="5553075"/>
            <a:ext cx="2743200" cy="609600"/>
          </a:xfrm>
          <a:prstGeom prst="roundRect">
            <a:avLst/>
          </a:prstGeom>
          <a:solidFill>
            <a:srgbClr val="D3A600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“Border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Routers”</a:t>
            </a:r>
          </a:p>
        </p:txBody>
      </p:sp>
      <p:pic>
        <p:nvPicPr>
          <p:cNvPr id="94" name="Picture 9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7200" y="3465311"/>
            <a:ext cx="417443" cy="640080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64357" y="4899660"/>
            <a:ext cx="417443" cy="640080"/>
          </a:xfrm>
          <a:prstGeom prst="rect">
            <a:avLst/>
          </a:prstGeom>
        </p:spPr>
      </p:pic>
      <p:pic>
        <p:nvPicPr>
          <p:cNvPr id="97" name="Picture 9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10603" y="4478995"/>
            <a:ext cx="417443" cy="640080"/>
          </a:xfrm>
          <a:prstGeom prst="rect">
            <a:avLst/>
          </a:prstGeom>
        </p:spPr>
      </p:pic>
      <p:pic>
        <p:nvPicPr>
          <p:cNvPr id="100" name="Picture 9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942" y="2778884"/>
            <a:ext cx="417443" cy="640080"/>
          </a:xfrm>
          <a:prstGeom prst="rect">
            <a:avLst/>
          </a:prstGeom>
        </p:spPr>
      </p:pic>
      <p:cxnSp>
        <p:nvCxnSpPr>
          <p:cNvPr id="101" name="Straight Connector 100"/>
          <p:cNvCxnSpPr>
            <a:stCxn id="31" idx="3"/>
          </p:cNvCxnSpPr>
          <p:nvPr/>
        </p:nvCxnSpPr>
        <p:spPr bwMode="auto">
          <a:xfrm>
            <a:off x="3971925" y="4648200"/>
            <a:ext cx="371475" cy="4476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46553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3" grpId="1" animBg="1"/>
      <p:bldP spid="123" grpId="0" animBg="1"/>
      <p:bldP spid="123" grpId="1" animBg="1"/>
      <p:bldP spid="125" grpId="0" animBg="1"/>
      <p:bldP spid="125" grpId="1" animBg="1"/>
      <p:bldP spid="3" grpId="0" animBg="1"/>
      <p:bldP spid="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  <p:bldP spid="91" grpId="0" animBg="1"/>
      <p:bldP spid="92" grpId="0" animBg="1"/>
      <p:bldP spid="124" grpId="0" animBg="1"/>
      <p:bldP spid="12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AS-level Internet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947716"/>
            <a:ext cx="7315200" cy="34544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57937" y="5571359"/>
            <a:ext cx="46281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Internet Inter-Domain Traffic, SIGCOMM, 2010</a:t>
            </a:r>
          </a:p>
        </p:txBody>
      </p:sp>
    </p:spTree>
    <p:extLst>
      <p:ext uri="{BB962C8B-B14F-4D97-AF65-F5344CB8AC3E}">
        <p14:creationId xmlns:p14="http://schemas.microsoft.com/office/powerpoint/2010/main" val="2056896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Autonomous systems (AS) </a:t>
            </a:r>
          </a:p>
        </p:txBody>
      </p:sp>
      <p:sp>
        <p:nvSpPr>
          <p:cNvPr id="1800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AS is a network under a single administrative control </a:t>
            </a:r>
          </a:p>
          <a:p>
            <a:pPr lvl="1"/>
            <a:r>
              <a:rPr lang="en-US" dirty="0"/>
              <a:t>Currently over 70,000 ASes</a:t>
            </a:r>
          </a:p>
          <a:p>
            <a:pPr lvl="1"/>
            <a:r>
              <a:rPr lang="en-US" dirty="0"/>
              <a:t>Updated daily at </a:t>
            </a:r>
            <a:r>
              <a:rPr lang="en-US" dirty="0">
                <a:hlinkClick r:id="rId3"/>
              </a:rPr>
              <a:t>https://www.cidr-report.org/as2.0/</a:t>
            </a:r>
            <a:endParaRPr lang="en-US" dirty="0"/>
          </a:p>
          <a:p>
            <a:r>
              <a:rPr lang="en-US" dirty="0"/>
              <a:t>ASes are sometimes called </a:t>
            </a:r>
            <a:r>
              <a:rPr lang="ja-JP" altLang="en-US" dirty="0"/>
              <a:t>“</a:t>
            </a:r>
            <a:r>
              <a:rPr lang="en-US" dirty="0"/>
              <a:t>domains</a:t>
            </a:r>
            <a:r>
              <a:rPr lang="ja-JP" altLang="en-US" dirty="0"/>
              <a:t>”</a:t>
            </a:r>
            <a:r>
              <a:rPr lang="en-US" altLang="ja-JP" dirty="0"/>
              <a:t> </a:t>
            </a:r>
            <a:endParaRPr lang="en-US" dirty="0"/>
          </a:p>
          <a:p>
            <a:r>
              <a:rPr lang="en-US" dirty="0"/>
              <a:t>Each AS is assigned a unique identifier (ASN)</a:t>
            </a:r>
          </a:p>
          <a:p>
            <a:pPr lvl="1"/>
            <a:r>
              <a:rPr lang="en-US" dirty="0"/>
              <a:t>E.g., CUHK</a:t>
            </a:r>
            <a:r>
              <a:rPr lang="zh-CN" altLang="en-US" dirty="0"/>
              <a:t> </a:t>
            </a:r>
            <a:r>
              <a:rPr lang="en-US" dirty="0"/>
              <a:t>owns ASN </a:t>
            </a:r>
            <a:r>
              <a:rPr lang="en-US" altLang="zh-CN" dirty="0"/>
              <a:t>3661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7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019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“Intra-domain” routing: </a:t>
            </a:r>
            <a:br>
              <a:rPr lang="en-US" dirty="0"/>
            </a:br>
            <a:r>
              <a:rPr lang="en-US" dirty="0"/>
              <a:t>Within an 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Link-State (e.g., OSPF) and Distance-Vector (e.g., RIP)</a:t>
            </a:r>
          </a:p>
          <a:p>
            <a:r>
              <a:rPr lang="en-US" dirty="0"/>
              <a:t>Primary focus</a:t>
            </a:r>
          </a:p>
          <a:p>
            <a:pPr lvl="1"/>
            <a:r>
              <a:rPr lang="en-US" dirty="0"/>
              <a:t>Finding least-cost paths</a:t>
            </a:r>
          </a:p>
          <a:p>
            <a:pPr lvl="1"/>
            <a:r>
              <a:rPr lang="en-US" dirty="0"/>
              <a:t>Fast convergence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40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“Inter-domain” routing:</a:t>
            </a:r>
            <a:br>
              <a:rPr lang="en-US" dirty="0"/>
            </a:br>
            <a:r>
              <a:rPr lang="en-US" dirty="0"/>
              <a:t>Between 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key challenges</a:t>
            </a:r>
          </a:p>
          <a:p>
            <a:pPr lvl="1"/>
            <a:r>
              <a:rPr lang="en-US" dirty="0"/>
              <a:t>Scaling</a:t>
            </a:r>
          </a:p>
          <a:p>
            <a:pPr lvl="1"/>
            <a:r>
              <a:rPr lang="en-US" dirty="0"/>
              <a:t>Administrative structure </a:t>
            </a:r>
          </a:p>
          <a:p>
            <a:pPr lvl="2"/>
            <a:r>
              <a:rPr lang="en-US" dirty="0"/>
              <a:t>Issues of autonomy, policy, privacy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27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Addressing (so far)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r>
              <a:rPr lang="en-US" dirty="0"/>
              <a:t>Each host has a unique ID</a:t>
            </a:r>
          </a:p>
          <a:p>
            <a:r>
              <a:rPr lang="en-US" dirty="0">
                <a:solidFill>
                  <a:srgbClr val="0000FF"/>
                </a:solidFill>
              </a:rPr>
              <a:t>No particular structure</a:t>
            </a:r>
            <a:r>
              <a:rPr lang="en-US" dirty="0"/>
              <a:t> to those IDs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9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Forwarding</a:t>
            </a:r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2" name="Cube 21"/>
          <p:cNvSpPr/>
          <p:nvPr/>
        </p:nvSpPr>
        <p:spPr bwMode="auto">
          <a:xfrm>
            <a:off x="2505374" y="3330844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3" name="Cube 22"/>
          <p:cNvSpPr/>
          <p:nvPr/>
        </p:nvSpPr>
        <p:spPr bwMode="auto">
          <a:xfrm>
            <a:off x="4927723" y="3330844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1" name="Cube 30"/>
          <p:cNvSpPr/>
          <p:nvPr/>
        </p:nvSpPr>
        <p:spPr bwMode="auto">
          <a:xfrm>
            <a:off x="3652803" y="3968305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69" name="Straight Connector 68"/>
          <p:cNvCxnSpPr>
            <a:endCxn id="22" idx="0"/>
          </p:cNvCxnSpPr>
          <p:nvPr/>
        </p:nvCxnSpPr>
        <p:spPr bwMode="auto">
          <a:xfrm>
            <a:off x="2776296" y="2438400"/>
            <a:ext cx="95618" cy="892444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Straight Connector 73"/>
          <p:cNvCxnSpPr>
            <a:stCxn id="31" idx="1"/>
          </p:cNvCxnSpPr>
          <p:nvPr/>
        </p:nvCxnSpPr>
        <p:spPr bwMode="auto">
          <a:xfrm flipH="1" flipV="1">
            <a:off x="3015344" y="3553956"/>
            <a:ext cx="908379" cy="509968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/>
          <p:cNvCxnSpPr>
            <a:stCxn id="23" idx="2"/>
            <a:endCxn id="31" idx="5"/>
          </p:cNvCxnSpPr>
          <p:nvPr/>
        </p:nvCxnSpPr>
        <p:spPr bwMode="auto">
          <a:xfrm flipH="1">
            <a:off x="4290263" y="3569892"/>
            <a:ext cx="637460" cy="541841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/>
          <p:cNvCxnSpPr>
            <a:endCxn id="31" idx="3"/>
          </p:cNvCxnSpPr>
          <p:nvPr/>
        </p:nvCxnSpPr>
        <p:spPr bwMode="auto">
          <a:xfrm flipV="1">
            <a:off x="3381882" y="4350781"/>
            <a:ext cx="541841" cy="764952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Straight Connector 92"/>
          <p:cNvCxnSpPr>
            <a:stCxn id="47" idx="1"/>
          </p:cNvCxnSpPr>
          <p:nvPr/>
        </p:nvCxnSpPr>
        <p:spPr bwMode="auto">
          <a:xfrm flipH="1">
            <a:off x="5565184" y="3251552"/>
            <a:ext cx="1273159" cy="206785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7" name="Straight Connector 106"/>
          <p:cNvCxnSpPr/>
          <p:nvPr/>
        </p:nvCxnSpPr>
        <p:spPr bwMode="auto">
          <a:xfrm>
            <a:off x="3923723" y="4350781"/>
            <a:ext cx="621524" cy="749016"/>
          </a:xfrm>
          <a:prstGeom prst="line">
            <a:avLst/>
          </a:prstGeom>
          <a:noFill/>
          <a:ln w="38100" cap="flat" cmpd="sng" algn="ctr">
            <a:solidFill>
              <a:srgbClr val="D3A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64" name="Group 37"/>
          <p:cNvGrpSpPr>
            <a:grpSpLocks noChangeAspect="1"/>
          </p:cNvGrpSpPr>
          <p:nvPr/>
        </p:nvGrpSpPr>
        <p:grpSpPr bwMode="auto">
          <a:xfrm>
            <a:off x="3266828" y="3129541"/>
            <a:ext cx="1529905" cy="402607"/>
            <a:chOff x="885372" y="3276600"/>
            <a:chExt cx="1172028" cy="228600"/>
          </a:xfrm>
        </p:grpSpPr>
        <p:sp>
          <p:nvSpPr>
            <p:cNvPr id="65" name="Rectangle 64"/>
            <p:cNvSpPr/>
            <p:nvPr/>
          </p:nvSpPr>
          <p:spPr>
            <a:xfrm>
              <a:off x="885372" y="3276600"/>
              <a:ext cx="791633" cy="2286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900" dirty="0"/>
                <a:t>111010010</a:t>
              </a:r>
              <a:endParaRPr lang="en-US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677005" y="3276600"/>
              <a:ext cx="380395" cy="2286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800" dirty="0">
                  <a:solidFill>
                    <a:schemeClr val="tx1"/>
                  </a:solidFill>
                </a:rPr>
                <a:t>MIT</a:t>
              </a:r>
            </a:p>
          </p:txBody>
        </p:sp>
      </p:grpSp>
      <p:sp>
        <p:nvSpPr>
          <p:cNvPr id="67" name="Cube 66"/>
          <p:cNvSpPr/>
          <p:nvPr/>
        </p:nvSpPr>
        <p:spPr bwMode="auto">
          <a:xfrm>
            <a:off x="3015342" y="5115733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8" name="Cube 67"/>
          <p:cNvSpPr/>
          <p:nvPr/>
        </p:nvSpPr>
        <p:spPr bwMode="auto">
          <a:xfrm>
            <a:off x="4545247" y="4860749"/>
            <a:ext cx="637460" cy="382476"/>
          </a:xfrm>
          <a:prstGeom prst="cube">
            <a:avLst/>
          </a:prstGeom>
          <a:solidFill>
            <a:schemeClr val="tx1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6784" y="3748578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0" y="3780702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20184" y="5529557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8200" y="5243225"/>
            <a:ext cx="689816" cy="566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#4</a:t>
            </a:r>
          </a:p>
        </p:txBody>
      </p: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6075152" y="4220209"/>
          <a:ext cx="1663369" cy="1477963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784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Dst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Next</a:t>
                      </a:r>
                      <a:r>
                        <a:rPr lang="en-US" sz="1200" baseline="0" dirty="0">
                          <a:solidFill>
                            <a:srgbClr val="FFFFFF"/>
                          </a:solidFill>
                        </a:rPr>
                        <a:t> Hop</a:t>
                      </a:r>
                      <a:endParaRPr lang="en-US" sz="1200" dirty="0">
                        <a:solidFill>
                          <a:srgbClr val="FFFFFF"/>
                        </a:solidFill>
                      </a:endParaRP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UMICH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UCB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MIT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41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NYU</a:t>
                      </a:r>
                    </a:p>
                  </a:txBody>
                  <a:tcPr marT="45732" marB="4573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32" marB="45732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Rounded Rectangle 76"/>
          <p:cNvSpPr/>
          <p:nvPr/>
        </p:nvSpPr>
        <p:spPr>
          <a:xfrm>
            <a:off x="5949158" y="5071256"/>
            <a:ext cx="1865564" cy="390525"/>
          </a:xfrm>
          <a:prstGeom prst="roundRect">
            <a:avLst/>
          </a:prstGeom>
          <a:solidFill>
            <a:srgbClr val="D3A600">
              <a:alpha val="24000"/>
            </a:srgbClr>
          </a:solidFill>
          <a:ln w="285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729437" y="4448108"/>
            <a:ext cx="4122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#0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5813378" y="3925214"/>
            <a:ext cx="213712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/>
              <a:t>Forwarding Table @ #0</a:t>
            </a:r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2174028" y="2109758"/>
            <a:ext cx="109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 UMich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6838343" y="3082275"/>
            <a:ext cx="831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25501" y="5909846"/>
            <a:ext cx="9196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UCB</a:t>
            </a:r>
          </a:p>
        </p:txBody>
      </p:sp>
      <p:cxnSp>
        <p:nvCxnSpPr>
          <p:cNvPr id="50" name="Straight Connector 49"/>
          <p:cNvCxnSpPr>
            <a:stCxn id="67" idx="3"/>
            <a:endCxn id="49" idx="0"/>
          </p:cNvCxnSpPr>
          <p:nvPr/>
        </p:nvCxnSpPr>
        <p:spPr bwMode="auto">
          <a:xfrm flipH="1">
            <a:off x="2585339" y="5498209"/>
            <a:ext cx="700924" cy="411637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/>
          <p:cNvCxnSpPr>
            <a:stCxn id="72" idx="0"/>
            <a:endCxn id="55" idx="0"/>
          </p:cNvCxnSpPr>
          <p:nvPr/>
        </p:nvCxnSpPr>
        <p:spPr bwMode="auto">
          <a:xfrm>
            <a:off x="4993108" y="5243225"/>
            <a:ext cx="447589" cy="540206"/>
          </a:xfrm>
          <a:prstGeom prst="line">
            <a:avLst/>
          </a:prstGeom>
          <a:noFill/>
          <a:ln w="38100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4986470" y="5783431"/>
            <a:ext cx="9084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NYU</a:t>
            </a:r>
          </a:p>
        </p:txBody>
      </p:sp>
    </p:spTree>
    <p:extLst>
      <p:ext uri="{BB962C8B-B14F-4D97-AF65-F5344CB8AC3E}">
        <p14:creationId xmlns:p14="http://schemas.microsoft.com/office/powerpoint/2010/main" val="525065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key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Scaling</a:t>
            </a:r>
          </a:p>
          <a:p>
            <a:r>
              <a:rPr lang="en-US" dirty="0"/>
              <a:t>Administrative structure </a:t>
            </a:r>
          </a:p>
          <a:p>
            <a:pPr lvl="1"/>
            <a:r>
              <a:rPr lang="en-US" dirty="0"/>
              <a:t>Issues of autonomy, policy, privacy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27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4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Scaling </a:t>
            </a:r>
            <a:endParaRPr lang="en-US" dirty="0"/>
          </a:p>
        </p:txBody>
      </p:sp>
      <p:sp>
        <p:nvSpPr>
          <p:cNvPr id="108646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router must be able to reach any destination</a:t>
            </a:r>
          </a:p>
          <a:p>
            <a:pPr lvl="1"/>
            <a:r>
              <a:rPr lang="en-US" dirty="0"/>
              <a:t>Given packet’s </a:t>
            </a:r>
            <a:r>
              <a:rPr lang="en-US" dirty="0" err="1"/>
              <a:t>dst</a:t>
            </a:r>
            <a:r>
              <a:rPr lang="en-US" dirty="0"/>
              <a:t> address, look up the next hop</a:t>
            </a:r>
          </a:p>
          <a:p>
            <a:r>
              <a:rPr lang="en-US" dirty="0"/>
              <a:t>Naive: Have an entry for each destination</a:t>
            </a:r>
          </a:p>
          <a:p>
            <a:pPr lvl="1"/>
            <a:r>
              <a:rPr lang="en-US" dirty="0"/>
              <a:t>There would be over 10</a:t>
            </a:r>
            <a:r>
              <a:rPr lang="en-US" baseline="30000" dirty="0"/>
              <a:t>8</a:t>
            </a:r>
            <a:r>
              <a:rPr lang="en-US" dirty="0"/>
              <a:t> entries!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AND </a:t>
            </a:r>
            <a:r>
              <a:rPr lang="en-US" dirty="0"/>
              <a:t>routing updates per destination! 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How can we improve scalability?</a:t>
            </a:r>
          </a:p>
          <a:p>
            <a:pPr lvl="1"/>
            <a:r>
              <a:rPr lang="en-US" altLang="zh-CN" dirty="0"/>
              <a:t>A</a:t>
            </a:r>
            <a:r>
              <a:rPr lang="en-US" dirty="0"/>
              <a:t>n example: </a:t>
            </a:r>
            <a:r>
              <a:rPr lang="en-US" dirty="0">
                <a:solidFill>
                  <a:srgbClr val="0000FF"/>
                </a:solidFill>
              </a:rPr>
              <a:t>longest-prefix matching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(see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backup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slides)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27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646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1173162"/>
          </a:xfrm>
        </p:spPr>
        <p:txBody>
          <a:bodyPr/>
          <a:lstStyle/>
          <a:p>
            <a:r>
              <a:rPr lang="en-US" dirty="0"/>
              <a:t>A smaller table at node B?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52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307498"/>
              </p:ext>
            </p:extLst>
          </p:nvPr>
        </p:nvGraphicFramePr>
        <p:xfrm>
          <a:off x="2971800" y="3257490"/>
          <a:ext cx="2743200" cy="3055440"/>
        </p:xfrm>
        <a:graphic>
          <a:graphicData uri="http://schemas.openxmlformats.org/drawingml/2006/table">
            <a:tbl>
              <a:tblPr/>
              <a:tblGrid>
                <a:gridCol w="1567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68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Destination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Next Hop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 1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 2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 3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 4 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 5 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 6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 7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 8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65" name="Group 64"/>
          <p:cNvGrpSpPr/>
          <p:nvPr/>
        </p:nvGrpSpPr>
        <p:grpSpPr>
          <a:xfrm>
            <a:off x="609600" y="1600200"/>
            <a:ext cx="7882379" cy="2990910"/>
            <a:chOff x="609600" y="1600200"/>
            <a:chExt cx="7882379" cy="2990910"/>
          </a:xfrm>
        </p:grpSpPr>
        <p:sp>
          <p:nvSpPr>
            <p:cNvPr id="4" name="Rectangle 3"/>
            <p:cNvSpPr/>
            <p:nvPr/>
          </p:nvSpPr>
          <p:spPr bwMode="auto">
            <a:xfrm>
              <a:off x="25146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41148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58674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1447800" y="1828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990600" y="25146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1600200" y="4114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1219200" y="3352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7315200" y="1828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7848600" y="2590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7315200" y="4114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7543800" y="3352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16" name="Straight Connector 15"/>
            <p:cNvCxnSpPr>
              <a:stCxn id="7" idx="5"/>
              <a:endCxn id="4" idx="1"/>
            </p:cNvCxnSpPr>
            <p:nvPr/>
          </p:nvCxnSpPr>
          <p:spPr bwMode="auto">
            <a:xfrm>
              <a:off x="1773004" y="2156605"/>
              <a:ext cx="741596" cy="66279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Connector 17"/>
            <p:cNvCxnSpPr>
              <a:stCxn id="8" idx="6"/>
              <a:endCxn id="4" idx="1"/>
            </p:cNvCxnSpPr>
            <p:nvPr/>
          </p:nvCxnSpPr>
          <p:spPr bwMode="auto">
            <a:xfrm>
              <a:off x="1371600" y="2706624"/>
              <a:ext cx="1143000" cy="11277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/>
            <p:cNvCxnSpPr>
              <a:stCxn id="13" idx="1"/>
              <a:endCxn id="6" idx="3"/>
            </p:cNvCxnSpPr>
            <p:nvPr/>
          </p:nvCxnSpPr>
          <p:spPr bwMode="auto">
            <a:xfrm flipH="1" flipV="1">
              <a:off x="6172200" y="2819400"/>
              <a:ext cx="1198796" cy="135164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/>
            <p:cNvCxnSpPr/>
            <p:nvPr/>
          </p:nvCxnSpPr>
          <p:spPr bwMode="auto">
            <a:xfrm flipV="1">
              <a:off x="6172200" y="2743200"/>
              <a:ext cx="1676400" cy="762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Straight Connector 34"/>
            <p:cNvCxnSpPr>
              <a:endCxn id="6" idx="3"/>
            </p:cNvCxnSpPr>
            <p:nvPr/>
          </p:nvCxnSpPr>
          <p:spPr bwMode="auto">
            <a:xfrm flipH="1" flipV="1">
              <a:off x="6172200" y="2819400"/>
              <a:ext cx="1371600" cy="57803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Straight Connector 36"/>
            <p:cNvCxnSpPr>
              <a:stCxn id="11" idx="3"/>
              <a:endCxn id="6" idx="3"/>
            </p:cNvCxnSpPr>
            <p:nvPr/>
          </p:nvCxnSpPr>
          <p:spPr bwMode="auto">
            <a:xfrm flipH="1">
              <a:off x="6172200" y="2156605"/>
              <a:ext cx="1198796" cy="66279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Straight Connector 40"/>
            <p:cNvCxnSpPr>
              <a:stCxn id="10" idx="7"/>
              <a:endCxn id="4" idx="1"/>
            </p:cNvCxnSpPr>
            <p:nvPr/>
          </p:nvCxnSpPr>
          <p:spPr bwMode="auto">
            <a:xfrm flipV="1">
              <a:off x="1544404" y="2819400"/>
              <a:ext cx="970196" cy="58964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/>
            <p:cNvCxnSpPr>
              <a:stCxn id="9" idx="0"/>
              <a:endCxn id="4" idx="1"/>
            </p:cNvCxnSpPr>
            <p:nvPr/>
          </p:nvCxnSpPr>
          <p:spPr bwMode="auto">
            <a:xfrm flipV="1">
              <a:off x="1790700" y="2819400"/>
              <a:ext cx="723900" cy="12954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>
              <a:stCxn id="4" idx="3"/>
            </p:cNvCxnSpPr>
            <p:nvPr/>
          </p:nvCxnSpPr>
          <p:spPr bwMode="auto">
            <a:xfrm>
              <a:off x="2819400" y="2819400"/>
              <a:ext cx="12954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Straight Connector 48"/>
            <p:cNvCxnSpPr>
              <a:endCxn id="6" idx="1"/>
            </p:cNvCxnSpPr>
            <p:nvPr/>
          </p:nvCxnSpPr>
          <p:spPr bwMode="auto">
            <a:xfrm>
              <a:off x="4419600" y="2819400"/>
              <a:ext cx="14478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3" name="TextBox 52"/>
            <p:cNvSpPr txBox="1"/>
            <p:nvPr/>
          </p:nvSpPr>
          <p:spPr>
            <a:xfrm>
              <a:off x="1109221" y="16764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261621" y="41910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38200" y="32766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09600" y="24384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438400" y="220980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059088" y="2209800"/>
              <a:ext cx="3693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811688" y="2209800"/>
              <a:ext cx="3693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738621" y="16002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696200" y="41148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891021" y="325749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153400" y="23622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64" name="Up Arrow 63"/>
          <p:cNvSpPr/>
          <p:nvPr/>
        </p:nvSpPr>
        <p:spPr bwMode="auto">
          <a:xfrm>
            <a:off x="4191000" y="3023205"/>
            <a:ext cx="152400" cy="182880"/>
          </a:xfrm>
          <a:prstGeom prst="upArrow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825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Re-number the end-systems?</a:t>
            </a:r>
          </a:p>
        </p:txBody>
      </p:sp>
      <p:sp>
        <p:nvSpPr>
          <p:cNvPr id="38" name="Content Placeholder 2"/>
          <p:cNvSpPr>
            <a:spLocks noGrp="1"/>
          </p:cNvSpPr>
          <p:nvPr>
            <p:ph idx="1"/>
          </p:nvPr>
        </p:nvSpPr>
        <p:spPr>
          <a:xfrm>
            <a:off x="685800" y="4800600"/>
            <a:ext cx="8001000" cy="1431738"/>
          </a:xfrm>
        </p:spPr>
        <p:txBody>
          <a:bodyPr/>
          <a:lstStyle/>
          <a:p>
            <a:r>
              <a:rPr lang="en-US" dirty="0"/>
              <a:t>Careful address assignment </a:t>
            </a:r>
            <a:r>
              <a:rPr lang="en-US" dirty="0">
                <a:sym typeface="Wingdings"/>
              </a:rPr>
              <a:t> can </a:t>
            </a:r>
            <a:r>
              <a:rPr lang="en-US" i="1" dirty="0">
                <a:sym typeface="Wingdings"/>
              </a:rPr>
              <a:t>aggregate</a:t>
            </a:r>
            <a:r>
              <a:rPr lang="en-US" dirty="0">
                <a:sym typeface="Wingdings"/>
              </a:rPr>
              <a:t> multiple addresses into one range  scalability!</a:t>
            </a:r>
          </a:p>
          <a:p>
            <a:r>
              <a:rPr lang="en-US" dirty="0">
                <a:solidFill>
                  <a:srgbClr val="0000FF"/>
                </a:solidFill>
                <a:sym typeface="Wingdings"/>
              </a:rPr>
              <a:t>Akin to reducing the number of destinations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52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043155"/>
              </p:ext>
            </p:extLst>
          </p:nvPr>
        </p:nvGraphicFramePr>
        <p:xfrm>
          <a:off x="2971800" y="3257490"/>
          <a:ext cx="2743200" cy="1059120"/>
        </p:xfrm>
        <a:graphic>
          <a:graphicData uri="http://schemas.openxmlformats.org/drawingml/2006/table">
            <a:tbl>
              <a:tblPr/>
              <a:tblGrid>
                <a:gridCol w="1567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68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Destination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Next Hop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 [1-4]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 [5-8]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</a:t>
                      </a:r>
                    </a:p>
                  </a:txBody>
                  <a:tcPr marL="90488" marR="90488" marT="44440" marB="44440" horzOverflow="overflow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65" name="Group 64"/>
          <p:cNvGrpSpPr/>
          <p:nvPr/>
        </p:nvGrpSpPr>
        <p:grpSpPr>
          <a:xfrm>
            <a:off x="609600" y="1600200"/>
            <a:ext cx="7842280" cy="2929354"/>
            <a:chOff x="609600" y="1600200"/>
            <a:chExt cx="7842280" cy="2929354"/>
          </a:xfrm>
        </p:grpSpPr>
        <p:sp>
          <p:nvSpPr>
            <p:cNvPr id="4" name="Rectangle 3"/>
            <p:cNvSpPr/>
            <p:nvPr/>
          </p:nvSpPr>
          <p:spPr bwMode="auto">
            <a:xfrm>
              <a:off x="25146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41148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58674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1447800" y="1828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990600" y="25146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1600200" y="4114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1219200" y="3352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7315200" y="1828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7848600" y="2590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7315200" y="4114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7543800" y="3352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16" name="Straight Connector 15"/>
            <p:cNvCxnSpPr>
              <a:stCxn id="7" idx="5"/>
              <a:endCxn id="4" idx="1"/>
            </p:cNvCxnSpPr>
            <p:nvPr/>
          </p:nvCxnSpPr>
          <p:spPr bwMode="auto">
            <a:xfrm>
              <a:off x="1773004" y="2156605"/>
              <a:ext cx="741596" cy="66279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Connector 17"/>
            <p:cNvCxnSpPr>
              <a:stCxn id="8" idx="6"/>
              <a:endCxn id="4" idx="1"/>
            </p:cNvCxnSpPr>
            <p:nvPr/>
          </p:nvCxnSpPr>
          <p:spPr bwMode="auto">
            <a:xfrm>
              <a:off x="1371600" y="2706624"/>
              <a:ext cx="1143000" cy="11277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/>
            <p:cNvCxnSpPr>
              <a:stCxn id="13" idx="1"/>
              <a:endCxn id="6" idx="3"/>
            </p:cNvCxnSpPr>
            <p:nvPr/>
          </p:nvCxnSpPr>
          <p:spPr bwMode="auto">
            <a:xfrm flipH="1" flipV="1">
              <a:off x="6172200" y="2819400"/>
              <a:ext cx="1198796" cy="135164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/>
            <p:cNvCxnSpPr/>
            <p:nvPr/>
          </p:nvCxnSpPr>
          <p:spPr bwMode="auto">
            <a:xfrm flipV="1">
              <a:off x="6172200" y="2743200"/>
              <a:ext cx="1676400" cy="762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Straight Connector 34"/>
            <p:cNvCxnSpPr>
              <a:endCxn id="6" idx="3"/>
            </p:cNvCxnSpPr>
            <p:nvPr/>
          </p:nvCxnSpPr>
          <p:spPr bwMode="auto">
            <a:xfrm flipH="1" flipV="1">
              <a:off x="6172200" y="2819400"/>
              <a:ext cx="1371600" cy="57803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Straight Connector 36"/>
            <p:cNvCxnSpPr>
              <a:stCxn id="11" idx="3"/>
              <a:endCxn id="6" idx="3"/>
            </p:cNvCxnSpPr>
            <p:nvPr/>
          </p:nvCxnSpPr>
          <p:spPr bwMode="auto">
            <a:xfrm flipH="1">
              <a:off x="6172200" y="2156605"/>
              <a:ext cx="1198796" cy="66279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Straight Connector 40"/>
            <p:cNvCxnSpPr>
              <a:stCxn id="10" idx="7"/>
              <a:endCxn id="4" idx="1"/>
            </p:cNvCxnSpPr>
            <p:nvPr/>
          </p:nvCxnSpPr>
          <p:spPr bwMode="auto">
            <a:xfrm flipV="1">
              <a:off x="1544404" y="2819400"/>
              <a:ext cx="970196" cy="58964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/>
            <p:cNvCxnSpPr>
              <a:stCxn id="9" idx="0"/>
              <a:endCxn id="4" idx="1"/>
            </p:cNvCxnSpPr>
            <p:nvPr/>
          </p:nvCxnSpPr>
          <p:spPr bwMode="auto">
            <a:xfrm flipV="1">
              <a:off x="1790700" y="2819400"/>
              <a:ext cx="723900" cy="12954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>
              <a:stCxn id="4" idx="3"/>
            </p:cNvCxnSpPr>
            <p:nvPr/>
          </p:nvCxnSpPr>
          <p:spPr bwMode="auto">
            <a:xfrm>
              <a:off x="2819400" y="2819400"/>
              <a:ext cx="12954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Straight Connector 48"/>
            <p:cNvCxnSpPr>
              <a:endCxn id="6" idx="1"/>
            </p:cNvCxnSpPr>
            <p:nvPr/>
          </p:nvCxnSpPr>
          <p:spPr bwMode="auto">
            <a:xfrm>
              <a:off x="4419600" y="2819400"/>
              <a:ext cx="14478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3" name="TextBox 52"/>
            <p:cNvSpPr txBox="1"/>
            <p:nvPr/>
          </p:nvSpPr>
          <p:spPr>
            <a:xfrm>
              <a:off x="1109221" y="16764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1261621" y="4191000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38200" y="32766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09600" y="2438400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438400" y="220980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4059088" y="2209800"/>
              <a:ext cx="3693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811688" y="2209800"/>
              <a:ext cx="3693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738621" y="1600200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6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696200" y="41148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891021" y="325749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153400" y="2362200"/>
              <a:ext cx="298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7</a:t>
              </a:r>
            </a:p>
          </p:txBody>
        </p:sp>
      </p:grpSp>
      <p:sp>
        <p:nvSpPr>
          <p:cNvPr id="43" name="Up Arrow 42"/>
          <p:cNvSpPr/>
          <p:nvPr/>
        </p:nvSpPr>
        <p:spPr bwMode="auto">
          <a:xfrm>
            <a:off x="4191000" y="3023205"/>
            <a:ext cx="152400" cy="182880"/>
          </a:xfrm>
          <a:prstGeom prst="upArrow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34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uiExpand="1" build="p"/>
      <p:bldP spid="4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4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Scaling </a:t>
            </a:r>
            <a:endParaRPr lang="en-US" dirty="0"/>
          </a:p>
        </p:txBody>
      </p:sp>
      <p:sp>
        <p:nvSpPr>
          <p:cNvPr id="108646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router must be able to reach any destination</a:t>
            </a:r>
          </a:p>
          <a:p>
            <a:r>
              <a:rPr lang="en-US" dirty="0"/>
              <a:t>Naive: Have an entry for each destination</a:t>
            </a:r>
          </a:p>
          <a:p>
            <a:r>
              <a:rPr lang="en-US" dirty="0"/>
              <a:t>Better: Have an entry for a range of addresses</a:t>
            </a:r>
          </a:p>
          <a:p>
            <a:pPr lvl="1"/>
            <a:r>
              <a:rPr lang="en-US" dirty="0"/>
              <a:t>Can’t do this if addresses are assigned randomly!</a:t>
            </a:r>
          </a:p>
          <a:p>
            <a:pPr lvl="1"/>
            <a:r>
              <a:rPr lang="en-US" dirty="0"/>
              <a:t>How addresses are allocated will matter!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Host addressing is key to scaling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646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key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Scaling</a:t>
            </a:r>
          </a:p>
          <a:p>
            <a:r>
              <a:rPr lang="en-US" dirty="0"/>
              <a:t>Administrative structure </a:t>
            </a:r>
          </a:p>
          <a:p>
            <a:pPr lvl="1"/>
            <a:r>
              <a:rPr lang="en-US" dirty="0"/>
              <a:t>Issues of autonomy, policy, privacy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36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 structure shapes inter-domain routing</a:t>
            </a:r>
          </a:p>
        </p:txBody>
      </p:sp>
      <p:sp>
        <p:nvSpPr>
          <p:cNvPr id="181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ASes want </a:t>
            </a:r>
            <a:r>
              <a:rPr lang="en-US" dirty="0">
                <a:solidFill>
                  <a:srgbClr val="0000FF"/>
                </a:solidFill>
              </a:rPr>
              <a:t>freedom in picking routes</a:t>
            </a:r>
          </a:p>
          <a:p>
            <a:pPr lvl="1"/>
            <a:r>
              <a:rPr lang="ja-JP" altLang="en-US" dirty="0"/>
              <a:t>“</a:t>
            </a:r>
            <a:r>
              <a:rPr lang="en-US" dirty="0"/>
              <a:t>My traffic can’t be carried over my competitor’s network</a:t>
            </a:r>
            <a:r>
              <a:rPr lang="ja-JP" altLang="en-US" dirty="0"/>
              <a:t>”</a:t>
            </a:r>
            <a:endParaRPr lang="en-US" dirty="0"/>
          </a:p>
          <a:p>
            <a:pPr lvl="1"/>
            <a:r>
              <a:rPr lang="ja-JP" altLang="en-US" dirty="0"/>
              <a:t>“</a:t>
            </a:r>
            <a:r>
              <a:rPr lang="en-US" dirty="0"/>
              <a:t>I don’t want to carry A’s traffic through my network</a:t>
            </a:r>
            <a:r>
              <a:rPr lang="ja-JP" altLang="en-US" dirty="0"/>
              <a:t>”</a:t>
            </a:r>
            <a:endParaRPr lang="en-US" dirty="0"/>
          </a:p>
          <a:p>
            <a:pPr lvl="1"/>
            <a:r>
              <a:rPr lang="en-US" dirty="0"/>
              <a:t>Not expressible as Internet-wide </a:t>
            </a:r>
            <a:r>
              <a:rPr lang="ja-JP" altLang="en-US" dirty="0"/>
              <a:t>“</a:t>
            </a:r>
            <a:r>
              <a:rPr lang="en-US" dirty="0"/>
              <a:t>least cost</a:t>
            </a:r>
            <a:r>
              <a:rPr lang="ja-JP" altLang="en-US" dirty="0"/>
              <a:t>”</a:t>
            </a:r>
            <a:endParaRPr lang="en-US" dirty="0"/>
          </a:p>
          <a:p>
            <a:r>
              <a:rPr lang="en-US" dirty="0"/>
              <a:t>ASes want </a:t>
            </a:r>
            <a:r>
              <a:rPr lang="en-US" dirty="0">
                <a:solidFill>
                  <a:srgbClr val="0000FF"/>
                </a:solidFill>
              </a:rPr>
              <a:t>autonomy</a:t>
            </a:r>
          </a:p>
          <a:p>
            <a:pPr lvl="1"/>
            <a:r>
              <a:rPr lang="en-US" dirty="0"/>
              <a:t>Want to choose their own internal routing protocol</a:t>
            </a:r>
          </a:p>
          <a:p>
            <a:pPr lvl="1"/>
            <a:r>
              <a:rPr lang="en-US" dirty="0"/>
              <a:t>Want to choose their own policy</a:t>
            </a:r>
          </a:p>
          <a:p>
            <a:r>
              <a:rPr lang="en-US" dirty="0"/>
              <a:t>ASes want </a:t>
            </a:r>
            <a:r>
              <a:rPr lang="en-US" dirty="0">
                <a:solidFill>
                  <a:srgbClr val="0000FF"/>
                </a:solidFill>
              </a:rPr>
              <a:t>privacy</a:t>
            </a:r>
          </a:p>
          <a:p>
            <a:pPr lvl="1"/>
            <a:r>
              <a:rPr lang="en-US" dirty="0"/>
              <a:t>Choice of network topology, routing policies, etc.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06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862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Choice of routing algorithm</a:t>
            </a:r>
          </a:p>
        </p:txBody>
      </p:sp>
      <p:sp>
        <p:nvSpPr>
          <p:cNvPr id="11673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077200" cy="4419600"/>
          </a:xfrm>
        </p:spPr>
        <p:txBody>
          <a:bodyPr/>
          <a:lstStyle/>
          <a:p>
            <a:r>
              <a:rPr lang="en-US" dirty="0"/>
              <a:t>Link-state</a:t>
            </a:r>
          </a:p>
          <a:p>
            <a:pPr lvl="1"/>
            <a:r>
              <a:rPr lang="en-US" dirty="0"/>
              <a:t>No privacy – broadcasts all network information </a:t>
            </a:r>
          </a:p>
          <a:p>
            <a:pPr lvl="1"/>
            <a:r>
              <a:rPr lang="en-US" dirty="0"/>
              <a:t>Limited autonomy – needs agreement on metric, </a:t>
            </a:r>
            <a:r>
              <a:rPr lang="en-US" dirty="0" err="1"/>
              <a:t>algo</a:t>
            </a:r>
            <a:endParaRPr lang="en-US" dirty="0"/>
          </a:p>
          <a:p>
            <a:r>
              <a:rPr lang="en-US" dirty="0"/>
              <a:t>Distance-vector is a decent starting point </a:t>
            </a:r>
          </a:p>
          <a:p>
            <a:pPr lvl="1"/>
            <a:r>
              <a:rPr lang="en-US" dirty="0"/>
              <a:t>Per-destination updates give some control</a:t>
            </a:r>
          </a:p>
          <a:p>
            <a:pPr lvl="1"/>
            <a:r>
              <a:rPr lang="en-US" dirty="0"/>
              <a:t>BUT wasn’t designed to implement policy </a:t>
            </a:r>
          </a:p>
          <a:p>
            <a:pPr lvl="1"/>
            <a:r>
              <a:rPr lang="en-US" dirty="0"/>
              <a:t>AND is vulnerable to loops</a:t>
            </a:r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The “Border Gateway Protocol” (BGP) extends 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distance-vector ideas to accommodate policy</a:t>
            </a:r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6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Inter-domain-routing</a:t>
            </a:r>
          </a:p>
          <a:p>
            <a:pPr lvl="1"/>
            <a:r>
              <a:rPr lang="en-US" dirty="0"/>
              <a:t>Addressing (Scalability)</a:t>
            </a:r>
          </a:p>
          <a:p>
            <a:pPr lvl="1"/>
            <a:r>
              <a:rPr lang="en-US" dirty="0"/>
              <a:t>BGP (Autonomy, policy, privacy)</a:t>
            </a:r>
          </a:p>
          <a:p>
            <a:pPr lvl="2"/>
            <a:r>
              <a:rPr lang="en-US" dirty="0"/>
              <a:t>Context and basic ideas</a:t>
            </a:r>
          </a:p>
          <a:p>
            <a:pPr lvl="2"/>
            <a:r>
              <a:rPr lang="en-US" dirty="0"/>
              <a:t>Details and issues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26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of addressing: </a:t>
            </a:r>
            <a:br>
              <a:rPr lang="en-US" dirty="0"/>
            </a:br>
            <a:r>
              <a:rPr lang="en-US" dirty="0"/>
              <a:t>Scalable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State: Small forwarding tables at routers</a:t>
            </a:r>
          </a:p>
          <a:p>
            <a:pPr lvl="1"/>
            <a:r>
              <a:rPr lang="en-US" dirty="0"/>
              <a:t>Much less than the number of hosts</a:t>
            </a:r>
          </a:p>
          <a:p>
            <a:r>
              <a:rPr lang="en-US" dirty="0"/>
              <a:t>Churn: Limited rate of change in routing tables</a:t>
            </a:r>
          </a:p>
          <a:p>
            <a:pPr lvl="0"/>
            <a:r>
              <a:rPr lang="en-US" dirty="0">
                <a:solidFill>
                  <a:srgbClr val="0000FF"/>
                </a:solidFill>
              </a:rPr>
              <a:t>Ability to aggregate</a:t>
            </a:r>
            <a:r>
              <a:rPr lang="en-US" dirty="0"/>
              <a:t> addresses is crucial for both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4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works if…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114829"/>
            <a:ext cx="7924800" cy="1913493"/>
          </a:xfrm>
        </p:spPr>
        <p:txBody>
          <a:bodyPr/>
          <a:lstStyle/>
          <a:p>
            <a:r>
              <a:rPr lang="en-US" sz="2400" dirty="0"/>
              <a:t>Groups of destinations reached via the same path</a:t>
            </a:r>
          </a:p>
          <a:p>
            <a:r>
              <a:rPr lang="en-US" sz="2400" dirty="0"/>
              <a:t>These groups are assigned contiguous addresses</a:t>
            </a:r>
          </a:p>
          <a:p>
            <a:r>
              <a:rPr lang="en-US" sz="2400" dirty="0"/>
              <a:t>These groups are relatively stable</a:t>
            </a:r>
          </a:p>
          <a:p>
            <a:r>
              <a:rPr lang="en-US" sz="2400" dirty="0"/>
              <a:t>Few enough groups to make forwarding easy</a:t>
            </a:r>
          </a:p>
          <a:p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371600" y="1600201"/>
            <a:ext cx="6455664" cy="2453142"/>
            <a:chOff x="609600" y="1600200"/>
            <a:chExt cx="7909499" cy="3005597"/>
          </a:xfrm>
        </p:grpSpPr>
        <p:sp>
          <p:nvSpPr>
            <p:cNvPr id="8" name="Rectangle 7"/>
            <p:cNvSpPr/>
            <p:nvPr/>
          </p:nvSpPr>
          <p:spPr bwMode="auto">
            <a:xfrm>
              <a:off x="25146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41148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5867400" y="2667000"/>
              <a:ext cx="304800" cy="304800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1447800" y="1828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990600" y="25146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1600200" y="4114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1219200" y="3352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7315200" y="1828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7848600" y="2590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7315200" y="4114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7543800" y="3352800"/>
              <a:ext cx="381000" cy="384048"/>
            </a:xfrm>
            <a:prstGeom prst="ellipse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19" name="Straight Connector 18"/>
            <p:cNvCxnSpPr>
              <a:stCxn id="12" idx="5"/>
              <a:endCxn id="9" idx="1"/>
            </p:cNvCxnSpPr>
            <p:nvPr/>
          </p:nvCxnSpPr>
          <p:spPr bwMode="auto">
            <a:xfrm>
              <a:off x="1773004" y="2156605"/>
              <a:ext cx="741596" cy="66279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Straight Connector 19"/>
            <p:cNvCxnSpPr>
              <a:stCxn id="13" idx="6"/>
              <a:endCxn id="9" idx="1"/>
            </p:cNvCxnSpPr>
            <p:nvPr/>
          </p:nvCxnSpPr>
          <p:spPr bwMode="auto">
            <a:xfrm>
              <a:off x="1371600" y="2706624"/>
              <a:ext cx="1143000" cy="112776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/>
            <p:cNvCxnSpPr>
              <a:stCxn id="18" idx="1"/>
              <a:endCxn id="11" idx="3"/>
            </p:cNvCxnSpPr>
            <p:nvPr/>
          </p:nvCxnSpPr>
          <p:spPr bwMode="auto">
            <a:xfrm flipH="1" flipV="1">
              <a:off x="6172200" y="2819400"/>
              <a:ext cx="1198796" cy="135164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 flipV="1">
              <a:off x="6172200" y="2743200"/>
              <a:ext cx="1676400" cy="762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>
              <a:endCxn id="11" idx="3"/>
            </p:cNvCxnSpPr>
            <p:nvPr/>
          </p:nvCxnSpPr>
          <p:spPr bwMode="auto">
            <a:xfrm flipH="1" flipV="1">
              <a:off x="6172200" y="2819400"/>
              <a:ext cx="1371600" cy="578038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>
              <a:stCxn id="16" idx="3"/>
              <a:endCxn id="11" idx="3"/>
            </p:cNvCxnSpPr>
            <p:nvPr/>
          </p:nvCxnSpPr>
          <p:spPr bwMode="auto">
            <a:xfrm flipH="1">
              <a:off x="6172200" y="2156605"/>
              <a:ext cx="1198796" cy="66279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>
              <a:stCxn id="15" idx="7"/>
              <a:endCxn id="9" idx="1"/>
            </p:cNvCxnSpPr>
            <p:nvPr/>
          </p:nvCxnSpPr>
          <p:spPr bwMode="auto">
            <a:xfrm flipV="1">
              <a:off x="1544404" y="2819400"/>
              <a:ext cx="970196" cy="58964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/>
            <p:cNvCxnSpPr>
              <a:stCxn id="14" idx="0"/>
              <a:endCxn id="9" idx="1"/>
            </p:cNvCxnSpPr>
            <p:nvPr/>
          </p:nvCxnSpPr>
          <p:spPr bwMode="auto">
            <a:xfrm flipV="1">
              <a:off x="1790700" y="2819400"/>
              <a:ext cx="723900" cy="129540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/>
            <p:cNvCxnSpPr>
              <a:stCxn id="9" idx="3"/>
            </p:cNvCxnSpPr>
            <p:nvPr/>
          </p:nvCxnSpPr>
          <p:spPr bwMode="auto">
            <a:xfrm>
              <a:off x="2819400" y="2819400"/>
              <a:ext cx="12954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>
              <a:endCxn id="11" idx="1"/>
            </p:cNvCxnSpPr>
            <p:nvPr/>
          </p:nvCxnSpPr>
          <p:spPr bwMode="auto">
            <a:xfrm>
              <a:off x="4419600" y="2819400"/>
              <a:ext cx="144780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TextBox 28"/>
            <p:cNvSpPr txBox="1"/>
            <p:nvPr/>
          </p:nvSpPr>
          <p:spPr>
            <a:xfrm>
              <a:off x="1109221" y="16764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261621" y="4191000"/>
              <a:ext cx="365699" cy="414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38200" y="32766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09600" y="2438399"/>
              <a:ext cx="365699" cy="414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438400" y="220980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059088" y="2209800"/>
              <a:ext cx="3693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811688" y="2209800"/>
              <a:ext cx="3693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738621" y="1600200"/>
              <a:ext cx="365699" cy="414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696200" y="411480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891021" y="3257490"/>
              <a:ext cx="3385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153400" y="2362200"/>
              <a:ext cx="365699" cy="414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1867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 is hierarchical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Hierarchical address structure</a:t>
            </a:r>
          </a:p>
          <a:p>
            <a:r>
              <a:rPr lang="en-US" dirty="0"/>
              <a:t>Hierarchical address allocation </a:t>
            </a:r>
          </a:p>
          <a:p>
            <a:r>
              <a:rPr lang="en-US" dirty="0"/>
              <a:t>Hierarchical addresses and routing scalability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84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addresses (IPv4)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Unique 32-bit number associated with a host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Represented with the “dotted-decimal” notation </a:t>
            </a:r>
          </a:p>
          <a:p>
            <a:pPr lvl="1"/>
            <a:r>
              <a:rPr lang="en-US" dirty="0"/>
              <a:t>e.g., 12.34.158.5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  <p:grpSp>
        <p:nvGrpSpPr>
          <p:cNvPr id="108548" name="Group 4"/>
          <p:cNvGrpSpPr>
            <a:grpSpLocks/>
          </p:cNvGrpSpPr>
          <p:nvPr/>
        </p:nvGrpSpPr>
        <p:grpSpPr bwMode="auto">
          <a:xfrm>
            <a:off x="850900" y="5260975"/>
            <a:ext cx="7329488" cy="598487"/>
            <a:chOff x="428" y="893"/>
            <a:chExt cx="4617" cy="377"/>
          </a:xfrm>
        </p:grpSpPr>
        <p:grpSp>
          <p:nvGrpSpPr>
            <p:cNvPr id="108557" name="Group 5"/>
            <p:cNvGrpSpPr>
              <a:grpSpLocks/>
            </p:cNvGrpSpPr>
            <p:nvPr/>
          </p:nvGrpSpPr>
          <p:grpSpPr bwMode="auto">
            <a:xfrm>
              <a:off x="428" y="904"/>
              <a:ext cx="4616" cy="328"/>
              <a:chOff x="428" y="904"/>
              <a:chExt cx="4616" cy="328"/>
            </a:xfrm>
          </p:grpSpPr>
          <p:sp>
            <p:nvSpPr>
              <p:cNvPr id="924678" name="Rectangle 6"/>
              <p:cNvSpPr>
                <a:spLocks noChangeArrowheads="1"/>
              </p:cNvSpPr>
              <p:nvPr/>
            </p:nvSpPr>
            <p:spPr bwMode="auto">
              <a:xfrm>
                <a:off x="428" y="908"/>
                <a:ext cx="4616" cy="32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63500" dist="107763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solidFill>
                    <a:srgbClr val="0000FF"/>
                  </a:solidFill>
                  <a:ea typeface="+mn-ea"/>
                  <a:cs typeface="+mn-cs"/>
                </a:endParaRPr>
              </a:p>
            </p:txBody>
          </p:sp>
          <p:sp>
            <p:nvSpPr>
              <p:cNvPr id="108563" name="Line 7"/>
              <p:cNvSpPr>
                <a:spLocks noChangeShapeType="1"/>
              </p:cNvSpPr>
              <p:nvPr/>
            </p:nvSpPr>
            <p:spPr bwMode="auto">
              <a:xfrm>
                <a:off x="2728" y="904"/>
                <a:ext cx="0" cy="3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108564" name="Line 8"/>
              <p:cNvSpPr>
                <a:spLocks noChangeShapeType="1"/>
              </p:cNvSpPr>
              <p:nvPr/>
            </p:nvSpPr>
            <p:spPr bwMode="auto">
              <a:xfrm>
                <a:off x="1592" y="904"/>
                <a:ext cx="0" cy="3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0000FF"/>
                  </a:solidFill>
                </a:endParaRPr>
              </a:p>
            </p:txBody>
          </p:sp>
          <p:sp>
            <p:nvSpPr>
              <p:cNvPr id="108565" name="Line 9"/>
              <p:cNvSpPr>
                <a:spLocks noChangeShapeType="1"/>
              </p:cNvSpPr>
              <p:nvPr/>
            </p:nvSpPr>
            <p:spPr bwMode="auto">
              <a:xfrm>
                <a:off x="3896" y="912"/>
                <a:ext cx="0" cy="3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108558" name="Rectangle 10"/>
            <p:cNvSpPr>
              <a:spLocks noChangeArrowheads="1"/>
            </p:cNvSpPr>
            <p:nvPr/>
          </p:nvSpPr>
          <p:spPr bwMode="auto">
            <a:xfrm>
              <a:off x="438" y="893"/>
              <a:ext cx="1142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3200" b="0" dirty="0">
                  <a:solidFill>
                    <a:srgbClr val="0000FF"/>
                  </a:solidFill>
                  <a:latin typeface="Times New Roman" charset="0"/>
                </a:rPr>
                <a:t>00001100</a:t>
              </a:r>
            </a:p>
          </p:txBody>
        </p:sp>
        <p:sp>
          <p:nvSpPr>
            <p:cNvPr id="108559" name="Rectangle 11"/>
            <p:cNvSpPr>
              <a:spLocks noChangeArrowheads="1"/>
            </p:cNvSpPr>
            <p:nvPr/>
          </p:nvSpPr>
          <p:spPr bwMode="auto">
            <a:xfrm>
              <a:off x="1606" y="893"/>
              <a:ext cx="1151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3200" b="0" dirty="0">
                  <a:solidFill>
                    <a:srgbClr val="0000FF"/>
                  </a:solidFill>
                  <a:latin typeface="Times New Roman" charset="0"/>
                </a:rPr>
                <a:t>00100010</a:t>
              </a:r>
            </a:p>
          </p:txBody>
        </p:sp>
        <p:sp>
          <p:nvSpPr>
            <p:cNvPr id="108560" name="Rectangle 12"/>
            <p:cNvSpPr>
              <a:spLocks noChangeArrowheads="1"/>
            </p:cNvSpPr>
            <p:nvPr/>
          </p:nvSpPr>
          <p:spPr bwMode="auto">
            <a:xfrm>
              <a:off x="2758" y="901"/>
              <a:ext cx="1122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3200" b="0">
                  <a:solidFill>
                    <a:srgbClr val="0000FF"/>
                  </a:solidFill>
                  <a:latin typeface="Times New Roman" charset="0"/>
                </a:rPr>
                <a:t>10011110</a:t>
              </a:r>
            </a:p>
          </p:txBody>
        </p:sp>
        <p:sp>
          <p:nvSpPr>
            <p:cNvPr id="108561" name="Rectangle 13"/>
            <p:cNvSpPr>
              <a:spLocks noChangeArrowheads="1"/>
            </p:cNvSpPr>
            <p:nvPr/>
          </p:nvSpPr>
          <p:spPr bwMode="auto">
            <a:xfrm>
              <a:off x="3894" y="901"/>
              <a:ext cx="1151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3200" b="0">
                  <a:solidFill>
                    <a:srgbClr val="0000FF"/>
                  </a:solidFill>
                  <a:latin typeface="Times New Roman" charset="0"/>
                </a:rPr>
                <a:t>00000101</a:t>
              </a:r>
            </a:p>
          </p:txBody>
        </p:sp>
      </p:grpSp>
      <p:sp>
        <p:nvSpPr>
          <p:cNvPr id="108549" name="Text Box 14"/>
          <p:cNvSpPr txBox="1">
            <a:spLocks noChangeArrowheads="1"/>
          </p:cNvSpPr>
          <p:nvPr/>
        </p:nvSpPr>
        <p:spPr bwMode="auto">
          <a:xfrm>
            <a:off x="1493838" y="41148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>
                <a:latin typeface="Tahoma" charset="0"/>
              </a:rPr>
              <a:t>12</a:t>
            </a:r>
          </a:p>
        </p:txBody>
      </p:sp>
      <p:sp>
        <p:nvSpPr>
          <p:cNvPr id="108550" name="Text Box 15"/>
          <p:cNvSpPr txBox="1">
            <a:spLocks noChangeArrowheads="1"/>
          </p:cNvSpPr>
          <p:nvPr/>
        </p:nvSpPr>
        <p:spPr bwMode="auto">
          <a:xfrm>
            <a:off x="3395663" y="4114800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>
                <a:latin typeface="Tahoma" charset="0"/>
              </a:rPr>
              <a:t>34</a:t>
            </a:r>
          </a:p>
        </p:txBody>
      </p:sp>
      <p:sp>
        <p:nvSpPr>
          <p:cNvPr id="108551" name="Text Box 16"/>
          <p:cNvSpPr txBox="1">
            <a:spLocks noChangeArrowheads="1"/>
          </p:cNvSpPr>
          <p:nvPr/>
        </p:nvSpPr>
        <p:spPr bwMode="auto">
          <a:xfrm>
            <a:off x="5080000" y="4114800"/>
            <a:ext cx="69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>
                <a:latin typeface="Tahoma" charset="0"/>
              </a:rPr>
              <a:t>158</a:t>
            </a:r>
          </a:p>
        </p:txBody>
      </p:sp>
      <p:sp>
        <p:nvSpPr>
          <p:cNvPr id="108552" name="Text Box 17"/>
          <p:cNvSpPr txBox="1">
            <a:spLocks noChangeArrowheads="1"/>
          </p:cNvSpPr>
          <p:nvPr/>
        </p:nvSpPr>
        <p:spPr bwMode="auto">
          <a:xfrm>
            <a:off x="7031038" y="4114800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>
                <a:latin typeface="Tahoma" charset="0"/>
              </a:rPr>
              <a:t>5</a:t>
            </a:r>
          </a:p>
        </p:txBody>
      </p:sp>
      <p:sp>
        <p:nvSpPr>
          <p:cNvPr id="108553" name="Line 18"/>
          <p:cNvSpPr>
            <a:spLocks noChangeShapeType="1"/>
          </p:cNvSpPr>
          <p:nvPr/>
        </p:nvSpPr>
        <p:spPr bwMode="auto">
          <a:xfrm>
            <a:off x="1774825" y="4572000"/>
            <a:ext cx="0" cy="747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4" name="Line 19"/>
          <p:cNvSpPr>
            <a:spLocks noChangeShapeType="1"/>
          </p:cNvSpPr>
          <p:nvPr/>
        </p:nvSpPr>
        <p:spPr bwMode="auto">
          <a:xfrm>
            <a:off x="3700463" y="4572000"/>
            <a:ext cx="0" cy="747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5" name="Line 20"/>
          <p:cNvSpPr>
            <a:spLocks noChangeShapeType="1"/>
          </p:cNvSpPr>
          <p:nvPr/>
        </p:nvSpPr>
        <p:spPr bwMode="auto">
          <a:xfrm>
            <a:off x="5473700" y="4572000"/>
            <a:ext cx="0" cy="747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8556" name="Line 21"/>
          <p:cNvSpPr>
            <a:spLocks noChangeShapeType="1"/>
          </p:cNvSpPr>
          <p:nvPr/>
        </p:nvSpPr>
        <p:spPr bwMode="auto">
          <a:xfrm>
            <a:off x="7219950" y="4572000"/>
            <a:ext cx="0" cy="747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2" name="Group 4"/>
          <p:cNvGrpSpPr>
            <a:grpSpLocks/>
          </p:cNvGrpSpPr>
          <p:nvPr/>
        </p:nvGrpSpPr>
        <p:grpSpPr bwMode="auto">
          <a:xfrm>
            <a:off x="923925" y="2303463"/>
            <a:ext cx="7313613" cy="598487"/>
            <a:chOff x="438" y="893"/>
            <a:chExt cx="4607" cy="377"/>
          </a:xfrm>
        </p:grpSpPr>
        <p:sp>
          <p:nvSpPr>
            <p:cNvPr id="24" name="Rectangle 10"/>
            <p:cNvSpPr>
              <a:spLocks noChangeArrowheads="1"/>
            </p:cNvSpPr>
            <p:nvPr/>
          </p:nvSpPr>
          <p:spPr bwMode="auto">
            <a:xfrm>
              <a:off x="438" y="893"/>
              <a:ext cx="1142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3200" b="0" dirty="0">
                  <a:solidFill>
                    <a:srgbClr val="0000FF"/>
                  </a:solidFill>
                  <a:latin typeface="Times New Roman" charset="0"/>
                </a:rPr>
                <a:t>00001100</a:t>
              </a:r>
            </a:p>
          </p:txBody>
        </p:sp>
        <p:sp>
          <p:nvSpPr>
            <p:cNvPr id="25" name="Rectangle 11"/>
            <p:cNvSpPr>
              <a:spLocks noChangeArrowheads="1"/>
            </p:cNvSpPr>
            <p:nvPr/>
          </p:nvSpPr>
          <p:spPr bwMode="auto">
            <a:xfrm>
              <a:off x="1606" y="893"/>
              <a:ext cx="1151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3200" b="0">
                  <a:solidFill>
                    <a:srgbClr val="0000FF"/>
                  </a:solidFill>
                  <a:latin typeface="Times New Roman" charset="0"/>
                </a:rPr>
                <a:t>00100010</a:t>
              </a:r>
            </a:p>
          </p:txBody>
        </p:sp>
        <p:sp>
          <p:nvSpPr>
            <p:cNvPr id="26" name="Rectangle 12"/>
            <p:cNvSpPr>
              <a:spLocks noChangeArrowheads="1"/>
            </p:cNvSpPr>
            <p:nvPr/>
          </p:nvSpPr>
          <p:spPr bwMode="auto">
            <a:xfrm>
              <a:off x="2758" y="901"/>
              <a:ext cx="1122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3200" b="0">
                  <a:solidFill>
                    <a:srgbClr val="0000FF"/>
                  </a:solidFill>
                  <a:latin typeface="Times New Roman" charset="0"/>
                </a:rPr>
                <a:t>10011110</a:t>
              </a:r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3894" y="901"/>
              <a:ext cx="1151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3200" b="0" dirty="0">
                  <a:solidFill>
                    <a:srgbClr val="0000FF"/>
                  </a:solidFill>
                  <a:latin typeface="Times New Roman" charset="0"/>
                </a:rPr>
                <a:t>00000101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896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9" grpId="0"/>
      <p:bldP spid="108550" grpId="0"/>
      <p:bldP spid="108551" grpId="0"/>
      <p:bldP spid="108552" grpId="0"/>
      <p:bldP spid="108553" grpId="0" animBg="1"/>
      <p:bldP spid="108554" grpId="0" animBg="1"/>
      <p:bldP spid="108555" grpId="0" animBg="1"/>
      <p:bldP spid="10855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Hierarchy in IP addressing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153400" cy="4419600"/>
          </a:xfrm>
        </p:spPr>
        <p:txBody>
          <a:bodyPr/>
          <a:lstStyle/>
          <a:p>
            <a:r>
              <a:rPr lang="en-US" dirty="0"/>
              <a:t>32 bits are partitioned into prefix and suffix</a:t>
            </a:r>
          </a:p>
          <a:p>
            <a:r>
              <a:rPr lang="en-US" dirty="0"/>
              <a:t>Prefix is the </a:t>
            </a:r>
            <a:r>
              <a:rPr lang="en-US" dirty="0">
                <a:solidFill>
                  <a:srgbClr val="0000FF"/>
                </a:solidFill>
              </a:rPr>
              <a:t>network </a:t>
            </a:r>
            <a:r>
              <a:rPr lang="en-US" dirty="0"/>
              <a:t>component; suffix is the </a:t>
            </a:r>
            <a:r>
              <a:rPr lang="en-US" dirty="0">
                <a:solidFill>
                  <a:srgbClr val="0000FF"/>
                </a:solidFill>
              </a:rPr>
              <a:t>host </a:t>
            </a:r>
            <a:r>
              <a:rPr lang="en-US" dirty="0"/>
              <a:t>component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Inter-domain routing operates on network prefix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23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1324338" y="3429000"/>
            <a:ext cx="6495324" cy="1985166"/>
            <a:chOff x="762000" y="4343400"/>
            <a:chExt cx="7334250" cy="2352791"/>
          </a:xfrm>
        </p:grpSpPr>
        <p:grpSp>
          <p:nvGrpSpPr>
            <p:cNvPr id="124932" name="Group 4"/>
            <p:cNvGrpSpPr>
              <a:grpSpLocks/>
            </p:cNvGrpSpPr>
            <p:nvPr/>
          </p:nvGrpSpPr>
          <p:grpSpPr bwMode="auto">
            <a:xfrm>
              <a:off x="762000" y="5243513"/>
              <a:ext cx="7334250" cy="633412"/>
              <a:chOff x="428" y="893"/>
              <a:chExt cx="4620" cy="399"/>
            </a:xfrm>
          </p:grpSpPr>
          <p:grpSp>
            <p:nvGrpSpPr>
              <p:cNvPr id="124948" name="Group 5"/>
              <p:cNvGrpSpPr>
                <a:grpSpLocks/>
              </p:cNvGrpSpPr>
              <p:nvPr/>
            </p:nvGrpSpPr>
            <p:grpSpPr bwMode="auto">
              <a:xfrm>
                <a:off x="428" y="904"/>
                <a:ext cx="4616" cy="328"/>
                <a:chOff x="428" y="904"/>
                <a:chExt cx="4616" cy="328"/>
              </a:xfrm>
            </p:grpSpPr>
            <p:sp>
              <p:nvSpPr>
                <p:cNvPr id="932870" name="Rectangle 6"/>
                <p:cNvSpPr>
                  <a:spLocks noChangeArrowheads="1"/>
                </p:cNvSpPr>
                <p:nvPr/>
              </p:nvSpPr>
              <p:spPr bwMode="auto">
                <a:xfrm>
                  <a:off x="428" y="908"/>
                  <a:ext cx="4616" cy="32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63500" dist="107763" dir="2700000" algn="ctr" rotWithShape="0">
                    <a:schemeClr val="bg2">
                      <a:alpha val="74998"/>
                    </a:schemeClr>
                  </a:outerShdw>
                </a:effec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 sz="1600">
                    <a:ea typeface="+mn-ea"/>
                    <a:cs typeface="+mn-cs"/>
                  </a:endParaRPr>
                </a:p>
              </p:txBody>
            </p:sp>
            <p:sp>
              <p:nvSpPr>
                <p:cNvPr id="124954" name="Line 7"/>
                <p:cNvSpPr>
                  <a:spLocks noChangeShapeType="1"/>
                </p:cNvSpPr>
                <p:nvPr/>
              </p:nvSpPr>
              <p:spPr bwMode="auto">
                <a:xfrm>
                  <a:off x="2728" y="904"/>
                  <a:ext cx="0" cy="32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00"/>
                </a:p>
              </p:txBody>
            </p:sp>
            <p:sp>
              <p:nvSpPr>
                <p:cNvPr id="124955" name="Line 8"/>
                <p:cNvSpPr>
                  <a:spLocks noChangeShapeType="1"/>
                </p:cNvSpPr>
                <p:nvPr/>
              </p:nvSpPr>
              <p:spPr bwMode="auto">
                <a:xfrm>
                  <a:off x="1592" y="904"/>
                  <a:ext cx="0" cy="32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00"/>
                </a:p>
              </p:txBody>
            </p:sp>
            <p:sp>
              <p:nvSpPr>
                <p:cNvPr id="124956" name="Line 9"/>
                <p:cNvSpPr>
                  <a:spLocks noChangeShapeType="1"/>
                </p:cNvSpPr>
                <p:nvPr/>
              </p:nvSpPr>
              <p:spPr bwMode="auto">
                <a:xfrm>
                  <a:off x="3896" y="912"/>
                  <a:ext cx="0" cy="32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00"/>
                </a:p>
              </p:txBody>
            </p:sp>
          </p:grpSp>
          <p:sp>
            <p:nvSpPr>
              <p:cNvPr id="124949" name="Rectangle 10"/>
              <p:cNvSpPr>
                <a:spLocks noChangeArrowheads="1"/>
              </p:cNvSpPr>
              <p:nvPr/>
            </p:nvSpPr>
            <p:spPr bwMode="auto">
              <a:xfrm>
                <a:off x="438" y="893"/>
                <a:ext cx="1144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D3A600"/>
                    </a:solidFill>
                    <a:latin typeface="Times New Roman" charset="0"/>
                  </a:rPr>
                  <a:t>00001100</a:t>
                </a:r>
              </a:p>
            </p:txBody>
          </p:sp>
          <p:sp>
            <p:nvSpPr>
              <p:cNvPr id="124950" name="Rectangle 11"/>
              <p:cNvSpPr>
                <a:spLocks noChangeArrowheads="1"/>
              </p:cNvSpPr>
              <p:nvPr/>
            </p:nvSpPr>
            <p:spPr bwMode="auto">
              <a:xfrm>
                <a:off x="1606" y="893"/>
                <a:ext cx="1154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D3A600"/>
                    </a:solidFill>
                    <a:latin typeface="Times New Roman" charset="0"/>
                  </a:rPr>
                  <a:t>00100010</a:t>
                </a:r>
              </a:p>
            </p:txBody>
          </p:sp>
          <p:sp>
            <p:nvSpPr>
              <p:cNvPr id="124951" name="Rectangle 12"/>
              <p:cNvSpPr>
                <a:spLocks noChangeArrowheads="1"/>
              </p:cNvSpPr>
              <p:nvPr/>
            </p:nvSpPr>
            <p:spPr bwMode="auto">
              <a:xfrm>
                <a:off x="2758" y="901"/>
                <a:ext cx="1125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D3A600"/>
                    </a:solidFill>
                    <a:latin typeface="Times New Roman" charset="0"/>
                  </a:rPr>
                  <a:t>1001111</a:t>
                </a:r>
                <a:r>
                  <a:rPr lang="en-US" sz="2800" b="0" dirty="0">
                    <a:solidFill>
                      <a:srgbClr val="000090"/>
                    </a:solidFill>
                    <a:latin typeface="Times New Roman" charset="0"/>
                  </a:rPr>
                  <a:t>0</a:t>
                </a:r>
              </a:p>
            </p:txBody>
          </p:sp>
          <p:sp>
            <p:nvSpPr>
              <p:cNvPr id="124952" name="Rectangle 13"/>
              <p:cNvSpPr>
                <a:spLocks noChangeArrowheads="1"/>
              </p:cNvSpPr>
              <p:nvPr/>
            </p:nvSpPr>
            <p:spPr bwMode="auto">
              <a:xfrm>
                <a:off x="3894" y="901"/>
                <a:ext cx="1154" cy="3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>
                <a:spAutoFit/>
              </a:bodyPr>
              <a:lstStyle/>
              <a:p>
                <a:pPr algn="l" eaLnBrk="0" hangingPunct="0"/>
                <a:r>
                  <a:rPr lang="en-US" sz="2800" b="0" dirty="0">
                    <a:solidFill>
                      <a:srgbClr val="000090"/>
                    </a:solidFill>
                    <a:latin typeface="Times New Roman" charset="0"/>
                  </a:rPr>
                  <a:t>00000101</a:t>
                </a:r>
              </a:p>
            </p:txBody>
          </p:sp>
        </p:grpSp>
        <p:sp>
          <p:nvSpPr>
            <p:cNvPr id="124933" name="Line 14"/>
            <p:cNvSpPr>
              <a:spLocks noChangeShapeType="1"/>
            </p:cNvSpPr>
            <p:nvPr/>
          </p:nvSpPr>
          <p:spPr bwMode="auto">
            <a:xfrm>
              <a:off x="777875" y="6019800"/>
              <a:ext cx="0" cy="533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34" name="Rectangle 15"/>
            <p:cNvSpPr>
              <a:spLocks noChangeArrowheads="1"/>
            </p:cNvSpPr>
            <p:nvPr/>
          </p:nvSpPr>
          <p:spPr bwMode="auto">
            <a:xfrm>
              <a:off x="2052628" y="6221224"/>
              <a:ext cx="2367538" cy="4384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dirty="0">
                  <a:solidFill>
                    <a:srgbClr val="D3A600"/>
                  </a:solidFill>
                  <a:latin typeface="Arial" charset="0"/>
                </a:rPr>
                <a:t>Network (23 bits)</a:t>
              </a:r>
              <a:r>
                <a:rPr lang="en-US" b="0" dirty="0">
                  <a:solidFill>
                    <a:srgbClr val="D3A600"/>
                  </a:solidFill>
                  <a:latin typeface="Times New Roman" charset="0"/>
                </a:rPr>
                <a:t> </a:t>
              </a:r>
            </a:p>
          </p:txBody>
        </p:sp>
        <p:sp>
          <p:nvSpPr>
            <p:cNvPr id="124935" name="Line 16"/>
            <p:cNvSpPr>
              <a:spLocks noChangeShapeType="1"/>
            </p:cNvSpPr>
            <p:nvPr/>
          </p:nvSpPr>
          <p:spPr bwMode="auto">
            <a:xfrm flipH="1">
              <a:off x="777875" y="6242050"/>
              <a:ext cx="5157787" cy="1905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solidFill>
                  <a:srgbClr val="008000"/>
                </a:solidFill>
              </a:endParaRPr>
            </a:p>
          </p:txBody>
        </p:sp>
        <p:sp>
          <p:nvSpPr>
            <p:cNvPr id="124936" name="Line 17"/>
            <p:cNvSpPr>
              <a:spLocks noChangeShapeType="1"/>
            </p:cNvSpPr>
            <p:nvPr/>
          </p:nvSpPr>
          <p:spPr bwMode="auto">
            <a:xfrm>
              <a:off x="8089900" y="5994400"/>
              <a:ext cx="0" cy="533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37" name="Line 18"/>
            <p:cNvSpPr>
              <a:spLocks noChangeShapeType="1"/>
            </p:cNvSpPr>
            <p:nvPr/>
          </p:nvSpPr>
          <p:spPr bwMode="auto">
            <a:xfrm>
              <a:off x="5935662" y="5937250"/>
              <a:ext cx="0" cy="5334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38" name="Rectangle 19"/>
            <p:cNvSpPr>
              <a:spLocks noChangeArrowheads="1"/>
            </p:cNvSpPr>
            <p:nvPr/>
          </p:nvSpPr>
          <p:spPr bwMode="auto">
            <a:xfrm>
              <a:off x="6182638" y="6221225"/>
              <a:ext cx="1715936" cy="474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dirty="0">
                  <a:solidFill>
                    <a:srgbClr val="000090"/>
                  </a:solidFill>
                  <a:latin typeface="Arial" charset="0"/>
                </a:rPr>
                <a:t>Host (9 bits)</a:t>
              </a:r>
              <a:r>
                <a:rPr lang="en-US" b="0" dirty="0">
                  <a:solidFill>
                    <a:srgbClr val="000090"/>
                  </a:solidFill>
                  <a:latin typeface="Times New Roman" charset="0"/>
                </a:rPr>
                <a:t> </a:t>
              </a:r>
            </a:p>
          </p:txBody>
        </p:sp>
        <p:sp>
          <p:nvSpPr>
            <p:cNvPr id="124939" name="Line 20"/>
            <p:cNvSpPr>
              <a:spLocks noChangeShapeType="1"/>
            </p:cNvSpPr>
            <p:nvPr/>
          </p:nvSpPr>
          <p:spPr bwMode="auto">
            <a:xfrm>
              <a:off x="5965825" y="6242050"/>
              <a:ext cx="2120900" cy="1905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24944" name="Line 25"/>
            <p:cNvSpPr>
              <a:spLocks noChangeShapeType="1"/>
            </p:cNvSpPr>
            <p:nvPr/>
          </p:nvSpPr>
          <p:spPr bwMode="auto">
            <a:xfrm>
              <a:off x="1685925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5" name="Line 26"/>
            <p:cNvSpPr>
              <a:spLocks noChangeShapeType="1"/>
            </p:cNvSpPr>
            <p:nvPr/>
          </p:nvSpPr>
          <p:spPr bwMode="auto">
            <a:xfrm>
              <a:off x="3611562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6" name="Line 27"/>
            <p:cNvSpPr>
              <a:spLocks noChangeShapeType="1"/>
            </p:cNvSpPr>
            <p:nvPr/>
          </p:nvSpPr>
          <p:spPr bwMode="auto">
            <a:xfrm>
              <a:off x="5384800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7" name="Line 28"/>
            <p:cNvSpPr>
              <a:spLocks noChangeShapeType="1"/>
            </p:cNvSpPr>
            <p:nvPr/>
          </p:nvSpPr>
          <p:spPr bwMode="auto">
            <a:xfrm>
              <a:off x="7131050" y="4433888"/>
              <a:ext cx="0" cy="7477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940" name="Text Box 21"/>
            <p:cNvSpPr txBox="1">
              <a:spLocks noChangeArrowheads="1"/>
            </p:cNvSpPr>
            <p:nvPr/>
          </p:nvSpPr>
          <p:spPr bwMode="auto">
            <a:xfrm>
              <a:off x="1404937" y="4343400"/>
              <a:ext cx="540434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12</a:t>
              </a:r>
            </a:p>
          </p:txBody>
        </p:sp>
        <p:sp>
          <p:nvSpPr>
            <p:cNvPr id="124941" name="Text Box 22"/>
            <p:cNvSpPr txBox="1">
              <a:spLocks noChangeArrowheads="1"/>
            </p:cNvSpPr>
            <p:nvPr/>
          </p:nvSpPr>
          <p:spPr bwMode="auto">
            <a:xfrm>
              <a:off x="3306762" y="4343400"/>
              <a:ext cx="540434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34</a:t>
              </a:r>
            </a:p>
          </p:txBody>
        </p:sp>
        <p:sp>
          <p:nvSpPr>
            <p:cNvPr id="124942" name="Text Box 23"/>
            <p:cNvSpPr txBox="1">
              <a:spLocks noChangeArrowheads="1"/>
            </p:cNvSpPr>
            <p:nvPr/>
          </p:nvSpPr>
          <p:spPr bwMode="auto">
            <a:xfrm>
              <a:off x="4991099" y="4343400"/>
              <a:ext cx="706393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158</a:t>
              </a:r>
            </a:p>
          </p:txBody>
        </p:sp>
        <p:sp>
          <p:nvSpPr>
            <p:cNvPr id="124943" name="Text Box 24"/>
            <p:cNvSpPr txBox="1">
              <a:spLocks noChangeArrowheads="1"/>
            </p:cNvSpPr>
            <p:nvPr/>
          </p:nvSpPr>
          <p:spPr bwMode="auto">
            <a:xfrm>
              <a:off x="6942137" y="4343400"/>
              <a:ext cx="374475" cy="4377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1800">
                  <a:latin typeface="Tahoma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99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CIDR: C</a:t>
            </a:r>
            <a:r>
              <a:rPr lang="en-US" dirty="0"/>
              <a:t>lassless inter-domain routing</a:t>
            </a:r>
          </a:p>
        </p:txBody>
      </p:sp>
      <p:sp>
        <p:nvSpPr>
          <p:cNvPr id="1382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Flexible division between network and host addresses</a:t>
            </a:r>
          </a:p>
          <a:p>
            <a:r>
              <a:rPr lang="en-US" dirty="0"/>
              <a:t>Offers a better tradeoff between size of the routing table and efficient use of the IP address space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70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CIDR example</a:t>
            </a:r>
          </a:p>
        </p:txBody>
      </p:sp>
      <p:sp>
        <p:nvSpPr>
          <p:cNvPr id="1105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a network has 50 computers </a:t>
            </a:r>
          </a:p>
          <a:p>
            <a:pPr lvl="1"/>
            <a:r>
              <a:rPr lang="en-US" dirty="0"/>
              <a:t>Allocate 6 bits for host addresses  (2</a:t>
            </a:r>
            <a:r>
              <a:rPr lang="en-US" baseline="30000" dirty="0"/>
              <a:t>5</a:t>
            </a:r>
            <a:r>
              <a:rPr lang="en-US" dirty="0"/>
              <a:t> &lt; 50 &lt; 2</a:t>
            </a:r>
            <a:r>
              <a:rPr lang="en-US" baseline="30000" dirty="0"/>
              <a:t>6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Remaining 32 - 6 = 26 bits as network prefix</a:t>
            </a:r>
          </a:p>
          <a:p>
            <a:r>
              <a:rPr lang="en-US" dirty="0"/>
              <a:t>Flexible boundary means the boundary must be explicitly specified with the network address!</a:t>
            </a:r>
          </a:p>
          <a:p>
            <a:pPr lvl="1"/>
            <a:r>
              <a:rPr lang="en-US" dirty="0"/>
              <a:t>Informally, “</a:t>
            </a:r>
            <a:r>
              <a:rPr lang="en-US" dirty="0">
                <a:solidFill>
                  <a:srgbClr val="0000FF"/>
                </a:solidFill>
              </a:rPr>
              <a:t>slash 26</a:t>
            </a:r>
            <a:r>
              <a:rPr lang="en-US" dirty="0"/>
              <a:t>”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128.23.9</a:t>
            </a:r>
            <a:r>
              <a:rPr lang="en-US" altLang="zh-CN" dirty="0"/>
              <a:t>.8</a:t>
            </a:r>
            <a:r>
              <a:rPr lang="en-US" dirty="0"/>
              <a:t>/26</a:t>
            </a:r>
          </a:p>
          <a:p>
            <a:pPr lvl="1"/>
            <a:r>
              <a:rPr lang="en-US" dirty="0"/>
              <a:t>Formally, prefix represented with a 32-bit mask: 255.255.255.192, where all network prefix bits set to “1” and host suffix bits to “0”</a:t>
            </a:r>
          </a:p>
          <a:p>
            <a:pPr lvl="1"/>
            <a:r>
              <a:rPr lang="en-US" dirty="0"/>
              <a:t>Also known as </a:t>
            </a:r>
            <a:r>
              <a:rPr lang="en-US" dirty="0">
                <a:solidFill>
                  <a:srgbClr val="0000FF"/>
                </a:solidFill>
              </a:rPr>
              <a:t>subnet mask</a:t>
            </a:r>
            <a:r>
              <a:rPr lang="en-US" dirty="0"/>
              <a:t> (a group of machines with the same prefix are in the same subnet)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2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CIDR: Classful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8001000" cy="4419600"/>
          </a:xfrm>
        </p:spPr>
        <p:txBody>
          <a:bodyPr/>
          <a:lstStyle/>
          <a:p>
            <a:r>
              <a:rPr lang="en-US" dirty="0"/>
              <a:t>Three classes</a:t>
            </a:r>
          </a:p>
          <a:p>
            <a:pPr lvl="1"/>
            <a:r>
              <a:rPr lang="en-US" dirty="0"/>
              <a:t>8-bit network prefix (Class A),</a:t>
            </a:r>
          </a:p>
          <a:p>
            <a:pPr lvl="1"/>
            <a:r>
              <a:rPr lang="en-US" dirty="0"/>
              <a:t>16-bit network prefix (Class B), or</a:t>
            </a:r>
          </a:p>
          <a:p>
            <a:pPr lvl="1"/>
            <a:r>
              <a:rPr lang="en-US" dirty="0"/>
              <a:t>24-bit network prefix (Class C)</a:t>
            </a:r>
          </a:p>
          <a:p>
            <a:pPr marL="342900" indent="-342900"/>
            <a:r>
              <a:rPr lang="en-US" dirty="0"/>
              <a:t>Example: an organization needs 500 addresses.</a:t>
            </a:r>
          </a:p>
          <a:p>
            <a:pPr marL="742950" lvl="1" indent="-285750"/>
            <a:r>
              <a:rPr lang="en-US" dirty="0"/>
              <a:t>A single class C address is not enough (&lt;500 hosts)</a:t>
            </a:r>
          </a:p>
          <a:p>
            <a:pPr marL="742950" lvl="1" indent="-285750"/>
            <a:r>
              <a:rPr lang="en-US" dirty="0"/>
              <a:t>Instead, a class B address is allocated (~65K hosts) </a:t>
            </a:r>
          </a:p>
          <a:p>
            <a:pPr marL="1042987" lvl="2" indent="-285750"/>
            <a:r>
              <a:rPr lang="en-US" dirty="0"/>
              <a:t>Huge waste!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571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 is hierarchical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Hierarchical address structure</a:t>
            </a:r>
          </a:p>
          <a:p>
            <a:r>
              <a:rPr lang="en-US" dirty="0"/>
              <a:t>Hierarchical address allocation </a:t>
            </a:r>
          </a:p>
          <a:p>
            <a:r>
              <a:rPr lang="en-US" dirty="0"/>
              <a:t>Hierarchical addresses and routing scalability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0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Allocation done hierarchically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Internet Corporation for Assigned Names and Numbers (ICANN) gives large blocks to…</a:t>
            </a:r>
            <a:endParaRPr lang="en-US" dirty="0">
              <a:sym typeface="Wingdings"/>
            </a:endParaRPr>
          </a:p>
          <a:p>
            <a:r>
              <a:rPr lang="en-US" dirty="0"/>
              <a:t>Regional Internet Registries, such as the American Registry for Internet Names (ARIN), which give blocks to…</a:t>
            </a:r>
          </a:p>
          <a:p>
            <a:r>
              <a:rPr lang="en-US" dirty="0"/>
              <a:t>Large institutions (ISPs), which give addresses to…</a:t>
            </a:r>
          </a:p>
          <a:p>
            <a:r>
              <a:rPr lang="en-US" dirty="0"/>
              <a:t>Individuals and smaller institutions</a:t>
            </a:r>
          </a:p>
          <a:p>
            <a:r>
              <a:rPr lang="en-US" dirty="0"/>
              <a:t>FAKE Example: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ICANN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 ARIN  AT&amp;T  UMICH  EECS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95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CIDR: Addresses allocated in contiguous prefix chunks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Recursively break down chunks as get closer to host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41315" name="Rectangle 3"/>
          <p:cNvSpPr>
            <a:spLocks noChangeArrowheads="1"/>
          </p:cNvSpPr>
          <p:nvPr/>
        </p:nvSpPr>
        <p:spPr bwMode="auto">
          <a:xfrm>
            <a:off x="877888" y="3962400"/>
            <a:ext cx="1326836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 dirty="0">
                <a:latin typeface="Arial" charset="0"/>
              </a:rPr>
              <a:t>12.0.0.0/8</a:t>
            </a:r>
          </a:p>
        </p:txBody>
      </p:sp>
      <p:sp>
        <p:nvSpPr>
          <p:cNvPr id="141316" name="AutoShape 4"/>
          <p:cNvSpPr>
            <a:spLocks noChangeArrowheads="1"/>
          </p:cNvSpPr>
          <p:nvPr/>
        </p:nvSpPr>
        <p:spPr bwMode="auto">
          <a:xfrm rot="16200000">
            <a:off x="961231" y="3906044"/>
            <a:ext cx="2925763" cy="511175"/>
          </a:xfrm>
          <a:prstGeom prst="triangle">
            <a:avLst>
              <a:gd name="adj" fmla="val 49995"/>
            </a:avLst>
          </a:prstGeom>
          <a:solidFill>
            <a:srgbClr val="D3A600"/>
          </a:solidFill>
          <a:ln w="127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41317" name="Rectangle 5"/>
          <p:cNvSpPr>
            <a:spLocks noChangeArrowheads="1"/>
          </p:cNvSpPr>
          <p:nvPr/>
        </p:nvSpPr>
        <p:spPr bwMode="auto">
          <a:xfrm>
            <a:off x="2670175" y="2593975"/>
            <a:ext cx="146947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 dirty="0">
                <a:latin typeface="Arial" charset="0"/>
              </a:rPr>
              <a:t>12.0.0.0/15</a:t>
            </a:r>
          </a:p>
        </p:txBody>
      </p:sp>
      <p:sp>
        <p:nvSpPr>
          <p:cNvPr id="141318" name="Rectangle 6"/>
          <p:cNvSpPr>
            <a:spLocks noChangeArrowheads="1"/>
          </p:cNvSpPr>
          <p:nvPr/>
        </p:nvSpPr>
        <p:spPr bwMode="auto">
          <a:xfrm>
            <a:off x="2670175" y="5257800"/>
            <a:ext cx="1754762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12.253.0.0/16</a:t>
            </a:r>
          </a:p>
        </p:txBody>
      </p:sp>
      <p:sp>
        <p:nvSpPr>
          <p:cNvPr id="141319" name="Rectangle 7"/>
          <p:cNvSpPr>
            <a:spLocks noChangeArrowheads="1"/>
          </p:cNvSpPr>
          <p:nvPr/>
        </p:nvSpPr>
        <p:spPr bwMode="auto">
          <a:xfrm>
            <a:off x="2670175" y="2906713"/>
            <a:ext cx="146947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12.2.0.0/16</a:t>
            </a:r>
          </a:p>
        </p:txBody>
      </p:sp>
      <p:sp>
        <p:nvSpPr>
          <p:cNvPr id="141320" name="Rectangle 8"/>
          <p:cNvSpPr>
            <a:spLocks noChangeArrowheads="1"/>
          </p:cNvSpPr>
          <p:nvPr/>
        </p:nvSpPr>
        <p:spPr bwMode="auto">
          <a:xfrm>
            <a:off x="2670175" y="3219450"/>
            <a:ext cx="146947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12.3.0.0/16</a:t>
            </a:r>
          </a:p>
        </p:txBody>
      </p:sp>
      <p:sp>
        <p:nvSpPr>
          <p:cNvPr id="141321" name="AutoShape 10"/>
          <p:cNvSpPr>
            <a:spLocks noChangeArrowheads="1"/>
          </p:cNvSpPr>
          <p:nvPr/>
        </p:nvSpPr>
        <p:spPr bwMode="auto">
          <a:xfrm rot="16200000">
            <a:off x="3653631" y="3223418"/>
            <a:ext cx="1425575" cy="509588"/>
          </a:xfrm>
          <a:prstGeom prst="triangle">
            <a:avLst>
              <a:gd name="adj" fmla="val 49995"/>
            </a:avLst>
          </a:prstGeom>
          <a:solidFill>
            <a:srgbClr val="D3A600"/>
          </a:solidFill>
          <a:ln w="127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41322" name="Rectangle 11"/>
          <p:cNvSpPr>
            <a:spLocks noChangeArrowheads="1"/>
          </p:cNvSpPr>
          <p:nvPr/>
        </p:nvSpPr>
        <p:spPr bwMode="auto">
          <a:xfrm>
            <a:off x="3192463" y="3817938"/>
            <a:ext cx="314214" cy="120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3600" b="0">
                <a:latin typeface="Arial" charset="0"/>
              </a:rPr>
              <a:t>:</a:t>
            </a:r>
          </a:p>
          <a:p>
            <a:pPr algn="l" eaLnBrk="0" hangingPunct="0"/>
            <a:r>
              <a:rPr lang="en-US" sz="3600" b="0">
                <a:latin typeface="Arial" charset="0"/>
              </a:rPr>
              <a:t>:</a:t>
            </a:r>
          </a:p>
        </p:txBody>
      </p:sp>
      <p:sp>
        <p:nvSpPr>
          <p:cNvPr id="141323" name="AutoShape 12"/>
          <p:cNvSpPr>
            <a:spLocks noChangeArrowheads="1"/>
          </p:cNvSpPr>
          <p:nvPr/>
        </p:nvSpPr>
        <p:spPr bwMode="auto">
          <a:xfrm rot="16200000">
            <a:off x="3795713" y="5187950"/>
            <a:ext cx="1738312" cy="509588"/>
          </a:xfrm>
          <a:prstGeom prst="triangle">
            <a:avLst>
              <a:gd name="adj" fmla="val 49995"/>
            </a:avLst>
          </a:prstGeom>
          <a:solidFill>
            <a:srgbClr val="D3A600"/>
          </a:solidFill>
          <a:ln w="127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41324" name="Rectangle 13"/>
          <p:cNvSpPr>
            <a:spLocks noChangeArrowheads="1"/>
          </p:cNvSpPr>
          <p:nvPr/>
        </p:nvSpPr>
        <p:spPr bwMode="auto">
          <a:xfrm>
            <a:off x="4611688" y="2667000"/>
            <a:ext cx="146947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 dirty="0">
                <a:latin typeface="Arial" charset="0"/>
              </a:rPr>
              <a:t>12.3.0.0/22</a:t>
            </a:r>
          </a:p>
        </p:txBody>
      </p:sp>
      <p:sp>
        <p:nvSpPr>
          <p:cNvPr id="141325" name="Rectangle 14"/>
          <p:cNvSpPr>
            <a:spLocks noChangeArrowheads="1"/>
          </p:cNvSpPr>
          <p:nvPr/>
        </p:nvSpPr>
        <p:spPr bwMode="auto">
          <a:xfrm>
            <a:off x="4611688" y="2971800"/>
            <a:ext cx="146947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 dirty="0">
                <a:latin typeface="Arial" charset="0"/>
              </a:rPr>
              <a:t>12.3.4.0/24</a:t>
            </a:r>
          </a:p>
        </p:txBody>
      </p:sp>
      <p:sp>
        <p:nvSpPr>
          <p:cNvPr id="141326" name="Rectangle 15"/>
          <p:cNvSpPr>
            <a:spLocks noChangeArrowheads="1"/>
          </p:cNvSpPr>
          <p:nvPr/>
        </p:nvSpPr>
        <p:spPr bwMode="auto">
          <a:xfrm>
            <a:off x="5210175" y="3124200"/>
            <a:ext cx="271459" cy="831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2400" b="0" dirty="0">
                <a:latin typeface="Arial" charset="0"/>
              </a:rPr>
              <a:t>:</a:t>
            </a:r>
          </a:p>
          <a:p>
            <a:pPr algn="l" eaLnBrk="0" hangingPunct="0"/>
            <a:r>
              <a:rPr lang="en-US" sz="2400" b="0" dirty="0">
                <a:latin typeface="Arial" charset="0"/>
              </a:rPr>
              <a:t>:</a:t>
            </a:r>
          </a:p>
        </p:txBody>
      </p:sp>
      <p:sp>
        <p:nvSpPr>
          <p:cNvPr id="141327" name="Rectangle 16"/>
          <p:cNvSpPr>
            <a:spLocks noChangeArrowheads="1"/>
          </p:cNvSpPr>
          <p:nvPr/>
        </p:nvSpPr>
        <p:spPr bwMode="auto">
          <a:xfrm>
            <a:off x="4572000" y="3810000"/>
            <a:ext cx="1754762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 dirty="0">
                <a:latin typeface="Arial" charset="0"/>
              </a:rPr>
              <a:t>12.3.254.0/23</a:t>
            </a:r>
          </a:p>
        </p:txBody>
      </p:sp>
      <p:sp>
        <p:nvSpPr>
          <p:cNvPr id="141328" name="Rectangle 17"/>
          <p:cNvSpPr>
            <a:spLocks noChangeArrowheads="1"/>
          </p:cNvSpPr>
          <p:nvPr/>
        </p:nvSpPr>
        <p:spPr bwMode="auto">
          <a:xfrm>
            <a:off x="4984750" y="4592638"/>
            <a:ext cx="1754762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12.253.0.0/19</a:t>
            </a:r>
          </a:p>
        </p:txBody>
      </p:sp>
      <p:sp>
        <p:nvSpPr>
          <p:cNvPr id="141329" name="Rectangle 18"/>
          <p:cNvSpPr>
            <a:spLocks noChangeArrowheads="1"/>
          </p:cNvSpPr>
          <p:nvPr/>
        </p:nvSpPr>
        <p:spPr bwMode="auto">
          <a:xfrm>
            <a:off x="4984750" y="4841875"/>
            <a:ext cx="1897404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12.253.32.0/19</a:t>
            </a:r>
          </a:p>
        </p:txBody>
      </p:sp>
      <p:sp>
        <p:nvSpPr>
          <p:cNvPr id="141330" name="Rectangle 19"/>
          <p:cNvSpPr>
            <a:spLocks noChangeArrowheads="1"/>
          </p:cNvSpPr>
          <p:nvPr/>
        </p:nvSpPr>
        <p:spPr bwMode="auto">
          <a:xfrm>
            <a:off x="4984750" y="5092700"/>
            <a:ext cx="1897404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12.253.64.0/19</a:t>
            </a:r>
          </a:p>
        </p:txBody>
      </p:sp>
      <p:sp>
        <p:nvSpPr>
          <p:cNvPr id="141331" name="Rectangle 20"/>
          <p:cNvSpPr>
            <a:spLocks noChangeArrowheads="1"/>
          </p:cNvSpPr>
          <p:nvPr/>
        </p:nvSpPr>
        <p:spPr bwMode="auto">
          <a:xfrm>
            <a:off x="4984750" y="5405438"/>
            <a:ext cx="2182689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12.253.64.108/30</a:t>
            </a:r>
          </a:p>
        </p:txBody>
      </p:sp>
      <p:sp>
        <p:nvSpPr>
          <p:cNvPr id="141332" name="Rectangle 21"/>
          <p:cNvSpPr>
            <a:spLocks noChangeArrowheads="1"/>
          </p:cNvSpPr>
          <p:nvPr/>
        </p:nvSpPr>
        <p:spPr bwMode="auto">
          <a:xfrm>
            <a:off x="4984750" y="5654675"/>
            <a:ext cx="1897404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12.253.96.0/18</a:t>
            </a:r>
          </a:p>
        </p:txBody>
      </p:sp>
      <p:sp>
        <p:nvSpPr>
          <p:cNvPr id="141333" name="Rectangle 22"/>
          <p:cNvSpPr>
            <a:spLocks noChangeArrowheads="1"/>
          </p:cNvSpPr>
          <p:nvPr/>
        </p:nvSpPr>
        <p:spPr bwMode="auto">
          <a:xfrm>
            <a:off x="4984750" y="5903913"/>
            <a:ext cx="2040047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b="0">
                <a:latin typeface="Arial" charset="0"/>
              </a:rPr>
              <a:t>12.253.128.0/17</a:t>
            </a:r>
          </a:p>
        </p:txBody>
      </p:sp>
      <p:sp>
        <p:nvSpPr>
          <p:cNvPr id="141334" name="AutoShape 23"/>
          <p:cNvSpPr>
            <a:spLocks noChangeArrowheads="1"/>
          </p:cNvSpPr>
          <p:nvPr/>
        </p:nvSpPr>
        <p:spPr bwMode="auto">
          <a:xfrm rot="16200000">
            <a:off x="6006306" y="2713832"/>
            <a:ext cx="1050925" cy="957262"/>
          </a:xfrm>
          <a:prstGeom prst="triangle">
            <a:avLst>
              <a:gd name="adj" fmla="val 49995"/>
            </a:avLst>
          </a:prstGeom>
          <a:solidFill>
            <a:srgbClr val="D3A600"/>
          </a:solidFill>
          <a:ln w="12700">
            <a:solidFill>
              <a:schemeClr val="hlink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41335" name="Rectangle 24"/>
          <p:cNvSpPr>
            <a:spLocks noChangeArrowheads="1"/>
          </p:cNvSpPr>
          <p:nvPr/>
        </p:nvSpPr>
        <p:spPr bwMode="auto">
          <a:xfrm>
            <a:off x="7226300" y="2590800"/>
            <a:ext cx="271459" cy="1200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2400" b="0" dirty="0">
                <a:latin typeface="Arial" charset="0"/>
              </a:rPr>
              <a:t>:</a:t>
            </a:r>
          </a:p>
          <a:p>
            <a:pPr algn="l" eaLnBrk="0" hangingPunct="0"/>
            <a:r>
              <a:rPr lang="en-US" sz="2400" b="0" dirty="0">
                <a:latin typeface="Arial" charset="0"/>
              </a:rPr>
              <a:t>:</a:t>
            </a:r>
          </a:p>
          <a:p>
            <a:pPr algn="l" eaLnBrk="0" hangingPunct="0"/>
            <a:r>
              <a:rPr lang="en-US" sz="2400" b="0" dirty="0">
                <a:latin typeface="Arial" charset="0"/>
              </a:rPr>
              <a:t>:</a:t>
            </a:r>
          </a:p>
        </p:txBody>
      </p:sp>
      <p:sp>
        <p:nvSpPr>
          <p:cNvPr id="141337" name="Rectangle 26"/>
          <p:cNvSpPr>
            <a:spLocks noChangeArrowheads="1"/>
          </p:cNvSpPr>
          <p:nvPr/>
        </p:nvSpPr>
        <p:spPr bwMode="auto">
          <a:xfrm>
            <a:off x="3200400" y="5486400"/>
            <a:ext cx="314214" cy="64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3600" b="0" dirty="0">
                <a:latin typeface="Arial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85804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/>
      <p:bldP spid="141316" grpId="0" animBg="1"/>
      <p:bldP spid="141317" grpId="0"/>
      <p:bldP spid="141318" grpId="0"/>
      <p:bldP spid="141319" grpId="0"/>
      <p:bldP spid="141320" grpId="0"/>
      <p:bldP spid="141321" grpId="0" animBg="1"/>
      <p:bldP spid="141322" grpId="0"/>
      <p:bldP spid="141323" grpId="0" animBg="1"/>
      <p:bldP spid="141324" grpId="0"/>
      <p:bldP spid="141325" grpId="0"/>
      <p:bldP spid="141326" grpId="0"/>
      <p:bldP spid="141327" grpId="0"/>
      <p:bldP spid="141328" grpId="0"/>
      <p:bldP spid="141329" grpId="0"/>
      <p:bldP spid="141330" grpId="0"/>
      <p:bldP spid="141331" grpId="0"/>
      <p:bldP spid="141332" grpId="0"/>
      <p:bldP spid="141333" grpId="0"/>
      <p:bldP spid="141334" grpId="0" animBg="1"/>
      <p:bldP spid="141335" grpId="0"/>
      <p:bldP spid="14133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FAKE example in more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ICANN gave ARIN several /8s</a:t>
            </a:r>
            <a:endParaRPr lang="en-US" b="1" dirty="0"/>
          </a:p>
          <a:p>
            <a:r>
              <a:rPr lang="en-US" dirty="0"/>
              <a:t>ARIN gave AT&amp;T one /8, </a:t>
            </a:r>
            <a:r>
              <a:rPr lang="en-US" b="1" dirty="0"/>
              <a:t>12.0/8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Network Prefix</a:t>
            </a:r>
            <a:r>
              <a:rPr lang="en-US" b="1" dirty="0"/>
              <a:t>: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>
                <a:solidFill>
                  <a:srgbClr val="D3A600"/>
                </a:solidFill>
              </a:rPr>
              <a:t>00001100</a:t>
            </a:r>
          </a:p>
          <a:p>
            <a:r>
              <a:rPr lang="en-US" dirty="0"/>
              <a:t>AT&amp;T gave UMICH a /16, </a:t>
            </a:r>
            <a:r>
              <a:rPr lang="en-US" b="1" dirty="0"/>
              <a:t>12.34/16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Network Prefix</a:t>
            </a:r>
            <a:r>
              <a:rPr lang="en-US" b="1" dirty="0"/>
              <a:t>:</a:t>
            </a:r>
            <a:r>
              <a:rPr lang="en-US" b="1" dirty="0">
                <a:solidFill>
                  <a:srgbClr val="F47A00"/>
                </a:solidFill>
              </a:rPr>
              <a:t> </a:t>
            </a:r>
            <a:r>
              <a:rPr lang="en-US" b="1" dirty="0">
                <a:solidFill>
                  <a:srgbClr val="D3A600"/>
                </a:solidFill>
              </a:rPr>
              <a:t>00001100</a:t>
            </a:r>
            <a:r>
              <a:rPr lang="en-US" b="1" dirty="0">
                <a:solidFill>
                  <a:srgbClr val="F47A00"/>
                </a:solidFill>
              </a:rPr>
              <a:t>00100010</a:t>
            </a:r>
            <a:endParaRPr lang="en-US" b="1" dirty="0">
              <a:solidFill>
                <a:srgbClr val="008000"/>
              </a:solidFill>
            </a:endParaRPr>
          </a:p>
          <a:p>
            <a:r>
              <a:rPr lang="en-US" dirty="0"/>
              <a:t>UMICH gave EECS a /24, </a:t>
            </a:r>
            <a:r>
              <a:rPr lang="en-US" b="1" dirty="0"/>
              <a:t>12.34.56/24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Network Prefix</a:t>
            </a:r>
            <a:r>
              <a:rPr lang="en-US" b="1" dirty="0"/>
              <a:t>:</a:t>
            </a:r>
            <a:r>
              <a:rPr lang="en-US" b="1" dirty="0">
                <a:solidFill>
                  <a:srgbClr val="F47A00"/>
                </a:solidFill>
              </a:rPr>
              <a:t> </a:t>
            </a:r>
            <a:r>
              <a:rPr lang="en-US" b="1" dirty="0">
                <a:solidFill>
                  <a:srgbClr val="D3A600"/>
                </a:solidFill>
              </a:rPr>
              <a:t>00001100</a:t>
            </a:r>
            <a:r>
              <a:rPr lang="en-US" b="1" dirty="0">
                <a:solidFill>
                  <a:srgbClr val="F47A00"/>
                </a:solidFill>
              </a:rPr>
              <a:t>00100010</a:t>
            </a:r>
            <a:r>
              <a:rPr lang="en-US" b="1" dirty="0">
                <a:solidFill>
                  <a:schemeClr val="tx1"/>
                </a:solidFill>
              </a:rPr>
              <a:t>00111000</a:t>
            </a:r>
          </a:p>
          <a:p>
            <a:r>
              <a:rPr lang="en-US" dirty="0">
                <a:solidFill>
                  <a:srgbClr val="000000"/>
                </a:solidFill>
              </a:rPr>
              <a:t>EECS gave me specific address </a:t>
            </a:r>
            <a:r>
              <a:rPr lang="en-US" b="1" dirty="0">
                <a:solidFill>
                  <a:srgbClr val="000000"/>
                </a:solidFill>
              </a:rPr>
              <a:t>12.34.56.78</a:t>
            </a:r>
          </a:p>
          <a:p>
            <a:pPr lvl="1"/>
            <a:r>
              <a:rPr lang="en-US" dirty="0"/>
              <a:t>Address: </a:t>
            </a:r>
            <a:r>
              <a:rPr lang="en-US" b="1" dirty="0">
                <a:solidFill>
                  <a:srgbClr val="D3A600"/>
                </a:solidFill>
              </a:rPr>
              <a:t>00001100</a:t>
            </a:r>
            <a:r>
              <a:rPr lang="en-US" b="1" dirty="0">
                <a:solidFill>
                  <a:srgbClr val="F47A00"/>
                </a:solidFill>
              </a:rPr>
              <a:t>00100010</a:t>
            </a:r>
            <a:r>
              <a:rPr lang="en-US" b="1" dirty="0">
                <a:solidFill>
                  <a:schemeClr val="tx1"/>
                </a:solidFill>
              </a:rPr>
              <a:t>00111000</a:t>
            </a:r>
            <a:r>
              <a:rPr lang="en-US" b="1" dirty="0">
                <a:solidFill>
                  <a:srgbClr val="FF0000"/>
                </a:solidFill>
              </a:rPr>
              <a:t>01001110</a:t>
            </a:r>
          </a:p>
          <a:p>
            <a:pPr lvl="1"/>
            <a:endParaRPr lang="en-US" dirty="0">
              <a:solidFill>
                <a:srgbClr val="0000FF"/>
              </a:solidFill>
            </a:endParaRPr>
          </a:p>
          <a:p>
            <a:endParaRPr lang="en-US" dirty="0">
              <a:solidFill>
                <a:srgbClr val="000000"/>
              </a:solidFill>
            </a:endParaRPr>
          </a:p>
          <a:p>
            <a:pPr lvl="1"/>
            <a:endParaRPr lang="en-US" b="1" dirty="0">
              <a:solidFill>
                <a:srgbClr val="F47A0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0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 is hierarchical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Hierarchical address structure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Hierarchical address allocation </a:t>
            </a:r>
          </a:p>
          <a:p>
            <a:r>
              <a:rPr lang="en-US" dirty="0"/>
              <a:t>Hierarchical addresses and routing scalability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03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 </a:t>
            </a:r>
            <a:r>
              <a:rPr lang="en-US" dirty="0">
                <a:sym typeface="Wingdings"/>
              </a:rPr>
              <a:t> Scalable</a:t>
            </a:r>
            <a:r>
              <a:rPr lang="en-US" dirty="0"/>
              <a:t> routing?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Hierarchical address allocation only helps routing scalability if allocation matches topological hierarchy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8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 </a:t>
            </a:r>
            <a:r>
              <a:rPr lang="en-US" dirty="0">
                <a:sym typeface="Wingdings"/>
              </a:rPr>
              <a:t> Scalable</a:t>
            </a:r>
            <a:r>
              <a:rPr lang="en-US" dirty="0"/>
              <a:t> routing?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20" name="Cloud 19"/>
          <p:cNvSpPr/>
          <p:nvPr/>
        </p:nvSpPr>
        <p:spPr bwMode="auto">
          <a:xfrm>
            <a:off x="4191000" y="3474083"/>
            <a:ext cx="2590800" cy="1219200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AT&amp;T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a.0.0.0/8</a:t>
            </a:r>
          </a:p>
        </p:txBody>
      </p:sp>
      <p:sp>
        <p:nvSpPr>
          <p:cNvPr id="35" name="Cloud 34"/>
          <p:cNvSpPr/>
          <p:nvPr/>
        </p:nvSpPr>
        <p:spPr bwMode="auto">
          <a:xfrm>
            <a:off x="533400" y="3397883"/>
            <a:ext cx="1905000" cy="1219200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rPr>
              <a:t>France 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rPr>
              <a:t>Telecom</a:t>
            </a:r>
          </a:p>
        </p:txBody>
      </p:sp>
      <p:sp>
        <p:nvSpPr>
          <p:cNvPr id="38" name="Cloud 37"/>
          <p:cNvSpPr/>
          <p:nvPr/>
        </p:nvSpPr>
        <p:spPr bwMode="auto">
          <a:xfrm>
            <a:off x="3276600" y="4921883"/>
            <a:ext cx="2133600" cy="10668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UMICH-D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a.b.0.0/16</a:t>
            </a:r>
          </a:p>
        </p:txBody>
      </p:sp>
      <p:sp>
        <p:nvSpPr>
          <p:cNvPr id="39" name="Cloud 38"/>
          <p:cNvSpPr/>
          <p:nvPr/>
        </p:nvSpPr>
        <p:spPr bwMode="auto">
          <a:xfrm>
            <a:off x="5638800" y="4921883"/>
            <a:ext cx="2133600" cy="1066800"/>
          </a:xfrm>
          <a:prstGeom prst="cloud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UMICH-AA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a.c.0.0/16</a:t>
            </a:r>
          </a:p>
        </p:txBody>
      </p:sp>
      <p:sp>
        <p:nvSpPr>
          <p:cNvPr id="4" name="Freeform 3"/>
          <p:cNvSpPr/>
          <p:nvPr/>
        </p:nvSpPr>
        <p:spPr>
          <a:xfrm>
            <a:off x="2381365" y="3969443"/>
            <a:ext cx="2349040" cy="2507557"/>
          </a:xfrm>
          <a:custGeom>
            <a:avLst/>
            <a:gdLst>
              <a:gd name="connsiteX0" fmla="*/ 0 w 2349040"/>
              <a:gd name="connsiteY0" fmla="*/ 2513 h 2507557"/>
              <a:gd name="connsiteX1" fmla="*/ 2222607 w 2349040"/>
              <a:gd name="connsiteY1" fmla="*/ 231848 h 2507557"/>
              <a:gd name="connsiteX2" fmla="*/ 2010930 w 2349040"/>
              <a:gd name="connsiteY2" fmla="*/ 1466729 h 2507557"/>
              <a:gd name="connsiteX3" fmla="*/ 1481738 w 2349040"/>
              <a:gd name="connsiteY3" fmla="*/ 2507557 h 2507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9040" h="2507557">
                <a:moveTo>
                  <a:pt x="0" y="2513"/>
                </a:moveTo>
                <a:cubicBezTo>
                  <a:pt x="943726" y="-4838"/>
                  <a:pt x="1887452" y="-12188"/>
                  <a:pt x="2222607" y="231848"/>
                </a:cubicBezTo>
                <a:cubicBezTo>
                  <a:pt x="2557762" y="475884"/>
                  <a:pt x="2134408" y="1087444"/>
                  <a:pt x="2010930" y="1466729"/>
                </a:cubicBezTo>
                <a:cubicBezTo>
                  <a:pt x="1887452" y="1846014"/>
                  <a:pt x="1481738" y="2507557"/>
                  <a:pt x="1481738" y="2507557"/>
                </a:cubicBezTo>
              </a:path>
            </a:pathLst>
          </a:custGeom>
          <a:ln w="38100" cmpd="sng">
            <a:solidFill>
              <a:srgbClr val="4F81BD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 flipH="1">
            <a:off x="4800600" y="4617083"/>
            <a:ext cx="228600" cy="304800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5943600" y="4540883"/>
            <a:ext cx="304800" cy="457200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Freeform 10"/>
          <p:cNvSpPr/>
          <p:nvPr/>
        </p:nvSpPr>
        <p:spPr>
          <a:xfrm>
            <a:off x="2469564" y="3830826"/>
            <a:ext cx="4939127" cy="2240427"/>
          </a:xfrm>
          <a:custGeom>
            <a:avLst/>
            <a:gdLst>
              <a:gd name="connsiteX0" fmla="*/ 0 w 4939127"/>
              <a:gd name="connsiteY0" fmla="*/ 0 h 2240427"/>
              <a:gd name="connsiteX1" fmla="*/ 3580867 w 4939127"/>
              <a:gd name="connsiteY1" fmla="*/ 105847 h 2240427"/>
              <a:gd name="connsiteX2" fmla="*/ 3580867 w 4939127"/>
              <a:gd name="connsiteY2" fmla="*/ 105847 h 2240427"/>
              <a:gd name="connsiteX3" fmla="*/ 4939127 w 4939127"/>
              <a:gd name="connsiteY3" fmla="*/ 2240427 h 2240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9127" h="2240427">
                <a:moveTo>
                  <a:pt x="0" y="0"/>
                </a:moveTo>
                <a:lnTo>
                  <a:pt x="3580867" y="105847"/>
                </a:lnTo>
                <a:lnTo>
                  <a:pt x="3580867" y="105847"/>
                </a:lnTo>
                <a:lnTo>
                  <a:pt x="4939127" y="2240427"/>
                </a:lnTo>
              </a:path>
            </a:pathLst>
          </a:custGeom>
          <a:ln w="38100" cmpd="sng">
            <a:solidFill>
              <a:srgbClr val="FF66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2" name="Left Arrow 11"/>
          <p:cNvSpPr/>
          <p:nvPr/>
        </p:nvSpPr>
        <p:spPr bwMode="auto">
          <a:xfrm rot="10800000">
            <a:off x="2667000" y="2940683"/>
            <a:ext cx="1524000" cy="152400"/>
          </a:xfrm>
          <a:prstGeom prst="leftArrow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Left Arrow 21"/>
          <p:cNvSpPr/>
          <p:nvPr/>
        </p:nvSpPr>
        <p:spPr bwMode="auto">
          <a:xfrm rot="10800000">
            <a:off x="2667000" y="3474083"/>
            <a:ext cx="1524000" cy="152400"/>
          </a:xfrm>
          <a:prstGeom prst="leftArrow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34426" y="2559683"/>
            <a:ext cx="2137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err="1">
                <a:latin typeface="+mn-lt"/>
              </a:rPr>
              <a:t>a.c</a:t>
            </a:r>
            <a:r>
              <a:rPr lang="en-US" b="0" dirty="0">
                <a:latin typeface="+mn-lt"/>
              </a:rPr>
              <a:t>.*.* is this 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8828" y="3150173"/>
            <a:ext cx="2123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err="1">
                <a:latin typeface="+mn-lt"/>
              </a:rPr>
              <a:t>a.b</a:t>
            </a:r>
            <a:r>
              <a:rPr lang="en-US" b="0" dirty="0">
                <a:latin typeface="+mn-lt"/>
              </a:rPr>
              <a:t>.*.* is this way</a:t>
            </a:r>
          </a:p>
        </p:txBody>
      </p:sp>
    </p:spTree>
    <p:extLst>
      <p:ext uri="{BB962C8B-B14F-4D97-AF65-F5344CB8AC3E}">
        <p14:creationId xmlns:p14="http://schemas.microsoft.com/office/powerpoint/2010/main" val="157865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" grpId="0" animBg="1"/>
      <p:bldP spid="11" grpId="0" animBg="1"/>
      <p:bldP spid="12" grpId="0" animBg="1"/>
      <p:bldP spid="22" grpId="0" animBg="1"/>
      <p:bldP spid="13" grpId="0"/>
      <p:bldP spid="2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 </a:t>
            </a:r>
            <a:r>
              <a:rPr lang="en-US" dirty="0">
                <a:sym typeface="Wingdings"/>
              </a:rPr>
              <a:t> Scalable</a:t>
            </a:r>
            <a:r>
              <a:rPr lang="en-US" dirty="0"/>
              <a:t> routing?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0" name="Cloud 19"/>
          <p:cNvSpPr/>
          <p:nvPr/>
        </p:nvSpPr>
        <p:spPr bwMode="auto">
          <a:xfrm>
            <a:off x="4191000" y="3474083"/>
            <a:ext cx="2590800" cy="1219200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AT&amp;T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a.0.0.0/8</a:t>
            </a:r>
          </a:p>
        </p:txBody>
      </p:sp>
      <p:sp>
        <p:nvSpPr>
          <p:cNvPr id="35" name="Cloud 34"/>
          <p:cNvSpPr/>
          <p:nvPr/>
        </p:nvSpPr>
        <p:spPr bwMode="auto">
          <a:xfrm>
            <a:off x="533400" y="3397883"/>
            <a:ext cx="1905000" cy="1219200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rPr>
              <a:t>France 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rPr>
              <a:t>Telecom</a:t>
            </a:r>
          </a:p>
        </p:txBody>
      </p:sp>
      <p:sp>
        <p:nvSpPr>
          <p:cNvPr id="38" name="Cloud 37"/>
          <p:cNvSpPr/>
          <p:nvPr/>
        </p:nvSpPr>
        <p:spPr bwMode="auto">
          <a:xfrm>
            <a:off x="3276600" y="4921883"/>
            <a:ext cx="2133600" cy="10668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UMICH-D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a.b.0.0/16</a:t>
            </a:r>
          </a:p>
        </p:txBody>
      </p:sp>
      <p:sp>
        <p:nvSpPr>
          <p:cNvPr id="39" name="Cloud 38"/>
          <p:cNvSpPr/>
          <p:nvPr/>
        </p:nvSpPr>
        <p:spPr bwMode="auto">
          <a:xfrm>
            <a:off x="5638800" y="4921883"/>
            <a:ext cx="2133600" cy="1066800"/>
          </a:xfrm>
          <a:prstGeom prst="cloud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UMICH-AA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a.c.0.0/16</a:t>
            </a:r>
          </a:p>
        </p:txBody>
      </p:sp>
      <p:sp>
        <p:nvSpPr>
          <p:cNvPr id="4" name="Freeform 3"/>
          <p:cNvSpPr/>
          <p:nvPr/>
        </p:nvSpPr>
        <p:spPr>
          <a:xfrm>
            <a:off x="2381365" y="3969443"/>
            <a:ext cx="2349040" cy="2507557"/>
          </a:xfrm>
          <a:custGeom>
            <a:avLst/>
            <a:gdLst>
              <a:gd name="connsiteX0" fmla="*/ 0 w 2349040"/>
              <a:gd name="connsiteY0" fmla="*/ 2513 h 2507557"/>
              <a:gd name="connsiteX1" fmla="*/ 2222607 w 2349040"/>
              <a:gd name="connsiteY1" fmla="*/ 231848 h 2507557"/>
              <a:gd name="connsiteX2" fmla="*/ 2010930 w 2349040"/>
              <a:gd name="connsiteY2" fmla="*/ 1466729 h 2507557"/>
              <a:gd name="connsiteX3" fmla="*/ 1481738 w 2349040"/>
              <a:gd name="connsiteY3" fmla="*/ 2507557 h 2507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9040" h="2507557">
                <a:moveTo>
                  <a:pt x="0" y="2513"/>
                </a:moveTo>
                <a:cubicBezTo>
                  <a:pt x="943726" y="-4838"/>
                  <a:pt x="1887452" y="-12188"/>
                  <a:pt x="2222607" y="231848"/>
                </a:cubicBezTo>
                <a:cubicBezTo>
                  <a:pt x="2557762" y="475884"/>
                  <a:pt x="2134408" y="1087444"/>
                  <a:pt x="2010930" y="1466729"/>
                </a:cubicBezTo>
                <a:cubicBezTo>
                  <a:pt x="1887452" y="1846014"/>
                  <a:pt x="1481738" y="2507557"/>
                  <a:pt x="1481738" y="2507557"/>
                </a:cubicBezTo>
              </a:path>
            </a:pathLst>
          </a:custGeom>
          <a:ln w="38100" cmpd="sng">
            <a:solidFill>
              <a:srgbClr val="4F81BD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 flipH="1">
            <a:off x="4800600" y="4617083"/>
            <a:ext cx="228600" cy="304800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5943600" y="4540883"/>
            <a:ext cx="304800" cy="457200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Freeform 10"/>
          <p:cNvSpPr/>
          <p:nvPr/>
        </p:nvSpPr>
        <p:spPr>
          <a:xfrm>
            <a:off x="2469564" y="3830826"/>
            <a:ext cx="4939127" cy="2240427"/>
          </a:xfrm>
          <a:custGeom>
            <a:avLst/>
            <a:gdLst>
              <a:gd name="connsiteX0" fmla="*/ 0 w 4939127"/>
              <a:gd name="connsiteY0" fmla="*/ 0 h 2240427"/>
              <a:gd name="connsiteX1" fmla="*/ 3580867 w 4939127"/>
              <a:gd name="connsiteY1" fmla="*/ 105847 h 2240427"/>
              <a:gd name="connsiteX2" fmla="*/ 3580867 w 4939127"/>
              <a:gd name="connsiteY2" fmla="*/ 105847 h 2240427"/>
              <a:gd name="connsiteX3" fmla="*/ 4939127 w 4939127"/>
              <a:gd name="connsiteY3" fmla="*/ 2240427 h 2240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9127" h="2240427">
                <a:moveTo>
                  <a:pt x="0" y="0"/>
                </a:moveTo>
                <a:lnTo>
                  <a:pt x="3580867" y="105847"/>
                </a:lnTo>
                <a:lnTo>
                  <a:pt x="3580867" y="105847"/>
                </a:lnTo>
                <a:lnTo>
                  <a:pt x="4939127" y="2240427"/>
                </a:lnTo>
              </a:path>
            </a:pathLst>
          </a:custGeom>
          <a:ln w="38100" cmpd="sng">
            <a:solidFill>
              <a:srgbClr val="FF66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2" name="Left Arrow 21"/>
          <p:cNvSpPr/>
          <p:nvPr/>
        </p:nvSpPr>
        <p:spPr bwMode="auto">
          <a:xfrm rot="10800000">
            <a:off x="2667000" y="3474083"/>
            <a:ext cx="1524000" cy="152400"/>
          </a:xfrm>
          <a:prstGeom prst="leftArrow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48828" y="3150173"/>
            <a:ext cx="17155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latin typeface="+mn-lt"/>
              </a:rPr>
              <a:t>a.*.*.* is this way</a:t>
            </a:r>
          </a:p>
        </p:txBody>
      </p:sp>
      <p:sp>
        <p:nvSpPr>
          <p:cNvPr id="15" name="Cloud 14"/>
          <p:cNvSpPr/>
          <p:nvPr/>
        </p:nvSpPr>
        <p:spPr bwMode="auto">
          <a:xfrm>
            <a:off x="7543800" y="4191000"/>
            <a:ext cx="1447800" cy="990600"/>
          </a:xfrm>
          <a:prstGeom prst="cloud">
            <a:avLst/>
          </a:prstGeom>
          <a:solidFill>
            <a:schemeClr val="bg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foo.com</a:t>
            </a:r>
            <a:b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a.d.0.0/16</a:t>
            </a:r>
          </a:p>
        </p:txBody>
      </p:sp>
      <p:cxnSp>
        <p:nvCxnSpPr>
          <p:cNvPr id="17" name="Straight Connector 16"/>
          <p:cNvCxnSpPr/>
          <p:nvPr/>
        </p:nvCxnSpPr>
        <p:spPr bwMode="auto">
          <a:xfrm>
            <a:off x="6781800" y="4114800"/>
            <a:ext cx="766491" cy="571500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Rounded Rectangle 17"/>
          <p:cNvSpPr/>
          <p:nvPr/>
        </p:nvSpPr>
        <p:spPr bwMode="auto">
          <a:xfrm>
            <a:off x="685800" y="1676400"/>
            <a:ext cx="7848600" cy="1219200"/>
          </a:xfrm>
          <a:prstGeom prst="roundRect">
            <a:avLst/>
          </a:prstGeom>
          <a:solidFill>
            <a:srgbClr val="D3A600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Can add new </a:t>
            </a:r>
            <a:r>
              <a:rPr lang="en-US" sz="2800" b="0" dirty="0">
                <a:solidFill>
                  <a:srgbClr val="0000FF"/>
                </a:solidFill>
              </a:rPr>
              <a:t>hosts/networks without updating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the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 routing entries at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France Telecom</a:t>
            </a:r>
          </a:p>
        </p:txBody>
      </p:sp>
    </p:spTree>
    <p:extLst>
      <p:ext uri="{BB962C8B-B14F-4D97-AF65-F5344CB8AC3E}">
        <p14:creationId xmlns:p14="http://schemas.microsoft.com/office/powerpoint/2010/main" val="185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/>
          <p:cNvCxnSpPr/>
          <p:nvPr/>
        </p:nvCxnSpPr>
        <p:spPr bwMode="auto">
          <a:xfrm flipH="1">
            <a:off x="7391400" y="4419598"/>
            <a:ext cx="228600" cy="609602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 </a:t>
            </a:r>
            <a:r>
              <a:rPr lang="en-US" dirty="0">
                <a:sym typeface="Wingdings"/>
              </a:rPr>
              <a:t> Scalable</a:t>
            </a:r>
            <a:r>
              <a:rPr lang="en-US" dirty="0"/>
              <a:t> routing?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20" name="Cloud 19"/>
          <p:cNvSpPr/>
          <p:nvPr/>
        </p:nvSpPr>
        <p:spPr bwMode="auto">
          <a:xfrm>
            <a:off x="4191000" y="3474083"/>
            <a:ext cx="2590800" cy="1219200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AT&amp;T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a.0.0.0/8</a:t>
            </a:r>
          </a:p>
        </p:txBody>
      </p:sp>
      <p:sp>
        <p:nvSpPr>
          <p:cNvPr id="38" name="Cloud 37"/>
          <p:cNvSpPr/>
          <p:nvPr/>
        </p:nvSpPr>
        <p:spPr bwMode="auto">
          <a:xfrm>
            <a:off x="3276600" y="4921883"/>
            <a:ext cx="2133600" cy="10668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UMICH-D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a.b.0.0/16</a:t>
            </a:r>
          </a:p>
        </p:txBody>
      </p:sp>
      <p:sp>
        <p:nvSpPr>
          <p:cNvPr id="39" name="Cloud 38"/>
          <p:cNvSpPr/>
          <p:nvPr/>
        </p:nvSpPr>
        <p:spPr bwMode="auto">
          <a:xfrm>
            <a:off x="5638800" y="4921883"/>
            <a:ext cx="2133600" cy="1066800"/>
          </a:xfrm>
          <a:prstGeom prst="cloud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UMICH-AA</a:t>
            </a:r>
            <a:b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</a:b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a.c.0.0/16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 flipH="1">
            <a:off x="4800600" y="4617083"/>
            <a:ext cx="228600" cy="304800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5943600" y="4540883"/>
            <a:ext cx="304800" cy="457200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Cloud 18"/>
          <p:cNvSpPr/>
          <p:nvPr/>
        </p:nvSpPr>
        <p:spPr bwMode="auto">
          <a:xfrm>
            <a:off x="7239000" y="3429000"/>
            <a:ext cx="1752600" cy="1219200"/>
          </a:xfrm>
          <a:prstGeom prst="cloud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ESNet</a:t>
            </a:r>
          </a:p>
        </p:txBody>
      </p:sp>
      <p:cxnSp>
        <p:nvCxnSpPr>
          <p:cNvPr id="23" name="Straight Connector 22"/>
          <p:cNvCxnSpPr/>
          <p:nvPr/>
        </p:nvCxnSpPr>
        <p:spPr bwMode="auto">
          <a:xfrm flipH="1">
            <a:off x="6781800" y="3962400"/>
            <a:ext cx="457201" cy="0"/>
          </a:xfrm>
          <a:prstGeom prst="lin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Freeform 24"/>
          <p:cNvSpPr/>
          <p:nvPr/>
        </p:nvSpPr>
        <p:spPr>
          <a:xfrm>
            <a:off x="4374492" y="3733800"/>
            <a:ext cx="3104758" cy="1275820"/>
          </a:xfrm>
          <a:custGeom>
            <a:avLst/>
            <a:gdLst>
              <a:gd name="connsiteX0" fmla="*/ 3104758 w 3104758"/>
              <a:gd name="connsiteY0" fmla="*/ 76221 h 1275820"/>
              <a:gd name="connsiteX1" fmla="*/ 494076 w 3104758"/>
              <a:gd name="connsiteY1" fmla="*/ 129144 h 1275820"/>
              <a:gd name="connsiteX2" fmla="*/ 163 w 3104758"/>
              <a:gd name="connsiteY2" fmla="*/ 1275820 h 1275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4758" h="1275820">
                <a:moveTo>
                  <a:pt x="3104758" y="76221"/>
                </a:moveTo>
                <a:cubicBezTo>
                  <a:pt x="2058133" y="2716"/>
                  <a:pt x="1011508" y="-70789"/>
                  <a:pt x="494076" y="129144"/>
                </a:cubicBezTo>
                <a:cubicBezTo>
                  <a:pt x="-23356" y="329077"/>
                  <a:pt x="163" y="1275820"/>
                  <a:pt x="163" y="1275820"/>
                </a:cubicBezTo>
              </a:path>
            </a:pathLst>
          </a:custGeom>
          <a:ln w="38100" cmpd="sng">
            <a:solidFill>
              <a:srgbClr val="0000FF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6" name="Freeform 25"/>
          <p:cNvSpPr/>
          <p:nvPr/>
        </p:nvSpPr>
        <p:spPr>
          <a:xfrm rot="10358687">
            <a:off x="7388702" y="4444261"/>
            <a:ext cx="440885" cy="865075"/>
          </a:xfrm>
          <a:custGeom>
            <a:avLst/>
            <a:gdLst>
              <a:gd name="connsiteX0" fmla="*/ 599751 w 599751"/>
              <a:gd name="connsiteY0" fmla="*/ 0 h 1093752"/>
              <a:gd name="connsiteX1" fmla="*/ 0 w 599751"/>
              <a:gd name="connsiteY1" fmla="*/ 1093752 h 1093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99751" h="1093752">
                <a:moveTo>
                  <a:pt x="599751" y="0"/>
                </a:moveTo>
                <a:lnTo>
                  <a:pt x="0" y="1093752"/>
                </a:lnTo>
              </a:path>
            </a:pathLst>
          </a:custGeom>
          <a:ln w="38100" cmpd="sng">
            <a:solidFill>
              <a:schemeClr val="tx1"/>
            </a:solidFill>
            <a:headEnd type="triangle"/>
            <a:tailEnd type="non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7" name="Rounded Rectangle 26"/>
          <p:cNvSpPr/>
          <p:nvPr/>
        </p:nvSpPr>
        <p:spPr bwMode="auto">
          <a:xfrm>
            <a:off x="685800" y="1905000"/>
            <a:ext cx="6400800" cy="1219200"/>
          </a:xfrm>
          <a:prstGeom prst="roundRect">
            <a:avLst/>
          </a:prstGeom>
          <a:solidFill>
            <a:srgbClr val="D3A600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ESNet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 must maintain routing</a:t>
            </a:r>
            <a:br>
              <a:rPr kumimoji="0" lang="en-US" sz="2800" b="0" i="0" u="none" strike="noStrike" cap="none" normalizeH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</a:b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 entries for both a.*.*.* and </a:t>
            </a:r>
            <a:r>
              <a:rPr kumimoji="0" lang="en-US" sz="2800" b="0" i="0" u="none" strike="noStrike" cap="none" normalizeH="0" dirty="0" err="1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a.c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rgbClr val="0000FF"/>
                </a:solidFill>
                <a:effectLst/>
                <a:latin typeface="+mn-lt"/>
              </a:rPr>
              <a:t>.*.*</a:t>
            </a:r>
            <a:endParaRPr kumimoji="0" lang="en-US" sz="2800" b="0" i="0" u="none" strike="noStrike" cap="none" normalizeH="0" baseline="0" dirty="0">
              <a:ln>
                <a:noFill/>
              </a:ln>
              <a:solidFill>
                <a:srgbClr val="0000FF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5505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addressing </a:t>
            </a:r>
            <a:r>
              <a:rPr lang="en-US" dirty="0">
                <a:sym typeface="Wingdings"/>
              </a:rPr>
              <a:t> Scalable</a:t>
            </a:r>
            <a:r>
              <a:rPr lang="en-US" dirty="0"/>
              <a:t> routing?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Hierarchical address allocation only helps routing scalability if allocation matches topological hierarchy </a:t>
            </a:r>
          </a:p>
          <a:p>
            <a:r>
              <a:rPr lang="en-US" dirty="0"/>
              <a:t>May not be able to aggregate addresses for “</a:t>
            </a:r>
            <a:r>
              <a:rPr lang="en-US" dirty="0">
                <a:solidFill>
                  <a:srgbClr val="0000FF"/>
                </a:solidFill>
              </a:rPr>
              <a:t>multi-homed</a:t>
            </a:r>
            <a:r>
              <a:rPr lang="en-US" dirty="0"/>
              <a:t>” networks</a:t>
            </a:r>
          </a:p>
          <a:p>
            <a:pPr lvl="1"/>
            <a:r>
              <a:rPr lang="en-US" dirty="0"/>
              <a:t>A multi-homed network is connected to more than one ASes for fault-tolerance, load balancing, etc.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4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BGP: Border Gateway Protocol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980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role of policy</a:t>
            </a:r>
          </a:p>
          <a:p>
            <a:pPr lvl="1"/>
            <a:r>
              <a:rPr lang="en-US" dirty="0"/>
              <a:t>What we mean by it</a:t>
            </a:r>
          </a:p>
          <a:p>
            <a:pPr lvl="1"/>
            <a:r>
              <a:rPr lang="en-US" dirty="0"/>
              <a:t>Why we need it </a:t>
            </a:r>
          </a:p>
          <a:p>
            <a:r>
              <a:rPr lang="en-US" dirty="0"/>
              <a:t>Overall approach </a:t>
            </a:r>
          </a:p>
          <a:p>
            <a:pPr lvl="1"/>
            <a:r>
              <a:rPr lang="en-US" dirty="0"/>
              <a:t>Four non-trivial changes to DV</a:t>
            </a:r>
          </a:p>
          <a:p>
            <a:r>
              <a:rPr lang="en-US" altLang="zh-CN" dirty="0"/>
              <a:t>Policies</a:t>
            </a:r>
          </a:p>
          <a:p>
            <a:r>
              <a:rPr lang="en-US" altLang="zh-CN" dirty="0"/>
              <a:t>Mechanism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01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Administrative structure shapes Inter-domain routing</a:t>
            </a:r>
          </a:p>
        </p:txBody>
      </p:sp>
      <p:sp>
        <p:nvSpPr>
          <p:cNvPr id="181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ASes want freedom to pick routes based on </a:t>
            </a:r>
            <a:r>
              <a:rPr lang="en-US" dirty="0">
                <a:solidFill>
                  <a:srgbClr val="0000FF"/>
                </a:solidFill>
              </a:rPr>
              <a:t>policy </a:t>
            </a:r>
          </a:p>
          <a:p>
            <a:r>
              <a:rPr lang="en-US" dirty="0"/>
              <a:t>ASes want </a:t>
            </a:r>
            <a:r>
              <a:rPr lang="en-US" dirty="0">
                <a:solidFill>
                  <a:srgbClr val="0000FF"/>
                </a:solidFill>
              </a:rPr>
              <a:t>autonomy</a:t>
            </a:r>
          </a:p>
          <a:p>
            <a:r>
              <a:rPr lang="en-US" dirty="0"/>
              <a:t>ASes want </a:t>
            </a:r>
            <a:r>
              <a:rPr lang="en-US" dirty="0">
                <a:solidFill>
                  <a:srgbClr val="0000FF"/>
                </a:solidFill>
              </a:rPr>
              <a:t>privacy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644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Topology &amp; policy shaped by inter-AS business relationship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basic kinds of relationships between ASes</a:t>
            </a:r>
          </a:p>
          <a:p>
            <a:pPr lvl="1"/>
            <a:r>
              <a:rPr lang="en-US" dirty="0"/>
              <a:t>AS A can be AS B’s </a:t>
            </a:r>
            <a:r>
              <a:rPr lang="en-US" dirty="0">
                <a:solidFill>
                  <a:srgbClr val="0000FF"/>
                </a:solidFill>
              </a:rPr>
              <a:t>customer</a:t>
            </a:r>
          </a:p>
          <a:p>
            <a:pPr lvl="1"/>
            <a:r>
              <a:rPr lang="en-US" dirty="0"/>
              <a:t>AS A can be AS B’s </a:t>
            </a:r>
            <a:r>
              <a:rPr lang="en-US" dirty="0">
                <a:solidFill>
                  <a:srgbClr val="0000FF"/>
                </a:solidFill>
              </a:rPr>
              <a:t>provider</a:t>
            </a:r>
          </a:p>
          <a:p>
            <a:pPr lvl="1"/>
            <a:r>
              <a:rPr lang="en-US" dirty="0"/>
              <a:t>AS A can be AS B’s </a:t>
            </a:r>
            <a:r>
              <a:rPr lang="en-US" dirty="0">
                <a:solidFill>
                  <a:srgbClr val="0000FF"/>
                </a:solidFill>
              </a:rPr>
              <a:t>peer</a:t>
            </a:r>
            <a:endParaRPr lang="en-US" dirty="0"/>
          </a:p>
          <a:p>
            <a:r>
              <a:rPr lang="en-US" dirty="0"/>
              <a:t> Business implications</a:t>
            </a:r>
          </a:p>
          <a:p>
            <a:pPr lvl="1"/>
            <a:r>
              <a:rPr lang="en-US" dirty="0"/>
              <a:t>Customer pays provider</a:t>
            </a:r>
          </a:p>
          <a:p>
            <a:pPr lvl="1"/>
            <a:r>
              <a:rPr lang="en-US" dirty="0"/>
              <a:t>Peers don’t pay each other</a:t>
            </a:r>
          </a:p>
          <a:p>
            <a:pPr lvl="2"/>
            <a:r>
              <a:rPr lang="en-US" dirty="0"/>
              <a:t>Exchange roughly equal traffic</a:t>
            </a:r>
            <a:br>
              <a:rPr lang="en-US" dirty="0"/>
            </a:b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8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4" name="Rectangle 28"/>
          <p:cNvSpPr>
            <a:spLocks noChangeArrowheads="1"/>
          </p:cNvSpPr>
          <p:nvPr/>
        </p:nvSpPr>
        <p:spPr bwMode="auto">
          <a:xfrm>
            <a:off x="76200" y="5029200"/>
            <a:ext cx="4495800" cy="1143000"/>
          </a:xfrm>
          <a:prstGeom prst="rect">
            <a:avLst/>
          </a:prstGeom>
          <a:solidFill>
            <a:srgbClr val="D3A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450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relationships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41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762000" y="1633131"/>
            <a:ext cx="7848600" cy="2940457"/>
            <a:chOff x="762000" y="1633131"/>
            <a:chExt cx="7848600" cy="2940457"/>
          </a:xfrm>
        </p:grpSpPr>
        <p:sp>
          <p:nvSpPr>
            <p:cNvPr id="33" name="Cloud 32"/>
            <p:cNvSpPr>
              <a:spLocks noChangeAspect="1"/>
            </p:cNvSpPr>
            <p:nvPr/>
          </p:nvSpPr>
          <p:spPr bwMode="auto">
            <a:xfrm>
              <a:off x="1023073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Cloud 33"/>
            <p:cNvSpPr>
              <a:spLocks noChangeAspect="1"/>
            </p:cNvSpPr>
            <p:nvPr/>
          </p:nvSpPr>
          <p:spPr bwMode="auto">
            <a:xfrm>
              <a:off x="3920261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5" name="Cloud 34"/>
            <p:cNvSpPr>
              <a:spLocks noChangeAspect="1"/>
            </p:cNvSpPr>
            <p:nvPr/>
          </p:nvSpPr>
          <p:spPr bwMode="auto">
            <a:xfrm>
              <a:off x="6739661" y="3659188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Cloud 28"/>
            <p:cNvSpPr/>
            <p:nvPr/>
          </p:nvSpPr>
          <p:spPr bwMode="auto">
            <a:xfrm>
              <a:off x="3617913" y="1640297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2" name="Cloud 31"/>
            <p:cNvSpPr/>
            <p:nvPr/>
          </p:nvSpPr>
          <p:spPr bwMode="auto">
            <a:xfrm>
              <a:off x="6400800" y="1633131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" name="Cloud 1"/>
            <p:cNvSpPr/>
            <p:nvPr/>
          </p:nvSpPr>
          <p:spPr bwMode="auto">
            <a:xfrm>
              <a:off x="762000" y="1636713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45067" name="Straight Connector 11"/>
            <p:cNvCxnSpPr>
              <a:cxnSpLocks noChangeShapeType="1"/>
            </p:cNvCxnSpPr>
            <p:nvPr/>
          </p:nvCxnSpPr>
          <p:spPr bwMode="auto">
            <a:xfrm>
              <a:off x="28956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5068" name="Straight Connector 12"/>
            <p:cNvCxnSpPr>
              <a:cxnSpLocks noChangeShapeType="1"/>
            </p:cNvCxnSpPr>
            <p:nvPr/>
          </p:nvCxnSpPr>
          <p:spPr bwMode="auto">
            <a:xfrm>
              <a:off x="57150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5069" name="Straight Connector 13"/>
            <p:cNvCxnSpPr>
              <a:cxnSpLocks noChangeShapeType="1"/>
            </p:cNvCxnSpPr>
            <p:nvPr/>
          </p:nvCxnSpPr>
          <p:spPr bwMode="auto">
            <a:xfrm rot="5400000">
              <a:off x="1409701" y="3314700"/>
              <a:ext cx="838200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5070" name="Straight Connector 15"/>
            <p:cNvCxnSpPr>
              <a:cxnSpLocks noChangeShapeType="1"/>
            </p:cNvCxnSpPr>
            <p:nvPr/>
          </p:nvCxnSpPr>
          <p:spPr bwMode="auto">
            <a:xfrm rot="5400000">
              <a:off x="43045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45071" name="Straight Connector 16"/>
            <p:cNvCxnSpPr>
              <a:cxnSpLocks noChangeShapeType="1"/>
            </p:cNvCxnSpPr>
            <p:nvPr/>
          </p:nvCxnSpPr>
          <p:spPr bwMode="auto">
            <a:xfrm rot="5400000">
              <a:off x="71239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cxnSp>
        <p:nvCxnSpPr>
          <p:cNvPr id="45072" name="Straight Connector 20"/>
          <p:cNvCxnSpPr>
            <a:cxnSpLocks noChangeShapeType="1"/>
          </p:cNvCxnSpPr>
          <p:nvPr/>
        </p:nvCxnSpPr>
        <p:spPr bwMode="auto">
          <a:xfrm>
            <a:off x="1905000" y="5445126"/>
            <a:ext cx="990600" cy="15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45073" name="Straight Connector 22"/>
          <p:cNvCxnSpPr>
            <a:cxnSpLocks noChangeShapeType="1"/>
          </p:cNvCxnSpPr>
          <p:nvPr/>
        </p:nvCxnSpPr>
        <p:spPr bwMode="auto">
          <a:xfrm>
            <a:off x="1905000" y="5864225"/>
            <a:ext cx="912813" cy="158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5" name="TextBox 24"/>
          <p:cNvSpPr txBox="1"/>
          <p:nvPr/>
        </p:nvSpPr>
        <p:spPr>
          <a:xfrm>
            <a:off x="990600" y="5634038"/>
            <a:ext cx="83502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peer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775" y="5634038"/>
            <a:ext cx="83502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peer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750" y="5214938"/>
            <a:ext cx="1416050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provider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49563" y="5214938"/>
            <a:ext cx="1570037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customer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" y="4800600"/>
            <a:ext cx="3602038" cy="461963"/>
          </a:xfrm>
          <a:prstGeom prst="rect">
            <a:avLst/>
          </a:prstGeom>
          <a:solidFill>
            <a:srgbClr val="D3A600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i="1" dirty="0">
                <a:latin typeface="+mn-lt"/>
                <a:ea typeface="+mn-ea"/>
                <a:cs typeface="+mn-cs"/>
              </a:rPr>
              <a:t>Relations between ASes</a:t>
            </a:r>
          </a:p>
        </p:txBody>
      </p:sp>
      <p:sp>
        <p:nvSpPr>
          <p:cNvPr id="31" name="Rectangle 30"/>
          <p:cNvSpPr/>
          <p:nvPr/>
        </p:nvSpPr>
        <p:spPr bwMode="auto">
          <a:xfrm>
            <a:off x="4800600" y="5029200"/>
            <a:ext cx="4267200" cy="11430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l">
              <a:buFont typeface="Arial"/>
              <a:buChar char="•"/>
              <a:defRPr/>
            </a:pPr>
            <a:r>
              <a:rPr lang="en-US" sz="2400" dirty="0">
                <a:latin typeface="Arial" charset="0"/>
                <a:ea typeface="+mn-ea"/>
                <a:cs typeface="+mn-cs"/>
              </a:rPr>
              <a:t> Customers pay provider</a:t>
            </a:r>
          </a:p>
          <a:p>
            <a:pPr algn="l">
              <a:buFont typeface="Arial"/>
              <a:buChar char="•"/>
              <a:defRPr/>
            </a:pPr>
            <a:r>
              <a:rPr lang="en-US" sz="2400" dirty="0">
                <a:latin typeface="+mn-lt"/>
                <a:ea typeface="+mn-ea"/>
                <a:cs typeface="+mn-cs"/>
              </a:rPr>
              <a:t> Peers don’t pay each other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76800" y="4800600"/>
            <a:ext cx="3130985" cy="461665"/>
          </a:xfrm>
          <a:prstGeom prst="rect">
            <a:avLst/>
          </a:prstGeom>
          <a:solidFill>
            <a:srgbClr val="D3A600"/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i="1" dirty="0">
                <a:latin typeface="+mn-lt"/>
                <a:ea typeface="+mn-ea"/>
                <a:cs typeface="+mn-cs"/>
              </a:rPr>
              <a:t>Business implications</a:t>
            </a:r>
          </a:p>
        </p:txBody>
      </p:sp>
    </p:spTree>
    <p:extLst>
      <p:ext uri="{BB962C8B-B14F-4D97-AF65-F5344CB8AC3E}">
        <p14:creationId xmlns:p14="http://schemas.microsoft.com/office/powerpoint/2010/main" val="2035511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loud 42"/>
          <p:cNvSpPr>
            <a:spLocks noChangeAspect="1"/>
          </p:cNvSpPr>
          <p:nvPr/>
        </p:nvSpPr>
        <p:spPr bwMode="auto">
          <a:xfrm>
            <a:off x="5046090" y="4903249"/>
            <a:ext cx="1284082" cy="73152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Cloud 43"/>
          <p:cNvSpPr>
            <a:spLocks noChangeAspect="1"/>
          </p:cNvSpPr>
          <p:nvPr/>
        </p:nvSpPr>
        <p:spPr bwMode="auto">
          <a:xfrm>
            <a:off x="2796742" y="4907280"/>
            <a:ext cx="1284082" cy="73152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2" name="Cloud 41"/>
          <p:cNvSpPr>
            <a:spLocks noChangeAspect="1"/>
          </p:cNvSpPr>
          <p:nvPr/>
        </p:nvSpPr>
        <p:spPr bwMode="auto">
          <a:xfrm>
            <a:off x="3861927" y="2083849"/>
            <a:ext cx="1926123" cy="109728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Cloud 40"/>
          <p:cNvSpPr>
            <a:spLocks noChangeAspect="1"/>
          </p:cNvSpPr>
          <p:nvPr/>
        </p:nvSpPr>
        <p:spPr bwMode="auto">
          <a:xfrm>
            <a:off x="4725070" y="3379090"/>
            <a:ext cx="1926123" cy="109728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Cloud 35"/>
          <p:cNvSpPr>
            <a:spLocks noChangeAspect="1"/>
          </p:cNvSpPr>
          <p:nvPr/>
        </p:nvSpPr>
        <p:spPr bwMode="auto">
          <a:xfrm>
            <a:off x="2491506" y="3415994"/>
            <a:ext cx="1926123" cy="109728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0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peer?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42</a:t>
            </a:fld>
            <a:endParaRPr lang="en-US"/>
          </a:p>
        </p:txBody>
      </p:sp>
      <p:cxnSp>
        <p:nvCxnSpPr>
          <p:cNvPr id="45067" name="Straight Connector 11"/>
          <p:cNvCxnSpPr>
            <a:cxnSpLocks noChangeShapeType="1"/>
          </p:cNvCxnSpPr>
          <p:nvPr/>
        </p:nvCxnSpPr>
        <p:spPr bwMode="auto">
          <a:xfrm>
            <a:off x="4270761" y="4063633"/>
            <a:ext cx="531976" cy="1416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oval" w="lg" len="lg"/>
            <a:tailEnd type="oval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45069" name="Straight Connector 13"/>
          <p:cNvCxnSpPr>
            <a:cxnSpLocks noChangeShapeType="1"/>
          </p:cNvCxnSpPr>
          <p:nvPr/>
        </p:nvCxnSpPr>
        <p:spPr bwMode="auto">
          <a:xfrm rot="5400000">
            <a:off x="3214643" y="4780155"/>
            <a:ext cx="457200" cy="2463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45070" name="Straight Connector 15"/>
          <p:cNvCxnSpPr>
            <a:cxnSpLocks noChangeShapeType="1"/>
          </p:cNvCxnSpPr>
          <p:nvPr/>
        </p:nvCxnSpPr>
        <p:spPr bwMode="auto">
          <a:xfrm rot="5400000">
            <a:off x="5460147" y="4779355"/>
            <a:ext cx="457200" cy="1231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45071" name="Straight Connector 16"/>
          <p:cNvCxnSpPr>
            <a:cxnSpLocks noChangeShapeType="1"/>
          </p:cNvCxnSpPr>
          <p:nvPr/>
        </p:nvCxnSpPr>
        <p:spPr bwMode="auto">
          <a:xfrm>
            <a:off x="5259032" y="3074449"/>
            <a:ext cx="303568" cy="6096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9" name="Straight Connector 16"/>
          <p:cNvCxnSpPr>
            <a:cxnSpLocks noChangeShapeType="1"/>
          </p:cNvCxnSpPr>
          <p:nvPr/>
        </p:nvCxnSpPr>
        <p:spPr bwMode="auto">
          <a:xfrm flipH="1">
            <a:off x="3962400" y="3074449"/>
            <a:ext cx="457200" cy="5334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32" name="TextBox 31"/>
          <p:cNvSpPr txBox="1"/>
          <p:nvPr/>
        </p:nvSpPr>
        <p:spPr>
          <a:xfrm>
            <a:off x="4648200" y="2541049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88238" y="3684049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3684049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983639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4238" y="5055374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</a:t>
            </a:r>
          </a:p>
        </p:txBody>
      </p:sp>
      <p:sp>
        <p:nvSpPr>
          <p:cNvPr id="5" name="Freeform 4"/>
          <p:cNvSpPr/>
          <p:nvPr/>
        </p:nvSpPr>
        <p:spPr>
          <a:xfrm>
            <a:off x="3580867" y="2998249"/>
            <a:ext cx="1927816" cy="2518790"/>
          </a:xfrm>
          <a:custGeom>
            <a:avLst/>
            <a:gdLst>
              <a:gd name="connsiteX0" fmla="*/ 0 w 1909124"/>
              <a:gd name="connsiteY0" fmla="*/ 2505914 h 2770531"/>
              <a:gd name="connsiteX1" fmla="*/ 229317 w 1909124"/>
              <a:gd name="connsiteY1" fmla="*/ 1112262 h 2770531"/>
              <a:gd name="connsiteX2" fmla="*/ 1305341 w 1909124"/>
              <a:gd name="connsiteY2" fmla="*/ 869 h 2770531"/>
              <a:gd name="connsiteX3" fmla="*/ 1834533 w 1909124"/>
              <a:gd name="connsiteY3" fmla="*/ 1288674 h 2770531"/>
              <a:gd name="connsiteX4" fmla="*/ 1905092 w 1909124"/>
              <a:gd name="connsiteY4" fmla="*/ 2770531 h 2770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9124" h="2770531">
                <a:moveTo>
                  <a:pt x="0" y="2505914"/>
                </a:moveTo>
                <a:cubicBezTo>
                  <a:pt x="5880" y="2017841"/>
                  <a:pt x="11760" y="1529769"/>
                  <a:pt x="229317" y="1112262"/>
                </a:cubicBezTo>
                <a:cubicBezTo>
                  <a:pt x="446874" y="694755"/>
                  <a:pt x="1037805" y="-28533"/>
                  <a:pt x="1305341" y="869"/>
                </a:cubicBezTo>
                <a:cubicBezTo>
                  <a:pt x="1572877" y="30271"/>
                  <a:pt x="1734574" y="827064"/>
                  <a:pt x="1834533" y="1288674"/>
                </a:cubicBezTo>
                <a:cubicBezTo>
                  <a:pt x="1934492" y="1750284"/>
                  <a:pt x="1905092" y="2770531"/>
                  <a:pt x="1905092" y="2770531"/>
                </a:cubicBezTo>
              </a:path>
            </a:pathLst>
          </a:custGeom>
          <a:ln w="38100" cmpd="sng">
            <a:solidFill>
              <a:srgbClr val="0000FF"/>
            </a:solidFill>
            <a:headEnd type="triangl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6858000" y="1905000"/>
            <a:ext cx="1981200" cy="8382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+mn-lt"/>
              </a:rPr>
              <a:t>D and E 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communicate a lot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9" name="Rounded Rectangle 38"/>
          <p:cNvSpPr/>
          <p:nvPr/>
        </p:nvSpPr>
        <p:spPr bwMode="auto">
          <a:xfrm>
            <a:off x="6781800" y="2971800"/>
            <a:ext cx="2209800" cy="762000"/>
          </a:xfrm>
          <a:prstGeom prst="roundRect">
            <a:avLst/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+mn-lt"/>
              </a:rPr>
              <a:t>Peering saves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 B </a:t>
            </a:r>
            <a:r>
              <a:rPr lang="en-US" i="1" u="sng" dirty="0">
                <a:latin typeface="+mn-lt"/>
              </a:rPr>
              <a:t>and</a:t>
            </a:r>
            <a:r>
              <a:rPr lang="en-US" dirty="0">
                <a:latin typeface="+mn-lt"/>
              </a:rPr>
              <a:t> C money</a:t>
            </a: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0" name="Freeform 39"/>
          <p:cNvSpPr/>
          <p:nvPr/>
        </p:nvSpPr>
        <p:spPr>
          <a:xfrm rot="21205779">
            <a:off x="3592873" y="4211644"/>
            <a:ext cx="1524533" cy="1308268"/>
          </a:xfrm>
          <a:custGeom>
            <a:avLst/>
            <a:gdLst>
              <a:gd name="connsiteX0" fmla="*/ 0 w 1909124"/>
              <a:gd name="connsiteY0" fmla="*/ 2505914 h 2770531"/>
              <a:gd name="connsiteX1" fmla="*/ 229317 w 1909124"/>
              <a:gd name="connsiteY1" fmla="*/ 1112262 h 2770531"/>
              <a:gd name="connsiteX2" fmla="*/ 1305341 w 1909124"/>
              <a:gd name="connsiteY2" fmla="*/ 869 h 2770531"/>
              <a:gd name="connsiteX3" fmla="*/ 1834533 w 1909124"/>
              <a:gd name="connsiteY3" fmla="*/ 1288674 h 2770531"/>
              <a:gd name="connsiteX4" fmla="*/ 1905092 w 1909124"/>
              <a:gd name="connsiteY4" fmla="*/ 2770531 h 2770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9124" h="2770531">
                <a:moveTo>
                  <a:pt x="0" y="2505914"/>
                </a:moveTo>
                <a:cubicBezTo>
                  <a:pt x="5880" y="2017841"/>
                  <a:pt x="11760" y="1529769"/>
                  <a:pt x="229317" y="1112262"/>
                </a:cubicBezTo>
                <a:cubicBezTo>
                  <a:pt x="446874" y="694755"/>
                  <a:pt x="1037805" y="-28533"/>
                  <a:pt x="1305341" y="869"/>
                </a:cubicBezTo>
                <a:cubicBezTo>
                  <a:pt x="1572877" y="30271"/>
                  <a:pt x="1734574" y="827064"/>
                  <a:pt x="1834533" y="1288674"/>
                </a:cubicBezTo>
                <a:cubicBezTo>
                  <a:pt x="1934492" y="1750284"/>
                  <a:pt x="1905092" y="2770531"/>
                  <a:pt x="1905092" y="2770531"/>
                </a:cubicBezTo>
              </a:path>
            </a:pathLst>
          </a:custGeom>
          <a:ln w="38100" cmpd="sng">
            <a:solidFill>
              <a:srgbClr val="0000FF"/>
            </a:solidFill>
            <a:headEnd type="triangl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31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9" grpId="0" animBg="1"/>
      <p:bldP spid="39" grpId="0" animBg="1"/>
      <p:bldP spid="4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follows the money!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E2E92DE-53B4-2645-8600-8C91699820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43</a:t>
            </a:fld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1371600" y="2590800"/>
            <a:ext cx="6400800" cy="2398043"/>
            <a:chOff x="762000" y="1633131"/>
            <a:chExt cx="7848600" cy="2940457"/>
          </a:xfrm>
        </p:grpSpPr>
        <p:sp>
          <p:nvSpPr>
            <p:cNvPr id="7" name="Cloud 6"/>
            <p:cNvSpPr>
              <a:spLocks noChangeAspect="1"/>
            </p:cNvSpPr>
            <p:nvPr/>
          </p:nvSpPr>
          <p:spPr bwMode="auto">
            <a:xfrm>
              <a:off x="1023073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" name="Cloud 7"/>
            <p:cNvSpPr>
              <a:spLocks noChangeAspect="1"/>
            </p:cNvSpPr>
            <p:nvPr/>
          </p:nvSpPr>
          <p:spPr bwMode="auto">
            <a:xfrm>
              <a:off x="3920261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Cloud 8"/>
            <p:cNvSpPr>
              <a:spLocks noChangeAspect="1"/>
            </p:cNvSpPr>
            <p:nvPr/>
          </p:nvSpPr>
          <p:spPr bwMode="auto">
            <a:xfrm>
              <a:off x="6739661" y="3659188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Cloud 9"/>
            <p:cNvSpPr/>
            <p:nvPr/>
          </p:nvSpPr>
          <p:spPr bwMode="auto">
            <a:xfrm>
              <a:off x="3617913" y="1640297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Cloud 10"/>
            <p:cNvSpPr/>
            <p:nvPr/>
          </p:nvSpPr>
          <p:spPr bwMode="auto">
            <a:xfrm>
              <a:off x="6400800" y="1633131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Cloud 11"/>
            <p:cNvSpPr/>
            <p:nvPr/>
          </p:nvSpPr>
          <p:spPr bwMode="auto">
            <a:xfrm>
              <a:off x="762000" y="1636713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3" name="Straight Connector 11"/>
            <p:cNvCxnSpPr>
              <a:cxnSpLocks noChangeShapeType="1"/>
            </p:cNvCxnSpPr>
            <p:nvPr/>
          </p:nvCxnSpPr>
          <p:spPr bwMode="auto">
            <a:xfrm>
              <a:off x="28956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4" name="Straight Connector 12"/>
            <p:cNvCxnSpPr>
              <a:cxnSpLocks noChangeShapeType="1"/>
            </p:cNvCxnSpPr>
            <p:nvPr/>
          </p:nvCxnSpPr>
          <p:spPr bwMode="auto">
            <a:xfrm>
              <a:off x="57150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5" name="Straight Connector 13"/>
            <p:cNvCxnSpPr>
              <a:cxnSpLocks noChangeShapeType="1"/>
            </p:cNvCxnSpPr>
            <p:nvPr/>
          </p:nvCxnSpPr>
          <p:spPr bwMode="auto">
            <a:xfrm rot="5400000">
              <a:off x="1409701" y="3314700"/>
              <a:ext cx="838200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6" name="Straight Connector 15"/>
            <p:cNvCxnSpPr>
              <a:cxnSpLocks noChangeShapeType="1"/>
            </p:cNvCxnSpPr>
            <p:nvPr/>
          </p:nvCxnSpPr>
          <p:spPr bwMode="auto">
            <a:xfrm rot="5400000">
              <a:off x="43045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7" name="Straight Connector 16"/>
            <p:cNvCxnSpPr>
              <a:cxnSpLocks noChangeShapeType="1"/>
            </p:cNvCxnSpPr>
            <p:nvPr/>
          </p:nvCxnSpPr>
          <p:spPr bwMode="auto">
            <a:xfrm rot="5400000">
              <a:off x="71239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8" name="Cloud 17"/>
          <p:cNvSpPr/>
          <p:nvPr/>
        </p:nvSpPr>
        <p:spPr bwMode="auto">
          <a:xfrm>
            <a:off x="2590800" y="1295400"/>
            <a:ext cx="1802167" cy="102666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" name="Straight Connector 13"/>
          <p:cNvCxnSpPr>
            <a:cxnSpLocks noChangeShapeType="1"/>
          </p:cNvCxnSpPr>
          <p:nvPr/>
        </p:nvCxnSpPr>
        <p:spPr bwMode="auto">
          <a:xfrm flipH="1">
            <a:off x="2381159" y="2116102"/>
            <a:ext cx="438241" cy="683581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3" name="TextBox 22"/>
          <p:cNvSpPr txBox="1"/>
          <p:nvPr/>
        </p:nvSpPr>
        <p:spPr>
          <a:xfrm>
            <a:off x="2064904" y="2884729"/>
            <a:ext cx="353415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9600" y="2884729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1758" y="2884729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9600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1758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88238" y="1524000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7127195" y="1463189"/>
            <a:ext cx="2016805" cy="731222"/>
            <a:chOff x="7127195" y="1463189"/>
            <a:chExt cx="2016805" cy="731222"/>
          </a:xfrm>
        </p:grpSpPr>
        <p:cxnSp>
          <p:nvCxnSpPr>
            <p:cNvPr id="30" name="Straight Connector 16"/>
            <p:cNvCxnSpPr>
              <a:cxnSpLocks noChangeShapeType="1"/>
            </p:cNvCxnSpPr>
            <p:nvPr/>
          </p:nvCxnSpPr>
          <p:spPr bwMode="auto">
            <a:xfrm>
              <a:off x="7851314" y="1647855"/>
              <a:ext cx="533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31" name="TextBox 30"/>
            <p:cNvSpPr txBox="1"/>
            <p:nvPr/>
          </p:nvSpPr>
          <p:spPr>
            <a:xfrm>
              <a:off x="7355795" y="1463189"/>
              <a:ext cx="428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 err="1">
                  <a:latin typeface="+mn-lt"/>
                </a:rPr>
                <a:t>Pr</a:t>
              </a:r>
              <a:endParaRPr lang="en-US" sz="1800" b="0" dirty="0">
                <a:latin typeface="+mn-lt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346395" y="1463189"/>
              <a:ext cx="492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Cu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27195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458784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cxnSp>
          <p:nvCxnSpPr>
            <p:cNvPr id="35" name="Straight Connector 11"/>
            <p:cNvCxnSpPr>
              <a:cxnSpLocks noChangeShapeType="1"/>
            </p:cNvCxnSpPr>
            <p:nvPr/>
          </p:nvCxnSpPr>
          <p:spPr bwMode="auto">
            <a:xfrm>
              <a:off x="7940401" y="2009745"/>
              <a:ext cx="355226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37" name="Freeform 32"/>
          <p:cNvSpPr>
            <a:spLocks noChangeArrowheads="1"/>
          </p:cNvSpPr>
          <p:nvPr/>
        </p:nvSpPr>
        <p:spPr bwMode="auto">
          <a:xfrm>
            <a:off x="2418319" y="3319392"/>
            <a:ext cx="2019086" cy="1100208"/>
          </a:xfrm>
          <a:custGeom>
            <a:avLst/>
            <a:gdLst>
              <a:gd name="T0" fmla="*/ 51301 w 2597454"/>
              <a:gd name="T1" fmla="*/ 1416579 h 1565160"/>
              <a:gd name="T2" fmla="*/ 70540 w 2597454"/>
              <a:gd name="T3" fmla="*/ 476063 h 1565160"/>
              <a:gd name="T4" fmla="*/ 474540 w 2597454"/>
              <a:gd name="T5" fmla="*/ 92890 h 1565160"/>
              <a:gd name="T6" fmla="*/ 1936639 w 2597454"/>
              <a:gd name="T7" fmla="*/ 40640 h 1565160"/>
              <a:gd name="T8" fmla="*/ 2494546 w 2597454"/>
              <a:gd name="T9" fmla="*/ 336728 h 1565160"/>
              <a:gd name="T10" fmla="*/ 2552260 w 2597454"/>
              <a:gd name="T11" fmla="*/ 1399162 h 1565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97454"/>
              <a:gd name="T19" fmla="*/ 0 h 1565160"/>
              <a:gd name="T20" fmla="*/ 2597454 w 2597454"/>
              <a:gd name="T21" fmla="*/ 1565160 h 1565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97454" h="1565160">
                <a:moveTo>
                  <a:pt x="51307" y="1565160"/>
                </a:moveTo>
                <a:cubicBezTo>
                  <a:pt x="25653" y="1167455"/>
                  <a:pt x="0" y="769750"/>
                  <a:pt x="70548" y="525996"/>
                </a:cubicBezTo>
                <a:cubicBezTo>
                  <a:pt x="141096" y="282242"/>
                  <a:pt x="163543" y="182815"/>
                  <a:pt x="474596" y="102633"/>
                </a:cubicBezTo>
                <a:cubicBezTo>
                  <a:pt x="785649" y="22451"/>
                  <a:pt x="1600159" y="0"/>
                  <a:pt x="1936866" y="44902"/>
                </a:cubicBezTo>
                <a:cubicBezTo>
                  <a:pt x="2273573" y="89804"/>
                  <a:pt x="2392223" y="121877"/>
                  <a:pt x="2494838" y="372046"/>
                </a:cubicBezTo>
                <a:cubicBezTo>
                  <a:pt x="2597454" y="622215"/>
                  <a:pt x="2552559" y="1545916"/>
                  <a:pt x="2552559" y="1545916"/>
                </a:cubicBezTo>
              </a:path>
            </a:pathLst>
          </a:custGeom>
          <a:noFill/>
          <a:ln w="50800">
            <a:solidFill>
              <a:srgbClr val="3366FF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sp>
        <p:nvSpPr>
          <p:cNvPr id="38" name="Freeform 33"/>
          <p:cNvSpPr>
            <a:spLocks noChangeArrowheads="1"/>
          </p:cNvSpPr>
          <p:nvPr/>
        </p:nvSpPr>
        <p:spPr bwMode="auto">
          <a:xfrm>
            <a:off x="4904777" y="3293588"/>
            <a:ext cx="1846982" cy="1100208"/>
          </a:xfrm>
          <a:custGeom>
            <a:avLst/>
            <a:gdLst>
              <a:gd name="T0" fmla="*/ 51301 w 2597454"/>
              <a:gd name="T1" fmla="*/ 1416579 h 1565160"/>
              <a:gd name="T2" fmla="*/ 70540 w 2597454"/>
              <a:gd name="T3" fmla="*/ 476063 h 1565160"/>
              <a:gd name="T4" fmla="*/ 474540 w 2597454"/>
              <a:gd name="T5" fmla="*/ 92890 h 1565160"/>
              <a:gd name="T6" fmla="*/ 1936639 w 2597454"/>
              <a:gd name="T7" fmla="*/ 40640 h 1565160"/>
              <a:gd name="T8" fmla="*/ 2494546 w 2597454"/>
              <a:gd name="T9" fmla="*/ 336728 h 1565160"/>
              <a:gd name="T10" fmla="*/ 2552260 w 2597454"/>
              <a:gd name="T11" fmla="*/ 1399162 h 1565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97454"/>
              <a:gd name="T19" fmla="*/ 0 h 1565160"/>
              <a:gd name="T20" fmla="*/ 2597454 w 2597454"/>
              <a:gd name="T21" fmla="*/ 1565160 h 1565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97454" h="1565160">
                <a:moveTo>
                  <a:pt x="51307" y="1565160"/>
                </a:moveTo>
                <a:cubicBezTo>
                  <a:pt x="25653" y="1167455"/>
                  <a:pt x="0" y="769750"/>
                  <a:pt x="70548" y="525996"/>
                </a:cubicBezTo>
                <a:cubicBezTo>
                  <a:pt x="141096" y="282242"/>
                  <a:pt x="163543" y="182815"/>
                  <a:pt x="474596" y="102633"/>
                </a:cubicBezTo>
                <a:cubicBezTo>
                  <a:pt x="785649" y="22451"/>
                  <a:pt x="1600159" y="0"/>
                  <a:pt x="1936866" y="44902"/>
                </a:cubicBezTo>
                <a:cubicBezTo>
                  <a:pt x="2273573" y="89804"/>
                  <a:pt x="2392223" y="121877"/>
                  <a:pt x="2494838" y="372046"/>
                </a:cubicBezTo>
                <a:cubicBezTo>
                  <a:pt x="2597454" y="622215"/>
                  <a:pt x="2552559" y="1545916"/>
                  <a:pt x="2552559" y="1545916"/>
                </a:cubicBezTo>
              </a:path>
            </a:pathLst>
          </a:custGeom>
          <a:noFill/>
          <a:ln w="50800">
            <a:solidFill>
              <a:srgbClr val="3366FF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cxnSp>
        <p:nvCxnSpPr>
          <p:cNvPr id="39" name="Straight Arrow Connector 41"/>
          <p:cNvCxnSpPr>
            <a:cxnSpLocks noChangeShapeType="1"/>
          </p:cNvCxnSpPr>
          <p:nvPr/>
        </p:nvCxnSpPr>
        <p:spPr bwMode="auto">
          <a:xfrm>
            <a:off x="533400" y="5262563"/>
            <a:ext cx="1295400" cy="1587"/>
          </a:xfrm>
          <a:prstGeom prst="straightConnector1">
            <a:avLst/>
          </a:prstGeom>
          <a:noFill/>
          <a:ln w="50800">
            <a:solidFill>
              <a:srgbClr val="3366FF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0" name="TextBox 39"/>
          <p:cNvSpPr txBox="1"/>
          <p:nvPr/>
        </p:nvSpPr>
        <p:spPr>
          <a:xfrm>
            <a:off x="1946275" y="5033963"/>
            <a:ext cx="2060575" cy="461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dirty="0">
                <a:latin typeface="+mn-lt"/>
                <a:ea typeface="+mn-ea"/>
                <a:cs typeface="+mn-cs"/>
              </a:rPr>
              <a:t>traffic allowed</a:t>
            </a:r>
          </a:p>
        </p:txBody>
      </p:sp>
      <p:sp>
        <p:nvSpPr>
          <p:cNvPr id="41" name="Freeform 31"/>
          <p:cNvSpPr>
            <a:spLocks noChangeArrowheads="1"/>
          </p:cNvSpPr>
          <p:nvPr/>
        </p:nvSpPr>
        <p:spPr bwMode="auto">
          <a:xfrm>
            <a:off x="1667142" y="2830078"/>
            <a:ext cx="5802594" cy="1438012"/>
          </a:xfrm>
          <a:custGeom>
            <a:avLst/>
            <a:gdLst>
              <a:gd name="T0" fmla="*/ 311566 w 2597454"/>
              <a:gd name="T1" fmla="*/ 2420048 h 1565160"/>
              <a:gd name="T2" fmla="*/ 428409 w 2597454"/>
              <a:gd name="T3" fmla="*/ 813294 h 1565160"/>
              <a:gd name="T4" fmla="*/ 2882020 w 2597454"/>
              <a:gd name="T5" fmla="*/ 158690 h 1565160"/>
              <a:gd name="T6" fmla="*/ 11761761 w 2597454"/>
              <a:gd name="T7" fmla="*/ 69427 h 1565160"/>
              <a:gd name="T8" fmla="*/ 15150088 w 2597454"/>
              <a:gd name="T9" fmla="*/ 575258 h 1565160"/>
              <a:gd name="T10" fmla="*/ 15500602 w 2597454"/>
              <a:gd name="T11" fmla="*/ 2390294 h 1565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97454"/>
              <a:gd name="T19" fmla="*/ 0 h 1565160"/>
              <a:gd name="T20" fmla="*/ 2597454 w 2597454"/>
              <a:gd name="T21" fmla="*/ 1565160 h 15651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97454" h="1565160">
                <a:moveTo>
                  <a:pt x="51307" y="1565160"/>
                </a:moveTo>
                <a:cubicBezTo>
                  <a:pt x="25653" y="1167455"/>
                  <a:pt x="0" y="769750"/>
                  <a:pt x="70548" y="525996"/>
                </a:cubicBezTo>
                <a:cubicBezTo>
                  <a:pt x="141096" y="282242"/>
                  <a:pt x="163543" y="182815"/>
                  <a:pt x="474596" y="102633"/>
                </a:cubicBezTo>
                <a:cubicBezTo>
                  <a:pt x="785649" y="22451"/>
                  <a:pt x="1600159" y="0"/>
                  <a:pt x="1936866" y="44902"/>
                </a:cubicBezTo>
                <a:cubicBezTo>
                  <a:pt x="2273573" y="89804"/>
                  <a:pt x="2392223" y="121877"/>
                  <a:pt x="2494838" y="372046"/>
                </a:cubicBezTo>
                <a:cubicBezTo>
                  <a:pt x="2597454" y="622215"/>
                  <a:pt x="2552559" y="1545916"/>
                  <a:pt x="2552559" y="1545916"/>
                </a:cubicBezTo>
              </a:path>
            </a:pathLst>
          </a:custGeom>
          <a:noFill/>
          <a:ln w="50800">
            <a:solidFill>
              <a:srgbClr val="FF3300"/>
            </a:solidFill>
            <a:prstDash val="dash"/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800">
              <a:latin typeface="Arial" charset="0"/>
            </a:endParaRPr>
          </a:p>
        </p:txBody>
      </p:sp>
      <p:cxnSp>
        <p:nvCxnSpPr>
          <p:cNvPr id="42" name="Straight Arrow Connector 42"/>
          <p:cNvCxnSpPr>
            <a:cxnSpLocks noChangeShapeType="1"/>
          </p:cNvCxnSpPr>
          <p:nvPr/>
        </p:nvCxnSpPr>
        <p:spPr bwMode="auto">
          <a:xfrm>
            <a:off x="4343400" y="5262563"/>
            <a:ext cx="1295400" cy="1587"/>
          </a:xfrm>
          <a:prstGeom prst="straightConnector1">
            <a:avLst/>
          </a:prstGeom>
          <a:noFill/>
          <a:ln w="50800">
            <a:solidFill>
              <a:srgbClr val="FF3300"/>
            </a:solidFill>
            <a:prstDash val="dash"/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43" name="TextBox 42"/>
          <p:cNvSpPr txBox="1"/>
          <p:nvPr/>
        </p:nvSpPr>
        <p:spPr>
          <a:xfrm>
            <a:off x="5807075" y="5029200"/>
            <a:ext cx="2573338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0" dirty="0">
                <a:latin typeface="+mn-lt"/>
                <a:ea typeface="+mn-ea"/>
                <a:cs typeface="+mn-cs"/>
              </a:rPr>
              <a:t>traffic </a:t>
            </a:r>
            <a:r>
              <a:rPr lang="en-US" sz="2400" b="0" u="sng" dirty="0">
                <a:latin typeface="+mn-lt"/>
                <a:ea typeface="+mn-ea"/>
                <a:cs typeface="+mn-cs"/>
              </a:rPr>
              <a:t>not</a:t>
            </a:r>
            <a:r>
              <a:rPr lang="en-US" sz="2400" b="0" dirty="0">
                <a:latin typeface="+mn-lt"/>
                <a:ea typeface="+mn-ea"/>
                <a:cs typeface="+mn-cs"/>
              </a:rPr>
              <a:t> allowed</a:t>
            </a:r>
          </a:p>
        </p:txBody>
      </p:sp>
      <p:sp>
        <p:nvSpPr>
          <p:cNvPr id="44" name="Content Placeholder 39"/>
          <p:cNvSpPr txBox="1">
            <a:spLocks/>
          </p:cNvSpPr>
          <p:nvPr/>
        </p:nvSpPr>
        <p:spPr bwMode="auto">
          <a:xfrm>
            <a:off x="457200" y="56388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28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ZapfDingbats" charset="0"/>
              <a:buChar char="u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dirty="0" err="1">
                <a:latin typeface="Arial" charset="0"/>
                <a:cs typeface="Arial" charset="0"/>
              </a:rPr>
              <a:t>ASes</a:t>
            </a:r>
            <a:r>
              <a:rPr lang="en-US" b="0" kern="0" dirty="0">
                <a:latin typeface="Arial" charset="0"/>
                <a:cs typeface="Arial" charset="0"/>
              </a:rPr>
              <a:t> provide “transit” between their customers</a:t>
            </a:r>
          </a:p>
          <a:p>
            <a:r>
              <a:rPr lang="en-US" b="0" kern="0" dirty="0">
                <a:latin typeface="Arial" charset="0"/>
                <a:cs typeface="Arial" charset="0"/>
              </a:rPr>
              <a:t>Peers do not provide transit between other peers</a:t>
            </a:r>
          </a:p>
        </p:txBody>
      </p:sp>
      <p:cxnSp>
        <p:nvCxnSpPr>
          <p:cNvPr id="45" name="Straight Connector 13">
            <a:extLst>
              <a:ext uri="{FF2B5EF4-FFF2-40B4-BE49-F238E27FC236}">
                <a16:creationId xmlns:a16="http://schemas.microsoft.com/office/drawing/2014/main" id="{0232AF25-F97D-DD42-9F4B-D66E4ABFCBF7}"/>
              </a:ext>
            </a:extLst>
          </p:cNvPr>
          <p:cNvCxnSpPr>
            <a:cxnSpLocks noChangeShapeType="1"/>
            <a:stCxn id="18" idx="0"/>
            <a:endCxn id="11" idx="3"/>
          </p:cNvCxnSpPr>
          <p:nvPr/>
        </p:nvCxnSpPr>
        <p:spPr bwMode="auto">
          <a:xfrm>
            <a:off x="4391465" y="1808732"/>
            <a:ext cx="2479852" cy="840768"/>
          </a:xfrm>
          <a:prstGeom prst="line">
            <a:avLst/>
          </a:prstGeom>
          <a:noFill/>
          <a:ln w="50800">
            <a:solidFill>
              <a:srgbClr val="00B050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5" name="Freeform 4">
            <a:extLst>
              <a:ext uri="{FF2B5EF4-FFF2-40B4-BE49-F238E27FC236}">
                <a16:creationId xmlns:a16="http://schemas.microsoft.com/office/drawing/2014/main" id="{321BCF76-025A-9D45-A501-5DD507F8D007}"/>
              </a:ext>
            </a:extLst>
          </p:cNvPr>
          <p:cNvSpPr/>
          <p:nvPr/>
        </p:nvSpPr>
        <p:spPr bwMode="auto">
          <a:xfrm>
            <a:off x="2933205" y="2303755"/>
            <a:ext cx="3408218" cy="415694"/>
          </a:xfrm>
          <a:custGeom>
            <a:avLst/>
            <a:gdLst>
              <a:gd name="connsiteX0" fmla="*/ 0 w 3408218"/>
              <a:gd name="connsiteY0" fmla="*/ 391944 h 415694"/>
              <a:gd name="connsiteX1" fmla="*/ 1793174 w 3408218"/>
              <a:gd name="connsiteY1" fmla="*/ 58 h 415694"/>
              <a:gd name="connsiteX2" fmla="*/ 3408218 w 3408218"/>
              <a:gd name="connsiteY2" fmla="*/ 415694 h 4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08218" h="415694">
                <a:moveTo>
                  <a:pt x="0" y="391944"/>
                </a:moveTo>
                <a:cubicBezTo>
                  <a:pt x="612569" y="194022"/>
                  <a:pt x="1225138" y="-3900"/>
                  <a:pt x="1793174" y="58"/>
                </a:cubicBezTo>
                <a:cubicBezTo>
                  <a:pt x="2361210" y="4016"/>
                  <a:pt x="2884714" y="209855"/>
                  <a:pt x="3408218" y="415694"/>
                </a:cubicBezTo>
              </a:path>
            </a:pathLst>
          </a:custGeom>
          <a:noFill/>
          <a:ln w="50800" cap="flat" cmpd="sng" algn="ctr">
            <a:solidFill>
              <a:srgbClr val="00B050"/>
            </a:solidFill>
            <a:prstDash val="solid"/>
            <a:round/>
            <a:headEnd type="oval" w="lg" len="lg"/>
            <a:tailEnd type="oval" w="lg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0" name="Straight Connector 13"/>
          <p:cNvCxnSpPr>
            <a:cxnSpLocks noChangeShapeType="1"/>
          </p:cNvCxnSpPr>
          <p:nvPr/>
        </p:nvCxnSpPr>
        <p:spPr bwMode="auto">
          <a:xfrm>
            <a:off x="4117390" y="2096609"/>
            <a:ext cx="305355" cy="646591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657197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40" grpId="0"/>
      <p:bldP spid="41" grpId="0" animBg="1"/>
      <p:bldP spid="43" grpId="0"/>
      <p:bldP spid="44" grpId="0" build="p"/>
      <p:bldP spid="5" grpId="0" animBg="1"/>
      <p:bldP spid="5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follows the money!</a:t>
            </a:r>
          </a:p>
        </p:txBody>
      </p:sp>
      <p:sp>
        <p:nvSpPr>
          <p:cNvPr id="48" name="Slide Number Placeholder 4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44</a:t>
            </a:fld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>
          <a:xfrm>
            <a:off x="1371600" y="2590800"/>
            <a:ext cx="6400800" cy="2398043"/>
            <a:chOff x="762000" y="1633131"/>
            <a:chExt cx="7848600" cy="2940457"/>
          </a:xfrm>
        </p:grpSpPr>
        <p:sp>
          <p:nvSpPr>
            <p:cNvPr id="7" name="Cloud 6"/>
            <p:cNvSpPr>
              <a:spLocks noChangeAspect="1"/>
            </p:cNvSpPr>
            <p:nvPr/>
          </p:nvSpPr>
          <p:spPr bwMode="auto">
            <a:xfrm>
              <a:off x="1023073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8" name="Cloud 7"/>
            <p:cNvSpPr>
              <a:spLocks noChangeAspect="1"/>
            </p:cNvSpPr>
            <p:nvPr/>
          </p:nvSpPr>
          <p:spPr bwMode="auto">
            <a:xfrm>
              <a:off x="3920261" y="3657600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Cloud 8"/>
            <p:cNvSpPr>
              <a:spLocks noChangeAspect="1"/>
            </p:cNvSpPr>
            <p:nvPr/>
          </p:nvSpPr>
          <p:spPr bwMode="auto">
            <a:xfrm>
              <a:off x="6739661" y="3659188"/>
              <a:ext cx="1605103" cy="9144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Cloud 9"/>
            <p:cNvSpPr/>
            <p:nvPr/>
          </p:nvSpPr>
          <p:spPr bwMode="auto">
            <a:xfrm>
              <a:off x="3617913" y="1640297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Cloud 10"/>
            <p:cNvSpPr/>
            <p:nvPr/>
          </p:nvSpPr>
          <p:spPr bwMode="auto">
            <a:xfrm>
              <a:off x="6400800" y="1633131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Cloud 11"/>
            <p:cNvSpPr/>
            <p:nvPr/>
          </p:nvSpPr>
          <p:spPr bwMode="auto">
            <a:xfrm>
              <a:off x="762000" y="1636713"/>
              <a:ext cx="2209800" cy="1258886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13" name="Straight Connector 11"/>
            <p:cNvCxnSpPr>
              <a:cxnSpLocks noChangeShapeType="1"/>
            </p:cNvCxnSpPr>
            <p:nvPr/>
          </p:nvCxnSpPr>
          <p:spPr bwMode="auto">
            <a:xfrm>
              <a:off x="28956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4" name="Straight Connector 12"/>
            <p:cNvCxnSpPr>
              <a:cxnSpLocks noChangeShapeType="1"/>
            </p:cNvCxnSpPr>
            <p:nvPr/>
          </p:nvCxnSpPr>
          <p:spPr bwMode="auto">
            <a:xfrm>
              <a:off x="5715000" y="2209800"/>
              <a:ext cx="685800" cy="1588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5" name="Straight Connector 13"/>
            <p:cNvCxnSpPr>
              <a:cxnSpLocks noChangeShapeType="1"/>
            </p:cNvCxnSpPr>
            <p:nvPr/>
          </p:nvCxnSpPr>
          <p:spPr bwMode="auto">
            <a:xfrm rot="5400000">
              <a:off x="1409701" y="3314700"/>
              <a:ext cx="838200" cy="3175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6" name="Straight Connector 15"/>
            <p:cNvCxnSpPr>
              <a:cxnSpLocks noChangeShapeType="1"/>
            </p:cNvCxnSpPr>
            <p:nvPr/>
          </p:nvCxnSpPr>
          <p:spPr bwMode="auto">
            <a:xfrm rot="5400000">
              <a:off x="43045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7" name="Straight Connector 16"/>
            <p:cNvCxnSpPr>
              <a:cxnSpLocks noChangeShapeType="1"/>
            </p:cNvCxnSpPr>
            <p:nvPr/>
          </p:nvCxnSpPr>
          <p:spPr bwMode="auto">
            <a:xfrm rot="5400000">
              <a:off x="7123907" y="3313906"/>
              <a:ext cx="838200" cy="158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8" name="Cloud 17"/>
          <p:cNvSpPr/>
          <p:nvPr/>
        </p:nvSpPr>
        <p:spPr bwMode="auto">
          <a:xfrm>
            <a:off x="2590800" y="1295400"/>
            <a:ext cx="1802167" cy="102666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" name="Straight Connector 13"/>
          <p:cNvCxnSpPr>
            <a:cxnSpLocks noChangeShapeType="1"/>
          </p:cNvCxnSpPr>
          <p:nvPr/>
        </p:nvCxnSpPr>
        <p:spPr bwMode="auto">
          <a:xfrm flipH="1">
            <a:off x="2381159" y="2116102"/>
            <a:ext cx="438241" cy="683581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0" name="Straight Connector 13"/>
          <p:cNvCxnSpPr>
            <a:cxnSpLocks noChangeShapeType="1"/>
          </p:cNvCxnSpPr>
          <p:nvPr/>
        </p:nvCxnSpPr>
        <p:spPr bwMode="auto">
          <a:xfrm>
            <a:off x="4117390" y="2096609"/>
            <a:ext cx="305355" cy="646591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3" name="TextBox 22"/>
          <p:cNvSpPr txBox="1"/>
          <p:nvPr/>
        </p:nvSpPr>
        <p:spPr>
          <a:xfrm>
            <a:off x="2064904" y="2884729"/>
            <a:ext cx="353415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9600" y="2884729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1758" y="2884729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9600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1758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88238" y="1524000"/>
            <a:ext cx="369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7127195" y="1463189"/>
            <a:ext cx="2016805" cy="731222"/>
            <a:chOff x="7127195" y="1463189"/>
            <a:chExt cx="2016805" cy="731222"/>
          </a:xfrm>
        </p:grpSpPr>
        <p:cxnSp>
          <p:nvCxnSpPr>
            <p:cNvPr id="30" name="Straight Connector 16"/>
            <p:cNvCxnSpPr>
              <a:cxnSpLocks noChangeShapeType="1"/>
            </p:cNvCxnSpPr>
            <p:nvPr/>
          </p:nvCxnSpPr>
          <p:spPr bwMode="auto">
            <a:xfrm>
              <a:off x="7851314" y="1647855"/>
              <a:ext cx="533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31" name="TextBox 30"/>
            <p:cNvSpPr txBox="1"/>
            <p:nvPr/>
          </p:nvSpPr>
          <p:spPr>
            <a:xfrm>
              <a:off x="7355795" y="1463189"/>
              <a:ext cx="428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346395" y="1463189"/>
              <a:ext cx="492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Cu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27195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458784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cxnSp>
          <p:nvCxnSpPr>
            <p:cNvPr id="35" name="Straight Connector 11"/>
            <p:cNvCxnSpPr>
              <a:cxnSpLocks noChangeShapeType="1"/>
            </p:cNvCxnSpPr>
            <p:nvPr/>
          </p:nvCxnSpPr>
          <p:spPr bwMode="auto">
            <a:xfrm>
              <a:off x="7940401" y="2009745"/>
              <a:ext cx="355226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45" name="Content Placeholder 39"/>
          <p:cNvSpPr txBox="1">
            <a:spLocks/>
          </p:cNvSpPr>
          <p:nvPr/>
        </p:nvSpPr>
        <p:spPr>
          <a:xfrm>
            <a:off x="457200" y="5638800"/>
            <a:ext cx="8229600" cy="1066800"/>
          </a:xfrm>
          <a:prstGeom prst="rect">
            <a:avLst/>
          </a:prstGeom>
        </p:spPr>
        <p:txBody>
          <a:bodyPr/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28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ZapfDingbats" charset="0"/>
              <a:buChar char="u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dirty="0">
                <a:latin typeface="Arial" charset="0"/>
                <a:cs typeface="Arial" charset="0"/>
              </a:rPr>
              <a:t>An AS only carries traffic to/from its own customers over a peering link</a:t>
            </a:r>
          </a:p>
        </p:txBody>
      </p:sp>
      <p:sp>
        <p:nvSpPr>
          <p:cNvPr id="46" name="Freeform 45"/>
          <p:cNvSpPr/>
          <p:nvPr/>
        </p:nvSpPr>
        <p:spPr>
          <a:xfrm>
            <a:off x="2370897" y="1464216"/>
            <a:ext cx="1562282" cy="2893150"/>
          </a:xfrm>
          <a:custGeom>
            <a:avLst/>
            <a:gdLst>
              <a:gd name="connsiteX0" fmla="*/ 1009647 w 1962669"/>
              <a:gd name="connsiteY0" fmla="*/ 0 h 2893150"/>
              <a:gd name="connsiteX1" fmla="*/ 1944553 w 1962669"/>
              <a:gd name="connsiteY1" fmla="*/ 1728834 h 2893150"/>
              <a:gd name="connsiteX2" fmla="*/ 268778 w 1962669"/>
              <a:gd name="connsiteY2" fmla="*/ 1834680 h 2893150"/>
              <a:gd name="connsiteX3" fmla="*/ 4181 w 1962669"/>
              <a:gd name="connsiteY3" fmla="*/ 2893150 h 289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2669" h="2893150">
                <a:moveTo>
                  <a:pt x="1009647" y="0"/>
                </a:moveTo>
                <a:cubicBezTo>
                  <a:pt x="1538839" y="711527"/>
                  <a:pt x="2068031" y="1423054"/>
                  <a:pt x="1944553" y="1728834"/>
                </a:cubicBezTo>
                <a:cubicBezTo>
                  <a:pt x="1821075" y="2034614"/>
                  <a:pt x="592173" y="1640627"/>
                  <a:pt x="268778" y="1834680"/>
                </a:cubicBezTo>
                <a:cubicBezTo>
                  <a:pt x="-54617" y="2028733"/>
                  <a:pt x="4181" y="2893150"/>
                  <a:pt x="4181" y="2893150"/>
                </a:cubicBezTo>
              </a:path>
            </a:pathLst>
          </a:custGeom>
          <a:ln w="38100" cmpd="sng">
            <a:solidFill>
              <a:srgbClr val="0000FF"/>
            </a:solidFill>
            <a:headEnd type="triangl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5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90B0E"/>
                                      </p:to>
                                    </p:animClr>
                                    <p:set>
                                      <p:cBhvr>
                                        <p:cTn id="13" dur="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/>
      <p:bldP spid="4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follows the money!</a:t>
            </a:r>
          </a:p>
        </p:txBody>
      </p:sp>
      <p:sp>
        <p:nvSpPr>
          <p:cNvPr id="39" name="Slide Number Placeholder 38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8" name="Cloud 7"/>
          <p:cNvSpPr>
            <a:spLocks noChangeAspect="1"/>
          </p:cNvSpPr>
          <p:nvPr/>
        </p:nvSpPr>
        <p:spPr bwMode="auto">
          <a:xfrm>
            <a:off x="3947269" y="4241824"/>
            <a:ext cx="1309016" cy="74572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Cloud 9"/>
          <p:cNvSpPr/>
          <p:nvPr/>
        </p:nvSpPr>
        <p:spPr bwMode="auto">
          <a:xfrm>
            <a:off x="3700694" y="2596644"/>
            <a:ext cx="1802167" cy="102666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Cloud 11"/>
          <p:cNvSpPr/>
          <p:nvPr/>
        </p:nvSpPr>
        <p:spPr bwMode="auto">
          <a:xfrm>
            <a:off x="1371600" y="2593721"/>
            <a:ext cx="1802167" cy="102666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" name="Straight Connector 11"/>
          <p:cNvCxnSpPr>
            <a:cxnSpLocks noChangeShapeType="1"/>
          </p:cNvCxnSpPr>
          <p:nvPr/>
        </p:nvCxnSpPr>
        <p:spPr bwMode="auto">
          <a:xfrm>
            <a:off x="3111623" y="3061093"/>
            <a:ext cx="559293" cy="129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oval" w="lg" len="lg"/>
            <a:tailEnd type="oval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5" name="Straight Connector 13"/>
          <p:cNvCxnSpPr>
            <a:cxnSpLocks noChangeShapeType="1"/>
            <a:endCxn id="8" idx="2"/>
          </p:cNvCxnSpPr>
          <p:nvPr/>
        </p:nvCxnSpPr>
        <p:spPr bwMode="auto">
          <a:xfrm>
            <a:off x="2242908" y="3621681"/>
            <a:ext cx="1708421" cy="99300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6" name="Straight Connector 15"/>
          <p:cNvCxnSpPr>
            <a:cxnSpLocks noChangeShapeType="1"/>
          </p:cNvCxnSpPr>
          <p:nvPr/>
        </p:nvCxnSpPr>
        <p:spPr bwMode="auto">
          <a:xfrm rot="5400000">
            <a:off x="4260635" y="3961529"/>
            <a:ext cx="683581" cy="1294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diamond" w="lg" len="lg"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3" name="TextBox 22"/>
          <p:cNvSpPr txBox="1"/>
          <p:nvPr/>
        </p:nvSpPr>
        <p:spPr>
          <a:xfrm>
            <a:off x="2064904" y="2884729"/>
            <a:ext cx="353415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9600" y="2884729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9600" y="4272346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7127195" y="1463189"/>
            <a:ext cx="2016805" cy="731222"/>
            <a:chOff x="7127195" y="1463189"/>
            <a:chExt cx="2016805" cy="731222"/>
          </a:xfrm>
        </p:grpSpPr>
        <p:cxnSp>
          <p:nvCxnSpPr>
            <p:cNvPr id="30" name="Straight Connector 16"/>
            <p:cNvCxnSpPr>
              <a:cxnSpLocks noChangeShapeType="1"/>
            </p:cNvCxnSpPr>
            <p:nvPr/>
          </p:nvCxnSpPr>
          <p:spPr bwMode="auto">
            <a:xfrm>
              <a:off x="7851314" y="1647855"/>
              <a:ext cx="53340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diamond" w="lg" len="lg"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31" name="TextBox 30"/>
            <p:cNvSpPr txBox="1"/>
            <p:nvPr/>
          </p:nvSpPr>
          <p:spPr>
            <a:xfrm>
              <a:off x="7355795" y="1463189"/>
              <a:ext cx="4284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346395" y="1463189"/>
              <a:ext cx="4923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Cu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27195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458784" y="1825079"/>
              <a:ext cx="6852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Peer</a:t>
              </a:r>
            </a:p>
          </p:txBody>
        </p:sp>
        <p:cxnSp>
          <p:nvCxnSpPr>
            <p:cNvPr id="35" name="Straight Connector 11"/>
            <p:cNvCxnSpPr>
              <a:cxnSpLocks noChangeShapeType="1"/>
            </p:cNvCxnSpPr>
            <p:nvPr/>
          </p:nvCxnSpPr>
          <p:spPr bwMode="auto">
            <a:xfrm>
              <a:off x="7940401" y="2009745"/>
              <a:ext cx="355226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  <a:headEnd type="oval" w="lg" len="lg"/>
              <a:tailEnd type="oval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45" name="Content Placeholder 39"/>
          <p:cNvSpPr txBox="1">
            <a:spLocks/>
          </p:cNvSpPr>
          <p:nvPr/>
        </p:nvSpPr>
        <p:spPr>
          <a:xfrm>
            <a:off x="457200" y="5638800"/>
            <a:ext cx="8229600" cy="1066800"/>
          </a:xfrm>
          <a:prstGeom prst="rect">
            <a:avLst/>
          </a:prstGeom>
        </p:spPr>
        <p:txBody>
          <a:bodyPr/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2800">
                <a:solidFill>
                  <a:schemeClr val="accent2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ZapfDingbats" charset="0"/>
              <a:buChar char="u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n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charset="0"/>
              <a:buChar char="l"/>
              <a:defRPr sz="1200">
                <a:solidFill>
                  <a:schemeClr val="accent2"/>
                </a:solidFill>
                <a:latin typeface="+mn-lt"/>
                <a:ea typeface="ＭＳ Ｐゴシック" charset="-128"/>
              </a:defRPr>
            </a:lvl5pPr>
            <a:lvl6pPr marL="18859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6pPr>
            <a:lvl7pPr marL="2228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7pPr>
            <a:lvl8pPr marL="25717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8pPr>
            <a:lvl9pPr marL="29146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Font typeface="Monotype Sorts" pitchFamily="96" charset="2"/>
              <a:buChar char="l"/>
              <a:defRPr sz="1200">
                <a:solidFill>
                  <a:schemeClr val="accent2"/>
                </a:solidFill>
                <a:latin typeface="+mn-lt"/>
              </a:defRPr>
            </a:lvl9pPr>
          </a:lstStyle>
          <a:p>
            <a:r>
              <a:rPr lang="en-US" b="0" kern="0" dirty="0">
                <a:latin typeface="Arial" charset="0"/>
                <a:cs typeface="Arial" charset="0"/>
              </a:rPr>
              <a:t>Routes are “valley” free (more details later)</a:t>
            </a:r>
          </a:p>
        </p:txBody>
      </p:sp>
      <p:sp>
        <p:nvSpPr>
          <p:cNvPr id="5" name="Freeform 4"/>
          <p:cNvSpPr/>
          <p:nvPr/>
        </p:nvSpPr>
        <p:spPr bwMode="auto">
          <a:xfrm>
            <a:off x="2430966" y="3267307"/>
            <a:ext cx="1964266" cy="1283824"/>
          </a:xfrm>
          <a:custGeom>
            <a:avLst/>
            <a:gdLst>
              <a:gd name="connsiteX0" fmla="*/ 0 w 1964266"/>
              <a:gd name="connsiteY0" fmla="*/ 200722 h 1283824"/>
              <a:gd name="connsiteX1" fmla="*/ 1828800 w 1964266"/>
              <a:gd name="connsiteY1" fmla="*/ 1282391 h 1283824"/>
              <a:gd name="connsiteX2" fmla="*/ 1828800 w 1964266"/>
              <a:gd name="connsiteY2" fmla="*/ 0 h 1283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64266" h="1283824">
                <a:moveTo>
                  <a:pt x="0" y="200722"/>
                </a:moveTo>
                <a:cubicBezTo>
                  <a:pt x="762000" y="758283"/>
                  <a:pt x="1524000" y="1315845"/>
                  <a:pt x="1828800" y="1282391"/>
                </a:cubicBezTo>
                <a:cubicBezTo>
                  <a:pt x="2133600" y="1248937"/>
                  <a:pt x="1828800" y="0"/>
                  <a:pt x="1828800" y="0"/>
                </a:cubicBezTo>
              </a:path>
            </a:pathLst>
          </a:cu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Multiply 37"/>
          <p:cNvSpPr/>
          <p:nvPr/>
        </p:nvSpPr>
        <p:spPr bwMode="auto">
          <a:xfrm>
            <a:off x="2743200" y="3581400"/>
            <a:ext cx="609600" cy="533400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D0097F5-B74B-D943-A317-5F449CD9DD3D}"/>
                  </a:ext>
                </a:extLst>
              </p14:cNvPr>
              <p14:cNvContentPartPr/>
              <p14:nvPr/>
            </p14:nvContentPartPr>
            <p14:xfrm>
              <a:off x="3745440" y="3104640"/>
              <a:ext cx="54000" cy="16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D0097F5-B74B-D943-A317-5F449CD9DD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29240" y="3088440"/>
                <a:ext cx="86400" cy="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953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/>
      <p:bldP spid="5" grpId="0" animBg="1"/>
      <p:bldP spid="3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short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topology reflects business relationships between ASes</a:t>
            </a:r>
          </a:p>
          <a:p>
            <a:r>
              <a:rPr lang="en-US" dirty="0"/>
              <a:t>Business relationships between ASes impact which routes are acceptable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1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The role of policy</a:t>
            </a:r>
          </a:p>
          <a:p>
            <a:pPr lvl="1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What we mean by it</a:t>
            </a:r>
          </a:p>
          <a:p>
            <a:pPr lvl="1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Why we need it </a:t>
            </a:r>
          </a:p>
          <a:p>
            <a:r>
              <a:rPr lang="en-US" dirty="0"/>
              <a:t>Overall approach </a:t>
            </a:r>
          </a:p>
          <a:p>
            <a:pPr lvl="1"/>
            <a:r>
              <a:rPr lang="en-US" dirty="0"/>
              <a:t>Four non-trivial changes to DV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622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Inter-domain routing: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Destinations are IP prefixes (12.0.0.0/8)</a:t>
            </a:r>
          </a:p>
          <a:p>
            <a:r>
              <a:rPr lang="en-US" dirty="0"/>
              <a:t>Nodes are Autonomous Systems (ASes)</a:t>
            </a:r>
          </a:p>
          <a:p>
            <a:pPr lvl="1"/>
            <a:r>
              <a:rPr lang="en-US" dirty="0"/>
              <a:t>Internals of each AS are hidden </a:t>
            </a:r>
          </a:p>
          <a:p>
            <a:r>
              <a:rPr lang="en-US" dirty="0"/>
              <a:t>Links represent both physical links and business relationships</a:t>
            </a:r>
          </a:p>
          <a:p>
            <a:r>
              <a:rPr lang="en-US" dirty="0"/>
              <a:t>BGP (Border Gateway Protocol) is the Inter-domain routing protocol</a:t>
            </a:r>
          </a:p>
          <a:p>
            <a:pPr lvl="1"/>
            <a:r>
              <a:rPr lang="en-US" dirty="0"/>
              <a:t>Implemented by AS border routers</a:t>
            </a:r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9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BGP: Basic idea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4876800" y="2895600"/>
            <a:ext cx="4267200" cy="1295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/>
              <a:t>Each AS </a:t>
            </a:r>
            <a:r>
              <a:rPr lang="en-US" sz="2400" dirty="0">
                <a:solidFill>
                  <a:srgbClr val="0000FF"/>
                </a:solidFill>
              </a:rPr>
              <a:t>selects</a:t>
            </a:r>
            <a:r>
              <a:rPr lang="en-US" sz="2400" dirty="0"/>
              <a:t> the </a:t>
            </a:r>
            <a:br>
              <a:rPr lang="en-US" sz="2400" dirty="0"/>
            </a:br>
            <a:r>
              <a:rPr lang="en-US" sz="2400" dirty="0"/>
              <a:t>“best” route it hears advertised for a prefix</a:t>
            </a:r>
          </a:p>
        </p:txBody>
      </p:sp>
      <p:sp>
        <p:nvSpPr>
          <p:cNvPr id="78" name="Curved Left Arrow 77"/>
          <p:cNvSpPr/>
          <p:nvPr/>
        </p:nvSpPr>
        <p:spPr bwMode="auto">
          <a:xfrm rot="16200000">
            <a:off x="4324350" y="1162050"/>
            <a:ext cx="609600" cy="3009900"/>
          </a:xfrm>
          <a:prstGeom prst="curvedLef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9" name="Content Placeholder 1"/>
          <p:cNvSpPr txBox="1">
            <a:spLocks/>
          </p:cNvSpPr>
          <p:nvPr/>
        </p:nvSpPr>
        <p:spPr bwMode="auto">
          <a:xfrm>
            <a:off x="228600" y="2895600"/>
            <a:ext cx="3810000" cy="1295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charset="0"/>
              <a:buChar char="l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0"/>
              <a:buChar char="l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l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2"/>
              <a:buChar char="§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algn="ctr">
              <a:buFont typeface="Wingdings" charset="0"/>
              <a:buNone/>
            </a:pPr>
            <a:r>
              <a:rPr lang="en-US" sz="2400" b="0" dirty="0">
                <a:solidFill>
                  <a:schemeClr val="accent2"/>
                </a:solidFill>
              </a:rPr>
              <a:t>An AS advertises </a:t>
            </a:r>
            <a:br>
              <a:rPr lang="en-US" sz="2400" b="0" dirty="0">
                <a:solidFill>
                  <a:schemeClr val="accent2"/>
                </a:solidFill>
              </a:rPr>
            </a:br>
            <a:r>
              <a:rPr lang="en-US" sz="2400" b="0" dirty="0">
                <a:solidFill>
                  <a:schemeClr val="accent2"/>
                </a:solidFill>
              </a:rPr>
              <a:t>(“exports”) </a:t>
            </a:r>
            <a:r>
              <a:rPr lang="en-US" sz="2400" b="0" dirty="0">
                <a:solidFill>
                  <a:srgbClr val="0000FF"/>
                </a:solidFill>
              </a:rPr>
              <a:t>its</a:t>
            </a:r>
            <a:r>
              <a:rPr lang="en-US" sz="2400" b="0" dirty="0">
                <a:solidFill>
                  <a:schemeClr val="accent2"/>
                </a:solidFill>
              </a:rPr>
              <a:t> best routes </a:t>
            </a:r>
            <a:br>
              <a:rPr lang="en-US" sz="2400" b="0" dirty="0">
                <a:solidFill>
                  <a:schemeClr val="accent2"/>
                </a:solidFill>
              </a:rPr>
            </a:br>
            <a:r>
              <a:rPr lang="en-US" sz="2400" b="0" dirty="0">
                <a:solidFill>
                  <a:schemeClr val="accent2"/>
                </a:solidFill>
              </a:rPr>
              <a:t>to </a:t>
            </a:r>
            <a:r>
              <a:rPr lang="en-US" altLang="zh-CN" sz="2400" b="0" dirty="0">
                <a:solidFill>
                  <a:schemeClr val="accent2"/>
                </a:solidFill>
              </a:rPr>
              <a:t>each</a:t>
            </a:r>
            <a:r>
              <a:rPr lang="zh-CN" altLang="en-US" sz="2400" b="0" dirty="0">
                <a:solidFill>
                  <a:schemeClr val="accent2"/>
                </a:solidFill>
              </a:rPr>
              <a:t> </a:t>
            </a:r>
            <a:r>
              <a:rPr lang="en-US" sz="2400" b="0" dirty="0">
                <a:solidFill>
                  <a:schemeClr val="accent2"/>
                </a:solidFill>
              </a:rPr>
              <a:t>IP prefix</a:t>
            </a:r>
          </a:p>
        </p:txBody>
      </p:sp>
      <p:sp>
        <p:nvSpPr>
          <p:cNvPr id="80" name="Curved Left Arrow 79"/>
          <p:cNvSpPr/>
          <p:nvPr/>
        </p:nvSpPr>
        <p:spPr bwMode="auto">
          <a:xfrm rot="5400000">
            <a:off x="4348550" y="2838450"/>
            <a:ext cx="609599" cy="3009900"/>
          </a:xfrm>
          <a:prstGeom prst="curvedLef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86247" y="5334000"/>
            <a:ext cx="620995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  <a:latin typeface="+mn-lt"/>
              </a:rPr>
              <a:t>You’ve heard this story before!</a:t>
            </a:r>
          </a:p>
        </p:txBody>
      </p:sp>
    </p:spTree>
    <p:extLst>
      <p:ext uri="{BB962C8B-B14F-4D97-AF65-F5344CB8AC3E}">
        <p14:creationId xmlns:p14="http://schemas.microsoft.com/office/powerpoint/2010/main" val="693686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78" grpId="0" animBg="1"/>
      <p:bldP spid="79" grpId="0"/>
      <p:bldP spid="80" grpId="0" animBg="1"/>
      <p:bldP spid="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inspired by Distance-Vector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Per-destination route advertisements </a:t>
            </a:r>
          </a:p>
          <a:p>
            <a:r>
              <a:rPr lang="en-US" dirty="0"/>
              <a:t>No global sharing of network topology information</a:t>
            </a:r>
          </a:p>
          <a:p>
            <a:r>
              <a:rPr lang="en-US" dirty="0"/>
              <a:t>Iterative and distributed convergence on paths</a:t>
            </a:r>
          </a:p>
          <a:p>
            <a:r>
              <a:rPr lang="en-US" dirty="0">
                <a:solidFill>
                  <a:srgbClr val="0000FF"/>
                </a:solidFill>
              </a:rPr>
              <a:t>With four crucial differences!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279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&amp; DV differences: </a:t>
            </a:r>
            <a:r>
              <a:rPr lang="en-US" sz="3600" dirty="0">
                <a:solidFill>
                  <a:srgbClr val="0000FF"/>
                </a:solidFill>
              </a:rPr>
              <a:t>(1) Not picking shortest-path routes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BGP selects the best route based on policy, not shortest distance (i.e., least-cost) </a:t>
            </a:r>
          </a:p>
          <a:p>
            <a:r>
              <a:rPr lang="en-US" dirty="0">
                <a:solidFill>
                  <a:srgbClr val="D3A600"/>
                </a:solidFill>
              </a:rPr>
              <a:t>AS A may prefer “A,B,C” over “A,C”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do we avoid loops? </a:t>
            </a:r>
          </a:p>
        </p:txBody>
      </p:sp>
      <p:sp>
        <p:nvSpPr>
          <p:cNvPr id="39" name="Slide Number Placeholder 38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  <p:grpSp>
        <p:nvGrpSpPr>
          <p:cNvPr id="36" name="Group 35"/>
          <p:cNvGrpSpPr/>
          <p:nvPr/>
        </p:nvGrpSpPr>
        <p:grpSpPr>
          <a:xfrm>
            <a:off x="2506370" y="3181293"/>
            <a:ext cx="4131261" cy="2393827"/>
            <a:chOff x="1149565" y="3181293"/>
            <a:chExt cx="4131261" cy="2393827"/>
          </a:xfrm>
        </p:grpSpPr>
        <p:sp>
          <p:nvSpPr>
            <p:cNvPr id="17" name="Freeform 30"/>
            <p:cNvSpPr>
              <a:spLocks/>
            </p:cNvSpPr>
            <p:nvPr/>
          </p:nvSpPr>
          <p:spPr bwMode="auto">
            <a:xfrm>
              <a:off x="2981511" y="4117332"/>
              <a:ext cx="1073008" cy="711416"/>
            </a:xfrm>
            <a:custGeom>
              <a:avLst/>
              <a:gdLst>
                <a:gd name="T0" fmla="*/ 0 w 658"/>
                <a:gd name="T1" fmla="*/ 0 h 436"/>
                <a:gd name="T2" fmla="*/ 2147483647 w 658"/>
                <a:gd name="T3" fmla="*/ 2147483647 h 436"/>
                <a:gd name="T4" fmla="*/ 2147483647 w 658"/>
                <a:gd name="T5" fmla="*/ 2147483647 h 436"/>
                <a:gd name="T6" fmla="*/ 0 60000 65536"/>
                <a:gd name="T7" fmla="*/ 0 60000 65536"/>
                <a:gd name="T8" fmla="*/ 0 60000 65536"/>
                <a:gd name="T9" fmla="*/ 0 w 658"/>
                <a:gd name="T10" fmla="*/ 0 h 436"/>
                <a:gd name="T11" fmla="*/ 658 w 658"/>
                <a:gd name="T12" fmla="*/ 436 h 4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58" h="436">
                  <a:moveTo>
                    <a:pt x="0" y="0"/>
                  </a:moveTo>
                  <a:cubicBezTo>
                    <a:pt x="252" y="0"/>
                    <a:pt x="504" y="0"/>
                    <a:pt x="581" y="73"/>
                  </a:cubicBezTo>
                  <a:cubicBezTo>
                    <a:pt x="658" y="146"/>
                    <a:pt x="559" y="291"/>
                    <a:pt x="460" y="436"/>
                  </a:cubicBezTo>
                </a:path>
              </a:pathLst>
            </a:custGeom>
            <a:noFill/>
            <a:ln w="50800">
              <a:solidFill>
                <a:srgbClr val="D3A600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31"/>
            <p:cNvSpPr>
              <a:spLocks noChangeShapeType="1"/>
            </p:cNvSpPr>
            <p:nvPr/>
          </p:nvSpPr>
          <p:spPr bwMode="auto">
            <a:xfrm>
              <a:off x="2284175" y="4568548"/>
              <a:ext cx="972788" cy="632474"/>
            </a:xfrm>
            <a:prstGeom prst="line">
              <a:avLst/>
            </a:prstGeom>
            <a:noFill/>
            <a:ln w="50800">
              <a:solidFill>
                <a:srgbClr val="D3A600"/>
              </a:solidFill>
              <a:prstDash val="dash"/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Cloud 24"/>
            <p:cNvSpPr>
              <a:spLocks noChangeAspect="1"/>
            </p:cNvSpPr>
            <p:nvPr/>
          </p:nvSpPr>
          <p:spPr bwMode="auto">
            <a:xfrm>
              <a:off x="3725234" y="4829396"/>
              <a:ext cx="1309016" cy="745724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Cloud 25"/>
            <p:cNvSpPr/>
            <p:nvPr/>
          </p:nvSpPr>
          <p:spPr bwMode="auto">
            <a:xfrm>
              <a:off x="3478659" y="3184216"/>
              <a:ext cx="1802167" cy="1026664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" name="Cloud 26"/>
            <p:cNvSpPr/>
            <p:nvPr/>
          </p:nvSpPr>
          <p:spPr bwMode="auto">
            <a:xfrm>
              <a:off x="1149565" y="3181293"/>
              <a:ext cx="1802167" cy="1026664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28" name="Straight Connector 11"/>
            <p:cNvCxnSpPr>
              <a:cxnSpLocks noChangeShapeType="1"/>
            </p:cNvCxnSpPr>
            <p:nvPr/>
          </p:nvCxnSpPr>
          <p:spPr bwMode="auto">
            <a:xfrm>
              <a:off x="2889588" y="3648665"/>
              <a:ext cx="559293" cy="1295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29" name="Straight Connector 13"/>
            <p:cNvCxnSpPr>
              <a:cxnSpLocks noChangeShapeType="1"/>
              <a:endCxn id="31" idx="2"/>
            </p:cNvCxnSpPr>
            <p:nvPr/>
          </p:nvCxnSpPr>
          <p:spPr bwMode="auto">
            <a:xfrm>
              <a:off x="2020873" y="4209253"/>
              <a:ext cx="1708421" cy="993005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30" name="Straight Connector 29"/>
            <p:cNvCxnSpPr>
              <a:cxnSpLocks noChangeShapeType="1"/>
            </p:cNvCxnSpPr>
            <p:nvPr/>
          </p:nvCxnSpPr>
          <p:spPr bwMode="auto">
            <a:xfrm rot="5400000">
              <a:off x="4038600" y="4549101"/>
              <a:ext cx="683581" cy="1294"/>
            </a:xfrm>
            <a:prstGeom prst="line">
              <a:avLst/>
            </a:prstGeom>
            <a:noFill/>
            <a:ln w="50800">
              <a:solidFill>
                <a:srgbClr val="0000FF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31" name="TextBox 30"/>
            <p:cNvSpPr txBox="1"/>
            <p:nvPr/>
          </p:nvSpPr>
          <p:spPr>
            <a:xfrm>
              <a:off x="1842869" y="3472301"/>
              <a:ext cx="353415" cy="341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197565" y="3472301"/>
              <a:ext cx="334842" cy="3411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197565" y="4859918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33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&amp; DV differences: </a:t>
            </a:r>
            <a:br>
              <a:rPr lang="en-US" dirty="0"/>
            </a:br>
            <a:r>
              <a:rPr lang="en-US" sz="3600" dirty="0">
                <a:solidFill>
                  <a:srgbClr val="0000FF"/>
                </a:solidFill>
              </a:rPr>
              <a:t>(2) Path-Vector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advertise the entire path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Distance vector</a:t>
            </a:r>
            <a:r>
              <a:rPr lang="en-US" dirty="0"/>
              <a:t>: send </a:t>
            </a:r>
            <a:r>
              <a:rPr lang="en-US" dirty="0">
                <a:solidFill>
                  <a:srgbClr val="0000FF"/>
                </a:solidFill>
              </a:rPr>
              <a:t>distance metric</a:t>
            </a:r>
            <a:r>
              <a:rPr lang="en-US" dirty="0"/>
              <a:t> per </a:t>
            </a:r>
            <a:r>
              <a:rPr lang="en-US" dirty="0" err="1"/>
              <a:t>dest</a:t>
            </a:r>
            <a:r>
              <a:rPr lang="en-US" dirty="0"/>
              <a:t> d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Path vector</a:t>
            </a:r>
            <a:r>
              <a:rPr lang="en-US" dirty="0"/>
              <a:t>: send the </a:t>
            </a:r>
            <a:r>
              <a:rPr lang="en-US" dirty="0">
                <a:solidFill>
                  <a:srgbClr val="0000FF"/>
                </a:solidFill>
              </a:rPr>
              <a:t>entire path</a:t>
            </a:r>
            <a:r>
              <a:rPr lang="en-US" dirty="0"/>
              <a:t> for each </a:t>
            </a:r>
            <a:r>
              <a:rPr lang="en-US" dirty="0" err="1"/>
              <a:t>dest</a:t>
            </a:r>
            <a:r>
              <a:rPr lang="en-US" dirty="0"/>
              <a:t> d</a:t>
            </a:r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9600" y="4034049"/>
            <a:ext cx="7962410" cy="2061951"/>
            <a:chOff x="609600" y="4034049"/>
            <a:chExt cx="7962410" cy="2061951"/>
          </a:xfrm>
        </p:grpSpPr>
        <p:grpSp>
          <p:nvGrpSpPr>
            <p:cNvPr id="4" name="Group 3"/>
            <p:cNvGrpSpPr>
              <a:grpSpLocks noChangeAspect="1"/>
            </p:cNvGrpSpPr>
            <p:nvPr/>
          </p:nvGrpSpPr>
          <p:grpSpPr>
            <a:xfrm>
              <a:off x="609600" y="4038600"/>
              <a:ext cx="2407655" cy="1371600"/>
              <a:chOff x="2506370" y="3181293"/>
              <a:chExt cx="1802167" cy="1026664"/>
            </a:xfrm>
          </p:grpSpPr>
          <p:sp>
            <p:nvSpPr>
              <p:cNvPr id="16" name="Cloud 15"/>
              <p:cNvSpPr/>
              <p:nvPr/>
            </p:nvSpPr>
            <p:spPr bwMode="auto">
              <a:xfrm>
                <a:off x="2506370" y="3181293"/>
                <a:ext cx="1802167" cy="1026664"/>
              </a:xfrm>
              <a:prstGeom prst="cloud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Arial" charset="0"/>
                  <a:cs typeface="Arial" charset="0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3199674" y="3472301"/>
                <a:ext cx="305008" cy="3455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ea typeface="Arial" charset="0"/>
                    <a:cs typeface="Arial" charset="0"/>
                  </a:rPr>
                  <a:t>C</a:t>
                </a:r>
              </a:p>
            </p:txBody>
          </p:sp>
        </p:grpSp>
        <p:grpSp>
          <p:nvGrpSpPr>
            <p:cNvPr id="20" name="Group 19"/>
            <p:cNvGrpSpPr/>
            <p:nvPr/>
          </p:nvGrpSpPr>
          <p:grpSpPr>
            <a:xfrm>
              <a:off x="4251508" y="4211068"/>
              <a:ext cx="1802167" cy="1026664"/>
              <a:chOff x="2506370" y="3181293"/>
              <a:chExt cx="1802167" cy="1026664"/>
            </a:xfrm>
          </p:grpSpPr>
          <p:sp>
            <p:nvSpPr>
              <p:cNvPr id="21" name="Cloud 20"/>
              <p:cNvSpPr/>
              <p:nvPr/>
            </p:nvSpPr>
            <p:spPr bwMode="auto">
              <a:xfrm>
                <a:off x="2506370" y="3181293"/>
                <a:ext cx="1802167" cy="1026664"/>
              </a:xfrm>
              <a:prstGeom prst="cloud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Arial" charset="0"/>
                  <a:cs typeface="Arial" charset="0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3199674" y="3472301"/>
                <a:ext cx="4074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ea typeface="Arial" charset="0"/>
                    <a:cs typeface="Arial" charset="0"/>
                  </a:rPr>
                  <a:t>B</a:t>
                </a:r>
              </a:p>
            </p:txBody>
          </p:sp>
        </p:grpSp>
        <p:grpSp>
          <p:nvGrpSpPr>
            <p:cNvPr id="23" name="Group 22"/>
            <p:cNvGrpSpPr>
              <a:grpSpLocks noChangeAspect="1"/>
            </p:cNvGrpSpPr>
            <p:nvPr/>
          </p:nvGrpSpPr>
          <p:grpSpPr>
            <a:xfrm>
              <a:off x="7287928" y="4358640"/>
              <a:ext cx="1284082" cy="731520"/>
              <a:chOff x="2506370" y="3181293"/>
              <a:chExt cx="1802167" cy="1026664"/>
            </a:xfrm>
          </p:grpSpPr>
          <p:sp>
            <p:nvSpPr>
              <p:cNvPr id="24" name="Cloud 23"/>
              <p:cNvSpPr/>
              <p:nvPr/>
            </p:nvSpPr>
            <p:spPr bwMode="auto">
              <a:xfrm>
                <a:off x="2506370" y="3181293"/>
                <a:ext cx="1802167" cy="1026664"/>
              </a:xfrm>
              <a:prstGeom prst="cloud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199674" y="3472300"/>
                <a:ext cx="571890" cy="6479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ea typeface="Arial" charset="0"/>
                    <a:cs typeface="Arial" charset="0"/>
                  </a:rPr>
                  <a:t>A</a:t>
                </a:r>
              </a:p>
            </p:txBody>
          </p:sp>
        </p:grpSp>
        <p:sp>
          <p:nvSpPr>
            <p:cNvPr id="35" name="Line 6"/>
            <p:cNvSpPr>
              <a:spLocks noChangeShapeType="1"/>
            </p:cNvSpPr>
            <p:nvPr/>
          </p:nvSpPr>
          <p:spPr bwMode="auto">
            <a:xfrm flipH="1" flipV="1">
              <a:off x="5889083" y="5048819"/>
              <a:ext cx="1535112" cy="0"/>
            </a:xfrm>
            <a:prstGeom prst="line">
              <a:avLst/>
            </a:prstGeom>
            <a:noFill/>
            <a:ln w="57150">
              <a:solidFill>
                <a:srgbClr val="3366FF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37" name="Line 10"/>
            <p:cNvSpPr>
              <a:spLocks noChangeShapeType="1"/>
            </p:cNvSpPr>
            <p:nvPr/>
          </p:nvSpPr>
          <p:spPr bwMode="auto">
            <a:xfrm flipH="1">
              <a:off x="2852738" y="5048819"/>
              <a:ext cx="1566862" cy="0"/>
            </a:xfrm>
            <a:prstGeom prst="line">
              <a:avLst/>
            </a:prstGeom>
            <a:noFill/>
            <a:ln w="57150">
              <a:solidFill>
                <a:srgbClr val="3366FF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38" name="Text Box 14"/>
            <p:cNvSpPr txBox="1">
              <a:spLocks noChangeArrowheads="1"/>
            </p:cNvSpPr>
            <p:nvPr/>
          </p:nvSpPr>
          <p:spPr bwMode="auto">
            <a:xfrm>
              <a:off x="7772400" y="5572780"/>
              <a:ext cx="40427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sz="2800">
                  <a:latin typeface="Arial" charset="0"/>
                  <a:ea typeface="Arial" charset="0"/>
                  <a:cs typeface="Arial" charset="0"/>
                </a:rPr>
                <a:t>d</a:t>
              </a:r>
            </a:p>
          </p:txBody>
        </p:sp>
        <p:sp>
          <p:nvSpPr>
            <p:cNvPr id="39" name="Text Box 15"/>
            <p:cNvSpPr txBox="1">
              <a:spLocks noChangeArrowheads="1"/>
            </p:cNvSpPr>
            <p:nvPr/>
          </p:nvSpPr>
          <p:spPr bwMode="auto">
            <a:xfrm>
              <a:off x="2819400" y="4038600"/>
              <a:ext cx="19784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ja-JP" altLang="en-US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rPr>
                <a:t>“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rPr>
                <a:t>d: path (B,A)</a:t>
              </a:r>
              <a:r>
                <a:rPr lang="ja-JP" altLang="en-US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rPr>
                <a:t>”</a:t>
              </a:r>
              <a:endParaRPr lang="en-US" b="0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0" name="Line 16"/>
            <p:cNvSpPr>
              <a:spLocks noChangeShapeType="1"/>
            </p:cNvSpPr>
            <p:nvPr/>
          </p:nvSpPr>
          <p:spPr bwMode="auto">
            <a:xfrm flipH="1" flipV="1">
              <a:off x="3017254" y="4744018"/>
              <a:ext cx="123425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1" name="Text Box 17"/>
            <p:cNvSpPr txBox="1">
              <a:spLocks noChangeArrowheads="1"/>
            </p:cNvSpPr>
            <p:nvPr/>
          </p:nvSpPr>
          <p:spPr bwMode="auto">
            <a:xfrm>
              <a:off x="6165187" y="4034049"/>
              <a:ext cx="172194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r>
                <a:rPr lang="ja-JP" altLang="en-US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rPr>
                <a:t>“</a:t>
              </a:r>
              <a:r>
                <a:rPr lang="en-US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rPr>
                <a:t>d: path (A)</a:t>
              </a:r>
              <a:r>
                <a:rPr lang="ja-JP" altLang="en-US" dirty="0">
                  <a:solidFill>
                    <a:srgbClr val="FF0000"/>
                  </a:solidFill>
                  <a:latin typeface="Arial" charset="0"/>
                  <a:ea typeface="Arial" charset="0"/>
                  <a:cs typeface="Arial" charset="0"/>
                </a:rPr>
                <a:t>”</a:t>
              </a:r>
              <a:endParaRPr lang="en-US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2" name="Line 18"/>
            <p:cNvSpPr>
              <a:spLocks noChangeShapeType="1"/>
            </p:cNvSpPr>
            <p:nvPr/>
          </p:nvSpPr>
          <p:spPr bwMode="auto">
            <a:xfrm flipH="1" flipV="1">
              <a:off x="6045600" y="4738959"/>
              <a:ext cx="12423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43" name="Text Box 19"/>
            <p:cNvSpPr txBox="1">
              <a:spLocks noChangeArrowheads="1"/>
            </p:cNvSpPr>
            <p:nvPr/>
          </p:nvSpPr>
          <p:spPr bwMode="auto">
            <a:xfrm>
              <a:off x="2971800" y="5172869"/>
              <a:ext cx="13742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b="0" dirty="0">
                  <a:solidFill>
                    <a:srgbClr val="3333FF"/>
                  </a:solidFill>
                  <a:latin typeface="Arial" charset="0"/>
                  <a:ea typeface="Arial" charset="0"/>
                  <a:cs typeface="Arial" charset="0"/>
                </a:rPr>
                <a:t>data traffic</a:t>
              </a:r>
            </a:p>
          </p:txBody>
        </p:sp>
        <p:sp>
          <p:nvSpPr>
            <p:cNvPr id="44" name="Text Box 20"/>
            <p:cNvSpPr txBox="1">
              <a:spLocks noChangeArrowheads="1"/>
            </p:cNvSpPr>
            <p:nvPr/>
          </p:nvSpPr>
          <p:spPr bwMode="auto">
            <a:xfrm>
              <a:off x="6019800" y="5172869"/>
              <a:ext cx="137428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 b="0" dirty="0">
                  <a:solidFill>
                    <a:srgbClr val="3333FF"/>
                  </a:solidFill>
                  <a:latin typeface="Arial" charset="0"/>
                  <a:ea typeface="Arial" charset="0"/>
                  <a:cs typeface="Arial" charset="0"/>
                </a:rPr>
                <a:t>data traffic</a:t>
              </a:r>
            </a:p>
          </p:txBody>
        </p:sp>
        <p:sp>
          <p:nvSpPr>
            <p:cNvPr id="45" name="Line 6"/>
            <p:cNvSpPr>
              <a:spLocks noChangeShapeType="1"/>
            </p:cNvSpPr>
            <p:nvPr/>
          </p:nvSpPr>
          <p:spPr bwMode="auto">
            <a:xfrm flipH="1" flipV="1">
              <a:off x="8000998" y="5114640"/>
              <a:ext cx="0" cy="524160"/>
            </a:xfrm>
            <a:prstGeom prst="line">
              <a:avLst/>
            </a:prstGeom>
            <a:noFill/>
            <a:ln w="57150">
              <a:solidFill>
                <a:srgbClr val="3366FF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044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&amp; DV differences: </a:t>
            </a:r>
            <a:br>
              <a:rPr lang="en-US" dirty="0"/>
            </a:br>
            <a:r>
              <a:rPr lang="en-US" sz="3600" dirty="0">
                <a:solidFill>
                  <a:srgbClr val="0000FF"/>
                </a:solidFill>
              </a:rPr>
              <a:t>(2) Path-Vector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idea: advertise the entire path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Distance vector</a:t>
            </a:r>
            <a:r>
              <a:rPr lang="en-US" dirty="0"/>
              <a:t>: send </a:t>
            </a:r>
            <a:r>
              <a:rPr lang="en-US" dirty="0">
                <a:solidFill>
                  <a:srgbClr val="0000FF"/>
                </a:solidFill>
              </a:rPr>
              <a:t>distance metric</a:t>
            </a:r>
            <a:r>
              <a:rPr lang="en-US" dirty="0"/>
              <a:t> per destination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Path vector</a:t>
            </a:r>
            <a:r>
              <a:rPr lang="en-US" dirty="0"/>
              <a:t>: send the </a:t>
            </a:r>
            <a:r>
              <a:rPr lang="en-US" dirty="0">
                <a:solidFill>
                  <a:srgbClr val="0000FF"/>
                </a:solidFill>
              </a:rPr>
              <a:t>entire path</a:t>
            </a:r>
            <a:r>
              <a:rPr lang="en-US" dirty="0"/>
              <a:t> for each destination</a:t>
            </a:r>
          </a:p>
          <a:p>
            <a:r>
              <a:rPr lang="en-US" dirty="0"/>
              <a:t>Benefits</a:t>
            </a:r>
          </a:p>
          <a:p>
            <a:pPr lvl="1"/>
            <a:r>
              <a:rPr lang="en-US" dirty="0"/>
              <a:t>Loop avoidance is straightforward (simply discard paths with loops)</a:t>
            </a:r>
          </a:p>
          <a:p>
            <a:pPr lvl="1"/>
            <a:r>
              <a:rPr lang="en-US" dirty="0"/>
              <a:t>Flexible and expressive policies based on entire path</a:t>
            </a:r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&amp; DV differences: </a:t>
            </a:r>
            <a:r>
              <a:rPr lang="en-US" sz="3600" dirty="0">
                <a:solidFill>
                  <a:srgbClr val="0000FF"/>
                </a:solidFill>
              </a:rPr>
              <a:t>(3) Selective route advertisement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For policy reasons, an AS may choose not to advertise a route to a destination </a:t>
            </a:r>
          </a:p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  <a:sym typeface="Wingdings"/>
              </a:rPr>
              <a:t>Hence, </a:t>
            </a:r>
            <a:r>
              <a:rPr lang="en-US" dirty="0">
                <a:solidFill>
                  <a:srgbClr val="0000FF"/>
                </a:solidFill>
                <a:latin typeface="Arial" charset="0"/>
                <a:cs typeface="Arial" charset="0"/>
                <a:sym typeface="Wingdings"/>
              </a:rPr>
              <a:t>reachability is not guaranteed</a:t>
            </a:r>
            <a:r>
              <a:rPr lang="en-US" dirty="0">
                <a:latin typeface="Arial" charset="0"/>
                <a:cs typeface="Arial" charset="0"/>
                <a:sym typeface="Wingdings"/>
              </a:rPr>
              <a:t> even if graph is physically connected</a:t>
            </a: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7" name="Cloud 6"/>
          <p:cNvSpPr>
            <a:spLocks noChangeAspect="1"/>
          </p:cNvSpPr>
          <p:nvPr/>
        </p:nvSpPr>
        <p:spPr bwMode="auto">
          <a:xfrm>
            <a:off x="5082038" y="5274076"/>
            <a:ext cx="1309016" cy="74572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Cloud 7"/>
          <p:cNvSpPr/>
          <p:nvPr/>
        </p:nvSpPr>
        <p:spPr bwMode="auto">
          <a:xfrm>
            <a:off x="4835463" y="3628896"/>
            <a:ext cx="1802167" cy="102666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Cloud 8"/>
          <p:cNvSpPr/>
          <p:nvPr/>
        </p:nvSpPr>
        <p:spPr bwMode="auto">
          <a:xfrm>
            <a:off x="2506369" y="3625973"/>
            <a:ext cx="1802167" cy="1026664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1" name="Straight Connector 13"/>
          <p:cNvCxnSpPr>
            <a:cxnSpLocks noChangeShapeType="1"/>
          </p:cNvCxnSpPr>
          <p:nvPr/>
        </p:nvCxnSpPr>
        <p:spPr bwMode="auto">
          <a:xfrm>
            <a:off x="3377677" y="4653933"/>
            <a:ext cx="1708421" cy="993005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2" name="Straight Connector 11"/>
          <p:cNvCxnSpPr>
            <a:cxnSpLocks noChangeShapeType="1"/>
          </p:cNvCxnSpPr>
          <p:nvPr/>
        </p:nvCxnSpPr>
        <p:spPr bwMode="auto">
          <a:xfrm rot="5400000">
            <a:off x="5395404" y="4993781"/>
            <a:ext cx="683581" cy="1294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3199673" y="3916981"/>
            <a:ext cx="353415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4369" y="3916981"/>
            <a:ext cx="334842" cy="341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4369" y="5304598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0901" y="4175337"/>
            <a:ext cx="23741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0000FF"/>
                </a:solidFill>
              </a:rPr>
              <a:t>AS-C </a:t>
            </a:r>
            <a:r>
              <a:rPr lang="en-US" sz="2000" dirty="0">
                <a:solidFill>
                  <a:srgbClr val="0000FF"/>
                </a:solidFill>
              </a:rPr>
              <a:t>does not </a:t>
            </a:r>
            <a:r>
              <a:rPr lang="en-US" sz="2000">
                <a:solidFill>
                  <a:srgbClr val="0000FF"/>
                </a:solidFill>
              </a:rPr>
              <a:t>want to carry traffic to AS-B</a:t>
            </a:r>
          </a:p>
        </p:txBody>
      </p:sp>
      <p:sp>
        <p:nvSpPr>
          <p:cNvPr id="17" name="Freeform 16"/>
          <p:cNvSpPr/>
          <p:nvPr/>
        </p:nvSpPr>
        <p:spPr bwMode="auto">
          <a:xfrm>
            <a:off x="3590103" y="4274016"/>
            <a:ext cx="1964266" cy="1283824"/>
          </a:xfrm>
          <a:custGeom>
            <a:avLst/>
            <a:gdLst>
              <a:gd name="connsiteX0" fmla="*/ 0 w 1964266"/>
              <a:gd name="connsiteY0" fmla="*/ 200722 h 1283824"/>
              <a:gd name="connsiteX1" fmla="*/ 1828800 w 1964266"/>
              <a:gd name="connsiteY1" fmla="*/ 1282391 h 1283824"/>
              <a:gd name="connsiteX2" fmla="*/ 1828800 w 1964266"/>
              <a:gd name="connsiteY2" fmla="*/ 0 h 1283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64266" h="1283824">
                <a:moveTo>
                  <a:pt x="0" y="200722"/>
                </a:moveTo>
                <a:cubicBezTo>
                  <a:pt x="762000" y="758283"/>
                  <a:pt x="1524000" y="1315845"/>
                  <a:pt x="1828800" y="1282391"/>
                </a:cubicBezTo>
                <a:cubicBezTo>
                  <a:pt x="2133600" y="1248937"/>
                  <a:pt x="1828800" y="0"/>
                  <a:pt x="1828800" y="0"/>
                </a:cubicBezTo>
              </a:path>
            </a:pathLst>
          </a:cu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Multiply 17"/>
          <p:cNvSpPr/>
          <p:nvPr/>
        </p:nvSpPr>
        <p:spPr bwMode="auto">
          <a:xfrm>
            <a:off x="5189748" y="4676945"/>
            <a:ext cx="609600" cy="533400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91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3" grpId="0"/>
      <p:bldP spid="14" grpId="0"/>
      <p:bldP spid="15" grpId="0"/>
      <p:bldP spid="16" grpId="0"/>
      <p:bldP spid="17" grpId="0" animBg="1"/>
      <p:bldP spid="1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&amp; DV differences: </a:t>
            </a:r>
            <a:br>
              <a:rPr lang="en-US" dirty="0"/>
            </a:br>
            <a:r>
              <a:rPr lang="en-US" sz="3600" dirty="0">
                <a:solidFill>
                  <a:srgbClr val="0000FF"/>
                </a:solidFill>
              </a:rPr>
              <a:t>(4) BGP may aggregate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scalability, BGP may aggregate routes for different prefixes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33400" y="3150173"/>
            <a:ext cx="8458200" cy="3326827"/>
            <a:chOff x="533400" y="3150173"/>
            <a:chExt cx="8458200" cy="3326827"/>
          </a:xfrm>
        </p:grpSpPr>
        <p:sp>
          <p:nvSpPr>
            <p:cNvPr id="19" name="Cloud 18"/>
            <p:cNvSpPr/>
            <p:nvPr/>
          </p:nvSpPr>
          <p:spPr bwMode="auto">
            <a:xfrm>
              <a:off x="4191000" y="3474083"/>
              <a:ext cx="2590800" cy="1219200"/>
            </a:xfrm>
            <a:prstGeom prst="cloud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AT&amp;T</a:t>
              </a:r>
              <a:b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</a:b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a.0.0.0/8</a:t>
              </a:r>
            </a:p>
          </p:txBody>
        </p:sp>
        <p:sp>
          <p:nvSpPr>
            <p:cNvPr id="20" name="Cloud 19"/>
            <p:cNvSpPr/>
            <p:nvPr/>
          </p:nvSpPr>
          <p:spPr bwMode="auto">
            <a:xfrm>
              <a:off x="533400" y="3397883"/>
              <a:ext cx="1905000" cy="1219200"/>
            </a:xfrm>
            <a:prstGeom prst="cloud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charset="0"/>
                </a:rPr>
                <a:t>France </a:t>
              </a:r>
              <a:b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charset="0"/>
                </a:rPr>
              </a:b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ourier New" charset="0"/>
                </a:rPr>
                <a:t>Telecom</a:t>
              </a:r>
            </a:p>
          </p:txBody>
        </p:sp>
        <p:sp>
          <p:nvSpPr>
            <p:cNvPr id="21" name="Cloud 20"/>
            <p:cNvSpPr/>
            <p:nvPr/>
          </p:nvSpPr>
          <p:spPr bwMode="auto">
            <a:xfrm>
              <a:off x="3276600" y="4921883"/>
              <a:ext cx="2133600" cy="1066800"/>
            </a:xfrm>
            <a:prstGeom prst="cloud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UMICH-D</a:t>
              </a:r>
              <a:b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</a:b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a.b.0.0/16</a:t>
              </a:r>
            </a:p>
          </p:txBody>
        </p:sp>
        <p:sp>
          <p:nvSpPr>
            <p:cNvPr id="22" name="Cloud 21"/>
            <p:cNvSpPr/>
            <p:nvPr/>
          </p:nvSpPr>
          <p:spPr bwMode="auto">
            <a:xfrm>
              <a:off x="5638800" y="4921883"/>
              <a:ext cx="2133600" cy="1066800"/>
            </a:xfrm>
            <a:prstGeom prst="cloud">
              <a:avLst/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UMICH-AA</a:t>
              </a:r>
              <a:b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</a:br>
              <a:r>
                <a:rPr kumimoji="0" 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a.c.0.0/16</a:t>
              </a:r>
            </a:p>
          </p:txBody>
        </p:sp>
        <p:sp>
          <p:nvSpPr>
            <p:cNvPr id="23" name="Freeform 22"/>
            <p:cNvSpPr/>
            <p:nvPr/>
          </p:nvSpPr>
          <p:spPr>
            <a:xfrm>
              <a:off x="2381365" y="3969443"/>
              <a:ext cx="2349040" cy="2507557"/>
            </a:xfrm>
            <a:custGeom>
              <a:avLst/>
              <a:gdLst>
                <a:gd name="connsiteX0" fmla="*/ 0 w 2349040"/>
                <a:gd name="connsiteY0" fmla="*/ 2513 h 2507557"/>
                <a:gd name="connsiteX1" fmla="*/ 2222607 w 2349040"/>
                <a:gd name="connsiteY1" fmla="*/ 231848 h 2507557"/>
                <a:gd name="connsiteX2" fmla="*/ 2010930 w 2349040"/>
                <a:gd name="connsiteY2" fmla="*/ 1466729 h 2507557"/>
                <a:gd name="connsiteX3" fmla="*/ 1481738 w 2349040"/>
                <a:gd name="connsiteY3" fmla="*/ 2507557 h 250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49040" h="2507557">
                  <a:moveTo>
                    <a:pt x="0" y="2513"/>
                  </a:moveTo>
                  <a:cubicBezTo>
                    <a:pt x="943726" y="-4838"/>
                    <a:pt x="1887452" y="-12188"/>
                    <a:pt x="2222607" y="231848"/>
                  </a:cubicBezTo>
                  <a:cubicBezTo>
                    <a:pt x="2557762" y="475884"/>
                    <a:pt x="2134408" y="1087444"/>
                    <a:pt x="2010930" y="1466729"/>
                  </a:cubicBezTo>
                  <a:cubicBezTo>
                    <a:pt x="1887452" y="1846014"/>
                    <a:pt x="1481738" y="2507557"/>
                    <a:pt x="1481738" y="2507557"/>
                  </a:cubicBezTo>
                </a:path>
              </a:pathLst>
            </a:custGeom>
            <a:ln w="38100" cmpd="sng">
              <a:solidFill>
                <a:srgbClr val="4F81BD"/>
              </a:solidFill>
              <a:headEnd type="none"/>
              <a:tailEnd type="triangle"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4" name="Straight Connector 23"/>
            <p:cNvCxnSpPr/>
            <p:nvPr/>
          </p:nvCxnSpPr>
          <p:spPr bwMode="auto">
            <a:xfrm flipH="1">
              <a:off x="4800600" y="4617083"/>
              <a:ext cx="228600" cy="304800"/>
            </a:xfrm>
            <a:prstGeom prst="lin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5943600" y="4540883"/>
              <a:ext cx="304800" cy="457200"/>
            </a:xfrm>
            <a:prstGeom prst="lin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6" name="Freeform 25"/>
            <p:cNvSpPr/>
            <p:nvPr/>
          </p:nvSpPr>
          <p:spPr>
            <a:xfrm>
              <a:off x="2469564" y="3830826"/>
              <a:ext cx="4939127" cy="2240427"/>
            </a:xfrm>
            <a:custGeom>
              <a:avLst/>
              <a:gdLst>
                <a:gd name="connsiteX0" fmla="*/ 0 w 4939127"/>
                <a:gd name="connsiteY0" fmla="*/ 0 h 2240427"/>
                <a:gd name="connsiteX1" fmla="*/ 3580867 w 4939127"/>
                <a:gd name="connsiteY1" fmla="*/ 105847 h 2240427"/>
                <a:gd name="connsiteX2" fmla="*/ 3580867 w 4939127"/>
                <a:gd name="connsiteY2" fmla="*/ 105847 h 2240427"/>
                <a:gd name="connsiteX3" fmla="*/ 4939127 w 4939127"/>
                <a:gd name="connsiteY3" fmla="*/ 2240427 h 2240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9127" h="2240427">
                  <a:moveTo>
                    <a:pt x="0" y="0"/>
                  </a:moveTo>
                  <a:lnTo>
                    <a:pt x="3580867" y="105847"/>
                  </a:lnTo>
                  <a:lnTo>
                    <a:pt x="3580867" y="105847"/>
                  </a:lnTo>
                  <a:lnTo>
                    <a:pt x="4939127" y="2240427"/>
                  </a:lnTo>
                </a:path>
              </a:pathLst>
            </a:custGeom>
            <a:ln w="38100" cmpd="sng">
              <a:solidFill>
                <a:srgbClr val="FF6600"/>
              </a:solidFill>
              <a:headEnd type="none"/>
              <a:tailEnd type="triangle"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7" name="Left Arrow 26"/>
            <p:cNvSpPr/>
            <p:nvPr/>
          </p:nvSpPr>
          <p:spPr bwMode="auto">
            <a:xfrm rot="10800000">
              <a:off x="2667000" y="3474083"/>
              <a:ext cx="1524000" cy="152400"/>
            </a:xfrm>
            <a:prstGeom prst="leftArrow">
              <a:avLst/>
            </a:prstGeom>
            <a:solidFill>
              <a:schemeClr val="tx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448828" y="3150173"/>
              <a:ext cx="17155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>
                  <a:latin typeface="+mn-lt"/>
                </a:rPr>
                <a:t>a.*.*.* is this way</a:t>
              </a:r>
            </a:p>
          </p:txBody>
        </p:sp>
        <p:sp>
          <p:nvSpPr>
            <p:cNvPr id="29" name="Cloud 28"/>
            <p:cNvSpPr/>
            <p:nvPr/>
          </p:nvSpPr>
          <p:spPr bwMode="auto">
            <a:xfrm>
              <a:off x="7543800" y="4191000"/>
              <a:ext cx="1447800" cy="990600"/>
            </a:xfrm>
            <a:prstGeom prst="cloud">
              <a:avLst/>
            </a:prstGeom>
            <a:solidFill>
              <a:schemeClr val="bg2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foo.com</a:t>
              </a:r>
              <a:br>
                <a:rPr kumimoji="0" lang="en-US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</a:b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lt"/>
                </a:rPr>
                <a:t>a.d.0.0/16</a:t>
              </a:r>
            </a:p>
          </p:txBody>
        </p:sp>
        <p:cxnSp>
          <p:nvCxnSpPr>
            <p:cNvPr id="30" name="Straight Connector 29"/>
            <p:cNvCxnSpPr/>
            <p:nvPr/>
          </p:nvCxnSpPr>
          <p:spPr bwMode="auto">
            <a:xfrm>
              <a:off x="6781800" y="4114800"/>
              <a:ext cx="766491" cy="571500"/>
            </a:xfrm>
            <a:prstGeom prst="line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9212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policies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132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Policy dictates how routes are “selected” and “exported”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>
          <a:xfrm>
            <a:off x="0" y="4505325"/>
            <a:ext cx="7239000" cy="1905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0000FF"/>
                </a:solidFill>
              </a:rPr>
              <a:t>Selection</a:t>
            </a:r>
            <a:r>
              <a:rPr lang="en-US" sz="2400" dirty="0"/>
              <a:t>: Which path to use?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Controls whether/how traffic leaves the network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0000FF"/>
                </a:solidFill>
              </a:rPr>
              <a:t>Export</a:t>
            </a:r>
            <a:r>
              <a:rPr lang="en-US" sz="2400" dirty="0"/>
              <a:t>: Which path to advertise?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Controls whether/how traffic enters the network</a:t>
            </a:r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57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7772400" y="2920304"/>
            <a:ext cx="1600200" cy="899221"/>
            <a:chOff x="7620000" y="3215579"/>
            <a:chExt cx="1600200" cy="899221"/>
          </a:xfrm>
          <a:effectLst/>
        </p:grpSpPr>
        <p:sp>
          <p:nvSpPr>
            <p:cNvPr id="53" name="Rounded Rectangular Callout 52"/>
            <p:cNvSpPr/>
            <p:nvPr/>
          </p:nvSpPr>
          <p:spPr bwMode="auto">
            <a:xfrm>
              <a:off x="7924800" y="3429000"/>
              <a:ext cx="990600" cy="685800"/>
            </a:xfrm>
            <a:prstGeom prst="wedgeRoundRectCallout">
              <a:avLst>
                <a:gd name="adj1" fmla="val -47205"/>
                <a:gd name="adj2" fmla="val 10694"/>
                <a:gd name="adj3" fmla="val 16667"/>
              </a:avLst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620000" y="3215579"/>
              <a:ext cx="1600200" cy="899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endParaRPr lang="en-US" sz="1600" b="0" i="1" dirty="0">
                <a:solidFill>
                  <a:srgbClr val="FFFFFF"/>
                </a:solidFill>
                <a:latin typeface="+mn-lt"/>
              </a:endParaRPr>
            </a:p>
            <a:p>
              <a:pPr algn="ctr">
                <a:lnSpc>
                  <a:spcPct val="90000"/>
                </a:lnSpc>
              </a:pPr>
              <a:r>
                <a:rPr lang="en-US" sz="1400" dirty="0">
                  <a:solidFill>
                    <a:srgbClr val="FFFFFF"/>
                  </a:solidFill>
                  <a:latin typeface="+mn-lt"/>
                </a:rPr>
                <a:t>Can reach 128.3/16</a:t>
              </a:r>
            </a:p>
            <a:p>
              <a:pPr algn="ctr">
                <a:lnSpc>
                  <a:spcPct val="90000"/>
                </a:lnSpc>
              </a:pPr>
              <a:r>
                <a:rPr lang="en-US" sz="1400" dirty="0">
                  <a:solidFill>
                    <a:srgbClr val="FFFFFF"/>
                  </a:solidFill>
                  <a:latin typeface="+mn-lt"/>
                </a:rPr>
                <a:t>blah blah</a:t>
              </a:r>
            </a:p>
          </p:txBody>
        </p:sp>
      </p:grpSp>
      <p:sp>
        <p:nvSpPr>
          <p:cNvPr id="1979417" name="Text Box 25"/>
          <p:cNvSpPr txBox="1">
            <a:spLocks noChangeArrowheads="1"/>
          </p:cNvSpPr>
          <p:nvPr/>
        </p:nvSpPr>
        <p:spPr bwMode="auto">
          <a:xfrm>
            <a:off x="4937125" y="1447800"/>
            <a:ext cx="2463800" cy="466725"/>
          </a:xfrm>
          <a:prstGeom prst="rect">
            <a:avLst/>
          </a:prstGeom>
          <a:solidFill>
            <a:srgbClr val="FFFFFF"/>
          </a:solidFill>
          <a:ln w="9525" cap="rnd">
            <a:noFill/>
            <a:prstDash val="sysDot"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altLang="zh-CN" sz="2400" dirty="0">
                <a:solidFill>
                  <a:srgbClr val="0000FF"/>
                </a:solidFill>
                <a:latin typeface="Arial" charset="0"/>
                <a:ea typeface="宋体" charset="0"/>
                <a:cs typeface="宋体" charset="0"/>
              </a:rPr>
              <a:t>Route selection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04800" y="2371725"/>
            <a:ext cx="7848600" cy="2286000"/>
            <a:chOff x="304800" y="2667000"/>
            <a:chExt cx="7848600" cy="2286000"/>
          </a:xfrm>
          <a:effectLst/>
        </p:grpSpPr>
        <p:sp>
          <p:nvSpPr>
            <p:cNvPr id="61454" name="Line 24"/>
            <p:cNvSpPr>
              <a:spLocks noChangeShapeType="1"/>
            </p:cNvSpPr>
            <p:nvPr/>
          </p:nvSpPr>
          <p:spPr bwMode="auto">
            <a:xfrm flipH="1" flipV="1">
              <a:off x="1601788" y="3049588"/>
              <a:ext cx="1141412" cy="1508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304800" y="2667000"/>
              <a:ext cx="7848600" cy="2286000"/>
              <a:chOff x="304800" y="2667000"/>
              <a:chExt cx="7848600" cy="2286000"/>
            </a:xfrm>
          </p:grpSpPr>
          <p:sp>
            <p:nvSpPr>
              <p:cNvPr id="1979395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2057400" y="2667000"/>
                <a:ext cx="3962400" cy="1981200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US" altLang="zh-CN" sz="1800" dirty="0">
                  <a:latin typeface="Arial" charset="0"/>
                  <a:ea typeface="宋体" charset="-122"/>
                  <a:cs typeface="宋体" charset="-122"/>
                </a:endParaRPr>
              </a:p>
              <a:p>
                <a:pPr algn="ctr">
                  <a:defRPr/>
                </a:pPr>
                <a:endParaRPr lang="en-US" altLang="zh-CN" sz="1800" dirty="0">
                  <a:latin typeface="Arial" charset="0"/>
                  <a:ea typeface="宋体" charset="-122"/>
                  <a:cs typeface="宋体" charset="-122"/>
                </a:endParaRPr>
              </a:p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A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1979408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304800" y="2667000"/>
                <a:ext cx="1600200" cy="836613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P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61447" name="Line 17"/>
              <p:cNvSpPr>
                <a:spLocks noChangeShapeType="1"/>
              </p:cNvSpPr>
              <p:nvPr/>
            </p:nvSpPr>
            <p:spPr bwMode="auto">
              <a:xfrm flipV="1">
                <a:off x="5562600" y="3201988"/>
                <a:ext cx="99060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48" name="Line 18"/>
              <p:cNvSpPr>
                <a:spLocks noChangeShapeType="1"/>
              </p:cNvSpPr>
              <p:nvPr/>
            </p:nvSpPr>
            <p:spPr bwMode="auto">
              <a:xfrm>
                <a:off x="5562600" y="3582988"/>
                <a:ext cx="1143000" cy="914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9414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6477000" y="4116388"/>
                <a:ext cx="1600200" cy="836612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C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1979415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6553200" y="2822575"/>
                <a:ext cx="1600200" cy="836613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endParaRPr lang="en-US" altLang="zh-CN" sz="1800" dirty="0">
                  <a:latin typeface="Arial" charset="0"/>
                  <a:ea typeface="宋体" charset="-122"/>
                  <a:cs typeface="宋体" charset="-122"/>
                </a:endParaRPr>
              </a:p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B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  <p:sp>
            <p:nvSpPr>
              <p:cNvPr id="1979432" name="Cloud"/>
              <p:cNvSpPr>
                <a:spLocks noChangeAspect="1" noEditPoints="1" noChangeArrowheads="1"/>
              </p:cNvSpPr>
              <p:nvPr/>
            </p:nvSpPr>
            <p:spPr bwMode="auto">
              <a:xfrm>
                <a:off x="304800" y="3886200"/>
                <a:ext cx="1600200" cy="836613"/>
              </a:xfrm>
              <a:custGeom>
                <a:avLst/>
                <a:gdLst>
                  <a:gd name="T0" fmla="*/ 67 w 21600"/>
                  <a:gd name="T1" fmla="*/ 10800 h 21600"/>
                  <a:gd name="T2" fmla="*/ 10800 w 21600"/>
                  <a:gd name="T3" fmla="*/ 21577 h 21600"/>
                  <a:gd name="T4" fmla="*/ 21582 w 21600"/>
                  <a:gd name="T5" fmla="*/ 10800 h 21600"/>
                  <a:gd name="T6" fmla="*/ 10800 w 21600"/>
                  <a:gd name="T7" fmla="*/ 1235 h 21600"/>
                  <a:gd name="T8" fmla="*/ 2977 w 21600"/>
                  <a:gd name="T9" fmla="*/ 3262 h 21600"/>
                  <a:gd name="T10" fmla="*/ 17087 w 21600"/>
                  <a:gd name="T11" fmla="*/ 1733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 extrusionOk="0">
                    <a:moveTo>
                      <a:pt x="1949" y="7180"/>
                    </a:moveTo>
                    <a:cubicBezTo>
                      <a:pt x="841" y="7336"/>
                      <a:pt x="-1" y="8613"/>
                      <a:pt x="-1" y="10137"/>
                    </a:cubicBezTo>
                    <a:cubicBezTo>
                      <a:pt x="-1" y="11192"/>
                      <a:pt x="409" y="12169"/>
                      <a:pt x="1074" y="12702"/>
                    </a:cubicBezTo>
                    <a:lnTo>
                      <a:pt x="1063" y="12668"/>
                    </a:lnTo>
                    <a:cubicBezTo>
                      <a:pt x="685" y="13217"/>
                      <a:pt x="474" y="13940"/>
                      <a:pt x="474" y="14690"/>
                    </a:cubicBezTo>
                    <a:cubicBezTo>
                      <a:pt x="475" y="16325"/>
                      <a:pt x="1451" y="17650"/>
                      <a:pt x="2655" y="17650"/>
                    </a:cubicBezTo>
                    <a:cubicBezTo>
                      <a:pt x="2739" y="17650"/>
                      <a:pt x="2824" y="17643"/>
                      <a:pt x="2909" y="17629"/>
                    </a:cubicBezTo>
                    <a:lnTo>
                      <a:pt x="2897" y="17649"/>
                    </a:lnTo>
                    <a:cubicBezTo>
                      <a:pt x="3585" y="19288"/>
                      <a:pt x="4863" y="20299"/>
                      <a:pt x="6247" y="20299"/>
                    </a:cubicBezTo>
                    <a:cubicBezTo>
                      <a:pt x="6947" y="20299"/>
                      <a:pt x="7635" y="20039"/>
                      <a:pt x="8235" y="19546"/>
                    </a:cubicBezTo>
                    <a:lnTo>
                      <a:pt x="8229" y="19550"/>
                    </a:lnTo>
                    <a:cubicBezTo>
                      <a:pt x="8855" y="20829"/>
                      <a:pt x="9908" y="21596"/>
                      <a:pt x="11036" y="21596"/>
                    </a:cubicBezTo>
                    <a:cubicBezTo>
                      <a:pt x="12523" y="21596"/>
                      <a:pt x="13836" y="20267"/>
                      <a:pt x="14267" y="18324"/>
                    </a:cubicBezTo>
                    <a:lnTo>
                      <a:pt x="14270" y="18350"/>
                    </a:lnTo>
                    <a:cubicBezTo>
                      <a:pt x="14730" y="18740"/>
                      <a:pt x="15260" y="18946"/>
                      <a:pt x="15802" y="18946"/>
                    </a:cubicBezTo>
                    <a:cubicBezTo>
                      <a:pt x="17390" y="18946"/>
                      <a:pt x="18682" y="17205"/>
                      <a:pt x="18694" y="15045"/>
                    </a:cubicBezTo>
                    <a:lnTo>
                      <a:pt x="18689" y="15035"/>
                    </a:lnTo>
                    <a:cubicBezTo>
                      <a:pt x="20357" y="14710"/>
                      <a:pt x="21597" y="12765"/>
                      <a:pt x="21597" y="10472"/>
                    </a:cubicBezTo>
                    <a:cubicBezTo>
                      <a:pt x="21597" y="9456"/>
                      <a:pt x="21350" y="8469"/>
                      <a:pt x="20896" y="7663"/>
                    </a:cubicBezTo>
                    <a:lnTo>
                      <a:pt x="20889" y="7661"/>
                    </a:lnTo>
                    <a:cubicBezTo>
                      <a:pt x="21031" y="7208"/>
                      <a:pt x="21105" y="6721"/>
                      <a:pt x="21105" y="6228"/>
                    </a:cubicBezTo>
                    <a:cubicBezTo>
                      <a:pt x="21105" y="4588"/>
                      <a:pt x="20299" y="3150"/>
                      <a:pt x="19139" y="2719"/>
                    </a:cubicBezTo>
                    <a:lnTo>
                      <a:pt x="19148" y="2712"/>
                    </a:lnTo>
                    <a:cubicBezTo>
                      <a:pt x="18940" y="1142"/>
                      <a:pt x="17933" y="-1"/>
                      <a:pt x="16758" y="-1"/>
                    </a:cubicBezTo>
                    <a:cubicBezTo>
                      <a:pt x="16044" y="-1"/>
                      <a:pt x="15367" y="426"/>
                      <a:pt x="14905" y="1165"/>
                    </a:cubicBezTo>
                    <a:lnTo>
                      <a:pt x="14909" y="1170"/>
                    </a:lnTo>
                    <a:cubicBezTo>
                      <a:pt x="14497" y="432"/>
                      <a:pt x="13855" y="-1"/>
                      <a:pt x="13174" y="-1"/>
                    </a:cubicBezTo>
                    <a:cubicBezTo>
                      <a:pt x="12347" y="-1"/>
                      <a:pt x="11590" y="637"/>
                      <a:pt x="11221" y="1645"/>
                    </a:cubicBezTo>
                    <a:lnTo>
                      <a:pt x="11229" y="1694"/>
                    </a:lnTo>
                    <a:cubicBezTo>
                      <a:pt x="10730" y="1024"/>
                      <a:pt x="10058" y="649"/>
                      <a:pt x="9358" y="649"/>
                    </a:cubicBezTo>
                    <a:cubicBezTo>
                      <a:pt x="8372" y="649"/>
                      <a:pt x="7466" y="1391"/>
                      <a:pt x="7003" y="2578"/>
                    </a:cubicBezTo>
                    <a:lnTo>
                      <a:pt x="6995" y="2602"/>
                    </a:lnTo>
                    <a:cubicBezTo>
                      <a:pt x="6477" y="2189"/>
                      <a:pt x="5888" y="1971"/>
                      <a:pt x="5288" y="1971"/>
                    </a:cubicBezTo>
                    <a:cubicBezTo>
                      <a:pt x="3423" y="1972"/>
                      <a:pt x="1912" y="4029"/>
                      <a:pt x="1912" y="6567"/>
                    </a:cubicBezTo>
                    <a:cubicBezTo>
                      <a:pt x="1911" y="6774"/>
                      <a:pt x="1922" y="6981"/>
                      <a:pt x="1942" y="7186"/>
                    </a:cubicBezTo>
                    <a:close/>
                  </a:path>
                  <a:path w="21600" h="21600" fill="none" extrusionOk="0">
                    <a:moveTo>
                      <a:pt x="1074" y="12702"/>
                    </a:moveTo>
                    <a:cubicBezTo>
                      <a:pt x="1407" y="12969"/>
                      <a:pt x="1786" y="13109"/>
                      <a:pt x="2172" y="13109"/>
                    </a:cubicBezTo>
                    <a:cubicBezTo>
                      <a:pt x="2228" y="13109"/>
                      <a:pt x="2285" y="13107"/>
                      <a:pt x="2341" y="13101"/>
                    </a:cubicBezTo>
                  </a:path>
                  <a:path w="21600" h="21600" fill="none" extrusionOk="0">
                    <a:moveTo>
                      <a:pt x="2909" y="17629"/>
                    </a:moveTo>
                    <a:cubicBezTo>
                      <a:pt x="3099" y="17599"/>
                      <a:pt x="3285" y="17535"/>
                      <a:pt x="3463" y="17439"/>
                    </a:cubicBezTo>
                  </a:path>
                  <a:path w="21600" h="21600" fill="none" extrusionOk="0">
                    <a:moveTo>
                      <a:pt x="7895" y="18680"/>
                    </a:moveTo>
                    <a:cubicBezTo>
                      <a:pt x="7983" y="18985"/>
                      <a:pt x="8095" y="19277"/>
                      <a:pt x="8229" y="19550"/>
                    </a:cubicBezTo>
                  </a:path>
                  <a:path w="21600" h="21600" fill="none" extrusionOk="0">
                    <a:moveTo>
                      <a:pt x="14267" y="18324"/>
                    </a:moveTo>
                    <a:cubicBezTo>
                      <a:pt x="14336" y="18013"/>
                      <a:pt x="14380" y="17693"/>
                      <a:pt x="14400" y="17370"/>
                    </a:cubicBezTo>
                  </a:path>
                  <a:path w="21600" h="21600" fill="none" extrusionOk="0">
                    <a:moveTo>
                      <a:pt x="18694" y="15045"/>
                    </a:moveTo>
                    <a:cubicBezTo>
                      <a:pt x="18694" y="15034"/>
                      <a:pt x="18695" y="15024"/>
                      <a:pt x="18695" y="15013"/>
                    </a:cubicBezTo>
                    <a:cubicBezTo>
                      <a:pt x="18695" y="13508"/>
                      <a:pt x="18063" y="12136"/>
                      <a:pt x="17069" y="11477"/>
                    </a:cubicBezTo>
                  </a:path>
                  <a:path w="21600" h="21600" fill="none" extrusionOk="0">
                    <a:moveTo>
                      <a:pt x="20165" y="8999"/>
                    </a:moveTo>
                    <a:cubicBezTo>
                      <a:pt x="20479" y="8635"/>
                      <a:pt x="20726" y="8177"/>
                      <a:pt x="20889" y="7661"/>
                    </a:cubicBezTo>
                  </a:path>
                  <a:path w="21600" h="21600" fill="none" extrusionOk="0">
                    <a:moveTo>
                      <a:pt x="19186" y="3344"/>
                    </a:moveTo>
                    <a:cubicBezTo>
                      <a:pt x="19186" y="3328"/>
                      <a:pt x="19187" y="3313"/>
                      <a:pt x="19187" y="3297"/>
                    </a:cubicBezTo>
                    <a:cubicBezTo>
                      <a:pt x="19187" y="3101"/>
                      <a:pt x="19174" y="2905"/>
                      <a:pt x="19148" y="2712"/>
                    </a:cubicBezTo>
                  </a:path>
                  <a:path w="21600" h="21600" fill="none" extrusionOk="0">
                    <a:moveTo>
                      <a:pt x="14905" y="1165"/>
                    </a:moveTo>
                    <a:cubicBezTo>
                      <a:pt x="14754" y="1408"/>
                      <a:pt x="14629" y="1679"/>
                      <a:pt x="14535" y="1971"/>
                    </a:cubicBezTo>
                  </a:path>
                  <a:path w="21600" h="21600" fill="none" extrusionOk="0">
                    <a:moveTo>
                      <a:pt x="11221" y="1645"/>
                    </a:moveTo>
                    <a:cubicBezTo>
                      <a:pt x="11140" y="1866"/>
                      <a:pt x="11080" y="2099"/>
                      <a:pt x="11041" y="2340"/>
                    </a:cubicBezTo>
                  </a:path>
                  <a:path w="21600" h="21600" fill="none" extrusionOk="0">
                    <a:moveTo>
                      <a:pt x="7645" y="3276"/>
                    </a:moveTo>
                    <a:cubicBezTo>
                      <a:pt x="7449" y="3016"/>
                      <a:pt x="7231" y="2790"/>
                      <a:pt x="6995" y="2602"/>
                    </a:cubicBezTo>
                  </a:path>
                  <a:path w="21600" h="21600" fill="none" extrusionOk="0">
                    <a:moveTo>
                      <a:pt x="1942" y="7186"/>
                    </a:moveTo>
                    <a:cubicBezTo>
                      <a:pt x="1966" y="7426"/>
                      <a:pt x="2004" y="7663"/>
                      <a:pt x="2056" y="7895"/>
                    </a:cubicBezTo>
                  </a:path>
                </a:pathLst>
              </a:custGeom>
              <a:solidFill>
                <a:schemeClr val="accent1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>
                  <a:defRPr/>
                </a:pPr>
                <a:r>
                  <a:rPr lang="en-US" altLang="zh-CN" sz="1800" dirty="0">
                    <a:latin typeface="Arial" charset="0"/>
                    <a:ea typeface="宋体" charset="-122"/>
                    <a:cs typeface="宋体" charset="-122"/>
                  </a:rPr>
                  <a:t>Q</a:t>
                </a:r>
                <a:endParaRPr lang="zh-CN" altLang="en-US" sz="1800" dirty="0">
                  <a:latin typeface="Arial" charset="0"/>
                  <a:ea typeface="宋体" charset="-122"/>
                  <a:cs typeface="宋体" charset="-122"/>
                </a:endParaRPr>
              </a:p>
            </p:txBody>
          </p:sp>
        </p:grpSp>
        <p:sp>
          <p:nvSpPr>
            <p:cNvPr id="61468" name="Line 41"/>
            <p:cNvSpPr>
              <a:spLocks noChangeShapeType="1"/>
            </p:cNvSpPr>
            <p:nvPr/>
          </p:nvSpPr>
          <p:spPr bwMode="auto">
            <a:xfrm flipH="1">
              <a:off x="1600200" y="4038600"/>
              <a:ext cx="10668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79424" name="Line 32"/>
          <p:cNvSpPr>
            <a:spLocks noChangeShapeType="1"/>
          </p:cNvSpPr>
          <p:nvPr/>
        </p:nvSpPr>
        <p:spPr bwMode="auto">
          <a:xfrm flipH="1" flipV="1">
            <a:off x="1524000" y="2600325"/>
            <a:ext cx="1219200" cy="1524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2057400" y="3514725"/>
            <a:ext cx="304800" cy="533400"/>
            <a:chOff x="1392" y="2688"/>
            <a:chExt cx="192" cy="336"/>
          </a:xfrm>
          <a:effectLst/>
        </p:grpSpPr>
        <p:sp>
          <p:nvSpPr>
            <p:cNvPr id="61476" name="Line 48"/>
            <p:cNvSpPr>
              <a:spLocks noChangeShapeType="1"/>
            </p:cNvSpPr>
            <p:nvPr/>
          </p:nvSpPr>
          <p:spPr bwMode="auto">
            <a:xfrm>
              <a:off x="1392" y="2736"/>
              <a:ext cx="192" cy="24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477" name="Line 49"/>
            <p:cNvSpPr>
              <a:spLocks noChangeShapeType="1"/>
            </p:cNvSpPr>
            <p:nvPr/>
          </p:nvSpPr>
          <p:spPr bwMode="auto">
            <a:xfrm flipH="1">
              <a:off x="1440" y="2688"/>
              <a:ext cx="96" cy="336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79434" name="Line 42"/>
          <p:cNvSpPr>
            <a:spLocks noChangeShapeType="1"/>
          </p:cNvSpPr>
          <p:nvPr/>
        </p:nvSpPr>
        <p:spPr bwMode="auto">
          <a:xfrm flipH="1">
            <a:off x="2286000" y="3590925"/>
            <a:ext cx="457200" cy="762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9419" name="Freeform 27"/>
          <p:cNvSpPr>
            <a:spLocks/>
          </p:cNvSpPr>
          <p:nvPr/>
        </p:nvSpPr>
        <p:spPr bwMode="auto">
          <a:xfrm>
            <a:off x="5638800" y="2447925"/>
            <a:ext cx="2971800" cy="546100"/>
          </a:xfrm>
          <a:custGeom>
            <a:avLst/>
            <a:gdLst>
              <a:gd name="T0" fmla="*/ 2147483647 w 1872"/>
              <a:gd name="T1" fmla="*/ 846772500 h 344"/>
              <a:gd name="T2" fmla="*/ 2147483647 w 1872"/>
              <a:gd name="T3" fmla="*/ 725805000 h 344"/>
              <a:gd name="T4" fmla="*/ 2147483647 w 1872"/>
              <a:gd name="T5" fmla="*/ 0 h 344"/>
              <a:gd name="T6" fmla="*/ 0 w 1872"/>
              <a:gd name="T7" fmla="*/ 725805000 h 344"/>
              <a:gd name="T8" fmla="*/ 0 60000 65536"/>
              <a:gd name="T9" fmla="*/ 0 60000 65536"/>
              <a:gd name="T10" fmla="*/ 0 60000 65536"/>
              <a:gd name="T11" fmla="*/ 0 60000 65536"/>
              <a:gd name="T12" fmla="*/ 0 w 1872"/>
              <a:gd name="T13" fmla="*/ 0 h 344"/>
              <a:gd name="T14" fmla="*/ 1872 w 1872"/>
              <a:gd name="T15" fmla="*/ 344 h 3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72" h="344">
                <a:moveTo>
                  <a:pt x="1824" y="336"/>
                </a:moveTo>
                <a:cubicBezTo>
                  <a:pt x="1848" y="340"/>
                  <a:pt x="1872" y="344"/>
                  <a:pt x="1728" y="288"/>
                </a:cubicBezTo>
                <a:cubicBezTo>
                  <a:pt x="1584" y="232"/>
                  <a:pt x="1248" y="0"/>
                  <a:pt x="960" y="0"/>
                </a:cubicBezTo>
                <a:cubicBezTo>
                  <a:pt x="672" y="0"/>
                  <a:pt x="336" y="144"/>
                  <a:pt x="0" y="288"/>
                </a:cubicBezTo>
              </a:path>
            </a:pathLst>
          </a:custGeom>
          <a:noFill/>
          <a:ln w="38100">
            <a:solidFill>
              <a:srgbClr val="008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9420" name="Freeform 28"/>
          <p:cNvSpPr>
            <a:spLocks/>
          </p:cNvSpPr>
          <p:nvPr/>
        </p:nvSpPr>
        <p:spPr bwMode="auto">
          <a:xfrm>
            <a:off x="5486400" y="3362325"/>
            <a:ext cx="3048000" cy="1066800"/>
          </a:xfrm>
          <a:custGeom>
            <a:avLst/>
            <a:gdLst>
              <a:gd name="T0" fmla="*/ 2147483647 w 1872"/>
              <a:gd name="T1" fmla="*/ 987901250 h 576"/>
              <a:gd name="T2" fmla="*/ 2147483647 w 1872"/>
              <a:gd name="T3" fmla="*/ 1811152292 h 576"/>
              <a:gd name="T4" fmla="*/ 0 w 1872"/>
              <a:gd name="T5" fmla="*/ 0 h 576"/>
              <a:gd name="T6" fmla="*/ 0 60000 65536"/>
              <a:gd name="T7" fmla="*/ 0 60000 65536"/>
              <a:gd name="T8" fmla="*/ 0 60000 65536"/>
              <a:gd name="T9" fmla="*/ 0 w 1872"/>
              <a:gd name="T10" fmla="*/ 0 h 576"/>
              <a:gd name="T11" fmla="*/ 1872 w 187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576">
                <a:moveTo>
                  <a:pt x="1872" y="288"/>
                </a:moveTo>
                <a:cubicBezTo>
                  <a:pt x="1572" y="432"/>
                  <a:pt x="1272" y="576"/>
                  <a:pt x="960" y="528"/>
                </a:cubicBezTo>
                <a:cubicBezTo>
                  <a:pt x="648" y="480"/>
                  <a:pt x="324" y="240"/>
                  <a:pt x="0" y="0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9418" name="Line 26"/>
          <p:cNvSpPr>
            <a:spLocks noChangeShapeType="1"/>
          </p:cNvSpPr>
          <p:nvPr/>
        </p:nvSpPr>
        <p:spPr bwMode="auto">
          <a:xfrm flipH="1">
            <a:off x="5486400" y="1838325"/>
            <a:ext cx="762000" cy="1143000"/>
          </a:xfrm>
          <a:prstGeom prst="line">
            <a:avLst/>
          </a:prstGeom>
          <a:noFill/>
          <a:ln w="28575" cap="rnd">
            <a:solidFill>
              <a:srgbClr val="FF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36"/>
          <p:cNvGrpSpPr>
            <a:grpSpLocks/>
          </p:cNvGrpSpPr>
          <p:nvPr/>
        </p:nvGrpSpPr>
        <p:grpSpPr bwMode="auto">
          <a:xfrm>
            <a:off x="669925" y="1371600"/>
            <a:ext cx="2073275" cy="2066925"/>
            <a:chOff x="573" y="1578"/>
            <a:chExt cx="1306" cy="1302"/>
          </a:xfrm>
        </p:grpSpPr>
        <p:sp>
          <p:nvSpPr>
            <p:cNvPr id="61479" name="Line 38"/>
            <p:cNvSpPr>
              <a:spLocks noChangeShapeType="1"/>
            </p:cNvSpPr>
            <p:nvPr/>
          </p:nvSpPr>
          <p:spPr bwMode="auto">
            <a:xfrm>
              <a:off x="1344" y="1776"/>
              <a:ext cx="480" cy="672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80" name="Line 39"/>
            <p:cNvSpPr>
              <a:spLocks noChangeShapeType="1"/>
            </p:cNvSpPr>
            <p:nvPr/>
          </p:nvSpPr>
          <p:spPr bwMode="auto">
            <a:xfrm>
              <a:off x="1296" y="1776"/>
              <a:ext cx="384" cy="1104"/>
            </a:xfrm>
            <a:prstGeom prst="line">
              <a:avLst/>
            </a:prstGeom>
            <a:noFill/>
            <a:ln w="28575" cap="rnd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478" name="Text Box 37"/>
            <p:cNvSpPr txBox="1">
              <a:spLocks noChangeArrowheads="1"/>
            </p:cNvSpPr>
            <p:nvPr/>
          </p:nvSpPr>
          <p:spPr bwMode="auto">
            <a:xfrm>
              <a:off x="573" y="1578"/>
              <a:ext cx="1306" cy="294"/>
            </a:xfrm>
            <a:prstGeom prst="rect">
              <a:avLst/>
            </a:prstGeom>
            <a:noFill/>
            <a:ln w="9525" cap="rnd">
              <a:noFill/>
              <a:prstDash val="sysDot"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US" altLang="zh-CN" sz="2400" dirty="0">
                  <a:solidFill>
                    <a:srgbClr val="0000FF"/>
                  </a:solidFill>
                  <a:latin typeface="Arial" charset="0"/>
                  <a:ea typeface="宋体" charset="0"/>
                  <a:cs typeface="宋体" charset="0"/>
                </a:rPr>
                <a:t>Route export</a:t>
              </a:r>
            </a:p>
          </p:txBody>
        </p:sp>
      </p:grpSp>
      <p:sp>
        <p:nvSpPr>
          <p:cNvPr id="10" name="Freeform 9"/>
          <p:cNvSpPr/>
          <p:nvPr/>
        </p:nvSpPr>
        <p:spPr>
          <a:xfrm>
            <a:off x="1018158" y="2676525"/>
            <a:ext cx="7059042" cy="675826"/>
          </a:xfrm>
          <a:custGeom>
            <a:avLst/>
            <a:gdLst>
              <a:gd name="connsiteX0" fmla="*/ 0 w 7363842"/>
              <a:gd name="connsiteY0" fmla="*/ 229997 h 675826"/>
              <a:gd name="connsiteX1" fmla="*/ 2378048 w 7363842"/>
              <a:gd name="connsiteY1" fmla="*/ 581256 h 675826"/>
              <a:gd name="connsiteX2" fmla="*/ 5864050 w 7363842"/>
              <a:gd name="connsiteY2" fmla="*/ 327 h 675826"/>
              <a:gd name="connsiteX3" fmla="*/ 7363842 w 7363842"/>
              <a:gd name="connsiteY3" fmla="*/ 675826 h 675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63842" h="675826">
                <a:moveTo>
                  <a:pt x="0" y="229997"/>
                </a:moveTo>
                <a:cubicBezTo>
                  <a:pt x="700353" y="424765"/>
                  <a:pt x="1400706" y="619534"/>
                  <a:pt x="2378048" y="581256"/>
                </a:cubicBezTo>
                <a:cubicBezTo>
                  <a:pt x="3355390" y="542978"/>
                  <a:pt x="5033085" y="-15435"/>
                  <a:pt x="5864050" y="327"/>
                </a:cubicBezTo>
                <a:cubicBezTo>
                  <a:pt x="6695015" y="16089"/>
                  <a:pt x="7363842" y="675826"/>
                  <a:pt x="7363842" y="675826"/>
                </a:cubicBezTo>
              </a:path>
            </a:pathLst>
          </a:custGeom>
          <a:ln w="57150" cmpd="sng">
            <a:solidFill>
              <a:srgbClr val="D3A600"/>
            </a:solidFill>
            <a:prstDash val="dash"/>
            <a:headEnd type="none"/>
            <a:tailEnd type="triangle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075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97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97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97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97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979417" grpId="0" animBg="1"/>
      <p:bldP spid="1979424" grpId="0" animBg="1"/>
      <p:bldP spid="1979434" grpId="0" animBg="1"/>
      <p:bldP spid="1979419" grpId="0" animBg="1"/>
      <p:bldP spid="1979420" grpId="0" animBg="1"/>
      <p:bldP spid="1979418" grpId="0" animBg="1"/>
      <p:bldP spid="1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selection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decreasing order of priority</a:t>
            </a:r>
          </a:p>
          <a:p>
            <a:pPr lvl="1"/>
            <a:r>
              <a:rPr lang="en-US" dirty="0"/>
              <a:t>Make/save money (send to </a:t>
            </a:r>
            <a:r>
              <a:rPr lang="en-US" dirty="0">
                <a:solidFill>
                  <a:srgbClr val="0000FF"/>
                </a:solidFill>
              </a:rPr>
              <a:t>customer &gt; peer &gt; provider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Maximize performance (</a:t>
            </a:r>
            <a:r>
              <a:rPr lang="en-US" altLang="zh-CN" dirty="0"/>
              <a:t>shortest</a:t>
            </a:r>
            <a:r>
              <a:rPr lang="en-US" dirty="0"/>
              <a:t> AS path length) </a:t>
            </a:r>
          </a:p>
          <a:p>
            <a:pPr lvl="1"/>
            <a:r>
              <a:rPr lang="en-US" dirty="0"/>
              <a:t>Minimize use of my network bandwidth (“</a:t>
            </a:r>
            <a:r>
              <a:rPr lang="en-US" dirty="0">
                <a:solidFill>
                  <a:srgbClr val="0000FF"/>
                </a:solidFill>
              </a:rPr>
              <a:t>hot potato</a:t>
            </a:r>
            <a:r>
              <a:rPr lang="en-US" dirty="0"/>
              <a:t>”)</a:t>
            </a:r>
          </a:p>
          <a:p>
            <a:pPr lvl="1"/>
            <a:r>
              <a:rPr lang="en-US" dirty="0"/>
              <a:t>…</a:t>
            </a:r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30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export policy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59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778001"/>
          <a:ext cx="7772400" cy="2993683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947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Destination</a:t>
                      </a:r>
                      <a:r>
                        <a:rPr lang="en-US" sz="2400" baseline="0" dirty="0"/>
                        <a:t> prefix advertised by…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Export route to…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3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Customer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Everyone</a:t>
                      </a:r>
                      <a:r>
                        <a:rPr lang="en-US" sz="2400" baseline="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(providers, peers, other customers)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18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Peer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18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Provider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2"/>
                          </a:solidFill>
                        </a:rPr>
                        <a:t>Customers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 bwMode="auto">
          <a:xfrm>
            <a:off x="1143000" y="4953000"/>
            <a:ext cx="6858000" cy="914400"/>
          </a:xfrm>
          <a:prstGeom prst="roundRect">
            <a:avLst/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We’ll refer to these as the “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Gao</a:t>
            </a:r>
            <a:r>
              <a:rPr lang="en-US" sz="2400" b="0" dirty="0">
                <a:solidFill>
                  <a:schemeClr val="bg1"/>
                </a:solidFill>
                <a:latin typeface="+mn-lt"/>
              </a:rPr>
              <a:t>-Rexford” rules</a:t>
            </a:r>
          </a:p>
          <a:p>
            <a:pPr algn="ctr"/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(capture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common </a:t>
            </a:r>
            <a:r>
              <a:rPr lang="en-US" sz="2400" b="0" dirty="0">
                <a:solidFill>
                  <a:srgbClr val="D3A600"/>
                </a:solidFill>
              </a:rPr>
              <a:t>– 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D3A600"/>
                </a:solidFill>
                <a:effectLst/>
              </a:rPr>
              <a:t>but not required! </a:t>
            </a:r>
            <a:r>
              <a:rPr lang="en-US" sz="2400" b="0" dirty="0">
                <a:solidFill>
                  <a:srgbClr val="D3A600"/>
                </a:solidFill>
              </a:rPr>
              <a:t>–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rgbClr val="FFFFFF"/>
                </a:solidFill>
                <a:effectLst/>
              </a:rPr>
              <a:t>practice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)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253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Gao-Rexford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2514600" y="2895600"/>
            <a:ext cx="571500" cy="609600"/>
          </a:xfrm>
          <a:prstGeom prst="ellips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 flipH="1">
            <a:off x="2209800" y="3429000"/>
            <a:ext cx="45720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258914" y="2971800"/>
            <a:ext cx="8835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Peers</a:t>
            </a:r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>
            <a:off x="2819400" y="2057400"/>
            <a:ext cx="0" cy="838200"/>
          </a:xfrm>
          <a:prstGeom prst="line">
            <a:avLst/>
          </a:prstGeom>
          <a:noFill/>
          <a:ln w="25400">
            <a:solidFill>
              <a:srgbClr val="D3A60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3048000" y="3429000"/>
            <a:ext cx="457200" cy="762000"/>
          </a:xfrm>
          <a:prstGeom prst="line">
            <a:avLst/>
          </a:prstGeom>
          <a:noFill/>
          <a:ln w="25400">
            <a:solidFill>
              <a:srgbClr val="D3A600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7" name="Text Box 12"/>
          <p:cNvSpPr txBox="1">
            <a:spLocks noChangeArrowheads="1"/>
          </p:cNvSpPr>
          <p:nvPr/>
        </p:nvSpPr>
        <p:spPr bwMode="auto">
          <a:xfrm>
            <a:off x="258914" y="1885890"/>
            <a:ext cx="136768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Providers</a:t>
            </a:r>
          </a:p>
        </p:txBody>
      </p:sp>
      <p:sp>
        <p:nvSpPr>
          <p:cNvPr id="28" name="Text Box 12"/>
          <p:cNvSpPr txBox="1">
            <a:spLocks noChangeArrowheads="1"/>
          </p:cNvSpPr>
          <p:nvPr/>
        </p:nvSpPr>
        <p:spPr bwMode="auto">
          <a:xfrm>
            <a:off x="258914" y="3962400"/>
            <a:ext cx="15247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Customers</a:t>
            </a:r>
          </a:p>
        </p:txBody>
      </p:sp>
      <p:sp>
        <p:nvSpPr>
          <p:cNvPr id="29" name="Line 19"/>
          <p:cNvSpPr>
            <a:spLocks noChangeShapeType="1"/>
          </p:cNvSpPr>
          <p:nvPr/>
        </p:nvSpPr>
        <p:spPr bwMode="auto">
          <a:xfrm flipH="1">
            <a:off x="3124200" y="3200400"/>
            <a:ext cx="838200" cy="0"/>
          </a:xfrm>
          <a:prstGeom prst="line">
            <a:avLst/>
          </a:prstGeom>
          <a:noFill/>
          <a:ln w="25400">
            <a:solidFill>
              <a:srgbClr val="D3A60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1" name="Oval 4"/>
          <p:cNvSpPr>
            <a:spLocks noChangeArrowheads="1"/>
          </p:cNvSpPr>
          <p:nvPr/>
        </p:nvSpPr>
        <p:spPr bwMode="auto">
          <a:xfrm>
            <a:off x="5029200" y="2895600"/>
            <a:ext cx="571500" cy="609600"/>
          </a:xfrm>
          <a:prstGeom prst="ellips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2" name="Line 6"/>
          <p:cNvSpPr>
            <a:spLocks noChangeShapeType="1"/>
          </p:cNvSpPr>
          <p:nvPr/>
        </p:nvSpPr>
        <p:spPr bwMode="auto">
          <a:xfrm>
            <a:off x="5562600" y="32004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5" name="Line 20"/>
          <p:cNvSpPr>
            <a:spLocks noChangeShapeType="1"/>
          </p:cNvSpPr>
          <p:nvPr/>
        </p:nvSpPr>
        <p:spPr bwMode="auto">
          <a:xfrm>
            <a:off x="5486400" y="3429000"/>
            <a:ext cx="457200" cy="762000"/>
          </a:xfrm>
          <a:prstGeom prst="line">
            <a:avLst/>
          </a:prstGeom>
          <a:noFill/>
          <a:ln w="25400">
            <a:solidFill>
              <a:srgbClr val="D3A600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6" name="Line 19"/>
          <p:cNvSpPr>
            <a:spLocks noChangeShapeType="1"/>
          </p:cNvSpPr>
          <p:nvPr/>
        </p:nvSpPr>
        <p:spPr bwMode="auto">
          <a:xfrm flipV="1">
            <a:off x="4648200" y="3429000"/>
            <a:ext cx="457200" cy="762000"/>
          </a:xfrm>
          <a:prstGeom prst="line">
            <a:avLst/>
          </a:prstGeom>
          <a:noFill/>
          <a:ln w="25400">
            <a:solidFill>
              <a:srgbClr val="D3A60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7" name="Oval 4"/>
          <p:cNvSpPr>
            <a:spLocks noChangeArrowheads="1"/>
          </p:cNvSpPr>
          <p:nvPr/>
        </p:nvSpPr>
        <p:spPr bwMode="auto">
          <a:xfrm>
            <a:off x="7467600" y="2895600"/>
            <a:ext cx="571500" cy="609600"/>
          </a:xfrm>
          <a:prstGeom prst="ellips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 flipV="1">
            <a:off x="7772400" y="1981200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39" name="Line 20"/>
          <p:cNvSpPr>
            <a:spLocks noChangeShapeType="1"/>
          </p:cNvSpPr>
          <p:nvPr/>
        </p:nvSpPr>
        <p:spPr bwMode="auto">
          <a:xfrm>
            <a:off x="7924800" y="3429000"/>
            <a:ext cx="457200" cy="762000"/>
          </a:xfrm>
          <a:prstGeom prst="line">
            <a:avLst/>
          </a:prstGeom>
          <a:noFill/>
          <a:ln w="25400">
            <a:solidFill>
              <a:srgbClr val="D3A600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0" name="Line 19"/>
          <p:cNvSpPr>
            <a:spLocks noChangeShapeType="1"/>
          </p:cNvSpPr>
          <p:nvPr/>
        </p:nvSpPr>
        <p:spPr bwMode="auto">
          <a:xfrm flipV="1">
            <a:off x="7086600" y="3429000"/>
            <a:ext cx="457200" cy="762000"/>
          </a:xfrm>
          <a:prstGeom prst="line">
            <a:avLst/>
          </a:prstGeom>
          <a:noFill/>
          <a:ln w="25400">
            <a:solidFill>
              <a:srgbClr val="D3A600"/>
            </a:solidFill>
            <a:round/>
            <a:headEnd type="stealth" w="lg" len="lg"/>
            <a:tailEnd type="non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41" name="Rounded Rectangle 40"/>
          <p:cNvSpPr/>
          <p:nvPr/>
        </p:nvSpPr>
        <p:spPr bwMode="auto">
          <a:xfrm>
            <a:off x="304800" y="5257800"/>
            <a:ext cx="8534400" cy="914400"/>
          </a:xfrm>
          <a:prstGeom prst="roundRect">
            <a:avLst/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With Gao-Rexford,</a:t>
            </a:r>
            <a:r>
              <a:rPr kumimoji="0" lang="en-US" sz="24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 the </a:t>
            </a:r>
            <a:r>
              <a:rPr lang="en-US" sz="2400" b="0" dirty="0">
                <a:solidFill>
                  <a:schemeClr val="bg1"/>
                </a:solidFill>
              </a:rPr>
              <a:t>AS policy graph is a </a:t>
            </a:r>
            <a:br>
              <a:rPr lang="en-US" sz="2400" b="0" dirty="0">
                <a:solidFill>
                  <a:schemeClr val="bg1"/>
                </a:solidFill>
              </a:rPr>
            </a:br>
            <a:r>
              <a:rPr lang="en-US" sz="2400" b="0" dirty="0">
                <a:solidFill>
                  <a:schemeClr val="bg1"/>
                </a:solidFill>
              </a:rPr>
              <a:t>DAG (directed acyclic graph) and routes are “valley free”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23" y="4466"/>
            <a:ext cx="1295400" cy="16419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535" y="0"/>
            <a:ext cx="1295400" cy="165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48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5" grpId="0"/>
      <p:bldP spid="20" grpId="0" animBg="1"/>
      <p:bldP spid="22" grpId="0" animBg="1"/>
      <p:bldP spid="27" grpId="0"/>
      <p:bldP spid="28" grpId="0"/>
      <p:bldP spid="29" grpId="0" animBg="1"/>
      <p:bldP spid="31" grpId="0" animBg="1"/>
      <p:bldP spid="32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Protocol details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291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loud"/>
          <p:cNvSpPr>
            <a:spLocks noChangeAspect="1" noEditPoints="1" noChangeArrowheads="1"/>
          </p:cNvSpPr>
          <p:nvPr/>
        </p:nvSpPr>
        <p:spPr bwMode="auto">
          <a:xfrm>
            <a:off x="1600200" y="3115685"/>
            <a:ext cx="6982522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36875" name="Line 6"/>
          <p:cNvSpPr>
            <a:spLocks noChangeShapeType="1"/>
          </p:cNvSpPr>
          <p:nvPr/>
        </p:nvSpPr>
        <p:spPr bwMode="auto">
          <a:xfrm>
            <a:off x="4648200" y="2052634"/>
            <a:ext cx="2590800" cy="80966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6" name="Line 7"/>
          <p:cNvSpPr>
            <a:spLocks noChangeShapeType="1"/>
          </p:cNvSpPr>
          <p:nvPr/>
        </p:nvSpPr>
        <p:spPr bwMode="auto">
          <a:xfrm flipH="1" flipV="1">
            <a:off x="7696200" y="3766042"/>
            <a:ext cx="381000" cy="103455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1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Who speaks BGP?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36882" name="Line 25"/>
          <p:cNvSpPr>
            <a:spLocks noChangeShapeType="1"/>
          </p:cNvSpPr>
          <p:nvPr/>
        </p:nvSpPr>
        <p:spPr bwMode="auto">
          <a:xfrm>
            <a:off x="1524000" y="3276600"/>
            <a:ext cx="3048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3" name="Line 26"/>
          <p:cNvSpPr>
            <a:spLocks noChangeShapeType="1"/>
          </p:cNvSpPr>
          <p:nvPr/>
        </p:nvSpPr>
        <p:spPr bwMode="auto">
          <a:xfrm>
            <a:off x="3886200" y="2667000"/>
            <a:ext cx="152400" cy="457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4" name="Line 27"/>
          <p:cNvSpPr>
            <a:spLocks noChangeShapeType="1"/>
          </p:cNvSpPr>
          <p:nvPr/>
        </p:nvSpPr>
        <p:spPr bwMode="auto">
          <a:xfrm flipH="1">
            <a:off x="7772400" y="2819400"/>
            <a:ext cx="152400" cy="59187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304800" y="3962403"/>
            <a:ext cx="1998663" cy="766763"/>
            <a:chOff x="192" y="2496"/>
            <a:chExt cx="1259" cy="483"/>
          </a:xfrm>
        </p:grpSpPr>
        <p:sp>
          <p:nvSpPr>
            <p:cNvPr id="36940" name="Text Box 36"/>
            <p:cNvSpPr txBox="1">
              <a:spLocks noChangeArrowheads="1"/>
            </p:cNvSpPr>
            <p:nvPr/>
          </p:nvSpPr>
          <p:spPr bwMode="auto">
            <a:xfrm>
              <a:off x="192" y="2688"/>
              <a:ext cx="125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 eaLnBrk="1" hangingPunct="1"/>
              <a:r>
                <a:rPr lang="en-US" sz="2400" b="0" dirty="0">
                  <a:latin typeface="Arial" charset="0"/>
                  <a:ea typeface="Arial" charset="0"/>
                </a:rPr>
                <a:t>Border router</a:t>
              </a:r>
            </a:p>
          </p:txBody>
        </p:sp>
        <p:sp>
          <p:nvSpPr>
            <p:cNvPr id="36941" name="Line 37"/>
            <p:cNvSpPr>
              <a:spLocks noChangeShapeType="1"/>
            </p:cNvSpPr>
            <p:nvPr/>
          </p:nvSpPr>
          <p:spPr bwMode="auto">
            <a:xfrm flipV="1">
              <a:off x="816" y="2496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</p:grpSp>
      <p:grpSp>
        <p:nvGrpSpPr>
          <p:cNvPr id="17" name="Group 76"/>
          <p:cNvGrpSpPr>
            <a:grpSpLocks/>
          </p:cNvGrpSpPr>
          <p:nvPr/>
        </p:nvGrpSpPr>
        <p:grpSpPr bwMode="auto">
          <a:xfrm>
            <a:off x="2286000" y="3328987"/>
            <a:ext cx="5105400" cy="1090613"/>
            <a:chOff x="1440" y="2112"/>
            <a:chExt cx="3216" cy="687"/>
          </a:xfrm>
        </p:grpSpPr>
        <p:grpSp>
          <p:nvGrpSpPr>
            <p:cNvPr id="36902" name="Group 77"/>
            <p:cNvGrpSpPr>
              <a:grpSpLocks/>
            </p:cNvGrpSpPr>
            <p:nvPr/>
          </p:nvGrpSpPr>
          <p:grpSpPr bwMode="auto">
            <a:xfrm>
              <a:off x="1440" y="2147"/>
              <a:ext cx="3216" cy="652"/>
              <a:chOff x="1440" y="2132"/>
              <a:chExt cx="3216" cy="652"/>
            </a:xfrm>
          </p:grpSpPr>
          <p:cxnSp>
            <p:nvCxnSpPr>
              <p:cNvPr id="36905" name="AutoShape 78"/>
              <p:cNvCxnSpPr>
                <a:cxnSpLocks noChangeShapeType="1"/>
              </p:cNvCxnSpPr>
              <p:nvPr/>
            </p:nvCxnSpPr>
            <p:spPr bwMode="auto">
              <a:xfrm>
                <a:off x="1440" y="2386"/>
                <a:ext cx="672" cy="101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906" name="AutoShape 79"/>
              <p:cNvCxnSpPr>
                <a:cxnSpLocks noChangeShapeType="1"/>
              </p:cNvCxnSpPr>
              <p:nvPr/>
            </p:nvCxnSpPr>
            <p:spPr bwMode="auto">
              <a:xfrm flipV="1">
                <a:off x="2256" y="2132"/>
                <a:ext cx="216" cy="26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907" name="AutoShape 80"/>
              <p:cNvCxnSpPr>
                <a:cxnSpLocks noChangeShapeType="1"/>
              </p:cNvCxnSpPr>
              <p:nvPr/>
            </p:nvCxnSpPr>
            <p:spPr bwMode="auto">
              <a:xfrm flipV="1">
                <a:off x="2400" y="2342"/>
                <a:ext cx="768" cy="14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6908" name="Line 81"/>
              <p:cNvSpPr>
                <a:spLocks noChangeShapeType="1"/>
              </p:cNvSpPr>
              <p:nvPr/>
            </p:nvSpPr>
            <p:spPr bwMode="auto">
              <a:xfrm flipV="1">
                <a:off x="3168" y="2400"/>
                <a:ext cx="96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09" name="Line 82"/>
              <p:cNvSpPr>
                <a:spLocks noChangeShapeType="1"/>
              </p:cNvSpPr>
              <p:nvPr/>
            </p:nvSpPr>
            <p:spPr bwMode="auto">
              <a:xfrm flipV="1">
                <a:off x="4272" y="2304"/>
                <a:ext cx="38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10" name="Line 83"/>
              <p:cNvSpPr>
                <a:spLocks noChangeShapeType="1"/>
              </p:cNvSpPr>
              <p:nvPr/>
            </p:nvSpPr>
            <p:spPr bwMode="auto">
              <a:xfrm flipH="1" flipV="1">
                <a:off x="2352" y="2544"/>
                <a:ext cx="57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36918" name="AutoShape 91"/>
              <p:cNvCxnSpPr>
                <a:cxnSpLocks noChangeShapeType="1"/>
              </p:cNvCxnSpPr>
              <p:nvPr/>
            </p:nvCxnSpPr>
            <p:spPr bwMode="auto">
              <a:xfrm>
                <a:off x="3456" y="2342"/>
                <a:ext cx="528" cy="9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6903" name="Line 92"/>
            <p:cNvSpPr>
              <a:spLocks noChangeShapeType="1"/>
            </p:cNvSpPr>
            <p:nvPr/>
          </p:nvSpPr>
          <p:spPr bwMode="auto">
            <a:xfrm>
              <a:off x="2688" y="2112"/>
              <a:ext cx="48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Oval 1"/>
          <p:cNvSpPr/>
          <p:nvPr/>
        </p:nvSpPr>
        <p:spPr bwMode="auto">
          <a:xfrm>
            <a:off x="1295400" y="3429000"/>
            <a:ext cx="1219200" cy="6096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0" name="Oval 99"/>
          <p:cNvSpPr/>
          <p:nvPr/>
        </p:nvSpPr>
        <p:spPr bwMode="auto">
          <a:xfrm>
            <a:off x="3276600" y="2819400"/>
            <a:ext cx="1219200" cy="6096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01" name="Oval 100"/>
          <p:cNvSpPr/>
          <p:nvPr/>
        </p:nvSpPr>
        <p:spPr bwMode="auto">
          <a:xfrm>
            <a:off x="7086600" y="3276600"/>
            <a:ext cx="1219200" cy="609600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8" name="Cloud"/>
          <p:cNvSpPr>
            <a:spLocks noChangeAspect="1" noEditPoints="1" noChangeArrowheads="1"/>
          </p:cNvSpPr>
          <p:nvPr/>
        </p:nvSpPr>
        <p:spPr bwMode="auto">
          <a:xfrm>
            <a:off x="481421" y="1834376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59" name="Cloud"/>
          <p:cNvSpPr>
            <a:spLocks noChangeAspect="1" noEditPoints="1" noChangeArrowheads="1"/>
          </p:cNvSpPr>
          <p:nvPr/>
        </p:nvSpPr>
        <p:spPr bwMode="auto">
          <a:xfrm>
            <a:off x="2692125" y="1341712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60" name="Cloud"/>
          <p:cNvSpPr>
            <a:spLocks noChangeAspect="1" noEditPoints="1" noChangeArrowheads="1"/>
          </p:cNvSpPr>
          <p:nvPr/>
        </p:nvSpPr>
        <p:spPr bwMode="auto">
          <a:xfrm>
            <a:off x="6996112" y="1449441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61" name="Cloud"/>
          <p:cNvSpPr>
            <a:spLocks noChangeAspect="1" noEditPoints="1" noChangeArrowheads="1"/>
          </p:cNvSpPr>
          <p:nvPr/>
        </p:nvSpPr>
        <p:spPr bwMode="auto">
          <a:xfrm>
            <a:off x="7178947" y="4642624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103" name="Rounded Rectangle 102"/>
          <p:cNvSpPr/>
          <p:nvPr/>
        </p:nvSpPr>
        <p:spPr bwMode="auto">
          <a:xfrm>
            <a:off x="381000" y="5486400"/>
            <a:ext cx="8229600" cy="1066800"/>
          </a:xfrm>
          <a:prstGeom prst="roundRect">
            <a:avLst/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Border routers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in an Autonomous System</a:t>
            </a:r>
            <a:endParaRPr lang="en-US" sz="2800" b="0" dirty="0">
              <a:solidFill>
                <a:schemeClr val="bg1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608563" y="2974522"/>
            <a:ext cx="6408874" cy="1661488"/>
            <a:chOff x="1608563" y="2974522"/>
            <a:chExt cx="6408874" cy="1661488"/>
          </a:xfrm>
        </p:grpSpPr>
        <p:sp>
          <p:nvSpPr>
            <p:cNvPr id="63" name="Cube 62"/>
            <p:cNvSpPr/>
            <p:nvPr/>
          </p:nvSpPr>
          <p:spPr bwMode="auto">
            <a:xfrm>
              <a:off x="3653563" y="2974522"/>
              <a:ext cx="617674" cy="363279"/>
            </a:xfrm>
            <a:prstGeom prst="cube">
              <a:avLst/>
            </a:prstGeom>
            <a:solidFill>
              <a:srgbClr val="D3A600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5" name="Cube 64"/>
            <p:cNvSpPr/>
            <p:nvPr/>
          </p:nvSpPr>
          <p:spPr bwMode="auto">
            <a:xfrm>
              <a:off x="7399763" y="3429000"/>
              <a:ext cx="617674" cy="363279"/>
            </a:xfrm>
            <a:prstGeom prst="cube">
              <a:avLst/>
            </a:prstGeom>
            <a:solidFill>
              <a:srgbClr val="D3A600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6" name="Cube 65"/>
            <p:cNvSpPr/>
            <p:nvPr/>
          </p:nvSpPr>
          <p:spPr bwMode="auto">
            <a:xfrm>
              <a:off x="1608563" y="3606135"/>
              <a:ext cx="617674" cy="363279"/>
            </a:xfrm>
            <a:prstGeom prst="cube">
              <a:avLst/>
            </a:prstGeom>
            <a:solidFill>
              <a:srgbClr val="D3A600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7" name="Cube 66"/>
            <p:cNvSpPr/>
            <p:nvPr/>
          </p:nvSpPr>
          <p:spPr bwMode="auto">
            <a:xfrm>
              <a:off x="4518750" y="4272731"/>
              <a:ext cx="617674" cy="363279"/>
            </a:xfrm>
            <a:prstGeom prst="cube">
              <a:avLst/>
            </a:prstGeom>
            <a:solidFill>
              <a:srgbClr val="D3A600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346585" y="3548021"/>
            <a:ext cx="3426814" cy="577832"/>
            <a:chOff x="3346585" y="3548021"/>
            <a:chExt cx="3426814" cy="577832"/>
          </a:xfrm>
        </p:grpSpPr>
        <p:sp>
          <p:nvSpPr>
            <p:cNvPr id="68" name="Cube 67"/>
            <p:cNvSpPr/>
            <p:nvPr/>
          </p:nvSpPr>
          <p:spPr bwMode="auto">
            <a:xfrm>
              <a:off x="3346585" y="3806054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9" name="Cube 68"/>
            <p:cNvSpPr/>
            <p:nvPr/>
          </p:nvSpPr>
          <p:spPr bwMode="auto">
            <a:xfrm>
              <a:off x="5037601" y="3548021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70" name="Cube 69"/>
            <p:cNvSpPr/>
            <p:nvPr/>
          </p:nvSpPr>
          <p:spPr bwMode="auto">
            <a:xfrm>
              <a:off x="6324273" y="3715952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</p:grpSp>
      <p:sp>
        <p:nvSpPr>
          <p:cNvPr id="73" name="Text Box 48"/>
          <p:cNvSpPr txBox="1">
            <a:spLocks noChangeArrowheads="1"/>
          </p:cNvSpPr>
          <p:nvPr/>
        </p:nvSpPr>
        <p:spPr bwMode="auto">
          <a:xfrm>
            <a:off x="1936743" y="4572000"/>
            <a:ext cx="21018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sz="2400" b="0" dirty="0">
                <a:latin typeface="Arial" charset="0"/>
                <a:ea typeface="Arial" charset="0"/>
              </a:rPr>
              <a:t>Internal router</a:t>
            </a:r>
          </a:p>
        </p:txBody>
      </p:sp>
      <p:sp>
        <p:nvSpPr>
          <p:cNvPr id="74" name="Line 49"/>
          <p:cNvSpPr>
            <a:spLocks noChangeShapeType="1"/>
          </p:cNvSpPr>
          <p:nvPr/>
        </p:nvSpPr>
        <p:spPr bwMode="auto">
          <a:xfrm flipV="1">
            <a:off x="3155943" y="41148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87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0" grpId="0" animBg="1"/>
      <p:bldP spid="101" grpId="0" animBg="1"/>
      <p:bldP spid="103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“speak BGP”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the BGP protocol standard </a:t>
            </a:r>
          </a:p>
          <a:p>
            <a:pPr lvl="1"/>
            <a:r>
              <a:rPr lang="en-US" dirty="0"/>
              <a:t>Read more here: </a:t>
            </a:r>
            <a:r>
              <a:rPr lang="en-US" dirty="0">
                <a:hlinkClick r:id="rId2"/>
              </a:rPr>
              <a:t>http://tools.ietf.org/html/rfc4271</a:t>
            </a:r>
            <a:endParaRPr lang="en-US" dirty="0"/>
          </a:p>
          <a:p>
            <a:r>
              <a:rPr lang="en-US" dirty="0"/>
              <a:t>Specifies what messages to exchange with other BGP “speakers”</a:t>
            </a:r>
          </a:p>
          <a:p>
            <a:pPr lvl="1"/>
            <a:r>
              <a:rPr lang="en-US" dirty="0"/>
              <a:t>Message types (e.g., route advertisements, updates)</a:t>
            </a:r>
          </a:p>
          <a:p>
            <a:pPr lvl="1"/>
            <a:r>
              <a:rPr lang="en-US" dirty="0"/>
              <a:t>Message syntax</a:t>
            </a:r>
          </a:p>
          <a:p>
            <a:r>
              <a:rPr lang="en-US" dirty="0"/>
              <a:t>How to process these messages</a:t>
            </a:r>
          </a:p>
          <a:p>
            <a:pPr lvl="1"/>
            <a:r>
              <a:rPr lang="en-US" dirty="0"/>
              <a:t>E.g., “when you receive a BGP update, do…. “</a:t>
            </a:r>
          </a:p>
          <a:p>
            <a:pPr lvl="1"/>
            <a:r>
              <a:rPr lang="en-US" dirty="0"/>
              <a:t>Follows BGP state machine in the protocol spec + policy decisions, etc.</a:t>
            </a:r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loud"/>
          <p:cNvSpPr>
            <a:spLocks noChangeAspect="1" noEditPoints="1" noChangeArrowheads="1"/>
          </p:cNvSpPr>
          <p:nvPr/>
        </p:nvSpPr>
        <p:spPr bwMode="auto">
          <a:xfrm>
            <a:off x="1600200" y="3115685"/>
            <a:ext cx="6982522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36875" name="Line 6"/>
          <p:cNvSpPr>
            <a:spLocks noChangeShapeType="1"/>
          </p:cNvSpPr>
          <p:nvPr/>
        </p:nvSpPr>
        <p:spPr bwMode="auto">
          <a:xfrm>
            <a:off x="4648200" y="2052634"/>
            <a:ext cx="2590800" cy="80966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6" name="Line 7"/>
          <p:cNvSpPr>
            <a:spLocks noChangeShapeType="1"/>
          </p:cNvSpPr>
          <p:nvPr/>
        </p:nvSpPr>
        <p:spPr bwMode="auto">
          <a:xfrm flipH="1" flipV="1">
            <a:off x="7696200" y="3766042"/>
            <a:ext cx="381000" cy="103455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1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sessions: External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36882" name="Line 25"/>
          <p:cNvSpPr>
            <a:spLocks noChangeShapeType="1"/>
          </p:cNvSpPr>
          <p:nvPr/>
        </p:nvSpPr>
        <p:spPr bwMode="auto">
          <a:xfrm>
            <a:off x="1524000" y="3276600"/>
            <a:ext cx="3048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3" name="Line 26"/>
          <p:cNvSpPr>
            <a:spLocks noChangeShapeType="1"/>
          </p:cNvSpPr>
          <p:nvPr/>
        </p:nvSpPr>
        <p:spPr bwMode="auto">
          <a:xfrm>
            <a:off x="3886200" y="2667000"/>
            <a:ext cx="152400" cy="457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4" name="Line 27"/>
          <p:cNvSpPr>
            <a:spLocks noChangeShapeType="1"/>
          </p:cNvSpPr>
          <p:nvPr/>
        </p:nvSpPr>
        <p:spPr bwMode="auto">
          <a:xfrm flipH="1">
            <a:off x="7772400" y="2819400"/>
            <a:ext cx="152400" cy="59187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7" name="Group 76"/>
          <p:cNvGrpSpPr>
            <a:grpSpLocks/>
          </p:cNvGrpSpPr>
          <p:nvPr/>
        </p:nvGrpSpPr>
        <p:grpSpPr bwMode="auto">
          <a:xfrm>
            <a:off x="2286000" y="3328987"/>
            <a:ext cx="5105400" cy="1090613"/>
            <a:chOff x="1440" y="2112"/>
            <a:chExt cx="3216" cy="687"/>
          </a:xfrm>
        </p:grpSpPr>
        <p:grpSp>
          <p:nvGrpSpPr>
            <p:cNvPr id="36902" name="Group 77"/>
            <p:cNvGrpSpPr>
              <a:grpSpLocks/>
            </p:cNvGrpSpPr>
            <p:nvPr/>
          </p:nvGrpSpPr>
          <p:grpSpPr bwMode="auto">
            <a:xfrm>
              <a:off x="1440" y="2147"/>
              <a:ext cx="3216" cy="652"/>
              <a:chOff x="1440" y="2132"/>
              <a:chExt cx="3216" cy="652"/>
            </a:xfrm>
          </p:grpSpPr>
          <p:cxnSp>
            <p:nvCxnSpPr>
              <p:cNvPr id="36905" name="AutoShape 78"/>
              <p:cNvCxnSpPr>
                <a:cxnSpLocks noChangeShapeType="1"/>
              </p:cNvCxnSpPr>
              <p:nvPr/>
            </p:nvCxnSpPr>
            <p:spPr bwMode="auto">
              <a:xfrm>
                <a:off x="1440" y="2386"/>
                <a:ext cx="672" cy="101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906" name="AutoShape 79"/>
              <p:cNvCxnSpPr>
                <a:cxnSpLocks noChangeShapeType="1"/>
              </p:cNvCxnSpPr>
              <p:nvPr/>
            </p:nvCxnSpPr>
            <p:spPr bwMode="auto">
              <a:xfrm flipV="1">
                <a:off x="2256" y="2132"/>
                <a:ext cx="216" cy="26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907" name="AutoShape 80"/>
              <p:cNvCxnSpPr>
                <a:cxnSpLocks noChangeShapeType="1"/>
              </p:cNvCxnSpPr>
              <p:nvPr/>
            </p:nvCxnSpPr>
            <p:spPr bwMode="auto">
              <a:xfrm flipV="1">
                <a:off x="2400" y="2342"/>
                <a:ext cx="768" cy="14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6908" name="Line 81"/>
              <p:cNvSpPr>
                <a:spLocks noChangeShapeType="1"/>
              </p:cNvSpPr>
              <p:nvPr/>
            </p:nvSpPr>
            <p:spPr bwMode="auto">
              <a:xfrm flipV="1">
                <a:off x="3168" y="2400"/>
                <a:ext cx="96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09" name="Line 82"/>
              <p:cNvSpPr>
                <a:spLocks noChangeShapeType="1"/>
              </p:cNvSpPr>
              <p:nvPr/>
            </p:nvSpPr>
            <p:spPr bwMode="auto">
              <a:xfrm flipV="1">
                <a:off x="4272" y="2304"/>
                <a:ext cx="38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10" name="Line 83"/>
              <p:cNvSpPr>
                <a:spLocks noChangeShapeType="1"/>
              </p:cNvSpPr>
              <p:nvPr/>
            </p:nvSpPr>
            <p:spPr bwMode="auto">
              <a:xfrm flipH="1" flipV="1">
                <a:off x="2352" y="2544"/>
                <a:ext cx="57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36918" name="AutoShape 91"/>
              <p:cNvCxnSpPr>
                <a:cxnSpLocks noChangeShapeType="1"/>
              </p:cNvCxnSpPr>
              <p:nvPr/>
            </p:nvCxnSpPr>
            <p:spPr bwMode="auto">
              <a:xfrm>
                <a:off x="3456" y="2342"/>
                <a:ext cx="528" cy="9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6903" name="Line 92"/>
            <p:cNvSpPr>
              <a:spLocks noChangeShapeType="1"/>
            </p:cNvSpPr>
            <p:nvPr/>
          </p:nvSpPr>
          <p:spPr bwMode="auto">
            <a:xfrm>
              <a:off x="2688" y="2112"/>
              <a:ext cx="48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" name="Cloud"/>
          <p:cNvSpPr>
            <a:spLocks noChangeAspect="1" noEditPoints="1" noChangeArrowheads="1"/>
          </p:cNvSpPr>
          <p:nvPr/>
        </p:nvSpPr>
        <p:spPr bwMode="auto">
          <a:xfrm>
            <a:off x="481421" y="1834376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59" name="Cloud"/>
          <p:cNvSpPr>
            <a:spLocks noChangeAspect="1" noEditPoints="1" noChangeArrowheads="1"/>
          </p:cNvSpPr>
          <p:nvPr/>
        </p:nvSpPr>
        <p:spPr bwMode="auto">
          <a:xfrm>
            <a:off x="2692125" y="1341712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60" name="Cloud"/>
          <p:cNvSpPr>
            <a:spLocks noChangeAspect="1" noEditPoints="1" noChangeArrowheads="1"/>
          </p:cNvSpPr>
          <p:nvPr/>
        </p:nvSpPr>
        <p:spPr bwMode="auto">
          <a:xfrm>
            <a:off x="6996112" y="1449441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61" name="Cloud"/>
          <p:cNvSpPr>
            <a:spLocks noChangeAspect="1" noEditPoints="1" noChangeArrowheads="1"/>
          </p:cNvSpPr>
          <p:nvPr/>
        </p:nvSpPr>
        <p:spPr bwMode="auto">
          <a:xfrm>
            <a:off x="7178947" y="4642624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63" name="Cube 62"/>
          <p:cNvSpPr/>
          <p:nvPr/>
        </p:nvSpPr>
        <p:spPr bwMode="auto">
          <a:xfrm>
            <a:off x="3653563" y="2974522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5" name="Cube 64"/>
          <p:cNvSpPr/>
          <p:nvPr/>
        </p:nvSpPr>
        <p:spPr bwMode="auto">
          <a:xfrm>
            <a:off x="7399763" y="3429000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6" name="Cube 65"/>
          <p:cNvSpPr/>
          <p:nvPr/>
        </p:nvSpPr>
        <p:spPr bwMode="auto">
          <a:xfrm>
            <a:off x="1608563" y="3606135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7" name="Cube 66"/>
          <p:cNvSpPr/>
          <p:nvPr/>
        </p:nvSpPr>
        <p:spPr bwMode="auto">
          <a:xfrm>
            <a:off x="4518750" y="4272731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346585" y="3548021"/>
            <a:ext cx="3426814" cy="577832"/>
            <a:chOff x="3346585" y="3548021"/>
            <a:chExt cx="3426814" cy="577832"/>
          </a:xfrm>
        </p:grpSpPr>
        <p:sp>
          <p:nvSpPr>
            <p:cNvPr id="68" name="Cube 67"/>
            <p:cNvSpPr/>
            <p:nvPr/>
          </p:nvSpPr>
          <p:spPr bwMode="auto">
            <a:xfrm>
              <a:off x="3346585" y="3806054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9" name="Cube 68"/>
            <p:cNvSpPr/>
            <p:nvPr/>
          </p:nvSpPr>
          <p:spPr bwMode="auto">
            <a:xfrm>
              <a:off x="5037601" y="3548021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70" name="Cube 69"/>
            <p:cNvSpPr/>
            <p:nvPr/>
          </p:nvSpPr>
          <p:spPr bwMode="auto">
            <a:xfrm>
              <a:off x="6324273" y="3715952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</p:grpSp>
      <p:sp>
        <p:nvSpPr>
          <p:cNvPr id="41" name="Cube 40"/>
          <p:cNvSpPr/>
          <p:nvPr/>
        </p:nvSpPr>
        <p:spPr bwMode="auto">
          <a:xfrm>
            <a:off x="1209108" y="2933453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Cube 41"/>
          <p:cNvSpPr/>
          <p:nvPr/>
        </p:nvSpPr>
        <p:spPr bwMode="auto">
          <a:xfrm>
            <a:off x="3501163" y="2330406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Cube 42"/>
          <p:cNvSpPr/>
          <p:nvPr/>
        </p:nvSpPr>
        <p:spPr bwMode="auto">
          <a:xfrm>
            <a:off x="7615963" y="2516902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5" name="Line 25"/>
          <p:cNvSpPr>
            <a:spLocks noChangeShapeType="1"/>
          </p:cNvSpPr>
          <p:nvPr/>
        </p:nvSpPr>
        <p:spPr bwMode="auto">
          <a:xfrm>
            <a:off x="1682745" y="3217788"/>
            <a:ext cx="304800" cy="381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26"/>
          <p:cNvSpPr>
            <a:spLocks noChangeShapeType="1"/>
          </p:cNvSpPr>
          <p:nvPr/>
        </p:nvSpPr>
        <p:spPr bwMode="auto">
          <a:xfrm>
            <a:off x="4006555" y="2574237"/>
            <a:ext cx="152400" cy="4572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27"/>
          <p:cNvSpPr>
            <a:spLocks noChangeShapeType="1"/>
          </p:cNvSpPr>
          <p:nvPr/>
        </p:nvSpPr>
        <p:spPr bwMode="auto">
          <a:xfrm flipH="1">
            <a:off x="7919224" y="2869957"/>
            <a:ext cx="152400" cy="591879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7"/>
          <p:cNvSpPr>
            <a:spLocks noChangeShapeType="1"/>
          </p:cNvSpPr>
          <p:nvPr/>
        </p:nvSpPr>
        <p:spPr bwMode="auto">
          <a:xfrm flipH="1" flipV="1">
            <a:off x="7826937" y="3737094"/>
            <a:ext cx="381000" cy="103455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" name="Cube 43"/>
          <p:cNvSpPr/>
          <p:nvPr/>
        </p:nvSpPr>
        <p:spPr bwMode="auto">
          <a:xfrm>
            <a:off x="7669801" y="4600289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ounded Rectangle 49"/>
          <p:cNvSpPr/>
          <p:nvPr/>
        </p:nvSpPr>
        <p:spPr bwMode="auto">
          <a:xfrm>
            <a:off x="381000" y="5486400"/>
            <a:ext cx="8229600" cy="1066800"/>
          </a:xfrm>
          <a:prstGeom prst="roundRect">
            <a:avLst/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Border routers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in an AS speaks BGP with border routers in other ASes using </a:t>
            </a:r>
            <a:r>
              <a:rPr kumimoji="0" lang="en-US" sz="2800" b="0" i="0" u="none" strike="noStrike" cap="none" normalizeH="0" dirty="0" err="1">
                <a:ln>
                  <a:noFill/>
                </a:ln>
                <a:solidFill>
                  <a:srgbClr val="D3A600"/>
                </a:solidFill>
                <a:effectLst/>
              </a:rPr>
              <a:t>eBGP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rgbClr val="D3A600"/>
                </a:solidFill>
                <a:effectLst/>
              </a:rPr>
              <a:t> sessions</a:t>
            </a:r>
            <a:endParaRPr lang="en-US" sz="2800" b="0" dirty="0">
              <a:solidFill>
                <a:srgbClr val="D3A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6909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loud"/>
          <p:cNvSpPr>
            <a:spLocks noChangeAspect="1" noEditPoints="1" noChangeArrowheads="1"/>
          </p:cNvSpPr>
          <p:nvPr/>
        </p:nvSpPr>
        <p:spPr bwMode="auto">
          <a:xfrm>
            <a:off x="1600200" y="3115685"/>
            <a:ext cx="6982522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36875" name="Line 6"/>
          <p:cNvSpPr>
            <a:spLocks noChangeShapeType="1"/>
          </p:cNvSpPr>
          <p:nvPr/>
        </p:nvSpPr>
        <p:spPr bwMode="auto">
          <a:xfrm>
            <a:off x="4648200" y="2052634"/>
            <a:ext cx="2590800" cy="80966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76" name="Line 7"/>
          <p:cNvSpPr>
            <a:spLocks noChangeShapeType="1"/>
          </p:cNvSpPr>
          <p:nvPr/>
        </p:nvSpPr>
        <p:spPr bwMode="auto">
          <a:xfrm flipH="1" flipV="1">
            <a:off x="7696200" y="3766042"/>
            <a:ext cx="381000" cy="103455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1" name="Rectangle 2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sessions: Internal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36882" name="Line 25"/>
          <p:cNvSpPr>
            <a:spLocks noChangeShapeType="1"/>
          </p:cNvSpPr>
          <p:nvPr/>
        </p:nvSpPr>
        <p:spPr bwMode="auto">
          <a:xfrm>
            <a:off x="1524000" y="3276600"/>
            <a:ext cx="304800" cy="381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3" name="Line 26"/>
          <p:cNvSpPr>
            <a:spLocks noChangeShapeType="1"/>
          </p:cNvSpPr>
          <p:nvPr/>
        </p:nvSpPr>
        <p:spPr bwMode="auto">
          <a:xfrm>
            <a:off x="3886200" y="2667000"/>
            <a:ext cx="152400" cy="457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884" name="Line 27"/>
          <p:cNvSpPr>
            <a:spLocks noChangeShapeType="1"/>
          </p:cNvSpPr>
          <p:nvPr/>
        </p:nvSpPr>
        <p:spPr bwMode="auto">
          <a:xfrm flipH="1">
            <a:off x="7772400" y="2819400"/>
            <a:ext cx="152400" cy="591879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7" name="Group 76"/>
          <p:cNvGrpSpPr>
            <a:grpSpLocks/>
          </p:cNvGrpSpPr>
          <p:nvPr/>
        </p:nvGrpSpPr>
        <p:grpSpPr bwMode="auto">
          <a:xfrm>
            <a:off x="2286000" y="3328987"/>
            <a:ext cx="5105400" cy="1090613"/>
            <a:chOff x="1440" y="2112"/>
            <a:chExt cx="3216" cy="687"/>
          </a:xfrm>
        </p:grpSpPr>
        <p:grpSp>
          <p:nvGrpSpPr>
            <p:cNvPr id="36902" name="Group 77"/>
            <p:cNvGrpSpPr>
              <a:grpSpLocks/>
            </p:cNvGrpSpPr>
            <p:nvPr/>
          </p:nvGrpSpPr>
          <p:grpSpPr bwMode="auto">
            <a:xfrm>
              <a:off x="1440" y="2147"/>
              <a:ext cx="3216" cy="652"/>
              <a:chOff x="1440" y="2132"/>
              <a:chExt cx="3216" cy="652"/>
            </a:xfrm>
          </p:grpSpPr>
          <p:cxnSp>
            <p:nvCxnSpPr>
              <p:cNvPr id="36905" name="AutoShape 78"/>
              <p:cNvCxnSpPr>
                <a:cxnSpLocks noChangeShapeType="1"/>
              </p:cNvCxnSpPr>
              <p:nvPr/>
            </p:nvCxnSpPr>
            <p:spPr bwMode="auto">
              <a:xfrm>
                <a:off x="1440" y="2386"/>
                <a:ext cx="672" cy="101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906" name="AutoShape 79"/>
              <p:cNvCxnSpPr>
                <a:cxnSpLocks noChangeShapeType="1"/>
              </p:cNvCxnSpPr>
              <p:nvPr/>
            </p:nvCxnSpPr>
            <p:spPr bwMode="auto">
              <a:xfrm flipV="1">
                <a:off x="2256" y="2132"/>
                <a:ext cx="216" cy="268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907" name="AutoShape 80"/>
              <p:cNvCxnSpPr>
                <a:cxnSpLocks noChangeShapeType="1"/>
              </p:cNvCxnSpPr>
              <p:nvPr/>
            </p:nvCxnSpPr>
            <p:spPr bwMode="auto">
              <a:xfrm flipV="1">
                <a:off x="2400" y="2342"/>
                <a:ext cx="768" cy="14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6908" name="Line 81"/>
              <p:cNvSpPr>
                <a:spLocks noChangeShapeType="1"/>
              </p:cNvSpPr>
              <p:nvPr/>
            </p:nvSpPr>
            <p:spPr bwMode="auto">
              <a:xfrm flipV="1">
                <a:off x="3168" y="2400"/>
                <a:ext cx="96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09" name="Line 82"/>
              <p:cNvSpPr>
                <a:spLocks noChangeShapeType="1"/>
              </p:cNvSpPr>
              <p:nvPr/>
            </p:nvSpPr>
            <p:spPr bwMode="auto">
              <a:xfrm flipV="1">
                <a:off x="4272" y="2304"/>
                <a:ext cx="384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10" name="Line 83"/>
              <p:cNvSpPr>
                <a:spLocks noChangeShapeType="1"/>
              </p:cNvSpPr>
              <p:nvPr/>
            </p:nvSpPr>
            <p:spPr bwMode="auto">
              <a:xfrm flipH="1" flipV="1">
                <a:off x="2352" y="2544"/>
                <a:ext cx="576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36918" name="AutoShape 91"/>
              <p:cNvCxnSpPr>
                <a:cxnSpLocks noChangeShapeType="1"/>
              </p:cNvCxnSpPr>
              <p:nvPr/>
            </p:nvCxnSpPr>
            <p:spPr bwMode="auto">
              <a:xfrm>
                <a:off x="3456" y="2342"/>
                <a:ext cx="528" cy="97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6903" name="Line 92"/>
            <p:cNvSpPr>
              <a:spLocks noChangeShapeType="1"/>
            </p:cNvSpPr>
            <p:nvPr/>
          </p:nvSpPr>
          <p:spPr bwMode="auto">
            <a:xfrm>
              <a:off x="2688" y="2112"/>
              <a:ext cx="48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8" name="Cloud"/>
          <p:cNvSpPr>
            <a:spLocks noChangeAspect="1" noEditPoints="1" noChangeArrowheads="1"/>
          </p:cNvSpPr>
          <p:nvPr/>
        </p:nvSpPr>
        <p:spPr bwMode="auto">
          <a:xfrm>
            <a:off x="481421" y="1834376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59" name="Cloud"/>
          <p:cNvSpPr>
            <a:spLocks noChangeAspect="1" noEditPoints="1" noChangeArrowheads="1"/>
          </p:cNvSpPr>
          <p:nvPr/>
        </p:nvSpPr>
        <p:spPr bwMode="auto">
          <a:xfrm>
            <a:off x="2692125" y="1341712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60" name="Cloud"/>
          <p:cNvSpPr>
            <a:spLocks noChangeAspect="1" noEditPoints="1" noChangeArrowheads="1"/>
          </p:cNvSpPr>
          <p:nvPr/>
        </p:nvSpPr>
        <p:spPr bwMode="auto">
          <a:xfrm>
            <a:off x="6996112" y="1449441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61" name="Cloud"/>
          <p:cNvSpPr>
            <a:spLocks noChangeAspect="1" noEditPoints="1" noChangeArrowheads="1"/>
          </p:cNvSpPr>
          <p:nvPr/>
        </p:nvSpPr>
        <p:spPr bwMode="auto">
          <a:xfrm>
            <a:off x="7178947" y="4642624"/>
            <a:ext cx="1965053" cy="1419210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-1" y="8613"/>
                  <a:pt x="-1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4" y="13940"/>
                  <a:pt x="474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299"/>
                  <a:pt x="6247" y="20299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6"/>
                  <a:pt x="11036" y="21596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6"/>
                  <a:pt x="15802" y="18946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-1"/>
                  <a:pt x="16758" y="-1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-1"/>
                  <a:pt x="13174" y="-1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49"/>
                  <a:pt x="9358" y="649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1"/>
                  <a:pt x="5288" y="1971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09"/>
                  <a:pt x="2172" y="13109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endParaRPr lang="zh-CN" altLang="en-US" sz="1800" dirty="0">
              <a:latin typeface="Arial" charset="0"/>
              <a:ea typeface="宋体" charset="-122"/>
              <a:cs typeface="宋体" charset="-122"/>
            </a:endParaRPr>
          </a:p>
        </p:txBody>
      </p:sp>
      <p:sp>
        <p:nvSpPr>
          <p:cNvPr id="63" name="Cube 62"/>
          <p:cNvSpPr/>
          <p:nvPr/>
        </p:nvSpPr>
        <p:spPr bwMode="auto">
          <a:xfrm>
            <a:off x="3653563" y="2974522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5" name="Cube 64"/>
          <p:cNvSpPr/>
          <p:nvPr/>
        </p:nvSpPr>
        <p:spPr bwMode="auto">
          <a:xfrm>
            <a:off x="7399763" y="3429000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6" name="Cube 65"/>
          <p:cNvSpPr/>
          <p:nvPr/>
        </p:nvSpPr>
        <p:spPr bwMode="auto">
          <a:xfrm>
            <a:off x="1608563" y="3606135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67" name="Cube 66"/>
          <p:cNvSpPr/>
          <p:nvPr/>
        </p:nvSpPr>
        <p:spPr bwMode="auto">
          <a:xfrm>
            <a:off x="4518750" y="4272731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3346585" y="3548021"/>
            <a:ext cx="3426814" cy="577832"/>
            <a:chOff x="3346585" y="3548021"/>
            <a:chExt cx="3426814" cy="577832"/>
          </a:xfrm>
        </p:grpSpPr>
        <p:sp>
          <p:nvSpPr>
            <p:cNvPr id="68" name="Cube 67"/>
            <p:cNvSpPr/>
            <p:nvPr/>
          </p:nvSpPr>
          <p:spPr bwMode="auto">
            <a:xfrm>
              <a:off x="3346585" y="3806054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69" name="Cube 68"/>
            <p:cNvSpPr/>
            <p:nvPr/>
          </p:nvSpPr>
          <p:spPr bwMode="auto">
            <a:xfrm>
              <a:off x="5037601" y="3548021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70" name="Cube 69"/>
            <p:cNvSpPr/>
            <p:nvPr/>
          </p:nvSpPr>
          <p:spPr bwMode="auto">
            <a:xfrm>
              <a:off x="6324273" y="3715952"/>
              <a:ext cx="449126" cy="319799"/>
            </a:xfrm>
            <a:prstGeom prst="cube">
              <a:avLst/>
            </a:prstGeom>
            <a:solidFill>
              <a:srgbClr val="3366FF"/>
            </a:solidFill>
            <a:ln w="952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</p:grpSp>
      <p:sp>
        <p:nvSpPr>
          <p:cNvPr id="41" name="Cube 40"/>
          <p:cNvSpPr/>
          <p:nvPr/>
        </p:nvSpPr>
        <p:spPr bwMode="auto">
          <a:xfrm>
            <a:off x="1209108" y="2933453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2" name="Cube 41"/>
          <p:cNvSpPr/>
          <p:nvPr/>
        </p:nvSpPr>
        <p:spPr bwMode="auto">
          <a:xfrm>
            <a:off x="3501163" y="2330406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3" name="Cube 42"/>
          <p:cNvSpPr/>
          <p:nvPr/>
        </p:nvSpPr>
        <p:spPr bwMode="auto">
          <a:xfrm>
            <a:off x="7615963" y="2516902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44" name="Cube 43"/>
          <p:cNvSpPr/>
          <p:nvPr/>
        </p:nvSpPr>
        <p:spPr bwMode="auto">
          <a:xfrm>
            <a:off x="7669801" y="4600289"/>
            <a:ext cx="617674" cy="363279"/>
          </a:xfrm>
          <a:prstGeom prst="cube">
            <a:avLst/>
          </a:prstGeom>
          <a:solidFill>
            <a:srgbClr val="D3A600"/>
          </a:solidFill>
          <a:ln w="952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0" name="Rounded Rectangle 49"/>
          <p:cNvSpPr/>
          <p:nvPr/>
        </p:nvSpPr>
        <p:spPr bwMode="auto">
          <a:xfrm>
            <a:off x="381000" y="5486400"/>
            <a:ext cx="8229600" cy="1066800"/>
          </a:xfrm>
          <a:prstGeom prst="roundRect">
            <a:avLst/>
          </a:prstGeom>
          <a:solidFill>
            <a:schemeClr val="tx1"/>
          </a:solidFill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</a:rPr>
              <a:t>A border routers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speaks BGP with other routers in the same AS using </a:t>
            </a:r>
            <a:r>
              <a:rPr lang="en-US" sz="2800" b="0" dirty="0" err="1">
                <a:solidFill>
                  <a:srgbClr val="D3A600"/>
                </a:solidFill>
              </a:rPr>
              <a:t>i</a:t>
            </a:r>
            <a:r>
              <a:rPr kumimoji="0" lang="en-US" sz="2800" b="0" i="0" u="none" strike="noStrike" cap="none" normalizeH="0" dirty="0" err="1">
                <a:ln>
                  <a:noFill/>
                </a:ln>
                <a:solidFill>
                  <a:srgbClr val="D3A600"/>
                </a:solidFill>
                <a:effectLst/>
              </a:rPr>
              <a:t>BGP</a:t>
            </a:r>
            <a:r>
              <a:rPr kumimoji="0" lang="en-US" sz="2800" b="0" i="0" u="none" strike="noStrike" cap="none" normalizeH="0" dirty="0">
                <a:ln>
                  <a:noFill/>
                </a:ln>
                <a:solidFill>
                  <a:srgbClr val="D3A600"/>
                </a:solidFill>
                <a:effectLst/>
              </a:rPr>
              <a:t> sessions</a:t>
            </a:r>
            <a:endParaRPr lang="en-US" sz="2800" b="0" dirty="0">
              <a:solidFill>
                <a:srgbClr val="D3A600"/>
              </a:solidFill>
            </a:endParaRPr>
          </a:p>
        </p:txBody>
      </p:sp>
      <p:grpSp>
        <p:nvGrpSpPr>
          <p:cNvPr id="40" name="Group 28"/>
          <p:cNvGrpSpPr>
            <a:grpSpLocks/>
          </p:cNvGrpSpPr>
          <p:nvPr/>
        </p:nvGrpSpPr>
        <p:grpSpPr bwMode="auto">
          <a:xfrm>
            <a:off x="2133600" y="3125788"/>
            <a:ext cx="5334000" cy="1141412"/>
            <a:chOff x="1296" y="1969"/>
            <a:chExt cx="3360" cy="719"/>
          </a:xfrm>
        </p:grpSpPr>
        <p:sp>
          <p:nvSpPr>
            <p:cNvPr id="46" name="Freeform 29"/>
            <p:cNvSpPr>
              <a:spLocks/>
            </p:cNvSpPr>
            <p:nvPr/>
          </p:nvSpPr>
          <p:spPr bwMode="auto">
            <a:xfrm>
              <a:off x="1296" y="2016"/>
              <a:ext cx="934" cy="240"/>
            </a:xfrm>
            <a:custGeom>
              <a:avLst/>
              <a:gdLst>
                <a:gd name="T0" fmla="*/ 909 w 960"/>
                <a:gd name="T1" fmla="*/ 0 h 240"/>
                <a:gd name="T2" fmla="*/ 364 w 960"/>
                <a:gd name="T3" fmla="*/ 48 h 240"/>
                <a:gd name="T4" fmla="*/ 0 w 960"/>
                <a:gd name="T5" fmla="*/ 240 h 240"/>
                <a:gd name="T6" fmla="*/ 0 60000 65536"/>
                <a:gd name="T7" fmla="*/ 0 60000 65536"/>
                <a:gd name="T8" fmla="*/ 0 60000 65536"/>
                <a:gd name="T9" fmla="*/ 0 w 960"/>
                <a:gd name="T10" fmla="*/ 0 h 240"/>
                <a:gd name="T11" fmla="*/ 960 w 96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0" h="240">
                  <a:moveTo>
                    <a:pt x="960" y="0"/>
                  </a:moveTo>
                  <a:cubicBezTo>
                    <a:pt x="752" y="4"/>
                    <a:pt x="544" y="8"/>
                    <a:pt x="384" y="48"/>
                  </a:cubicBezTo>
                  <a:cubicBezTo>
                    <a:pt x="224" y="88"/>
                    <a:pt x="112" y="164"/>
                    <a:pt x="0" y="24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30"/>
            <p:cNvSpPr>
              <a:spLocks/>
            </p:cNvSpPr>
            <p:nvPr/>
          </p:nvSpPr>
          <p:spPr bwMode="auto">
            <a:xfrm>
              <a:off x="2370" y="2112"/>
              <a:ext cx="109" cy="336"/>
            </a:xfrm>
            <a:custGeom>
              <a:avLst/>
              <a:gdLst>
                <a:gd name="T0" fmla="*/ 91 w 112"/>
                <a:gd name="T1" fmla="*/ 0 h 336"/>
                <a:gd name="T2" fmla="*/ 91 w 112"/>
                <a:gd name="T3" fmla="*/ 240 h 336"/>
                <a:gd name="T4" fmla="*/ 0 w 112"/>
                <a:gd name="T5" fmla="*/ 336 h 336"/>
                <a:gd name="T6" fmla="*/ 0 60000 65536"/>
                <a:gd name="T7" fmla="*/ 0 60000 65536"/>
                <a:gd name="T8" fmla="*/ 0 60000 65536"/>
                <a:gd name="T9" fmla="*/ 0 w 112"/>
                <a:gd name="T10" fmla="*/ 0 h 336"/>
                <a:gd name="T11" fmla="*/ 112 w 112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" h="336">
                  <a:moveTo>
                    <a:pt x="96" y="0"/>
                  </a:moveTo>
                  <a:cubicBezTo>
                    <a:pt x="104" y="92"/>
                    <a:pt x="112" y="184"/>
                    <a:pt x="96" y="240"/>
                  </a:cubicBezTo>
                  <a:cubicBezTo>
                    <a:pt x="80" y="296"/>
                    <a:pt x="40" y="316"/>
                    <a:pt x="0" y="33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31"/>
            <p:cNvSpPr>
              <a:spLocks/>
            </p:cNvSpPr>
            <p:nvPr/>
          </p:nvSpPr>
          <p:spPr bwMode="auto">
            <a:xfrm>
              <a:off x="2510" y="2112"/>
              <a:ext cx="467" cy="576"/>
            </a:xfrm>
            <a:custGeom>
              <a:avLst/>
              <a:gdLst>
                <a:gd name="T0" fmla="*/ 0 w 480"/>
                <a:gd name="T1" fmla="*/ 0 h 576"/>
                <a:gd name="T2" fmla="*/ 272 w 480"/>
                <a:gd name="T3" fmla="*/ 384 h 576"/>
                <a:gd name="T4" fmla="*/ 454 w 480"/>
                <a:gd name="T5" fmla="*/ 576 h 576"/>
                <a:gd name="T6" fmla="*/ 0 60000 65536"/>
                <a:gd name="T7" fmla="*/ 0 60000 65536"/>
                <a:gd name="T8" fmla="*/ 0 60000 65536"/>
                <a:gd name="T9" fmla="*/ 0 w 480"/>
                <a:gd name="T10" fmla="*/ 0 h 576"/>
                <a:gd name="T11" fmla="*/ 480 w 480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576">
                  <a:moveTo>
                    <a:pt x="0" y="0"/>
                  </a:moveTo>
                  <a:cubicBezTo>
                    <a:pt x="104" y="144"/>
                    <a:pt x="208" y="288"/>
                    <a:pt x="288" y="384"/>
                  </a:cubicBezTo>
                  <a:cubicBezTo>
                    <a:pt x="368" y="480"/>
                    <a:pt x="424" y="528"/>
                    <a:pt x="480" y="57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2"/>
            <p:cNvSpPr>
              <a:spLocks/>
            </p:cNvSpPr>
            <p:nvPr/>
          </p:nvSpPr>
          <p:spPr bwMode="auto">
            <a:xfrm>
              <a:off x="2556" y="2112"/>
              <a:ext cx="561" cy="192"/>
            </a:xfrm>
            <a:custGeom>
              <a:avLst/>
              <a:gdLst>
                <a:gd name="T0" fmla="*/ 0 w 576"/>
                <a:gd name="T1" fmla="*/ 0 h 192"/>
                <a:gd name="T2" fmla="*/ 318 w 576"/>
                <a:gd name="T3" fmla="*/ 144 h 192"/>
                <a:gd name="T4" fmla="*/ 546 w 576"/>
                <a:gd name="T5" fmla="*/ 192 h 192"/>
                <a:gd name="T6" fmla="*/ 0 60000 65536"/>
                <a:gd name="T7" fmla="*/ 0 60000 65536"/>
                <a:gd name="T8" fmla="*/ 0 60000 65536"/>
                <a:gd name="T9" fmla="*/ 0 w 576"/>
                <a:gd name="T10" fmla="*/ 0 h 192"/>
                <a:gd name="T11" fmla="*/ 576 w 576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192">
                  <a:moveTo>
                    <a:pt x="0" y="0"/>
                  </a:moveTo>
                  <a:cubicBezTo>
                    <a:pt x="120" y="56"/>
                    <a:pt x="240" y="112"/>
                    <a:pt x="336" y="144"/>
                  </a:cubicBezTo>
                  <a:cubicBezTo>
                    <a:pt x="432" y="176"/>
                    <a:pt x="504" y="184"/>
                    <a:pt x="576" y="192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3"/>
            <p:cNvSpPr>
              <a:spLocks/>
            </p:cNvSpPr>
            <p:nvPr/>
          </p:nvSpPr>
          <p:spPr bwMode="auto">
            <a:xfrm>
              <a:off x="2603" y="2064"/>
              <a:ext cx="1401" cy="288"/>
            </a:xfrm>
            <a:custGeom>
              <a:avLst/>
              <a:gdLst>
                <a:gd name="T0" fmla="*/ 0 w 1440"/>
                <a:gd name="T1" fmla="*/ 0 h 288"/>
                <a:gd name="T2" fmla="*/ 909 w 1440"/>
                <a:gd name="T3" fmla="*/ 96 h 288"/>
                <a:gd name="T4" fmla="*/ 1363 w 1440"/>
                <a:gd name="T5" fmla="*/ 288 h 288"/>
                <a:gd name="T6" fmla="*/ 0 60000 65536"/>
                <a:gd name="T7" fmla="*/ 0 60000 65536"/>
                <a:gd name="T8" fmla="*/ 0 60000 65536"/>
                <a:gd name="T9" fmla="*/ 0 w 1440"/>
                <a:gd name="T10" fmla="*/ 0 h 288"/>
                <a:gd name="T11" fmla="*/ 1440 w 1440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288">
                  <a:moveTo>
                    <a:pt x="0" y="0"/>
                  </a:moveTo>
                  <a:cubicBezTo>
                    <a:pt x="360" y="24"/>
                    <a:pt x="720" y="48"/>
                    <a:pt x="960" y="96"/>
                  </a:cubicBezTo>
                  <a:cubicBezTo>
                    <a:pt x="1200" y="144"/>
                    <a:pt x="1320" y="216"/>
                    <a:pt x="1440" y="288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4"/>
            <p:cNvSpPr>
              <a:spLocks/>
            </p:cNvSpPr>
            <p:nvPr/>
          </p:nvSpPr>
          <p:spPr bwMode="auto">
            <a:xfrm rot="-161027">
              <a:off x="2650" y="1969"/>
              <a:ext cx="2006" cy="384"/>
            </a:xfrm>
            <a:custGeom>
              <a:avLst/>
              <a:gdLst>
                <a:gd name="T0" fmla="*/ 0 w 2112"/>
                <a:gd name="T1" fmla="*/ 0 h 384"/>
                <a:gd name="T2" fmla="*/ 1342 w 2112"/>
                <a:gd name="T3" fmla="*/ 192 h 384"/>
                <a:gd name="T4" fmla="*/ 1905 w 2112"/>
                <a:gd name="T5" fmla="*/ 384 h 384"/>
                <a:gd name="T6" fmla="*/ 0 60000 65536"/>
                <a:gd name="T7" fmla="*/ 0 60000 65536"/>
                <a:gd name="T8" fmla="*/ 0 60000 65536"/>
                <a:gd name="T9" fmla="*/ 0 w 2112"/>
                <a:gd name="T10" fmla="*/ 0 h 384"/>
                <a:gd name="T11" fmla="*/ 2112 w 211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2" h="384">
                  <a:moveTo>
                    <a:pt x="0" y="0"/>
                  </a:moveTo>
                  <a:cubicBezTo>
                    <a:pt x="568" y="64"/>
                    <a:pt x="1136" y="128"/>
                    <a:pt x="1488" y="192"/>
                  </a:cubicBezTo>
                  <a:cubicBezTo>
                    <a:pt x="1840" y="256"/>
                    <a:pt x="1976" y="320"/>
                    <a:pt x="2112" y="384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655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eBGP</a:t>
            </a:r>
            <a:r>
              <a:rPr lang="en-US" dirty="0"/>
              <a:t>, </a:t>
            </a:r>
            <a:r>
              <a:rPr lang="en-US" dirty="0" err="1"/>
              <a:t>iBGP</a:t>
            </a:r>
            <a:r>
              <a:rPr lang="en-US" dirty="0"/>
              <a:t>, and IGP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FF"/>
                </a:solidFill>
              </a:rPr>
              <a:t>eBGP</a:t>
            </a:r>
            <a:r>
              <a:rPr lang="en-US" dirty="0"/>
              <a:t>: BGP sessions between border routers in different ASes</a:t>
            </a:r>
          </a:p>
          <a:p>
            <a:pPr lvl="1"/>
            <a:r>
              <a:rPr lang="en-US" dirty="0"/>
              <a:t>Learn routes to external destinations</a:t>
            </a:r>
          </a:p>
          <a:p>
            <a:r>
              <a:rPr lang="en-US" dirty="0" err="1">
                <a:solidFill>
                  <a:srgbClr val="0000FF"/>
                </a:solidFill>
              </a:rPr>
              <a:t>iBGP</a:t>
            </a:r>
            <a:r>
              <a:rPr lang="en-US" dirty="0"/>
              <a:t>: BGP sessions between border routers and other routers within the same AS</a:t>
            </a:r>
          </a:p>
          <a:p>
            <a:pPr lvl="1"/>
            <a:r>
              <a:rPr lang="en-US" dirty="0"/>
              <a:t>Distribute externally learned routes internally</a:t>
            </a:r>
          </a:p>
          <a:p>
            <a:r>
              <a:rPr lang="en-US" dirty="0">
                <a:solidFill>
                  <a:srgbClr val="0000FF"/>
                </a:solidFill>
              </a:rPr>
              <a:t>IGP</a:t>
            </a:r>
            <a:r>
              <a:rPr lang="en-US" dirty="0"/>
              <a:t>: “Interior Gateway Protocol” = Intra-domain routing protocol</a:t>
            </a:r>
          </a:p>
          <a:p>
            <a:pPr lvl="1"/>
            <a:r>
              <a:rPr lang="en-US" dirty="0"/>
              <a:t>Provide internal reachability </a:t>
            </a:r>
          </a:p>
          <a:p>
            <a:pPr lvl="1"/>
            <a:r>
              <a:rPr lang="en-US" dirty="0"/>
              <a:t>E.g., OSPF, RIP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eBGP</a:t>
            </a:r>
            <a:r>
              <a:rPr lang="en-US" dirty="0"/>
              <a:t>, </a:t>
            </a:r>
            <a:r>
              <a:rPr lang="en-US" dirty="0" err="1"/>
              <a:t>iBGP</a:t>
            </a:r>
            <a:r>
              <a:rPr lang="en-US" dirty="0"/>
              <a:t>, and IGP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routes to external destination</a:t>
            </a:r>
            <a:r>
              <a:rPr lang="en-US" altLang="zh-CN" dirty="0"/>
              <a:t>s</a:t>
            </a:r>
            <a:r>
              <a:rPr lang="en-US" dirty="0"/>
              <a:t> using eBGP</a:t>
            </a:r>
          </a:p>
          <a:p>
            <a:r>
              <a:rPr lang="en-US" dirty="0"/>
              <a:t>Distribute externally learned routes internally using </a:t>
            </a:r>
            <a:r>
              <a:rPr lang="en-US" dirty="0" err="1"/>
              <a:t>iBGP</a:t>
            </a:r>
            <a:endParaRPr lang="en-US" dirty="0"/>
          </a:p>
          <a:p>
            <a:r>
              <a:rPr lang="en-US" dirty="0"/>
              <a:t>Travel shortest path to egress using IGP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187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messages in BGP</a:t>
            </a:r>
          </a:p>
        </p:txBody>
      </p:sp>
      <p:sp>
        <p:nvSpPr>
          <p:cNvPr id="1055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Open </a:t>
            </a:r>
          </a:p>
          <a:p>
            <a:pPr lvl="1"/>
            <a:r>
              <a:rPr lang="en-US" dirty="0"/>
              <a:t>Establishes BGP session (BGP uses TCP)</a:t>
            </a:r>
          </a:p>
          <a:p>
            <a:r>
              <a:rPr lang="en-US" dirty="0">
                <a:solidFill>
                  <a:srgbClr val="0000FF"/>
                </a:solidFill>
              </a:rPr>
              <a:t>Notification</a:t>
            </a:r>
          </a:p>
          <a:p>
            <a:pPr lvl="1"/>
            <a:r>
              <a:rPr lang="en-US" dirty="0"/>
              <a:t>Report unusual conditions</a:t>
            </a:r>
          </a:p>
          <a:p>
            <a:r>
              <a:rPr lang="en-US" dirty="0">
                <a:solidFill>
                  <a:srgbClr val="0000FF"/>
                </a:solidFill>
              </a:rPr>
              <a:t>Update</a:t>
            </a:r>
          </a:p>
          <a:p>
            <a:pPr lvl="1"/>
            <a:r>
              <a:rPr lang="en-US" dirty="0"/>
              <a:t>Inform neighbor of new routes</a:t>
            </a:r>
          </a:p>
          <a:p>
            <a:pPr lvl="1"/>
            <a:r>
              <a:rPr lang="en-US" dirty="0"/>
              <a:t>Inform neighbor of old routes that become inactive</a:t>
            </a:r>
          </a:p>
          <a:p>
            <a:r>
              <a:rPr lang="en-US" dirty="0">
                <a:solidFill>
                  <a:srgbClr val="0000FF"/>
                </a:solidFill>
              </a:rPr>
              <a:t>Keep-alive </a:t>
            </a:r>
          </a:p>
          <a:p>
            <a:pPr lvl="1"/>
            <a:r>
              <a:rPr lang="en-US" dirty="0"/>
              <a:t>Inform neighbor that connection is still viable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5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747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 updates</a:t>
            </a:r>
          </a:p>
        </p:txBody>
      </p:sp>
      <p:sp>
        <p:nvSpPr>
          <p:cNvPr id="105370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Format </a:t>
            </a:r>
            <a:r>
              <a:rPr lang="en-US" dirty="0">
                <a:solidFill>
                  <a:srgbClr val="0000FF"/>
                </a:solidFill>
              </a:rPr>
              <a:t>&lt;IP prefix: route attributes&gt;</a:t>
            </a:r>
          </a:p>
          <a:p>
            <a:pPr lvl="1"/>
            <a:r>
              <a:rPr lang="en-US" dirty="0"/>
              <a:t>Attributes describe properties of the route</a:t>
            </a:r>
          </a:p>
          <a:p>
            <a:r>
              <a:rPr lang="en-US" dirty="0"/>
              <a:t>Two kinds of updates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Announcements</a:t>
            </a:r>
            <a:r>
              <a:rPr lang="en-US" dirty="0"/>
              <a:t>: new routes or changes to existing routes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Withdrawal</a:t>
            </a:r>
            <a:r>
              <a:rPr lang="en-US" dirty="0"/>
              <a:t>: remove routes that no longer exist</a:t>
            </a:r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1053699" name="Text Box 3"/>
          <p:cNvSpPr txBox="1">
            <a:spLocks noChangeArrowheads="1"/>
          </p:cNvSpPr>
          <p:nvPr/>
        </p:nvSpPr>
        <p:spPr bwMode="auto">
          <a:xfrm>
            <a:off x="1279525" y="58324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24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6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3701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 attributes</a:t>
            </a:r>
          </a:p>
        </p:txBody>
      </p:sp>
      <p:sp>
        <p:nvSpPr>
          <p:cNvPr id="1053701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Routes are described using attributes</a:t>
            </a:r>
          </a:p>
          <a:p>
            <a:pPr lvl="1"/>
            <a:r>
              <a:rPr lang="en-US" dirty="0"/>
              <a:t>Used in route selection/export decisions</a:t>
            </a:r>
          </a:p>
          <a:p>
            <a:r>
              <a:rPr lang="en-US" dirty="0"/>
              <a:t>Some attributes are local</a:t>
            </a:r>
          </a:p>
          <a:p>
            <a:pPr lvl="1"/>
            <a:r>
              <a:rPr lang="en-US" dirty="0"/>
              <a:t>I.e., private within an AS, not included in announcements</a:t>
            </a:r>
          </a:p>
          <a:p>
            <a:r>
              <a:rPr lang="en-US" dirty="0"/>
              <a:t>Some attributes are propagated with </a:t>
            </a:r>
            <a:r>
              <a:rPr lang="en-US" dirty="0" err="1"/>
              <a:t>eBGP</a:t>
            </a:r>
            <a:r>
              <a:rPr lang="en-US" dirty="0"/>
              <a:t> route announcements</a:t>
            </a:r>
          </a:p>
          <a:p>
            <a:r>
              <a:rPr lang="en-US" dirty="0"/>
              <a:t>There are many standardized attributes in BGP</a:t>
            </a:r>
          </a:p>
          <a:p>
            <a:pPr lvl="1"/>
            <a:r>
              <a:rPr lang="en-US" dirty="0"/>
              <a:t>We will discuss </a:t>
            </a:r>
            <a:r>
              <a:rPr lang="en-US" altLang="zh-CN" dirty="0"/>
              <a:t>just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1053699" name="Text Box 3"/>
          <p:cNvSpPr txBox="1">
            <a:spLocks noChangeArrowheads="1"/>
          </p:cNvSpPr>
          <p:nvPr/>
        </p:nvSpPr>
        <p:spPr bwMode="auto">
          <a:xfrm>
            <a:off x="1279525" y="58324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 sz="24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15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3701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Attributes: (1) ASPATH</a:t>
            </a:r>
          </a:p>
        </p:txBody>
      </p:sp>
      <p:sp>
        <p:nvSpPr>
          <p:cNvPr id="1321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Carried in route announcements</a:t>
            </a:r>
          </a:p>
          <a:p>
            <a:r>
              <a:rPr lang="en-US"/>
              <a:t>Vector that lists all the ASes a route advertisement has traversed (in reverse order)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71</a:t>
            </a:fld>
            <a:endParaRPr lang="en-US"/>
          </a:p>
        </p:txBody>
      </p:sp>
      <p:grpSp>
        <p:nvGrpSpPr>
          <p:cNvPr id="132105" name="Group 32"/>
          <p:cNvGrpSpPr>
            <a:grpSpLocks/>
          </p:cNvGrpSpPr>
          <p:nvPr/>
        </p:nvGrpSpPr>
        <p:grpSpPr bwMode="auto">
          <a:xfrm>
            <a:off x="3317875" y="3048000"/>
            <a:ext cx="2578100" cy="2349500"/>
            <a:chOff x="2116" y="820"/>
            <a:chExt cx="1624" cy="1480"/>
          </a:xfrm>
        </p:grpSpPr>
        <p:grpSp>
          <p:nvGrpSpPr>
            <p:cNvPr id="132153" name="Group 33"/>
            <p:cNvGrpSpPr>
              <a:grpSpLocks/>
            </p:cNvGrpSpPr>
            <p:nvPr/>
          </p:nvGrpSpPr>
          <p:grpSpPr bwMode="auto">
            <a:xfrm>
              <a:off x="2151" y="820"/>
              <a:ext cx="1589" cy="1480"/>
              <a:chOff x="2151" y="820"/>
              <a:chExt cx="1589" cy="1480"/>
            </a:xfrm>
          </p:grpSpPr>
          <p:sp>
            <p:nvSpPr>
              <p:cNvPr id="132166" name="Oval 34"/>
              <p:cNvSpPr>
                <a:spLocks noChangeArrowheads="1"/>
              </p:cNvSpPr>
              <p:nvPr/>
            </p:nvSpPr>
            <p:spPr bwMode="auto">
              <a:xfrm>
                <a:off x="2287" y="951"/>
                <a:ext cx="1362" cy="113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7" name="Oval 35"/>
              <p:cNvSpPr>
                <a:spLocks noChangeArrowheads="1"/>
              </p:cNvSpPr>
              <p:nvPr/>
            </p:nvSpPr>
            <p:spPr bwMode="auto">
              <a:xfrm>
                <a:off x="2333" y="951"/>
                <a:ext cx="312" cy="167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8" name="Oval 36"/>
              <p:cNvSpPr>
                <a:spLocks noChangeArrowheads="1"/>
              </p:cNvSpPr>
              <p:nvPr/>
            </p:nvSpPr>
            <p:spPr bwMode="auto">
              <a:xfrm>
                <a:off x="3155" y="908"/>
                <a:ext cx="448" cy="298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9" name="Oval 37"/>
              <p:cNvSpPr>
                <a:spLocks noChangeArrowheads="1"/>
              </p:cNvSpPr>
              <p:nvPr/>
            </p:nvSpPr>
            <p:spPr bwMode="auto">
              <a:xfrm>
                <a:off x="2744" y="820"/>
                <a:ext cx="540" cy="605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70" name="Oval 38"/>
              <p:cNvSpPr>
                <a:spLocks noChangeArrowheads="1"/>
              </p:cNvSpPr>
              <p:nvPr/>
            </p:nvSpPr>
            <p:spPr bwMode="auto">
              <a:xfrm>
                <a:off x="2151" y="1083"/>
                <a:ext cx="996" cy="342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71" name="Oval 39"/>
              <p:cNvSpPr>
                <a:spLocks noChangeArrowheads="1"/>
              </p:cNvSpPr>
              <p:nvPr/>
            </p:nvSpPr>
            <p:spPr bwMode="auto">
              <a:xfrm>
                <a:off x="2653" y="1608"/>
                <a:ext cx="539" cy="692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72" name="Oval 40"/>
              <p:cNvSpPr>
                <a:spLocks noChangeArrowheads="1"/>
              </p:cNvSpPr>
              <p:nvPr/>
            </p:nvSpPr>
            <p:spPr bwMode="auto">
              <a:xfrm>
                <a:off x="3337" y="1126"/>
                <a:ext cx="403" cy="38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73" name="Oval 41"/>
              <p:cNvSpPr>
                <a:spLocks noChangeArrowheads="1"/>
              </p:cNvSpPr>
              <p:nvPr/>
            </p:nvSpPr>
            <p:spPr bwMode="auto">
              <a:xfrm>
                <a:off x="2242" y="1301"/>
                <a:ext cx="266" cy="69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74" name="Oval 42"/>
              <p:cNvSpPr>
                <a:spLocks noChangeArrowheads="1"/>
              </p:cNvSpPr>
              <p:nvPr/>
            </p:nvSpPr>
            <p:spPr bwMode="auto">
              <a:xfrm>
                <a:off x="3383" y="1652"/>
                <a:ext cx="266" cy="254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75" name="Oval 43"/>
              <p:cNvSpPr>
                <a:spLocks noChangeArrowheads="1"/>
              </p:cNvSpPr>
              <p:nvPr/>
            </p:nvSpPr>
            <p:spPr bwMode="auto">
              <a:xfrm>
                <a:off x="2470" y="1827"/>
                <a:ext cx="266" cy="254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76" name="Oval 44"/>
              <p:cNvSpPr>
                <a:spLocks noChangeArrowheads="1"/>
              </p:cNvSpPr>
              <p:nvPr/>
            </p:nvSpPr>
            <p:spPr bwMode="auto">
              <a:xfrm>
                <a:off x="3109" y="1827"/>
                <a:ext cx="403" cy="254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2154" name="Group 45"/>
            <p:cNvGrpSpPr>
              <a:grpSpLocks/>
            </p:cNvGrpSpPr>
            <p:nvPr/>
          </p:nvGrpSpPr>
          <p:grpSpPr bwMode="auto">
            <a:xfrm>
              <a:off x="2116" y="820"/>
              <a:ext cx="1589" cy="1480"/>
              <a:chOff x="2116" y="820"/>
              <a:chExt cx="1589" cy="1480"/>
            </a:xfrm>
          </p:grpSpPr>
          <p:sp>
            <p:nvSpPr>
              <p:cNvPr id="132155" name="Oval 46"/>
              <p:cNvSpPr>
                <a:spLocks noChangeArrowheads="1"/>
              </p:cNvSpPr>
              <p:nvPr/>
            </p:nvSpPr>
            <p:spPr bwMode="auto">
              <a:xfrm>
                <a:off x="2253" y="951"/>
                <a:ext cx="1361" cy="113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56" name="Oval 47"/>
              <p:cNvSpPr>
                <a:spLocks noChangeArrowheads="1"/>
              </p:cNvSpPr>
              <p:nvPr/>
            </p:nvSpPr>
            <p:spPr bwMode="auto">
              <a:xfrm>
                <a:off x="2298" y="951"/>
                <a:ext cx="312" cy="16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57" name="Oval 48"/>
              <p:cNvSpPr>
                <a:spLocks noChangeArrowheads="1"/>
              </p:cNvSpPr>
              <p:nvPr/>
            </p:nvSpPr>
            <p:spPr bwMode="auto">
              <a:xfrm>
                <a:off x="3120" y="908"/>
                <a:ext cx="449" cy="29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58" name="Oval 49"/>
              <p:cNvSpPr>
                <a:spLocks noChangeArrowheads="1"/>
              </p:cNvSpPr>
              <p:nvPr/>
            </p:nvSpPr>
            <p:spPr bwMode="auto">
              <a:xfrm>
                <a:off x="2709" y="820"/>
                <a:ext cx="540" cy="605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59" name="Oval 50"/>
              <p:cNvSpPr>
                <a:spLocks noChangeArrowheads="1"/>
              </p:cNvSpPr>
              <p:nvPr/>
            </p:nvSpPr>
            <p:spPr bwMode="auto">
              <a:xfrm>
                <a:off x="2116" y="1083"/>
                <a:ext cx="996" cy="34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0" name="Oval 51"/>
              <p:cNvSpPr>
                <a:spLocks noChangeArrowheads="1"/>
              </p:cNvSpPr>
              <p:nvPr/>
            </p:nvSpPr>
            <p:spPr bwMode="auto">
              <a:xfrm>
                <a:off x="2618" y="1608"/>
                <a:ext cx="540" cy="692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1" name="Oval 52"/>
              <p:cNvSpPr>
                <a:spLocks noChangeArrowheads="1"/>
              </p:cNvSpPr>
              <p:nvPr/>
            </p:nvSpPr>
            <p:spPr bwMode="auto">
              <a:xfrm>
                <a:off x="3302" y="1126"/>
                <a:ext cx="403" cy="38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2" name="Oval 53"/>
              <p:cNvSpPr>
                <a:spLocks noChangeArrowheads="1"/>
              </p:cNvSpPr>
              <p:nvPr/>
            </p:nvSpPr>
            <p:spPr bwMode="auto">
              <a:xfrm>
                <a:off x="2207" y="1301"/>
                <a:ext cx="266" cy="69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3" name="Oval 54"/>
              <p:cNvSpPr>
                <a:spLocks noChangeArrowheads="1"/>
              </p:cNvSpPr>
              <p:nvPr/>
            </p:nvSpPr>
            <p:spPr bwMode="auto">
              <a:xfrm>
                <a:off x="3348" y="1652"/>
                <a:ext cx="266" cy="254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4" name="Oval 55"/>
              <p:cNvSpPr>
                <a:spLocks noChangeArrowheads="1"/>
              </p:cNvSpPr>
              <p:nvPr/>
            </p:nvSpPr>
            <p:spPr bwMode="auto">
              <a:xfrm>
                <a:off x="2436" y="1827"/>
                <a:ext cx="265" cy="254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65" name="Oval 56"/>
              <p:cNvSpPr>
                <a:spLocks noChangeArrowheads="1"/>
              </p:cNvSpPr>
              <p:nvPr/>
            </p:nvSpPr>
            <p:spPr bwMode="auto">
              <a:xfrm>
                <a:off x="3075" y="1827"/>
                <a:ext cx="402" cy="254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32106" name="Rectangle 57"/>
          <p:cNvSpPr>
            <a:spLocks noChangeArrowheads="1"/>
          </p:cNvSpPr>
          <p:nvPr/>
        </p:nvSpPr>
        <p:spPr bwMode="auto">
          <a:xfrm>
            <a:off x="3844925" y="3411193"/>
            <a:ext cx="138369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2400" dirty="0">
                <a:latin typeface="Arial" charset="0"/>
              </a:rPr>
              <a:t>AS 7018</a:t>
            </a:r>
          </a:p>
        </p:txBody>
      </p:sp>
      <p:sp>
        <p:nvSpPr>
          <p:cNvPr id="132107" name="Rectangle 58"/>
          <p:cNvSpPr>
            <a:spLocks noChangeArrowheads="1"/>
          </p:cNvSpPr>
          <p:nvPr/>
        </p:nvSpPr>
        <p:spPr bwMode="auto">
          <a:xfrm>
            <a:off x="4225925" y="3836988"/>
            <a:ext cx="857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1800">
                <a:latin typeface="Arial" charset="0"/>
              </a:rPr>
              <a:t>AT&amp;T </a:t>
            </a:r>
          </a:p>
        </p:txBody>
      </p:sp>
      <p:sp>
        <p:nvSpPr>
          <p:cNvPr id="132108" name="Line 59"/>
          <p:cNvSpPr>
            <a:spLocks noChangeShapeType="1"/>
          </p:cNvSpPr>
          <p:nvPr/>
        </p:nvSpPr>
        <p:spPr bwMode="auto">
          <a:xfrm>
            <a:off x="5673725" y="4446588"/>
            <a:ext cx="914400" cy="381000"/>
          </a:xfrm>
          <a:prstGeom prst="line">
            <a:avLst/>
          </a:prstGeom>
          <a:noFill/>
          <a:ln w="57150" cmpd="thinThick">
            <a:solidFill>
              <a:srgbClr val="FF003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2109" name="Line 60"/>
          <p:cNvSpPr>
            <a:spLocks noChangeShapeType="1"/>
          </p:cNvSpPr>
          <p:nvPr/>
        </p:nvSpPr>
        <p:spPr bwMode="auto">
          <a:xfrm flipV="1">
            <a:off x="2320925" y="4446588"/>
            <a:ext cx="1066800" cy="152400"/>
          </a:xfrm>
          <a:prstGeom prst="line">
            <a:avLst/>
          </a:prstGeom>
          <a:noFill/>
          <a:ln w="57150" cmpd="thinThick">
            <a:solidFill>
              <a:srgbClr val="FF003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2110" name="Group 61"/>
          <p:cNvGrpSpPr>
            <a:grpSpLocks/>
          </p:cNvGrpSpPr>
          <p:nvPr/>
        </p:nvGrpSpPr>
        <p:grpSpPr bwMode="auto">
          <a:xfrm>
            <a:off x="6516688" y="4224338"/>
            <a:ext cx="2578100" cy="1282700"/>
            <a:chOff x="4131" y="1588"/>
            <a:chExt cx="1624" cy="808"/>
          </a:xfrm>
        </p:grpSpPr>
        <p:grpSp>
          <p:nvGrpSpPr>
            <p:cNvPr id="132129" name="Group 62"/>
            <p:cNvGrpSpPr>
              <a:grpSpLocks/>
            </p:cNvGrpSpPr>
            <p:nvPr/>
          </p:nvGrpSpPr>
          <p:grpSpPr bwMode="auto">
            <a:xfrm>
              <a:off x="4166" y="1588"/>
              <a:ext cx="1589" cy="808"/>
              <a:chOff x="4166" y="1588"/>
              <a:chExt cx="1589" cy="808"/>
            </a:xfrm>
          </p:grpSpPr>
          <p:sp>
            <p:nvSpPr>
              <p:cNvPr id="132142" name="Oval 63"/>
              <p:cNvSpPr>
                <a:spLocks noChangeArrowheads="1"/>
              </p:cNvSpPr>
              <p:nvPr/>
            </p:nvSpPr>
            <p:spPr bwMode="auto">
              <a:xfrm>
                <a:off x="4302" y="1660"/>
                <a:ext cx="1362" cy="61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3" name="Oval 64"/>
              <p:cNvSpPr>
                <a:spLocks noChangeArrowheads="1"/>
              </p:cNvSpPr>
              <p:nvPr/>
            </p:nvSpPr>
            <p:spPr bwMode="auto">
              <a:xfrm>
                <a:off x="4348" y="1660"/>
                <a:ext cx="312" cy="88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4" name="Oval 65"/>
              <p:cNvSpPr>
                <a:spLocks noChangeArrowheads="1"/>
              </p:cNvSpPr>
              <p:nvPr/>
            </p:nvSpPr>
            <p:spPr bwMode="auto">
              <a:xfrm>
                <a:off x="5170" y="1636"/>
                <a:ext cx="448" cy="16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5" name="Oval 66"/>
              <p:cNvSpPr>
                <a:spLocks noChangeArrowheads="1"/>
              </p:cNvSpPr>
              <p:nvPr/>
            </p:nvSpPr>
            <p:spPr bwMode="auto">
              <a:xfrm>
                <a:off x="4759" y="1588"/>
                <a:ext cx="540" cy="328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6" name="Oval 67"/>
              <p:cNvSpPr>
                <a:spLocks noChangeArrowheads="1"/>
              </p:cNvSpPr>
              <p:nvPr/>
            </p:nvSpPr>
            <p:spPr bwMode="auto">
              <a:xfrm>
                <a:off x="4166" y="1732"/>
                <a:ext cx="996" cy="184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7" name="Oval 68"/>
              <p:cNvSpPr>
                <a:spLocks noChangeArrowheads="1"/>
              </p:cNvSpPr>
              <p:nvPr/>
            </p:nvSpPr>
            <p:spPr bwMode="auto">
              <a:xfrm>
                <a:off x="4668" y="2020"/>
                <a:ext cx="539" cy="37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8" name="Oval 69"/>
              <p:cNvSpPr>
                <a:spLocks noChangeArrowheads="1"/>
              </p:cNvSpPr>
              <p:nvPr/>
            </p:nvSpPr>
            <p:spPr bwMode="auto">
              <a:xfrm>
                <a:off x="5352" y="1756"/>
                <a:ext cx="403" cy="208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9" name="Oval 70"/>
              <p:cNvSpPr>
                <a:spLocks noChangeArrowheads="1"/>
              </p:cNvSpPr>
              <p:nvPr/>
            </p:nvSpPr>
            <p:spPr bwMode="auto">
              <a:xfrm>
                <a:off x="4257" y="1852"/>
                <a:ext cx="266" cy="37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50" name="Oval 71"/>
              <p:cNvSpPr>
                <a:spLocks noChangeArrowheads="1"/>
              </p:cNvSpPr>
              <p:nvPr/>
            </p:nvSpPr>
            <p:spPr bwMode="auto">
              <a:xfrm>
                <a:off x="5398" y="2044"/>
                <a:ext cx="266" cy="13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51" name="Oval 72"/>
              <p:cNvSpPr>
                <a:spLocks noChangeArrowheads="1"/>
              </p:cNvSpPr>
              <p:nvPr/>
            </p:nvSpPr>
            <p:spPr bwMode="auto">
              <a:xfrm>
                <a:off x="4485" y="2140"/>
                <a:ext cx="266" cy="13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52" name="Oval 73"/>
              <p:cNvSpPr>
                <a:spLocks noChangeArrowheads="1"/>
              </p:cNvSpPr>
              <p:nvPr/>
            </p:nvSpPr>
            <p:spPr bwMode="auto">
              <a:xfrm>
                <a:off x="5124" y="2140"/>
                <a:ext cx="403" cy="13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2130" name="Group 74"/>
            <p:cNvGrpSpPr>
              <a:grpSpLocks/>
            </p:cNvGrpSpPr>
            <p:nvPr/>
          </p:nvGrpSpPr>
          <p:grpSpPr bwMode="auto">
            <a:xfrm>
              <a:off x="4131" y="1588"/>
              <a:ext cx="1589" cy="808"/>
              <a:chOff x="4131" y="1588"/>
              <a:chExt cx="1589" cy="808"/>
            </a:xfrm>
          </p:grpSpPr>
          <p:sp>
            <p:nvSpPr>
              <p:cNvPr id="132131" name="Oval 75"/>
              <p:cNvSpPr>
                <a:spLocks noChangeArrowheads="1"/>
              </p:cNvSpPr>
              <p:nvPr/>
            </p:nvSpPr>
            <p:spPr bwMode="auto">
              <a:xfrm>
                <a:off x="4268" y="1660"/>
                <a:ext cx="1361" cy="61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32" name="Oval 76"/>
              <p:cNvSpPr>
                <a:spLocks noChangeArrowheads="1"/>
              </p:cNvSpPr>
              <p:nvPr/>
            </p:nvSpPr>
            <p:spPr bwMode="auto">
              <a:xfrm>
                <a:off x="4313" y="1660"/>
                <a:ext cx="312" cy="8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33" name="Oval 77"/>
              <p:cNvSpPr>
                <a:spLocks noChangeArrowheads="1"/>
              </p:cNvSpPr>
              <p:nvPr/>
            </p:nvSpPr>
            <p:spPr bwMode="auto">
              <a:xfrm>
                <a:off x="5135" y="1636"/>
                <a:ext cx="449" cy="160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34" name="Oval 78"/>
              <p:cNvSpPr>
                <a:spLocks noChangeArrowheads="1"/>
              </p:cNvSpPr>
              <p:nvPr/>
            </p:nvSpPr>
            <p:spPr bwMode="auto">
              <a:xfrm>
                <a:off x="4724" y="1588"/>
                <a:ext cx="540" cy="32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35" name="Oval 79"/>
              <p:cNvSpPr>
                <a:spLocks noChangeArrowheads="1"/>
              </p:cNvSpPr>
              <p:nvPr/>
            </p:nvSpPr>
            <p:spPr bwMode="auto">
              <a:xfrm>
                <a:off x="4131" y="1732"/>
                <a:ext cx="996" cy="184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36" name="Oval 80"/>
              <p:cNvSpPr>
                <a:spLocks noChangeArrowheads="1"/>
              </p:cNvSpPr>
              <p:nvPr/>
            </p:nvSpPr>
            <p:spPr bwMode="auto">
              <a:xfrm>
                <a:off x="4633" y="2020"/>
                <a:ext cx="540" cy="37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37" name="Oval 81"/>
              <p:cNvSpPr>
                <a:spLocks noChangeArrowheads="1"/>
              </p:cNvSpPr>
              <p:nvPr/>
            </p:nvSpPr>
            <p:spPr bwMode="auto">
              <a:xfrm>
                <a:off x="5317" y="1756"/>
                <a:ext cx="403" cy="208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38" name="Oval 82"/>
              <p:cNvSpPr>
                <a:spLocks noChangeArrowheads="1"/>
              </p:cNvSpPr>
              <p:nvPr/>
            </p:nvSpPr>
            <p:spPr bwMode="auto">
              <a:xfrm>
                <a:off x="4222" y="1852"/>
                <a:ext cx="266" cy="37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39" name="Oval 83"/>
              <p:cNvSpPr>
                <a:spLocks noChangeArrowheads="1"/>
              </p:cNvSpPr>
              <p:nvPr/>
            </p:nvSpPr>
            <p:spPr bwMode="auto">
              <a:xfrm>
                <a:off x="5363" y="2044"/>
                <a:ext cx="266" cy="13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0" name="Oval 84"/>
              <p:cNvSpPr>
                <a:spLocks noChangeArrowheads="1"/>
              </p:cNvSpPr>
              <p:nvPr/>
            </p:nvSpPr>
            <p:spPr bwMode="auto">
              <a:xfrm>
                <a:off x="4451" y="2140"/>
                <a:ext cx="265" cy="13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141" name="Oval 85"/>
              <p:cNvSpPr>
                <a:spLocks noChangeArrowheads="1"/>
              </p:cNvSpPr>
              <p:nvPr/>
            </p:nvSpPr>
            <p:spPr bwMode="auto">
              <a:xfrm>
                <a:off x="5090" y="2140"/>
                <a:ext cx="402" cy="136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CCCC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32111" name="Rectangle 86"/>
          <p:cNvSpPr>
            <a:spLocks noChangeArrowheads="1"/>
          </p:cNvSpPr>
          <p:nvPr/>
        </p:nvSpPr>
        <p:spPr bwMode="auto">
          <a:xfrm>
            <a:off x="7208137" y="4401793"/>
            <a:ext cx="1554863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2400" dirty="0">
                <a:latin typeface="Arial" charset="0"/>
              </a:rPr>
              <a:t>AS 12654</a:t>
            </a:r>
          </a:p>
        </p:txBody>
      </p:sp>
      <p:pic>
        <p:nvPicPr>
          <p:cNvPr id="132114" name="Picture 89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163" y="4791075"/>
            <a:ext cx="547687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15" name="Picture 90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763" y="4257675"/>
            <a:ext cx="547687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2116" name="Picture 9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4257675"/>
            <a:ext cx="547687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117" name="Line 92"/>
          <p:cNvSpPr>
            <a:spLocks noChangeShapeType="1"/>
          </p:cNvSpPr>
          <p:nvPr/>
        </p:nvSpPr>
        <p:spPr bwMode="auto">
          <a:xfrm>
            <a:off x="3921125" y="4446588"/>
            <a:ext cx="1295400" cy="0"/>
          </a:xfrm>
          <a:prstGeom prst="line">
            <a:avLst/>
          </a:prstGeom>
          <a:noFill/>
          <a:ln w="76200" cmpd="tri">
            <a:solidFill>
              <a:srgbClr val="FF0033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2120" name="Rectangle 95"/>
          <p:cNvSpPr>
            <a:spLocks noChangeArrowheads="1"/>
          </p:cNvSpPr>
          <p:nvPr/>
        </p:nvSpPr>
        <p:spPr bwMode="auto">
          <a:xfrm>
            <a:off x="5943600" y="5473700"/>
            <a:ext cx="1936628" cy="58541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l" eaLnBrk="0" hangingPunct="0"/>
            <a:r>
              <a:rPr lang="en-US" sz="1600" dirty="0">
                <a:solidFill>
                  <a:schemeClr val="bg1"/>
                </a:solidFill>
                <a:latin typeface="Arial" charset="0"/>
              </a:rPr>
              <a:t>128.112.0.0/16</a:t>
            </a:r>
          </a:p>
          <a:p>
            <a:pPr algn="l" eaLnBrk="0" hangingPunct="0"/>
            <a:r>
              <a:rPr lang="en-US" sz="1600" dirty="0">
                <a:solidFill>
                  <a:schemeClr val="bg1"/>
                </a:solidFill>
                <a:latin typeface="Arial" charset="0"/>
              </a:rPr>
              <a:t>AS path = 7018 88</a:t>
            </a:r>
          </a:p>
        </p:txBody>
      </p:sp>
      <p:sp>
        <p:nvSpPr>
          <p:cNvPr id="132124" name="Line 99"/>
          <p:cNvSpPr>
            <a:spLocks noChangeShapeType="1"/>
          </p:cNvSpPr>
          <p:nvPr/>
        </p:nvSpPr>
        <p:spPr bwMode="auto">
          <a:xfrm>
            <a:off x="6030913" y="4872038"/>
            <a:ext cx="65087" cy="601662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 type="stealth" w="med" len="lg"/>
            <a:tailEnd type="none" w="sm" len="sm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393700" y="4071938"/>
            <a:ext cx="4663165" cy="1987180"/>
            <a:chOff x="393700" y="4389438"/>
            <a:chExt cx="4663165" cy="1987180"/>
          </a:xfrm>
        </p:grpSpPr>
        <p:grpSp>
          <p:nvGrpSpPr>
            <p:cNvPr id="132101" name="Group 4"/>
            <p:cNvGrpSpPr>
              <a:grpSpLocks/>
            </p:cNvGrpSpPr>
            <p:nvPr/>
          </p:nvGrpSpPr>
          <p:grpSpPr bwMode="auto">
            <a:xfrm>
              <a:off x="393700" y="4389438"/>
              <a:ext cx="2349500" cy="1435100"/>
              <a:chOff x="100" y="1492"/>
              <a:chExt cx="1480" cy="904"/>
            </a:xfrm>
          </p:grpSpPr>
          <p:grpSp>
            <p:nvGrpSpPr>
              <p:cNvPr id="132177" name="Group 5"/>
              <p:cNvGrpSpPr>
                <a:grpSpLocks/>
              </p:cNvGrpSpPr>
              <p:nvPr/>
            </p:nvGrpSpPr>
            <p:grpSpPr bwMode="auto">
              <a:xfrm>
                <a:off x="132" y="1492"/>
                <a:ext cx="1448" cy="904"/>
                <a:chOff x="132" y="1492"/>
                <a:chExt cx="1448" cy="904"/>
              </a:xfrm>
            </p:grpSpPr>
            <p:sp>
              <p:nvSpPr>
                <p:cNvPr id="132190" name="Oval 6"/>
                <p:cNvSpPr>
                  <a:spLocks noChangeArrowheads="1"/>
                </p:cNvSpPr>
                <p:nvPr/>
              </p:nvSpPr>
              <p:spPr bwMode="auto">
                <a:xfrm>
                  <a:off x="256" y="1573"/>
                  <a:ext cx="1241" cy="689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1" name="Oval 7"/>
                <p:cNvSpPr>
                  <a:spLocks noChangeArrowheads="1"/>
                </p:cNvSpPr>
                <p:nvPr/>
              </p:nvSpPr>
              <p:spPr bwMode="auto">
                <a:xfrm>
                  <a:off x="298" y="1573"/>
                  <a:ext cx="283" cy="99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2" name="Oval 8"/>
                <p:cNvSpPr>
                  <a:spLocks noChangeArrowheads="1"/>
                </p:cNvSpPr>
                <p:nvPr/>
              </p:nvSpPr>
              <p:spPr bwMode="auto">
                <a:xfrm>
                  <a:off x="1047" y="1545"/>
                  <a:ext cx="408" cy="180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3" name="Oval 9"/>
                <p:cNvSpPr>
                  <a:spLocks noChangeArrowheads="1"/>
                </p:cNvSpPr>
                <p:nvPr/>
              </p:nvSpPr>
              <p:spPr bwMode="auto">
                <a:xfrm>
                  <a:off x="672" y="1492"/>
                  <a:ext cx="492" cy="36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4" name="Oval 10"/>
                <p:cNvSpPr>
                  <a:spLocks noChangeArrowheads="1"/>
                </p:cNvSpPr>
                <p:nvPr/>
              </p:nvSpPr>
              <p:spPr bwMode="auto">
                <a:xfrm>
                  <a:off x="132" y="1652"/>
                  <a:ext cx="907" cy="20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5" name="Oval 11"/>
                <p:cNvSpPr>
                  <a:spLocks noChangeArrowheads="1"/>
                </p:cNvSpPr>
                <p:nvPr/>
              </p:nvSpPr>
              <p:spPr bwMode="auto">
                <a:xfrm>
                  <a:off x="589" y="1975"/>
                  <a:ext cx="492" cy="421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6" name="Oval 12"/>
                <p:cNvSpPr>
                  <a:spLocks noChangeArrowheads="1"/>
                </p:cNvSpPr>
                <p:nvPr/>
              </p:nvSpPr>
              <p:spPr bwMode="auto">
                <a:xfrm>
                  <a:off x="1214" y="1680"/>
                  <a:ext cx="366" cy="23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7" name="Oval 13"/>
                <p:cNvSpPr>
                  <a:spLocks noChangeArrowheads="1"/>
                </p:cNvSpPr>
                <p:nvPr/>
              </p:nvSpPr>
              <p:spPr bwMode="auto">
                <a:xfrm>
                  <a:off x="215" y="1788"/>
                  <a:ext cx="241" cy="420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8" name="Oval 14"/>
                <p:cNvSpPr>
                  <a:spLocks noChangeArrowheads="1"/>
                </p:cNvSpPr>
                <p:nvPr/>
              </p:nvSpPr>
              <p:spPr bwMode="auto">
                <a:xfrm>
                  <a:off x="1255" y="2001"/>
                  <a:ext cx="242" cy="15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99" name="Oval 15"/>
                <p:cNvSpPr>
                  <a:spLocks noChangeArrowheads="1"/>
                </p:cNvSpPr>
                <p:nvPr/>
              </p:nvSpPr>
              <p:spPr bwMode="auto">
                <a:xfrm>
                  <a:off x="423" y="2108"/>
                  <a:ext cx="241" cy="15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200" name="Oval 16"/>
                <p:cNvSpPr>
                  <a:spLocks noChangeArrowheads="1"/>
                </p:cNvSpPr>
                <p:nvPr/>
              </p:nvSpPr>
              <p:spPr bwMode="auto">
                <a:xfrm>
                  <a:off x="1006" y="2108"/>
                  <a:ext cx="366" cy="15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2178" name="Group 17"/>
              <p:cNvGrpSpPr>
                <a:grpSpLocks/>
              </p:cNvGrpSpPr>
              <p:nvPr/>
            </p:nvGrpSpPr>
            <p:grpSpPr bwMode="auto">
              <a:xfrm>
                <a:off x="100" y="1492"/>
                <a:ext cx="1448" cy="904"/>
                <a:chOff x="100" y="1492"/>
                <a:chExt cx="1448" cy="904"/>
              </a:xfrm>
            </p:grpSpPr>
            <p:sp>
              <p:nvSpPr>
                <p:cNvPr id="132179" name="Oval 18"/>
                <p:cNvSpPr>
                  <a:spLocks noChangeArrowheads="1"/>
                </p:cNvSpPr>
                <p:nvPr/>
              </p:nvSpPr>
              <p:spPr bwMode="auto">
                <a:xfrm>
                  <a:off x="225" y="1573"/>
                  <a:ext cx="1240" cy="689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0" name="Oval 19"/>
                <p:cNvSpPr>
                  <a:spLocks noChangeArrowheads="1"/>
                </p:cNvSpPr>
                <p:nvPr/>
              </p:nvSpPr>
              <p:spPr bwMode="auto">
                <a:xfrm>
                  <a:off x="266" y="1573"/>
                  <a:ext cx="283" cy="99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1" name="Oval 20"/>
                <p:cNvSpPr>
                  <a:spLocks noChangeArrowheads="1"/>
                </p:cNvSpPr>
                <p:nvPr/>
              </p:nvSpPr>
              <p:spPr bwMode="auto">
                <a:xfrm>
                  <a:off x="1016" y="1545"/>
                  <a:ext cx="408" cy="18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2" name="Oval 21"/>
                <p:cNvSpPr>
                  <a:spLocks noChangeArrowheads="1"/>
                </p:cNvSpPr>
                <p:nvPr/>
              </p:nvSpPr>
              <p:spPr bwMode="auto">
                <a:xfrm>
                  <a:off x="641" y="1492"/>
                  <a:ext cx="491" cy="367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3" name="Oval 22"/>
                <p:cNvSpPr>
                  <a:spLocks noChangeArrowheads="1"/>
                </p:cNvSpPr>
                <p:nvPr/>
              </p:nvSpPr>
              <p:spPr bwMode="auto">
                <a:xfrm>
                  <a:off x="100" y="1652"/>
                  <a:ext cx="908" cy="207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4" name="Oval 23"/>
                <p:cNvSpPr>
                  <a:spLocks noChangeArrowheads="1"/>
                </p:cNvSpPr>
                <p:nvPr/>
              </p:nvSpPr>
              <p:spPr bwMode="auto">
                <a:xfrm>
                  <a:off x="557" y="1975"/>
                  <a:ext cx="492" cy="421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5" name="Oval 24"/>
                <p:cNvSpPr>
                  <a:spLocks noChangeArrowheads="1"/>
                </p:cNvSpPr>
                <p:nvPr/>
              </p:nvSpPr>
              <p:spPr bwMode="auto">
                <a:xfrm>
                  <a:off x="1182" y="1680"/>
                  <a:ext cx="366" cy="233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6" name="Oval 25"/>
                <p:cNvSpPr>
                  <a:spLocks noChangeArrowheads="1"/>
                </p:cNvSpPr>
                <p:nvPr/>
              </p:nvSpPr>
              <p:spPr bwMode="auto">
                <a:xfrm>
                  <a:off x="183" y="1788"/>
                  <a:ext cx="242" cy="420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7" name="Oval 26"/>
                <p:cNvSpPr>
                  <a:spLocks noChangeArrowheads="1"/>
                </p:cNvSpPr>
                <p:nvPr/>
              </p:nvSpPr>
              <p:spPr bwMode="auto">
                <a:xfrm>
                  <a:off x="1224" y="2001"/>
                  <a:ext cx="241" cy="154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8" name="Oval 27"/>
                <p:cNvSpPr>
                  <a:spLocks noChangeArrowheads="1"/>
                </p:cNvSpPr>
                <p:nvPr/>
              </p:nvSpPr>
              <p:spPr bwMode="auto">
                <a:xfrm>
                  <a:off x="391" y="2108"/>
                  <a:ext cx="242" cy="154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2189" name="Oval 28"/>
                <p:cNvSpPr>
                  <a:spLocks noChangeArrowheads="1"/>
                </p:cNvSpPr>
                <p:nvPr/>
              </p:nvSpPr>
              <p:spPr bwMode="auto">
                <a:xfrm>
                  <a:off x="974" y="2108"/>
                  <a:ext cx="367" cy="154"/>
                </a:xfrm>
                <a:prstGeom prst="ellipse">
                  <a:avLst/>
                </a:prstGeom>
                <a:solidFill>
                  <a:srgbClr val="CCCCFF"/>
                </a:solidFill>
                <a:ln w="12700">
                  <a:solidFill>
                    <a:srgbClr val="CCCCFF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32102" name="Rectangle 29"/>
            <p:cNvSpPr>
              <a:spLocks noChangeArrowheads="1"/>
            </p:cNvSpPr>
            <p:nvPr/>
          </p:nvSpPr>
          <p:spPr bwMode="auto">
            <a:xfrm>
              <a:off x="1016049" y="4643093"/>
              <a:ext cx="1037193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2400" dirty="0">
                  <a:latin typeface="Arial" charset="0"/>
                </a:rPr>
                <a:t>AS 88</a:t>
              </a:r>
            </a:p>
          </p:txBody>
        </p:sp>
        <p:sp>
          <p:nvSpPr>
            <p:cNvPr id="132103" name="Rectangle 30"/>
            <p:cNvSpPr>
              <a:spLocks noChangeArrowheads="1"/>
            </p:cNvSpPr>
            <p:nvPr/>
          </p:nvSpPr>
          <p:spPr bwMode="auto">
            <a:xfrm>
              <a:off x="1085318" y="5114938"/>
              <a:ext cx="1124482" cy="5238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400" dirty="0">
                  <a:latin typeface="Arial" charset="0"/>
                </a:rPr>
                <a:t>Princeton,</a:t>
              </a:r>
              <a:br>
                <a:rPr lang="en-US" sz="1400" dirty="0">
                  <a:latin typeface="Arial" charset="0"/>
                </a:rPr>
              </a:br>
              <a:r>
                <a:rPr lang="en-US" sz="1400" dirty="0">
                  <a:latin typeface="Arial" charset="0"/>
                </a:rPr>
                <a:t> 128.112/16</a:t>
              </a:r>
            </a:p>
          </p:txBody>
        </p:sp>
        <p:sp>
          <p:nvSpPr>
            <p:cNvPr id="132104" name="Rectangle 31"/>
            <p:cNvSpPr>
              <a:spLocks noChangeArrowheads="1"/>
            </p:cNvSpPr>
            <p:nvPr/>
          </p:nvSpPr>
          <p:spPr bwMode="auto">
            <a:xfrm>
              <a:off x="2473325" y="5791200"/>
              <a:ext cx="2583540" cy="58541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600" dirty="0">
                  <a:solidFill>
                    <a:schemeClr val="bg1"/>
                  </a:solidFill>
                  <a:latin typeface="Arial" charset="0"/>
                </a:rPr>
                <a:t>IP prefix = 128.112.0.0/16</a:t>
              </a:r>
            </a:p>
            <a:p>
              <a:pPr algn="l" eaLnBrk="0" hangingPunct="0"/>
              <a:r>
                <a:rPr lang="en-US" sz="1600" dirty="0">
                  <a:solidFill>
                    <a:schemeClr val="bg1"/>
                  </a:solidFill>
                  <a:latin typeface="Arial" charset="0"/>
                </a:rPr>
                <a:t>AS path = 88</a:t>
              </a:r>
            </a:p>
          </p:txBody>
        </p:sp>
        <p:pic>
          <p:nvPicPr>
            <p:cNvPr id="132113" name="Picture 88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95513" y="4724400"/>
              <a:ext cx="547687" cy="341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2123" name="Line 98"/>
            <p:cNvSpPr>
              <a:spLocks noChangeShapeType="1"/>
            </p:cNvSpPr>
            <p:nvPr/>
          </p:nvSpPr>
          <p:spPr bwMode="auto">
            <a:xfrm flipH="1">
              <a:off x="2895600" y="5181600"/>
              <a:ext cx="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2126" name="AutoShape 101"/>
            <p:cNvSpPr>
              <a:spLocks noChangeArrowheads="1"/>
            </p:cNvSpPr>
            <p:nvPr/>
          </p:nvSpPr>
          <p:spPr bwMode="auto">
            <a:xfrm rot="-424274">
              <a:off x="2701925" y="4916488"/>
              <a:ext cx="533400" cy="228600"/>
            </a:xfrm>
            <a:prstGeom prst="rightArrow">
              <a:avLst>
                <a:gd name="adj1" fmla="val 50000"/>
                <a:gd name="adj2" fmla="val 58333"/>
              </a:avLst>
            </a:prstGeom>
            <a:noFill/>
            <a:ln w="57150">
              <a:solidFill>
                <a:srgbClr val="D3A6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2127" name="AutoShape 102"/>
          <p:cNvSpPr>
            <a:spLocks noChangeArrowheads="1"/>
          </p:cNvSpPr>
          <p:nvPr/>
        </p:nvSpPr>
        <p:spPr bwMode="auto">
          <a:xfrm>
            <a:off x="4225925" y="4522788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noFill/>
          <a:ln w="57150">
            <a:solidFill>
              <a:srgbClr val="D3A6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2128" name="AutoShape 103"/>
          <p:cNvSpPr>
            <a:spLocks noChangeArrowheads="1"/>
          </p:cNvSpPr>
          <p:nvPr/>
        </p:nvSpPr>
        <p:spPr bwMode="auto">
          <a:xfrm rot="1635718">
            <a:off x="5902325" y="4751388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noFill/>
          <a:ln w="57150">
            <a:solidFill>
              <a:srgbClr val="D3A6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sz="2400" b="0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1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6" grpId="0"/>
      <p:bldP spid="132107" grpId="0"/>
      <p:bldP spid="132108" grpId="0" animBg="1"/>
      <p:bldP spid="132109" grpId="0" animBg="1"/>
      <p:bldP spid="132111" grpId="0"/>
      <p:bldP spid="132117" grpId="0" animBg="1"/>
      <p:bldP spid="132120" grpId="0" animBg="1"/>
      <p:bldP spid="132124" grpId="0" animBg="1"/>
      <p:bldP spid="132127" grpId="0" animBg="1"/>
      <p:bldP spid="13212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Attributes: (2) LOCAL PREF</a:t>
            </a:r>
          </a:p>
        </p:txBody>
      </p:sp>
      <p:sp>
        <p:nvSpPr>
          <p:cNvPr id="13619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preference in choosing between different AS paths</a:t>
            </a:r>
          </a:p>
          <a:p>
            <a:pPr lvl="1"/>
            <a:r>
              <a:rPr lang="en-US" dirty="0"/>
              <a:t>Local to an AS; carried only in </a:t>
            </a:r>
            <a:r>
              <a:rPr lang="en-US" dirty="0" err="1"/>
              <a:t>iBGP</a:t>
            </a:r>
            <a:r>
              <a:rPr lang="en-US" dirty="0"/>
              <a:t> messages</a:t>
            </a:r>
          </a:p>
          <a:p>
            <a:r>
              <a:rPr lang="en-US" dirty="0">
                <a:solidFill>
                  <a:srgbClr val="0000FF"/>
                </a:solidFill>
              </a:rPr>
              <a:t>The higher the value the more preferred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72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838200" y="3581400"/>
            <a:ext cx="2971800" cy="2438400"/>
            <a:chOff x="838200" y="4190999"/>
            <a:chExt cx="2971800" cy="2438400"/>
          </a:xfrm>
        </p:grpSpPr>
        <p:sp>
          <p:nvSpPr>
            <p:cNvPr id="136198" name="Oval 4"/>
            <p:cNvSpPr>
              <a:spLocks noChangeArrowheads="1"/>
            </p:cNvSpPr>
            <p:nvPr/>
          </p:nvSpPr>
          <p:spPr bwMode="auto">
            <a:xfrm>
              <a:off x="1900460" y="6144845"/>
              <a:ext cx="758757" cy="48455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199" name="Text Box 5"/>
            <p:cNvSpPr txBox="1">
              <a:spLocks noChangeArrowheads="1"/>
            </p:cNvSpPr>
            <p:nvPr/>
          </p:nvSpPr>
          <p:spPr bwMode="auto">
            <a:xfrm>
              <a:off x="2007951" y="6253365"/>
              <a:ext cx="548548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600">
                  <a:solidFill>
                    <a:srgbClr val="0000FF"/>
                  </a:solidFill>
                  <a:latin typeface="Times New Roman" charset="0"/>
                </a:rPr>
                <a:t>AS4</a:t>
              </a:r>
            </a:p>
          </p:txBody>
        </p:sp>
        <p:sp>
          <p:nvSpPr>
            <p:cNvPr id="136200" name="Oval 6"/>
            <p:cNvSpPr>
              <a:spLocks noChangeArrowheads="1"/>
            </p:cNvSpPr>
            <p:nvPr/>
          </p:nvSpPr>
          <p:spPr bwMode="auto">
            <a:xfrm>
              <a:off x="838200" y="5539153"/>
              <a:ext cx="758757" cy="48455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1" name="Text Box 7"/>
            <p:cNvSpPr txBox="1">
              <a:spLocks noChangeArrowheads="1"/>
            </p:cNvSpPr>
            <p:nvPr/>
          </p:nvSpPr>
          <p:spPr bwMode="auto">
            <a:xfrm>
              <a:off x="945691" y="5647673"/>
              <a:ext cx="543776" cy="267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600" b="0">
                  <a:latin typeface="Times New Roman" charset="0"/>
                </a:rPr>
                <a:t>AS2</a:t>
              </a:r>
            </a:p>
          </p:txBody>
        </p:sp>
        <p:sp>
          <p:nvSpPr>
            <p:cNvPr id="136202" name="Oval 8"/>
            <p:cNvSpPr>
              <a:spLocks noChangeArrowheads="1"/>
            </p:cNvSpPr>
            <p:nvPr/>
          </p:nvSpPr>
          <p:spPr bwMode="auto">
            <a:xfrm>
              <a:off x="2886845" y="5478584"/>
              <a:ext cx="758757" cy="48455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3" name="Text Box 9"/>
            <p:cNvSpPr txBox="1">
              <a:spLocks noChangeArrowheads="1"/>
            </p:cNvSpPr>
            <p:nvPr/>
          </p:nvSpPr>
          <p:spPr bwMode="auto">
            <a:xfrm>
              <a:off x="2994336" y="5587104"/>
              <a:ext cx="543776" cy="267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600" b="0">
                  <a:latin typeface="Times New Roman" charset="0"/>
                </a:rPr>
                <a:t>AS3</a:t>
              </a:r>
            </a:p>
          </p:txBody>
        </p:sp>
        <p:sp>
          <p:nvSpPr>
            <p:cNvPr id="136204" name="Oval 10"/>
            <p:cNvSpPr>
              <a:spLocks noChangeArrowheads="1"/>
            </p:cNvSpPr>
            <p:nvPr/>
          </p:nvSpPr>
          <p:spPr bwMode="auto">
            <a:xfrm>
              <a:off x="1824585" y="4812322"/>
              <a:ext cx="758757" cy="48455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5" name="Text Box 11"/>
            <p:cNvSpPr txBox="1">
              <a:spLocks noChangeArrowheads="1"/>
            </p:cNvSpPr>
            <p:nvPr/>
          </p:nvSpPr>
          <p:spPr bwMode="auto">
            <a:xfrm>
              <a:off x="1932075" y="4920842"/>
              <a:ext cx="543776" cy="267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600" b="0">
                  <a:latin typeface="Times New Roman" charset="0"/>
                </a:rPr>
                <a:t>AS1</a:t>
              </a:r>
            </a:p>
          </p:txBody>
        </p:sp>
        <p:sp>
          <p:nvSpPr>
            <p:cNvPr id="136206" name="Line 12"/>
            <p:cNvSpPr>
              <a:spLocks noChangeShapeType="1"/>
            </p:cNvSpPr>
            <p:nvPr/>
          </p:nvSpPr>
          <p:spPr bwMode="auto">
            <a:xfrm flipH="1">
              <a:off x="1445206" y="5175738"/>
              <a:ext cx="455254" cy="4239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7" name="Line 13"/>
            <p:cNvSpPr>
              <a:spLocks noChangeShapeType="1"/>
            </p:cNvSpPr>
            <p:nvPr/>
          </p:nvSpPr>
          <p:spPr bwMode="auto">
            <a:xfrm flipH="1">
              <a:off x="2583342" y="5902568"/>
              <a:ext cx="455254" cy="363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8" name="Line 14"/>
            <p:cNvSpPr>
              <a:spLocks noChangeShapeType="1"/>
            </p:cNvSpPr>
            <p:nvPr/>
          </p:nvSpPr>
          <p:spPr bwMode="auto">
            <a:xfrm>
              <a:off x="1445206" y="5963138"/>
              <a:ext cx="455254" cy="363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09" name="Line 15"/>
            <p:cNvSpPr>
              <a:spLocks noChangeShapeType="1"/>
            </p:cNvSpPr>
            <p:nvPr/>
          </p:nvSpPr>
          <p:spPr bwMode="auto">
            <a:xfrm>
              <a:off x="2507466" y="5175738"/>
              <a:ext cx="531130" cy="363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210" name="Text Box 16"/>
            <p:cNvSpPr txBox="1">
              <a:spLocks noChangeArrowheads="1"/>
            </p:cNvSpPr>
            <p:nvPr/>
          </p:nvSpPr>
          <p:spPr bwMode="auto">
            <a:xfrm>
              <a:off x="2507466" y="4190999"/>
              <a:ext cx="1302534" cy="267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l"/>
              <a:r>
                <a:rPr lang="en-US" sz="1600" b="0" dirty="0">
                  <a:latin typeface="Times New Roman" charset="0"/>
                </a:rPr>
                <a:t>140.20.1.0/24</a:t>
              </a:r>
            </a:p>
          </p:txBody>
        </p:sp>
        <p:sp>
          <p:nvSpPr>
            <p:cNvPr id="136212" name="Line 18"/>
            <p:cNvSpPr>
              <a:spLocks noChangeShapeType="1"/>
            </p:cNvSpPr>
            <p:nvPr/>
          </p:nvSpPr>
          <p:spPr bwMode="auto">
            <a:xfrm flipH="1">
              <a:off x="2355715" y="4570045"/>
              <a:ext cx="455254" cy="363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36194" name="Object 2"/>
          <p:cNvGraphicFramePr>
            <a:graphicFrameLocks noChangeAspect="1"/>
          </p:cNvGraphicFramePr>
          <p:nvPr/>
        </p:nvGraphicFramePr>
        <p:xfrm>
          <a:off x="4572000" y="4400551"/>
          <a:ext cx="4800600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074920" imgH="1475232" progId="Word.Document.8">
                  <p:embed/>
                </p:oleObj>
              </mc:Choice>
              <mc:Fallback>
                <p:oleObj name="Document" r:id="rId3" imgW="5074920" imgH="1475232" progId="Word.Document.8">
                  <p:embed/>
                  <p:pic>
                    <p:nvPicPr>
                      <p:cNvPr id="13619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400551"/>
                        <a:ext cx="4800600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213" name="Text Box 20"/>
          <p:cNvSpPr txBox="1">
            <a:spLocks noChangeArrowheads="1"/>
          </p:cNvSpPr>
          <p:nvPr/>
        </p:nvSpPr>
        <p:spPr bwMode="auto">
          <a:xfrm>
            <a:off x="4572000" y="3962401"/>
            <a:ext cx="21725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dirty="0">
                <a:solidFill>
                  <a:srgbClr val="0000FF"/>
                </a:solidFill>
                <a:latin typeface="Times New Roman" charset="0"/>
              </a:rPr>
              <a:t>BGP table at AS4:</a:t>
            </a:r>
          </a:p>
        </p:txBody>
      </p:sp>
    </p:spTree>
    <p:extLst>
      <p:ext uri="{BB962C8B-B14F-4D97-AF65-F5344CB8AC3E}">
        <p14:creationId xmlns:p14="http://schemas.microsoft.com/office/powerpoint/2010/main" val="99868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1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Example</a:t>
            </a:r>
            <a:r>
              <a:rPr lang="zh-CN" altLang="en-US" dirty="0"/>
              <a:t> </a:t>
            </a:r>
            <a:r>
              <a:rPr lang="en-US" altLang="zh-CN" dirty="0"/>
              <a:t>r</a:t>
            </a:r>
            <a:r>
              <a:rPr lang="en-US" dirty="0"/>
              <a:t>ules for route selection in priority order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73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800" y="2590800"/>
          <a:ext cx="7010400" cy="340360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Priority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Rule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Remarks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LOCAL PREF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Pick highest LOCAL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PREF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ASPATH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Pick shortest ASPATH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length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MED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Lowest MED preferred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eBGP</a:t>
                      </a:r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 &gt; </a:t>
                      </a:r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iBGP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Did AS learn route via </a:t>
                      </a:r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eBGP</a:t>
                      </a:r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 (preferred)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or </a:t>
                      </a:r>
                      <a:r>
                        <a:rPr lang="en-US" sz="1800" baseline="0" dirty="0" err="1">
                          <a:solidFill>
                            <a:schemeClr val="accent2"/>
                          </a:solidFill>
                        </a:rPr>
                        <a:t>iBGP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?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accent2"/>
                          </a:solidFill>
                        </a:rPr>
                        <a:t>iBGP</a:t>
                      </a:r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 path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Lowest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IGP cost to next hop (egress router) 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Router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ID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Smallest next-hop router’s</a:t>
                      </a:r>
                      <a:r>
                        <a:rPr lang="en-US" sz="1800" baseline="0" dirty="0">
                          <a:solidFill>
                            <a:schemeClr val="accent2"/>
                          </a:solidFill>
                        </a:rPr>
                        <a:t> IP address as tie-breaker</a:t>
                      </a:r>
                      <a:endParaRPr lang="en-US" sz="18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12082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5" name="Rectangle 4"/>
          <p:cNvSpPr>
            <a:spLocks noChangeArrowheads="1"/>
          </p:cNvSpPr>
          <p:nvPr/>
        </p:nvSpPr>
        <p:spPr bwMode="auto">
          <a:xfrm>
            <a:off x="0" y="4343400"/>
            <a:ext cx="9144000" cy="1582738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txBody>
          <a:bodyPr wrap="none" anchor="ctr"/>
          <a:lstStyle/>
          <a:p>
            <a:endParaRPr lang="en-US" dirty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38" name="Line 18"/>
          <p:cNvSpPr>
            <a:spLocks noChangeShapeType="1"/>
          </p:cNvSpPr>
          <p:nvPr/>
        </p:nvSpPr>
        <p:spPr bwMode="auto">
          <a:xfrm>
            <a:off x="228600" y="5545138"/>
            <a:ext cx="86868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80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UPDATE processing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128004" name="Rectangle 3"/>
          <p:cNvSpPr>
            <a:spLocks noChangeArrowheads="1"/>
          </p:cNvSpPr>
          <p:nvPr/>
        </p:nvSpPr>
        <p:spPr bwMode="auto">
          <a:xfrm>
            <a:off x="0" y="2741613"/>
            <a:ext cx="9144000" cy="152558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32100" y="3438525"/>
            <a:ext cx="1422400" cy="646973"/>
            <a:chOff x="2832100" y="3438525"/>
            <a:chExt cx="1422400" cy="646973"/>
          </a:xfrm>
        </p:grpSpPr>
        <p:sp>
          <p:nvSpPr>
            <p:cNvPr id="1643526" name="Rectangle 6"/>
            <p:cNvSpPr>
              <a:spLocks noChangeArrowheads="1"/>
            </p:cNvSpPr>
            <p:nvPr/>
          </p:nvSpPr>
          <p:spPr bwMode="auto">
            <a:xfrm>
              <a:off x="2832100" y="3475038"/>
              <a:ext cx="1422400" cy="584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8008" name="Rectangle 7"/>
            <p:cNvSpPr>
              <a:spLocks noChangeArrowheads="1"/>
            </p:cNvSpPr>
            <p:nvPr/>
          </p:nvSpPr>
          <p:spPr bwMode="auto">
            <a:xfrm>
              <a:off x="2879725" y="3438525"/>
              <a:ext cx="1327286" cy="6469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Best Route</a:t>
              </a:r>
            </a:p>
            <a:p>
              <a:pPr algn="l" eaLnBrk="0" hangingPunct="0"/>
              <a:r>
                <a:rPr lang="en-US" sz="18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  Selection 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027888" y="3429000"/>
            <a:ext cx="1481175" cy="646973"/>
            <a:chOff x="1027888" y="3429000"/>
            <a:chExt cx="1481175" cy="646973"/>
          </a:xfrm>
        </p:grpSpPr>
        <p:sp>
          <p:nvSpPr>
            <p:cNvPr id="1643528" name="Rectangle 8"/>
            <p:cNvSpPr>
              <a:spLocks noChangeArrowheads="1"/>
            </p:cNvSpPr>
            <p:nvPr/>
          </p:nvSpPr>
          <p:spPr bwMode="auto">
            <a:xfrm>
              <a:off x="1079500" y="3475038"/>
              <a:ext cx="1422400" cy="584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8011" name="Rectangle 10"/>
            <p:cNvSpPr>
              <a:spLocks noChangeArrowheads="1"/>
            </p:cNvSpPr>
            <p:nvPr/>
          </p:nvSpPr>
          <p:spPr bwMode="auto">
            <a:xfrm>
              <a:off x="1027888" y="3429000"/>
              <a:ext cx="1481175" cy="646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/>
              <a:r>
                <a:rPr lang="en-US" sz="18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Apply Import</a:t>
              </a:r>
            </a:p>
            <a:p>
              <a:pPr algn="ctr" eaLnBrk="0" hangingPunct="0"/>
              <a:r>
                <a:rPr lang="en-US" sz="18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  Policies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584700" y="3446463"/>
            <a:ext cx="1439032" cy="646973"/>
            <a:chOff x="4584700" y="3446463"/>
            <a:chExt cx="1439032" cy="646973"/>
          </a:xfrm>
        </p:grpSpPr>
        <p:sp>
          <p:nvSpPr>
            <p:cNvPr id="1643529" name="Rectangle 9"/>
            <p:cNvSpPr>
              <a:spLocks noChangeArrowheads="1"/>
            </p:cNvSpPr>
            <p:nvPr/>
          </p:nvSpPr>
          <p:spPr bwMode="auto">
            <a:xfrm>
              <a:off x="4584700" y="3475038"/>
              <a:ext cx="1422400" cy="584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8012" name="Rectangle 11"/>
            <p:cNvSpPr>
              <a:spLocks noChangeArrowheads="1"/>
            </p:cNvSpPr>
            <p:nvPr/>
          </p:nvSpPr>
          <p:spPr bwMode="auto">
            <a:xfrm>
              <a:off x="4632325" y="3446463"/>
              <a:ext cx="1391407" cy="646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Best Route </a:t>
              </a:r>
            </a:p>
            <a:p>
              <a:pPr algn="l" eaLnBrk="0" hangingPunct="0"/>
              <a:r>
                <a:rPr lang="en-US" sz="18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  Table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308725" y="3446463"/>
            <a:ext cx="1539875" cy="646973"/>
            <a:chOff x="6308725" y="3446463"/>
            <a:chExt cx="1450975" cy="646973"/>
          </a:xfrm>
        </p:grpSpPr>
        <p:sp>
          <p:nvSpPr>
            <p:cNvPr id="1643532" name="Rectangle 12"/>
            <p:cNvSpPr>
              <a:spLocks noChangeArrowheads="1"/>
            </p:cNvSpPr>
            <p:nvPr/>
          </p:nvSpPr>
          <p:spPr bwMode="auto">
            <a:xfrm>
              <a:off x="6337300" y="3475038"/>
              <a:ext cx="1422400" cy="5842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8014" name="Rectangle 13"/>
            <p:cNvSpPr>
              <a:spLocks noChangeArrowheads="1"/>
            </p:cNvSpPr>
            <p:nvPr/>
          </p:nvSpPr>
          <p:spPr bwMode="auto">
            <a:xfrm>
              <a:off x="6308725" y="3446463"/>
              <a:ext cx="1450975" cy="646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2075" tIns="46038" rIns="92075" bIns="46038">
              <a:spAutoFit/>
            </a:bodyPr>
            <a:lstStyle/>
            <a:p>
              <a:pPr algn="l" eaLnBrk="0" hangingPunct="0"/>
              <a:r>
                <a:rPr lang="en-US" sz="18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Apply Export</a:t>
              </a:r>
            </a:p>
            <a:p>
              <a:pPr algn="l" eaLnBrk="0" hangingPunct="0"/>
              <a:r>
                <a:rPr lang="en-US" sz="1800" b="0" dirty="0">
                  <a:solidFill>
                    <a:schemeClr val="accent2"/>
                  </a:solidFill>
                  <a:ea typeface="Arial" charset="0"/>
                  <a:cs typeface="Arial" charset="0"/>
                </a:rPr>
                <a:t>Policies</a:t>
              </a:r>
            </a:p>
          </p:txBody>
        </p:sp>
      </p:grpSp>
      <p:sp>
        <p:nvSpPr>
          <p:cNvPr id="128015" name="Line 14"/>
          <p:cNvSpPr>
            <a:spLocks noChangeShapeType="1"/>
          </p:cNvSpPr>
          <p:nvPr/>
        </p:nvSpPr>
        <p:spPr bwMode="auto">
          <a:xfrm>
            <a:off x="304800" y="3767138"/>
            <a:ext cx="762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8016" name="Line 15"/>
          <p:cNvSpPr>
            <a:spLocks noChangeShapeType="1"/>
          </p:cNvSpPr>
          <p:nvPr/>
        </p:nvSpPr>
        <p:spPr bwMode="auto">
          <a:xfrm>
            <a:off x="2514600" y="3767138"/>
            <a:ext cx="304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8017" name="Line 16"/>
          <p:cNvSpPr>
            <a:spLocks noChangeShapeType="1"/>
          </p:cNvSpPr>
          <p:nvPr/>
        </p:nvSpPr>
        <p:spPr bwMode="auto">
          <a:xfrm>
            <a:off x="4267200" y="3767138"/>
            <a:ext cx="304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8018" name="Line 17"/>
          <p:cNvSpPr>
            <a:spLocks noChangeShapeType="1"/>
          </p:cNvSpPr>
          <p:nvPr/>
        </p:nvSpPr>
        <p:spPr bwMode="auto">
          <a:xfrm>
            <a:off x="6019800" y="3767138"/>
            <a:ext cx="3048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8019" name="Line 18"/>
          <p:cNvSpPr>
            <a:spLocks noChangeShapeType="1"/>
          </p:cNvSpPr>
          <p:nvPr/>
        </p:nvSpPr>
        <p:spPr bwMode="auto">
          <a:xfrm>
            <a:off x="7848600" y="3767138"/>
            <a:ext cx="762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8020" name="Line 19"/>
          <p:cNvSpPr>
            <a:spLocks noChangeShapeType="1"/>
          </p:cNvSpPr>
          <p:nvPr/>
        </p:nvSpPr>
        <p:spPr bwMode="auto">
          <a:xfrm flipH="1">
            <a:off x="5248441" y="4071938"/>
            <a:ext cx="0" cy="1143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128021" name="Rectangle 20"/>
          <p:cNvSpPr>
            <a:spLocks noChangeArrowheads="1"/>
          </p:cNvSpPr>
          <p:nvPr/>
        </p:nvSpPr>
        <p:spPr bwMode="auto">
          <a:xfrm>
            <a:off x="5533434" y="4517165"/>
            <a:ext cx="1263166" cy="64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forwarding</a:t>
            </a:r>
          </a:p>
          <a:p>
            <a:pPr algn="ctr" eaLnBrk="0" hangingPunct="0"/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Entries</a:t>
            </a:r>
          </a:p>
        </p:txBody>
      </p:sp>
      <p:sp>
        <p:nvSpPr>
          <p:cNvPr id="128022" name="Rectangle 21"/>
          <p:cNvSpPr>
            <a:spLocks noChangeArrowheads="1"/>
          </p:cNvSpPr>
          <p:nvPr/>
        </p:nvSpPr>
        <p:spPr bwMode="auto">
          <a:xfrm>
            <a:off x="38435" y="2914220"/>
            <a:ext cx="1045159" cy="646973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BGP</a:t>
            </a:r>
          </a:p>
          <a:p>
            <a:pPr algn="ctr" eaLnBrk="0" hangingPunct="0"/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Updates</a:t>
            </a:r>
          </a:p>
        </p:txBody>
      </p:sp>
      <p:sp>
        <p:nvSpPr>
          <p:cNvPr id="128024" name="Rectangle 23"/>
          <p:cNvSpPr>
            <a:spLocks noChangeArrowheads="1"/>
          </p:cNvSpPr>
          <p:nvPr/>
        </p:nvSpPr>
        <p:spPr bwMode="auto">
          <a:xfrm>
            <a:off x="7956885" y="2914220"/>
            <a:ext cx="1045159" cy="646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BGP </a:t>
            </a:r>
          </a:p>
          <a:p>
            <a:pPr algn="ctr" eaLnBrk="0" hangingPunct="0"/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Updates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241800" y="5214938"/>
            <a:ext cx="2463800" cy="558800"/>
            <a:chOff x="4241800" y="5842000"/>
            <a:chExt cx="2463800" cy="558800"/>
          </a:xfrm>
        </p:grpSpPr>
        <p:sp>
          <p:nvSpPr>
            <p:cNvPr id="1643525" name="Rectangle 5"/>
            <p:cNvSpPr>
              <a:spLocks noChangeArrowheads="1"/>
            </p:cNvSpPr>
            <p:nvPr/>
          </p:nvSpPr>
          <p:spPr bwMode="auto">
            <a:xfrm>
              <a:off x="4241800" y="5842000"/>
              <a:ext cx="2463800" cy="558800"/>
            </a:xfrm>
            <a:prstGeom prst="rect">
              <a:avLst/>
            </a:prstGeom>
            <a:solidFill>
              <a:schemeClr val="bg1"/>
            </a:solidFill>
            <a:ln w="508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128027" name="Rectangle 26"/>
            <p:cNvSpPr>
              <a:spLocks noChangeArrowheads="1"/>
            </p:cNvSpPr>
            <p:nvPr/>
          </p:nvSpPr>
          <p:spPr bwMode="auto">
            <a:xfrm>
              <a:off x="4327525" y="5953125"/>
              <a:ext cx="2370457" cy="3699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800">
                  <a:solidFill>
                    <a:schemeClr val="accent2"/>
                  </a:solidFill>
                  <a:ea typeface="Arial" charset="0"/>
                  <a:cs typeface="Arial" charset="0"/>
                </a:rPr>
                <a:t>IP Forwarding Table</a:t>
              </a:r>
            </a:p>
          </p:txBody>
        </p:sp>
      </p:grpSp>
      <p:sp>
        <p:nvSpPr>
          <p:cNvPr id="128030" name="Text Box 29"/>
          <p:cNvSpPr txBox="1">
            <a:spLocks noChangeArrowheads="1"/>
          </p:cNvSpPr>
          <p:nvPr/>
        </p:nvSpPr>
        <p:spPr bwMode="auto">
          <a:xfrm>
            <a:off x="1905000" y="1411069"/>
            <a:ext cx="539121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n-US" sz="1800" b="0" dirty="0">
                <a:solidFill>
                  <a:schemeClr val="accent2"/>
                </a:solidFill>
                <a:latin typeface="Arial" charset="0"/>
                <a:ea typeface="Arial" charset="0"/>
              </a:rPr>
              <a:t>                 Open</a:t>
            </a:r>
            <a:r>
              <a:rPr lang="en-US" altLang="zh-CN" sz="1800" b="0" dirty="0">
                <a:solidFill>
                  <a:schemeClr val="accent2"/>
                </a:solidFill>
                <a:latin typeface="Arial" charset="0"/>
                <a:ea typeface="Arial" charset="0"/>
              </a:rPr>
              <a:t>-</a:t>
            </a:r>
            <a:r>
              <a:rPr lang="en-US" sz="1800" b="0" dirty="0">
                <a:solidFill>
                  <a:schemeClr val="accent2"/>
                </a:solidFill>
                <a:latin typeface="Arial" charset="0"/>
                <a:ea typeface="Arial" charset="0"/>
              </a:rPr>
              <a:t>ended programming.</a:t>
            </a:r>
          </a:p>
          <a:p>
            <a:pPr algn="l"/>
            <a:r>
              <a:rPr lang="en-US" sz="1800" b="0" dirty="0">
                <a:solidFill>
                  <a:schemeClr val="accent2"/>
                </a:solidFill>
                <a:latin typeface="Arial" charset="0"/>
                <a:ea typeface="Arial" charset="0"/>
              </a:rPr>
              <a:t>Constrained only by vendor configuration language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 flipH="1">
            <a:off x="1905000" y="2057400"/>
            <a:ext cx="609600" cy="12192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/>
          <p:cNvCxnSpPr/>
          <p:nvPr/>
        </p:nvCxnSpPr>
        <p:spPr bwMode="auto">
          <a:xfrm>
            <a:off x="3429000" y="2057400"/>
            <a:ext cx="152400" cy="1295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Straight Arrow Connector 35"/>
          <p:cNvCxnSpPr/>
          <p:nvPr/>
        </p:nvCxnSpPr>
        <p:spPr bwMode="auto">
          <a:xfrm>
            <a:off x="6451600" y="2057400"/>
            <a:ext cx="406400" cy="129540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3505200" y="4397673"/>
            <a:ext cx="1741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ea typeface="Arial" charset="0"/>
                <a:cs typeface="Arial" charset="0"/>
              </a:rPr>
              <a:t>Data plane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5200" y="2738735"/>
            <a:ext cx="21659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/>
                </a:solidFill>
                <a:ea typeface="Arial" charset="0"/>
                <a:cs typeface="Arial" charset="0"/>
              </a:rPr>
              <a:t>Control plane</a:t>
            </a:r>
          </a:p>
        </p:txBody>
      </p:sp>
      <p:sp>
        <p:nvSpPr>
          <p:cNvPr id="39" name="Rectangle 21"/>
          <p:cNvSpPr>
            <a:spLocks noChangeArrowheads="1"/>
          </p:cNvSpPr>
          <p:nvPr/>
        </p:nvSpPr>
        <p:spPr bwMode="auto">
          <a:xfrm>
            <a:off x="145244" y="4859338"/>
            <a:ext cx="981039" cy="646973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Data </a:t>
            </a:r>
            <a:b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</a:br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packets</a:t>
            </a:r>
          </a:p>
        </p:txBody>
      </p:sp>
      <p:sp>
        <p:nvSpPr>
          <p:cNvPr id="40" name="Rectangle 21"/>
          <p:cNvSpPr>
            <a:spLocks noChangeArrowheads="1"/>
          </p:cNvSpPr>
          <p:nvPr/>
        </p:nvSpPr>
        <p:spPr bwMode="auto">
          <a:xfrm>
            <a:off x="8017719" y="4859338"/>
            <a:ext cx="981039" cy="646973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Data </a:t>
            </a:r>
            <a:b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</a:br>
            <a:r>
              <a:rPr lang="en-US" sz="1800" b="0" dirty="0">
                <a:solidFill>
                  <a:schemeClr val="accent2"/>
                </a:solidFill>
                <a:ea typeface="Arial" charset="0"/>
                <a:cs typeface="Arial" charset="0"/>
              </a:rPr>
              <a:t>packets</a:t>
            </a:r>
          </a:p>
        </p:txBody>
      </p:sp>
    </p:spTree>
    <p:extLst>
      <p:ext uri="{BB962C8B-B14F-4D97-AF65-F5344CB8AC3E}">
        <p14:creationId xmlns:p14="http://schemas.microsoft.com/office/powerpoint/2010/main" val="194265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5" grpId="0" animBg="1"/>
      <p:bldP spid="38" grpId="0" animBg="1"/>
      <p:bldP spid="128004" grpId="0" animBg="1"/>
      <p:bldP spid="128015" grpId="0" animBg="1"/>
      <p:bldP spid="128016" grpId="0" animBg="1"/>
      <p:bldP spid="128017" grpId="0" animBg="1"/>
      <p:bldP spid="128018" grpId="0" animBg="1"/>
      <p:bldP spid="128019" grpId="0" animBg="1"/>
      <p:bldP spid="128020" grpId="0" animBg="1"/>
      <p:bldP spid="128021" grpId="0"/>
      <p:bldP spid="128022" grpId="0"/>
      <p:bldP spid="128024" grpId="0"/>
      <p:bldP spid="128030" grpId="0"/>
      <p:bldP spid="128030" grpId="1"/>
      <p:bldP spid="6" grpId="0"/>
      <p:bldP spid="37" grpId="0"/>
      <p:bldP spid="39" grpId="0"/>
      <p:bldP spid="40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issues in practice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067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Issues with BGP</a:t>
            </a:r>
            <a:endParaRPr lang="en-US" dirty="0"/>
          </a:p>
        </p:txBody>
      </p:sp>
      <p:sp>
        <p:nvSpPr>
          <p:cNvPr id="655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Reachability</a:t>
            </a:r>
          </a:p>
          <a:p>
            <a:r>
              <a:rPr lang="en-US" dirty="0"/>
              <a:t>Security</a:t>
            </a:r>
          </a:p>
          <a:p>
            <a:r>
              <a:rPr lang="en-US" dirty="0"/>
              <a:t>Convergence</a:t>
            </a:r>
          </a:p>
          <a:p>
            <a:r>
              <a:rPr lang="en-US" dirty="0"/>
              <a:t>Performance</a:t>
            </a:r>
          </a:p>
          <a:p>
            <a:r>
              <a:rPr lang="en-US" dirty="0"/>
              <a:t>Anomalies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528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Reachability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924800" cy="1727200"/>
          </a:xfrm>
        </p:spPr>
        <p:txBody>
          <a:bodyPr/>
          <a:lstStyle/>
          <a:p>
            <a:r>
              <a:rPr lang="en-US" dirty="0"/>
              <a:t>In normal routing, if graph is connected then reachability is assured</a:t>
            </a:r>
          </a:p>
          <a:p>
            <a:r>
              <a:rPr lang="en-US" dirty="0"/>
              <a:t>With policy routing, this does not always hold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77</a:t>
            </a:fld>
            <a:endParaRPr lang="en-US"/>
          </a:p>
        </p:txBody>
      </p:sp>
      <p:sp>
        <p:nvSpPr>
          <p:cNvPr id="67589" name="Oval 4"/>
          <p:cNvSpPr>
            <a:spLocks noChangeArrowheads="1"/>
          </p:cNvSpPr>
          <p:nvPr/>
        </p:nvSpPr>
        <p:spPr bwMode="auto">
          <a:xfrm>
            <a:off x="3883819" y="5029200"/>
            <a:ext cx="914400" cy="914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dirty="0"/>
              <a:t>AS 2</a:t>
            </a:r>
          </a:p>
        </p:txBody>
      </p:sp>
      <p:sp>
        <p:nvSpPr>
          <p:cNvPr id="67591" name="Oval 6"/>
          <p:cNvSpPr>
            <a:spLocks noChangeArrowheads="1"/>
          </p:cNvSpPr>
          <p:nvPr/>
        </p:nvSpPr>
        <p:spPr bwMode="auto">
          <a:xfrm>
            <a:off x="5179219" y="3505200"/>
            <a:ext cx="914400" cy="914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dirty="0"/>
              <a:t>AS 3</a:t>
            </a:r>
          </a:p>
        </p:txBody>
      </p:sp>
      <p:sp>
        <p:nvSpPr>
          <p:cNvPr id="67593" name="Oval 8"/>
          <p:cNvSpPr>
            <a:spLocks noChangeArrowheads="1"/>
          </p:cNvSpPr>
          <p:nvPr/>
        </p:nvSpPr>
        <p:spPr bwMode="auto">
          <a:xfrm>
            <a:off x="2512219" y="3505200"/>
            <a:ext cx="914400" cy="9144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r>
              <a:rPr lang="en-US" dirty="0"/>
              <a:t>AS 1</a:t>
            </a:r>
          </a:p>
        </p:txBody>
      </p:sp>
      <p:sp>
        <p:nvSpPr>
          <p:cNvPr id="67595" name="Line 10"/>
          <p:cNvSpPr>
            <a:spLocks noChangeShapeType="1"/>
          </p:cNvSpPr>
          <p:nvPr/>
        </p:nvSpPr>
        <p:spPr bwMode="auto">
          <a:xfrm flipV="1">
            <a:off x="4569619" y="4343400"/>
            <a:ext cx="762000" cy="7620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6" name="Line 12"/>
          <p:cNvSpPr>
            <a:spLocks noChangeShapeType="1"/>
          </p:cNvSpPr>
          <p:nvPr/>
        </p:nvSpPr>
        <p:spPr bwMode="auto">
          <a:xfrm flipH="1" flipV="1">
            <a:off x="3198019" y="4343400"/>
            <a:ext cx="762000" cy="838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7" name="Rectangle 13"/>
          <p:cNvSpPr>
            <a:spLocks noChangeArrowheads="1"/>
          </p:cNvSpPr>
          <p:nvPr/>
        </p:nvSpPr>
        <p:spPr bwMode="auto">
          <a:xfrm>
            <a:off x="1447800" y="3733799"/>
            <a:ext cx="1214438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Provider</a:t>
            </a:r>
          </a:p>
        </p:txBody>
      </p:sp>
      <p:sp>
        <p:nvSpPr>
          <p:cNvPr id="67598" name="Rectangle 14"/>
          <p:cNvSpPr>
            <a:spLocks noChangeArrowheads="1"/>
          </p:cNvSpPr>
          <p:nvPr/>
        </p:nvSpPr>
        <p:spPr bwMode="auto">
          <a:xfrm>
            <a:off x="6093619" y="3733800"/>
            <a:ext cx="1214438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Provider</a:t>
            </a:r>
          </a:p>
        </p:txBody>
      </p:sp>
      <p:sp>
        <p:nvSpPr>
          <p:cNvPr id="67599" name="Rectangle 15"/>
          <p:cNvSpPr>
            <a:spLocks noChangeArrowheads="1"/>
          </p:cNvSpPr>
          <p:nvPr/>
        </p:nvSpPr>
        <p:spPr bwMode="auto">
          <a:xfrm>
            <a:off x="4780757" y="5332413"/>
            <a:ext cx="1390650" cy="4000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+mn-ea"/>
                <a:cs typeface="+mn-cs"/>
              </a:rPr>
              <a:t>Customer</a:t>
            </a:r>
          </a:p>
        </p:txBody>
      </p:sp>
    </p:spTree>
    <p:extLst>
      <p:ext uri="{BB962C8B-B14F-4D97-AF65-F5344CB8AC3E}">
        <p14:creationId xmlns:p14="http://schemas.microsoft.com/office/powerpoint/2010/main" val="9567891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AS can claim to serve a prefix that they do not have a route to (</a:t>
            </a:r>
            <a:r>
              <a:rPr lang="en-US" dirty="0" err="1">
                <a:solidFill>
                  <a:srgbClr val="0000FF"/>
                </a:solidFill>
              </a:rPr>
              <a:t>blackholing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Problem not specific to policy or path vector</a:t>
            </a:r>
          </a:p>
          <a:p>
            <a:pPr lvl="1"/>
            <a:r>
              <a:rPr lang="en-US" dirty="0"/>
              <a:t>Important because of AS autonomy</a:t>
            </a:r>
          </a:p>
          <a:p>
            <a:pPr lvl="1"/>
            <a:r>
              <a:rPr lang="en-US" dirty="0"/>
              <a:t>Fixable: make ASes </a:t>
            </a:r>
            <a:r>
              <a:rPr lang="ja-JP" altLang="en-US" dirty="0"/>
              <a:t>“</a:t>
            </a:r>
            <a:r>
              <a:rPr lang="en-US" dirty="0"/>
              <a:t>prove</a:t>
            </a:r>
            <a:r>
              <a:rPr lang="ja-JP" altLang="en-US" dirty="0"/>
              <a:t>”</a:t>
            </a:r>
            <a:r>
              <a:rPr lang="en-US" dirty="0"/>
              <a:t> they have a path</a:t>
            </a:r>
          </a:p>
          <a:p>
            <a:r>
              <a:rPr lang="en-US" dirty="0"/>
              <a:t>AS may forward packets along a route different from what is advertised</a:t>
            </a:r>
          </a:p>
          <a:p>
            <a:pPr lvl="1"/>
            <a:r>
              <a:rPr lang="en-US" dirty="0"/>
              <a:t>Tell customers about fictitious short path…</a:t>
            </a:r>
          </a:p>
          <a:p>
            <a:pPr lvl="1"/>
            <a:r>
              <a:rPr lang="en-US" dirty="0"/>
              <a:t>Much harder to fix!</a:t>
            </a:r>
          </a:p>
          <a:p>
            <a:pPr lvl="1"/>
            <a:r>
              <a:rPr lang="en-US" dirty="0"/>
              <a:t>More: </a:t>
            </a:r>
            <a:r>
              <a:rPr lang="en-US" dirty="0">
                <a:hlinkClick r:id="rId3"/>
              </a:rPr>
              <a:t>http://queue.acm.org/detail.cfm?id=2668966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1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6" grpId="0" uiExpand="1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Convergence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If all AS policies follow “Gao-Rexford” rules, BGP is guaranteed to converge</a:t>
            </a:r>
          </a:p>
          <a:p>
            <a:r>
              <a:rPr lang="en-US" dirty="0"/>
              <a:t>For arbitrary policies, BGP may fail to converge!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1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nonissues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Internal routing</a:t>
            </a:r>
          </a:p>
          <a:p>
            <a:pPr lvl="1"/>
            <a:r>
              <a:rPr lang="en-US" dirty="0"/>
              <a:t>Domains typically use “hot potato” routing</a:t>
            </a:r>
          </a:p>
          <a:p>
            <a:pPr lvl="1"/>
            <a:r>
              <a:rPr lang="en-US" dirty="0"/>
              <a:t>Not always optimal, but economically expedient</a:t>
            </a:r>
          </a:p>
          <a:p>
            <a:r>
              <a:rPr lang="en-US" dirty="0"/>
              <a:t>Policy is not always about performance</a:t>
            </a:r>
          </a:p>
          <a:p>
            <a:pPr lvl="1"/>
            <a:r>
              <a:rPr lang="en-US" dirty="0"/>
              <a:t>Policy-driven paths aren’t the shortest</a:t>
            </a:r>
          </a:p>
          <a:p>
            <a:r>
              <a:rPr lang="en-US" dirty="0"/>
              <a:t>AS path length can be misleading</a:t>
            </a:r>
          </a:p>
          <a:p>
            <a:pPr lvl="1"/>
            <a:r>
              <a:rPr lang="en-US" dirty="0"/>
              <a:t>20% of paths inflated by at least 5 router hops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7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path length can be</a:t>
            </a:r>
            <a:r>
              <a:rPr lang="zh-CN" altLang="en-US" dirty="0"/>
              <a:t> </a:t>
            </a:r>
            <a:r>
              <a:rPr lang="en-US" dirty="0"/>
              <a:t>misleading</a:t>
            </a:r>
          </a:p>
        </p:txBody>
      </p:sp>
      <p:sp>
        <p:nvSpPr>
          <p:cNvPr id="73733" name="Rectangle 2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AS may have many router-level hops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81</a:t>
            </a:fld>
            <a:endParaRPr lang="en-US"/>
          </a:p>
        </p:txBody>
      </p: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1898722" y="2209800"/>
            <a:ext cx="5346556" cy="4114800"/>
            <a:chOff x="1957464" y="2259833"/>
            <a:chExt cx="6081637" cy="4680531"/>
          </a:xfrm>
        </p:grpSpPr>
        <p:sp>
          <p:nvSpPr>
            <p:cNvPr id="167" name="Cloud"/>
            <p:cNvSpPr>
              <a:spLocks noChangeAspect="1" noEditPoints="1" noChangeArrowheads="1"/>
            </p:cNvSpPr>
            <p:nvPr/>
          </p:nvSpPr>
          <p:spPr bwMode="auto">
            <a:xfrm>
              <a:off x="5634238" y="3463731"/>
              <a:ext cx="2404863" cy="3215702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166" name="Cloud"/>
            <p:cNvSpPr>
              <a:spLocks noChangeAspect="1" noEditPoints="1" noChangeArrowheads="1"/>
            </p:cNvSpPr>
            <p:nvPr/>
          </p:nvSpPr>
          <p:spPr bwMode="auto">
            <a:xfrm>
              <a:off x="3274746" y="5949760"/>
              <a:ext cx="2026117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165" name="Cloud"/>
            <p:cNvSpPr>
              <a:spLocks noChangeAspect="1" noEditPoints="1" noChangeArrowheads="1"/>
            </p:cNvSpPr>
            <p:nvPr/>
          </p:nvSpPr>
          <p:spPr bwMode="auto">
            <a:xfrm>
              <a:off x="2479012" y="4954586"/>
              <a:ext cx="2026117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164" name="Cloud"/>
            <p:cNvSpPr>
              <a:spLocks noChangeAspect="1" noEditPoints="1" noChangeArrowheads="1"/>
            </p:cNvSpPr>
            <p:nvPr/>
          </p:nvSpPr>
          <p:spPr bwMode="auto">
            <a:xfrm>
              <a:off x="1957464" y="3962396"/>
              <a:ext cx="2026117" cy="990604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163" name="Cloud"/>
            <p:cNvSpPr>
              <a:spLocks noChangeAspect="1" noEditPoints="1" noChangeArrowheads="1"/>
            </p:cNvSpPr>
            <p:nvPr/>
          </p:nvSpPr>
          <p:spPr bwMode="auto">
            <a:xfrm>
              <a:off x="2316958" y="2259833"/>
              <a:ext cx="3602829" cy="1391982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-1" y="8613"/>
                    <a:pt x="-1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4" y="13940"/>
                    <a:pt x="474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299"/>
                    <a:pt x="6247" y="20299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6"/>
                    <a:pt x="11036" y="21596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6"/>
                    <a:pt x="15802" y="18946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-1"/>
                    <a:pt x="16758" y="-1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-1"/>
                    <a:pt x="13174" y="-1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49"/>
                    <a:pt x="9358" y="649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1"/>
                    <a:pt x="5288" y="1971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09"/>
                    <a:pt x="2172" y="13109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zh-CN" altLang="en-US" sz="1800" dirty="0">
                <a:latin typeface="Arial" charset="0"/>
                <a:ea typeface="宋体" charset="-122"/>
                <a:cs typeface="宋体" charset="-122"/>
              </a:endParaRPr>
            </a:p>
          </p:txBody>
        </p:sp>
        <p:sp>
          <p:nvSpPr>
            <p:cNvPr id="73738" name="Line 129"/>
            <p:cNvSpPr>
              <a:spLocks noChangeShapeType="1"/>
            </p:cNvSpPr>
            <p:nvPr/>
          </p:nvSpPr>
          <p:spPr bwMode="auto">
            <a:xfrm>
              <a:off x="5233988" y="3535363"/>
              <a:ext cx="990600" cy="5334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39" name="Line 130"/>
            <p:cNvSpPr>
              <a:spLocks noChangeShapeType="1"/>
            </p:cNvSpPr>
            <p:nvPr/>
          </p:nvSpPr>
          <p:spPr bwMode="auto">
            <a:xfrm>
              <a:off x="6376988" y="4068763"/>
              <a:ext cx="990600" cy="3810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0" name="Line 131"/>
            <p:cNvSpPr>
              <a:spLocks noChangeShapeType="1"/>
            </p:cNvSpPr>
            <p:nvPr/>
          </p:nvSpPr>
          <p:spPr bwMode="auto">
            <a:xfrm flipV="1">
              <a:off x="6300788" y="4449763"/>
              <a:ext cx="1066800" cy="2286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1" name="Line 132"/>
            <p:cNvSpPr>
              <a:spLocks noChangeShapeType="1"/>
            </p:cNvSpPr>
            <p:nvPr/>
          </p:nvSpPr>
          <p:spPr bwMode="auto">
            <a:xfrm>
              <a:off x="6300788" y="4678363"/>
              <a:ext cx="1219200" cy="2286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2" name="Line 133"/>
            <p:cNvSpPr>
              <a:spLocks noChangeShapeType="1"/>
            </p:cNvSpPr>
            <p:nvPr/>
          </p:nvSpPr>
          <p:spPr bwMode="auto">
            <a:xfrm flipV="1">
              <a:off x="6224588" y="4906963"/>
              <a:ext cx="1219200" cy="3048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3" name="Line 134"/>
            <p:cNvSpPr>
              <a:spLocks noChangeShapeType="1"/>
            </p:cNvSpPr>
            <p:nvPr/>
          </p:nvSpPr>
          <p:spPr bwMode="auto">
            <a:xfrm>
              <a:off x="6300788" y="5211763"/>
              <a:ext cx="1219200" cy="2286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4" name="Line 135"/>
            <p:cNvSpPr>
              <a:spLocks noChangeShapeType="1"/>
            </p:cNvSpPr>
            <p:nvPr/>
          </p:nvSpPr>
          <p:spPr bwMode="auto">
            <a:xfrm flipV="1">
              <a:off x="6224588" y="5364163"/>
              <a:ext cx="1219200" cy="3048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5" name="Line 136"/>
            <p:cNvSpPr>
              <a:spLocks noChangeShapeType="1"/>
            </p:cNvSpPr>
            <p:nvPr/>
          </p:nvSpPr>
          <p:spPr bwMode="auto">
            <a:xfrm>
              <a:off x="6300788" y="5668963"/>
              <a:ext cx="1219200" cy="2286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6" name="Line 137"/>
            <p:cNvSpPr>
              <a:spLocks noChangeShapeType="1"/>
            </p:cNvSpPr>
            <p:nvPr/>
          </p:nvSpPr>
          <p:spPr bwMode="auto">
            <a:xfrm flipV="1">
              <a:off x="6605588" y="5897563"/>
              <a:ext cx="838200" cy="3810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7" name="Line 138"/>
            <p:cNvSpPr>
              <a:spLocks noChangeShapeType="1"/>
            </p:cNvSpPr>
            <p:nvPr/>
          </p:nvSpPr>
          <p:spPr bwMode="auto">
            <a:xfrm flipV="1">
              <a:off x="4533900" y="6278563"/>
              <a:ext cx="2147888" cy="6985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8" name="Line 139"/>
            <p:cNvSpPr>
              <a:spLocks noChangeShapeType="1"/>
            </p:cNvSpPr>
            <p:nvPr/>
          </p:nvSpPr>
          <p:spPr bwMode="auto">
            <a:xfrm>
              <a:off x="3176588" y="3611563"/>
              <a:ext cx="76200" cy="8382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49" name="Line 140"/>
            <p:cNvSpPr>
              <a:spLocks noChangeShapeType="1"/>
            </p:cNvSpPr>
            <p:nvPr/>
          </p:nvSpPr>
          <p:spPr bwMode="auto">
            <a:xfrm>
              <a:off x="3252788" y="4373563"/>
              <a:ext cx="457200" cy="990600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750" name="Line 141"/>
            <p:cNvSpPr>
              <a:spLocks noChangeShapeType="1"/>
            </p:cNvSpPr>
            <p:nvPr/>
          </p:nvSpPr>
          <p:spPr bwMode="auto">
            <a:xfrm>
              <a:off x="3765550" y="5465763"/>
              <a:ext cx="422275" cy="766762"/>
            </a:xfrm>
            <a:prstGeom prst="line">
              <a:avLst/>
            </a:prstGeom>
            <a:noFill/>
            <a:ln w="50800">
              <a:solidFill>
                <a:srgbClr val="FF00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73751" name="Picture 142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1388" y="52117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52" name="Picture 14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47988" y="43735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53" name="Picture 144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1788" y="33829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54" name="Picture 145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5388" y="33829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55" name="Picture 146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5988" y="39163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56" name="Picture 147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5988" y="45259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57" name="Picture 148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8988" y="42973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58" name="Picture 149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9788" y="50593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59" name="Picture 150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5188" y="47545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60" name="Picture 151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8988" y="52879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61" name="Picture 152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5988" y="55165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62" name="Picture 153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8988" y="57451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63" name="Picture 154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9388" y="6126163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764" name="Rectangle 155"/>
            <p:cNvSpPr>
              <a:spLocks noChangeArrowheads="1"/>
            </p:cNvSpPr>
            <p:nvPr/>
          </p:nvSpPr>
          <p:spPr bwMode="auto">
            <a:xfrm>
              <a:off x="7062788" y="3840163"/>
              <a:ext cx="6365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600">
                  <a:latin typeface="Arial" charset="0"/>
                </a:rPr>
                <a:t>AS 4</a:t>
              </a:r>
            </a:p>
          </p:txBody>
        </p:sp>
        <p:sp>
          <p:nvSpPr>
            <p:cNvPr id="73765" name="Rectangle 156"/>
            <p:cNvSpPr>
              <a:spLocks noChangeArrowheads="1"/>
            </p:cNvSpPr>
            <p:nvPr/>
          </p:nvSpPr>
          <p:spPr bwMode="auto">
            <a:xfrm>
              <a:off x="2185988" y="4373563"/>
              <a:ext cx="6365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600">
                  <a:latin typeface="Arial" charset="0"/>
                </a:rPr>
                <a:t>AS 3</a:t>
              </a:r>
            </a:p>
          </p:txBody>
        </p:sp>
        <p:sp>
          <p:nvSpPr>
            <p:cNvPr id="73766" name="Rectangle 157"/>
            <p:cNvSpPr>
              <a:spLocks noChangeArrowheads="1"/>
            </p:cNvSpPr>
            <p:nvPr/>
          </p:nvSpPr>
          <p:spPr bwMode="auto">
            <a:xfrm>
              <a:off x="2795588" y="5211763"/>
              <a:ext cx="6365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600">
                  <a:latin typeface="Arial" charset="0"/>
                </a:rPr>
                <a:t>AS 2</a:t>
              </a:r>
            </a:p>
          </p:txBody>
        </p:sp>
        <p:sp>
          <p:nvSpPr>
            <p:cNvPr id="73767" name="Rectangle 158"/>
            <p:cNvSpPr>
              <a:spLocks noChangeArrowheads="1"/>
            </p:cNvSpPr>
            <p:nvPr/>
          </p:nvSpPr>
          <p:spPr bwMode="auto">
            <a:xfrm>
              <a:off x="3429000" y="6172200"/>
              <a:ext cx="6365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algn="l" eaLnBrk="0" hangingPunct="0"/>
              <a:r>
                <a:rPr lang="en-US" sz="1600">
                  <a:latin typeface="Arial" charset="0"/>
                </a:rPr>
                <a:t>AS 1</a:t>
              </a:r>
            </a:p>
          </p:txBody>
        </p:sp>
        <p:sp>
          <p:nvSpPr>
            <p:cNvPr id="73768" name="Text Box 159"/>
            <p:cNvSpPr txBox="1">
              <a:spLocks noChangeArrowheads="1"/>
            </p:cNvSpPr>
            <p:nvPr/>
          </p:nvSpPr>
          <p:spPr bwMode="auto">
            <a:xfrm>
              <a:off x="2744694" y="2346510"/>
              <a:ext cx="2762449" cy="1155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b="0" dirty="0">
                  <a:latin typeface="Arial" charset="0"/>
                  <a:ea typeface="Arial" charset="0"/>
                </a:rPr>
                <a:t>BGP says that path </a:t>
              </a:r>
              <a:r>
                <a:rPr lang="en-US" dirty="0">
                  <a:latin typeface="Arial" charset="0"/>
                  <a:ea typeface="Arial" charset="0"/>
                </a:rPr>
                <a:t>4 1</a:t>
              </a:r>
              <a:r>
                <a:rPr lang="en-US" b="0" dirty="0">
                  <a:latin typeface="Arial" charset="0"/>
                  <a:ea typeface="Arial" charset="0"/>
                </a:rPr>
                <a:t> is better than path </a:t>
              </a:r>
              <a:r>
                <a:rPr lang="en-US" dirty="0">
                  <a:latin typeface="Arial" charset="0"/>
                  <a:ea typeface="Arial" charset="0"/>
                </a:rPr>
                <a:t>3 2 1</a:t>
              </a:r>
            </a:p>
          </p:txBody>
        </p:sp>
        <p:pic>
          <p:nvPicPr>
            <p:cNvPr id="73769" name="Picture 160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90988" y="6199188"/>
              <a:ext cx="547687" cy="34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A14F238-359F-364A-8B2A-0411D04E9EE1}"/>
                  </a:ext>
                </a:extLst>
              </p14:cNvPr>
              <p14:cNvContentPartPr/>
              <p14:nvPr/>
            </p14:nvContentPartPr>
            <p14:xfrm>
              <a:off x="3005640" y="4300560"/>
              <a:ext cx="1015920" cy="1558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A14F238-359F-364A-8B2A-0411D04E9E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83680" y="4278600"/>
                <a:ext cx="1053720" cy="159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42234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performance issue: Slow convergence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BGP outages are the</a:t>
            </a:r>
            <a:r>
              <a:rPr lang="zh-CN" altLang="en-US" dirty="0"/>
              <a:t> </a:t>
            </a:r>
            <a:r>
              <a:rPr lang="en-US" dirty="0"/>
              <a:t>biggest source of Internet problems</a:t>
            </a:r>
          </a:p>
          <a:p>
            <a:r>
              <a:rPr lang="en-US" dirty="0"/>
              <a:t>Most popular paths are very stable</a:t>
            </a:r>
          </a:p>
          <a:p>
            <a:r>
              <a:rPr lang="en-US" dirty="0"/>
              <a:t>Outages are still very common</a:t>
            </a:r>
          </a:p>
          <a:p>
            <a:pPr lvl="1"/>
            <a:r>
              <a:rPr lang="en-US" dirty="0"/>
              <a:t>Check out </a:t>
            </a:r>
            <a:r>
              <a:rPr lang="en-US" dirty="0">
                <a:hlinkClick r:id="rId3"/>
              </a:rPr>
              <a:t>https://bgpstream.com/</a:t>
            </a:r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6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BGP misconfigurations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BGP protocol is bloated yet underspecified</a:t>
            </a:r>
          </a:p>
          <a:p>
            <a:pPr lvl="1"/>
            <a:r>
              <a:rPr lang="en-US" dirty="0"/>
              <a:t>Lots of attributes</a:t>
            </a:r>
          </a:p>
          <a:p>
            <a:pPr lvl="1"/>
            <a:r>
              <a:rPr lang="en-US" dirty="0"/>
              <a:t>Lots of leeway in how to set and interpret attributes</a:t>
            </a:r>
          </a:p>
          <a:p>
            <a:pPr lvl="1"/>
            <a:r>
              <a:rPr lang="en-US" dirty="0"/>
              <a:t>Necessary to allow autonomy, diverse policies</a:t>
            </a:r>
          </a:p>
          <a:p>
            <a:pPr lvl="2"/>
            <a:r>
              <a:rPr lang="en-US" dirty="0"/>
              <a:t>But also gives operators plenty of rope</a:t>
            </a:r>
          </a:p>
          <a:p>
            <a:r>
              <a:rPr lang="en-US" dirty="0"/>
              <a:t>Configuration is mostly manual and ad hoc</a:t>
            </a:r>
          </a:p>
          <a:p>
            <a:pPr lvl="1"/>
            <a:r>
              <a:rPr lang="en-US" dirty="0"/>
              <a:t>Disjoint per-router configuration to effect AS-wide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9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key challenges in inter-domain routing</a:t>
            </a:r>
          </a:p>
          <a:p>
            <a:pPr lvl="1"/>
            <a:r>
              <a:rPr lang="en-US" dirty="0"/>
              <a:t>Scaling (Addressing)</a:t>
            </a:r>
          </a:p>
          <a:p>
            <a:pPr lvl="1"/>
            <a:r>
              <a:rPr lang="en-US" dirty="0"/>
              <a:t>Administrative structure (BGP)</a:t>
            </a:r>
          </a:p>
          <a:p>
            <a:pPr lvl="2"/>
            <a:r>
              <a:rPr lang="en-US" dirty="0"/>
              <a:t>Issues of autonomy, policy, privacy </a:t>
            </a:r>
          </a:p>
          <a:p>
            <a:endParaRPr lang="en-US" dirty="0"/>
          </a:p>
          <a:p>
            <a:r>
              <a:rPr lang="en-US" dirty="0"/>
              <a:t>BGP policies, protocol, and challenges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7E7EEAE-88C0-1A69-A6B2-5FC712489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Backup</a:t>
            </a:r>
            <a:r>
              <a:rPr lang="zh-CN" altLang="en-US" dirty="0"/>
              <a:t> </a:t>
            </a:r>
            <a:r>
              <a:rPr lang="en-US" altLang="zh-CN" dirty="0"/>
              <a:t>slides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longest</a:t>
            </a:r>
            <a:r>
              <a:rPr lang="zh-CN" altLang="en-US" dirty="0"/>
              <a:t> </a:t>
            </a:r>
            <a:r>
              <a:rPr lang="en-US" altLang="zh-CN" dirty="0"/>
              <a:t>prefix</a:t>
            </a:r>
            <a:r>
              <a:rPr lang="zh-CN" altLang="en-US" dirty="0"/>
              <a:t> </a:t>
            </a:r>
            <a:r>
              <a:rPr lang="en-US" altLang="zh-CN" dirty="0"/>
              <a:t>matching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B6CE0F4-E96D-F2B1-F7CA-485990E4E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D0CBD-64D7-994B-4AE6-A145AD7C9C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3772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Looking up the output 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entry for each address </a:t>
            </a:r>
            <a:r>
              <a:rPr lang="en-US" dirty="0">
                <a:sym typeface="Wingdings"/>
              </a:rPr>
              <a:t> 4 billion entries!</a:t>
            </a:r>
          </a:p>
          <a:p>
            <a:r>
              <a:rPr lang="en-US" dirty="0">
                <a:sym typeface="Wingdings"/>
              </a:rPr>
              <a:t>For scalability, addresses are aggregated</a:t>
            </a:r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0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Router with 4 ports</a:t>
            </a:r>
          </a:p>
          <a:p>
            <a:r>
              <a:rPr lang="en-US" dirty="0"/>
              <a:t>Destination address range mapping</a:t>
            </a:r>
          </a:p>
          <a:p>
            <a:pPr lvl="1"/>
            <a:r>
              <a:rPr lang="en-US" dirty="0"/>
              <a:t>11 00 00 00 to 11 00 00 11: 	Port 1</a:t>
            </a:r>
          </a:p>
          <a:p>
            <a:pPr lvl="1"/>
            <a:r>
              <a:rPr lang="en-US" dirty="0"/>
              <a:t>11 00 01 00 to 11 00 01 11: 	Port 2</a:t>
            </a:r>
          </a:p>
          <a:p>
            <a:pPr lvl="1"/>
            <a:r>
              <a:rPr lang="en-US" dirty="0"/>
              <a:t>11 00 10 00 to 11 00 11 11: 	Port 3</a:t>
            </a:r>
          </a:p>
          <a:p>
            <a:pPr lvl="1"/>
            <a:r>
              <a:rPr lang="en-US" dirty="0"/>
              <a:t>11 01 00 00 to 11 01 11 11: 	Port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66286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Router with 4 ports</a:t>
            </a:r>
          </a:p>
          <a:p>
            <a:r>
              <a:rPr lang="en-US" dirty="0"/>
              <a:t>Destination address range mapping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11 00 00</a:t>
            </a:r>
            <a:r>
              <a:rPr lang="en-US" dirty="0"/>
              <a:t> 00 to </a:t>
            </a:r>
            <a:r>
              <a:rPr lang="en-US" dirty="0">
                <a:solidFill>
                  <a:srgbClr val="0000FF"/>
                </a:solidFill>
              </a:rPr>
              <a:t>11 00 00</a:t>
            </a:r>
            <a:r>
              <a:rPr lang="en-US" dirty="0"/>
              <a:t> 11: 	Port 1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11 00 01 </a:t>
            </a:r>
            <a:r>
              <a:rPr lang="en-US" dirty="0"/>
              <a:t>00 to </a:t>
            </a:r>
            <a:r>
              <a:rPr lang="en-US" dirty="0">
                <a:solidFill>
                  <a:srgbClr val="0000FF"/>
                </a:solidFill>
              </a:rPr>
              <a:t>11 00 01 </a:t>
            </a:r>
            <a:r>
              <a:rPr lang="en-US" dirty="0"/>
              <a:t>11: 	Port 2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11 00</a:t>
            </a:r>
            <a:r>
              <a:rPr lang="en-US" dirty="0"/>
              <a:t> 10 00 to </a:t>
            </a:r>
            <a:r>
              <a:rPr lang="en-US" dirty="0">
                <a:solidFill>
                  <a:srgbClr val="0000FF"/>
                </a:solidFill>
              </a:rPr>
              <a:t>11 00 </a:t>
            </a:r>
            <a:r>
              <a:rPr lang="en-US" dirty="0"/>
              <a:t>11 11: 	Port 3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11 01</a:t>
            </a:r>
            <a:r>
              <a:rPr lang="en-US" dirty="0"/>
              <a:t> 00 00 to </a:t>
            </a:r>
            <a:r>
              <a:rPr lang="en-US" dirty="0">
                <a:solidFill>
                  <a:srgbClr val="0000FF"/>
                </a:solidFill>
              </a:rPr>
              <a:t>11 01</a:t>
            </a:r>
            <a:r>
              <a:rPr lang="en-US" dirty="0"/>
              <a:t> 11 11: 	Port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8167CFD-637B-8DB8-3329-ECE0A87D312D}"/>
                  </a:ext>
                </a:extLst>
              </p14:cNvPr>
              <p14:cNvContentPartPr/>
              <p14:nvPr/>
            </p14:nvContentPartPr>
            <p14:xfrm>
              <a:off x="644400" y="2859480"/>
              <a:ext cx="1425240" cy="1120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8167CFD-637B-8DB8-3329-ECE0A87D31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5040" y="2850120"/>
                <a:ext cx="1443960" cy="113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713154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Longest prefix matching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89</a:t>
            </a:fld>
            <a:endParaRPr lang="en-US"/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914400" y="2392362"/>
            <a:ext cx="7221880" cy="2103438"/>
            <a:chOff x="933450" y="2514600"/>
            <a:chExt cx="7220322" cy="2088887"/>
          </a:xfrm>
        </p:grpSpPr>
        <p:sp>
          <p:nvSpPr>
            <p:cNvPr id="8" name="Oval 13"/>
            <p:cNvSpPr>
              <a:spLocks noChangeArrowheads="1"/>
            </p:cNvSpPr>
            <p:nvPr/>
          </p:nvSpPr>
          <p:spPr bwMode="auto">
            <a:xfrm>
              <a:off x="28956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9" name="Oval 14"/>
            <p:cNvSpPr>
              <a:spLocks noChangeArrowheads="1"/>
            </p:cNvSpPr>
            <p:nvPr/>
          </p:nvSpPr>
          <p:spPr bwMode="auto">
            <a:xfrm>
              <a:off x="11430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b="0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10" name="Oval 15"/>
            <p:cNvSpPr>
              <a:spLocks noChangeArrowheads="1"/>
            </p:cNvSpPr>
            <p:nvPr/>
          </p:nvSpPr>
          <p:spPr bwMode="auto">
            <a:xfrm>
              <a:off x="48768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11" name="Oval 16"/>
            <p:cNvSpPr>
              <a:spLocks noChangeArrowheads="1"/>
            </p:cNvSpPr>
            <p:nvPr/>
          </p:nvSpPr>
          <p:spPr bwMode="auto">
            <a:xfrm>
              <a:off x="67056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933450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110000**</a:t>
              </a: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2714625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110001**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1100****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6571034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1101****</a:t>
              </a:r>
            </a:p>
          </p:txBody>
        </p:sp>
        <p:cxnSp>
          <p:nvCxnSpPr>
            <p:cNvPr id="16" name="AutoShape 13"/>
            <p:cNvCxnSpPr>
              <a:cxnSpLocks noChangeShapeType="1"/>
            </p:cNvCxnSpPr>
            <p:nvPr/>
          </p:nvCxnSpPr>
          <p:spPr bwMode="auto">
            <a:xfrm rot="10800000" flipV="1">
              <a:off x="1790700" y="2808288"/>
              <a:ext cx="1763713" cy="1143000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AutoShape 14"/>
            <p:cNvCxnSpPr>
              <a:cxnSpLocks noChangeShapeType="1"/>
            </p:cNvCxnSpPr>
            <p:nvPr/>
          </p:nvCxnSpPr>
          <p:spPr bwMode="auto">
            <a:xfrm rot="5400000">
              <a:off x="3567907" y="2985293"/>
              <a:ext cx="838200" cy="111601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15"/>
            <p:cNvCxnSpPr>
              <a:cxnSpLocks noChangeShapeType="1"/>
            </p:cNvCxnSpPr>
            <p:nvPr/>
          </p:nvCxnSpPr>
          <p:spPr bwMode="auto">
            <a:xfrm>
              <a:off x="5764213" y="2808288"/>
              <a:ext cx="1589087" cy="1143000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AutoShape 16"/>
            <p:cNvCxnSpPr>
              <a:cxnSpLocks noChangeShapeType="1"/>
            </p:cNvCxnSpPr>
            <p:nvPr/>
          </p:nvCxnSpPr>
          <p:spPr bwMode="auto">
            <a:xfrm rot="16200000" flipH="1">
              <a:off x="4691857" y="3156744"/>
              <a:ext cx="838200" cy="750887"/>
            </a:xfrm>
            <a:prstGeom prst="bentConnector3">
              <a:avLst>
                <a:gd name="adj1" fmla="val 51514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Oval 25"/>
            <p:cNvSpPr>
              <a:spLocks noChangeArrowheads="1"/>
            </p:cNvSpPr>
            <p:nvPr/>
          </p:nvSpPr>
          <p:spPr bwMode="auto">
            <a:xfrm>
              <a:off x="3505200" y="2514600"/>
              <a:ext cx="2209800" cy="609600"/>
            </a:xfrm>
            <a:prstGeom prst="ellipse">
              <a:avLst/>
            </a:prstGeom>
            <a:solidFill>
              <a:srgbClr val="D3A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accent2"/>
                  </a:solidFill>
                  <a:latin typeface="+mn-lt"/>
                </a:rPr>
                <a:t>ISP Router</a:t>
              </a:r>
            </a:p>
          </p:txBody>
        </p:sp>
      </p:grpSp>
      <p:cxnSp>
        <p:nvCxnSpPr>
          <p:cNvPr id="21" name="Straight Connector 29"/>
          <p:cNvCxnSpPr>
            <a:cxnSpLocks noChangeShapeType="1"/>
          </p:cNvCxnSpPr>
          <p:nvPr/>
        </p:nvCxnSpPr>
        <p:spPr bwMode="auto">
          <a:xfrm rot="5400000">
            <a:off x="4479131" y="2277268"/>
            <a:ext cx="228600" cy="1588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925637" y="2316162"/>
            <a:ext cx="8382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2437" y="3001962"/>
            <a:ext cx="8382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8437" y="3044825"/>
            <a:ext cx="8382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6637" y="2316162"/>
            <a:ext cx="8382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4DC0162-3500-4E71-15AE-1035835CD5E2}"/>
                  </a:ext>
                </a:extLst>
              </p14:cNvPr>
              <p14:cNvContentPartPr/>
              <p14:nvPr/>
            </p14:nvContentPartPr>
            <p14:xfrm>
              <a:off x="199080" y="389880"/>
              <a:ext cx="2651040" cy="1071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4DC0162-3500-4E71-15AE-1035835CD5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9720" y="380520"/>
                <a:ext cx="2669760" cy="109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37465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match efficiently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Testing each entry to find a match scales poorly</a:t>
            </a:r>
          </a:p>
          <a:p>
            <a:pPr lvl="1"/>
            <a:r>
              <a:rPr lang="en-US" dirty="0"/>
              <a:t>On average: O(number of entries)</a:t>
            </a:r>
          </a:p>
          <a:p>
            <a:r>
              <a:rPr lang="en-US" dirty="0"/>
              <a:t>Leverage tree structure of binary strings</a:t>
            </a:r>
          </a:p>
          <a:p>
            <a:pPr lvl="1"/>
            <a:r>
              <a:rPr lang="en-US" dirty="0"/>
              <a:t>Set up tree-like data structure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8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Longest prefix matching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91</a:t>
            </a:fld>
            <a:endParaRPr lang="en-US"/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914400" y="2392362"/>
            <a:ext cx="7221880" cy="2103438"/>
            <a:chOff x="933450" y="2514600"/>
            <a:chExt cx="7220322" cy="2088887"/>
          </a:xfrm>
        </p:grpSpPr>
        <p:sp>
          <p:nvSpPr>
            <p:cNvPr id="8" name="Oval 13"/>
            <p:cNvSpPr>
              <a:spLocks noChangeArrowheads="1"/>
            </p:cNvSpPr>
            <p:nvPr/>
          </p:nvSpPr>
          <p:spPr bwMode="auto">
            <a:xfrm>
              <a:off x="28956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9" name="Oval 14"/>
            <p:cNvSpPr>
              <a:spLocks noChangeArrowheads="1"/>
            </p:cNvSpPr>
            <p:nvPr/>
          </p:nvSpPr>
          <p:spPr bwMode="auto">
            <a:xfrm>
              <a:off x="11430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 b="0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10" name="Oval 15"/>
            <p:cNvSpPr>
              <a:spLocks noChangeArrowheads="1"/>
            </p:cNvSpPr>
            <p:nvPr/>
          </p:nvSpPr>
          <p:spPr bwMode="auto">
            <a:xfrm>
              <a:off x="48768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11" name="Oval 16"/>
            <p:cNvSpPr>
              <a:spLocks noChangeArrowheads="1"/>
            </p:cNvSpPr>
            <p:nvPr/>
          </p:nvSpPr>
          <p:spPr bwMode="auto">
            <a:xfrm>
              <a:off x="6705600" y="3951288"/>
              <a:ext cx="1295400" cy="381000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accent2"/>
                </a:solidFill>
                <a:latin typeface="+mn-lt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933450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</a:t>
              </a:r>
              <a:r>
                <a:rPr lang="en-US" sz="1600" b="0" dirty="0">
                  <a:solidFill>
                    <a:srgbClr val="0000FF"/>
                  </a:solidFill>
                  <a:latin typeface="+mn-lt"/>
                </a:rPr>
                <a:t>000</a:t>
              </a:r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**</a:t>
              </a: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2714625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</a:t>
              </a:r>
              <a:r>
                <a:rPr lang="en-US" sz="1600" b="0" dirty="0">
                  <a:solidFill>
                    <a:srgbClr val="0000FF"/>
                  </a:solidFill>
                  <a:latin typeface="+mn-lt"/>
                </a:rPr>
                <a:t>001</a:t>
              </a:r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**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</a:t>
              </a:r>
              <a:r>
                <a:rPr lang="en-US" sz="1600" b="0" dirty="0">
                  <a:solidFill>
                    <a:srgbClr val="0000FF"/>
                  </a:solidFill>
                  <a:latin typeface="+mn-lt"/>
                </a:rPr>
                <a:t>0**</a:t>
              </a:r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**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6571034" y="4267200"/>
              <a:ext cx="1582738" cy="336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110</a:t>
              </a:r>
              <a:r>
                <a:rPr lang="en-US" sz="1600" b="0" dirty="0">
                  <a:solidFill>
                    <a:srgbClr val="0000FF"/>
                  </a:solidFill>
                  <a:latin typeface="+mn-lt"/>
                </a:rPr>
                <a:t>1**</a:t>
              </a:r>
              <a:r>
                <a:rPr lang="en-US" sz="1600" b="0" dirty="0">
                  <a:solidFill>
                    <a:schemeClr val="accent2"/>
                  </a:solidFill>
                  <a:latin typeface="+mn-lt"/>
                </a:rPr>
                <a:t>**</a:t>
              </a:r>
            </a:p>
          </p:txBody>
        </p:sp>
        <p:cxnSp>
          <p:nvCxnSpPr>
            <p:cNvPr id="16" name="AutoShape 13"/>
            <p:cNvCxnSpPr>
              <a:cxnSpLocks noChangeShapeType="1"/>
            </p:cNvCxnSpPr>
            <p:nvPr/>
          </p:nvCxnSpPr>
          <p:spPr bwMode="auto">
            <a:xfrm rot="10800000" flipV="1">
              <a:off x="1790700" y="2808288"/>
              <a:ext cx="1763713" cy="1143000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AutoShape 14"/>
            <p:cNvCxnSpPr>
              <a:cxnSpLocks noChangeShapeType="1"/>
            </p:cNvCxnSpPr>
            <p:nvPr/>
          </p:nvCxnSpPr>
          <p:spPr bwMode="auto">
            <a:xfrm rot="5400000">
              <a:off x="3567907" y="2985293"/>
              <a:ext cx="838200" cy="1116013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AutoShape 15"/>
            <p:cNvCxnSpPr>
              <a:cxnSpLocks noChangeShapeType="1"/>
            </p:cNvCxnSpPr>
            <p:nvPr/>
          </p:nvCxnSpPr>
          <p:spPr bwMode="auto">
            <a:xfrm>
              <a:off x="5764213" y="2808288"/>
              <a:ext cx="1589087" cy="1143000"/>
            </a:xfrm>
            <a:prstGeom prst="bentConnector2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AutoShape 16"/>
            <p:cNvCxnSpPr>
              <a:cxnSpLocks noChangeShapeType="1"/>
            </p:cNvCxnSpPr>
            <p:nvPr/>
          </p:nvCxnSpPr>
          <p:spPr bwMode="auto">
            <a:xfrm rot="16200000" flipH="1">
              <a:off x="4691857" y="3156744"/>
              <a:ext cx="838200" cy="750887"/>
            </a:xfrm>
            <a:prstGeom prst="bentConnector3">
              <a:avLst>
                <a:gd name="adj1" fmla="val 51514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Oval 25"/>
            <p:cNvSpPr>
              <a:spLocks noChangeArrowheads="1"/>
            </p:cNvSpPr>
            <p:nvPr/>
          </p:nvSpPr>
          <p:spPr bwMode="auto">
            <a:xfrm>
              <a:off x="3505200" y="2514600"/>
              <a:ext cx="2209800" cy="609600"/>
            </a:xfrm>
            <a:prstGeom prst="ellipse">
              <a:avLst/>
            </a:prstGeom>
            <a:solidFill>
              <a:srgbClr val="D3A6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accent2"/>
                  </a:solidFill>
                  <a:latin typeface="+mn-lt"/>
                </a:rPr>
                <a:t>ISP Router</a:t>
              </a:r>
            </a:p>
          </p:txBody>
        </p:sp>
      </p:grpSp>
      <p:cxnSp>
        <p:nvCxnSpPr>
          <p:cNvPr id="21" name="Straight Connector 29"/>
          <p:cNvCxnSpPr>
            <a:cxnSpLocks noChangeShapeType="1"/>
          </p:cNvCxnSpPr>
          <p:nvPr/>
        </p:nvCxnSpPr>
        <p:spPr bwMode="auto">
          <a:xfrm rot="5400000">
            <a:off x="4479131" y="2277268"/>
            <a:ext cx="228600" cy="1588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925637" y="2316162"/>
            <a:ext cx="8382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2437" y="3001962"/>
            <a:ext cx="8382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8437" y="3044825"/>
            <a:ext cx="8382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6637" y="2316162"/>
            <a:ext cx="8382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600" b="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Port 4</a:t>
            </a:r>
          </a:p>
        </p:txBody>
      </p:sp>
    </p:spTree>
    <p:extLst>
      <p:ext uri="{BB962C8B-B14F-4D97-AF65-F5344CB8AC3E}">
        <p14:creationId xmlns:p14="http://schemas.microsoft.com/office/powerpoint/2010/main" val="38270050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structure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92</a:t>
            </a:fld>
            <a:endParaRPr lang="en-US"/>
          </a:p>
        </p:txBody>
      </p:sp>
      <p:sp>
        <p:nvSpPr>
          <p:cNvPr id="34" name="Oval 6"/>
          <p:cNvSpPr>
            <a:spLocks noChangeArrowheads="1"/>
          </p:cNvSpPr>
          <p:nvPr/>
        </p:nvSpPr>
        <p:spPr bwMode="auto">
          <a:xfrm>
            <a:off x="1147763" y="4230688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00*</a:t>
            </a:r>
          </a:p>
        </p:txBody>
      </p:sp>
      <p:sp>
        <p:nvSpPr>
          <p:cNvPr id="35" name="Oval 7"/>
          <p:cNvSpPr>
            <a:spLocks noChangeArrowheads="1"/>
          </p:cNvSpPr>
          <p:nvPr/>
        </p:nvSpPr>
        <p:spPr bwMode="auto">
          <a:xfrm>
            <a:off x="381000" y="5037138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000</a:t>
            </a:r>
          </a:p>
        </p:txBody>
      </p:sp>
      <p:sp>
        <p:nvSpPr>
          <p:cNvPr id="36" name="Oval 8"/>
          <p:cNvSpPr>
            <a:spLocks noChangeArrowheads="1"/>
          </p:cNvSpPr>
          <p:nvPr/>
        </p:nvSpPr>
        <p:spPr bwMode="auto">
          <a:xfrm>
            <a:off x="1800225" y="5075238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001</a:t>
            </a:r>
          </a:p>
        </p:txBody>
      </p:sp>
      <p:sp>
        <p:nvSpPr>
          <p:cNvPr id="37" name="Line 10"/>
          <p:cNvSpPr>
            <a:spLocks noChangeShapeType="1"/>
          </p:cNvSpPr>
          <p:nvPr/>
        </p:nvSpPr>
        <p:spPr bwMode="auto">
          <a:xfrm>
            <a:off x="1571625" y="4576763"/>
            <a:ext cx="422275" cy="49847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38" name="Line 11"/>
          <p:cNvSpPr>
            <a:spLocks noChangeShapeType="1"/>
          </p:cNvSpPr>
          <p:nvPr/>
        </p:nvSpPr>
        <p:spPr bwMode="auto">
          <a:xfrm flipH="1">
            <a:off x="765175" y="4576763"/>
            <a:ext cx="422275" cy="49847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39" name="Text Box 19"/>
          <p:cNvSpPr txBox="1">
            <a:spLocks noChangeArrowheads="1"/>
          </p:cNvSpPr>
          <p:nvPr/>
        </p:nvSpPr>
        <p:spPr bwMode="auto">
          <a:xfrm>
            <a:off x="609600" y="446087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40" name="Text Box 20"/>
          <p:cNvSpPr txBox="1">
            <a:spLocks noChangeArrowheads="1"/>
          </p:cNvSpPr>
          <p:nvPr/>
        </p:nvSpPr>
        <p:spPr bwMode="auto">
          <a:xfrm>
            <a:off x="1657350" y="446087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2590800" y="4267200"/>
            <a:ext cx="1919287" cy="1266825"/>
            <a:chOff x="685800" y="4230688"/>
            <a:chExt cx="1919287" cy="1266825"/>
          </a:xfrm>
        </p:grpSpPr>
        <p:sp>
          <p:nvSpPr>
            <p:cNvPr id="49" name="Oval 6"/>
            <p:cNvSpPr>
              <a:spLocks noChangeArrowheads="1"/>
            </p:cNvSpPr>
            <p:nvPr/>
          </p:nvSpPr>
          <p:spPr bwMode="auto">
            <a:xfrm>
              <a:off x="1452563" y="423068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01*</a:t>
              </a:r>
            </a:p>
          </p:txBody>
        </p:sp>
        <p:sp>
          <p:nvSpPr>
            <p:cNvPr id="50" name="Oval 7"/>
            <p:cNvSpPr>
              <a:spLocks noChangeArrowheads="1"/>
            </p:cNvSpPr>
            <p:nvPr/>
          </p:nvSpPr>
          <p:spPr bwMode="auto">
            <a:xfrm>
              <a:off x="685800" y="50371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010</a:t>
              </a:r>
            </a:p>
          </p:txBody>
        </p:sp>
        <p:sp>
          <p:nvSpPr>
            <p:cNvPr id="51" name="Oval 8"/>
            <p:cNvSpPr>
              <a:spLocks noChangeArrowheads="1"/>
            </p:cNvSpPr>
            <p:nvPr/>
          </p:nvSpPr>
          <p:spPr bwMode="auto">
            <a:xfrm>
              <a:off x="2105025" y="50752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011</a:t>
              </a:r>
            </a:p>
          </p:txBody>
        </p:sp>
        <p:sp>
          <p:nvSpPr>
            <p:cNvPr id="52" name="Line 10"/>
            <p:cNvSpPr>
              <a:spLocks noChangeShapeType="1"/>
            </p:cNvSpPr>
            <p:nvPr/>
          </p:nvSpPr>
          <p:spPr bwMode="auto">
            <a:xfrm>
              <a:off x="187642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53" name="Line 11"/>
            <p:cNvSpPr>
              <a:spLocks noChangeShapeType="1"/>
            </p:cNvSpPr>
            <p:nvPr/>
          </p:nvSpPr>
          <p:spPr bwMode="auto">
            <a:xfrm flipH="1">
              <a:off x="106997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54" name="Text Box 19"/>
            <p:cNvSpPr txBox="1">
              <a:spLocks noChangeArrowheads="1"/>
            </p:cNvSpPr>
            <p:nvPr/>
          </p:nvSpPr>
          <p:spPr bwMode="auto">
            <a:xfrm>
              <a:off x="91440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5" name="Text Box 20"/>
            <p:cNvSpPr txBox="1">
              <a:spLocks noChangeArrowheads="1"/>
            </p:cNvSpPr>
            <p:nvPr/>
          </p:nvSpPr>
          <p:spPr bwMode="auto">
            <a:xfrm>
              <a:off x="196215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6996113" y="4267200"/>
            <a:ext cx="1919287" cy="1266825"/>
            <a:chOff x="685800" y="4230688"/>
            <a:chExt cx="1919287" cy="1266825"/>
          </a:xfrm>
        </p:grpSpPr>
        <p:sp>
          <p:nvSpPr>
            <p:cNvPr id="57" name="Oval 6"/>
            <p:cNvSpPr>
              <a:spLocks noChangeArrowheads="1"/>
            </p:cNvSpPr>
            <p:nvPr/>
          </p:nvSpPr>
          <p:spPr bwMode="auto">
            <a:xfrm>
              <a:off x="1452563" y="423068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11*</a:t>
              </a:r>
            </a:p>
          </p:txBody>
        </p:sp>
        <p:sp>
          <p:nvSpPr>
            <p:cNvPr id="58" name="Oval 7"/>
            <p:cNvSpPr>
              <a:spLocks noChangeArrowheads="1"/>
            </p:cNvSpPr>
            <p:nvPr/>
          </p:nvSpPr>
          <p:spPr bwMode="auto">
            <a:xfrm>
              <a:off x="685800" y="50371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110</a:t>
              </a:r>
            </a:p>
          </p:txBody>
        </p:sp>
        <p:sp>
          <p:nvSpPr>
            <p:cNvPr id="59" name="Oval 8"/>
            <p:cNvSpPr>
              <a:spLocks noChangeArrowheads="1"/>
            </p:cNvSpPr>
            <p:nvPr/>
          </p:nvSpPr>
          <p:spPr bwMode="auto">
            <a:xfrm>
              <a:off x="2105025" y="50752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111</a:t>
              </a:r>
            </a:p>
          </p:txBody>
        </p:sp>
        <p:sp>
          <p:nvSpPr>
            <p:cNvPr id="60" name="Line 10"/>
            <p:cNvSpPr>
              <a:spLocks noChangeShapeType="1"/>
            </p:cNvSpPr>
            <p:nvPr/>
          </p:nvSpPr>
          <p:spPr bwMode="auto">
            <a:xfrm>
              <a:off x="187642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61" name="Line 11"/>
            <p:cNvSpPr>
              <a:spLocks noChangeShapeType="1"/>
            </p:cNvSpPr>
            <p:nvPr/>
          </p:nvSpPr>
          <p:spPr bwMode="auto">
            <a:xfrm flipH="1">
              <a:off x="106997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62" name="Text Box 19"/>
            <p:cNvSpPr txBox="1">
              <a:spLocks noChangeArrowheads="1"/>
            </p:cNvSpPr>
            <p:nvPr/>
          </p:nvSpPr>
          <p:spPr bwMode="auto">
            <a:xfrm>
              <a:off x="91440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63" name="Text Box 20"/>
            <p:cNvSpPr txBox="1">
              <a:spLocks noChangeArrowheads="1"/>
            </p:cNvSpPr>
            <p:nvPr/>
          </p:nvSpPr>
          <p:spPr bwMode="auto">
            <a:xfrm>
              <a:off x="196215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4800600" y="4267200"/>
            <a:ext cx="1919287" cy="1266825"/>
            <a:chOff x="685800" y="4230688"/>
            <a:chExt cx="1919287" cy="1266825"/>
          </a:xfrm>
        </p:grpSpPr>
        <p:sp>
          <p:nvSpPr>
            <p:cNvPr id="65" name="Oval 6"/>
            <p:cNvSpPr>
              <a:spLocks noChangeArrowheads="1"/>
            </p:cNvSpPr>
            <p:nvPr/>
          </p:nvSpPr>
          <p:spPr bwMode="auto">
            <a:xfrm>
              <a:off x="1452563" y="423068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10*</a:t>
              </a:r>
            </a:p>
          </p:txBody>
        </p:sp>
        <p:sp>
          <p:nvSpPr>
            <p:cNvPr id="66" name="Oval 7"/>
            <p:cNvSpPr>
              <a:spLocks noChangeArrowheads="1"/>
            </p:cNvSpPr>
            <p:nvPr/>
          </p:nvSpPr>
          <p:spPr bwMode="auto">
            <a:xfrm>
              <a:off x="685800" y="50371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100</a:t>
              </a:r>
            </a:p>
          </p:txBody>
        </p:sp>
        <p:sp>
          <p:nvSpPr>
            <p:cNvPr id="67" name="Oval 8"/>
            <p:cNvSpPr>
              <a:spLocks noChangeArrowheads="1"/>
            </p:cNvSpPr>
            <p:nvPr/>
          </p:nvSpPr>
          <p:spPr bwMode="auto">
            <a:xfrm>
              <a:off x="2105025" y="50752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101</a:t>
              </a:r>
            </a:p>
          </p:txBody>
        </p:sp>
        <p:sp>
          <p:nvSpPr>
            <p:cNvPr id="68" name="Line 10"/>
            <p:cNvSpPr>
              <a:spLocks noChangeShapeType="1"/>
            </p:cNvSpPr>
            <p:nvPr/>
          </p:nvSpPr>
          <p:spPr bwMode="auto">
            <a:xfrm>
              <a:off x="187642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69" name="Line 11"/>
            <p:cNvSpPr>
              <a:spLocks noChangeShapeType="1"/>
            </p:cNvSpPr>
            <p:nvPr/>
          </p:nvSpPr>
          <p:spPr bwMode="auto">
            <a:xfrm flipH="1">
              <a:off x="106997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70" name="Text Box 19"/>
            <p:cNvSpPr txBox="1">
              <a:spLocks noChangeArrowheads="1"/>
            </p:cNvSpPr>
            <p:nvPr/>
          </p:nvSpPr>
          <p:spPr bwMode="auto">
            <a:xfrm>
              <a:off x="91440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71" name="Text Box 20"/>
            <p:cNvSpPr txBox="1">
              <a:spLocks noChangeArrowheads="1"/>
            </p:cNvSpPr>
            <p:nvPr/>
          </p:nvSpPr>
          <p:spPr bwMode="auto">
            <a:xfrm>
              <a:off x="196215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</p:grpSp>
      <p:sp>
        <p:nvSpPr>
          <p:cNvPr id="72" name="Oval 6"/>
          <p:cNvSpPr>
            <a:spLocks noChangeArrowheads="1"/>
          </p:cNvSpPr>
          <p:nvPr/>
        </p:nvSpPr>
        <p:spPr bwMode="auto">
          <a:xfrm>
            <a:off x="2290763" y="3429000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0**</a:t>
            </a:r>
          </a:p>
        </p:txBody>
      </p:sp>
      <p:sp>
        <p:nvSpPr>
          <p:cNvPr id="75" name="Line 10"/>
          <p:cNvSpPr>
            <a:spLocks noChangeShapeType="1"/>
          </p:cNvSpPr>
          <p:nvPr/>
        </p:nvSpPr>
        <p:spPr bwMode="auto">
          <a:xfrm>
            <a:off x="2714625" y="3775075"/>
            <a:ext cx="714375" cy="6445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6" name="Line 11"/>
          <p:cNvSpPr>
            <a:spLocks noChangeShapeType="1"/>
          </p:cNvSpPr>
          <p:nvPr/>
        </p:nvSpPr>
        <p:spPr bwMode="auto">
          <a:xfrm flipH="1">
            <a:off x="1600200" y="3775075"/>
            <a:ext cx="730250" cy="568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7" name="Text Box 19"/>
          <p:cNvSpPr txBox="1">
            <a:spLocks noChangeArrowheads="1"/>
          </p:cNvSpPr>
          <p:nvPr/>
        </p:nvSpPr>
        <p:spPr bwMode="auto">
          <a:xfrm>
            <a:off x="167640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78" name="Text Box 20"/>
          <p:cNvSpPr txBox="1">
            <a:spLocks noChangeArrowheads="1"/>
          </p:cNvSpPr>
          <p:nvPr/>
        </p:nvSpPr>
        <p:spPr bwMode="auto">
          <a:xfrm>
            <a:off x="294005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79" name="Oval 6"/>
          <p:cNvSpPr>
            <a:spLocks noChangeArrowheads="1"/>
          </p:cNvSpPr>
          <p:nvPr/>
        </p:nvSpPr>
        <p:spPr bwMode="auto">
          <a:xfrm>
            <a:off x="6772276" y="3429000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1**</a:t>
            </a:r>
          </a:p>
        </p:txBody>
      </p:sp>
      <p:sp>
        <p:nvSpPr>
          <p:cNvPr id="82" name="Line 10"/>
          <p:cNvSpPr>
            <a:spLocks noChangeShapeType="1"/>
          </p:cNvSpPr>
          <p:nvPr/>
        </p:nvSpPr>
        <p:spPr bwMode="auto">
          <a:xfrm>
            <a:off x="7196138" y="3775075"/>
            <a:ext cx="652462" cy="568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83" name="Line 11"/>
          <p:cNvSpPr>
            <a:spLocks noChangeShapeType="1"/>
          </p:cNvSpPr>
          <p:nvPr/>
        </p:nvSpPr>
        <p:spPr bwMode="auto">
          <a:xfrm flipH="1">
            <a:off x="5943599" y="3775075"/>
            <a:ext cx="868363" cy="568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84" name="Text Box 19"/>
          <p:cNvSpPr txBox="1">
            <a:spLocks noChangeArrowheads="1"/>
          </p:cNvSpPr>
          <p:nvPr/>
        </p:nvSpPr>
        <p:spPr bwMode="auto">
          <a:xfrm>
            <a:off x="609600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85" name="Text Box 20"/>
          <p:cNvSpPr txBox="1">
            <a:spLocks noChangeArrowheads="1"/>
          </p:cNvSpPr>
          <p:nvPr/>
        </p:nvSpPr>
        <p:spPr bwMode="auto">
          <a:xfrm>
            <a:off x="743585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86" name="Oval 6"/>
          <p:cNvSpPr>
            <a:spLocks noChangeArrowheads="1"/>
          </p:cNvSpPr>
          <p:nvPr/>
        </p:nvSpPr>
        <p:spPr bwMode="auto">
          <a:xfrm>
            <a:off x="4424363" y="2209800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***</a:t>
            </a:r>
          </a:p>
        </p:txBody>
      </p:sp>
      <p:sp>
        <p:nvSpPr>
          <p:cNvPr id="89" name="Line 10"/>
          <p:cNvSpPr>
            <a:spLocks noChangeShapeType="1"/>
          </p:cNvSpPr>
          <p:nvPr/>
        </p:nvSpPr>
        <p:spPr bwMode="auto">
          <a:xfrm>
            <a:off x="4848225" y="2555875"/>
            <a:ext cx="2009775" cy="949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0" name="Line 11"/>
          <p:cNvSpPr>
            <a:spLocks noChangeShapeType="1"/>
          </p:cNvSpPr>
          <p:nvPr/>
        </p:nvSpPr>
        <p:spPr bwMode="auto">
          <a:xfrm flipH="1">
            <a:off x="2743200" y="2555875"/>
            <a:ext cx="1720850" cy="10255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1" name="Text Box 19"/>
          <p:cNvSpPr txBox="1">
            <a:spLocks noChangeArrowheads="1"/>
          </p:cNvSpPr>
          <p:nvPr/>
        </p:nvSpPr>
        <p:spPr bwMode="auto">
          <a:xfrm>
            <a:off x="3200400" y="25749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92" name="Text Box 20"/>
          <p:cNvSpPr txBox="1">
            <a:spLocks noChangeArrowheads="1"/>
          </p:cNvSpPr>
          <p:nvPr/>
        </p:nvSpPr>
        <p:spPr bwMode="auto">
          <a:xfrm>
            <a:off x="5943600" y="2590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0" y="1191161"/>
            <a:ext cx="3276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b="0" dirty="0"/>
          </a:p>
          <a:p>
            <a:r>
              <a:rPr lang="en-US" b="0" dirty="0">
                <a:latin typeface="Monaco"/>
                <a:cs typeface="Monaco"/>
              </a:rPr>
              <a:t>  000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1</a:t>
            </a:r>
          </a:p>
          <a:p>
            <a:r>
              <a:rPr lang="en-US" b="0" dirty="0">
                <a:latin typeface="Monaco"/>
                <a:cs typeface="Monaco"/>
              </a:rPr>
              <a:t>  001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2</a:t>
            </a:r>
          </a:p>
          <a:p>
            <a:r>
              <a:rPr lang="en-US" b="0" dirty="0">
                <a:latin typeface="Monaco"/>
                <a:cs typeface="Monaco"/>
              </a:rPr>
              <a:t>  0**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3</a:t>
            </a:r>
          </a:p>
          <a:p>
            <a:r>
              <a:rPr lang="en-US" b="0" dirty="0">
                <a:latin typeface="Monaco"/>
                <a:cs typeface="Monaco"/>
              </a:rPr>
              <a:t>  1**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4</a:t>
            </a:r>
          </a:p>
        </p:txBody>
      </p:sp>
    </p:spTree>
    <p:extLst>
      <p:ext uri="{BB962C8B-B14F-4D97-AF65-F5344CB8AC3E}">
        <p14:creationId xmlns:p14="http://schemas.microsoft.com/office/powerpoint/2010/main" val="104789545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C6A66-3E77-ED42-94AA-73BBEB9A5D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93</a:t>
            </a:fld>
            <a:endParaRPr lang="en-US"/>
          </a:p>
        </p:txBody>
      </p:sp>
      <p:sp>
        <p:nvSpPr>
          <p:cNvPr id="34" name="Oval 6"/>
          <p:cNvSpPr>
            <a:spLocks noChangeArrowheads="1"/>
          </p:cNvSpPr>
          <p:nvPr/>
        </p:nvSpPr>
        <p:spPr bwMode="auto">
          <a:xfrm>
            <a:off x="1147763" y="4230688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00*</a:t>
            </a:r>
          </a:p>
        </p:txBody>
      </p:sp>
      <p:sp>
        <p:nvSpPr>
          <p:cNvPr id="35" name="Oval 7"/>
          <p:cNvSpPr>
            <a:spLocks noChangeArrowheads="1"/>
          </p:cNvSpPr>
          <p:nvPr/>
        </p:nvSpPr>
        <p:spPr bwMode="auto">
          <a:xfrm>
            <a:off x="381000" y="5037138"/>
            <a:ext cx="500062" cy="422275"/>
          </a:xfrm>
          <a:prstGeom prst="ellipse">
            <a:avLst/>
          </a:prstGeom>
          <a:solidFill>
            <a:srgbClr val="D3A600"/>
          </a:solidFill>
          <a:ln>
            <a:solidFill>
              <a:schemeClr val="accent2"/>
            </a:solidFill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000</a:t>
            </a:r>
          </a:p>
        </p:txBody>
      </p:sp>
      <p:sp>
        <p:nvSpPr>
          <p:cNvPr id="36" name="Oval 8"/>
          <p:cNvSpPr>
            <a:spLocks noChangeArrowheads="1"/>
          </p:cNvSpPr>
          <p:nvPr/>
        </p:nvSpPr>
        <p:spPr bwMode="auto">
          <a:xfrm>
            <a:off x="1800225" y="5075238"/>
            <a:ext cx="500062" cy="422275"/>
          </a:xfrm>
          <a:prstGeom prst="ellipse">
            <a:avLst/>
          </a:prstGeom>
          <a:solidFill>
            <a:srgbClr val="D3A600"/>
          </a:solidFill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001</a:t>
            </a:r>
          </a:p>
        </p:txBody>
      </p:sp>
      <p:sp>
        <p:nvSpPr>
          <p:cNvPr id="37" name="Line 10"/>
          <p:cNvSpPr>
            <a:spLocks noChangeShapeType="1"/>
          </p:cNvSpPr>
          <p:nvPr/>
        </p:nvSpPr>
        <p:spPr bwMode="auto">
          <a:xfrm>
            <a:off x="1571625" y="4576763"/>
            <a:ext cx="422275" cy="49847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38" name="Line 11"/>
          <p:cNvSpPr>
            <a:spLocks noChangeShapeType="1"/>
          </p:cNvSpPr>
          <p:nvPr/>
        </p:nvSpPr>
        <p:spPr bwMode="auto">
          <a:xfrm flipH="1">
            <a:off x="765175" y="4576763"/>
            <a:ext cx="422275" cy="49847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39" name="Text Box 19"/>
          <p:cNvSpPr txBox="1">
            <a:spLocks noChangeArrowheads="1"/>
          </p:cNvSpPr>
          <p:nvPr/>
        </p:nvSpPr>
        <p:spPr bwMode="auto">
          <a:xfrm>
            <a:off x="609600" y="446087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40" name="Text Box 20"/>
          <p:cNvSpPr txBox="1">
            <a:spLocks noChangeArrowheads="1"/>
          </p:cNvSpPr>
          <p:nvPr/>
        </p:nvSpPr>
        <p:spPr bwMode="auto">
          <a:xfrm>
            <a:off x="1657350" y="446087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2590800" y="4267200"/>
            <a:ext cx="1919287" cy="1266825"/>
            <a:chOff x="685800" y="4230688"/>
            <a:chExt cx="1919287" cy="1266825"/>
          </a:xfrm>
        </p:grpSpPr>
        <p:sp>
          <p:nvSpPr>
            <p:cNvPr id="49" name="Oval 6"/>
            <p:cNvSpPr>
              <a:spLocks noChangeArrowheads="1"/>
            </p:cNvSpPr>
            <p:nvPr/>
          </p:nvSpPr>
          <p:spPr bwMode="auto">
            <a:xfrm>
              <a:off x="1452563" y="423068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01*</a:t>
              </a:r>
            </a:p>
          </p:txBody>
        </p:sp>
        <p:sp>
          <p:nvSpPr>
            <p:cNvPr id="50" name="Oval 7"/>
            <p:cNvSpPr>
              <a:spLocks noChangeArrowheads="1"/>
            </p:cNvSpPr>
            <p:nvPr/>
          </p:nvSpPr>
          <p:spPr bwMode="auto">
            <a:xfrm>
              <a:off x="685800" y="50371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010</a:t>
              </a:r>
            </a:p>
          </p:txBody>
        </p:sp>
        <p:sp>
          <p:nvSpPr>
            <p:cNvPr id="51" name="Oval 8"/>
            <p:cNvSpPr>
              <a:spLocks noChangeArrowheads="1"/>
            </p:cNvSpPr>
            <p:nvPr/>
          </p:nvSpPr>
          <p:spPr bwMode="auto">
            <a:xfrm>
              <a:off x="2105025" y="50752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011</a:t>
              </a:r>
            </a:p>
          </p:txBody>
        </p:sp>
        <p:sp>
          <p:nvSpPr>
            <p:cNvPr id="52" name="Line 10"/>
            <p:cNvSpPr>
              <a:spLocks noChangeShapeType="1"/>
            </p:cNvSpPr>
            <p:nvPr/>
          </p:nvSpPr>
          <p:spPr bwMode="auto">
            <a:xfrm>
              <a:off x="187642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53" name="Line 11"/>
            <p:cNvSpPr>
              <a:spLocks noChangeShapeType="1"/>
            </p:cNvSpPr>
            <p:nvPr/>
          </p:nvSpPr>
          <p:spPr bwMode="auto">
            <a:xfrm flipH="1">
              <a:off x="106997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54" name="Text Box 19"/>
            <p:cNvSpPr txBox="1">
              <a:spLocks noChangeArrowheads="1"/>
            </p:cNvSpPr>
            <p:nvPr/>
          </p:nvSpPr>
          <p:spPr bwMode="auto">
            <a:xfrm>
              <a:off x="91440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5" name="Text Box 20"/>
            <p:cNvSpPr txBox="1">
              <a:spLocks noChangeArrowheads="1"/>
            </p:cNvSpPr>
            <p:nvPr/>
          </p:nvSpPr>
          <p:spPr bwMode="auto">
            <a:xfrm>
              <a:off x="196215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6996113" y="4267200"/>
            <a:ext cx="1919287" cy="1266825"/>
            <a:chOff x="685800" y="4230688"/>
            <a:chExt cx="1919287" cy="1266825"/>
          </a:xfrm>
        </p:grpSpPr>
        <p:sp>
          <p:nvSpPr>
            <p:cNvPr id="57" name="Oval 6"/>
            <p:cNvSpPr>
              <a:spLocks noChangeArrowheads="1"/>
            </p:cNvSpPr>
            <p:nvPr/>
          </p:nvSpPr>
          <p:spPr bwMode="auto">
            <a:xfrm>
              <a:off x="1452563" y="423068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11*</a:t>
              </a:r>
            </a:p>
          </p:txBody>
        </p:sp>
        <p:sp>
          <p:nvSpPr>
            <p:cNvPr id="58" name="Oval 7"/>
            <p:cNvSpPr>
              <a:spLocks noChangeArrowheads="1"/>
            </p:cNvSpPr>
            <p:nvPr/>
          </p:nvSpPr>
          <p:spPr bwMode="auto">
            <a:xfrm>
              <a:off x="685800" y="50371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110</a:t>
              </a:r>
            </a:p>
          </p:txBody>
        </p:sp>
        <p:sp>
          <p:nvSpPr>
            <p:cNvPr id="59" name="Oval 8"/>
            <p:cNvSpPr>
              <a:spLocks noChangeArrowheads="1"/>
            </p:cNvSpPr>
            <p:nvPr/>
          </p:nvSpPr>
          <p:spPr bwMode="auto">
            <a:xfrm>
              <a:off x="2105025" y="50752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111</a:t>
              </a:r>
            </a:p>
          </p:txBody>
        </p:sp>
        <p:sp>
          <p:nvSpPr>
            <p:cNvPr id="60" name="Line 10"/>
            <p:cNvSpPr>
              <a:spLocks noChangeShapeType="1"/>
            </p:cNvSpPr>
            <p:nvPr/>
          </p:nvSpPr>
          <p:spPr bwMode="auto">
            <a:xfrm>
              <a:off x="187642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61" name="Line 11"/>
            <p:cNvSpPr>
              <a:spLocks noChangeShapeType="1"/>
            </p:cNvSpPr>
            <p:nvPr/>
          </p:nvSpPr>
          <p:spPr bwMode="auto">
            <a:xfrm flipH="1">
              <a:off x="106997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62" name="Text Box 19"/>
            <p:cNvSpPr txBox="1">
              <a:spLocks noChangeArrowheads="1"/>
            </p:cNvSpPr>
            <p:nvPr/>
          </p:nvSpPr>
          <p:spPr bwMode="auto">
            <a:xfrm>
              <a:off x="91440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63" name="Text Box 20"/>
            <p:cNvSpPr txBox="1">
              <a:spLocks noChangeArrowheads="1"/>
            </p:cNvSpPr>
            <p:nvPr/>
          </p:nvSpPr>
          <p:spPr bwMode="auto">
            <a:xfrm>
              <a:off x="196215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4800600" y="4267200"/>
            <a:ext cx="1919287" cy="1266825"/>
            <a:chOff x="685800" y="4230688"/>
            <a:chExt cx="1919287" cy="1266825"/>
          </a:xfrm>
        </p:grpSpPr>
        <p:sp>
          <p:nvSpPr>
            <p:cNvPr id="65" name="Oval 6"/>
            <p:cNvSpPr>
              <a:spLocks noChangeArrowheads="1"/>
            </p:cNvSpPr>
            <p:nvPr/>
          </p:nvSpPr>
          <p:spPr bwMode="auto">
            <a:xfrm>
              <a:off x="1452563" y="423068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10*</a:t>
              </a:r>
            </a:p>
          </p:txBody>
        </p:sp>
        <p:sp>
          <p:nvSpPr>
            <p:cNvPr id="66" name="Oval 7"/>
            <p:cNvSpPr>
              <a:spLocks noChangeArrowheads="1"/>
            </p:cNvSpPr>
            <p:nvPr/>
          </p:nvSpPr>
          <p:spPr bwMode="auto">
            <a:xfrm>
              <a:off x="685800" y="50371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100</a:t>
              </a:r>
            </a:p>
          </p:txBody>
        </p:sp>
        <p:sp>
          <p:nvSpPr>
            <p:cNvPr id="67" name="Oval 8"/>
            <p:cNvSpPr>
              <a:spLocks noChangeArrowheads="1"/>
            </p:cNvSpPr>
            <p:nvPr/>
          </p:nvSpPr>
          <p:spPr bwMode="auto">
            <a:xfrm>
              <a:off x="2105025" y="5075238"/>
              <a:ext cx="500062" cy="422275"/>
            </a:xfrm>
            <a:prstGeom prst="ellipse">
              <a:avLst/>
            </a:prstGeom>
            <a:ln>
              <a:solidFill>
                <a:schemeClr val="accent2"/>
              </a:solidFill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b="0" dirty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101</a:t>
              </a:r>
            </a:p>
          </p:txBody>
        </p:sp>
        <p:sp>
          <p:nvSpPr>
            <p:cNvPr id="68" name="Line 10"/>
            <p:cNvSpPr>
              <a:spLocks noChangeShapeType="1"/>
            </p:cNvSpPr>
            <p:nvPr/>
          </p:nvSpPr>
          <p:spPr bwMode="auto">
            <a:xfrm>
              <a:off x="187642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69" name="Line 11"/>
            <p:cNvSpPr>
              <a:spLocks noChangeShapeType="1"/>
            </p:cNvSpPr>
            <p:nvPr/>
          </p:nvSpPr>
          <p:spPr bwMode="auto">
            <a:xfrm flipH="1">
              <a:off x="1069975" y="4576763"/>
              <a:ext cx="422275" cy="498475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>
                <a:solidFill>
                  <a:schemeClr val="accent2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70" name="Text Box 19"/>
            <p:cNvSpPr txBox="1">
              <a:spLocks noChangeArrowheads="1"/>
            </p:cNvSpPr>
            <p:nvPr/>
          </p:nvSpPr>
          <p:spPr bwMode="auto">
            <a:xfrm>
              <a:off x="91440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71" name="Text Box 20"/>
            <p:cNvSpPr txBox="1">
              <a:spLocks noChangeArrowheads="1"/>
            </p:cNvSpPr>
            <p:nvPr/>
          </p:nvSpPr>
          <p:spPr bwMode="auto">
            <a:xfrm>
              <a:off x="1962150" y="4460875"/>
              <a:ext cx="4889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b="0">
                  <a:solidFill>
                    <a:schemeClr val="accent2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</a:p>
          </p:txBody>
        </p:sp>
      </p:grpSp>
      <p:sp>
        <p:nvSpPr>
          <p:cNvPr id="72" name="Oval 6"/>
          <p:cNvSpPr>
            <a:spLocks noChangeArrowheads="1"/>
          </p:cNvSpPr>
          <p:nvPr/>
        </p:nvSpPr>
        <p:spPr bwMode="auto">
          <a:xfrm>
            <a:off x="2290763" y="3429000"/>
            <a:ext cx="500062" cy="422275"/>
          </a:xfrm>
          <a:prstGeom prst="ellipse">
            <a:avLst/>
          </a:prstGeom>
          <a:solidFill>
            <a:srgbClr val="D3A600"/>
          </a:solidFill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0**</a:t>
            </a:r>
          </a:p>
        </p:txBody>
      </p:sp>
      <p:sp>
        <p:nvSpPr>
          <p:cNvPr id="75" name="Line 10"/>
          <p:cNvSpPr>
            <a:spLocks noChangeShapeType="1"/>
          </p:cNvSpPr>
          <p:nvPr/>
        </p:nvSpPr>
        <p:spPr bwMode="auto">
          <a:xfrm>
            <a:off x="2714625" y="3775075"/>
            <a:ext cx="714375" cy="6445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6" name="Line 11"/>
          <p:cNvSpPr>
            <a:spLocks noChangeShapeType="1"/>
          </p:cNvSpPr>
          <p:nvPr/>
        </p:nvSpPr>
        <p:spPr bwMode="auto">
          <a:xfrm flipH="1">
            <a:off x="1600200" y="3775075"/>
            <a:ext cx="730250" cy="568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77" name="Text Box 19"/>
          <p:cNvSpPr txBox="1">
            <a:spLocks noChangeArrowheads="1"/>
          </p:cNvSpPr>
          <p:nvPr/>
        </p:nvSpPr>
        <p:spPr bwMode="auto">
          <a:xfrm>
            <a:off x="167640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78" name="Text Box 20"/>
          <p:cNvSpPr txBox="1">
            <a:spLocks noChangeArrowheads="1"/>
          </p:cNvSpPr>
          <p:nvPr/>
        </p:nvSpPr>
        <p:spPr bwMode="auto">
          <a:xfrm>
            <a:off x="294005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79" name="Oval 6"/>
          <p:cNvSpPr>
            <a:spLocks noChangeArrowheads="1"/>
          </p:cNvSpPr>
          <p:nvPr/>
        </p:nvSpPr>
        <p:spPr bwMode="auto">
          <a:xfrm>
            <a:off x="6772276" y="3429000"/>
            <a:ext cx="500062" cy="422275"/>
          </a:xfrm>
          <a:prstGeom prst="ellipse">
            <a:avLst/>
          </a:prstGeom>
          <a:solidFill>
            <a:srgbClr val="D3A600"/>
          </a:solidFill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1**</a:t>
            </a:r>
          </a:p>
        </p:txBody>
      </p:sp>
      <p:sp>
        <p:nvSpPr>
          <p:cNvPr id="82" name="Line 10"/>
          <p:cNvSpPr>
            <a:spLocks noChangeShapeType="1"/>
          </p:cNvSpPr>
          <p:nvPr/>
        </p:nvSpPr>
        <p:spPr bwMode="auto">
          <a:xfrm>
            <a:off x="7196138" y="3775075"/>
            <a:ext cx="652462" cy="568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83" name="Line 11"/>
          <p:cNvSpPr>
            <a:spLocks noChangeShapeType="1"/>
          </p:cNvSpPr>
          <p:nvPr/>
        </p:nvSpPr>
        <p:spPr bwMode="auto">
          <a:xfrm flipH="1">
            <a:off x="5943599" y="3775075"/>
            <a:ext cx="868363" cy="568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84" name="Text Box 19"/>
          <p:cNvSpPr txBox="1">
            <a:spLocks noChangeArrowheads="1"/>
          </p:cNvSpPr>
          <p:nvPr/>
        </p:nvSpPr>
        <p:spPr bwMode="auto">
          <a:xfrm>
            <a:off x="609600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85" name="Text Box 20"/>
          <p:cNvSpPr txBox="1">
            <a:spLocks noChangeArrowheads="1"/>
          </p:cNvSpPr>
          <p:nvPr/>
        </p:nvSpPr>
        <p:spPr bwMode="auto">
          <a:xfrm>
            <a:off x="7435850" y="3659187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86" name="Oval 6"/>
          <p:cNvSpPr>
            <a:spLocks noChangeArrowheads="1"/>
          </p:cNvSpPr>
          <p:nvPr/>
        </p:nvSpPr>
        <p:spPr bwMode="auto">
          <a:xfrm>
            <a:off x="4424363" y="2209800"/>
            <a:ext cx="500062" cy="422275"/>
          </a:xfrm>
          <a:prstGeom prst="ellipse">
            <a:avLst/>
          </a:prstGeom>
          <a:ln>
            <a:solidFill>
              <a:schemeClr val="accent2"/>
            </a:solidFill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***</a:t>
            </a:r>
          </a:p>
        </p:txBody>
      </p:sp>
      <p:sp>
        <p:nvSpPr>
          <p:cNvPr id="89" name="Line 10"/>
          <p:cNvSpPr>
            <a:spLocks noChangeShapeType="1"/>
          </p:cNvSpPr>
          <p:nvPr/>
        </p:nvSpPr>
        <p:spPr bwMode="auto">
          <a:xfrm>
            <a:off x="4848225" y="2555875"/>
            <a:ext cx="2009775" cy="9493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0" name="Line 11"/>
          <p:cNvSpPr>
            <a:spLocks noChangeShapeType="1"/>
          </p:cNvSpPr>
          <p:nvPr/>
        </p:nvSpPr>
        <p:spPr bwMode="auto">
          <a:xfrm flipH="1">
            <a:off x="2743200" y="2555875"/>
            <a:ext cx="1720850" cy="1025525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91" name="Text Box 19"/>
          <p:cNvSpPr txBox="1">
            <a:spLocks noChangeArrowheads="1"/>
          </p:cNvSpPr>
          <p:nvPr/>
        </p:nvSpPr>
        <p:spPr bwMode="auto">
          <a:xfrm>
            <a:off x="3200400" y="2574925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92" name="Text Box 20"/>
          <p:cNvSpPr txBox="1">
            <a:spLocks noChangeArrowheads="1"/>
          </p:cNvSpPr>
          <p:nvPr/>
        </p:nvSpPr>
        <p:spPr bwMode="auto">
          <a:xfrm>
            <a:off x="5943600" y="2590800"/>
            <a:ext cx="488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b="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0" y="1191161"/>
            <a:ext cx="3276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en-US" b="0" dirty="0"/>
          </a:p>
          <a:p>
            <a:r>
              <a:rPr lang="en-US" b="0" dirty="0">
                <a:latin typeface="Monaco"/>
                <a:cs typeface="Monaco"/>
              </a:rPr>
              <a:t>  000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1</a:t>
            </a:r>
          </a:p>
          <a:p>
            <a:r>
              <a:rPr lang="en-US" b="0" dirty="0">
                <a:latin typeface="Monaco"/>
                <a:cs typeface="Monaco"/>
              </a:rPr>
              <a:t>  001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2</a:t>
            </a:r>
          </a:p>
          <a:p>
            <a:r>
              <a:rPr lang="en-US" b="0" dirty="0">
                <a:latin typeface="Monaco"/>
                <a:cs typeface="Monaco"/>
              </a:rPr>
              <a:t>  0**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3</a:t>
            </a:r>
          </a:p>
          <a:p>
            <a:r>
              <a:rPr lang="en-US" b="0" dirty="0">
                <a:latin typeface="Monaco"/>
                <a:cs typeface="Monaco"/>
              </a:rPr>
              <a:t>  1**</a:t>
            </a:r>
            <a:r>
              <a:rPr lang="en-US" b="0" dirty="0"/>
              <a:t>	</a:t>
            </a:r>
            <a:r>
              <a:rPr lang="en-US" b="0" dirty="0">
                <a:latin typeface="Wingdings"/>
                <a:ea typeface="Wingdings"/>
                <a:cs typeface="Wingdings"/>
                <a:sym typeface="Wingdings"/>
              </a:rPr>
              <a:t>	</a:t>
            </a:r>
            <a:r>
              <a:rPr lang="en-US" b="0" dirty="0"/>
              <a:t>Port 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0531" y="5812264"/>
            <a:ext cx="82629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dirty="0">
                <a:solidFill>
                  <a:schemeClr val="accent2"/>
                </a:solidFill>
                <a:latin typeface="+mn-lt"/>
              </a:rPr>
              <a:t>Record port associated with latest match, and only override when it matches another prefix during walk down tree</a:t>
            </a:r>
          </a:p>
        </p:txBody>
      </p:sp>
    </p:spTree>
    <p:extLst>
      <p:ext uri="{BB962C8B-B14F-4D97-AF65-F5344CB8AC3E}">
        <p14:creationId xmlns:p14="http://schemas.microsoft.com/office/powerpoint/2010/main" val="189602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</p:bldLst>
  </p:timing>
</p:sld>
</file>

<file path=ppt/theme/theme1.xml><?xml version="1.0" encoding="utf-8"?>
<a:theme xmlns:a="http://schemas.openxmlformats.org/drawingml/2006/main" name="csci teaching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 teaching" id="{CAC89F1B-4FFB-964B-9A2D-A8369A14651A}" vid="{8051F690-D81E-0040-802C-B071D1B3EDD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csci teaching</Template>
  <TotalTime>1490455738</TotalTime>
  <Pages>7</Pages>
  <Words>3986</Words>
  <Application>Microsoft Macintosh PowerPoint</Application>
  <PresentationFormat>On-screen Show (4:3)</PresentationFormat>
  <Paragraphs>966</Paragraphs>
  <Slides>93</Slides>
  <Notes>41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107" baseType="lpstr">
      <vt:lpstr>ＭＳ Ｐゴシック</vt:lpstr>
      <vt:lpstr>宋体</vt:lpstr>
      <vt:lpstr>Arial</vt:lpstr>
      <vt:lpstr>Arial Black</vt:lpstr>
      <vt:lpstr>Courier New</vt:lpstr>
      <vt:lpstr>Gill Sans</vt:lpstr>
      <vt:lpstr>Helvetica Neue</vt:lpstr>
      <vt:lpstr>Monaco</vt:lpstr>
      <vt:lpstr>Monotype Sorts</vt:lpstr>
      <vt:lpstr>Tahoma</vt:lpstr>
      <vt:lpstr>Times New Roman</vt:lpstr>
      <vt:lpstr>Wingdings</vt:lpstr>
      <vt:lpstr>csci teaching</vt:lpstr>
      <vt:lpstr>Document</vt:lpstr>
      <vt:lpstr>CSCI4430 Computer Networks  Lecture 13: Network Layer –  Inter-domain Routing</vt:lpstr>
      <vt:lpstr>Context and terminology</vt:lpstr>
      <vt:lpstr>AS-level Internet</vt:lpstr>
      <vt:lpstr>Autonomous systems (AS) </vt:lpstr>
      <vt:lpstr>“Intra-domain” routing:  Within an AS</vt:lpstr>
      <vt:lpstr>“Inter-domain” routing: Between ASes</vt:lpstr>
      <vt:lpstr>Recall: Addressing (so far)</vt:lpstr>
      <vt:lpstr>Recall: Forwarding</vt:lpstr>
      <vt:lpstr>Two key challenges</vt:lpstr>
      <vt:lpstr>Scaling </vt:lpstr>
      <vt:lpstr>A smaller table at node B?</vt:lpstr>
      <vt:lpstr>Re-number the end-systems?</vt:lpstr>
      <vt:lpstr>Scaling </vt:lpstr>
      <vt:lpstr>Two key challenges</vt:lpstr>
      <vt:lpstr>Administrative structure shapes inter-domain routing</vt:lpstr>
      <vt:lpstr>Choice of routing algorithm</vt:lpstr>
      <vt:lpstr>Agenda</vt:lpstr>
      <vt:lpstr>IP addressing</vt:lpstr>
      <vt:lpstr>Goal of addressing:  Scalable routing</vt:lpstr>
      <vt:lpstr>Aggregation works if…</vt:lpstr>
      <vt:lpstr>IP addressing is hierarchical</vt:lpstr>
      <vt:lpstr>IP addresses (IPv4)</vt:lpstr>
      <vt:lpstr>Hierarchy in IP addressing</vt:lpstr>
      <vt:lpstr>CIDR: Classless inter-domain routing</vt:lpstr>
      <vt:lpstr>CIDR example</vt:lpstr>
      <vt:lpstr>Before CIDR: Classful addressing</vt:lpstr>
      <vt:lpstr>IP addressing is hierarchical</vt:lpstr>
      <vt:lpstr>Allocation done hierarchically</vt:lpstr>
      <vt:lpstr>CIDR: Addresses allocated in contiguous prefix chunks</vt:lpstr>
      <vt:lpstr>FAKE example in more detail</vt:lpstr>
      <vt:lpstr>IP addressing is hierarchical</vt:lpstr>
      <vt:lpstr>IP addressing  Scalable routing? </vt:lpstr>
      <vt:lpstr>IP addressing  Scalable routing? </vt:lpstr>
      <vt:lpstr>IP addressing  Scalable routing? </vt:lpstr>
      <vt:lpstr>IP addressing  Scalable routing? </vt:lpstr>
      <vt:lpstr>IP addressing  Scalable routing? </vt:lpstr>
      <vt:lpstr>BGP: Border Gateway Protocol</vt:lpstr>
      <vt:lpstr>BGP</vt:lpstr>
      <vt:lpstr>Administrative structure shapes Inter-domain routing</vt:lpstr>
      <vt:lpstr> Topology &amp; policy shaped by inter-AS business relationship</vt:lpstr>
      <vt:lpstr>Business relationships</vt:lpstr>
      <vt:lpstr>Why peer?</vt:lpstr>
      <vt:lpstr>Routing follows the money!</vt:lpstr>
      <vt:lpstr>Routing follows the money!</vt:lpstr>
      <vt:lpstr>Routing follows the money!</vt:lpstr>
      <vt:lpstr>In short</vt:lpstr>
      <vt:lpstr>BGP</vt:lpstr>
      <vt:lpstr>Inter-domain routing: Setup</vt:lpstr>
      <vt:lpstr>BGP: Basic idea</vt:lpstr>
      <vt:lpstr>BGP inspired by Distance-Vector</vt:lpstr>
      <vt:lpstr>BGP &amp; DV differences: (1) Not picking shortest-path routes </vt:lpstr>
      <vt:lpstr>BGP &amp; DV differences:  (2) Path-Vector routing</vt:lpstr>
      <vt:lpstr>BGP &amp; DV differences:  (2) Path-Vector routing</vt:lpstr>
      <vt:lpstr>BGP &amp; DV differences: (3) Selective route advertisement</vt:lpstr>
      <vt:lpstr>BGP &amp; DV differences:  (4) BGP may aggregate routes</vt:lpstr>
      <vt:lpstr>BGP policies</vt:lpstr>
      <vt:lpstr>Policy dictates how routes are “selected” and “exported”</vt:lpstr>
      <vt:lpstr>Typical selection policies</vt:lpstr>
      <vt:lpstr>Typical export policy</vt:lpstr>
      <vt:lpstr>Gao-Rexford</vt:lpstr>
      <vt:lpstr>BGP Protocol details</vt:lpstr>
      <vt:lpstr>Who speaks BGP?</vt:lpstr>
      <vt:lpstr>What does “speak BGP” mean?</vt:lpstr>
      <vt:lpstr>BGP sessions: External</vt:lpstr>
      <vt:lpstr>BGP sessions: Internal</vt:lpstr>
      <vt:lpstr>eBGP, iBGP, and IGP</vt:lpstr>
      <vt:lpstr>eBGP, iBGP, and IGP together</vt:lpstr>
      <vt:lpstr>Basic messages in BGP</vt:lpstr>
      <vt:lpstr>Route updates</vt:lpstr>
      <vt:lpstr>Route attributes</vt:lpstr>
      <vt:lpstr>Attributes: (1) ASPATH</vt:lpstr>
      <vt:lpstr>Attributes: (2) LOCAL PREF</vt:lpstr>
      <vt:lpstr>Using attributes</vt:lpstr>
      <vt:lpstr>BGP UPDATE processing</vt:lpstr>
      <vt:lpstr>BGP issues in practice</vt:lpstr>
      <vt:lpstr>Issues with BGP</vt:lpstr>
      <vt:lpstr>Reachability</vt:lpstr>
      <vt:lpstr>Security</vt:lpstr>
      <vt:lpstr>Convergence</vt:lpstr>
      <vt:lpstr>Performance nonissues</vt:lpstr>
      <vt:lpstr>AS path length can be misleading</vt:lpstr>
      <vt:lpstr>Real performance issue: Slow convergence</vt:lpstr>
      <vt:lpstr>BGP misconfigurations</vt:lpstr>
      <vt:lpstr>Summary</vt:lpstr>
      <vt:lpstr>Backup slides on longest prefix matching</vt:lpstr>
      <vt:lpstr>Looking up the output port</vt:lpstr>
      <vt:lpstr>Example</vt:lpstr>
      <vt:lpstr>Example</vt:lpstr>
      <vt:lpstr>Longest prefix matching</vt:lpstr>
      <vt:lpstr>Finding match efficiently</vt:lpstr>
      <vt:lpstr>Longest prefix matching</vt:lpstr>
      <vt:lpstr>Tree structure</vt:lpstr>
      <vt:lpstr>Tree structure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Hong Xu</cp:lastModifiedBy>
  <cp:revision>1304</cp:revision>
  <cp:lastPrinted>1999-09-08T17:25:07Z</cp:lastPrinted>
  <dcterms:created xsi:type="dcterms:W3CDTF">2014-01-14T18:15:50Z</dcterms:created>
  <dcterms:modified xsi:type="dcterms:W3CDTF">2025-03-31T07:26:35Z</dcterms:modified>
  <cp:category/>
</cp:coreProperties>
</file>
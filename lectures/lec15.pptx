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1.xml" ContentType="application/inkml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2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3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2" r:id="rId1"/>
  </p:sldMasterIdLst>
  <p:notesMasterIdLst>
    <p:notesMasterId r:id="rId77"/>
  </p:notesMasterIdLst>
  <p:handoutMasterIdLst>
    <p:handoutMasterId r:id="rId78"/>
  </p:handoutMasterIdLst>
  <p:sldIdLst>
    <p:sldId id="638" r:id="rId2"/>
    <p:sldId id="531" r:id="rId3"/>
    <p:sldId id="533" r:id="rId4"/>
    <p:sldId id="532" r:id="rId5"/>
    <p:sldId id="514" r:id="rId6"/>
    <p:sldId id="515" r:id="rId7"/>
    <p:sldId id="516" r:id="rId8"/>
    <p:sldId id="520" r:id="rId9"/>
    <p:sldId id="521" r:id="rId10"/>
    <p:sldId id="534" r:id="rId11"/>
    <p:sldId id="523" r:id="rId12"/>
    <p:sldId id="527" r:id="rId13"/>
    <p:sldId id="536" r:id="rId14"/>
    <p:sldId id="528" r:id="rId15"/>
    <p:sldId id="529" r:id="rId16"/>
    <p:sldId id="540" r:id="rId17"/>
    <p:sldId id="543" r:id="rId18"/>
    <p:sldId id="544" r:id="rId19"/>
    <p:sldId id="640" r:id="rId20"/>
    <p:sldId id="545" r:id="rId21"/>
    <p:sldId id="546" r:id="rId22"/>
    <p:sldId id="553" r:id="rId23"/>
    <p:sldId id="554" r:id="rId24"/>
    <p:sldId id="555" r:id="rId25"/>
    <p:sldId id="556" r:id="rId26"/>
    <p:sldId id="559" r:id="rId27"/>
    <p:sldId id="560" r:id="rId28"/>
    <p:sldId id="561" r:id="rId29"/>
    <p:sldId id="562" r:id="rId30"/>
    <p:sldId id="564" r:id="rId31"/>
    <p:sldId id="565" r:id="rId32"/>
    <p:sldId id="566" r:id="rId33"/>
    <p:sldId id="567" r:id="rId34"/>
    <p:sldId id="569" r:id="rId35"/>
    <p:sldId id="557" r:id="rId36"/>
    <p:sldId id="645" r:id="rId37"/>
    <p:sldId id="642" r:id="rId38"/>
    <p:sldId id="646" r:id="rId39"/>
    <p:sldId id="647" r:id="rId40"/>
    <p:sldId id="537" r:id="rId41"/>
    <p:sldId id="538" r:id="rId42"/>
    <p:sldId id="539" r:id="rId43"/>
    <p:sldId id="648" r:id="rId44"/>
    <p:sldId id="652" r:id="rId45"/>
    <p:sldId id="653" r:id="rId46"/>
    <p:sldId id="654" r:id="rId47"/>
    <p:sldId id="655" r:id="rId48"/>
    <p:sldId id="656" r:id="rId49"/>
    <p:sldId id="563" r:id="rId50"/>
    <p:sldId id="663" r:id="rId51"/>
    <p:sldId id="664" r:id="rId52"/>
    <p:sldId id="665" r:id="rId53"/>
    <p:sldId id="666" r:id="rId54"/>
    <p:sldId id="667" r:id="rId55"/>
    <p:sldId id="570" r:id="rId56"/>
    <p:sldId id="512" r:id="rId57"/>
    <p:sldId id="639" r:id="rId58"/>
    <p:sldId id="535" r:id="rId59"/>
    <p:sldId id="525" r:id="rId60"/>
    <p:sldId id="526" r:id="rId61"/>
    <p:sldId id="547" r:id="rId62"/>
    <p:sldId id="548" r:id="rId63"/>
    <p:sldId id="549" r:id="rId64"/>
    <p:sldId id="550" r:id="rId65"/>
    <p:sldId id="551" r:id="rId66"/>
    <p:sldId id="552" r:id="rId67"/>
    <p:sldId id="541" r:id="rId68"/>
    <p:sldId id="649" r:id="rId69"/>
    <p:sldId id="657" r:id="rId70"/>
    <p:sldId id="658" r:id="rId71"/>
    <p:sldId id="659" r:id="rId72"/>
    <p:sldId id="660" r:id="rId73"/>
    <p:sldId id="661" r:id="rId74"/>
    <p:sldId id="558" r:id="rId75"/>
    <p:sldId id="662" r:id="rId7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82"/>
    <p:restoredTop sz="96327"/>
  </p:normalViewPr>
  <p:slideViewPr>
    <p:cSldViewPr snapToGrid="0">
      <p:cViewPr varScale="1">
        <p:scale>
          <a:sx n="127" d="100"/>
          <a:sy n="127" d="100"/>
        </p:scale>
        <p:origin x="2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01:16:15.591"/>
    </inkml:context>
    <inkml:brush xml:id="br0">
      <inkml:brushProperty name="height" value="0.053" units="cm"/>
      <inkml:brushProperty name="color" value="#FF0000"/>
    </inkml:brush>
  </inkml:definitions>
  <inkml:trace contextRef="#ctx0" brushRef="#br0">11203 9336 7853,'-10'-17'233,"3"-1"0,7 1 1,2 2-1,3 4 0,9 3 1,7 2-1,7 0 1,5 3-1,1 1 0,1 2 1,1 0-1,4 2 0,6 3 1,2 5-1,0 1 1,-2 1-1,-1 1 0,-1 1-1163,-3-3 1,-5 2-1,-2-5 1,1 0 0,-3-1 929,-3-3 0,3-10 0,-5-3 0</inkml:trace>
  <inkml:trace contextRef="#ctx0" brushRef="#br0" timeOffset="1">11891 8854 7853,'-34'0'486,"1"0"0,5 0 578,5 0 0,4 0 901,1 0-870,9 0-249,1 0-516,23 0 1,-1 0-152,14 0 0,-5 0 33,6 0 0,-8 0-256,2 0 0,2 0-38,-2 0 1,0 0 140,-6 0 1,2 6-5,4 0 0,-4 7-93,4-1 0,-2 3-5,2 2 1,-2 6 67,8 0 1,-6 10-297,5 1 1,-1 2 72,2 10 0,2 6 79,-9 5 1,1 0 163,-5-5 1,-9-2 126,-3-5 1,-6-3 309,-6-7 0,-3-1-234,-9 1 0,-5-9-247,1-3 1,-9-9 103,2-3 0,-3-1-930,-3 1 0,3-3 468,3-8 1,-3 5-3757,3 1 4113,4 0 0,-7-6 0,5 0 0</inkml:trace>
  <inkml:trace contextRef="#ctx0" brushRef="#br0" timeOffset="2">13113 8906 7853,'-8'-17'269,"-1"0"0,-6-1 0,1 3 0,5 2 5355,1 1-3824,2 9 0,8-3-1268,4 12 0,3 5-384,9 12 0,-1 6-21,0 11 0,-6 6 0,1 9 0,-1 4 103,-1 2 0,3 2-391,-7 6 1,0 0 172,-6 0 0,0-1-708,0 1 1,0-2 258,0-4 1,0-8-404,0-14 0,-6-9-698,0-15 782,1-7 1,5-12 0,2-17-1,3-16-367,7-14 0,3-12 400,2-14 0,-1-9 18,-5-8 0,-3 3 169,-8 8 0,0 5 503,0 7 1,-8 10-15,-3 7 0,-10 16 422,-2 13 1,-6 6 0,6 4 0,2 3 4500,2 2-3734,9 3 0,10 5-204,12 0 1,11-6 0,5-2-1,5-1-7,1-5 1,6 5-221,1-3 0,4 3-480,-4-3 0,-1 5-157,-6 7 1,-1 0-146,-5 0 1,-3 7-50,-8 5 1,-7 5 152,-4 6 1,-4 4-383,-2 7 1,-8 0 108,-3 1 1,-7-1-438,-5 1 1,2 5 274,-7 0 0,-1 0-46,-5-6 0,5-1-82,0-5 1,8-3-201,-2-8 1,4-1 36,2-5 1,7-5-1,5-14 1,5-9-928,5-10 1,11-11 463,7-2 1156,7 0 0,-3-2 0,7-2 0</inkml:trace>
  <inkml:trace contextRef="#ctx0" brushRef="#br0" timeOffset="3">13646 8854 7853,'18'-5'-660,"-1"-1"0,0-7 792,0 1 0,-5 3 1836,-1-3 150,-7 1-170,4-6-246,-8 7-1199,0 2 1,0 10 622,0 4 0,0 4-534,0 7 1,0 6 251,0 0 0,5 5-252,1-5 0,0 6-209,-6-6 0,6 5 0,-1-3 0,-1 2 469,-2 4 0,-2-7-377,0-1 1,-2-2-118,-4 2 0,3-4-241,-9 4 0,6-4 234,-5-1-1107,7-9 259,-3-1 1,7-10-1,0-6 1,1-11-717,5-13 0,4-5 90,7-9 1,2 1 706,4-7 1,-10 6 0,5 2-1,-3 0-257,0 0 0,2 6 313,1-2 1,-1 9-56,0 3 1,0 11 0,0-2-1001,1 3 474,-1 5 651,0 11 1,-2 7 0,-3 5 0,-5 3-182,1 2 0,-4-1-105,7-5 0,-1 4 189,1-3 0,5 1-41,-5-1 1,-1 3 42,1-4 1,1-1-1,5 0 385,0-3 0,0 5 0,1-7 0,-7 1 0,1-6 0,-7 6-18,7 0 227,-1-1 3256,-1-5 737,-3 0 1,-18-2-3320,-1-3-318,1 3-361,11-6-118,0 16 1,0 1 0,0 8 0,0 3-102,0 2 0,6 0-859,-1 6 1,1-5 71,-6 6 1,6-8-193,0 2 0,1-4-589,-1-2 0,4-6 1,7-1-206,0-2 0,-5-12 1788,-1-13 0,-7-16 0,3-11 0</inkml:trace>
  <inkml:trace contextRef="#ctx0" brushRef="#br0" timeOffset="4">14300 8614 15339,'18'0'93,"-1"0"0,0-6-1062,0 0 1,0-5 654,1 5 1,-1-2-1237,0 3 1,0 3 847,0-4 0,1 4-187,-1 2 1,-2 2 888,-3 4 0,3 3 0,-5 9 0</inkml:trace>
  <inkml:trace contextRef="#ctx0" brushRef="#br0" timeOffset="5">14559 8648 7853,'0'10'1651,"-8"5"-143,6-5 0,-6 1 1689,8 0-2129,0 1 0,0 11 317,0 0 1,0 2-851,0-2 0,2-2-232,4 7 0,-2 1-120,7 5 1,1 1 28,5-1 0,0-5 222,0-1 0,1-7-94,-1 2 0,0-11-65,0-7 0,0-3 66,1-2 1,5-7 127,0-5 1,-1-13-952,-4-9 1,-1-2 365,0-10 1,6 2-1815,0-2 1,0 4 159,-6 8 1,-5 1-355,-1 5 1,1 3 1094,5 8 1,-6 5 1028,1 1 0,-8 7 0,3-4 0</inkml:trace>
  <inkml:trace contextRef="#ctx0" brushRef="#br0" timeOffset="6">15591 8906 7897,'10'-25'-90,"3"6"0,-7-6 0,-1 2-73,3 0 1,-6 1-1,4 2 1,-4-1 1139,-2-2 0,0 1-465,0 4 0,0 1 0,-2 0 1,-4 0-12,-5 0 1,1 5-1,-1 3 1,-3 1 450,-1 4 0,-8-4-236,0 3 1,-2 1-1,4 10 1,-4 5 285,-2 4 1,6 10-581,-2 4 1,-1 3 133,1 3 1,-6 1-135,6 4 1,0 2-203,6 4 0,2-4-59,3-8 1,4-1-84,8-4 1,0-5-203,0-6 0,2-3 170,4-4 1,4-3-321,7-8 0,6-2 127,0-4 0,7-3-577,-1-8 0,-2-8-23,1-4 0,1-3-251,6-3 0,-1 7 435,0-1 1,-5 2-11,0-1 1,-8-3 291,2 8 1,-6 0 109,-6 6 0,-1 2 260,-4 3 0,-4-3-123,3 3 1017,-3 5-660,-2-8 1991,-7 5-469,5 0-973,-6 3 1,6 9-402,-4 3 1,5 1-194,-5 11 0,2-3 112,-2 9 0,2 3-125,-7 3 0,7 4-79,-2 1 1,4-5 56,2-1 1,0-1-623,0 2 1,0-5-146,0-6 1,2-3-494,4-4 0,4 3-185,7-9 0,2-1 544,4-9 0,-2-7 6,8-11 1,-1-4 262,7-7 0,-8 0-299,-5-1 1,3 3 225,-2 3 1,0-1-159,-6 7 1,-5-6 183,-1 6 0,-5 0 3,6 6 0,-9 0 378,3 0 0,-2 5 273,2 1 0,-4-1 944,3-5 0,3 6-112,-2-1 113,-1 1 1,-3-1 1268,4 1-873,-4 7 0,6-2-944,-8 12 0,0 11-168,0 12 1,0 5-204,0 6 1,0 4-182,0 8 0,0-1-890,0 1 1,0-8 567,0-4 0,0-4-1029,0-1 1,5-9 234,1-3 1,2-6-540,-2-5 672,-5-4 1,9-16 378,-4-4 0,-4-10-875,3-7 0,-1-4 674,2-1 1,-4 0-433,4-1 1,-14 7 1173,-9-1 0,-8 8 0,-10-4 0</inkml:trace>
  <inkml:trace contextRef="#ctx0" brushRef="#br0" timeOffset="7">15918 8734 7897,'-27'0'0,"-3"-6"676,7 1 1,0-3 29,6 2 1,-1-3-291,1-8 1,8-1 1878,3 1 0,12-2-1147,5-4 1,6 4 1045,6-4 0,4 4-1140,7 2 1,1 2-513,-1 3 0,6-1-181,1 7 1,-1 0-1384,-6 6 0,6 0-458,0 0 1,1 2-1023,-7 4 0,0 9-236,1 8 1,-8 2 2737,-4-2 0,3 4 0,1 7 0</inkml:trace>
  <inkml:trace contextRef="#ctx0" brushRef="#br0" timeOffset="8">16365 8803 7897,'-9'0'6069,"1"-8"-4560,8-3 0,2 1 779,4-1 1,9-1-1198,8-5 1,2 0-659,-2 0 1,2 0-386,3-1 1,5 1-361,-4 0 0,-3 2-472,3 3 1,-8-1 602,2 7 1,-4-5-239,-2 5 1,1-2-64,-1 3 0,-8 1-854,-3-8 0,2 7 695,-2-7 0,-3 1-410,-8-7 0,-5 3 376,-7 4 1,-8-5 167,-4 5 1,-3 3 714,-3 3 1,1 3 230,0 2 1,5 7 2165,0 5 0,6 5-1345,-5 6 1,8 4 993,3 7 0,2 6-1200,9 0 0,0 8-509,6-2 1,14-2-546,3 2 0,12-8 0,-1 2 0,5-4-267,1-1 1,1-9-559,-1-3 1,6-6-4092,0-5 1,1-4 4880,-7-8 0,0-16 0,1-3 0</inkml:trace>
  <inkml:trace contextRef="#ctx0" brushRef="#br0" timeOffset="9">17897 8700 7813,'0'-17'1021,"0"-1"367,0 1 0,-2 6-153,-4-1-961,-3 8 0,-3-1 1,3 12-273,1 11 0,2 6 176,6 11 1,0-1 15,0 1 0,0 5 1,0 0-1,0-4 239,0-5 0,0 1 90,0-3 1,6-4-144,0-3 1,2-8-214,-3-3 0,-1-7-1726,8 2 1327,-9-4 0,11-12-1991,-9-7 1,7-2 1061,-6-10 1,-1 1 1160,-5-7 0,0-7 0,0-2 0</inkml:trace>
  <inkml:trace contextRef="#ctx0" brushRef="#br0" timeOffset="10">17811 8425 7813,'-8'-18'0,"1"1"1060,-5 0 1,-1 0 0,7 0 1530,2-1-1833,2 9 0,2-1-329,0 5 1,2 3-1349,4-4 1,4 4 594,7 2 1,0 2-3397,0 4 3720,8-4 0,-6 21 0,6-4 0</inkml:trace>
  <inkml:trace contextRef="#ctx0" brushRef="#br0" timeOffset="11">18138 8459 7926,'-6'17'2127,"0"0"0,-1 6-1011,1 0 1,4 15-778,-4 3 1,5 3-1,2 5 1,5 7-120,6 3 0,-3 6 1,3 7-1,1 3-9,2-3 1,3 5-165,-1-3 1,-6 1 0,1-6-1,-1-4-244,-1-8 1,-1-2-421,-3-15 1,-4 1-506,4-7-827,3-7 917,-7-10 1,8-9 481,-5-8 1,-3-10 104,4-7 0,-4-10 68,-2-13 1,0-6-43,0-11 1,0-6 118,0-12 1,0-5 57,0-12 0,-2-1 242,-1 44 0,0 0 0,0-37 0,-9 12 0,1 7 0,-7 10 0,3 3 0,4 20 0,-5 11 1069,5 17-634,3 4 0,2 0 1689,12-3 0,6 1 427,11-8 0,3 1-1427,9-6 0,-1-4 275,1 3 0,-7-1-802,1 14 1,-2-1-809,1 6 0,3 7 180,-8 5 0,-2 5-497,-9 6 1,-5 4 272,-7 7 1,-2 2-28,-3 5 1,-7-3-444,-11 8 0,-4-2-806,-7 1 0,-6 3 148,0-8 0,-6-2 712,6-9 0,-1-6-882,7-11 0,3-7 219,8-10 1334,8-13 0,15-31 0,0-14 0</inkml:trace>
  <inkml:trace contextRef="#ctx0" brushRef="#br0" timeOffset="12">19136 9044 7934,'-11'-10'428,"-1"4"0,-1 4 0,-3 2 2649,-1 0 1,6 6-3424,-1 0 1,3 13-1,-5-2 1,3 2 345,-3 0 0,-8 6 0,-5 2 0</inkml:trace>
  <inkml:trace contextRef="#ctx0" brushRef="#br0" timeOffset="13">19824 8579 7934,'-17'-17'609,"2"0"1,3 0-1,7 0 2533,3-1 0,2 7-1238,0-1 0,2 3 0,2-1-1049,1 10 1,7 4-787,-7 13 1,7-1 0,-6 14 0,-3 5-303,-1 3 1,-2 10-1105,0-3 0,0 5 896,0 2 1,0-6-2003,0-1 1,0-4 718,0 4 1,0-12 149,0 1 1,6-9 620,0 4 953,7-16 0,-3 10 0,7-13 0</inkml:trace>
  <inkml:trace contextRef="#ctx0" brushRef="#br0" timeOffset="14">20186 8803 7934,'42'-25'0,"-13"0"287,-1-3 1,-7-5 468,-4 4 0,1-5-160,-1-6 0,0 4-194,0-4 1,0 3-422,1 3 1,-3-1 100,-4 1 1,-3 7-60,-8 4 0,0 4 92,0 2 1,-2 0-184,-4 0 0,-3 7-11,-8 4 0,-2 5-58,-4 1 1,-4 0 199,-8 0 0,1 7 142,0 5 0,1 3 528,4 2 0,-3 0-283,3 0 1,4 1 253,2-1 1,10-6-244,2 1 0,7-1-1,-2 6 0,6 1-38,6-1 0,3 0 131,9 0 1,4-5-193,1-1 1,2-5-142,-2 5 0,-4-7-232,4 2 1,-4 2 97,-1-3 1,-1 7 31,0-7 0,-6 7 116,1-6 0,-8 7-294,2-2 1,1-1 73,-1 1 0,0 1 78,-6 5 0,0 0 159,0 1 1,0 6-131,0 5 0,0 4-192,0 1 0,0 0 131,0 1 0,0 5-593,0 0 0,2 6 258,3-6 1,-1 6-1263,8-6 0,-3 0 14,3-6 1,9-7-411,-4-4 1,6-6 853,0-5 1079,-4-5 0,13-14 0,-5-3 0</inkml:trace>
  <inkml:trace contextRef="#ctx0" brushRef="#br0" timeOffset="15">20840 8511 7839,'-10'-8'6938,"1"6"-1831,3-4-4602,12-3 1,1 7 0,16-4-1,0 4-1155,2 2 0,-4 0 380,8 0 0,-8 0 0,2 0 0,-4 2-121,-2 4 0,-6-2-947,1 7 0,-8 1 248,2 5 1,-6 6 613,-6 0 1,-6 7 1064,-11-1 1,4-2-419,-4 1 0,-2-5 1214,2 6 0,-5-6-663,5 5 0,0-7 1158,6 2 0,-1-9 362,1-3-1426,8 1 0,1-1 337,8 1-548,0-9 1,2 5-1029,4-8 0,3 0 288,8 0 1,3 0-1486,3 0 0,-2 0 942,7 0 0,-5 6-2180,6 0 1,1-1 1450,11-5 0,-5 2-610,4 4 1,2-2 444,-2 7 0,1-7 438,-7 2 1134,0 3 0,1 1 0,-1 7 0</inkml:trace>
  <inkml:trace contextRef="#ctx0" brushRef="#br0" timeOffset="16">21476 9112 7778,'-9'-11'0,"3"-1"0,4 7 7452,2-7-2971,0 8-1372,0-3-2987,8 7 0,-4 0-44,7 0 1,-7 2-1512,2 3 1,1-1 418,-1 8 1014,0-1 0,-6 14 0,0 2 0</inkml:trace>
  <inkml:trace contextRef="#ctx0" brushRef="#br0" timeOffset="17">22285 8579 7887,'-6'-17'1301,"1"0"1,1 0-1,2 0-121,2-1 0,0 11 0,0 7 0,0 11-595,0 10 1,0 12 0,0 9 0,0 2-729,0 3 1,-2 3-1,-2 4 1,-1 1-684,1 2 0,2-1 0,2-9 0,0-3-1188,0-2 0,7-3 736,5-11 1,-3-5 1277,3-11 0,-1 3 0,7-5 0</inkml:trace>
  <inkml:trace contextRef="#ctx0" brushRef="#br0" timeOffset="18">22767 8339 7887,'-8'-18'603,"-1"9"1,-6 9 597,3 11 0,-3 12-639,3 6 0,3 11 0,-3 8 0,-1 7 817,-2 8 1,-8 8-795,0 9 0,0 0 520,6 12 1,1-12-353,5-5 1,5-12 148,12-6 1,5-19-303,12-9 0,10-16-186,7-7 0,8-6-563,-2-6 1,3-11-224,3-11 0,0-7-251,-1-5 1,-3-2 477,-8-4 1,-4-2-2002,-18 8 1,1 0 1083,-13 6 1,-3 1-20,-8 5 0,-15 5 536,-14 11 1,-14 5 351,-9 7 1,-8 2-42,2 3 1,-2 11-1,2 7 1,11-1-401,12-4 0,5-7-189,7 1-360,11-1 0,24-1 1183,16-5 0,23-3 0,8-2 0</inkml:trace>
  <inkml:trace contextRef="#ctx0" brushRef="#br0" timeOffset="19">23696 8614 7971,'0'-27'550,"-2"2"1,-1 6 0,-3-2 0,0-4 0,0 0-497,1 1 0,-9-5 524,3 6 1,-4-6 0,-5 6 0,-3 2-825,-5 2 0,-5 10 200,-1 3 1,-6 6 0,-2 6 0,0 5 500,-1 4 1,3 8-195,6 0 0,7 8 626,4-2 0,12-3-267,5 3 1,6-6 24,6 6 0,9-7 21,8 7 1,8-8 200,-3 2 1,5-4 96,1-2 0,1 2-400,-1 4 0,0-4-470,1 4 1,-1-3 25,1-3 0,-7 2-408,1 4 1,-8-4-91,2 4 0,-10-2-406,-1 2 1,-3-2 91,3 7 0,-4-5 240,-8 6 1,-2-2-551,-4 1 1,-4 5 429,-7-5 1,-6-3-9,0-2 0,-5-4 151,5-1 1,-8-1 305,2 0 1,3-8 24,-3-3 1,6-4 171,-6-2 1,6-15 179,-5-8 1,7-10-218,-2-7 1,5-4 35,7-7 0,3-3-46,8-3 0,0 5 46,0 1 0,2 1-35,4 10 1,11 6-400,12 5 0,3 10-187,3 2 1,1 1-386,4 11 1,-1-1-1848,6 6 2780,1 0 0,6 0 0,0 0 0</inkml:trace>
  <inkml:trace contextRef="#ctx0" brushRef="#br0" timeOffset="20">24006 9061 7881,'0'-12'2720,"0"1"1,0 5 276,0-5 185,0 7-2718,0-4 0,0 10-789,0 4 1,0-2 116,0 7 0,0 1-60,0 5 1,0 0-1820,0 0 2087,0 0 0,0 8 0,0 2 0</inkml:trace>
  <inkml:trace contextRef="#ctx0" brushRef="#br0" timeOffset="21">24522 8459 7874,'2'-21'505,"2"4"1,2 2 0,-2-1 0,-1 1 0,1 2 3837,2 1 0,0 12-3058,-6 6 1,0 5-827,0 18 0,-6 7-210,0 10 1,-7 4 0,3 1-1,1 1-193,3 0 1,-2-1-1174,3 1 1,-3-6 377,2-1 1,4-1-1,-3 2 1,3-8-1379,2-7 0,0-4-1494,0-4 3611,0-12 0,7 12 0,3-13 0</inkml:trace>
  <inkml:trace contextRef="#ctx0" brushRef="#br0" timeOffset="22">24712 9095 7878,'0'-11'-938,"0"-1"0,0 7 10271,0-7-4385,0 8-2738,0-3-3474,-8-1-3041,6 6 4305,-6-6 0,8 8 0,0 0 0</inkml:trace>
  <inkml:trace contextRef="#ctx0" brushRef="#br0" timeOffset="23">25280 8614 7870,'11'0'1736,"-1"-2"2326,-3-4 1,-1 2-2650,-6-7 1,-2 7 0,-4-2-1483,-5 4 0,-4 16 0,-5 5 0,-3 6-429,-5 5 1,-5 3-145,-1 1 1,-2 6-270,-5 0 1,9 8-1,-4-4 1,1 0-426,5-4 0,12-6 820,1-5 1,6-4-1964,-1-8 1563,5-7 1,20-5-580,4-10 1495,4-12 0,4-10 0,2-8 0</inkml:trace>
  <inkml:trace contextRef="#ctx0" brushRef="#br0" timeOffset="24">24970 8665 7870,'-21'-9'2038,"4"3"3097,3-3-2596,5-1 2906,1 0-4141,8 3 0,8 7-591,3 0 0,6 2 1,4 3-1,4 7-622,2 3 1,-4 4-92,6 4 0,-6-2 0,5 8 0,-7-6-2847,2 5 1,-4 1 1514,-2 5 0,-7 1 1332,-4-1 0,3 8 0,1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01:16:15.616"/>
    </inkml:context>
    <inkml:brush xml:id="br0">
      <inkml:brushProperty name="height" value="0.053" units="cm"/>
      <inkml:brushProperty name="color" value="#FF0000"/>
    </inkml:brush>
  </inkml:definitions>
  <inkml:trace contextRef="#ctx0" brushRef="#br0">7434 5588 7853,'-17'0'0</inkml:trace>
  <inkml:trace contextRef="#ctx0" brushRef="#br0" timeOffset="1">5920 5743 7853,'-35'-12'269,"1"2"1,1 1 0,3 1 0,3 1 2916,2 3 1,8 0-1239,6-2 0,9 4 0,2-3-1458,9 3 1,16 2-1,9 0 1,10 0-106,6 0 0,11 0 1,6 0-1,8 0-298,3 0 1,8 0-161,6 0 0,2 0 1,-4 0-1,1 0-756,-1 0 1,4 5 167,-2 1 1,-8 0-618,-10-6 0,-5 6 460,-6-1 0,0 9-515,-11-3 1,-12 3 649,-17-3 1,-4 10-1194,-1-4 0,-9 4 1876,-3-4 0,-4 8 0,-2 2 0</inkml:trace>
  <inkml:trace contextRef="#ctx0" brushRef="#br0" timeOffset="2">5920 4711 8013,'-17'-25'-258,"-1"6"1,-1-4 0,0 2 0,0 0 0,4-2 846,-1 2 1,7 8 0,-1 1-1,1-1 631,-1-2 0,4 5 1105,-5 4-1874,7 4 0,-4 12 1,8 7-1,0 12 373,0 9 0,0 14-379,0 11 1,0 9-245,0 3 1,6 7-343,0-2 1,2 8 137,-3-2 0,5 4 120,7-10 1,0 2-608,1-2 0,-1-5 269,0-12 0,-2-6-622,-3-11 1,1-12-354,-7-11-434,7-11 915,-11-5 1,6-14 228,-8-5 1,0-3-184,0-2 0,0-8 410,0-4 0,-6-3-208,0-2 0,-5-7 174,5 1 1,-2-6-75,3 6 1,1-7 366,-8 1 0,7-6 0,-7-5 0,3 3-92,-3-3 1,-3-4 91,3-2 0,3 4 674,-3 1 1,3-1-374,-3 2 0,3 0 1156,3 5 1,4 2-630,-4 4 0,6 6 190,6 12 0,4-3-436,7 8 1,2 0 664,4 6 1,4 0-118,7 0 1,4 5-538,8 1 1,0 5-108,12-5 1,3 7-130,2-2 0,4 4-294,2 2 1,5 2-138,1 4 0,1 3-272,-1 8 0,-3-5 163,9-1 0,-14 1-159,2 5 1,-6 0-576,0 0 0,-2 1 318,-4-1 1,-9-6-175,4 1 0,-14-7 271,-4 7 0,-1-6 43,-10 5 227,0-7 0,-12 9 440,1-7 112,-9 0 83,5-6 1,-10 0-152,-4 0 1,5 2-2,-5 3 1,2-3 5,-2 4 1,4-2-42,-3 2 1,-3 3 95,2 8 0,-5 2-117,5 4 0,-7 12 538,1 11 0,3 11-245,-3 6 0,6 8 90,-5 9 1,7 8-601,1-37 0,0 1 1,2 0-1,0 1-35,1 2 0,0-1 0,0 41 113,0-3 0,0-8 117,0-15 0,8 5-510,4-16 0,-3 1 187,3-19 0,-3-2-2417,3-9 1836,3 3 1,-5-20-1493,7-1 0,-6-11 2223,1-11 0,7-24 0,8-18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7T02:20:57.773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1633 5642 8018,'-23'0'689,"2"0"1,2 1-172,4 3 1,8-3-1,8 3 1,10-3-1,8-1 1,6 0-436,5 0 0,7-5 0,3-2 0,0-4 0,5-1 0,2-2-478,2-1 1,1-4 0,-4 2 0,4-1 0,3-3-1,1-3-325,-5-3 0,-1-1 1,-11 3-1,-4-2 1,-5 2 719,-4 1 0,-6 1 0,-2 0 0</inkml:trace>
  <inkml:trace contextRef="#ctx0" brushRef="#br0" timeOffset="1">2124 5162 8049,'-5'-11'0,"-1"-2"1834,-6-2 1,6 2-989,2-2 0,8 7 1,5 5-1,4 1-563,2 2 1,5 0 0,1 0 0,3 0-440,2 0 1,6 0 0,-2 2 0,3 1-252,2 5 1,-1-2 189,0 2 1,-1 1 0,-2 5 0,-5 2-88,-2 2 1,-6 1 0,-3 4 0,-3 0 228,-5 0 1,-1 5 0,-9 2 0,-5 3 146,-7 1 1,-6 2 0,-6 2 0,-4 5-68,-2 5 1,-1-1 0,0 4 0,0 0-537,-1 2 0,1-1 1,0-1 186,0-4 0,-1-4 0,1-9 1</inkml:trace>
  <inkml:trace contextRef="#ctx0" brushRef="#br0" timeOffset="2">17828 12323 8049,'0'-23'134,"0"2"1,0 2-1,0 3 1,3 5-1,3 3 1,7 5 446,3 1 0,7 2 0,6 2 0,3 1-662,3 5 0,7 3 0,0 5 0,4 3 1,3 2-2354,5 2 2434,-24-11 0,0-1 0,2 0 0,0 1 0,2-1 0,0 1 0</inkml:trace>
  <inkml:trace contextRef="#ctx0" brushRef="#br0" timeOffset="3">21368 13557 8465,'-11'0'-467,"0"0"1,2 0 553,5 0 0,9 0 0,11 0 0,2 0 1,3 0-1,0 0 141,2 0 0,1-4 1,3 0-1,4 0 0,5 0 1,3 1-80,2 0 1,6-3 0,5-2-1,2-2-67,4-2 0,-4 1 0,8-2 1,-1-1-90,0-1 1,0-5 0,-4 1 0,-1-4-76,-3-4 0,-6 2 1,-5-7-1,-1-2 76,-4-3 0,-1-2 1,-8-1 30,1-5 0,-3-2 1,0-5-1,-3 1-19,-4 3 0,-3-3 0,-9 2 0,-4-1-9,-6-1 1,-10 8 0,-9-1 82,-8 3 0,-9 3 0,-7 4 0,-7 1 7,24 17 1,-1 1 0,-2 1 0,0 2 0,-3 1-1,-1 3 1,-1 0 0,-1 2-60,-1 1 1,-2 1 0,-4 1-1,0 2 1,1 3 0,-1 1 31,1 2 1,-1 2 0,1 3 0,1 2 0,-1 4 0,0 3 0,1 1 0,1 2 0,1 1 0,1 2 1,1 1 0,2 1 0,0 1 0,3 1 0,5 1 0,3 1-74,1 1 0,1 1 0,-1 2 0,2 2 0,4 1 0,3 0 1,2 1-1,2 1 0,3 0 0,2 1-223,2 1 1,3 0 0,4 0 0,3 1-1,4 1 1,3 1 13,2-1 0,3-1 0,5-4 1,2-2-1,4 0 0,3-2 221,1-5 0,3-1 0,0 1 0,1 0 0,3-3 0,2-1 0,0 1 0,0-1 0</inkml:trace>
  <inkml:trace contextRef="#ctx0" brushRef="#br0" timeOffset="4">12780 2193 8117,'-29'0'1094,"2"0"1,7 5 0,3 4-924,5 5 1,-2 3 0,7 8-1,-2 1 1,-1 7 0,-4 7 0,-1 7 437,-1 3 0,-1 5 0,4 5 0,1 3 1,3 0-1,2 1 94,5-6 0,7-8 0,6-5 0,7-5 0,4-6-559,1-4 0,3-7 1,2-7-1,1-5-255,3-3 0,-3-3 1,0-5-1,-1-2 0,-3-1-790,-5-5 1,1-7 0,-2-4 0,2-3-504,-2-1 1,1-5 0,-5-1 0,-2-1 110,-4-1 0,0 3 1,-7 0 1292,-3 6 0,-9 1 0,-8-2 0</inkml:trace>
  <inkml:trace contextRef="#ctx0" brushRef="#br0" timeOffset="5">12266 2695 7939,'-23'-11'1456,"0"-1"0,4 2 0,2 1-783,0 2 0,8 3 1,10-2-1,10-1-203,6 1 1,14-2 0,4-3 0,5 0-538,3-1 1,6 1 0,5-1 0,0 1-483,-1-1 0,3 6 0,-4 2 0,0 3-680,-2 1 1,-1 1-1,-3 3 1,-5 4-1501,-5 2 2729,-6 1 0,3 6 0,-4 1 0</inkml:trace>
  <inkml:trace contextRef="#ctx0" brushRef="#br0" timeOffset="6">13191 2570 7939,'-5'-18'443,"2"1"0,-3 6 377,1 0 1,1-5 0,6 1 0,1 1 0,5 1-579,2 2 0,2 0 0,0 0 0,2 3-53,1 0 1,6 5 0,-2 0 0,2 1-344,2 2 1,0 0-1,1 0 1,1 2-367,2 1 1,0-1 0,-4 2-1,-1-2-227,1 2 1,0-3-1,0 3 1,-1-3 193,-3-1 1,2-1-1,-3-3 1,-2-3 552,-4-4 0,4 0 0,-3 0 0</inkml:trace>
  <inkml:trace contextRef="#ctx0" brushRef="#br0" timeOffset="7">13568 2136 7939,'-13'-18'1393,"-2"3"0,6 7-71,-2 4 0,7 4 0,-1 7 0,1 8-559,0 10 0,-1 13 1,3 8-1,-3 9-440,-2 8 1,4-31 0,-1 1-321,-2 3 0,0 0 1,1 1-1,0 0 1,1-2-1,0 1 1,2-2-1,1 0-806,0 0 0,0-2 0,3 16 1,1-6-1,6-14-5624,5-11 6427,-1-2 0,14-14 0,-3 4 0</inkml:trace>
  <inkml:trace contextRef="#ctx0" brushRef="#br0" timeOffset="8">14208 2490 7939,'-18'-12'-102,"-3"2"1,5 1 0,-1 3 0,1 1 0,1 2 1422,-2 2 0,5 1 0,-5 0 1,2 1-671,0 3 0,-4 4 1,3 6-1,2 2-428,2 2 0,0 1 0,2 5 1,1 3-1,3 3 0,0 4-78,-1 5 1,5 0 0,-2 4 0,3-2-375,1-2 0,5-6 1,2-8-1,3-4-203,2-6 1,3-4 0,2-3 0,0-6-109,4-4 1,0-9 283,2-9 0,1-7 0,2-6 0,0-6-132,0-1 1,2-7-1,-1-8 1,1-3 90,-13 28 1,-2-1 0,-1-3 0,-1-2 0,-1 2-1,-1-2 1,1 0 0,-1-1 69,0-2 0,0 0 0,0 1 0,-2 0 0,-1 2 0,0 0 0,5-27 94,1 7 1,-2 6-1,-1 7 1,-2 1 39,2-1 0,-4 9 0,-1 5 0,-3 7 960,-1 7 1,-1 3 0,-3 5 375,-3 3 1,-3 8 0,-2 3 0,1 5-269,-1 3 1,1 8 0,-1 9-1,0 6-22,-3 7 0,2 10 0,-2 7 0,2 2-635,7-32 0,1 2 0,0 0 0,2 0 0,0 1 0,0 1 1,0 0-1,0 0-125,2 0 0,0 0 0,1-1 1,0-1-1,1 0 0,2 0 1,0-1-1,0 0-79,0-1 0,0 0 1,8 22-1,-4-5 1,2-8-57,-1-6 0,2-4 1,-4-2-1,2-2-514,-1-6 1,-3-3 0,3-7 0,-1 1-1977,0-1 0,-2-5 869,4-2 0,-5-8 0,5-6 1563,1-7 0,-4-8 0,0-9 0</inkml:trace>
  <inkml:trace contextRef="#ctx0" brushRef="#br0" timeOffset="9">7321 16240 8080,'0'-19'310,"0"2"1,1 0 0,4 4-138,7 5 0,5 3 0,10 5 0,5 0 0,4 1-110,6 3 0,3-2 0,2 6 1,2-1-1,3 1 181,0 0 0,4-5 0,-3 4 1,5-1-1,2-1-125,-27-2 1,-1-1-1,2 0 1,-1 0-1,2-2 1,0 0 0,1 0-1,1 0-43,0 0 0,2 0 0,2 0 0,0 0 0,2 0 0,-1 0-121,1 0 1,0 0 0,-1-2-1,0 0 1,2 0 0,0-1-1,1 1 1,1-1-33,3 0 0,0 1 0,-2 0 0,0 0 0,3 2 0,0 0 78,-1 0 1,0 0-1,0 0 1,1 0-1,3 0 1,2 0-1,1 0 1,0 0-1,2 0 1,0 0 32,-2 0 0,1 0 0,0-1 0,0-2 1,-1 1-1,0 1-111,2-1 1,1 1 0,-1 0 0,2 1-1,-1-1 1,1 1 0,-3-2 0,-1 1 75,-2-1 0,1 0 0,0 0 0,0-1 0,-1 2 0,-1 0 1,-1-1-1,-1 0-17,-3 0 1,0 1 0,-2 0 0,-2 1 0,-4 0 0,-1 0-294,-1 0 0,0 0 0,-3 2 0,-1 1 0,24 6 311,-7 5 0,-6 4 0,-9 4 0,-2 1 0,-2 0 0</inkml:trace>
  <inkml:trace contextRef="#ctx0" brushRef="#br0" timeOffset="10">15110 2490 7826,'-12'0'1556,"6"0"-1153,-4 0 0,5-2 1,-2 0-1,7-2-121,7 2 1,8 0 0,4 2 0,4 0 0,4-1-401,3-3 1,4 3 0,3-3 0,2 2-259,2-2 0,0 3 0,2-3 0,-3 2 0,1 2-186,0 0 0,-8-3 0,-2-1 0,-4 1-192,-5 2 1,-7 1 753,0 0 0,-7 5 0,-3 1 0</inkml:trace>
  <inkml:trace contextRef="#ctx0" brushRef="#br0" timeOffset="11">15464 2204 7805,'-18'-16'297,"-1"3"0,6-1 578,3 5 1,1 4 0,-1 6 0,3 4-233,3 7 1,1 7-1,1 11 1,-3 11-465,-2 10 1,1 3 0,-2 10 0,4-1 0,3 1-372,1-31 1,0 0 0,2-1 0,1 0 0,6 28-1578,5-11 1,4-12 1768,5-10 0,5-13 0,1-4 0</inkml:trace>
  <inkml:trace contextRef="#ctx0" brushRef="#br0" timeOffset="12">16537 2318 7845,'-22'0'177,"0"2"0,2 2 0,2 3 0,0 3 0,0 4 621,-2 5 1,4 2-1,0 10 1,4 4 477,0 1 1,2 8-917,2-3 0,6 3 0,10-4 1,7-6-1,5-6 839,3-4-1177,5-1 0,1-9 34,5-2 1,-3-9-57,-1 1 1,2-2 0,3-5 0,1-3-65,-3-6 0,-1-8 1,2-3-1,0-6-310,1-4 0,-4-1 1,-3-1-1,-8 0-119,-6-3 0,-5 1 0,-9-4 0,-4 2 74,-7 2 1,-9 7 0,-21 3 0,-7 6 414,-8 5 0,-4 6 0,2 10 0,0 1-200,1 3 1,-4 6 0,12 6 0,11-2-1919,12-2 2122,8 0 0,7-1 0,-1 1 0</inkml:trace>
  <inkml:trace contextRef="#ctx0" brushRef="#br0" timeOffset="13">17257 2547 8035,'-5'-28'422,"0"5"1,-3 0 242,4 7 1,4 3 0,5 2-1,7 0 1,6 3 0,4 1-1,4 2-197,0 3 0,7 0 0,0 2 0,4 0 1,1 2-1,2 1-947,2 5 1,-1 2-1,3 2 1,-1-1-371,-4 0 0,-2 1 1,-3-2-1,-1-2 0,-2-5-1704,-5-1 2553,-2 3 0,-6-4 0,-1 4 0</inkml:trace>
  <inkml:trace contextRef="#ctx0" brushRef="#br0" timeOffset="14">17668 2113 7934,'-21'-18'0,"1"4"753,5 5 1,6 4 0,3 6-1,1 3 1,4 5 327,3 5 1,3 9-1,4 9 1,-1 4-1029,1 6 0,0 8 1,-1 4-1,-1 6-263,-5-28 0,1 1 1,-1 2-1,0 1-93,-2 0 1,0 0 0,0 0 0,0 0 0,0-1 0,0-1 0</inkml:trace>
  <inkml:trace contextRef="#ctx0" brushRef="#br0" timeOffset="15">18650 2547 8368,'-15'-10'6,"-1"1"1,-1 2-1,-1 2 1,1 3-1,-3 1 1,1 2 344,0 3 0,0 2 1,-3 7-1,0 1 1,2 2-1,2 2 146,1 2 0,1 3 0,2 4 1,0 3-1,3 4-325,2 5 1,6-3 0,1 6 0,4 0 0,7-1-116,5-3 0,4-4 1,3-4-1,0-3-371,-2-3 0,0-7 1,2-6-1,0-6-66,-2-4 1,-5-1 0,1-2 140,-3-6 0,4-4 0,-1-12 1,-1-3-78,-1-4 1,-2-10-1,0-6 1,1-5 176,-1-7 0,1-4 0,-7 26 0,1 0 0,0-2 0,0-1 64,-1-1 0,1 0 1,-1-2-1,0 1 1,0 1-1,-1-1 1,0 1-1,0-1 118,0 0 0,0 1 0,-1 4 1,0 1-1,-1 3 0,1 1 1,0-21 181,1 8 0,0 11 1,-4 6-1,0 3 254,0 2 1,-1-1 0,-2 8 181,-1 3 1,-4 5-124,0 4 1,2 3 0,-1 2-336,2 3 1,0 2-1,3 7 1,-2 2-1,1 5 102,2 6 0,-3 3 0,0 7-109,2 2 1,1 6-1,1 8 1,-2 4-66,-2 6 1,4-29-1,-1 0 1,-1 2-1,0 0-26,2 1 0,-1 0 0,1 4 0,0 0 0,0 3 0,0-1-101,0 0 0,0-1 1,0 0-1,0-1 0,0-5 1,0-2-1,1 30-38,3-8 1,-3-6 0,3-11 0,-2-8-228,-2-4 0,3-13-1440,1-1 480,0-8 0,-3-6 1221,3-9 0,2-5 0,6-7 0</inkml:trace>
  <inkml:trace contextRef="#ctx0" brushRef="#br0" timeOffset="16">5174 17531 8161,'7'0'-174,"1"0"0,1-1-59,1-3 1,-2 3-1,-1-3 349,2 3 1,-3 1-1,2 0 21,1 0 0,1 0-63,1 0 0,1 0 63,-1 0 1,-3 0 0,0 0 66,0 0 1,-1 0-95,0 0 1,1 0-1,3 0-71,1 0 0,-2 1 0,-1 1 0,-2 2 43,2-1 1,1-2 0,3-1-1,1 0-89,1 0 0,2 4 1,-2 0-1,4-2 104,3-1 1,-2-1 0,2 2-29,2 2 0,1-3 0,-2 3 1,0-3 20,0-1 0,3 0 0,2 0 0,0 0-26,0 0 1,0 0 0,-3 0-1,3 0 22,1 0 0,1 0 1,1 0-1,0 0-65,0 0 0,-1 0 0,1 0 1,4-1-16,1-3 0,-1 3 0,-5-3 1,3 2-31,4 2 1,-1 0 0,2-1-1,-3-1-9,-1-2 0,6 0 0,0 3 1,1-2 33,-3-1 0,-1 1 1,0 3-1,2 0 28,2 0 0,-5 0 0,2 0 0,-1 0-22,1 0 1,-1 0 0,4 0 0,-1 0 31,1 0 0,-4 0 0,2 0 0,0 0-35,3 0 1,-2 0 0,-2 0-1,-3 0 22,-1 0 1,6 0-1,0 0 1,1 0 9,-3 0 0,-2 0 0,-1 0 1,2 0-18,1 0 1,4 0 0,-4 0 0,-1 0 5,-2 0 1,5 0 0,0 0 0,2 0-21,0 0 1,-4 0 0,3 0 0,-1 0-15,1 0 0,-1 0 0,2 0 1,-2 0-25,-1 0 1,-2 0 0,3 0 0,0 0 123,-3 0 1,2 0 0,0 0 0,2 0 18,2 0 1,-2-2 0,-1 0 0,1-2-77,-1 1 1,2 2 0,3 1 0,-2 0-45,-1 0 0,-5 0 1,2 0-1,0 0-8,3 0 1,-3 0 0,0 0 0,-4 0-28,-1 0 0,2 0 0,1 0 34,1 0 0,1 0 0,-2 1 0,1 2 16,-1 1 0,6 0 0,-1-4-2,-3 0 0,2 0 0,-2 0 1,2 0 10,2 0 1,0-4 0,0 0 22,-1 1 1,0 2 0,4 1 0,-1 0 4,1 0 0,-4 0 1,0 0-25,1 0 1,0 0 0,0 0 0,-1 0-22,1 0 1,2 0 0,0 0 0,1 0-2,0 0 0,-1-1 0,0-2 1,-2 0 42,-1 0 1,3-2 0,5 1-1,-2 0-3,-1-1 1,-1 3 0,-1-5 0,1 2 11,0 3 1,-1-3 0,0 0-1,-2 0-42,-1-1 1,2 3 0,3 3-31,-2 0 0,-6-2 0,2 0 0,-1-2-42,1 2 0,-4 0 0,1 2 0,-2 0 58,3 0 1,-3 0-1,5 0 86,-2 0 0,-1 0 0,-2 0 1,1 0 16,1 0 0,4 0 1,-3 0-82,2 0 0,-3-4 0,2 1 1,1 0-25,-1 2 1,1 1 0,1 0 7,-4 0 0,1 0 0,1 0 0,-1 0-12,0 0 1,-1 0-1,-3 0 1,0 0 15,3 0 1,-2 0 0,3 0-1,-1 0 60,0 0 1,2 4-1,-2-1 1,2 0-42,1-2 0,0-1 1,-5 0-1,4 0-19,0 0 1,1 0 0,1 0-1,-3 0 2,0 0 1,-2 4 0,4 0-18,-2-2 0,3 0 0,-4-1 1,-1 1 1,-1 2 1,2 1 0,1-2 0,0 1 9,1-2 0,-1 3 0,-2-1 0,3-1 14,5-2 0,-7 3 0,5 0 0,-2-2 17,0-1 1,4-1 0,1 0 0,-2 2 19,-2 1 1,2-1 0,-1 1 0,3-1-32,0-2 0,2 4 1,-7 1-1,0 0-26,1 0 0,0 0 1,3-3-1,-2 3 17,-1 2 0,0-5 0,3 3 1,1-1 49,0 0 1,-5 1 0,1-2 0,1 0 18,2 0 1,4-2 0,1-1-1,-2 0-17,-1 0 0,-1 0 0,1 0 0,1 0-56,1 0 1,1 0-1,-4 0 1,-1 0-27,1 0 0,2 0 0,0 0 0,-1 0-17,2 0 1,-1 0 0,-1 0-1,0 0-58,-2 0 0,4 0 1,-6 0-1,4 0 26,2 0 0,1 0 1,-5 0-1,1 2 53,0 1 0,-1-1 1,2 1-1,3 0 39,3 1 1,-2-3 0,0 3-1,-1-3 116,4-1 0,0 0 1,1 0-1,-2 0-37,2 0 1,-3 0 0,2 0 0,3 0-29,3 0 1,-3 0 0,-4 0 0,2 0 0,1 0-71,1 0 1,-4-4-1,-1 1 1,-1 0-79,-3 2 1,-1-3 0,-4 0 0,-3 2-156,-6 0 1,-9 2-1,-2 0 1,-6 0-1808,-5 0 2036,-5 0 0,-2 5 0,-5 2 0</inkml:trace>
  <inkml:trace contextRef="#ctx0" brushRef="#br0" timeOffset="17">18707 17143 7828,'0'-12'411,"-5"2"1,-1 1 0,-2 2 0,2-2 1322,1-1 1,1 2-1,5 2-1613,3 1 1,-1 1 0,3 5 0,0 3-461,1 3 0,-3 7 0,2 3 0,-1-1-220,-2 1 0,-2 3 1,-1-2-1,0 1-394,0 0 0,0-1 0,0 2 0,0-2 953,0-2 0,-5 0 0,-2-5 0</inkml:trace>
  <inkml:trace contextRef="#ctx0" brushRef="#br0" timeOffset="18">18707 16697 7848,'0'-7'1628,"0"-1"-240,0 6-1271,0-9 1,5 15-1,3 0-446,2 5 0,5 6 0,2 2 0,1-1-1792,2 1 2121,2-2 0,0 1 0,1 2 0</inkml:trace>
  <inkml:trace contextRef="#ctx0" brushRef="#br0" timeOffset="19">19061 16983 7875,'0'-18'0,"-1"3"1202,-3 2 1,2 3 1471,-6 2-2462,6 3 0,-3 7 0,5 3 0,-2 5 0,0 4 37,-2 0 0,0 3 0,3 3 0,-2 1-405,0 2 1,-5 0-1,3 0 1,-1-1-427,-3 1 1,2-1-1,1-2 1,0-2 1050,-1-2 1,5 0 0,-3-6-1164,0-3 369,3-1 0,2-15 1,8-4 4,2-4 1,1-2-1,1-3 1,-1 0 166,1 3 1,-1 1 0,-1 4 0,-1-1 676,-1 1 1,-1 3-1,4 2 1,-3 1 252,0-1 0,0 0 0,2 0 1,-1 3 144,-2 1 1,1-3-1,3 5-331,1 0 0,-1 2 0,1 1-762,-1 0 0,-3 6 0,-1 4 0,1 6-824,-2 1 0,4 2 0,-2 4 995,2 0 0,7 5 0,0 1 0</inkml:trace>
  <inkml:trace contextRef="#ctx0" brushRef="#br0" timeOffset="20">20112 16823 7948,'6'-23'827,"3"-2"1,-5 2 0,-1 5-1,-2 4 392,-1 3 0,0 6-1086,0 5 0,-4 6 1,0 9-1,1 4 1,-1 4-592,0 4 0,-5 3 1,3 7-1,-2 2 0,2 2-406,1 2 1,-3-4 0,3 0 0,0-4-304,0-1 1,1 1 1166,4-1 0,-5-5 0,-1-1 0</inkml:trace>
  <inkml:trace contextRef="#ctx0" brushRef="#br0" timeOffset="21">19929 17063 7948,'-17'-18'247,"1"2"0,8 5 406,0 4 0,5-3 0,1 2 1,6-1-208,7 1 1,7-2 0,8 4-472,5 0 0,2-7 1,2 4-1,2 0-289,1-1 1,7 1 0,-1 0 0,4 2-315,1-2 1,-6 4 0,-4 1 0,-2 3-296,-4 1 1,-8-4 922,-2 0 0,-5 0 0,-7 4 0</inkml:trace>
  <inkml:trace contextRef="#ctx0" brushRef="#br0" timeOffset="22">20478 16652 7948,'0'-18'169,"0"-2"1,0 3-1,1 1 844,3-1 1,-3-2 58,3 4 1,-3 7-720,-1 12 0,-5 11 0,-4 14 1,-4 4-127,-2 7 1,-4 3 0,4 3-1,1-2-90,1-2 0,2 2 1,-1-3-1,1-1-185,0-1 0,4-4 0,3-2 1,3-2-161,1-5 1,0-7-40,0-4 1,5-7 103,3-4 1,1-4-1,0-4 1,-3-4-111,-1-2 0,0-5 0,-2 0 0,0 1 70,0 1 1,-2-2-1,-1 0 1,0 1 189,0 1 1,0 2-1,2-1 1,0 1 191,2-1 0,1 1 51,-1 0 1,-2 0 0,5 3 0,-1 1 1,0 2 0,2 1 0,3 4-146,1 0 0,-1 2 1,1 0 32,-1 2 1,-3 5 0,-1-2 0,1 4 130,-2 0 0,3 2 0,-4 1 1,0 1 6,0-1 0,4 2 0,-2 0 0,0-2-54,1-2 0,-1 0 1,5-2-1,-1-1-86,1-2 0,-1-4 1,2 1-1,1-3-326,1-1 1,4-5-1,-3-3 1,2-2-53,3-1 1,-1-2 0,0-2 0,-1-3 0,0-1-522,-1 0 0,-2 5 1,-4-1-1,-1 1-48,1-2 1,-2 4-1,-2-3 534,-5 2 1,-3 3-1,-3 2 418,-5 4 1,-2-1 0,-2 1 311,1 2 0,-1 1 1,1 1-1,0 0 533,-1 0 1,0 1 0,-1 3 0,0 3-37,3 3 1,2 2-1,0-1 1,1 2-1,2 1-762,3 1 1,0 2-1,4-3-1195,1 1 1,9 1 0,7-2 0,4 2-2754,3-2 3759,3 3 0,11-4 0,0 3 0</inkml:trace>
  <inkml:trace contextRef="#ctx0" brushRef="#br0" timeOffset="23">21654 16869 7933,'0'-17'1511,"-1"4"1,-2-2-405,-1 3 1,1 6 0,4 6 0,1 7-770,2 3 0,4 1 0,-3 2 0,1 1-541,3 1 0,-3 0 1,1-3-1,-1 1 36,0 2 0,-2-3 1,3 4-1,-1-4 0,0-1-218,3-4 1,-2 2 0,-1-4 0,0 0-12,1 0 0,0-2 1,5-7-1,-1-5 141,0-5 0,1 0 0,-1-4 0,1 1 72,-1-1 1,-5 4 0,0-1 0,-3 2 214,1 2 0,0 3 1260,-4 0-634,0 1 0,5 0 0,3 4 384,2 1 0,1 4 0,2 1-450,2 5 0,-6-2 0,2 2 0,0 1-72,-1 1 1,1 5-1,-1 0 1,-1-1 71,-1-1 1,-1 2-1,5 1 1,-1-2-573,1-2 0,-1-5 0,2-4 0,1-1-677,1-2 0,1-5 0,-2-4 0,3-5-724,1-5 1,-3-4 0,3-3 189,-2 0 1,2-1 0,-5 4 0,-3 2-2335,0 2 3525,-5 2 0,5 1 0,-3-2 0</inkml:trace>
  <inkml:trace contextRef="#ctx0" brushRef="#br0" timeOffset="24">22373 16823 7933,'7'0'3912,"-2"0"5918,-5 0-8419,5 0 0,-2 5-1160,4 3 0,-3-2 0,4 2-443,0 0 1,-1-1 0,0-1-678,2-1 0,1 3 0,2-4-348,-1-2 1,2-1-1,1-1 1,1-1-500,-1-3 0,-1-3 0,-2-7 1082,1-1 0,-6-6 0,-2 1 0,-3-4 11,-1-3 0,-2-3 0,-5 3 1,-6 2 340,-3 1 1,-3 6-1,-3 3 236,3 2 1,-1 7 0,5 2 0,1 3 0,2 2 45,5 3 0,2 2 0,6 5 0,3 1 0,7 4 0,7 2 0</inkml:trace>
  <inkml:trace contextRef="#ctx0" brushRef="#br0" timeOffset="25">22842 16652 7827,'-12'-12'445,"2"1"1,3-1 2096,3 1 0,2 3-1659,2 1 0,2 4 1,2-1-1,3 4-501,3 4 0,-2 3 0,0 5-346,0 3 0,-1-1 1,-1 5-1,-1 2-244,-2 0 1,-1 2-1,1 0-189,1 0 1,-1-2 0,-3 0 0,-1-2-31,-3 1 0,2-2 1,-5 0-1,1-2-257,0-2 1,2-5 369,-4-1 0,6-12 1,-2-5-1,4-11-220,4-10 0,2 1 0,6-1 195,-1-2 0,-1 0 1,-1 1-1,-3 1 471,-1 2 1,-1 6 0,-4 4 0,0 1 2153,0 3-1588,0 2 0,2 5-939,1 4 0,4 3 0,4 2 0,2 3-540,2 1 1,2 1 0,3 2 780,-1-2 0,5 1 0,5 3 0</inkml:trace>
  <inkml:trace contextRef="#ctx0" brushRef="#br0" timeOffset="26">23436 16560 7859,'0'-11'-414,"0"-1"922,0 1 1,-4 0-1,-1-1-4,-2 1 0,0-1 0,-5 2-642,1 3 1,0 1 0,-1 6-1,1 2-13,-1 2 0,1-2 0,-2 6 0,-1 1 200,-1 1 0,-2 1 1,3 1-1,-1-1 193,1 0 1,2 1 0,0-1 0,1 1 176,-1-1 0,2-3 0,3-1 0,3 2 118,3 1 1,1-2 0,0 0-94,0 0 1,0-1 0,1-1 0,1 1 160,2-1 1,5-4 0,-3 3-200,1 1 1,3-5 0,-3 4 0,4-1-194,0-1 1,-3 3-1,-1-4 1,1 3 0,-1 0-313,1 0 0,0 4-303,3-1 0,-5-2 0,0 2-121,-1 1 1,-4 1-1,3 1 1,-3 1-56,-1-1 1,-1 1 0,-2 0 0,-3 2 273,-4 1 0,0 1 0,-10-5 1,-1 2 81,-4 2 1,-1-4-1,-3 2 1,1-4-43,3 0 0,2-4 0,4-3 264,4-4 0,2-10 0,1-5 0</inkml:trace>
  <inkml:trace contextRef="#ctx0" brushRef="#br0" timeOffset="27">23892 16435 7882,'-11'-12'0,"0"5"0,-1 0 685,1 2 0,-1 1 1,0 4-1,-2 2 1,-2 1 94,3 5 1,0 7-1,1 4 1,1 3 0,1 1-331,2 0 1,-1 3-1,4 2 1,0 0-419,0 0 0,1 2 0,6-3 0,0-2-213,2 0 0,5-4 0,0-2 1,3-4-510,4-2 1,0-5-1,-1-2 1,3-1-1,1-2-497,0-2 1,-4-1 0,3 0-947,-1 0 2133,3-5 0,-7-1 0,3-6 0</inkml:trace>
  <inkml:trace contextRef="#ctx0" brushRef="#br0" timeOffset="28">23607 16629 7915,'-11'-31'0,"-1"3"2809,1 4 0,4 4-402,4 9 1,8 4 0,5 3 0,5 3-2389,3 1 0,6 0 0,6 0 0,3 0-1378,2 0 0,4 0 0,4 0 1359,5 0 0,4 5 0,5 2 0</inkml:trace>
  <inkml:trace contextRef="#ctx0" brushRef="#br0" timeOffset="29">19256 17908 7939,'0'-18'266,"0"-3"0,0 4 0,0-2 0,-2 4 0,-1 2 176,-5 2 1,-4 4-1,-3 4 1,-4 1 0,-2 4-1,-3 1 44,-3 5 1,3 7-1,-4 6 1,1 4 0,1 5-514,0 3 0,2 5 0,4 2 0,3-1 0,7 2-555,4-1 1,3-3 0,10 1 0,7-4-714,7-3 1,11-4-1,1-8 1295,4-4 0,6-8 0,-3-2 0</inkml:trace>
  <inkml:trace contextRef="#ctx0" brushRef="#br0" timeOffset="30">19827 17885 7939,'-13'-21'743,"-1"1"-340,-1 5 1,0 6-1,3 3 1,-1 1 153,-2 2 0,-3 2 0,-4 1 0,-3 0-202,-1 0 1,2 0 0,-3 1 0,3 3 0,1 4-131,0 2 0,4 3 0,1 2-285,2 4 1,1 2 0,3 2 0,1 0-229,-1 0 0,1 1 0,0 3 0,-1 2-2,1 0 1,4-1 0,4-5 0,1 1 88,2 3 0,0-8 1,2 0-1,1-5-33,5-3 1,7-1 0,4-2 0,4-4 55,4-3 1,1-4 0,3-3-1,0-7 65,1-3 0,1 1 0,0-4 0,-3-2 29,-3 0 1,-2-2 0,-1-1 0,-1-2 233,-5 0 1,-8-1 0,-4 4 0,-1-1 426,-2-2 0,-7 5 0,-3 0 0,-4 3-59,0 4 0,-2 1 0,-1 3 1,-1 2 409,1 5 1,1 1-1,3 4-688,3 1 1,-2 4-1,5 6 1,1 2-443,2 4 0,-3 2 0,1 3 0,0 2-164,2 0 0,1 1 0,1-3 0,2 2-439,0 0 0,6 1 0,-1-4 1,1 0-19,-2-1 1,7 1 0,-2-1 0,2-2-151,2-1 1,-2-5 972,5 1 0,0-2 0,4-2 0</inkml:trace>
  <inkml:trace contextRef="#ctx0" brushRef="#br0" timeOffset="31">20204 17851 7939,'0'-31'178,"0"2"14,0 1 0,1 5 0,1 6 1,2 0 409,-1 3 1,2-2-15,-1 0-686,-1 6 1,-4 7-1,-1 6-220,-2 5 1,-4 2 0,3 1 0,-1 1 164,-3-1 1,-1 5 0,-2 0 0,1 2 29,-1 2 0,0-2 0,-2 1 402,-1 1 1,-5 2 0,5 2 0,0 0-1,0 0 489,0-2 1,-4-2 0,2 2 0,1-2 170,-1-1 0,-2-6 0,5-1 1,3-3 284,2 0 1,5-4-966,-4-1 1,11-4 0,2-3-1,8-2-456,6-1 1,6 2 0,3-3 0,1-1-267,3 2 0,0-3 1,-2 5-1,-3 1-148,-3 2 0,-5 2 0,-1 3 1,-2 4 185,-2 2 0,-6 8 0,-4 3 0,-4 7-6,-4 5 1,-4-1 0,-6 6 0,-1-2-36,1-2 1,-3-1-1,1-3 1,-1-3-78,1-3 1,1-2-1,5-3 1,1-4 542,1-2 0,0-2 0,-3 0 0</inkml:trace>
  <inkml:trace contextRef="#ctx0" brushRef="#br0" timeOffset="32">20455 18034 8106,'-7'-6'369,"-1"4"1,2-4 1152,0 1 1,5 1-980,1 4 0,5 0 0,8 1 1,1 2-1,2 0-269,2 0 1,-3-2 0,4-1 0,1 0-249,2 0 0,5 0 1,1-1-222,1-3 0,1 2 0,4-7 0,1-3-62,-1-2 0,-1-2 0,-3 1-167,-3-5 1,-4-1 0,-4-3 0,-4-2-214,-2 0 0,-7-1 1,-3 4 468,-6 0 1,-9 2-1,-11 2 1,-7 5 428,-3 5 0,-2 0 1,-2 5-1,-2 2 194,-2 0 0,3 4 0,-2 3 304,0 6 0,-2 6 0,4 7 0,1 4 120,2 6 0,8 2 0,7 5 0,9 1 0,5 0-644,8 0 0,5-5 1,12 0-982,8-6 0,5-3 0,3-5 0,3 0-273,4 0 1,4-7 0,2-4 0,2-7 1018,-2-4 0,4-1 0,0 0 0</inkml:trace>
  <inkml:trace contextRef="#ctx0" brushRef="#br0" timeOffset="33">21186 18353 7939,'-16'-15'9830,"1"0"-9159,5 5 1,6 5-1,8 3 1,4 0-4436,2-2 3764,1-5 0,6-2 0,1-7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18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8E2CB00-C86A-A747-9BDC-DD3376311CB6}" type="slidenum">
              <a:rPr lang="en-US" sz="1300" b="0">
                <a:latin typeface="Times New Roman" charset="0"/>
              </a:rPr>
              <a:pPr eaLnBrk="1" hangingPunct="1"/>
              <a:t>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520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F470949-01C9-4545-AAB5-077D8C322328}" type="slidenum">
              <a:rPr lang="en-US" sz="1300" b="0">
                <a:latin typeface="Times New Roman" charset="0"/>
              </a:rPr>
              <a:pPr eaLnBrk="1" hangingPunct="1"/>
              <a:t>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131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114CD15E-08C5-BE42-912D-322759A8C347}" type="slidenum">
              <a:rPr lang="en-US" sz="1300" b="0">
                <a:latin typeface="Times New Roman" charset="0"/>
              </a:rPr>
              <a:pPr eaLnBrk="1" hangingPunct="1"/>
              <a:t>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415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281ECA61-3AE7-2C4E-AD4F-E208908BE981}" type="slidenum">
              <a:rPr lang="en-US" sz="1300" b="0">
                <a:latin typeface="Times New Roman" charset="0"/>
              </a:rPr>
              <a:pPr eaLnBrk="1" hangingPunct="1"/>
              <a:t>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192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195A4D9-D9A3-9D42-8C21-61B5EC1E1BB0}" type="slidenum">
              <a:rPr lang="en-US" i="0" smtClean="0">
                <a:latin typeface="Times New Roman" charset="0"/>
              </a:rPr>
              <a:pPr>
                <a:defRPr/>
              </a:pPr>
              <a:t>10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157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A2B8162-AD91-4E41-87FA-46E55C0794C5}" type="slidenum">
              <a:rPr lang="en-US" sz="1300" b="0">
                <a:latin typeface="Times New Roman" charset="0"/>
              </a:rPr>
              <a:pPr eaLnBrk="1" hangingPunct="1"/>
              <a:t>11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wireless: because reception while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</a:t>
            </a:r>
            <a:r>
              <a:rPr lang="en-US" baseline="0" dirty="0" err="1">
                <a:ea typeface="ＭＳ Ｐゴシック" charset="0"/>
                <a:cs typeface="ＭＳ Ｐゴシック" charset="0"/>
              </a:rPr>
              <a:t>tx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is difficult . broadcast isn’t perfect so collisions local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200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8173F60-04DA-AF4F-972C-DA3BA148616A}" type="slidenum">
              <a:rPr lang="en-US" sz="1300" b="0">
                <a:latin typeface="Times New Roman" charset="0"/>
              </a:rPr>
              <a:pPr eaLnBrk="1" hangingPunct="1"/>
              <a:t>12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8181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8173F60-04DA-AF4F-972C-DA3BA148616A}" type="slidenum">
              <a:rPr lang="en-US" sz="1300" b="0">
                <a:latin typeface="Times New Roman" charset="0"/>
              </a:rPr>
              <a:pPr eaLnBrk="1" hangingPunct="1"/>
              <a:t>13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23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D5449E5-25AA-1A47-9C3B-1506A307C190}" type="slidenum">
              <a:rPr lang="en-US" sz="1300" b="0">
                <a:latin typeface="Times New Roman" charset="0"/>
              </a:rPr>
              <a:pPr eaLnBrk="1" hangingPunct="1"/>
              <a:t>15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8631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17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7995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63B9F7-1F50-1844-866B-6E9D4F9BB811}" type="slidenum">
              <a:rPr lang="en-US"/>
              <a:pPr/>
              <a:t>21</a:t>
            </a:fld>
            <a:endParaRPr lang="en-US"/>
          </a:p>
        </p:txBody>
      </p:sp>
      <p:sp>
        <p:nvSpPr>
          <p:cNvPr id="194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94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496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F1C8DD0-A2A5-9A44-B66D-68E982D18E04}" type="slidenum">
              <a:rPr lang="en-US" sz="1200" b="0">
                <a:latin typeface="Times New Roman" charset="0"/>
              </a:rPr>
              <a:pPr eaLnBrk="1" hangingPunct="1"/>
              <a:t>24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900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26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3696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27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660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29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994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35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6597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EA0328-C956-B249-A6D4-A0E7BBC7B378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5968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EA0328-C956-B249-A6D4-A0E7BBC7B378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893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32342D-A5EE-634E-BBD6-118AB66A94E6}" type="slidenum">
              <a:rPr lang="en-US" sz="1200" b="0">
                <a:latin typeface="Times New Roman" charset="0"/>
              </a:rPr>
              <a:pPr eaLnBrk="1" hangingPunct="1"/>
              <a:t>43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2063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56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23B87BA-C31F-704A-AE65-21DD8AF33AE2}" type="slidenum">
              <a:rPr lang="en-US" sz="1200" b="0">
                <a:latin typeface="Times New Roman" charset="0"/>
              </a:rPr>
              <a:pPr eaLnBrk="1" hangingPunct="1"/>
              <a:t>50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6429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24AA143-4958-F344-9D47-C49E6475F95B}" type="slidenum">
              <a:rPr lang="en-US" sz="1200" b="0">
                <a:latin typeface="Times New Roman" charset="0"/>
              </a:rPr>
              <a:pPr eaLnBrk="1" hangingPunct="1"/>
              <a:t>51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7050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3200844-4843-4742-AC76-3A2BFB1A275A}" type="slidenum">
              <a:rPr lang="en-US" sz="1200" b="0">
                <a:latin typeface="Times New Roman" charset="0"/>
              </a:rPr>
              <a:pPr eaLnBrk="1" hangingPunct="1"/>
              <a:t>52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4491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2A3C8062-490D-8343-A3E5-312490AFF82B}" type="slidenum">
              <a:rPr lang="en-US" sz="1200" b="0">
                <a:latin typeface="Times New Roman" charset="0"/>
              </a:rPr>
              <a:pPr eaLnBrk="1" hangingPunct="1"/>
              <a:t>53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3561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D67B076-01A6-BF41-ABA5-655018180054}" type="slidenum">
              <a:rPr lang="en-US" i="0" smtClean="0">
                <a:latin typeface="Times New Roman" charset="0"/>
              </a:rPr>
              <a:pPr>
                <a:defRPr/>
              </a:pPr>
              <a:t>58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00856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C130659-87AF-CE4D-B5EA-54D55326E82A}" type="slidenum">
              <a:rPr lang="en-US" sz="1300" b="0">
                <a:latin typeface="Times New Roman" charset="0"/>
              </a:rPr>
              <a:pPr eaLnBrk="1" hangingPunct="1"/>
              <a:t>59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9387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10B4C87-43F1-8447-99DD-FB94C86AE74F}" type="slidenum">
              <a:rPr lang="en-US" sz="1300" b="0">
                <a:latin typeface="Times New Roman" charset="0"/>
              </a:rPr>
              <a:pPr eaLnBrk="1" hangingPunct="1"/>
              <a:t>60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sz="2100" b="1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6411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6575D-CA49-4549-97D1-CD89AD108F8C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036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55DADC6-5201-E64C-A1E5-863C733C1EED}" type="slidenum">
              <a:rPr lang="en-US" sz="1200" b="0">
                <a:latin typeface="Calibri"/>
                <a:cs typeface="Calibri"/>
              </a:rPr>
              <a:pPr eaLnBrk="1" hangingPunct="1"/>
              <a:t>64</a:t>
            </a:fld>
            <a:endParaRPr lang="en-US" sz="1200" b="0" dirty="0">
              <a:latin typeface="Calibri"/>
              <a:cs typeface="Calibri"/>
            </a:endParaRPr>
          </a:p>
        </p:txBody>
      </p:sp>
      <p:sp>
        <p:nvSpPr>
          <p:cNvPr id="389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6 one’s </a:t>
            </a:r>
            <a:r>
              <a:rPr lang="en-US" dirty="0">
                <a:ea typeface="ＭＳ Ｐゴシック" charset="0"/>
                <a:cs typeface="ＭＳ Ｐゴシック" charset="0"/>
                <a:sym typeface="Wingdings"/>
              </a:rPr>
              <a:t> start</a:t>
            </a:r>
          </a:p>
          <a:p>
            <a:r>
              <a:rPr lang="en-US" dirty="0">
                <a:ea typeface="ＭＳ Ｐゴシック" charset="0"/>
                <a:cs typeface="ＭＳ Ｐゴシック" charset="0"/>
                <a:sym typeface="Wingdings"/>
              </a:rPr>
              <a:t>7 one’s  end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9687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4F0C603-5E41-FC4A-B51E-1199FDCB3081}" type="slidenum">
              <a:rPr lang="en-US" sz="1200" b="0">
                <a:latin typeface="Calibri"/>
                <a:cs typeface="Calibri"/>
              </a:rPr>
              <a:pPr eaLnBrk="1" hangingPunct="1"/>
              <a:t>65</a:t>
            </a:fld>
            <a:endParaRPr lang="en-US" sz="1200" b="0" dirty="0">
              <a:latin typeface="Calibri"/>
              <a:cs typeface="Calibri"/>
            </a:endParaRPr>
          </a:p>
        </p:txBody>
      </p:sp>
      <p:sp>
        <p:nvSpPr>
          <p:cNvPr id="4096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3359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4A012FE0-0AAC-F74C-8825-F12F825B7FED}" type="slidenum">
              <a:rPr lang="en-US" sz="1200" b="0">
                <a:latin typeface="Times New Roman" charset="0"/>
              </a:rPr>
              <a:pPr eaLnBrk="1" hangingPunct="1"/>
              <a:t>67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585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84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56800-6334-BE84-16B6-7402A699A2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93E6A-DFC3-F407-380A-65EE47A5BD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46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6FBCA-2034-049B-7243-88D60D489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DFD9-081B-E3C1-6BDB-F23B9D542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33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B70F-5298-827C-1F78-46F1790437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21DC-16FE-7694-2F83-79847B007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10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258BA9-ABEF-2D2D-F1E7-F2356DD50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6F0A74-64F4-300F-53EB-BC2B1B6CDC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61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5C166-3163-C0BB-0B5E-A60433A07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18343-21BC-17F6-D79A-F8EF5B15B4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3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03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0093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6962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7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35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076283-46FE-75A6-72E4-8CE13BC3D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6B11F8-0795-6902-0730-FC53F014C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8715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EECS 489 – Lecture 17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97EC8AD-C9B9-C2A9-BCD1-F1E8E706B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836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19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wards.acm.org/award-recipients/metcalfe_3968158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3.xml"/><Relationship Id="rId4" Type="http://schemas.openxmlformats.org/officeDocument/2006/relationships/image" Target="../media/image14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e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Patri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ck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Lee,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15: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Link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–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Ethernet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link layer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everywhere</a:t>
            </a:r>
          </a:p>
          <a:p>
            <a:r>
              <a:rPr lang="en-US" dirty="0"/>
              <a:t>Transfers data between </a:t>
            </a:r>
            <a:r>
              <a:rPr lang="en-US" dirty="0">
                <a:solidFill>
                  <a:srgbClr val="0000FF"/>
                </a:solidFill>
              </a:rPr>
              <a:t>adjacent nodes</a:t>
            </a:r>
            <a:r>
              <a:rPr lang="en-US" dirty="0"/>
              <a:t> or between </a:t>
            </a:r>
            <a:r>
              <a:rPr lang="en-US" dirty="0">
                <a:solidFill>
                  <a:srgbClr val="0000FF"/>
                </a:solidFill>
              </a:rPr>
              <a:t>nodes on the same local area network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8" name="AutoShape 26"/>
          <p:cNvCxnSpPr>
            <a:cxnSpLocks noChangeShapeType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7"/>
          <p:cNvCxnSpPr>
            <a:cxnSpLocks noChangeShapeType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8"/>
          <p:cNvCxnSpPr>
            <a:cxnSpLocks noChangeShapeType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9"/>
          <p:cNvCxnSpPr>
            <a:cxnSpLocks noChangeShapeType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2" name="AutoShape 30"/>
          <p:cNvCxnSpPr>
            <a:cxnSpLocks noChangeShapeType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3" name="AutoShape 31"/>
          <p:cNvCxnSpPr>
            <a:cxnSpLocks noChangeShapeType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32"/>
          <p:cNvCxnSpPr>
            <a:cxnSpLocks noChangeShapeType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6" name="Rectangle 34"/>
          <p:cNvSpPr>
            <a:spLocks noChangeArrowheads="1"/>
          </p:cNvSpPr>
          <p:nvPr/>
        </p:nvSpPr>
        <p:spPr bwMode="auto">
          <a:xfrm>
            <a:off x="10668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1143000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sp>
        <p:nvSpPr>
          <p:cNvPr id="38" name="Rectangle 36"/>
          <p:cNvSpPr>
            <a:spLocks noChangeArrowheads="1"/>
          </p:cNvSpPr>
          <p:nvPr/>
        </p:nvSpPr>
        <p:spPr bwMode="auto">
          <a:xfrm>
            <a:off x="64770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9" name="Text Box 37"/>
          <p:cNvSpPr txBox="1">
            <a:spLocks noChangeArrowheads="1"/>
          </p:cNvSpPr>
          <p:nvPr/>
        </p:nvSpPr>
        <p:spPr bwMode="auto">
          <a:xfrm>
            <a:off x="6510338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cxnSp>
        <p:nvCxnSpPr>
          <p:cNvPr id="40" name="AutoShape 38"/>
          <p:cNvCxnSpPr>
            <a:cxnSpLocks noChangeShapeType="1"/>
          </p:cNvCxnSpPr>
          <p:nvPr/>
        </p:nvCxnSpPr>
        <p:spPr bwMode="auto">
          <a:xfrm>
            <a:off x="2770188" y="3632200"/>
            <a:ext cx="3740150" cy="9525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2667000" y="3457612"/>
            <a:ext cx="3866424" cy="1723988"/>
          </a:xfrm>
          <a:custGeom>
            <a:avLst/>
            <a:gdLst>
              <a:gd name="T0" fmla="*/ 0 w 2352"/>
              <a:gd name="T1" fmla="*/ 0 h 1968"/>
              <a:gd name="T2" fmla="*/ 0 w 2352"/>
              <a:gd name="T3" fmla="*/ 2147483647 h 1968"/>
              <a:gd name="T4" fmla="*/ 2147483647 w 2352"/>
              <a:gd name="T5" fmla="*/ 2147483647 h 1968"/>
              <a:gd name="T6" fmla="*/ 2147483647 w 2352"/>
              <a:gd name="T7" fmla="*/ 2147483647 h 1968"/>
              <a:gd name="T8" fmla="*/ 2147483647 w 2352"/>
              <a:gd name="T9" fmla="*/ 2147483647 h 1968"/>
              <a:gd name="T10" fmla="*/ 2147483647 w 2352"/>
              <a:gd name="T11" fmla="*/ 2147483647 h 1968"/>
              <a:gd name="T12" fmla="*/ 2147483647 w 2352"/>
              <a:gd name="T13" fmla="*/ 2147483647 h 1968"/>
              <a:gd name="T14" fmla="*/ 2147483647 w 2352"/>
              <a:gd name="T15" fmla="*/ 2147483647 h 1968"/>
              <a:gd name="T16" fmla="*/ 2147483647 w 2352"/>
              <a:gd name="T17" fmla="*/ 2147483647 h 1968"/>
              <a:gd name="T18" fmla="*/ 2147483647 w 2352"/>
              <a:gd name="T19" fmla="*/ 0 h 196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352"/>
              <a:gd name="T31" fmla="*/ 0 h 1968"/>
              <a:gd name="T32" fmla="*/ 2352 w 2352"/>
              <a:gd name="T33" fmla="*/ 1968 h 196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352" h="1968">
                <a:moveTo>
                  <a:pt x="0" y="0"/>
                </a:moveTo>
                <a:lnTo>
                  <a:pt x="0" y="1824"/>
                </a:lnTo>
                <a:lnTo>
                  <a:pt x="96" y="1968"/>
                </a:lnTo>
                <a:lnTo>
                  <a:pt x="864" y="1968"/>
                </a:lnTo>
                <a:lnTo>
                  <a:pt x="864" y="1200"/>
                </a:lnTo>
                <a:lnTo>
                  <a:pt x="1488" y="1200"/>
                </a:lnTo>
                <a:lnTo>
                  <a:pt x="1488" y="1968"/>
                </a:lnTo>
                <a:lnTo>
                  <a:pt x="2256" y="1968"/>
                </a:lnTo>
                <a:lnTo>
                  <a:pt x="2352" y="1824"/>
                </a:lnTo>
                <a:lnTo>
                  <a:pt x="2352" y="0"/>
                </a:lnTo>
              </a:path>
            </a:pathLst>
          </a:custGeom>
          <a:noFill/>
          <a:ln w="50800">
            <a:solidFill>
              <a:srgbClr val="D3A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74" tIns="44444" rIns="90474" bIns="44444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5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</a:t>
            </a:r>
            <a:r>
              <a:rPr lang="en-US" dirty="0"/>
              <a:t>ink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four primary services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Framing</a:t>
            </a:r>
          </a:p>
          <a:p>
            <a:pPr lvl="2"/>
            <a:r>
              <a:rPr lang="en-US" dirty="0"/>
              <a:t>Encapsulates network layer data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Link access</a:t>
            </a:r>
          </a:p>
          <a:p>
            <a:pPr lvl="2"/>
            <a:r>
              <a:rPr lang="en-US" dirty="0"/>
              <a:t>Medium access control (MAC) protocol defines when to transmit frames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Reliable delivery</a:t>
            </a:r>
          </a:p>
          <a:p>
            <a:pPr lvl="2"/>
            <a:r>
              <a:rPr lang="en-US" dirty="0"/>
              <a:t>Primarily for mediums with high error rates (e.g., wireless)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Error detection </a:t>
            </a:r>
            <a:r>
              <a:rPr lang="en-US" altLang="zh-CN" dirty="0">
                <a:solidFill>
                  <a:srgbClr val="0000FF"/>
                </a:solidFill>
              </a:rPr>
              <a:t>or</a:t>
            </a:r>
            <a:r>
              <a:rPr lang="en-US" dirty="0">
                <a:solidFill>
                  <a:srgbClr val="0000FF"/>
                </a:solidFill>
              </a:rPr>
              <a:t> correction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3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Packets are now “frames”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3847915"/>
            <a:ext cx="7924800" cy="2171885"/>
          </a:xfrm>
        </p:spPr>
        <p:txBody>
          <a:bodyPr/>
          <a:lstStyle/>
          <a:p>
            <a:r>
              <a:rPr lang="en-US" dirty="0"/>
              <a:t>Frames encapsulate network layer packets</a:t>
            </a:r>
          </a:p>
          <a:p>
            <a:r>
              <a:rPr lang="en-US" dirty="0"/>
              <a:t>Link layer protocols are implemented in h/w</a:t>
            </a:r>
          </a:p>
          <a:p>
            <a:r>
              <a:rPr lang="en-US" dirty="0"/>
              <a:t>Frame formats can change based on link layer protocol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52400" y="1981205"/>
            <a:ext cx="889921" cy="646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07" tIns="45704" rIns="91407" bIns="45704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sending</a:t>
            </a:r>
          </a:p>
          <a:p>
            <a:pPr algn="l"/>
            <a:r>
              <a:rPr lang="en-US" sz="1800" dirty="0">
                <a:latin typeface="+mn-lt"/>
              </a:rPr>
              <a:t>node</a:t>
            </a:r>
          </a:p>
        </p:txBody>
      </p: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2303966" y="2617786"/>
            <a:ext cx="965200" cy="427038"/>
            <a:chOff x="1477" y="1377"/>
            <a:chExt cx="608" cy="269"/>
          </a:xfrm>
        </p:grpSpPr>
        <p:sp>
          <p:nvSpPr>
            <p:cNvPr id="27" name="Rectangle 7"/>
            <p:cNvSpPr>
              <a:spLocks noChangeArrowheads="1"/>
            </p:cNvSpPr>
            <p:nvPr/>
          </p:nvSpPr>
          <p:spPr bwMode="auto">
            <a:xfrm>
              <a:off x="1477" y="1377"/>
              <a:ext cx="608" cy="26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28" name="Rectangle 8"/>
            <p:cNvSpPr>
              <a:spLocks noChangeArrowheads="1"/>
            </p:cNvSpPr>
            <p:nvPr/>
          </p:nvSpPr>
          <p:spPr bwMode="auto">
            <a:xfrm>
              <a:off x="1546" y="1415"/>
              <a:ext cx="477" cy="18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800" dirty="0">
                  <a:solidFill>
                    <a:srgbClr val="0000FF"/>
                  </a:solidFill>
                  <a:latin typeface="+mn-lt"/>
                </a:rPr>
                <a:t>frame</a:t>
              </a:r>
            </a:p>
          </p:txBody>
        </p:sp>
      </p:grp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3256466" y="2886074"/>
            <a:ext cx="25273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742617" y="1824036"/>
            <a:ext cx="1125537" cy="122078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7042653" y="2203449"/>
            <a:ext cx="487363" cy="2809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178428" y="1824036"/>
            <a:ext cx="1125538" cy="122078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03867" y="2195512"/>
            <a:ext cx="487362" cy="2571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7926896" y="1981205"/>
            <a:ext cx="1018161" cy="646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07" tIns="45704" rIns="91407" bIns="45704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receiving</a:t>
            </a:r>
          </a:p>
          <a:p>
            <a:pPr algn="l"/>
            <a:r>
              <a:rPr lang="en-US" sz="1800" dirty="0">
                <a:latin typeface="+mn-lt"/>
              </a:rPr>
              <a:t>node</a:t>
            </a:r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 flipH="1">
            <a:off x="2022978" y="2043112"/>
            <a:ext cx="414338" cy="22066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2303967" y="1676400"/>
            <a:ext cx="659088" cy="36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07" tIns="45704" rIns="91407" bIns="45704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>
                <a:solidFill>
                  <a:srgbClr val="0000FF"/>
                </a:solidFill>
                <a:latin typeface="+mn-lt"/>
              </a:rPr>
              <a:t>data</a:t>
            </a:r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1705485" y="2409824"/>
            <a:ext cx="695325" cy="460375"/>
          </a:xfrm>
          <a:custGeom>
            <a:avLst/>
            <a:gdLst/>
            <a:ahLst/>
            <a:cxnLst>
              <a:cxn ang="0">
                <a:pos x="15" y="0"/>
              </a:cxn>
              <a:cxn ang="0">
                <a:pos x="15" y="162"/>
              </a:cxn>
              <a:cxn ang="0">
                <a:pos x="108" y="269"/>
              </a:cxn>
              <a:cxn ang="0">
                <a:pos x="438" y="285"/>
              </a:cxn>
            </a:cxnLst>
            <a:rect l="0" t="0" r="r" b="b"/>
            <a:pathLst>
              <a:path w="438" h="290">
                <a:moveTo>
                  <a:pt x="15" y="0"/>
                </a:moveTo>
                <a:cubicBezTo>
                  <a:pt x="7" y="58"/>
                  <a:pt x="0" y="117"/>
                  <a:pt x="15" y="162"/>
                </a:cubicBezTo>
                <a:cubicBezTo>
                  <a:pt x="30" y="207"/>
                  <a:pt x="38" y="248"/>
                  <a:pt x="108" y="269"/>
                </a:cubicBezTo>
                <a:cubicBezTo>
                  <a:pt x="178" y="290"/>
                  <a:pt x="383" y="282"/>
                  <a:pt x="438" y="285"/>
                </a:cubicBezTo>
              </a:path>
            </a:pathLst>
          </a:custGeom>
          <a:noFill/>
          <a:ln w="38100" cap="flat" cmpd="sng">
            <a:solidFill>
              <a:srgbClr val="0000FF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5779003" y="2611437"/>
            <a:ext cx="965200" cy="427038"/>
            <a:chOff x="1477" y="1377"/>
            <a:chExt cx="608" cy="269"/>
          </a:xfrm>
        </p:grpSpPr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477" y="1377"/>
              <a:ext cx="608" cy="26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1546" y="1415"/>
              <a:ext cx="477" cy="18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800" dirty="0">
                  <a:solidFill>
                    <a:srgbClr val="0000FF"/>
                  </a:solidFill>
                  <a:latin typeface="+mn-lt"/>
                </a:rPr>
                <a:t>frame</a:t>
              </a:r>
            </a:p>
          </p:txBody>
        </p:sp>
      </p:grp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2295626" y="3049587"/>
            <a:ext cx="1069458" cy="646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07" tIns="45704" rIns="91407" bIns="45704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network</a:t>
            </a:r>
          </a:p>
          <a:p>
            <a:pPr algn="ctr"/>
            <a:r>
              <a:rPr lang="en-US" sz="1800" dirty="0">
                <a:latin typeface="+mn-lt"/>
              </a:rPr>
              <a:t>adaptor</a:t>
            </a: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5708751" y="3055937"/>
            <a:ext cx="1069458" cy="646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07" tIns="45704" rIns="91407" bIns="45704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/>
              <a:t>network</a:t>
            </a:r>
          </a:p>
          <a:p>
            <a:pPr algn="ctr"/>
            <a:r>
              <a:rPr lang="en-US" sz="1800" dirty="0"/>
              <a:t>adaptor</a:t>
            </a:r>
          </a:p>
        </p:txBody>
      </p:sp>
      <p:sp>
        <p:nvSpPr>
          <p:cNvPr id="22" name="AutoShape 23"/>
          <p:cNvSpPr>
            <a:spLocks/>
          </p:cNvSpPr>
          <p:nvPr/>
        </p:nvSpPr>
        <p:spPr bwMode="auto">
          <a:xfrm rot="5399521">
            <a:off x="4493129" y="987425"/>
            <a:ext cx="220663" cy="2865437"/>
          </a:xfrm>
          <a:prstGeom prst="leftBrace">
            <a:avLst>
              <a:gd name="adj1" fmla="val 10821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3594609" y="1943101"/>
            <a:ext cx="1916819" cy="373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07" tIns="45704" rIns="91407" bIns="45704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link layer protocol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6663241" y="2495549"/>
            <a:ext cx="647700" cy="342900"/>
          </a:xfrm>
          <a:custGeom>
            <a:avLst/>
            <a:gdLst/>
            <a:ahLst/>
            <a:cxnLst>
              <a:cxn ang="0">
                <a:pos x="0" y="208"/>
              </a:cxn>
              <a:cxn ang="0">
                <a:pos x="184" y="208"/>
              </a:cxn>
              <a:cxn ang="0">
                <a:pos x="361" y="161"/>
              </a:cxn>
              <a:cxn ang="0">
                <a:pos x="408" y="0"/>
              </a:cxn>
            </a:cxnLst>
            <a:rect l="0" t="0" r="r" b="b"/>
            <a:pathLst>
              <a:path w="408" h="216">
                <a:moveTo>
                  <a:pt x="0" y="208"/>
                </a:moveTo>
                <a:cubicBezTo>
                  <a:pt x="62" y="212"/>
                  <a:pt x="124" y="216"/>
                  <a:pt x="184" y="208"/>
                </a:cubicBezTo>
                <a:cubicBezTo>
                  <a:pt x="244" y="200"/>
                  <a:pt x="324" y="196"/>
                  <a:pt x="361" y="161"/>
                </a:cubicBezTo>
                <a:cubicBezTo>
                  <a:pt x="398" y="126"/>
                  <a:pt x="400" y="27"/>
                  <a:pt x="408" y="0"/>
                </a:cubicBezTo>
              </a:path>
            </a:pathLst>
          </a:custGeom>
          <a:noFill/>
          <a:ln w="38100" cap="flat" cmpd="sng">
            <a:solidFill>
              <a:srgbClr val="0000FF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9749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Point-to-point vs. broadcast medium</a:t>
            </a:r>
          </a:p>
        </p:txBody>
      </p:sp>
      <p:sp>
        <p:nvSpPr>
          <p:cNvPr id="957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Point-to-point</a:t>
            </a:r>
            <a:r>
              <a:rPr lang="en-US" dirty="0"/>
              <a:t>: dedicated pairwise communication</a:t>
            </a:r>
          </a:p>
          <a:p>
            <a:pPr lvl="1"/>
            <a:r>
              <a:rPr lang="en-US" dirty="0"/>
              <a:t>E.g., long-distance fiber link</a:t>
            </a:r>
          </a:p>
          <a:p>
            <a:pPr lvl="1"/>
            <a:r>
              <a:rPr lang="en-US" dirty="0"/>
              <a:t>E.g., Point-to-point link b/n Ethernet switch and host</a:t>
            </a:r>
          </a:p>
          <a:p>
            <a:r>
              <a:rPr lang="en-US" dirty="0">
                <a:solidFill>
                  <a:srgbClr val="0000FF"/>
                </a:solidFill>
              </a:rPr>
              <a:t>Broadcast</a:t>
            </a:r>
            <a:r>
              <a:rPr lang="en-US" dirty="0"/>
              <a:t>: shared wire or medium</a:t>
            </a:r>
          </a:p>
          <a:p>
            <a:pPr lvl="1"/>
            <a:r>
              <a:rPr lang="en-US" dirty="0"/>
              <a:t>Traditional Ethernet (pre ~2000)</a:t>
            </a:r>
          </a:p>
          <a:p>
            <a:pPr lvl="1"/>
            <a:r>
              <a:rPr lang="en-US" dirty="0"/>
              <a:t>802.11 wireless LAN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9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access algorithm</a:t>
            </a:r>
          </a:p>
        </p:txBody>
      </p:sp>
      <p:sp>
        <p:nvSpPr>
          <p:cNvPr id="959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Context: a shared broadcast channel</a:t>
            </a:r>
          </a:p>
          <a:p>
            <a:pPr lvl="1"/>
            <a:r>
              <a:rPr lang="en-US" dirty="0"/>
              <a:t>Must avoid having multiple nodes speaking at once</a:t>
            </a:r>
          </a:p>
          <a:p>
            <a:pPr lvl="2"/>
            <a:r>
              <a:rPr lang="en-US" dirty="0"/>
              <a:t>Otherwise, collisions lead to garbled data</a:t>
            </a:r>
          </a:p>
          <a:p>
            <a:pPr lvl="1"/>
            <a:r>
              <a:rPr lang="en-US" dirty="0"/>
              <a:t>Need distributed algorithm to determine which node can transmit</a:t>
            </a:r>
          </a:p>
          <a:p>
            <a:r>
              <a:rPr lang="en-US" dirty="0"/>
              <a:t>Three classes of techniques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Channel partitioning</a:t>
            </a:r>
            <a:r>
              <a:rPr lang="en-US" dirty="0"/>
              <a:t>: divide channel into pieces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Taking turns</a:t>
            </a:r>
            <a:r>
              <a:rPr lang="en-US" dirty="0"/>
              <a:t>: scheme for deciding who transmits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Random access</a:t>
            </a:r>
            <a:r>
              <a:rPr lang="en-US" dirty="0"/>
              <a:t>: allow collisions, and then recover</a:t>
            </a:r>
          </a:p>
          <a:p>
            <a:pPr lvl="2"/>
            <a:r>
              <a:rPr lang="en-US" dirty="0"/>
              <a:t>More in the Internet style!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9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49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 MAC protocols</a:t>
            </a:r>
          </a:p>
        </p:txBody>
      </p:sp>
      <p:sp>
        <p:nvSpPr>
          <p:cNvPr id="965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node has packet</a:t>
            </a:r>
            <a:r>
              <a:rPr lang="en-US" altLang="zh-CN" dirty="0"/>
              <a:t>s</a:t>
            </a:r>
            <a:r>
              <a:rPr lang="en-US" dirty="0"/>
              <a:t> to send</a:t>
            </a:r>
          </a:p>
          <a:p>
            <a:pPr lvl="1"/>
            <a:r>
              <a:rPr lang="en-US" dirty="0"/>
              <a:t>Transmit at full channel data rate </a:t>
            </a:r>
            <a:r>
              <a:rPr lang="en-US" b="1" dirty="0"/>
              <a:t>w/o</a:t>
            </a:r>
            <a:r>
              <a:rPr lang="en-US" dirty="0"/>
              <a:t> coordination</a:t>
            </a:r>
          </a:p>
          <a:p>
            <a:r>
              <a:rPr lang="en-US" dirty="0"/>
              <a:t>Two or more transmitting nodes </a:t>
            </a:r>
            <a:r>
              <a:rPr lang="en-US" dirty="0">
                <a:sym typeface="Symbol" charset="0"/>
              </a:rPr>
              <a:t>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collision</a:t>
            </a:r>
          </a:p>
          <a:p>
            <a:pPr lvl="1"/>
            <a:r>
              <a:rPr lang="en-US" dirty="0"/>
              <a:t>Data lost</a:t>
            </a:r>
          </a:p>
          <a:p>
            <a:r>
              <a:rPr lang="en-US" dirty="0"/>
              <a:t>Random access MAC protocol specifies</a:t>
            </a:r>
          </a:p>
          <a:p>
            <a:pPr lvl="1"/>
            <a:r>
              <a:rPr lang="en-US" dirty="0"/>
              <a:t>How to </a:t>
            </a:r>
            <a:r>
              <a:rPr lang="en-US" dirty="0">
                <a:solidFill>
                  <a:srgbClr val="0000FF"/>
                </a:solidFill>
              </a:rPr>
              <a:t>detect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recover</a:t>
            </a:r>
            <a:r>
              <a:rPr lang="en-US" dirty="0"/>
              <a:t> from collisions </a:t>
            </a:r>
          </a:p>
          <a:p>
            <a:r>
              <a:rPr lang="en-US" dirty="0"/>
              <a:t>Examples </a:t>
            </a:r>
          </a:p>
          <a:p>
            <a:pPr lvl="1"/>
            <a:r>
              <a:rPr lang="en-US" dirty="0"/>
              <a:t>ALOHA and Slotted ALOHA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CSMA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CSMA/CD</a:t>
            </a:r>
            <a:r>
              <a:rPr lang="en-US" dirty="0"/>
              <a:t>, CSMA/CA (wireless)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563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Invented as a broadcast technology</a:t>
            </a:r>
          </a:p>
          <a:p>
            <a:pPr lvl="1"/>
            <a:r>
              <a:rPr lang="en-US" dirty="0"/>
              <a:t>Hosts share channel</a:t>
            </a:r>
          </a:p>
          <a:p>
            <a:pPr lvl="1"/>
            <a:r>
              <a:rPr lang="en-US" dirty="0"/>
              <a:t>Each packet received by all attached hosts</a:t>
            </a:r>
          </a:p>
          <a:p>
            <a:pPr lvl="1"/>
            <a:r>
              <a:rPr lang="en-US" dirty="0"/>
              <a:t>CSMA/CD for media access control</a:t>
            </a:r>
          </a:p>
          <a:p>
            <a:r>
              <a:rPr lang="en-US" dirty="0">
                <a:solidFill>
                  <a:srgbClr val="0000FF"/>
                </a:solidFill>
              </a:rPr>
              <a:t>Modern Ethernets are “switched”</a:t>
            </a:r>
            <a:r>
              <a:rPr lang="en-US" dirty="0"/>
              <a:t> (later)</a:t>
            </a:r>
          </a:p>
          <a:p>
            <a:pPr lvl="1"/>
            <a:r>
              <a:rPr lang="en-US" dirty="0"/>
              <a:t>Point-to-point links between switches and between a host and switch</a:t>
            </a:r>
          </a:p>
          <a:p>
            <a:pPr lvl="1"/>
            <a:r>
              <a:rPr lang="en-US" dirty="0"/>
              <a:t>No sharing </a:t>
            </a:r>
            <a:r>
              <a:rPr lang="en-US" dirty="0">
                <a:sym typeface="Symbol" charset="0"/>
              </a:rPr>
              <a:t></a:t>
            </a:r>
            <a:r>
              <a:rPr lang="en-US" dirty="0"/>
              <a:t> no CSMA/CD</a:t>
            </a:r>
          </a:p>
          <a:p>
            <a:pPr lvl="2"/>
            <a:r>
              <a:rPr lang="en-US" dirty="0"/>
              <a:t>Uses “self learning” and “spanning tree” algorithms for routing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CSMA</a:t>
            </a:r>
          </a:p>
        </p:txBody>
      </p:sp>
      <p:sp>
        <p:nvSpPr>
          <p:cNvPr id="973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CSMA:</a:t>
            </a:r>
            <a:r>
              <a:rPr lang="zh-CN" altLang="en-US" dirty="0"/>
              <a:t> </a:t>
            </a:r>
            <a:r>
              <a:rPr lang="en-US" altLang="zh-CN" dirty="0"/>
              <a:t>Carrier</a:t>
            </a:r>
            <a:r>
              <a:rPr lang="zh-CN" altLang="en-US" dirty="0"/>
              <a:t> </a:t>
            </a:r>
            <a:r>
              <a:rPr lang="en-US" altLang="zh-CN" dirty="0"/>
              <a:t>sensing</a:t>
            </a:r>
            <a:r>
              <a:rPr lang="zh-CN" altLang="en-US" dirty="0"/>
              <a:t> 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access</a:t>
            </a:r>
            <a:endParaRPr lang="en-US" dirty="0"/>
          </a:p>
          <a:p>
            <a:r>
              <a:rPr lang="en-US" dirty="0"/>
              <a:t>CSMA: </a:t>
            </a:r>
            <a:r>
              <a:rPr lang="en-US" dirty="0">
                <a:solidFill>
                  <a:srgbClr val="0000FF"/>
                </a:solidFill>
              </a:rPr>
              <a:t>listen before transmit</a:t>
            </a:r>
          </a:p>
          <a:p>
            <a:pPr lvl="1"/>
            <a:r>
              <a:rPr lang="en-US" dirty="0"/>
              <a:t>If channel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dirty="0"/>
              <a:t>sensed idle: transmit entire frame</a:t>
            </a:r>
          </a:p>
          <a:p>
            <a:pPr lvl="1"/>
            <a:r>
              <a:rPr lang="en-US" dirty="0"/>
              <a:t>If channel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dirty="0"/>
              <a:t>sensed busy</a:t>
            </a:r>
            <a:r>
              <a:rPr lang="en-US" altLang="zh-CN" dirty="0"/>
              <a:t>:</a:t>
            </a:r>
            <a:r>
              <a:rPr lang="en-US" dirty="0"/>
              <a:t> defer transmission </a:t>
            </a:r>
          </a:p>
          <a:p>
            <a:r>
              <a:rPr lang="en-US" dirty="0"/>
              <a:t>Human analogy: don’t interrupt others!</a:t>
            </a:r>
          </a:p>
          <a:p>
            <a:r>
              <a:rPr lang="en-US" dirty="0"/>
              <a:t>Does not eliminate collisions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Why?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82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CSMA collisions</a:t>
            </a:r>
            <a:endParaRPr lang="en-US" dirty="0"/>
          </a:p>
        </p:txBody>
      </p:sp>
      <p:sp>
        <p:nvSpPr>
          <p:cNvPr id="30725" name="Rectangle 9"/>
          <p:cNvSpPr>
            <a:spLocks noGrp="1" noChangeArrowheads="1"/>
          </p:cNvSpPr>
          <p:nvPr>
            <p:ph sz="half" idx="1"/>
          </p:nvPr>
        </p:nvSpPr>
        <p:spPr>
          <a:xfrm>
            <a:off x="685800" y="1600200"/>
            <a:ext cx="3716383" cy="44196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Propagation delay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: two nodes may not hear each other before sending</a:t>
            </a: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CSMA reduces but does not eliminate collisions</a:t>
            </a: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Collision: entire packet transmission time wasted</a:t>
            </a:r>
          </a:p>
          <a:p>
            <a:pPr lvl="1"/>
            <a:r>
              <a:rPr lang="en-US" dirty="0">
                <a:latin typeface="Arial" charset="0"/>
                <a:ea typeface="Arial" charset="0"/>
                <a:cs typeface="Arial" charset="0"/>
              </a:rPr>
              <a:t>Distance and propagation delay affect collision probability</a:t>
            </a:r>
          </a:p>
          <a:p>
            <a:pPr lvl="1"/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99334" name="Picture 3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413" y="1600200"/>
            <a:ext cx="4287837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0311" name="Rectangle 87"/>
          <p:cNvSpPr>
            <a:spLocks noChangeArrowheads="1"/>
          </p:cNvSpPr>
          <p:nvPr/>
        </p:nvSpPr>
        <p:spPr bwMode="auto">
          <a:xfrm>
            <a:off x="4827588" y="2666999"/>
            <a:ext cx="3736975" cy="349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2" name="Rectangle 88"/>
          <p:cNvSpPr>
            <a:spLocks noChangeArrowheads="1"/>
          </p:cNvSpPr>
          <p:nvPr/>
        </p:nvSpPr>
        <p:spPr bwMode="auto">
          <a:xfrm>
            <a:off x="4835525" y="3016666"/>
            <a:ext cx="3725863" cy="2264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4" name="Rectangle 90"/>
          <p:cNvSpPr>
            <a:spLocks noChangeArrowheads="1"/>
          </p:cNvSpPr>
          <p:nvPr/>
        </p:nvSpPr>
        <p:spPr bwMode="auto">
          <a:xfrm>
            <a:off x="4797425" y="3243527"/>
            <a:ext cx="3763963" cy="155054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5" name="Rectangle 91"/>
          <p:cNvSpPr>
            <a:spLocks noChangeArrowheads="1"/>
          </p:cNvSpPr>
          <p:nvPr/>
        </p:nvSpPr>
        <p:spPr bwMode="auto">
          <a:xfrm>
            <a:off x="4770438" y="4793433"/>
            <a:ext cx="3789362" cy="169227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0734" name="Rectangle 92"/>
          <p:cNvSpPr>
            <a:spLocks noChangeArrowheads="1"/>
          </p:cNvSpPr>
          <p:nvPr/>
        </p:nvSpPr>
        <p:spPr bwMode="auto">
          <a:xfrm>
            <a:off x="4764088" y="1520824"/>
            <a:ext cx="4040187" cy="1146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99342" name="Group 98"/>
          <p:cNvGrpSpPr>
            <a:grpSpLocks/>
          </p:cNvGrpSpPr>
          <p:nvPr/>
        </p:nvGrpSpPr>
        <p:grpSpPr bwMode="auto">
          <a:xfrm>
            <a:off x="4948238" y="1885950"/>
            <a:ext cx="3513137" cy="628650"/>
            <a:chOff x="3117" y="180"/>
            <a:chExt cx="2213" cy="396"/>
          </a:xfrm>
        </p:grpSpPr>
        <p:grpSp>
          <p:nvGrpSpPr>
            <p:cNvPr id="99343" name="Group 67"/>
            <p:cNvGrpSpPr>
              <a:grpSpLocks/>
            </p:cNvGrpSpPr>
            <p:nvPr/>
          </p:nvGrpSpPr>
          <p:grpSpPr bwMode="auto">
            <a:xfrm flipH="1">
              <a:off x="3117" y="245"/>
              <a:ext cx="316" cy="323"/>
              <a:chOff x="2839" y="3501"/>
              <a:chExt cx="755" cy="803"/>
            </a:xfrm>
          </p:grpSpPr>
          <p:pic>
            <p:nvPicPr>
              <p:cNvPr id="99358" name="Picture 6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9" name="Freeform 69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4" name="Group 70"/>
            <p:cNvGrpSpPr>
              <a:grpSpLocks/>
            </p:cNvGrpSpPr>
            <p:nvPr/>
          </p:nvGrpSpPr>
          <p:grpSpPr bwMode="auto">
            <a:xfrm flipH="1">
              <a:off x="3747" y="253"/>
              <a:ext cx="316" cy="323"/>
              <a:chOff x="2839" y="3501"/>
              <a:chExt cx="755" cy="803"/>
            </a:xfrm>
          </p:grpSpPr>
          <p:pic>
            <p:nvPicPr>
              <p:cNvPr id="99356" name="Picture 7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7" name="Freeform 7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5" name="Group 73"/>
            <p:cNvGrpSpPr>
              <a:grpSpLocks/>
            </p:cNvGrpSpPr>
            <p:nvPr/>
          </p:nvGrpSpPr>
          <p:grpSpPr bwMode="auto">
            <a:xfrm flipH="1">
              <a:off x="4356" y="247"/>
              <a:ext cx="316" cy="323"/>
              <a:chOff x="2839" y="3501"/>
              <a:chExt cx="755" cy="803"/>
            </a:xfrm>
          </p:grpSpPr>
          <p:pic>
            <p:nvPicPr>
              <p:cNvPr id="99354" name="Picture 7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5" name="Freeform 7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6" name="Group 76"/>
            <p:cNvGrpSpPr>
              <a:grpSpLocks/>
            </p:cNvGrpSpPr>
            <p:nvPr/>
          </p:nvGrpSpPr>
          <p:grpSpPr bwMode="auto">
            <a:xfrm flipH="1">
              <a:off x="5014" y="249"/>
              <a:ext cx="316" cy="323"/>
              <a:chOff x="2839" y="3501"/>
              <a:chExt cx="755" cy="803"/>
            </a:xfrm>
          </p:grpSpPr>
          <p:pic>
            <p:nvPicPr>
              <p:cNvPr id="99352" name="Picture 7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3" name="Freeform 7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30740" name="Line 93"/>
            <p:cNvSpPr>
              <a:spLocks noChangeShapeType="1"/>
            </p:cNvSpPr>
            <p:nvPr/>
          </p:nvSpPr>
          <p:spPr bwMode="auto">
            <a:xfrm>
              <a:off x="3309" y="181"/>
              <a:ext cx="19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1" name="Line 94"/>
            <p:cNvSpPr>
              <a:spLocks noChangeShapeType="1"/>
            </p:cNvSpPr>
            <p:nvPr/>
          </p:nvSpPr>
          <p:spPr bwMode="auto">
            <a:xfrm>
              <a:off x="3309" y="180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2" name="Line 95"/>
            <p:cNvSpPr>
              <a:spLocks noChangeShapeType="1"/>
            </p:cNvSpPr>
            <p:nvPr/>
          </p:nvSpPr>
          <p:spPr bwMode="auto">
            <a:xfrm>
              <a:off x="3975" y="183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3" name="Line 96"/>
            <p:cNvSpPr>
              <a:spLocks noChangeShapeType="1"/>
            </p:cNvSpPr>
            <p:nvPr/>
          </p:nvSpPr>
          <p:spPr bwMode="auto">
            <a:xfrm>
              <a:off x="4578" y="183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4" name="Line 97"/>
            <p:cNvSpPr>
              <a:spLocks noChangeShapeType="1"/>
            </p:cNvSpPr>
            <p:nvPr/>
          </p:nvSpPr>
          <p:spPr bwMode="auto">
            <a:xfrm>
              <a:off x="5289" y="180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5521325" y="1517650"/>
            <a:ext cx="256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i="0" dirty="0">
                <a:latin typeface="Arial" charset="0"/>
                <a:cs typeface="+mn-cs"/>
              </a:rPr>
              <a:t>Spatial layout of nodes </a:t>
            </a:r>
            <a:endParaRPr lang="en-US" sz="2000" i="0" dirty="0"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0512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180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180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180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180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311" grpId="0" animBg="1"/>
      <p:bldP spid="180312" grpId="0" animBg="1"/>
      <p:bldP spid="180314" grpId="0" animBg="1"/>
      <p:bldP spid="1803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CSMA/CD (Collision Detection)</a:t>
            </a:r>
          </a:p>
        </p:txBody>
      </p:sp>
      <p:sp>
        <p:nvSpPr>
          <p:cNvPr id="977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CSMA/CD: carrier sensing, deferral as in CSMA</a:t>
            </a:r>
          </a:p>
          <a:p>
            <a:pPr lvl="1"/>
            <a:r>
              <a:rPr lang="en-US" dirty="0"/>
              <a:t>Collisions detected within short time</a:t>
            </a:r>
          </a:p>
          <a:p>
            <a:pPr lvl="1"/>
            <a:r>
              <a:rPr lang="en-US" dirty="0"/>
              <a:t>Colliding transmissions aborted, reducing wastage </a:t>
            </a:r>
          </a:p>
          <a:p>
            <a:r>
              <a:rPr lang="en-US" dirty="0"/>
              <a:t>Collision detection easy in wired (broadcast) LANs</a:t>
            </a:r>
          </a:p>
          <a:p>
            <a:pPr lvl="1"/>
            <a:r>
              <a:rPr lang="en-US" dirty="0"/>
              <a:t>Compare transmitted, received signals</a:t>
            </a:r>
          </a:p>
          <a:p>
            <a:r>
              <a:rPr lang="en-US" dirty="0"/>
              <a:t>Collision detection difficult in wireless LANs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11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792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key ideas of random access</a:t>
            </a:r>
          </a:p>
        </p:txBody>
      </p:sp>
      <p:sp>
        <p:nvSpPr>
          <p:cNvPr id="9676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Carrier sense</a:t>
            </a:r>
          </a:p>
          <a:p>
            <a:pPr lvl="1"/>
            <a:r>
              <a:rPr lang="en-US" dirty="0"/>
              <a:t>Listen before speaking and don’t interrupt</a:t>
            </a:r>
          </a:p>
          <a:p>
            <a:pPr lvl="1"/>
            <a:r>
              <a:rPr lang="en-US" dirty="0"/>
              <a:t>Checking if someone else is already sending data</a:t>
            </a:r>
          </a:p>
          <a:p>
            <a:pPr lvl="1"/>
            <a:r>
              <a:rPr lang="en-US" dirty="0"/>
              <a:t>… and waiting till the other node is done</a:t>
            </a:r>
          </a:p>
          <a:p>
            <a:r>
              <a:rPr lang="en-US" dirty="0">
                <a:solidFill>
                  <a:srgbClr val="0000FF"/>
                </a:solidFill>
              </a:rPr>
              <a:t>Collision detection</a:t>
            </a:r>
          </a:p>
          <a:p>
            <a:pPr lvl="1"/>
            <a:r>
              <a:rPr lang="en-US" dirty="0"/>
              <a:t>If someone else starts talking at the same time, stop</a:t>
            </a:r>
          </a:p>
          <a:p>
            <a:pPr lvl="2"/>
            <a:r>
              <a:rPr lang="en-US" dirty="0"/>
              <a:t>Make sure everyone knows there was a collision!</a:t>
            </a:r>
          </a:p>
          <a:p>
            <a:pPr lvl="1"/>
            <a:r>
              <a:rPr lang="en-US" dirty="0"/>
              <a:t>Realizing when two nodes are transmitting at once</a:t>
            </a:r>
          </a:p>
          <a:p>
            <a:pPr lvl="1"/>
            <a:r>
              <a:rPr lang="en-US" dirty="0"/>
              <a:t>…by detecting that the data on the wire is garbled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92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key ideas of random access</a:t>
            </a:r>
          </a:p>
        </p:txBody>
      </p:sp>
      <p:sp>
        <p:nvSpPr>
          <p:cNvPr id="9676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Randomness</a:t>
            </a:r>
          </a:p>
          <a:p>
            <a:pPr lvl="1"/>
            <a:r>
              <a:rPr lang="en-US" dirty="0"/>
              <a:t>Don’t start talking again right away</a:t>
            </a:r>
          </a:p>
          <a:p>
            <a:pPr lvl="1"/>
            <a:r>
              <a:rPr lang="en-US" dirty="0"/>
              <a:t>Waiting for a random time before trying again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79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long should you wait?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Should it be immediate?</a:t>
            </a:r>
          </a:p>
          <a:p>
            <a:r>
              <a:rPr lang="en-US" dirty="0"/>
              <a:t>Should it be a random number with a fixed distribution?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Ethernet: CSMA/CD Protocol</a:t>
            </a:r>
          </a:p>
        </p:txBody>
      </p:sp>
      <p:sp>
        <p:nvSpPr>
          <p:cNvPr id="93901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275320" cy="4419600"/>
          </a:xfrm>
        </p:spPr>
        <p:txBody>
          <a:bodyPr/>
          <a:lstStyle/>
          <a:p>
            <a:r>
              <a:rPr lang="en-US" dirty="0"/>
              <a:t>Carrier sense: wait for link to be idle</a:t>
            </a:r>
          </a:p>
          <a:p>
            <a:r>
              <a:rPr lang="en-US" dirty="0"/>
              <a:t>Collision detection: listen while transmitting</a:t>
            </a:r>
          </a:p>
          <a:p>
            <a:pPr lvl="1"/>
            <a:r>
              <a:rPr lang="en-US" dirty="0"/>
              <a:t>No collision: transmission is complete</a:t>
            </a:r>
          </a:p>
          <a:p>
            <a:pPr lvl="1"/>
            <a:r>
              <a:rPr lang="en-US" dirty="0"/>
              <a:t>Collision: abort transmission &amp; send jam signal</a:t>
            </a:r>
          </a:p>
          <a:p>
            <a:r>
              <a:rPr lang="en-US" dirty="0"/>
              <a:t>Random access: </a:t>
            </a:r>
            <a:r>
              <a:rPr lang="en-US" dirty="0">
                <a:solidFill>
                  <a:srgbClr val="0000FF"/>
                </a:solidFill>
              </a:rPr>
              <a:t>binary exponential back-off</a:t>
            </a:r>
          </a:p>
          <a:p>
            <a:pPr lvl="1"/>
            <a:r>
              <a:rPr lang="en-US" dirty="0"/>
              <a:t>After collision, wait a random time before retrying</a:t>
            </a:r>
          </a:p>
          <a:p>
            <a:pPr lvl="1"/>
            <a:r>
              <a:rPr lang="en-US" dirty="0"/>
              <a:t>After </a:t>
            </a:r>
            <a:r>
              <a:rPr lang="en-US" dirty="0" err="1"/>
              <a:t>m</a:t>
            </a:r>
            <a:r>
              <a:rPr lang="en-US" baseline="30000" dirty="0" err="1"/>
              <a:t>th</a:t>
            </a:r>
            <a:r>
              <a:rPr lang="en-US" dirty="0"/>
              <a:t> collision, choose K randomly from {0, …, 2</a:t>
            </a:r>
            <a:r>
              <a:rPr lang="en-US" baseline="30000" dirty="0"/>
              <a:t>m</a:t>
            </a:r>
            <a:r>
              <a:rPr lang="en-US" dirty="0"/>
              <a:t>-1}</a:t>
            </a:r>
          </a:p>
          <a:p>
            <a:pPr lvl="2"/>
            <a:r>
              <a:rPr lang="en-US" dirty="0"/>
              <a:t>Wait for K*512 bit times before trying again</a:t>
            </a:r>
          </a:p>
          <a:p>
            <a:pPr lvl="2"/>
            <a:r>
              <a:rPr lang="en-US" dirty="0"/>
              <a:t>If transmission occurring when ready to send, wait until end of transmission (CSMA)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2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9011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Switched Ethernet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81F2EB77-FB6C-2244-A076-ADF097535D4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38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switched Ethernet?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00FF"/>
                </a:solidFill>
              </a:rPr>
              <a:t>Enables concurrent communication</a:t>
            </a:r>
          </a:p>
          <a:p>
            <a:pPr lvl="1"/>
            <a:r>
              <a:rPr lang="en-US" sz="2000" dirty="0"/>
              <a:t>Host A can talk to C, while B talks to D</a:t>
            </a:r>
          </a:p>
          <a:p>
            <a:pPr lvl="1"/>
            <a:r>
              <a:rPr lang="en-US" sz="2000" dirty="0"/>
              <a:t>No collisions and no need for CSMA/CD</a:t>
            </a:r>
          </a:p>
          <a:p>
            <a:pPr lvl="1"/>
            <a:r>
              <a:rPr lang="en-US" sz="2000" dirty="0"/>
              <a:t>No constraints on link lengths, etc.</a:t>
            </a:r>
            <a:endParaRPr lang="en-US" sz="24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4873490" y="1723874"/>
            <a:ext cx="3344862" cy="3196500"/>
            <a:chOff x="2535238" y="1240544"/>
            <a:chExt cx="3344862" cy="3196500"/>
          </a:xfrm>
        </p:grpSpPr>
        <p:graphicFrame>
          <p:nvGraphicFramePr>
            <p:cNvPr id="29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96950"/>
                </p:ext>
              </p:extLst>
            </p:nvPr>
          </p:nvGraphicFramePr>
          <p:xfrm>
            <a:off x="3952875" y="1728769"/>
            <a:ext cx="512763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948" imgH="1084823" progId="MS_ClipArt_Gallery.2">
                    <p:embed/>
                  </p:oleObj>
                </mc:Choice>
                <mc:Fallback>
                  <p:oleObj name="Clip" r:id="rId3" imgW="1307948" imgH="1084823" progId="MS_ClipArt_Gallery.2">
                    <p:embed/>
                    <p:pic>
                      <p:nvPicPr>
                        <p:cNvPr id="29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2875" y="1728769"/>
                          <a:ext cx="512763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624891"/>
                </p:ext>
              </p:extLst>
            </p:nvPr>
          </p:nvGraphicFramePr>
          <p:xfrm>
            <a:off x="3983038" y="3989369"/>
            <a:ext cx="512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948" imgH="1084823" progId="MS_ClipArt_Gallery.2">
                    <p:embed/>
                  </p:oleObj>
                </mc:Choice>
                <mc:Fallback>
                  <p:oleObj name="Clip" r:id="rId3" imgW="1307948" imgH="1084823" progId="MS_ClipArt_Gallery.2">
                    <p:embed/>
                    <p:pic>
                      <p:nvPicPr>
                        <p:cNvPr id="3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3038" y="3989369"/>
                          <a:ext cx="512762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1888001"/>
                </p:ext>
              </p:extLst>
            </p:nvPr>
          </p:nvGraphicFramePr>
          <p:xfrm>
            <a:off x="5367338" y="2757469"/>
            <a:ext cx="512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948" imgH="1084823" progId="MS_ClipArt_Gallery.2">
                    <p:embed/>
                  </p:oleObj>
                </mc:Choice>
                <mc:Fallback>
                  <p:oleObj name="Clip" r:id="rId3" imgW="1307948" imgH="1084823" progId="MS_ClipArt_Gallery.2">
                    <p:embed/>
                    <p:pic>
                      <p:nvPicPr>
                        <p:cNvPr id="31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7338" y="2757469"/>
                          <a:ext cx="512762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6815303"/>
                </p:ext>
              </p:extLst>
            </p:nvPr>
          </p:nvGraphicFramePr>
          <p:xfrm>
            <a:off x="2535238" y="2768582"/>
            <a:ext cx="512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1307948" imgH="1084823" progId="MS_ClipArt_Gallery.2">
                    <p:embed/>
                  </p:oleObj>
                </mc:Choice>
                <mc:Fallback>
                  <p:oleObj name="Clip" r:id="rId5" imgW="1307948" imgH="1084823" progId="MS_ClipArt_Gallery.2">
                    <p:embed/>
                    <p:pic>
                      <p:nvPicPr>
                        <p:cNvPr id="32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5238" y="2768582"/>
                          <a:ext cx="512762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3017838" y="2911457"/>
              <a:ext cx="153987" cy="1317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Rectangle 10"/>
            <p:cNvSpPr>
              <a:spLocks noChangeArrowheads="1"/>
            </p:cNvSpPr>
            <p:nvPr/>
          </p:nvSpPr>
          <p:spPr bwMode="auto">
            <a:xfrm>
              <a:off x="5273675" y="2911457"/>
              <a:ext cx="153988" cy="1317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4194175" y="216850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Rectangle 12"/>
            <p:cNvSpPr>
              <a:spLocks noChangeArrowheads="1"/>
            </p:cNvSpPr>
            <p:nvPr/>
          </p:nvSpPr>
          <p:spPr bwMode="auto">
            <a:xfrm>
              <a:off x="4202113" y="3795694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13"/>
            <p:cNvSpPr>
              <a:spLocks noChangeShapeType="1"/>
            </p:cNvSpPr>
            <p:nvPr/>
          </p:nvSpPr>
          <p:spPr bwMode="auto">
            <a:xfrm>
              <a:off x="3171825" y="2967019"/>
              <a:ext cx="8429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" name="Line 14"/>
            <p:cNvSpPr>
              <a:spLocks noChangeShapeType="1"/>
            </p:cNvSpPr>
            <p:nvPr/>
          </p:nvSpPr>
          <p:spPr bwMode="auto">
            <a:xfrm>
              <a:off x="4240213" y="2379644"/>
              <a:ext cx="0" cy="487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" name="Line 15"/>
            <p:cNvSpPr>
              <a:spLocks noChangeShapeType="1"/>
            </p:cNvSpPr>
            <p:nvPr/>
          </p:nvSpPr>
          <p:spPr bwMode="auto">
            <a:xfrm flipH="1">
              <a:off x="4403725" y="2967019"/>
              <a:ext cx="852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" name="Line 16"/>
            <p:cNvSpPr>
              <a:spLocks noChangeShapeType="1"/>
            </p:cNvSpPr>
            <p:nvPr/>
          </p:nvSpPr>
          <p:spPr bwMode="auto">
            <a:xfrm flipV="1">
              <a:off x="4240213" y="3087669"/>
              <a:ext cx="11112" cy="687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" name="Text Box 17"/>
            <p:cNvSpPr txBox="1">
              <a:spLocks noChangeArrowheads="1"/>
            </p:cNvSpPr>
            <p:nvPr/>
          </p:nvSpPr>
          <p:spPr bwMode="auto">
            <a:xfrm>
              <a:off x="2989978" y="3244127"/>
              <a:ext cx="111227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dirty="0">
                  <a:latin typeface="+mn-lt"/>
                </a:rPr>
                <a:t>Ethernet</a:t>
              </a:r>
              <a:br>
                <a:rPr lang="en-US" dirty="0">
                  <a:latin typeface="+mn-lt"/>
                </a:rPr>
              </a:br>
              <a:r>
                <a:rPr lang="en-US" dirty="0">
                  <a:latin typeface="+mn-lt"/>
                </a:rPr>
                <a:t>switch</a:t>
              </a:r>
            </a:p>
          </p:txBody>
        </p:sp>
        <p:sp>
          <p:nvSpPr>
            <p:cNvPr id="42" name="Line 18"/>
            <p:cNvSpPr>
              <a:spLocks noChangeShapeType="1"/>
            </p:cNvSpPr>
            <p:nvPr/>
          </p:nvSpPr>
          <p:spPr bwMode="auto">
            <a:xfrm flipV="1">
              <a:off x="3625850" y="3111482"/>
              <a:ext cx="355600" cy="231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" name="Text Box 19"/>
            <p:cNvSpPr txBox="1">
              <a:spLocks noChangeArrowheads="1"/>
            </p:cNvSpPr>
            <p:nvPr/>
          </p:nvSpPr>
          <p:spPr bwMode="auto">
            <a:xfrm>
              <a:off x="2584319" y="2290244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A</a:t>
              </a:r>
            </a:p>
          </p:txBody>
        </p:sp>
        <p:sp>
          <p:nvSpPr>
            <p:cNvPr id="44" name="Text Box 20"/>
            <p:cNvSpPr txBox="1">
              <a:spLocks noChangeArrowheads="1"/>
            </p:cNvSpPr>
            <p:nvPr/>
          </p:nvSpPr>
          <p:spPr bwMode="auto">
            <a:xfrm>
              <a:off x="4075610" y="1240544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B</a:t>
              </a:r>
            </a:p>
          </p:txBody>
        </p:sp>
        <p:sp>
          <p:nvSpPr>
            <p:cNvPr id="45" name="Text Box 21"/>
            <p:cNvSpPr txBox="1">
              <a:spLocks noChangeArrowheads="1"/>
            </p:cNvSpPr>
            <p:nvPr/>
          </p:nvSpPr>
          <p:spPr bwMode="auto">
            <a:xfrm>
              <a:off x="5470299" y="2289153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C</a:t>
              </a:r>
            </a:p>
          </p:txBody>
        </p:sp>
        <p:sp>
          <p:nvSpPr>
            <p:cNvPr id="46" name="Text Box 22"/>
            <p:cNvSpPr txBox="1">
              <a:spLocks noChangeArrowheads="1"/>
            </p:cNvSpPr>
            <p:nvPr/>
          </p:nvSpPr>
          <p:spPr bwMode="auto">
            <a:xfrm>
              <a:off x="4532313" y="3936982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D</a:t>
              </a:r>
            </a:p>
          </p:txBody>
        </p:sp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6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006237" y="2745465"/>
              <a:ext cx="459679" cy="4596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3222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evolution of Ethernet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Changed almost everything except the frame format</a:t>
            </a:r>
          </a:p>
          <a:p>
            <a:pPr lvl="1"/>
            <a:r>
              <a:rPr lang="en-US" dirty="0"/>
              <a:t>From 3 Mbit/s to 100 Gbit/s</a:t>
            </a:r>
          </a:p>
          <a:p>
            <a:pPr lvl="1"/>
            <a:r>
              <a:rPr lang="en-US" dirty="0"/>
              <a:t>From electrical signaling to optical</a:t>
            </a:r>
          </a:p>
          <a:p>
            <a:r>
              <a:rPr lang="en-US" dirty="0">
                <a:solidFill>
                  <a:srgbClr val="0000FF"/>
                </a:solidFill>
              </a:rPr>
              <a:t>Lesson</a:t>
            </a:r>
            <a:r>
              <a:rPr lang="en-US" dirty="0"/>
              <a:t>: </a:t>
            </a:r>
            <a:r>
              <a:rPr lang="en-US" altLang="zh-CN" dirty="0"/>
              <a:t>a</a:t>
            </a:r>
            <a:r>
              <a:rPr lang="en-US" dirty="0"/>
              <a:t> </a:t>
            </a:r>
            <a:r>
              <a:rPr lang="en-US" altLang="zh-CN" dirty="0"/>
              <a:t>good</a:t>
            </a:r>
            <a:r>
              <a:rPr lang="en-US" dirty="0"/>
              <a:t> interface can accommodate many changes </a:t>
            </a:r>
          </a:p>
          <a:p>
            <a:pPr lvl="1"/>
            <a:r>
              <a:rPr lang="en-US" dirty="0"/>
              <a:t>Evolve the implementation while maintaining the</a:t>
            </a:r>
            <a:br>
              <a:rPr lang="en-US" dirty="0"/>
            </a:br>
            <a:r>
              <a:rPr lang="en-US" dirty="0"/>
              <a:t>interface (backward compatibility)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5C0EC31-23D6-1D42-99D7-2B6C49252CC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3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5A799-4DD8-88DC-D669-001D99CA3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Turing</a:t>
            </a:r>
            <a:r>
              <a:rPr lang="zh-CN" altLang="en-US" dirty="0"/>
              <a:t> </a:t>
            </a:r>
            <a:r>
              <a:rPr lang="en-US" altLang="zh-CN" dirty="0"/>
              <a:t>Award</a:t>
            </a:r>
            <a:r>
              <a:rPr lang="zh-CN" altLang="en-US" dirty="0"/>
              <a:t> </a:t>
            </a:r>
            <a:r>
              <a:rPr lang="en-US" altLang="zh-CN" dirty="0"/>
              <a:t>2022</a:t>
            </a:r>
            <a:endParaRPr lang="en-US" dirty="0"/>
          </a:p>
        </p:txBody>
      </p:sp>
      <p:pic>
        <p:nvPicPr>
          <p:cNvPr id="6" name="Content Placeholder 5" descr="A person with white hair&#10;&#10;Description automatically generated with medium confidence">
            <a:extLst>
              <a:ext uri="{FF2B5EF4-FFF2-40B4-BE49-F238E27FC236}">
                <a16:creationId xmlns:a16="http://schemas.microsoft.com/office/drawing/2014/main" id="{2A6FCFE0-1652-53FA-D835-01583698E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390" y="1600200"/>
            <a:ext cx="2380810" cy="311495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7929A-CA7C-349C-6BB9-4B0140B1D1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19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BE42A0-9791-63DB-EAA9-B3272450D3BD}"/>
              </a:ext>
            </a:extLst>
          </p:cNvPr>
          <p:cNvSpPr txBox="1">
            <a:spLocks/>
          </p:cNvSpPr>
          <p:nvPr/>
        </p:nvSpPr>
        <p:spPr bwMode="auto">
          <a:xfrm>
            <a:off x="685800" y="1600200"/>
            <a:ext cx="5168348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Ø"/>
              <a:defRPr sz="28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q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altLang="zh-CN" b="0" kern="0" dirty="0"/>
              <a:t>ACM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named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Robert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Metcalfe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receipt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of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the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2022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Turing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Award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for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“leading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the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invention,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standardization,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and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commercialization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of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Ethernet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local-area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networking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technology”</a:t>
            </a:r>
            <a:r>
              <a:rPr lang="zh-CN" altLang="en-US" b="0" kern="0" dirty="0"/>
              <a:t> </a:t>
            </a:r>
            <a:endParaRPr lang="en-US" b="0" kern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59F383-0D71-35F7-7CB5-1989D5BB8C2B}"/>
              </a:ext>
            </a:extLst>
          </p:cNvPr>
          <p:cNvSpPr txBox="1"/>
          <p:nvPr/>
        </p:nvSpPr>
        <p:spPr>
          <a:xfrm>
            <a:off x="2939497" y="5154256"/>
            <a:ext cx="59162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https://awards.acm.org/award-recipients/metcalfe_3968158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29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Frames and framing </a:t>
            </a:r>
          </a:p>
          <a:p>
            <a:r>
              <a:rPr lang="en-US" dirty="0"/>
              <a:t>Addressing</a:t>
            </a:r>
          </a:p>
          <a:p>
            <a:r>
              <a:rPr lang="en-US" dirty="0"/>
              <a:t>Routing </a:t>
            </a:r>
          </a:p>
          <a:p>
            <a:r>
              <a:rPr lang="en-US" dirty="0"/>
              <a:t>Forwarding </a:t>
            </a:r>
          </a:p>
          <a:p>
            <a:r>
              <a:rPr lang="en-US" dirty="0"/>
              <a:t>Discovery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72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Ethernet “Frames”</a:t>
            </a:r>
            <a:endParaRPr lang="en-US" dirty="0"/>
          </a:p>
        </p:txBody>
      </p:sp>
      <p:sp>
        <p:nvSpPr>
          <p:cNvPr id="1807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Encapsulates IP datagram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Preamble</a:t>
            </a:r>
            <a:r>
              <a:rPr lang="en-US" dirty="0"/>
              <a:t>: 7 bytes for clock synchronization and 1 byte to indicate start of frame </a:t>
            </a:r>
          </a:p>
          <a:p>
            <a:r>
              <a:rPr lang="en-US" dirty="0">
                <a:solidFill>
                  <a:srgbClr val="0000FF"/>
                </a:solidFill>
              </a:rPr>
              <a:t>Addresses</a:t>
            </a:r>
            <a:r>
              <a:rPr lang="en-US" dirty="0"/>
              <a:t>: 6 bytes</a:t>
            </a:r>
          </a:p>
          <a:p>
            <a:r>
              <a:rPr lang="en-US" dirty="0">
                <a:solidFill>
                  <a:srgbClr val="0000FF"/>
                </a:solidFill>
              </a:rPr>
              <a:t>Type</a:t>
            </a:r>
            <a:r>
              <a:rPr lang="en-US" dirty="0"/>
              <a:t>: 2 bytes, higher-layer protocol (e.g., IP)</a:t>
            </a:r>
          </a:p>
          <a:p>
            <a:r>
              <a:rPr lang="en-US" dirty="0">
                <a:solidFill>
                  <a:srgbClr val="0000FF"/>
                </a:solidFill>
              </a:rPr>
              <a:t>Data payload</a:t>
            </a:r>
            <a:r>
              <a:rPr lang="en-US" dirty="0"/>
              <a:t>: max 1500 bytes, min 46 bytes</a:t>
            </a:r>
          </a:p>
          <a:p>
            <a:r>
              <a:rPr lang="en-US" dirty="0">
                <a:solidFill>
                  <a:srgbClr val="0000FF"/>
                </a:solidFill>
              </a:rPr>
              <a:t>CRC</a:t>
            </a:r>
            <a:r>
              <a:rPr lang="en-US" dirty="0"/>
              <a:t>: 4 bytes for error detection</a:t>
            </a:r>
          </a:p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656747" y="2894951"/>
            <a:ext cx="673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>
                <a:ea typeface="Arial" charset="0"/>
                <a:cs typeface="Arial" charset="0"/>
              </a:rPr>
              <a:t>type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103489" y="2304355"/>
            <a:ext cx="6734225" cy="579810"/>
            <a:chOff x="1100667" y="1311822"/>
            <a:chExt cx="5729111" cy="579810"/>
          </a:xfrm>
        </p:grpSpPr>
        <p:sp>
          <p:nvSpPr>
            <p:cNvPr id="3" name="Rectangle 2"/>
            <p:cNvSpPr/>
            <p:nvPr/>
          </p:nvSpPr>
          <p:spPr>
            <a:xfrm>
              <a:off x="1100667" y="1311822"/>
              <a:ext cx="1368777" cy="57943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Preamble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469444" y="1311822"/>
              <a:ext cx="889000" cy="579438"/>
            </a:xfrm>
            <a:prstGeom prst="rect">
              <a:avLst/>
            </a:prstGeom>
            <a:solidFill>
              <a:srgbClr val="D3A60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Dst</a:t>
              </a:r>
              <a:br>
                <a:rPr lang="en-US" sz="1700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lang="en-US" sz="1700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358444" y="1311822"/>
              <a:ext cx="889000" cy="579438"/>
            </a:xfrm>
            <a:prstGeom prst="rect">
              <a:avLst/>
            </a:prstGeom>
            <a:solidFill>
              <a:srgbClr val="D3A60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Source</a:t>
              </a:r>
              <a:br>
                <a:rPr lang="en-US" sz="1700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lang="en-US" sz="1700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233333" y="1311822"/>
              <a:ext cx="351586" cy="57943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583287" y="1311822"/>
              <a:ext cx="1557474" cy="57943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Data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138331" y="1312194"/>
              <a:ext cx="691447" cy="57943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CRC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63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Frames and framing </a:t>
            </a:r>
          </a:p>
          <a:p>
            <a:r>
              <a:rPr lang="en-US" dirty="0"/>
              <a:t>Addressing</a:t>
            </a:r>
          </a:p>
          <a:p>
            <a:r>
              <a:rPr lang="en-US" dirty="0"/>
              <a:t>Routing </a:t>
            </a:r>
          </a:p>
          <a:p>
            <a:r>
              <a:rPr lang="en-US" dirty="0"/>
              <a:t>Forwarding </a:t>
            </a:r>
          </a:p>
          <a:p>
            <a:r>
              <a:rPr lang="en-US" dirty="0"/>
              <a:t>Discovery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19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Medium Access Control (MAC) Address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 address</a:t>
            </a:r>
          </a:p>
          <a:p>
            <a:pPr lvl="1"/>
            <a:r>
              <a:rPr lang="en-US" dirty="0"/>
              <a:t>Numerical address associated with a network adapter</a:t>
            </a:r>
          </a:p>
          <a:p>
            <a:pPr lvl="1"/>
            <a:r>
              <a:rPr lang="en-US" dirty="0"/>
              <a:t>Flat name space of 48 bits (e.g., </a:t>
            </a:r>
            <a:r>
              <a:rPr lang="en-US" dirty="0">
                <a:solidFill>
                  <a:srgbClr val="0000FF"/>
                </a:solidFill>
              </a:rPr>
              <a:t>00-15-C5-49-04-A9 </a:t>
            </a:r>
            <a:r>
              <a:rPr lang="en-US" dirty="0"/>
              <a:t>in HEX)</a:t>
            </a:r>
          </a:p>
          <a:p>
            <a:pPr lvl="1"/>
            <a:r>
              <a:rPr lang="en-US" dirty="0"/>
              <a:t>Unique, hard-coded in the adapter when it is built</a:t>
            </a:r>
          </a:p>
          <a:p>
            <a:r>
              <a:rPr lang="en-US" dirty="0"/>
              <a:t>Hierarchical Allocation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Blocks</a:t>
            </a:r>
            <a:r>
              <a:rPr lang="en-US" dirty="0"/>
              <a:t>: assigned to vendors (e.g., </a:t>
            </a:r>
            <a:r>
              <a:rPr lang="en-US" altLang="zh-CN" dirty="0"/>
              <a:t>Intel</a:t>
            </a:r>
            <a:r>
              <a:rPr lang="en-US" dirty="0"/>
              <a:t>) by the IEEE</a:t>
            </a:r>
          </a:p>
          <a:p>
            <a:pPr lvl="2"/>
            <a:r>
              <a:rPr lang="en-US" dirty="0"/>
              <a:t>First 24 bits (e.g., 00-15-C5-**-**-**)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Adapter</a:t>
            </a:r>
            <a:r>
              <a:rPr lang="en-US" dirty="0"/>
              <a:t>: assigned by the vendor from its block</a:t>
            </a:r>
          </a:p>
          <a:p>
            <a:pPr lvl="2"/>
            <a:r>
              <a:rPr lang="en-US" dirty="0"/>
              <a:t>Last 24 bits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0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 address vs. IP address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 Addresses</a:t>
            </a:r>
          </a:p>
        </p:txBody>
      </p:sp>
      <p:sp>
        <p:nvSpPr>
          <p:cNvPr id="928771" name="Rectangle 3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Hard-coded when adapter is built</a:t>
            </a:r>
          </a:p>
          <a:p>
            <a:r>
              <a:rPr lang="en-US" dirty="0"/>
              <a:t>Flat name space of 48 bits (e.g., 00-0E-9B-6E-49-76)</a:t>
            </a:r>
          </a:p>
          <a:p>
            <a:r>
              <a:rPr lang="en-US" dirty="0"/>
              <a:t>Like a HK</a:t>
            </a:r>
            <a:r>
              <a:rPr lang="zh-CN" altLang="en-US" dirty="0"/>
              <a:t> </a:t>
            </a:r>
            <a:r>
              <a:rPr lang="en-US" altLang="zh-CN" dirty="0"/>
              <a:t>ID</a:t>
            </a:r>
            <a:endParaRPr lang="en-US" dirty="0"/>
          </a:p>
          <a:p>
            <a:r>
              <a:rPr lang="en-US" dirty="0"/>
              <a:t>Portable, and can stay the same as the host moves</a:t>
            </a:r>
          </a:p>
          <a:p>
            <a:r>
              <a:rPr lang="en-US" dirty="0"/>
              <a:t>Used to get packet between interfaces on same network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IP Addresses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Configured, or learned dynamically</a:t>
            </a:r>
          </a:p>
          <a:p>
            <a:r>
              <a:rPr lang="en-US" dirty="0"/>
              <a:t>Hierarchical name space of 32 bits (e.g., 12.178.66.9)</a:t>
            </a:r>
          </a:p>
          <a:p>
            <a:r>
              <a:rPr lang="en-US" dirty="0"/>
              <a:t>Like a postal mailing address</a:t>
            </a:r>
          </a:p>
          <a:p>
            <a:r>
              <a:rPr lang="en-US" dirty="0"/>
              <a:t>Not portable, and depends on where the host is attached</a:t>
            </a:r>
          </a:p>
          <a:p>
            <a:r>
              <a:rPr lang="en-US" dirty="0"/>
              <a:t>Used to get a packet to destination IP subnet </a:t>
            </a:r>
          </a:p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D11CF967-1287-0948-92AE-55309D196149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4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Frames and framing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Addressing</a:t>
            </a:r>
          </a:p>
          <a:p>
            <a:r>
              <a:rPr lang="en-US" dirty="0"/>
              <a:t>Routing </a:t>
            </a:r>
          </a:p>
          <a:p>
            <a:r>
              <a:rPr lang="en-US" dirty="0"/>
              <a:t>Forwarding </a:t>
            </a:r>
          </a:p>
          <a:p>
            <a:r>
              <a:rPr lang="en-US" dirty="0"/>
              <a:t>Discovery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9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“Routing” with broadcast Ethernet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3289611"/>
            <a:ext cx="7924800" cy="2730190"/>
          </a:xfrm>
        </p:spPr>
        <p:txBody>
          <a:bodyPr/>
          <a:lstStyle/>
          <a:p>
            <a:r>
              <a:rPr lang="en-US" dirty="0"/>
              <a:t>Sender transmits frame</a:t>
            </a:r>
            <a:r>
              <a:rPr lang="en-US" altLang="zh-CN" dirty="0"/>
              <a:t>s</a:t>
            </a:r>
            <a:r>
              <a:rPr lang="en-US" dirty="0"/>
              <a:t> onto broadcast link</a:t>
            </a:r>
          </a:p>
          <a:p>
            <a:r>
              <a:rPr lang="en-US" dirty="0"/>
              <a:t>Each receiver’s link layer passes the frame to the network layer: </a:t>
            </a:r>
          </a:p>
          <a:p>
            <a:pPr lvl="1"/>
            <a:r>
              <a:rPr lang="en-US" dirty="0"/>
              <a:t>If destination address matches the receiver’s MAC address OR if the destination address is the broadcast MAC address (</a:t>
            </a:r>
            <a:r>
              <a:rPr lang="en-US" dirty="0" err="1"/>
              <a:t>ff:ff:ff:ff:ff:ff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261240" y="1623765"/>
            <a:ext cx="4621521" cy="1551128"/>
            <a:chOff x="2261240" y="1791030"/>
            <a:chExt cx="4621521" cy="1551128"/>
          </a:xfrm>
        </p:grpSpPr>
        <p:sp>
          <p:nvSpPr>
            <p:cNvPr id="58388" name="Text Box 19"/>
            <p:cNvSpPr txBox="1">
              <a:spLocks noChangeArrowheads="1"/>
            </p:cNvSpPr>
            <p:nvPr/>
          </p:nvSpPr>
          <p:spPr bwMode="auto">
            <a:xfrm>
              <a:off x="2387378" y="1791030"/>
              <a:ext cx="671979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A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2261240" y="2232688"/>
              <a:ext cx="4621521" cy="731520"/>
              <a:chOff x="1929452" y="2266141"/>
              <a:chExt cx="4621521" cy="1201737"/>
            </a:xfrm>
          </p:grpSpPr>
          <p:sp>
            <p:nvSpPr>
              <p:cNvPr id="58381" name="Rectangle 12"/>
              <p:cNvSpPr>
                <a:spLocks noChangeArrowheads="1"/>
              </p:cNvSpPr>
              <p:nvPr/>
            </p:nvSpPr>
            <p:spPr bwMode="auto">
              <a:xfrm>
                <a:off x="2820129" y="3242857"/>
                <a:ext cx="120650" cy="1939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3" name="Line 14"/>
              <p:cNvSpPr>
                <a:spLocks noChangeShapeType="1"/>
              </p:cNvSpPr>
              <p:nvPr/>
            </p:nvSpPr>
            <p:spPr bwMode="auto">
              <a:xfrm>
                <a:off x="4240213" y="2311843"/>
                <a:ext cx="0" cy="555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8384" name="Line 15"/>
              <p:cNvSpPr>
                <a:spLocks noChangeShapeType="1"/>
              </p:cNvSpPr>
              <p:nvPr/>
            </p:nvSpPr>
            <p:spPr bwMode="auto">
              <a:xfrm flipH="1">
                <a:off x="1929452" y="2848952"/>
                <a:ext cx="4621521" cy="0"/>
              </a:xfrm>
              <a:prstGeom prst="line">
                <a:avLst/>
              </a:pr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8385" name="Line 16"/>
              <p:cNvSpPr>
                <a:spLocks noChangeShapeType="1"/>
              </p:cNvSpPr>
              <p:nvPr/>
            </p:nvSpPr>
            <p:spPr bwMode="auto">
              <a:xfrm flipH="1" flipV="1">
                <a:off x="2858229" y="2852936"/>
                <a:ext cx="0" cy="383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8380" name="Rectangle 11"/>
              <p:cNvSpPr>
                <a:spLocks noChangeArrowheads="1"/>
              </p:cNvSpPr>
              <p:nvPr/>
            </p:nvSpPr>
            <p:spPr bwMode="auto">
              <a:xfrm>
                <a:off x="4180663" y="2266141"/>
                <a:ext cx="120650" cy="1938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Line 14"/>
              <p:cNvSpPr>
                <a:spLocks noChangeShapeType="1"/>
              </p:cNvSpPr>
              <p:nvPr/>
            </p:nvSpPr>
            <p:spPr bwMode="auto">
              <a:xfrm>
                <a:off x="6015386" y="2311843"/>
                <a:ext cx="0" cy="555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" name="Rectangle 11"/>
              <p:cNvSpPr>
                <a:spLocks noChangeArrowheads="1"/>
              </p:cNvSpPr>
              <p:nvPr/>
            </p:nvSpPr>
            <p:spPr bwMode="auto">
              <a:xfrm>
                <a:off x="5955836" y="2266141"/>
                <a:ext cx="120650" cy="1938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Line 14"/>
              <p:cNvSpPr>
                <a:spLocks noChangeShapeType="1"/>
              </p:cNvSpPr>
              <p:nvPr/>
            </p:nvSpPr>
            <p:spPr bwMode="auto">
              <a:xfrm>
                <a:off x="2371016" y="2311843"/>
                <a:ext cx="0" cy="555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8" name="Rectangle 11"/>
              <p:cNvSpPr>
                <a:spLocks noChangeArrowheads="1"/>
              </p:cNvSpPr>
              <p:nvPr/>
            </p:nvSpPr>
            <p:spPr bwMode="auto">
              <a:xfrm>
                <a:off x="2311466" y="2266141"/>
                <a:ext cx="120650" cy="1938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Rectangle 12"/>
              <p:cNvSpPr>
                <a:spLocks noChangeArrowheads="1"/>
              </p:cNvSpPr>
              <p:nvPr/>
            </p:nvSpPr>
            <p:spPr bwMode="auto">
              <a:xfrm>
                <a:off x="3659188" y="3256179"/>
                <a:ext cx="120650" cy="1939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Line 16"/>
              <p:cNvSpPr>
                <a:spLocks noChangeShapeType="1"/>
              </p:cNvSpPr>
              <p:nvPr/>
            </p:nvSpPr>
            <p:spPr bwMode="auto">
              <a:xfrm flipH="1" flipV="1">
                <a:off x="3697288" y="2866258"/>
                <a:ext cx="0" cy="383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3" name="Rectangle 12"/>
              <p:cNvSpPr>
                <a:spLocks noChangeArrowheads="1"/>
              </p:cNvSpPr>
              <p:nvPr/>
            </p:nvSpPr>
            <p:spPr bwMode="auto">
              <a:xfrm>
                <a:off x="4863307" y="3273978"/>
                <a:ext cx="120650" cy="1939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Line 16"/>
              <p:cNvSpPr>
                <a:spLocks noChangeShapeType="1"/>
              </p:cNvSpPr>
              <p:nvPr/>
            </p:nvSpPr>
            <p:spPr bwMode="auto">
              <a:xfrm flipH="1" flipV="1">
                <a:off x="4901407" y="2884057"/>
                <a:ext cx="0" cy="383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38" name="Text Box 19"/>
            <p:cNvSpPr txBox="1">
              <a:spLocks noChangeArrowheads="1"/>
            </p:cNvSpPr>
            <p:nvPr/>
          </p:nvSpPr>
          <p:spPr bwMode="auto">
            <a:xfrm>
              <a:off x="4225806" y="1791030"/>
              <a:ext cx="671979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B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39" name="Text Box 19"/>
            <p:cNvSpPr txBox="1">
              <a:spLocks noChangeArrowheads="1"/>
            </p:cNvSpPr>
            <p:nvPr/>
          </p:nvSpPr>
          <p:spPr bwMode="auto">
            <a:xfrm>
              <a:off x="6020901" y="1791030"/>
              <a:ext cx="671979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C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40" name="Text Box 19"/>
            <p:cNvSpPr txBox="1">
              <a:spLocks noChangeArrowheads="1"/>
            </p:cNvSpPr>
            <p:nvPr/>
          </p:nvSpPr>
          <p:spPr bwMode="auto">
            <a:xfrm>
              <a:off x="2896035" y="2969104"/>
              <a:ext cx="678758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D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41" name="Text Box 19"/>
            <p:cNvSpPr txBox="1">
              <a:spLocks noChangeArrowheads="1"/>
            </p:cNvSpPr>
            <p:nvPr/>
          </p:nvSpPr>
          <p:spPr bwMode="auto">
            <a:xfrm>
              <a:off x="3738396" y="2967722"/>
              <a:ext cx="646331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E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42" name="Text Box 19"/>
            <p:cNvSpPr txBox="1">
              <a:spLocks noChangeArrowheads="1"/>
            </p:cNvSpPr>
            <p:nvPr/>
          </p:nvSpPr>
          <p:spPr bwMode="auto">
            <a:xfrm>
              <a:off x="5006091" y="2947710"/>
              <a:ext cx="646331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F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568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“Routing” with broadcast Ethernet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0" y="3311912"/>
            <a:ext cx="7924800" cy="2707888"/>
          </a:xfrm>
        </p:spPr>
        <p:txBody>
          <a:bodyPr/>
          <a:lstStyle/>
          <a:p>
            <a:r>
              <a:rPr lang="en-US" dirty="0"/>
              <a:t>Ethernet is “plug-n-play”</a:t>
            </a:r>
          </a:p>
          <a:p>
            <a:r>
              <a:rPr lang="en-US" dirty="0"/>
              <a:t>A new host plugs into the Ethernet and is good to go</a:t>
            </a:r>
          </a:p>
          <a:p>
            <a:pPr lvl="1"/>
            <a:r>
              <a:rPr lang="en-US" dirty="0"/>
              <a:t>No configuration by users or network operators</a:t>
            </a:r>
          </a:p>
          <a:p>
            <a:pPr lvl="1"/>
            <a:r>
              <a:rPr lang="en-US" dirty="0"/>
              <a:t>Broadcast as a means of </a:t>
            </a:r>
            <a:r>
              <a:rPr lang="en-US"/>
              <a:t>bootstrapping communication</a:t>
            </a: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68" name="Group 67"/>
          <p:cNvGrpSpPr/>
          <p:nvPr/>
        </p:nvGrpSpPr>
        <p:grpSpPr>
          <a:xfrm>
            <a:off x="2261240" y="1623765"/>
            <a:ext cx="4621521" cy="1551128"/>
            <a:chOff x="2261240" y="1791030"/>
            <a:chExt cx="4621521" cy="1551128"/>
          </a:xfrm>
        </p:grpSpPr>
        <p:sp>
          <p:nvSpPr>
            <p:cNvPr id="69" name="Text Box 19"/>
            <p:cNvSpPr txBox="1">
              <a:spLocks noChangeArrowheads="1"/>
            </p:cNvSpPr>
            <p:nvPr/>
          </p:nvSpPr>
          <p:spPr bwMode="auto">
            <a:xfrm>
              <a:off x="2387378" y="1791030"/>
              <a:ext cx="671979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A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grpSp>
          <p:nvGrpSpPr>
            <p:cNvPr id="70" name="Group 69"/>
            <p:cNvGrpSpPr/>
            <p:nvPr/>
          </p:nvGrpSpPr>
          <p:grpSpPr>
            <a:xfrm>
              <a:off x="2261240" y="2232688"/>
              <a:ext cx="4621521" cy="731520"/>
              <a:chOff x="1929452" y="2266141"/>
              <a:chExt cx="4621521" cy="1201737"/>
            </a:xfrm>
          </p:grpSpPr>
          <p:sp>
            <p:nvSpPr>
              <p:cNvPr id="76" name="Rectangle 12"/>
              <p:cNvSpPr>
                <a:spLocks noChangeArrowheads="1"/>
              </p:cNvSpPr>
              <p:nvPr/>
            </p:nvSpPr>
            <p:spPr bwMode="auto">
              <a:xfrm>
                <a:off x="2820129" y="3242857"/>
                <a:ext cx="120650" cy="1939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" name="Line 14"/>
              <p:cNvSpPr>
                <a:spLocks noChangeShapeType="1"/>
              </p:cNvSpPr>
              <p:nvPr/>
            </p:nvSpPr>
            <p:spPr bwMode="auto">
              <a:xfrm>
                <a:off x="4240213" y="2311843"/>
                <a:ext cx="0" cy="555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8" name="Line 15"/>
              <p:cNvSpPr>
                <a:spLocks noChangeShapeType="1"/>
              </p:cNvSpPr>
              <p:nvPr/>
            </p:nvSpPr>
            <p:spPr bwMode="auto">
              <a:xfrm flipH="1">
                <a:off x="1929452" y="2848952"/>
                <a:ext cx="4621521" cy="0"/>
              </a:xfrm>
              <a:prstGeom prst="line">
                <a:avLst/>
              </a:pr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9" name="Line 16"/>
              <p:cNvSpPr>
                <a:spLocks noChangeShapeType="1"/>
              </p:cNvSpPr>
              <p:nvPr/>
            </p:nvSpPr>
            <p:spPr bwMode="auto">
              <a:xfrm flipH="1" flipV="1">
                <a:off x="2858229" y="2852936"/>
                <a:ext cx="0" cy="383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0" name="Rectangle 11"/>
              <p:cNvSpPr>
                <a:spLocks noChangeArrowheads="1"/>
              </p:cNvSpPr>
              <p:nvPr/>
            </p:nvSpPr>
            <p:spPr bwMode="auto">
              <a:xfrm>
                <a:off x="4180663" y="2266141"/>
                <a:ext cx="120650" cy="1938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Line 14"/>
              <p:cNvSpPr>
                <a:spLocks noChangeShapeType="1"/>
              </p:cNvSpPr>
              <p:nvPr/>
            </p:nvSpPr>
            <p:spPr bwMode="auto">
              <a:xfrm>
                <a:off x="6015386" y="2311843"/>
                <a:ext cx="0" cy="555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2" name="Rectangle 11"/>
              <p:cNvSpPr>
                <a:spLocks noChangeArrowheads="1"/>
              </p:cNvSpPr>
              <p:nvPr/>
            </p:nvSpPr>
            <p:spPr bwMode="auto">
              <a:xfrm>
                <a:off x="5955836" y="2266141"/>
                <a:ext cx="120650" cy="1938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" name="Line 14"/>
              <p:cNvSpPr>
                <a:spLocks noChangeShapeType="1"/>
              </p:cNvSpPr>
              <p:nvPr/>
            </p:nvSpPr>
            <p:spPr bwMode="auto">
              <a:xfrm>
                <a:off x="2371016" y="2311843"/>
                <a:ext cx="0" cy="555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4" name="Rectangle 11"/>
              <p:cNvSpPr>
                <a:spLocks noChangeArrowheads="1"/>
              </p:cNvSpPr>
              <p:nvPr/>
            </p:nvSpPr>
            <p:spPr bwMode="auto">
              <a:xfrm>
                <a:off x="2311466" y="2266141"/>
                <a:ext cx="120650" cy="1938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" name="Rectangle 12"/>
              <p:cNvSpPr>
                <a:spLocks noChangeArrowheads="1"/>
              </p:cNvSpPr>
              <p:nvPr/>
            </p:nvSpPr>
            <p:spPr bwMode="auto">
              <a:xfrm>
                <a:off x="3659188" y="3256179"/>
                <a:ext cx="120650" cy="1939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" name="Line 16"/>
              <p:cNvSpPr>
                <a:spLocks noChangeShapeType="1"/>
              </p:cNvSpPr>
              <p:nvPr/>
            </p:nvSpPr>
            <p:spPr bwMode="auto">
              <a:xfrm flipH="1" flipV="1">
                <a:off x="3697288" y="2866258"/>
                <a:ext cx="0" cy="383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7" name="Rectangle 12"/>
              <p:cNvSpPr>
                <a:spLocks noChangeArrowheads="1"/>
              </p:cNvSpPr>
              <p:nvPr/>
            </p:nvSpPr>
            <p:spPr bwMode="auto">
              <a:xfrm>
                <a:off x="4863307" y="3273978"/>
                <a:ext cx="120650" cy="1939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Line 16"/>
              <p:cNvSpPr>
                <a:spLocks noChangeShapeType="1"/>
              </p:cNvSpPr>
              <p:nvPr/>
            </p:nvSpPr>
            <p:spPr bwMode="auto">
              <a:xfrm flipH="1" flipV="1">
                <a:off x="4901407" y="2884057"/>
                <a:ext cx="0" cy="383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71" name="Text Box 19"/>
            <p:cNvSpPr txBox="1">
              <a:spLocks noChangeArrowheads="1"/>
            </p:cNvSpPr>
            <p:nvPr/>
          </p:nvSpPr>
          <p:spPr bwMode="auto">
            <a:xfrm>
              <a:off x="4225806" y="1791030"/>
              <a:ext cx="671979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B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72" name="Text Box 19"/>
            <p:cNvSpPr txBox="1">
              <a:spLocks noChangeArrowheads="1"/>
            </p:cNvSpPr>
            <p:nvPr/>
          </p:nvSpPr>
          <p:spPr bwMode="auto">
            <a:xfrm>
              <a:off x="6020901" y="1791030"/>
              <a:ext cx="671979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C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73" name="Text Box 19"/>
            <p:cNvSpPr txBox="1">
              <a:spLocks noChangeArrowheads="1"/>
            </p:cNvSpPr>
            <p:nvPr/>
          </p:nvSpPr>
          <p:spPr bwMode="auto">
            <a:xfrm>
              <a:off x="2896035" y="2969104"/>
              <a:ext cx="678758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D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74" name="Text Box 19"/>
            <p:cNvSpPr txBox="1">
              <a:spLocks noChangeArrowheads="1"/>
            </p:cNvSpPr>
            <p:nvPr/>
          </p:nvSpPr>
          <p:spPr bwMode="auto">
            <a:xfrm>
              <a:off x="3738396" y="2967722"/>
              <a:ext cx="646331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E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75" name="Text Box 19"/>
            <p:cNvSpPr txBox="1">
              <a:spLocks noChangeArrowheads="1"/>
            </p:cNvSpPr>
            <p:nvPr/>
          </p:nvSpPr>
          <p:spPr bwMode="auto">
            <a:xfrm>
              <a:off x="5006091" y="2947710"/>
              <a:ext cx="646331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F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28560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does Ethernet not use LS/DV?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Concerns over scalability  </a:t>
            </a:r>
          </a:p>
          <a:p>
            <a:pPr lvl="1"/>
            <a:r>
              <a:rPr lang="en-US" dirty="0"/>
              <a:t>Flat MAC addresses cannot be aggregated like IP addresses </a:t>
            </a:r>
          </a:p>
          <a:p>
            <a:r>
              <a:rPr lang="en-US" dirty="0"/>
              <a:t>Legacy</a:t>
            </a:r>
          </a:p>
          <a:p>
            <a:pPr lvl="1"/>
            <a:r>
              <a:rPr lang="en-US" dirty="0"/>
              <a:t>Backward compatibility with broadcast Ethernet </a:t>
            </a:r>
          </a:p>
          <a:p>
            <a:pPr lvl="1"/>
            <a:r>
              <a:rPr lang="en-US" dirty="0"/>
              <a:t>Desire to maintain Ethernet’s plug-n-play behavior</a:t>
            </a:r>
          </a:p>
          <a:p>
            <a:pPr lvl="1"/>
            <a:r>
              <a:rPr lang="en-US" dirty="0"/>
              <a:t>How broadcast Ethernet evolved</a:t>
            </a:r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6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dirty="0"/>
              <a:t>Routing in extended LANs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29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799563" y="1457779"/>
            <a:ext cx="3610194" cy="1041176"/>
            <a:chOff x="1929452" y="2330627"/>
            <a:chExt cx="4621521" cy="1288895"/>
          </a:xfrm>
          <a:effectLst/>
        </p:grpSpPr>
        <p:sp>
          <p:nvSpPr>
            <p:cNvPr id="58381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3" name="Line 14"/>
            <p:cNvSpPr>
              <a:spLocks noChangeShapeType="1"/>
            </p:cNvSpPr>
            <p:nvPr/>
          </p:nvSpPr>
          <p:spPr bwMode="auto">
            <a:xfrm>
              <a:off x="4240213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384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385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380" name="Rectangle 11"/>
            <p:cNvSpPr>
              <a:spLocks noChangeArrowheads="1"/>
            </p:cNvSpPr>
            <p:nvPr/>
          </p:nvSpPr>
          <p:spPr bwMode="auto">
            <a:xfrm>
              <a:off x="4180663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14"/>
            <p:cNvSpPr>
              <a:spLocks noChangeShapeType="1"/>
            </p:cNvSpPr>
            <p:nvPr/>
          </p:nvSpPr>
          <p:spPr bwMode="auto">
            <a:xfrm>
              <a:off x="237101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8" name="Rectangle 11"/>
            <p:cNvSpPr>
              <a:spLocks noChangeArrowheads="1"/>
            </p:cNvSpPr>
            <p:nvPr/>
          </p:nvSpPr>
          <p:spPr bwMode="auto">
            <a:xfrm>
              <a:off x="231146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1863263" y="2749700"/>
            <a:ext cx="5362667" cy="1041175"/>
            <a:chOff x="1929452" y="2330627"/>
            <a:chExt cx="4621521" cy="1288895"/>
          </a:xfrm>
          <a:effectLst/>
        </p:grpSpPr>
        <p:sp>
          <p:nvSpPr>
            <p:cNvPr id="47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0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4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334660" y="4225371"/>
            <a:ext cx="3610194" cy="1041175"/>
            <a:chOff x="1929452" y="2330627"/>
            <a:chExt cx="4621521" cy="1288895"/>
          </a:xfrm>
          <a:effectLst/>
        </p:grpSpPr>
        <p:sp>
          <p:nvSpPr>
            <p:cNvPr id="67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9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0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4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4730255" y="4209950"/>
            <a:ext cx="3610194" cy="1041175"/>
            <a:chOff x="1929452" y="2330627"/>
            <a:chExt cx="4621521" cy="1288895"/>
          </a:xfrm>
          <a:effectLst/>
        </p:grpSpPr>
        <p:sp>
          <p:nvSpPr>
            <p:cNvPr id="77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9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0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1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4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5164606" y="1357957"/>
            <a:ext cx="1569773" cy="64633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Local-Area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Network (LAN)</a:t>
            </a:r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4409757" y="1681123"/>
            <a:ext cx="754849" cy="296202"/>
          </a:xfrm>
          <a:prstGeom prst="straightConnector1">
            <a:avLst/>
          </a:prstGeom>
          <a:ln>
            <a:solidFill>
              <a:schemeClr val="tx1"/>
            </a:solidFill>
            <a:prstDash val="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6175721" y="1973934"/>
            <a:ext cx="0" cy="1284160"/>
          </a:xfrm>
          <a:prstGeom prst="straightConnector1">
            <a:avLst/>
          </a:prstGeom>
          <a:ln>
            <a:solidFill>
              <a:schemeClr val="tx1"/>
            </a:solidFill>
            <a:prstDash val="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3437618" y="1973934"/>
            <a:ext cx="287716" cy="1294744"/>
            <a:chOff x="3437618" y="2441030"/>
            <a:chExt cx="287716" cy="1294744"/>
          </a:xfrm>
          <a:effectLst/>
        </p:grpSpPr>
        <p:sp>
          <p:nvSpPr>
            <p:cNvPr id="10" name="Rounded Rectangle 9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1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2036686" y="3258094"/>
            <a:ext cx="287716" cy="1488090"/>
            <a:chOff x="3437618" y="2441030"/>
            <a:chExt cx="287716" cy="1294744"/>
          </a:xfrm>
          <a:effectLst/>
        </p:grpSpPr>
        <p:sp>
          <p:nvSpPr>
            <p:cNvPr id="93" name="Rounded Rectangle 92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6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7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3082175" y="4713181"/>
            <a:ext cx="331522" cy="1371118"/>
            <a:chOff x="3437618" y="2441030"/>
            <a:chExt cx="287716" cy="1294744"/>
          </a:xfrm>
          <a:effectLst/>
        </p:grpSpPr>
        <p:sp>
          <p:nvSpPr>
            <p:cNvPr id="99" name="Rounded Rectangle 98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2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3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4" name="TextBox 103"/>
          <p:cNvSpPr txBox="1"/>
          <p:nvPr/>
        </p:nvSpPr>
        <p:spPr>
          <a:xfrm>
            <a:off x="27604" y="2777922"/>
            <a:ext cx="2079415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Bridges</a:t>
            </a:r>
            <a:r>
              <a:rPr lang="en-US" b="0" dirty="0">
                <a:solidFill>
                  <a:srgbClr val="0000FF"/>
                </a:solidFill>
              </a:rPr>
              <a:t> relay</a:t>
            </a:r>
            <a:br>
              <a:rPr lang="en-US" b="0" dirty="0">
                <a:solidFill>
                  <a:srgbClr val="0000FF"/>
                </a:solidFill>
              </a:rPr>
            </a:br>
            <a:r>
              <a:rPr lang="en-US" b="0" dirty="0">
                <a:solidFill>
                  <a:srgbClr val="0000FF"/>
                </a:solidFill>
              </a:rPr>
              <a:t>broadcasts from</a:t>
            </a:r>
            <a:br>
              <a:rPr lang="en-US" b="0" dirty="0">
                <a:solidFill>
                  <a:srgbClr val="0000FF"/>
                </a:solidFill>
              </a:rPr>
            </a:br>
            <a:r>
              <a:rPr lang="en-US" b="0" dirty="0">
                <a:solidFill>
                  <a:srgbClr val="0000FF"/>
                </a:solidFill>
              </a:rPr>
              <a:t>one LAN to the other</a:t>
            </a:r>
          </a:p>
        </p:txBody>
      </p:sp>
      <p:cxnSp>
        <p:nvCxnSpPr>
          <p:cNvPr id="105" name="Straight Arrow Connector 104"/>
          <p:cNvCxnSpPr>
            <a:endCxn id="93" idx="1"/>
          </p:cNvCxnSpPr>
          <p:nvPr/>
        </p:nvCxnSpPr>
        <p:spPr>
          <a:xfrm>
            <a:off x="1192229" y="3701252"/>
            <a:ext cx="844457" cy="295670"/>
          </a:xfrm>
          <a:prstGeom prst="straightConnector1">
            <a:avLst/>
          </a:prstGeom>
          <a:ln>
            <a:solidFill>
              <a:srgbClr val="E46C0A"/>
            </a:solidFill>
            <a:prstDash val="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endCxn id="10" idx="1"/>
          </p:cNvCxnSpPr>
          <p:nvPr/>
        </p:nvCxnSpPr>
        <p:spPr>
          <a:xfrm flipV="1">
            <a:off x="1715641" y="2616767"/>
            <a:ext cx="1721977" cy="300926"/>
          </a:xfrm>
          <a:prstGeom prst="straightConnector1">
            <a:avLst/>
          </a:prstGeom>
          <a:ln>
            <a:solidFill>
              <a:srgbClr val="E46C0A"/>
            </a:solidFill>
            <a:prstDash val="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/>
          <p:cNvGrpSpPr/>
          <p:nvPr/>
        </p:nvGrpSpPr>
        <p:grpSpPr>
          <a:xfrm>
            <a:off x="6734379" y="3230254"/>
            <a:ext cx="287716" cy="1488090"/>
            <a:chOff x="3437618" y="2441030"/>
            <a:chExt cx="287716" cy="1294744"/>
          </a:xfrm>
          <a:effectLst/>
        </p:grpSpPr>
        <p:sp>
          <p:nvSpPr>
            <p:cNvPr id="110" name="Rounded Rectangle 109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3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4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2717927" y="5575905"/>
            <a:ext cx="3610194" cy="1041175"/>
            <a:chOff x="1929452" y="2330627"/>
            <a:chExt cx="4621521" cy="1288895"/>
          </a:xfrm>
          <a:effectLst/>
        </p:grpSpPr>
        <p:sp>
          <p:nvSpPr>
            <p:cNvPr id="118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0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2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5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039529" y="4713181"/>
            <a:ext cx="287716" cy="1371118"/>
            <a:chOff x="3437618" y="2441030"/>
            <a:chExt cx="287716" cy="1294744"/>
          </a:xfrm>
          <a:effectLst/>
        </p:grpSpPr>
        <p:sp>
          <p:nvSpPr>
            <p:cNvPr id="128" name="Rounded Rectangle 127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1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2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323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Easiest way to avoid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 topology where loops are impossible!</a:t>
            </a:r>
          </a:p>
          <a:p>
            <a:r>
              <a:rPr lang="en-US" dirty="0"/>
              <a:t>Take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dirty="0"/>
              <a:t>arbitrary topology and build a </a:t>
            </a:r>
            <a:r>
              <a:rPr lang="en-US" dirty="0">
                <a:solidFill>
                  <a:srgbClr val="0000FF"/>
                </a:solidFill>
              </a:rPr>
              <a:t>spanning tree </a:t>
            </a:r>
          </a:p>
          <a:p>
            <a:pPr lvl="1"/>
            <a:r>
              <a:rPr lang="en-US" dirty="0"/>
              <a:t>Sub-graph that includes all vertices but contains no cycles</a:t>
            </a:r>
          </a:p>
          <a:p>
            <a:pPr lvl="1"/>
            <a:r>
              <a:rPr lang="en-US" dirty="0"/>
              <a:t>Links not in the spanning tree are not used to forward frames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5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 a graph</a:t>
            </a:r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31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1219200" y="1828800"/>
            <a:ext cx="4724400" cy="3505200"/>
            <a:chOff x="1219200" y="1828800"/>
            <a:chExt cx="4724400" cy="3505200"/>
          </a:xfrm>
        </p:grpSpPr>
        <p:sp>
          <p:nvSpPr>
            <p:cNvPr id="5" name="Oval 4"/>
            <p:cNvSpPr/>
            <p:nvPr/>
          </p:nvSpPr>
          <p:spPr bwMode="auto">
            <a:xfrm>
              <a:off x="1828800" y="1828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" name="Oval 5"/>
            <p:cNvSpPr/>
            <p:nvPr/>
          </p:nvSpPr>
          <p:spPr bwMode="auto">
            <a:xfrm>
              <a:off x="1219200" y="2971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3962400" y="20574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3962400" y="43434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2667000" y="5181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2438400" y="31242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5791200" y="2895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2895600" y="3733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1676400" y="46482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3810000" y="3276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5257800" y="4419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16" name="Straight Connector 15"/>
            <p:cNvCxnSpPr>
              <a:stCxn id="5" idx="5"/>
              <a:endCxn id="10" idx="0"/>
            </p:cNvCxnSpPr>
            <p:nvPr/>
          </p:nvCxnSpPr>
          <p:spPr bwMode="auto">
            <a:xfrm>
              <a:off x="1958882" y="1958882"/>
              <a:ext cx="555718" cy="1165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/>
            <p:cNvCxnSpPr>
              <a:stCxn id="5" idx="3"/>
              <a:endCxn id="6" idx="0"/>
            </p:cNvCxnSpPr>
            <p:nvPr/>
          </p:nvCxnSpPr>
          <p:spPr bwMode="auto">
            <a:xfrm flipH="1">
              <a:off x="1295400" y="1958882"/>
              <a:ext cx="555718" cy="10129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Straight Connector 17"/>
            <p:cNvCxnSpPr>
              <a:stCxn id="6" idx="5"/>
              <a:endCxn id="13" idx="1"/>
            </p:cNvCxnSpPr>
            <p:nvPr/>
          </p:nvCxnSpPr>
          <p:spPr bwMode="auto">
            <a:xfrm>
              <a:off x="1349282" y="3101882"/>
              <a:ext cx="349436" cy="15686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>
              <a:endCxn id="12" idx="1"/>
            </p:cNvCxnSpPr>
            <p:nvPr/>
          </p:nvCxnSpPr>
          <p:spPr bwMode="auto">
            <a:xfrm>
              <a:off x="2590800" y="3200400"/>
              <a:ext cx="327118" cy="5557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/>
            <p:cNvCxnSpPr>
              <a:stCxn id="14" idx="5"/>
            </p:cNvCxnSpPr>
            <p:nvPr/>
          </p:nvCxnSpPr>
          <p:spPr bwMode="auto">
            <a:xfrm>
              <a:off x="3940082" y="3406682"/>
              <a:ext cx="1362354" cy="1057554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/>
            <p:cNvCxnSpPr>
              <a:endCxn id="14" idx="7"/>
            </p:cNvCxnSpPr>
            <p:nvPr/>
          </p:nvCxnSpPr>
          <p:spPr bwMode="auto">
            <a:xfrm flipH="1">
              <a:off x="3940082" y="2133600"/>
              <a:ext cx="98518" cy="1165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>
              <a:endCxn id="11" idx="4"/>
            </p:cNvCxnSpPr>
            <p:nvPr/>
          </p:nvCxnSpPr>
          <p:spPr bwMode="auto">
            <a:xfrm>
              <a:off x="4038600" y="2057400"/>
              <a:ext cx="1828800" cy="990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>
              <a:endCxn id="15" idx="0"/>
            </p:cNvCxnSpPr>
            <p:nvPr/>
          </p:nvCxnSpPr>
          <p:spPr bwMode="auto">
            <a:xfrm flipH="1">
              <a:off x="5334000" y="3048000"/>
              <a:ext cx="533400" cy="1371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>
              <a:endCxn id="9" idx="2"/>
            </p:cNvCxnSpPr>
            <p:nvPr/>
          </p:nvCxnSpPr>
          <p:spPr bwMode="auto">
            <a:xfrm>
              <a:off x="1752600" y="4648200"/>
              <a:ext cx="914400" cy="609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>
              <a:endCxn id="8" idx="3"/>
            </p:cNvCxnSpPr>
            <p:nvPr/>
          </p:nvCxnSpPr>
          <p:spPr bwMode="auto">
            <a:xfrm>
              <a:off x="2971800" y="3733800"/>
              <a:ext cx="1012918" cy="7396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25"/>
            <p:cNvCxnSpPr>
              <a:endCxn id="8" idx="5"/>
            </p:cNvCxnSpPr>
            <p:nvPr/>
          </p:nvCxnSpPr>
          <p:spPr bwMode="auto">
            <a:xfrm flipH="1">
              <a:off x="4092482" y="4419600"/>
              <a:ext cx="1241518" cy="538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/>
            <p:cNvCxnSpPr>
              <a:endCxn id="8" idx="1"/>
            </p:cNvCxnSpPr>
            <p:nvPr/>
          </p:nvCxnSpPr>
          <p:spPr bwMode="auto">
            <a:xfrm>
              <a:off x="3886200" y="3276600"/>
              <a:ext cx="98518" cy="10891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>
              <a:endCxn id="9" idx="0"/>
            </p:cNvCxnSpPr>
            <p:nvPr/>
          </p:nvCxnSpPr>
          <p:spPr bwMode="auto">
            <a:xfrm flipH="1">
              <a:off x="2743200" y="3810000"/>
              <a:ext cx="228600" cy="1371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Straight Connector 28"/>
            <p:cNvCxnSpPr>
              <a:stCxn id="10" idx="6"/>
              <a:endCxn id="14" idx="1"/>
            </p:cNvCxnSpPr>
            <p:nvPr/>
          </p:nvCxnSpPr>
          <p:spPr bwMode="auto">
            <a:xfrm>
              <a:off x="2590800" y="3200400"/>
              <a:ext cx="1241518" cy="985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/>
            <p:cNvCxnSpPr>
              <a:stCxn id="6" idx="6"/>
              <a:endCxn id="10" idx="2"/>
            </p:cNvCxnSpPr>
            <p:nvPr/>
          </p:nvCxnSpPr>
          <p:spPr bwMode="auto">
            <a:xfrm>
              <a:off x="1371600" y="3048000"/>
              <a:ext cx="1066800" cy="1524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Straight Connector 65"/>
            <p:cNvCxnSpPr>
              <a:stCxn id="13" idx="0"/>
              <a:endCxn id="12" idx="3"/>
            </p:cNvCxnSpPr>
            <p:nvPr/>
          </p:nvCxnSpPr>
          <p:spPr bwMode="auto">
            <a:xfrm flipV="1">
              <a:off x="1752600" y="3863882"/>
              <a:ext cx="1165318" cy="784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Straight Connector 67"/>
            <p:cNvCxnSpPr>
              <a:stCxn id="9" idx="7"/>
              <a:endCxn id="8" idx="3"/>
            </p:cNvCxnSpPr>
            <p:nvPr/>
          </p:nvCxnSpPr>
          <p:spPr bwMode="auto">
            <a:xfrm flipV="1">
              <a:off x="2797082" y="4473482"/>
              <a:ext cx="1187636" cy="7304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Straight Connector 69"/>
            <p:cNvCxnSpPr>
              <a:stCxn id="13" idx="0"/>
              <a:endCxn id="10" idx="3"/>
            </p:cNvCxnSpPr>
            <p:nvPr/>
          </p:nvCxnSpPr>
          <p:spPr bwMode="auto">
            <a:xfrm flipV="1">
              <a:off x="1752600" y="3254282"/>
              <a:ext cx="708118" cy="13939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Straight Connector 71"/>
            <p:cNvCxnSpPr>
              <a:stCxn id="12" idx="0"/>
              <a:endCxn id="14" idx="2"/>
            </p:cNvCxnSpPr>
            <p:nvPr/>
          </p:nvCxnSpPr>
          <p:spPr bwMode="auto">
            <a:xfrm flipV="1">
              <a:off x="2971800" y="3352800"/>
              <a:ext cx="838200" cy="3810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Straight Connector 73"/>
            <p:cNvCxnSpPr>
              <a:stCxn id="14" idx="7"/>
              <a:endCxn id="11" idx="5"/>
            </p:cNvCxnSpPr>
            <p:nvPr/>
          </p:nvCxnSpPr>
          <p:spPr bwMode="auto">
            <a:xfrm flipV="1">
              <a:off x="3940082" y="3025682"/>
              <a:ext cx="1981200" cy="2732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Straight Connector 75"/>
            <p:cNvCxnSpPr>
              <a:stCxn id="5" idx="7"/>
              <a:endCxn id="7" idx="2"/>
            </p:cNvCxnSpPr>
            <p:nvPr/>
          </p:nvCxnSpPr>
          <p:spPr bwMode="auto">
            <a:xfrm>
              <a:off x="1958882" y="1851118"/>
              <a:ext cx="2003518" cy="2824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Straight Connector 77"/>
            <p:cNvCxnSpPr>
              <a:stCxn id="10" idx="7"/>
              <a:endCxn id="7" idx="0"/>
            </p:cNvCxnSpPr>
            <p:nvPr/>
          </p:nvCxnSpPr>
          <p:spPr bwMode="auto">
            <a:xfrm flipV="1">
              <a:off x="2568482" y="2057400"/>
              <a:ext cx="1470118" cy="10891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0953756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spanning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C1667E8F-4C46-A54F-A59E-8662EF143610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0" y="5181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0" y="3124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0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0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2"/>
            <a:ext cx="5557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0" y="3048000"/>
            <a:ext cx="5334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0" y="3254282"/>
            <a:ext cx="708118" cy="1393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948610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spanning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248400"/>
            <a:ext cx="19050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1667E8F-4C46-A54F-A59E-8662EF143610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0" y="5181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0" y="3124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0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0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>
            <a:stCxn id="6" idx="5"/>
            <a:endCxn id="13" idx="1"/>
          </p:cNvCxnSpPr>
          <p:nvPr/>
        </p:nvCxnSpPr>
        <p:spPr bwMode="auto">
          <a:xfrm>
            <a:off x="1349282" y="3101882"/>
            <a:ext cx="349436" cy="15686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endCxn id="14" idx="7"/>
          </p:cNvCxnSpPr>
          <p:nvPr/>
        </p:nvCxnSpPr>
        <p:spPr bwMode="auto">
          <a:xfrm flipH="1">
            <a:off x="3940082" y="2133600"/>
            <a:ext cx="985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0" y="3048000"/>
            <a:ext cx="5334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Straight Connector 67"/>
          <p:cNvCxnSpPr>
            <a:stCxn id="9" idx="7"/>
            <a:endCxn id="8" idx="3"/>
          </p:cNvCxnSpPr>
          <p:nvPr/>
        </p:nvCxnSpPr>
        <p:spPr bwMode="auto">
          <a:xfrm flipV="1">
            <a:off x="2797082" y="4473482"/>
            <a:ext cx="1187636" cy="7304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/>
          <p:cNvCxnSpPr>
            <a:stCxn id="12" idx="0"/>
            <a:endCxn id="14" idx="2"/>
          </p:cNvCxnSpPr>
          <p:nvPr/>
        </p:nvCxnSpPr>
        <p:spPr bwMode="auto">
          <a:xfrm flipV="1">
            <a:off x="2971800" y="3352800"/>
            <a:ext cx="838200" cy="381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Straight Connector 75"/>
          <p:cNvCxnSpPr>
            <a:stCxn id="5" idx="7"/>
            <a:endCxn id="7" idx="2"/>
          </p:cNvCxnSpPr>
          <p:nvPr/>
        </p:nvCxnSpPr>
        <p:spPr bwMode="auto">
          <a:xfrm>
            <a:off x="1958882" y="1851118"/>
            <a:ext cx="2003518" cy="2824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7054166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 protocol (Perlman’85)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Protocol by which bridges construct a spanning tree</a:t>
            </a:r>
          </a:p>
          <a:p>
            <a:r>
              <a:rPr lang="en-US" dirty="0"/>
              <a:t>Nice properties</a:t>
            </a:r>
          </a:p>
          <a:p>
            <a:pPr lvl="1"/>
            <a:r>
              <a:rPr lang="en-US" dirty="0"/>
              <a:t>Zero configuration (by operators or users)</a:t>
            </a:r>
          </a:p>
          <a:p>
            <a:pPr lvl="1"/>
            <a:r>
              <a:rPr lang="en-US" dirty="0"/>
              <a:t>Self healing</a:t>
            </a:r>
          </a:p>
          <a:p>
            <a:r>
              <a:rPr lang="en-US" dirty="0"/>
              <a:t>Still used today</a:t>
            </a:r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9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with switched Ethernet?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35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157891" y="3221327"/>
            <a:ext cx="120650" cy="626164"/>
            <a:chOff x="2820129" y="2959980"/>
            <a:chExt cx="120650" cy="626164"/>
          </a:xfrm>
        </p:grpSpPr>
        <p:sp>
          <p:nvSpPr>
            <p:cNvPr id="58381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5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8388" name="Text Box 19"/>
          <p:cNvSpPr txBox="1">
            <a:spLocks noChangeArrowheads="1"/>
          </p:cNvSpPr>
          <p:nvPr/>
        </p:nvSpPr>
        <p:spPr bwMode="auto">
          <a:xfrm>
            <a:off x="2475902" y="1777166"/>
            <a:ext cx="6719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A</a:t>
            </a:r>
            <a:r>
              <a:rPr lang="en-US" b="0" baseline="-25000" dirty="0">
                <a:latin typeface="+mn-lt"/>
              </a:rPr>
              <a:t>MAC</a:t>
            </a:r>
          </a:p>
        </p:txBody>
      </p:sp>
      <p:grpSp>
        <p:nvGrpSpPr>
          <p:cNvPr id="2" name="Group 1"/>
          <p:cNvGrpSpPr/>
          <p:nvPr/>
        </p:nvGrpSpPr>
        <p:grpSpPr>
          <a:xfrm rot="19140000">
            <a:off x="5257644" y="2154092"/>
            <a:ext cx="120651" cy="644729"/>
            <a:chOff x="4180663" y="2330627"/>
            <a:chExt cx="120650" cy="644727"/>
          </a:xfrm>
        </p:grpSpPr>
        <p:sp>
          <p:nvSpPr>
            <p:cNvPr id="58383" name="Line 14"/>
            <p:cNvSpPr>
              <a:spLocks noChangeShapeType="1"/>
            </p:cNvSpPr>
            <p:nvPr/>
          </p:nvSpPr>
          <p:spPr bwMode="auto">
            <a:xfrm>
              <a:off x="4240213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380" name="Rectangle 11"/>
            <p:cNvSpPr>
              <a:spLocks noChangeArrowheads="1"/>
            </p:cNvSpPr>
            <p:nvPr/>
          </p:nvSpPr>
          <p:spPr bwMode="auto">
            <a:xfrm>
              <a:off x="4180663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2"/>
          <p:cNvGrpSpPr>
            <a:grpSpLocks noChangeAspect="1"/>
          </p:cNvGrpSpPr>
          <p:nvPr/>
        </p:nvGrpSpPr>
        <p:grpSpPr>
          <a:xfrm rot="2820000">
            <a:off x="6002364" y="2184781"/>
            <a:ext cx="120650" cy="644727"/>
            <a:chOff x="5955836" y="2330627"/>
            <a:chExt cx="120650" cy="644727"/>
          </a:xfrm>
        </p:grpSpPr>
        <p:sp>
          <p:nvSpPr>
            <p:cNvPr id="24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375834" y="4426939"/>
            <a:ext cx="120650" cy="626164"/>
            <a:chOff x="3659188" y="2974268"/>
            <a:chExt cx="120650" cy="626164"/>
          </a:xfrm>
        </p:grpSpPr>
        <p:sp>
          <p:nvSpPr>
            <p:cNvPr id="30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16"/>
            <p:cNvSpPr>
              <a:spLocks noChangeShapeType="1"/>
            </p:cNvSpPr>
            <p:nvPr/>
          </p:nvSpPr>
          <p:spPr bwMode="auto">
            <a:xfrm flipH="1" flipV="1">
              <a:off x="3711399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623344" y="3048621"/>
            <a:ext cx="120650" cy="626164"/>
            <a:chOff x="4863307" y="2993358"/>
            <a:chExt cx="120650" cy="626164"/>
          </a:xfrm>
        </p:grpSpPr>
        <p:sp>
          <p:nvSpPr>
            <p:cNvPr id="33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8" name="Text Box 19"/>
          <p:cNvSpPr txBox="1">
            <a:spLocks noChangeArrowheads="1"/>
          </p:cNvSpPr>
          <p:nvPr/>
        </p:nvSpPr>
        <p:spPr bwMode="auto">
          <a:xfrm>
            <a:off x="4682322" y="1777166"/>
            <a:ext cx="6719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B</a:t>
            </a:r>
            <a:r>
              <a:rPr lang="en-US" b="0" baseline="-25000" dirty="0">
                <a:latin typeface="+mn-lt"/>
              </a:rPr>
              <a:t>MAC</a:t>
            </a:r>
          </a:p>
        </p:txBody>
      </p:sp>
      <p:sp>
        <p:nvSpPr>
          <p:cNvPr id="39" name="Text Box 19"/>
          <p:cNvSpPr txBox="1">
            <a:spLocks noChangeArrowheads="1"/>
          </p:cNvSpPr>
          <p:nvPr/>
        </p:nvSpPr>
        <p:spPr bwMode="auto">
          <a:xfrm>
            <a:off x="6020216" y="1777166"/>
            <a:ext cx="6719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C</a:t>
            </a:r>
            <a:r>
              <a:rPr lang="en-US" b="0" baseline="-25000" dirty="0">
                <a:latin typeface="+mn-lt"/>
              </a:rPr>
              <a:t>MAC</a:t>
            </a:r>
          </a:p>
        </p:txBody>
      </p:sp>
      <p:sp>
        <p:nvSpPr>
          <p:cNvPr id="40" name="Text Box 19"/>
          <p:cNvSpPr txBox="1">
            <a:spLocks noChangeArrowheads="1"/>
          </p:cNvSpPr>
          <p:nvPr/>
        </p:nvSpPr>
        <p:spPr bwMode="auto">
          <a:xfrm>
            <a:off x="2817049" y="3906826"/>
            <a:ext cx="6787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D</a:t>
            </a:r>
            <a:r>
              <a:rPr lang="en-US" b="0" baseline="-25000" dirty="0">
                <a:latin typeface="+mn-lt"/>
              </a:rPr>
              <a:t>MAC</a:t>
            </a:r>
          </a:p>
        </p:txBody>
      </p:sp>
      <p:sp>
        <p:nvSpPr>
          <p:cNvPr id="41" name="Text Box 19"/>
          <p:cNvSpPr txBox="1">
            <a:spLocks noChangeArrowheads="1"/>
          </p:cNvSpPr>
          <p:nvPr/>
        </p:nvSpPr>
        <p:spPr bwMode="auto">
          <a:xfrm>
            <a:off x="4117600" y="4992996"/>
            <a:ext cx="6463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E</a:t>
            </a:r>
            <a:r>
              <a:rPr lang="en-US" b="0" baseline="-25000" dirty="0">
                <a:latin typeface="+mn-lt"/>
              </a:rPr>
              <a:t>MAC</a:t>
            </a:r>
          </a:p>
        </p:txBody>
      </p:sp>
      <p:sp>
        <p:nvSpPr>
          <p:cNvPr id="42" name="Text Box 19"/>
          <p:cNvSpPr txBox="1">
            <a:spLocks noChangeArrowheads="1"/>
          </p:cNvSpPr>
          <p:nvPr/>
        </p:nvSpPr>
        <p:spPr bwMode="auto">
          <a:xfrm>
            <a:off x="5319081" y="3751377"/>
            <a:ext cx="6463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F</a:t>
            </a:r>
            <a:r>
              <a:rPr lang="en-US" b="0" baseline="-25000" dirty="0">
                <a:latin typeface="+mn-lt"/>
              </a:rPr>
              <a:t>MAC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32116" y="2761648"/>
            <a:ext cx="459679" cy="459679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 rot="19140000">
            <a:off x="2908030" y="2232290"/>
            <a:ext cx="120651" cy="644729"/>
            <a:chOff x="4180663" y="2330627"/>
            <a:chExt cx="120650" cy="644727"/>
          </a:xfrm>
        </p:grpSpPr>
        <p:sp>
          <p:nvSpPr>
            <p:cNvPr id="47" name="Line 14"/>
            <p:cNvSpPr>
              <a:spLocks noChangeShapeType="1"/>
            </p:cNvSpPr>
            <p:nvPr/>
          </p:nvSpPr>
          <p:spPr bwMode="auto">
            <a:xfrm>
              <a:off x="4240213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8" name="Rectangle 11"/>
            <p:cNvSpPr>
              <a:spLocks noChangeArrowheads="1"/>
            </p:cNvSpPr>
            <p:nvPr/>
          </p:nvSpPr>
          <p:spPr bwMode="auto">
            <a:xfrm>
              <a:off x="4180663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9" name="Straight Connector 8"/>
          <p:cNvCxnSpPr>
            <a:stCxn id="45" idx="3"/>
            <a:endCxn id="35" idx="1"/>
          </p:cNvCxnSpPr>
          <p:nvPr/>
        </p:nvCxnSpPr>
        <p:spPr>
          <a:xfrm flipV="1">
            <a:off x="3491795" y="2890732"/>
            <a:ext cx="1943431" cy="1007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477684" y="3134682"/>
            <a:ext cx="722176" cy="9057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496484" y="3048621"/>
            <a:ext cx="1032392" cy="10595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55651" y="4026279"/>
            <a:ext cx="459679" cy="45967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35226" y="2660892"/>
            <a:ext cx="459679" cy="45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6517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5"/>
          <p:cNvGrpSpPr/>
          <p:nvPr/>
        </p:nvGrpSpPr>
        <p:grpSpPr>
          <a:xfrm>
            <a:off x="1233550" y="1829334"/>
            <a:ext cx="4724400" cy="3505200"/>
            <a:chOff x="1219200" y="1828800"/>
            <a:chExt cx="4724400" cy="3505200"/>
          </a:xfrm>
        </p:grpSpPr>
        <p:sp>
          <p:nvSpPr>
            <p:cNvPr id="117" name="Oval 116"/>
            <p:cNvSpPr/>
            <p:nvPr/>
          </p:nvSpPr>
          <p:spPr bwMode="auto">
            <a:xfrm>
              <a:off x="1828800" y="1828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18" name="Oval 117"/>
            <p:cNvSpPr/>
            <p:nvPr/>
          </p:nvSpPr>
          <p:spPr bwMode="auto">
            <a:xfrm>
              <a:off x="1219200" y="2971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19" name="Oval 118"/>
            <p:cNvSpPr/>
            <p:nvPr/>
          </p:nvSpPr>
          <p:spPr bwMode="auto">
            <a:xfrm>
              <a:off x="3962400" y="20574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0" name="Oval 119"/>
            <p:cNvSpPr/>
            <p:nvPr/>
          </p:nvSpPr>
          <p:spPr bwMode="auto">
            <a:xfrm>
              <a:off x="3962400" y="43434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1" name="Oval 120"/>
            <p:cNvSpPr/>
            <p:nvPr/>
          </p:nvSpPr>
          <p:spPr bwMode="auto">
            <a:xfrm>
              <a:off x="2667000" y="5181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2" name="Oval 121"/>
            <p:cNvSpPr/>
            <p:nvPr/>
          </p:nvSpPr>
          <p:spPr bwMode="auto">
            <a:xfrm>
              <a:off x="2438400" y="31242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3" name="Oval 122"/>
            <p:cNvSpPr/>
            <p:nvPr/>
          </p:nvSpPr>
          <p:spPr bwMode="auto">
            <a:xfrm>
              <a:off x="5791200" y="2895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4" name="Oval 123"/>
            <p:cNvSpPr/>
            <p:nvPr/>
          </p:nvSpPr>
          <p:spPr bwMode="auto">
            <a:xfrm>
              <a:off x="2895600" y="3733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5" name="Oval 124"/>
            <p:cNvSpPr/>
            <p:nvPr/>
          </p:nvSpPr>
          <p:spPr bwMode="auto">
            <a:xfrm>
              <a:off x="1676400" y="46482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6" name="Oval 125"/>
            <p:cNvSpPr/>
            <p:nvPr/>
          </p:nvSpPr>
          <p:spPr bwMode="auto">
            <a:xfrm>
              <a:off x="3810000" y="3276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7" name="Oval 126"/>
            <p:cNvSpPr/>
            <p:nvPr/>
          </p:nvSpPr>
          <p:spPr bwMode="auto">
            <a:xfrm>
              <a:off x="5257800" y="4419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128" name="Straight Connector 127"/>
            <p:cNvCxnSpPr>
              <a:stCxn id="117" idx="5"/>
              <a:endCxn id="122" idx="0"/>
            </p:cNvCxnSpPr>
            <p:nvPr/>
          </p:nvCxnSpPr>
          <p:spPr bwMode="auto">
            <a:xfrm>
              <a:off x="1958882" y="1958882"/>
              <a:ext cx="555718" cy="1165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9" name="Straight Connector 128"/>
            <p:cNvCxnSpPr>
              <a:stCxn id="117" idx="3"/>
              <a:endCxn id="118" idx="0"/>
            </p:cNvCxnSpPr>
            <p:nvPr/>
          </p:nvCxnSpPr>
          <p:spPr bwMode="auto">
            <a:xfrm flipH="1">
              <a:off x="1295400" y="1958882"/>
              <a:ext cx="555718" cy="10129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0" name="Straight Connector 129"/>
            <p:cNvCxnSpPr>
              <a:stCxn id="118" idx="5"/>
              <a:endCxn id="125" idx="1"/>
            </p:cNvCxnSpPr>
            <p:nvPr/>
          </p:nvCxnSpPr>
          <p:spPr bwMode="auto">
            <a:xfrm>
              <a:off x="1349282" y="3101882"/>
              <a:ext cx="349436" cy="15686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1" name="Straight Connector 130"/>
            <p:cNvCxnSpPr>
              <a:endCxn id="124" idx="1"/>
            </p:cNvCxnSpPr>
            <p:nvPr/>
          </p:nvCxnSpPr>
          <p:spPr bwMode="auto">
            <a:xfrm>
              <a:off x="2590800" y="3200400"/>
              <a:ext cx="327118" cy="5557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2" name="Straight Connector 131"/>
            <p:cNvCxnSpPr>
              <a:stCxn id="126" idx="5"/>
            </p:cNvCxnSpPr>
            <p:nvPr/>
          </p:nvCxnSpPr>
          <p:spPr bwMode="auto">
            <a:xfrm>
              <a:off x="3940082" y="3406682"/>
              <a:ext cx="1362354" cy="1057554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3" name="Straight Connector 132"/>
            <p:cNvCxnSpPr>
              <a:endCxn id="126" idx="7"/>
            </p:cNvCxnSpPr>
            <p:nvPr/>
          </p:nvCxnSpPr>
          <p:spPr bwMode="auto">
            <a:xfrm flipH="1">
              <a:off x="3940082" y="2133600"/>
              <a:ext cx="98518" cy="1165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4" name="Straight Connector 133"/>
            <p:cNvCxnSpPr>
              <a:endCxn id="123" idx="4"/>
            </p:cNvCxnSpPr>
            <p:nvPr/>
          </p:nvCxnSpPr>
          <p:spPr bwMode="auto">
            <a:xfrm>
              <a:off x="4038600" y="2057400"/>
              <a:ext cx="1828800" cy="990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Straight Connector 134"/>
            <p:cNvCxnSpPr>
              <a:endCxn id="127" idx="0"/>
            </p:cNvCxnSpPr>
            <p:nvPr/>
          </p:nvCxnSpPr>
          <p:spPr bwMode="auto">
            <a:xfrm flipH="1">
              <a:off x="5334000" y="3048000"/>
              <a:ext cx="533400" cy="1371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Straight Connector 135"/>
            <p:cNvCxnSpPr>
              <a:endCxn id="121" idx="2"/>
            </p:cNvCxnSpPr>
            <p:nvPr/>
          </p:nvCxnSpPr>
          <p:spPr bwMode="auto">
            <a:xfrm>
              <a:off x="1752600" y="4648200"/>
              <a:ext cx="914400" cy="609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Straight Connector 136"/>
            <p:cNvCxnSpPr>
              <a:endCxn id="120" idx="3"/>
            </p:cNvCxnSpPr>
            <p:nvPr/>
          </p:nvCxnSpPr>
          <p:spPr bwMode="auto">
            <a:xfrm>
              <a:off x="2971800" y="3733800"/>
              <a:ext cx="1012918" cy="7396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8" name="Straight Connector 137"/>
            <p:cNvCxnSpPr>
              <a:endCxn id="120" idx="5"/>
            </p:cNvCxnSpPr>
            <p:nvPr/>
          </p:nvCxnSpPr>
          <p:spPr bwMode="auto">
            <a:xfrm flipH="1">
              <a:off x="4092482" y="4419600"/>
              <a:ext cx="1241518" cy="538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9" name="Straight Connector 138"/>
            <p:cNvCxnSpPr>
              <a:endCxn id="120" idx="1"/>
            </p:cNvCxnSpPr>
            <p:nvPr/>
          </p:nvCxnSpPr>
          <p:spPr bwMode="auto">
            <a:xfrm>
              <a:off x="3886200" y="3276600"/>
              <a:ext cx="98518" cy="10891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Straight Connector 139"/>
            <p:cNvCxnSpPr>
              <a:endCxn id="121" idx="0"/>
            </p:cNvCxnSpPr>
            <p:nvPr/>
          </p:nvCxnSpPr>
          <p:spPr bwMode="auto">
            <a:xfrm flipH="1">
              <a:off x="2743200" y="3810000"/>
              <a:ext cx="228600" cy="1371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Straight Connector 140"/>
            <p:cNvCxnSpPr>
              <a:stCxn id="122" idx="6"/>
              <a:endCxn id="126" idx="1"/>
            </p:cNvCxnSpPr>
            <p:nvPr/>
          </p:nvCxnSpPr>
          <p:spPr bwMode="auto">
            <a:xfrm>
              <a:off x="2590800" y="3200400"/>
              <a:ext cx="1241518" cy="985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Straight Connector 141"/>
            <p:cNvCxnSpPr>
              <a:stCxn id="118" idx="6"/>
              <a:endCxn id="122" idx="2"/>
            </p:cNvCxnSpPr>
            <p:nvPr/>
          </p:nvCxnSpPr>
          <p:spPr bwMode="auto">
            <a:xfrm>
              <a:off x="1371600" y="3048000"/>
              <a:ext cx="1066800" cy="1524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3" name="Straight Connector 142"/>
            <p:cNvCxnSpPr>
              <a:stCxn id="125" idx="0"/>
              <a:endCxn id="124" idx="3"/>
            </p:cNvCxnSpPr>
            <p:nvPr/>
          </p:nvCxnSpPr>
          <p:spPr bwMode="auto">
            <a:xfrm flipV="1">
              <a:off x="1752600" y="3863882"/>
              <a:ext cx="1165318" cy="784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Straight Connector 143"/>
            <p:cNvCxnSpPr>
              <a:stCxn id="121" idx="7"/>
              <a:endCxn id="120" idx="3"/>
            </p:cNvCxnSpPr>
            <p:nvPr/>
          </p:nvCxnSpPr>
          <p:spPr bwMode="auto">
            <a:xfrm flipV="1">
              <a:off x="2797082" y="4473482"/>
              <a:ext cx="1187636" cy="7304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5" name="Straight Connector 144"/>
            <p:cNvCxnSpPr>
              <a:stCxn id="125" idx="0"/>
              <a:endCxn id="122" idx="3"/>
            </p:cNvCxnSpPr>
            <p:nvPr/>
          </p:nvCxnSpPr>
          <p:spPr bwMode="auto">
            <a:xfrm flipV="1">
              <a:off x="1752600" y="3254282"/>
              <a:ext cx="708118" cy="13939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Straight Connector 145"/>
            <p:cNvCxnSpPr>
              <a:stCxn id="124" idx="0"/>
              <a:endCxn id="126" idx="2"/>
            </p:cNvCxnSpPr>
            <p:nvPr/>
          </p:nvCxnSpPr>
          <p:spPr bwMode="auto">
            <a:xfrm flipV="1">
              <a:off x="2971800" y="3352800"/>
              <a:ext cx="838200" cy="3810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Straight Connector 146"/>
            <p:cNvCxnSpPr>
              <a:stCxn id="126" idx="7"/>
              <a:endCxn id="123" idx="5"/>
            </p:cNvCxnSpPr>
            <p:nvPr/>
          </p:nvCxnSpPr>
          <p:spPr bwMode="auto">
            <a:xfrm flipV="1">
              <a:off x="3940082" y="3025682"/>
              <a:ext cx="1981200" cy="2732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Straight Connector 147"/>
            <p:cNvCxnSpPr>
              <a:stCxn id="117" idx="7"/>
              <a:endCxn id="119" idx="2"/>
            </p:cNvCxnSpPr>
            <p:nvPr/>
          </p:nvCxnSpPr>
          <p:spPr bwMode="auto">
            <a:xfrm>
              <a:off x="1958882" y="1851118"/>
              <a:ext cx="2003518" cy="2824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Straight Connector 148"/>
            <p:cNvCxnSpPr>
              <a:stCxn id="122" idx="7"/>
              <a:endCxn id="119" idx="0"/>
            </p:cNvCxnSpPr>
            <p:nvPr/>
          </p:nvCxnSpPr>
          <p:spPr bwMode="auto">
            <a:xfrm flipV="1">
              <a:off x="2568482" y="2057400"/>
              <a:ext cx="1470118" cy="10891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Flooding on spanning tree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0" y="51816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0" y="31242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0" y="37338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0" y="32766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2"/>
            <a:ext cx="555718" cy="1165318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0" y="3048000"/>
            <a:ext cx="533400" cy="1371600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0" y="3254282"/>
            <a:ext cx="708118" cy="1393918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Rectangle 36"/>
          <p:cNvSpPr>
            <a:spLocks noChangeAspect="1"/>
          </p:cNvSpPr>
          <p:nvPr/>
        </p:nvSpPr>
        <p:spPr bwMode="auto">
          <a:xfrm>
            <a:off x="2438400" y="30480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>
            <a:spLocks noChangeAspect="1"/>
          </p:cNvSpPr>
          <p:nvPr/>
        </p:nvSpPr>
        <p:spPr bwMode="auto">
          <a:xfrm>
            <a:off x="2819400" y="36576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Rectangle 43"/>
          <p:cNvSpPr>
            <a:spLocks noChangeAspect="1"/>
          </p:cNvSpPr>
          <p:nvPr/>
        </p:nvSpPr>
        <p:spPr bwMode="auto">
          <a:xfrm>
            <a:off x="1600200" y="45720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Rectangle 44"/>
          <p:cNvSpPr>
            <a:spLocks noChangeAspect="1"/>
          </p:cNvSpPr>
          <p:nvPr/>
        </p:nvSpPr>
        <p:spPr bwMode="auto">
          <a:xfrm>
            <a:off x="1828800" y="18288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>
            <a:spLocks noChangeAspect="1"/>
          </p:cNvSpPr>
          <p:nvPr/>
        </p:nvSpPr>
        <p:spPr bwMode="auto">
          <a:xfrm>
            <a:off x="1143000" y="28956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7" name="Rectangle 46"/>
          <p:cNvSpPr>
            <a:spLocks noChangeAspect="1"/>
          </p:cNvSpPr>
          <p:nvPr/>
        </p:nvSpPr>
        <p:spPr bwMode="auto">
          <a:xfrm>
            <a:off x="2590800" y="51816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Rectangle 47"/>
          <p:cNvSpPr>
            <a:spLocks noChangeAspect="1"/>
          </p:cNvSpPr>
          <p:nvPr/>
        </p:nvSpPr>
        <p:spPr bwMode="auto">
          <a:xfrm>
            <a:off x="3886200" y="43434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9" name="Rectangle 48"/>
          <p:cNvSpPr>
            <a:spLocks noChangeAspect="1"/>
          </p:cNvSpPr>
          <p:nvPr/>
        </p:nvSpPr>
        <p:spPr bwMode="auto">
          <a:xfrm>
            <a:off x="5181600" y="43434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ectangle 49"/>
          <p:cNvSpPr>
            <a:spLocks noChangeAspect="1"/>
          </p:cNvSpPr>
          <p:nvPr/>
        </p:nvSpPr>
        <p:spPr bwMode="auto">
          <a:xfrm>
            <a:off x="3810000" y="32004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1" name="Rectangle 50"/>
          <p:cNvSpPr>
            <a:spLocks noChangeAspect="1"/>
          </p:cNvSpPr>
          <p:nvPr/>
        </p:nvSpPr>
        <p:spPr bwMode="auto">
          <a:xfrm>
            <a:off x="5791200" y="28956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2" name="Rectangle 51"/>
          <p:cNvSpPr>
            <a:spLocks noChangeAspect="1"/>
          </p:cNvSpPr>
          <p:nvPr/>
        </p:nvSpPr>
        <p:spPr bwMode="auto">
          <a:xfrm>
            <a:off x="3886200" y="19812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01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Frames and framing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Addressing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Routing </a:t>
            </a:r>
          </a:p>
          <a:p>
            <a:r>
              <a:rPr lang="en-US" dirty="0"/>
              <a:t>Forwarding </a:t>
            </a:r>
          </a:p>
          <a:p>
            <a:r>
              <a:rPr lang="en-US" dirty="0"/>
              <a:t>Discovery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518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But isn’t flooding wasteful?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Yes, but we can use it to bootstrap more efficient forwarding</a:t>
            </a:r>
          </a:p>
          <a:p>
            <a:r>
              <a:rPr lang="en-US" dirty="0">
                <a:solidFill>
                  <a:srgbClr val="0000FF"/>
                </a:solidFill>
              </a:rPr>
              <a:t>Idea</a:t>
            </a:r>
            <a:r>
              <a:rPr lang="en-US" dirty="0"/>
              <a:t>: watch the packets going by, and learn from them</a:t>
            </a:r>
          </a:p>
          <a:p>
            <a:pPr lvl="1"/>
            <a:r>
              <a:rPr lang="en-US" dirty="0"/>
              <a:t>If node A sees a packet from node B come in on a particular port, it knows what port to use to reach B!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Works because there is only one path to B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6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Nodes can “learn” routes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Switch learns how to reach nodes by remembering where flooding packets came from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If flood packet </a:t>
            </a:r>
            <a:r>
              <a:rPr lang="en-US" u="sng" dirty="0">
                <a:solidFill>
                  <a:srgbClr val="0000FF"/>
                </a:solidFill>
              </a:rPr>
              <a:t>from</a:t>
            </a:r>
            <a:r>
              <a:rPr lang="en-US" dirty="0">
                <a:solidFill>
                  <a:srgbClr val="0000FF"/>
                </a:solidFill>
              </a:rPr>
              <a:t> Node A entered switch on port 4, then switch uses port 4 to send to Node A</a:t>
            </a:r>
          </a:p>
          <a:p>
            <a:pPr lvl="1"/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434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Flood first packet to node you are trying to reach</a:t>
            </a:r>
          </a:p>
          <a:p>
            <a:r>
              <a:rPr lang="en-US" dirty="0"/>
              <a:t>All switches learn where you are</a:t>
            </a:r>
          </a:p>
          <a:p>
            <a:r>
              <a:rPr lang="en-US" dirty="0"/>
              <a:t>When destination responds, some switches learn where it is…</a:t>
            </a:r>
          </a:p>
          <a:p>
            <a:pPr lvl="1"/>
            <a:r>
              <a:rPr lang="en-US" dirty="0"/>
              <a:t>Only some switches, because packet to you follows direct path, and is not flooded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1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from flood packets</a:t>
            </a:r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0" y="5181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0" y="3124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0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0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2"/>
            <a:ext cx="5557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0" y="3048000"/>
            <a:ext cx="5334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0" y="3254282"/>
            <a:ext cx="708118" cy="1393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Rectangle 36"/>
          <p:cNvSpPr>
            <a:spLocks noChangeAspect="1"/>
          </p:cNvSpPr>
          <p:nvPr/>
        </p:nvSpPr>
        <p:spPr bwMode="auto">
          <a:xfrm>
            <a:off x="2438400" y="30480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>
            <a:spLocks noChangeAspect="1"/>
          </p:cNvSpPr>
          <p:nvPr/>
        </p:nvSpPr>
        <p:spPr bwMode="auto">
          <a:xfrm>
            <a:off x="2819400" y="36576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Rectangle 43"/>
          <p:cNvSpPr>
            <a:spLocks noChangeAspect="1"/>
          </p:cNvSpPr>
          <p:nvPr/>
        </p:nvSpPr>
        <p:spPr bwMode="auto">
          <a:xfrm>
            <a:off x="1600200" y="45720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Rectangle 44"/>
          <p:cNvSpPr>
            <a:spLocks noChangeAspect="1"/>
          </p:cNvSpPr>
          <p:nvPr/>
        </p:nvSpPr>
        <p:spPr bwMode="auto">
          <a:xfrm>
            <a:off x="1828800" y="18288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>
            <a:spLocks noChangeAspect="1"/>
          </p:cNvSpPr>
          <p:nvPr/>
        </p:nvSpPr>
        <p:spPr bwMode="auto">
          <a:xfrm>
            <a:off x="1143000" y="28956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7" name="Rectangle 46"/>
          <p:cNvSpPr>
            <a:spLocks noChangeAspect="1"/>
          </p:cNvSpPr>
          <p:nvPr/>
        </p:nvSpPr>
        <p:spPr bwMode="auto">
          <a:xfrm>
            <a:off x="2590800" y="51816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Rectangle 47"/>
          <p:cNvSpPr>
            <a:spLocks noChangeAspect="1"/>
          </p:cNvSpPr>
          <p:nvPr/>
        </p:nvSpPr>
        <p:spPr bwMode="auto">
          <a:xfrm>
            <a:off x="3886200" y="43434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9" name="Rectangle 48"/>
          <p:cNvSpPr>
            <a:spLocks noChangeAspect="1"/>
          </p:cNvSpPr>
          <p:nvPr/>
        </p:nvSpPr>
        <p:spPr bwMode="auto">
          <a:xfrm>
            <a:off x="5181600" y="43434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ectangle 49"/>
          <p:cNvSpPr>
            <a:spLocks noChangeAspect="1"/>
          </p:cNvSpPr>
          <p:nvPr/>
        </p:nvSpPr>
        <p:spPr bwMode="auto">
          <a:xfrm>
            <a:off x="3810000" y="32004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1" name="Rectangle 50"/>
          <p:cNvSpPr>
            <a:spLocks noChangeAspect="1"/>
          </p:cNvSpPr>
          <p:nvPr/>
        </p:nvSpPr>
        <p:spPr bwMode="auto">
          <a:xfrm>
            <a:off x="5791200" y="28956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2" name="Rectangle 51"/>
          <p:cNvSpPr>
            <a:spLocks noChangeAspect="1"/>
          </p:cNvSpPr>
          <p:nvPr/>
        </p:nvSpPr>
        <p:spPr bwMode="auto">
          <a:xfrm>
            <a:off x="3886200" y="19812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0" y="44958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latin typeface="+mn-lt"/>
              </a:rPr>
              <a:t>Node A</a:t>
            </a:r>
          </a:p>
        </p:txBody>
      </p:sp>
      <p:sp>
        <p:nvSpPr>
          <p:cNvPr id="18" name="Rectangular Callout 17"/>
          <p:cNvSpPr/>
          <p:nvPr/>
        </p:nvSpPr>
        <p:spPr bwMode="auto">
          <a:xfrm>
            <a:off x="6261100" y="2057400"/>
            <a:ext cx="2895600" cy="1069848"/>
          </a:xfrm>
          <a:prstGeom prst="wedgeRectCallout">
            <a:avLst>
              <a:gd name="adj1" fmla="val -66009"/>
              <a:gd name="adj2" fmla="val 6368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Node A can be reached</a:t>
            </a:r>
          </a:p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 through this port</a:t>
            </a:r>
          </a:p>
        </p:txBody>
      </p:sp>
      <p:sp>
        <p:nvSpPr>
          <p:cNvPr id="53" name="Rectangular Callout 52"/>
          <p:cNvSpPr/>
          <p:nvPr/>
        </p:nvSpPr>
        <p:spPr bwMode="auto">
          <a:xfrm>
            <a:off x="2286000" y="1295400"/>
            <a:ext cx="2895600" cy="1069848"/>
          </a:xfrm>
          <a:prstGeom prst="wedgeRectCallout">
            <a:avLst>
              <a:gd name="adj1" fmla="val -35746"/>
              <a:gd name="adj2" fmla="val 144409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Node A can be reached</a:t>
            </a:r>
          </a:p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 through this 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715000"/>
            <a:ext cx="7924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/>
                <a:cs typeface="Arial"/>
              </a:rPr>
              <a:t>Once a node has sent a flood message, all other switches know how to reach it….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228600" y="31242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latin typeface="+mn-lt"/>
              </a:rPr>
              <a:t>Node B</a:t>
            </a:r>
          </a:p>
        </p:txBody>
      </p:sp>
    </p:spTree>
    <p:extLst>
      <p:ext uri="{BB962C8B-B14F-4D97-AF65-F5344CB8AC3E}">
        <p14:creationId xmlns:p14="http://schemas.microsoft.com/office/powerpoint/2010/main" val="1215304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18" grpId="0" animBg="1"/>
      <p:bldP spid="53" grpId="0" animBg="1"/>
      <p:bldP spid="2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B responds</a:t>
            </a: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0" y="3124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0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0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2"/>
            <a:ext cx="5557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0" y="3048000"/>
            <a:ext cx="5334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0" y="3254282"/>
            <a:ext cx="708118" cy="1393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Rectangle 36"/>
          <p:cNvSpPr>
            <a:spLocks noChangeAspect="1"/>
          </p:cNvSpPr>
          <p:nvPr/>
        </p:nvSpPr>
        <p:spPr bwMode="auto">
          <a:xfrm>
            <a:off x="2438400" y="30480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>
            <a:spLocks noChangeAspect="1"/>
          </p:cNvSpPr>
          <p:nvPr/>
        </p:nvSpPr>
        <p:spPr bwMode="auto">
          <a:xfrm>
            <a:off x="2819400" y="36576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>
            <a:spLocks noChangeAspect="1"/>
          </p:cNvSpPr>
          <p:nvPr/>
        </p:nvSpPr>
        <p:spPr bwMode="auto">
          <a:xfrm>
            <a:off x="1143000" y="28956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0" y="44958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latin typeface="+mn-lt"/>
              </a:rPr>
              <a:t>Node A</a:t>
            </a:r>
          </a:p>
        </p:txBody>
      </p:sp>
      <p:sp>
        <p:nvSpPr>
          <p:cNvPr id="53" name="Rectangular Callout 52"/>
          <p:cNvSpPr/>
          <p:nvPr/>
        </p:nvSpPr>
        <p:spPr bwMode="auto">
          <a:xfrm>
            <a:off x="2590800" y="1219200"/>
            <a:ext cx="2895600" cy="1069848"/>
          </a:xfrm>
          <a:prstGeom prst="wedgeRectCallout">
            <a:avLst>
              <a:gd name="adj1" fmla="val -79606"/>
              <a:gd name="adj2" fmla="val 38759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Node B can be reached</a:t>
            </a:r>
          </a:p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 through this 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715000"/>
            <a:ext cx="7924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/>
                <a:cs typeface="Arial"/>
              </a:rPr>
              <a:t>When a node responds, </a:t>
            </a:r>
            <a:r>
              <a:rPr lang="en-US" sz="2800" u="sng" dirty="0">
                <a:latin typeface="Arial"/>
                <a:cs typeface="Arial"/>
              </a:rPr>
              <a:t>some</a:t>
            </a:r>
            <a:r>
              <a:rPr lang="en-US" sz="2800" dirty="0">
                <a:latin typeface="Arial"/>
                <a:cs typeface="Arial"/>
              </a:rPr>
              <a:t> of the switches learn where it 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228600" y="31242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latin typeface="+mn-lt"/>
              </a:rPr>
              <a:t>Node B</a:t>
            </a:r>
          </a:p>
        </p:txBody>
      </p:sp>
      <p:sp>
        <p:nvSpPr>
          <p:cNvPr id="54" name="Rectangular Callout 53"/>
          <p:cNvSpPr/>
          <p:nvPr/>
        </p:nvSpPr>
        <p:spPr bwMode="auto">
          <a:xfrm>
            <a:off x="2590800" y="1219200"/>
            <a:ext cx="2895600" cy="1069848"/>
          </a:xfrm>
          <a:prstGeom prst="wedgeRectCallout">
            <a:avLst>
              <a:gd name="adj1" fmla="val -55044"/>
              <a:gd name="adj2" fmla="val 114732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Node B can be reached</a:t>
            </a:r>
          </a:p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 through this port</a:t>
            </a:r>
          </a:p>
        </p:txBody>
      </p:sp>
      <p:sp>
        <p:nvSpPr>
          <p:cNvPr id="42" name="Rectangular Callout 41"/>
          <p:cNvSpPr/>
          <p:nvPr/>
        </p:nvSpPr>
        <p:spPr bwMode="auto">
          <a:xfrm>
            <a:off x="2590800" y="1219200"/>
            <a:ext cx="2895600" cy="1069848"/>
          </a:xfrm>
          <a:prstGeom prst="wedgeRectCallout">
            <a:avLst>
              <a:gd name="adj1" fmla="val -41009"/>
              <a:gd name="adj2" fmla="val 168151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Node B can be reached</a:t>
            </a:r>
          </a:p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 through this port</a:t>
            </a:r>
          </a:p>
        </p:txBody>
      </p:sp>
      <p:sp>
        <p:nvSpPr>
          <p:cNvPr id="45" name="Rectangle 44"/>
          <p:cNvSpPr>
            <a:spLocks noChangeAspect="1"/>
          </p:cNvSpPr>
          <p:nvPr/>
        </p:nvSpPr>
        <p:spPr bwMode="auto">
          <a:xfrm>
            <a:off x="1828800" y="18288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5" name="Rectangle 54"/>
          <p:cNvSpPr>
            <a:spLocks noChangeAspect="1"/>
          </p:cNvSpPr>
          <p:nvPr/>
        </p:nvSpPr>
        <p:spPr bwMode="auto">
          <a:xfrm>
            <a:off x="3886200" y="42672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1" name="Rectangular Callout 40"/>
          <p:cNvSpPr/>
          <p:nvPr/>
        </p:nvSpPr>
        <p:spPr bwMode="auto">
          <a:xfrm>
            <a:off x="2590800" y="1219200"/>
            <a:ext cx="2895600" cy="1069848"/>
          </a:xfrm>
          <a:prstGeom prst="wedgeRectCallout">
            <a:avLst>
              <a:gd name="adj1" fmla="val -12062"/>
              <a:gd name="adj2" fmla="val 232254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Node B can be reached</a:t>
            </a:r>
          </a:p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 through this port</a:t>
            </a:r>
          </a:p>
        </p:txBody>
      </p:sp>
      <p:sp>
        <p:nvSpPr>
          <p:cNvPr id="56" name="Oval 55"/>
          <p:cNvSpPr/>
          <p:nvPr/>
        </p:nvSpPr>
        <p:spPr bwMode="auto">
          <a:xfrm>
            <a:off x="2590800" y="5181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14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3" grpId="0" animBg="1"/>
      <p:bldP spid="46" grpId="0" animBg="1"/>
      <p:bldP spid="53" grpId="0" animBg="1"/>
      <p:bldP spid="54" grpId="0" animBg="1"/>
      <p:bldP spid="42" grpId="0" animBg="1"/>
      <p:bldP spid="45" grpId="0" animBg="1"/>
      <p:bldP spid="55" grpId="0" animBg="1"/>
      <p:bldP spid="4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Ethernet switches are “self learning”</a:t>
            </a:r>
            <a:endParaRPr lang="en-US" dirty="0"/>
          </a:p>
        </p:txBody>
      </p:sp>
      <p:sp>
        <p:nvSpPr>
          <p:cNvPr id="665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packet arrives:</a:t>
            </a:r>
          </a:p>
          <a:p>
            <a:pPr lvl="1"/>
            <a:r>
              <a:rPr lang="en-US" dirty="0"/>
              <a:t>Inspect source MAC address, associate with incoming port</a:t>
            </a:r>
          </a:p>
          <a:p>
            <a:pPr lvl="1"/>
            <a:r>
              <a:rPr lang="en-US" dirty="0"/>
              <a:t>Store mapping in the switch table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solidFill>
                  <a:srgbClr val="0000FF"/>
                </a:solidFill>
              </a:rPr>
              <a:t>time-to-live</a:t>
            </a:r>
            <a:r>
              <a:rPr lang="en-US" dirty="0"/>
              <a:t> field to eventually forget mapping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6569" name="Rectangle 4"/>
          <p:cNvSpPr>
            <a:spLocks noChangeArrowheads="1"/>
          </p:cNvSpPr>
          <p:nvPr/>
        </p:nvSpPr>
        <p:spPr bwMode="auto">
          <a:xfrm>
            <a:off x="3975100" y="5227638"/>
            <a:ext cx="355600" cy="88900"/>
          </a:xfrm>
          <a:prstGeom prst="rect">
            <a:avLst/>
          </a:prstGeom>
          <a:solidFill>
            <a:srgbClr val="CC99FF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l"/>
          </a:scene3d>
          <a:sp3d extrusionH="430200" prstMaterial="legacyMatte">
            <a:bevelT w="13500" h="13500" prst="angle"/>
            <a:bevelB w="13500" h="13500" prst="angle"/>
            <a:extrusionClr>
              <a:srgbClr val="CC99FF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graphicFrame>
        <p:nvGraphicFramePr>
          <p:cNvPr id="66562" name="Object 2"/>
          <p:cNvGraphicFramePr>
            <a:graphicFrameLocks noChangeAspect="1"/>
          </p:cNvGraphicFramePr>
          <p:nvPr/>
        </p:nvGraphicFramePr>
        <p:xfrm>
          <a:off x="3968750" y="3946525"/>
          <a:ext cx="5127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665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3946525"/>
                        <a:ext cx="5127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3" name="Object 3"/>
          <p:cNvGraphicFramePr>
            <a:graphicFrameLocks noChangeAspect="1"/>
          </p:cNvGraphicFramePr>
          <p:nvPr/>
        </p:nvGraphicFramePr>
        <p:xfrm>
          <a:off x="3998913" y="6207125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665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6207125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4" name="Object 4"/>
          <p:cNvGraphicFramePr>
            <a:graphicFrameLocks noChangeAspect="1"/>
          </p:cNvGraphicFramePr>
          <p:nvPr/>
        </p:nvGraphicFramePr>
        <p:xfrm>
          <a:off x="5383213" y="4975225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665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213" y="4975225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2551113" y="4986338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307948" imgH="1084823" progId="MS_ClipArt_Gallery.2">
                  <p:embed/>
                </p:oleObj>
              </mc:Choice>
              <mc:Fallback>
                <p:oleObj name="Clip" r:id="rId5" imgW="1307948" imgH="1084823" progId="MS_ClipArt_Gallery.2">
                  <p:embed/>
                  <p:pic>
                    <p:nvPicPr>
                      <p:cNvPr id="665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3" y="4986338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0" name="Rectangle 9"/>
          <p:cNvSpPr>
            <a:spLocks noChangeArrowheads="1"/>
          </p:cNvSpPr>
          <p:nvPr/>
        </p:nvSpPr>
        <p:spPr bwMode="auto">
          <a:xfrm>
            <a:off x="3033713" y="5129213"/>
            <a:ext cx="153987" cy="131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1" name="Rectangle 10"/>
          <p:cNvSpPr>
            <a:spLocks noChangeArrowheads="1"/>
          </p:cNvSpPr>
          <p:nvPr/>
        </p:nvSpPr>
        <p:spPr bwMode="auto">
          <a:xfrm>
            <a:off x="5289550" y="5129213"/>
            <a:ext cx="153988" cy="131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2" name="Rectangle 11"/>
          <p:cNvSpPr>
            <a:spLocks noChangeArrowheads="1"/>
          </p:cNvSpPr>
          <p:nvPr/>
        </p:nvSpPr>
        <p:spPr bwMode="auto">
          <a:xfrm>
            <a:off x="4210050" y="4386263"/>
            <a:ext cx="120650" cy="2079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3" name="Rectangle 12"/>
          <p:cNvSpPr>
            <a:spLocks noChangeArrowheads="1"/>
          </p:cNvSpPr>
          <p:nvPr/>
        </p:nvSpPr>
        <p:spPr bwMode="auto">
          <a:xfrm>
            <a:off x="4217988" y="6013450"/>
            <a:ext cx="120650" cy="2079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4" name="Line 13"/>
          <p:cNvSpPr>
            <a:spLocks noChangeShapeType="1"/>
          </p:cNvSpPr>
          <p:nvPr/>
        </p:nvSpPr>
        <p:spPr bwMode="auto">
          <a:xfrm>
            <a:off x="3187700" y="5184775"/>
            <a:ext cx="842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5" name="Line 14"/>
          <p:cNvSpPr>
            <a:spLocks noChangeShapeType="1"/>
          </p:cNvSpPr>
          <p:nvPr/>
        </p:nvSpPr>
        <p:spPr bwMode="auto">
          <a:xfrm>
            <a:off x="4256088" y="4597400"/>
            <a:ext cx="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6" name="Line 15"/>
          <p:cNvSpPr>
            <a:spLocks noChangeShapeType="1"/>
          </p:cNvSpPr>
          <p:nvPr/>
        </p:nvSpPr>
        <p:spPr bwMode="auto">
          <a:xfrm flipH="1">
            <a:off x="4419600" y="5184775"/>
            <a:ext cx="852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7" name="Line 16"/>
          <p:cNvSpPr>
            <a:spLocks noChangeShapeType="1"/>
          </p:cNvSpPr>
          <p:nvPr/>
        </p:nvSpPr>
        <p:spPr bwMode="auto">
          <a:xfrm flipV="1">
            <a:off x="4256088" y="5305425"/>
            <a:ext cx="11112" cy="687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8" name="Text Box 17"/>
          <p:cNvSpPr txBox="1">
            <a:spLocks noChangeArrowheads="1"/>
          </p:cNvSpPr>
          <p:nvPr/>
        </p:nvSpPr>
        <p:spPr bwMode="auto">
          <a:xfrm>
            <a:off x="2090738" y="49260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A</a:t>
            </a:r>
          </a:p>
        </p:txBody>
      </p:sp>
      <p:sp>
        <p:nvSpPr>
          <p:cNvPr id="66579" name="Text Box 18"/>
          <p:cNvSpPr txBox="1">
            <a:spLocks noChangeArrowheads="1"/>
          </p:cNvSpPr>
          <p:nvPr/>
        </p:nvSpPr>
        <p:spPr bwMode="auto">
          <a:xfrm>
            <a:off x="4587875" y="388937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B</a:t>
            </a:r>
          </a:p>
        </p:txBody>
      </p:sp>
      <p:sp>
        <p:nvSpPr>
          <p:cNvPr id="66580" name="Text Box 19"/>
          <p:cNvSpPr txBox="1">
            <a:spLocks noChangeArrowheads="1"/>
          </p:cNvSpPr>
          <p:nvPr/>
        </p:nvSpPr>
        <p:spPr bwMode="auto">
          <a:xfrm>
            <a:off x="6008688" y="49641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C</a:t>
            </a:r>
          </a:p>
        </p:txBody>
      </p:sp>
      <p:sp>
        <p:nvSpPr>
          <p:cNvPr id="66581" name="Text Box 20"/>
          <p:cNvSpPr txBox="1">
            <a:spLocks noChangeArrowheads="1"/>
          </p:cNvSpPr>
          <p:nvPr/>
        </p:nvSpPr>
        <p:spPr bwMode="auto">
          <a:xfrm>
            <a:off x="4548188" y="615473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D</a:t>
            </a:r>
          </a:p>
        </p:txBody>
      </p:sp>
      <p:sp>
        <p:nvSpPr>
          <p:cNvPr id="66582" name="Rectangle 21"/>
          <p:cNvSpPr>
            <a:spLocks noChangeArrowheads="1"/>
          </p:cNvSpPr>
          <p:nvPr/>
        </p:nvSpPr>
        <p:spPr bwMode="auto">
          <a:xfrm>
            <a:off x="3421063" y="4927600"/>
            <a:ext cx="460375" cy="15398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3" name="Rectangle 22"/>
          <p:cNvSpPr>
            <a:spLocks noChangeArrowheads="1"/>
          </p:cNvSpPr>
          <p:nvPr/>
        </p:nvSpPr>
        <p:spPr bwMode="auto">
          <a:xfrm>
            <a:off x="3727450" y="4927600"/>
            <a:ext cx="153988" cy="15398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4" name="Text Box 23"/>
          <p:cNvSpPr txBox="1">
            <a:spLocks noChangeArrowheads="1"/>
          </p:cNvSpPr>
          <p:nvPr/>
        </p:nvSpPr>
        <p:spPr bwMode="auto">
          <a:xfrm>
            <a:off x="457200" y="3886200"/>
            <a:ext cx="2814638" cy="707886"/>
          </a:xfrm>
          <a:prstGeom prst="rect">
            <a:avLst/>
          </a:prstGeom>
          <a:noFill/>
          <a:ln w="38100">
            <a:solidFill>
              <a:srgbClr val="D3A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dirty="0">
                <a:latin typeface="Helvetica" charset="0"/>
              </a:rPr>
              <a:t>Packet tells switch how to reach A.</a:t>
            </a:r>
          </a:p>
        </p:txBody>
      </p:sp>
      <p:sp>
        <p:nvSpPr>
          <p:cNvPr id="66585" name="Line 24"/>
          <p:cNvSpPr>
            <a:spLocks noChangeShapeType="1"/>
          </p:cNvSpPr>
          <p:nvPr/>
        </p:nvSpPr>
        <p:spPr bwMode="auto">
          <a:xfrm>
            <a:off x="3227388" y="4695825"/>
            <a:ext cx="6921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6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8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layer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Frames and framing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Addressing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Routing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Forwarding </a:t>
            </a:r>
          </a:p>
          <a:p>
            <a:r>
              <a:rPr lang="en-US" dirty="0"/>
              <a:t>Discovery and bootstrapping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574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Discovery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host is “born” knowing only its MAC address</a:t>
            </a:r>
          </a:p>
          <a:p>
            <a:r>
              <a:rPr lang="en-US" dirty="0"/>
              <a:t>Must </a:t>
            </a:r>
            <a:r>
              <a:rPr lang="en-US" dirty="0">
                <a:solidFill>
                  <a:srgbClr val="0000FF"/>
                </a:solidFill>
              </a:rPr>
              <a:t>discover</a:t>
            </a:r>
            <a:r>
              <a:rPr lang="en-US" dirty="0"/>
              <a:t> lots of information before it can communicate with a remote host B</a:t>
            </a:r>
          </a:p>
          <a:p>
            <a:pPr lvl="1"/>
            <a:r>
              <a:rPr lang="en-US" dirty="0"/>
              <a:t>What is my IP address?  </a:t>
            </a:r>
          </a:p>
          <a:p>
            <a:pPr lvl="1"/>
            <a:r>
              <a:rPr lang="en-US" dirty="0"/>
              <a:t>What is B’s IP address? (remote) </a:t>
            </a:r>
          </a:p>
          <a:p>
            <a:pPr lvl="1"/>
            <a:r>
              <a:rPr lang="en-US" dirty="0"/>
              <a:t>What is B’s MAC address? (if B is local)</a:t>
            </a:r>
          </a:p>
          <a:p>
            <a:pPr lvl="1"/>
            <a:r>
              <a:rPr lang="en-US" dirty="0"/>
              <a:t>What is my first-hop router’s address? (if B is not local)</a:t>
            </a:r>
          </a:p>
          <a:p>
            <a:pPr lvl="1"/>
            <a:r>
              <a:rPr lang="en-US" dirty="0"/>
              <a:t>…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ARP and DHCP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layer discovery protocols</a:t>
            </a:r>
          </a:p>
          <a:p>
            <a:pPr lvl="1"/>
            <a:r>
              <a:rPr lang="en-US" dirty="0"/>
              <a:t>ARP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Address Resolution Protocol</a:t>
            </a:r>
          </a:p>
          <a:p>
            <a:pPr lvl="1"/>
            <a:r>
              <a:rPr lang="en-US" dirty="0"/>
              <a:t>DHCP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Dynamic Host Configuration Protocol</a:t>
            </a:r>
          </a:p>
          <a:p>
            <a:pPr lvl="1"/>
            <a:r>
              <a:rPr lang="en-US" dirty="0"/>
              <a:t>Confined to a single local-area network (LAN) </a:t>
            </a:r>
          </a:p>
          <a:p>
            <a:pPr lvl="1"/>
            <a:r>
              <a:rPr lang="en-US" dirty="0"/>
              <a:t>Rely on broadcast capability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145019" y="4609912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278619" y="4609912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3145019" y="4902012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5278619" y="4902012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3360919" y="5067112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5494519" y="5067112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3018019" y="5587812"/>
            <a:ext cx="2819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4547470" y="5575112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4058063" y="4628962"/>
            <a:ext cx="70852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dirty="0">
                <a:solidFill>
                  <a:srgbClr val="000000"/>
                </a:solidFill>
              </a:rPr>
              <a:t>Hosts</a:t>
            </a: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3352800" y="5949619"/>
            <a:ext cx="900889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2000" dirty="0">
                <a:solidFill>
                  <a:srgbClr val="000000"/>
                </a:solidFill>
              </a:rPr>
              <a:t>Router</a:t>
            </a:r>
          </a:p>
        </p:txBody>
      </p:sp>
      <p:sp>
        <p:nvSpPr>
          <p:cNvPr id="14" name="Oval 25"/>
          <p:cNvSpPr>
            <a:spLocks noChangeArrowheads="1"/>
          </p:cNvSpPr>
          <p:nvPr/>
        </p:nvSpPr>
        <p:spPr bwMode="auto">
          <a:xfrm>
            <a:off x="4335803" y="5981512"/>
            <a:ext cx="431800" cy="431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12"/>
          <p:cNvSpPr>
            <a:spLocks noChangeShapeType="1"/>
          </p:cNvSpPr>
          <p:nvPr/>
        </p:nvSpPr>
        <p:spPr bwMode="auto">
          <a:xfrm>
            <a:off x="4547470" y="6396379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4730315" y="4616322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7"/>
          <p:cNvSpPr>
            <a:spLocks noChangeShapeType="1"/>
          </p:cNvSpPr>
          <p:nvPr/>
        </p:nvSpPr>
        <p:spPr bwMode="auto">
          <a:xfrm>
            <a:off x="4730315" y="4908422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Line 9"/>
          <p:cNvSpPr>
            <a:spLocks noChangeShapeType="1"/>
          </p:cNvSpPr>
          <p:nvPr/>
        </p:nvSpPr>
        <p:spPr bwMode="auto">
          <a:xfrm>
            <a:off x="4946215" y="5073522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3662369" y="4616322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6"/>
          <p:cNvSpPr>
            <a:spLocks noChangeShapeType="1"/>
          </p:cNvSpPr>
          <p:nvPr/>
        </p:nvSpPr>
        <p:spPr bwMode="auto">
          <a:xfrm>
            <a:off x="3662369" y="4908422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8"/>
          <p:cNvSpPr>
            <a:spLocks noChangeShapeType="1"/>
          </p:cNvSpPr>
          <p:nvPr/>
        </p:nvSpPr>
        <p:spPr bwMode="auto">
          <a:xfrm>
            <a:off x="3878269" y="5073522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5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 animBg="1"/>
      <p:bldP spid="20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ARP and DHCP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layer discovery protocols</a:t>
            </a:r>
          </a:p>
          <a:p>
            <a:r>
              <a:rPr lang="en-US" dirty="0"/>
              <a:t>Serve two functions </a:t>
            </a:r>
          </a:p>
          <a:p>
            <a:pPr lvl="1"/>
            <a:r>
              <a:rPr lang="en-US" dirty="0"/>
              <a:t>Discovery of local end-hosts</a:t>
            </a:r>
          </a:p>
          <a:p>
            <a:pPr lvl="1"/>
            <a:r>
              <a:rPr lang="en-US" dirty="0"/>
              <a:t>Bootstrap communication with remote hosts</a:t>
            </a:r>
          </a:p>
          <a:p>
            <a:pPr lvl="2"/>
            <a:r>
              <a:rPr lang="en-US" dirty="0"/>
              <a:t>What’s my IP address?</a:t>
            </a:r>
          </a:p>
          <a:p>
            <a:pPr lvl="2"/>
            <a:r>
              <a:rPr lang="en-US" dirty="0"/>
              <a:t>Who/where is my local DNS server?</a:t>
            </a:r>
          </a:p>
          <a:p>
            <a:pPr lvl="2"/>
            <a:r>
              <a:rPr lang="en-US" dirty="0"/>
              <a:t>Who/where is my first hop router? 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8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DHCP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Host Configuration Protocol</a:t>
            </a:r>
          </a:p>
          <a:p>
            <a:pPr lvl="1"/>
            <a:r>
              <a:rPr lang="en-US" dirty="0"/>
              <a:t>Defined in RFC 2131</a:t>
            </a:r>
          </a:p>
          <a:p>
            <a:r>
              <a:rPr lang="en-US" dirty="0"/>
              <a:t>A host uses DHCP to discover</a:t>
            </a:r>
          </a:p>
          <a:p>
            <a:pPr lvl="1"/>
            <a:r>
              <a:rPr lang="en-US" dirty="0"/>
              <a:t>Its own IP address </a:t>
            </a:r>
          </a:p>
          <a:p>
            <a:pPr lvl="1"/>
            <a:r>
              <a:rPr lang="en-US" dirty="0"/>
              <a:t>Its netmask</a:t>
            </a:r>
          </a:p>
          <a:p>
            <a:pPr lvl="1"/>
            <a:r>
              <a:rPr lang="en-US" dirty="0"/>
              <a:t>IP address(</a:t>
            </a:r>
            <a:r>
              <a:rPr lang="en-US" dirty="0" err="1"/>
              <a:t>es</a:t>
            </a:r>
            <a:r>
              <a:rPr lang="en-US" dirty="0"/>
              <a:t>) for its local DNS name server(s) </a:t>
            </a:r>
          </a:p>
          <a:p>
            <a:pPr lvl="1"/>
            <a:r>
              <a:rPr lang="en-US" dirty="0"/>
              <a:t>IP address(</a:t>
            </a:r>
            <a:r>
              <a:rPr lang="en-US" dirty="0" err="1"/>
              <a:t>es</a:t>
            </a:r>
            <a:r>
              <a:rPr lang="en-US" dirty="0"/>
              <a:t>) for its first-hop “default” router(s) </a:t>
            </a:r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0A2A182-9FB0-BAF8-9EAE-A06A2377DB72}"/>
                  </a:ext>
                </a:extLst>
              </p14:cNvPr>
              <p14:cNvContentPartPr/>
              <p14:nvPr/>
            </p14:nvContentPartPr>
            <p14:xfrm>
              <a:off x="4026960" y="2964960"/>
              <a:ext cx="5086440" cy="573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0A2A182-9FB0-BAF8-9EAE-A06A2377DB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17600" y="2955600"/>
                <a:ext cx="5105160" cy="59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57660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1981200" y="2209800"/>
            <a:ext cx="759824" cy="52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DHCP</a:t>
            </a:r>
            <a:br>
              <a:rPr lang="en-US" sz="1400" b="0" dirty="0">
                <a:solidFill>
                  <a:srgbClr val="000000"/>
                </a:solidFill>
              </a:rPr>
            </a:br>
            <a:r>
              <a:rPr lang="en-US" sz="1400" b="0" dirty="0">
                <a:solidFill>
                  <a:srgbClr val="000000"/>
                </a:solidFill>
              </a:rPr>
              <a:t>Server </a:t>
            </a:r>
          </a:p>
        </p:txBody>
      </p:sp>
      <p:sp>
        <p:nvSpPr>
          <p:cNvPr id="33" name="Rectangle 13"/>
          <p:cNvSpPr>
            <a:spLocks noChangeArrowheads="1"/>
          </p:cNvSpPr>
          <p:nvPr/>
        </p:nvSpPr>
        <p:spPr bwMode="auto">
          <a:xfrm>
            <a:off x="6232135" y="2252563"/>
            <a:ext cx="759824" cy="52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DNS</a:t>
            </a:r>
            <a:br>
              <a:rPr lang="en-US" sz="1400" b="0" dirty="0">
                <a:solidFill>
                  <a:srgbClr val="000000"/>
                </a:solidFill>
              </a:rPr>
            </a:br>
            <a:r>
              <a:rPr lang="en-US" sz="1400" b="0" dirty="0">
                <a:solidFill>
                  <a:srgbClr val="000000"/>
                </a:solidFill>
              </a:rPr>
              <a:t>Server </a:t>
            </a:r>
          </a:p>
        </p:txBody>
      </p:sp>
      <p:sp>
        <p:nvSpPr>
          <p:cNvPr id="40" name="Title 3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we there yet?</a:t>
            </a:r>
          </a:p>
        </p:txBody>
      </p:sp>
      <p:sp>
        <p:nvSpPr>
          <p:cNvPr id="75" name="Slide Number Placeholder 7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2" name="Rectangle 4"/>
          <p:cNvSpPr>
            <a:spLocks noChangeArrowheads="1"/>
          </p:cNvSpPr>
          <p:nvPr/>
        </p:nvSpPr>
        <p:spPr bwMode="auto">
          <a:xfrm>
            <a:off x="2998752" y="276671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3" name="Rectangle 5"/>
          <p:cNvSpPr>
            <a:spLocks noChangeArrowheads="1"/>
          </p:cNvSpPr>
          <p:nvPr/>
        </p:nvSpPr>
        <p:spPr bwMode="auto">
          <a:xfrm>
            <a:off x="4927980" y="276671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4" name="Line 6"/>
          <p:cNvSpPr>
            <a:spLocks noChangeShapeType="1"/>
          </p:cNvSpPr>
          <p:nvPr/>
        </p:nvSpPr>
        <p:spPr bwMode="auto">
          <a:xfrm>
            <a:off x="2998752" y="305881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5" name="Line 7"/>
          <p:cNvSpPr>
            <a:spLocks noChangeShapeType="1"/>
          </p:cNvSpPr>
          <p:nvPr/>
        </p:nvSpPr>
        <p:spPr bwMode="auto">
          <a:xfrm>
            <a:off x="4927980" y="305881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6" name="Line 8"/>
          <p:cNvSpPr>
            <a:spLocks noChangeShapeType="1"/>
          </p:cNvSpPr>
          <p:nvPr/>
        </p:nvSpPr>
        <p:spPr bwMode="auto">
          <a:xfrm>
            <a:off x="3214652" y="322391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7" name="Line 9"/>
          <p:cNvSpPr>
            <a:spLocks noChangeShapeType="1"/>
          </p:cNvSpPr>
          <p:nvPr/>
        </p:nvSpPr>
        <p:spPr bwMode="auto">
          <a:xfrm>
            <a:off x="5143880" y="322391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8" name="Line 10"/>
          <p:cNvSpPr>
            <a:spLocks noChangeShapeType="1"/>
          </p:cNvSpPr>
          <p:nvPr/>
        </p:nvSpPr>
        <p:spPr bwMode="auto">
          <a:xfrm>
            <a:off x="2043476" y="3731911"/>
            <a:ext cx="4911808" cy="127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9" name="Line 12"/>
          <p:cNvSpPr>
            <a:spLocks noChangeShapeType="1"/>
          </p:cNvSpPr>
          <p:nvPr/>
        </p:nvSpPr>
        <p:spPr bwMode="auto">
          <a:xfrm>
            <a:off x="4401203" y="3731911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3433619" y="4106418"/>
            <a:ext cx="71974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Router</a:t>
            </a:r>
          </a:p>
        </p:txBody>
      </p:sp>
      <p:sp>
        <p:nvSpPr>
          <p:cNvPr id="51" name="Oval 25"/>
          <p:cNvSpPr>
            <a:spLocks noChangeArrowheads="1"/>
          </p:cNvSpPr>
          <p:nvPr/>
        </p:nvSpPr>
        <p:spPr bwMode="auto">
          <a:xfrm>
            <a:off x="4189536" y="4038600"/>
            <a:ext cx="431800" cy="431800"/>
          </a:xfrm>
          <a:prstGeom prst="ellipse">
            <a:avLst/>
          </a:prstGeom>
          <a:solidFill>
            <a:srgbClr val="D3A600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2" name="Rectangle 5"/>
          <p:cNvSpPr>
            <a:spLocks noChangeArrowheads="1"/>
          </p:cNvSpPr>
          <p:nvPr/>
        </p:nvSpPr>
        <p:spPr bwMode="auto">
          <a:xfrm>
            <a:off x="4379676" y="277312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3" name="Line 7"/>
          <p:cNvSpPr>
            <a:spLocks noChangeShapeType="1"/>
          </p:cNvSpPr>
          <p:nvPr/>
        </p:nvSpPr>
        <p:spPr bwMode="auto">
          <a:xfrm>
            <a:off x="4379676" y="306522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4" name="Line 9"/>
          <p:cNvSpPr>
            <a:spLocks noChangeShapeType="1"/>
          </p:cNvSpPr>
          <p:nvPr/>
        </p:nvSpPr>
        <p:spPr bwMode="auto">
          <a:xfrm>
            <a:off x="4595576" y="323032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5" name="Rectangle 4"/>
          <p:cNvSpPr>
            <a:spLocks noChangeArrowheads="1"/>
          </p:cNvSpPr>
          <p:nvPr/>
        </p:nvSpPr>
        <p:spPr bwMode="auto">
          <a:xfrm>
            <a:off x="3516102" y="2773121"/>
            <a:ext cx="431800" cy="4318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6" name="Line 6"/>
          <p:cNvSpPr>
            <a:spLocks noChangeShapeType="1"/>
          </p:cNvSpPr>
          <p:nvPr/>
        </p:nvSpPr>
        <p:spPr bwMode="auto">
          <a:xfrm>
            <a:off x="3516102" y="306522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7" name="Line 8"/>
          <p:cNvSpPr>
            <a:spLocks noChangeShapeType="1"/>
          </p:cNvSpPr>
          <p:nvPr/>
        </p:nvSpPr>
        <p:spPr bwMode="auto">
          <a:xfrm>
            <a:off x="3732002" y="323032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8" name="Rectangle 13"/>
          <p:cNvSpPr>
            <a:spLocks noChangeArrowheads="1"/>
          </p:cNvSpPr>
          <p:nvPr/>
        </p:nvSpPr>
        <p:spPr bwMode="auto">
          <a:xfrm>
            <a:off x="4868738" y="2733775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59" name="Rectangle 13"/>
          <p:cNvSpPr>
            <a:spLocks noChangeArrowheads="1"/>
          </p:cNvSpPr>
          <p:nvPr/>
        </p:nvSpPr>
        <p:spPr bwMode="auto">
          <a:xfrm>
            <a:off x="4335032" y="2740185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60" name="Rectangle 13"/>
          <p:cNvSpPr>
            <a:spLocks noChangeArrowheads="1"/>
          </p:cNvSpPr>
          <p:nvPr/>
        </p:nvSpPr>
        <p:spPr bwMode="auto">
          <a:xfrm>
            <a:off x="3446695" y="2745094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61" name="Rectangle 13"/>
          <p:cNvSpPr>
            <a:spLocks noChangeArrowheads="1"/>
          </p:cNvSpPr>
          <p:nvPr/>
        </p:nvSpPr>
        <p:spPr bwMode="auto">
          <a:xfrm>
            <a:off x="2956783" y="2736905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62" name="Rectangle 5"/>
          <p:cNvSpPr>
            <a:spLocks noChangeArrowheads="1"/>
          </p:cNvSpPr>
          <p:nvPr/>
        </p:nvSpPr>
        <p:spPr bwMode="auto">
          <a:xfrm>
            <a:off x="2110884" y="2755758"/>
            <a:ext cx="431800" cy="431800"/>
          </a:xfrm>
          <a:prstGeom prst="rect">
            <a:avLst/>
          </a:prstGeom>
          <a:solidFill>
            <a:srgbClr val="3366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63" name="Line 7"/>
          <p:cNvSpPr>
            <a:spLocks noChangeShapeType="1"/>
          </p:cNvSpPr>
          <p:nvPr/>
        </p:nvSpPr>
        <p:spPr bwMode="auto">
          <a:xfrm>
            <a:off x="2110884" y="3047858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64" name="Line 9"/>
          <p:cNvSpPr>
            <a:spLocks noChangeShapeType="1"/>
          </p:cNvSpPr>
          <p:nvPr/>
        </p:nvSpPr>
        <p:spPr bwMode="auto">
          <a:xfrm>
            <a:off x="2326784" y="3212958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65" name="Rectangle 5"/>
          <p:cNvSpPr>
            <a:spLocks noChangeArrowheads="1"/>
          </p:cNvSpPr>
          <p:nvPr/>
        </p:nvSpPr>
        <p:spPr bwMode="auto">
          <a:xfrm>
            <a:off x="6361819" y="2798521"/>
            <a:ext cx="431800" cy="431800"/>
          </a:xfrm>
          <a:prstGeom prst="rect">
            <a:avLst/>
          </a:prstGeom>
          <a:solidFill>
            <a:srgbClr val="008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66" name="Line 7"/>
          <p:cNvSpPr>
            <a:spLocks noChangeShapeType="1"/>
          </p:cNvSpPr>
          <p:nvPr/>
        </p:nvSpPr>
        <p:spPr bwMode="auto">
          <a:xfrm>
            <a:off x="6361819" y="309062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67" name="Line 9"/>
          <p:cNvSpPr>
            <a:spLocks noChangeShapeType="1"/>
          </p:cNvSpPr>
          <p:nvPr/>
        </p:nvSpPr>
        <p:spPr bwMode="auto">
          <a:xfrm>
            <a:off x="6577719" y="325572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5" name="Oval Callout 34"/>
          <p:cNvSpPr/>
          <p:nvPr/>
        </p:nvSpPr>
        <p:spPr>
          <a:xfrm>
            <a:off x="-33454" y="4038600"/>
            <a:ext cx="3677139" cy="1795414"/>
          </a:xfrm>
          <a:prstGeom prst="wedgeEllipseCallout">
            <a:avLst>
              <a:gd name="adj1" fmla="val 51764"/>
              <a:gd name="adj2" fmla="val -98733"/>
            </a:avLst>
          </a:prstGeom>
          <a:solidFill>
            <a:srgbClr val="D3A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>
              <a:solidFill>
                <a:schemeClr val="tx1"/>
              </a:solidFill>
            </a:endParaRPr>
          </a:p>
        </p:txBody>
      </p:sp>
      <p:sp>
        <p:nvSpPr>
          <p:cNvPr id="34" name="Rectangle 13"/>
          <p:cNvSpPr>
            <a:spLocks noChangeArrowheads="1"/>
          </p:cNvSpPr>
          <p:nvPr/>
        </p:nvSpPr>
        <p:spPr bwMode="auto">
          <a:xfrm>
            <a:off x="228600" y="4191000"/>
            <a:ext cx="3203909" cy="1567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sz="1600" b="0" u="sng" dirty="0"/>
              <a:t>What I learnt from DHCP</a:t>
            </a:r>
          </a:p>
          <a:p>
            <a:pPr algn="ctr" eaLnBrk="0" hangingPunct="0"/>
            <a:r>
              <a:rPr lang="en-US" sz="1600" b="0" dirty="0"/>
              <a:t>my IP: 1.2.3.48</a:t>
            </a:r>
          </a:p>
          <a:p>
            <a:pPr algn="ctr" eaLnBrk="0" hangingPunct="0"/>
            <a:r>
              <a:rPr lang="en-US" sz="1600" b="0" dirty="0" err="1"/>
              <a:t>netmask</a:t>
            </a:r>
            <a:r>
              <a:rPr lang="en-US" sz="1600" b="0" dirty="0"/>
              <a:t>: 1.2.3.0/24 (255.255.255.0)</a:t>
            </a:r>
          </a:p>
          <a:p>
            <a:pPr algn="ctr" eaLnBrk="0" hangingPunct="0"/>
            <a:r>
              <a:rPr lang="en-US" sz="1600" b="0" dirty="0"/>
              <a:t>Local DNS: 1.2.3.156</a:t>
            </a:r>
          </a:p>
          <a:p>
            <a:pPr algn="ctr" eaLnBrk="0" hangingPunct="0"/>
            <a:r>
              <a:rPr lang="en-US" sz="1600" b="0" dirty="0"/>
              <a:t>router: 1.2.3.19</a:t>
            </a:r>
          </a:p>
        </p:txBody>
      </p:sp>
    </p:spTree>
    <p:extLst>
      <p:ext uri="{BB962C8B-B14F-4D97-AF65-F5344CB8AC3E}">
        <p14:creationId xmlns:p14="http://schemas.microsoft.com/office/powerpoint/2010/main" val="105731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packets over </a:t>
            </a:r>
            <a:r>
              <a:rPr lang="en-US"/>
              <a:t>link </a:t>
            </a:r>
            <a:r>
              <a:rPr lang="en-US" altLang="zh-CN"/>
              <a:t>l</a:t>
            </a:r>
            <a:r>
              <a:rPr lang="en-US"/>
              <a:t>ayer</a:t>
            </a:r>
            <a:endParaRPr lang="en-US" dirty="0"/>
          </a:p>
        </p:txBody>
      </p:sp>
      <p:sp>
        <p:nvSpPr>
          <p:cNvPr id="6144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4800600"/>
            <a:ext cx="7924800" cy="1219200"/>
          </a:xfrm>
        </p:spPr>
        <p:txBody>
          <a:bodyPr/>
          <a:lstStyle/>
          <a:p>
            <a:r>
              <a:rPr lang="en-US"/>
              <a:t>Link layer only understands MAC addresses</a:t>
            </a:r>
          </a:p>
          <a:p>
            <a:pPr lvl="1"/>
            <a:r>
              <a:rPr lang="en-US" dirty="0"/>
              <a:t>Translate the destination IP address to MAC address</a:t>
            </a:r>
          </a:p>
          <a:p>
            <a:pPr lvl="1"/>
            <a:r>
              <a:rPr lang="en-US" dirty="0"/>
              <a:t>Encapsulate the IP packet in a link-level (Ethernet) frame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2998752" y="276671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4927980" y="276671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2" name="Line 6"/>
          <p:cNvSpPr>
            <a:spLocks noChangeShapeType="1"/>
          </p:cNvSpPr>
          <p:nvPr/>
        </p:nvSpPr>
        <p:spPr bwMode="auto">
          <a:xfrm>
            <a:off x="2998752" y="305881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>
            <a:off x="4927980" y="305881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4" name="Line 8"/>
          <p:cNvSpPr>
            <a:spLocks noChangeShapeType="1"/>
          </p:cNvSpPr>
          <p:nvPr/>
        </p:nvSpPr>
        <p:spPr bwMode="auto">
          <a:xfrm>
            <a:off x="3214652" y="322391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5" name="Line 9"/>
          <p:cNvSpPr>
            <a:spLocks noChangeShapeType="1"/>
          </p:cNvSpPr>
          <p:nvPr/>
        </p:nvSpPr>
        <p:spPr bwMode="auto">
          <a:xfrm>
            <a:off x="5143880" y="322391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>
            <a:off x="2043476" y="3731911"/>
            <a:ext cx="4911808" cy="127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7" name="Line 12"/>
          <p:cNvSpPr>
            <a:spLocks noChangeShapeType="1"/>
          </p:cNvSpPr>
          <p:nvPr/>
        </p:nvSpPr>
        <p:spPr bwMode="auto">
          <a:xfrm>
            <a:off x="4401203" y="3731911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3433619" y="4106418"/>
            <a:ext cx="71974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Router</a:t>
            </a:r>
          </a:p>
        </p:txBody>
      </p:sp>
      <p:sp>
        <p:nvSpPr>
          <p:cNvPr id="29" name="Oval 25"/>
          <p:cNvSpPr>
            <a:spLocks noChangeArrowheads="1"/>
          </p:cNvSpPr>
          <p:nvPr/>
        </p:nvSpPr>
        <p:spPr bwMode="auto">
          <a:xfrm>
            <a:off x="4189536" y="4038600"/>
            <a:ext cx="431800" cy="431800"/>
          </a:xfrm>
          <a:prstGeom prst="ellipse">
            <a:avLst/>
          </a:prstGeom>
          <a:solidFill>
            <a:srgbClr val="D3A600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4379676" y="277312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1" name="Line 7"/>
          <p:cNvSpPr>
            <a:spLocks noChangeShapeType="1"/>
          </p:cNvSpPr>
          <p:nvPr/>
        </p:nvSpPr>
        <p:spPr bwMode="auto">
          <a:xfrm>
            <a:off x="4379676" y="306522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2" name="Line 9"/>
          <p:cNvSpPr>
            <a:spLocks noChangeShapeType="1"/>
          </p:cNvSpPr>
          <p:nvPr/>
        </p:nvSpPr>
        <p:spPr bwMode="auto">
          <a:xfrm>
            <a:off x="4595576" y="323032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3516102" y="2773121"/>
            <a:ext cx="431800" cy="4318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4" name="Line 6"/>
          <p:cNvSpPr>
            <a:spLocks noChangeShapeType="1"/>
          </p:cNvSpPr>
          <p:nvPr/>
        </p:nvSpPr>
        <p:spPr bwMode="auto">
          <a:xfrm>
            <a:off x="3516102" y="306522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5" name="Line 8"/>
          <p:cNvSpPr>
            <a:spLocks noChangeShapeType="1"/>
          </p:cNvSpPr>
          <p:nvPr/>
        </p:nvSpPr>
        <p:spPr bwMode="auto">
          <a:xfrm>
            <a:off x="3732002" y="323032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6" name="Rectangle 13"/>
          <p:cNvSpPr>
            <a:spLocks noChangeArrowheads="1"/>
          </p:cNvSpPr>
          <p:nvPr/>
        </p:nvSpPr>
        <p:spPr bwMode="auto">
          <a:xfrm>
            <a:off x="4868738" y="2733775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37" name="Rectangle 13"/>
          <p:cNvSpPr>
            <a:spLocks noChangeArrowheads="1"/>
          </p:cNvSpPr>
          <p:nvPr/>
        </p:nvSpPr>
        <p:spPr bwMode="auto">
          <a:xfrm>
            <a:off x="4335032" y="2740185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38" name="Rectangle 13"/>
          <p:cNvSpPr>
            <a:spLocks noChangeArrowheads="1"/>
          </p:cNvSpPr>
          <p:nvPr/>
        </p:nvSpPr>
        <p:spPr bwMode="auto">
          <a:xfrm>
            <a:off x="3446695" y="2745094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39" name="Rectangle 13"/>
          <p:cNvSpPr>
            <a:spLocks noChangeArrowheads="1"/>
          </p:cNvSpPr>
          <p:nvPr/>
        </p:nvSpPr>
        <p:spPr bwMode="auto">
          <a:xfrm>
            <a:off x="2956783" y="2736905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40" name="Rectangle 5"/>
          <p:cNvSpPr>
            <a:spLocks noChangeArrowheads="1"/>
          </p:cNvSpPr>
          <p:nvPr/>
        </p:nvSpPr>
        <p:spPr bwMode="auto">
          <a:xfrm>
            <a:off x="2110884" y="2755758"/>
            <a:ext cx="431800" cy="431800"/>
          </a:xfrm>
          <a:prstGeom prst="rect">
            <a:avLst/>
          </a:prstGeom>
          <a:solidFill>
            <a:srgbClr val="3366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1" name="Line 7"/>
          <p:cNvSpPr>
            <a:spLocks noChangeShapeType="1"/>
          </p:cNvSpPr>
          <p:nvPr/>
        </p:nvSpPr>
        <p:spPr bwMode="auto">
          <a:xfrm>
            <a:off x="2110884" y="3047858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2" name="Line 9"/>
          <p:cNvSpPr>
            <a:spLocks noChangeShapeType="1"/>
          </p:cNvSpPr>
          <p:nvPr/>
        </p:nvSpPr>
        <p:spPr bwMode="auto">
          <a:xfrm>
            <a:off x="2326784" y="3212958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4" name="Rectangle 5"/>
          <p:cNvSpPr>
            <a:spLocks noChangeArrowheads="1"/>
          </p:cNvSpPr>
          <p:nvPr/>
        </p:nvSpPr>
        <p:spPr bwMode="auto">
          <a:xfrm>
            <a:off x="6361819" y="2798521"/>
            <a:ext cx="431800" cy="431800"/>
          </a:xfrm>
          <a:prstGeom prst="rect">
            <a:avLst/>
          </a:prstGeom>
          <a:solidFill>
            <a:srgbClr val="008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5" name="Line 7"/>
          <p:cNvSpPr>
            <a:spLocks noChangeShapeType="1"/>
          </p:cNvSpPr>
          <p:nvPr/>
        </p:nvSpPr>
        <p:spPr bwMode="auto">
          <a:xfrm>
            <a:off x="6361819" y="309062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6" name="Line 9"/>
          <p:cNvSpPr>
            <a:spLocks noChangeShapeType="1"/>
          </p:cNvSpPr>
          <p:nvPr/>
        </p:nvSpPr>
        <p:spPr bwMode="auto">
          <a:xfrm>
            <a:off x="6577719" y="325572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8" name="Rectangle 13"/>
          <p:cNvSpPr>
            <a:spLocks noChangeArrowheads="1"/>
          </p:cNvSpPr>
          <p:nvPr/>
        </p:nvSpPr>
        <p:spPr bwMode="auto">
          <a:xfrm>
            <a:off x="6299799" y="2762861"/>
            <a:ext cx="562655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DNS</a:t>
            </a:r>
          </a:p>
        </p:txBody>
      </p:sp>
      <p:sp>
        <p:nvSpPr>
          <p:cNvPr id="49" name="Rectangle 13"/>
          <p:cNvSpPr>
            <a:spLocks noChangeArrowheads="1"/>
          </p:cNvSpPr>
          <p:nvPr/>
        </p:nvSpPr>
        <p:spPr bwMode="auto">
          <a:xfrm>
            <a:off x="3325363" y="2432225"/>
            <a:ext cx="82875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1.2.3.48</a:t>
            </a:r>
          </a:p>
        </p:txBody>
      </p:sp>
      <p:sp>
        <p:nvSpPr>
          <p:cNvPr id="50" name="Rectangle 13"/>
          <p:cNvSpPr>
            <a:spLocks noChangeArrowheads="1"/>
          </p:cNvSpPr>
          <p:nvPr/>
        </p:nvSpPr>
        <p:spPr bwMode="auto">
          <a:xfrm>
            <a:off x="6103801" y="2461795"/>
            <a:ext cx="92813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1.2.3.156</a:t>
            </a:r>
          </a:p>
        </p:txBody>
      </p:sp>
      <p:sp>
        <p:nvSpPr>
          <p:cNvPr id="2" name="Rectangle 1"/>
          <p:cNvSpPr/>
          <p:nvPr/>
        </p:nvSpPr>
        <p:spPr>
          <a:xfrm>
            <a:off x="5680929" y="3237864"/>
            <a:ext cx="17457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0" dirty="0">
                <a:solidFill>
                  <a:srgbClr val="008000"/>
                </a:solidFill>
                <a:ea typeface="Arial" charset="0"/>
                <a:cs typeface="Arial" charset="0"/>
              </a:rPr>
              <a:t>58-23-D7-FA-20-B0</a:t>
            </a:r>
            <a:endParaRPr lang="en-US" sz="1400" b="0" dirty="0">
              <a:solidFill>
                <a:srgbClr val="0080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852772" y="3212958"/>
            <a:ext cx="17363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a typeface="Arial" charset="0"/>
                <a:cs typeface="Arial" charset="0"/>
              </a:rPr>
              <a:t>90-E2-A1-09-66-1B</a:t>
            </a:r>
            <a:endParaRPr lang="en-US" sz="1400" b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3" name="Text Box 16"/>
          <p:cNvSpPr txBox="1">
            <a:spLocks noChangeArrowheads="1"/>
          </p:cNvSpPr>
          <p:nvPr/>
        </p:nvSpPr>
        <p:spPr bwMode="auto">
          <a:xfrm>
            <a:off x="389473" y="3409763"/>
            <a:ext cx="1227480" cy="307777"/>
          </a:xfrm>
          <a:prstGeom prst="rect">
            <a:avLst/>
          </a:prstGeom>
          <a:solidFill>
            <a:srgbClr val="99CC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b="0">
                <a:latin typeface="+mn-lt"/>
              </a:rPr>
              <a:t>1.2.3.53</a:t>
            </a:r>
          </a:p>
        </p:txBody>
      </p:sp>
      <p:sp>
        <p:nvSpPr>
          <p:cNvPr id="54" name="Text Box 17"/>
          <p:cNvSpPr txBox="1">
            <a:spLocks noChangeArrowheads="1"/>
          </p:cNvSpPr>
          <p:nvPr/>
        </p:nvSpPr>
        <p:spPr bwMode="auto">
          <a:xfrm>
            <a:off x="389473" y="3746031"/>
            <a:ext cx="1227480" cy="307777"/>
          </a:xfrm>
          <a:prstGeom prst="rect">
            <a:avLst/>
          </a:prstGeom>
          <a:solidFill>
            <a:srgbClr val="99CC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b="0">
                <a:latin typeface="+mn-lt"/>
              </a:rPr>
              <a:t>1.2.3.156</a:t>
            </a:r>
          </a:p>
        </p:txBody>
      </p:sp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389473" y="4082611"/>
            <a:ext cx="1227480" cy="307777"/>
          </a:xfrm>
          <a:prstGeom prst="rect">
            <a:avLst/>
          </a:prstGeom>
          <a:solidFill>
            <a:srgbClr val="99CC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endParaRPr lang="en-US" sz="1400" b="0">
              <a:latin typeface="+mn-lt"/>
            </a:endParaRPr>
          </a:p>
        </p:txBody>
      </p:sp>
      <p:sp>
        <p:nvSpPr>
          <p:cNvPr id="56" name="Text Box 19"/>
          <p:cNvSpPr txBox="1">
            <a:spLocks noChangeArrowheads="1"/>
          </p:cNvSpPr>
          <p:nvPr/>
        </p:nvSpPr>
        <p:spPr bwMode="auto">
          <a:xfrm>
            <a:off x="467141" y="3027554"/>
            <a:ext cx="9894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b="0" dirty="0">
                <a:latin typeface="+mn-lt"/>
              </a:rPr>
              <a:t>IP packet</a:t>
            </a:r>
          </a:p>
        </p:txBody>
      </p:sp>
    </p:spTree>
    <p:extLst>
      <p:ext uri="{BB962C8B-B14F-4D97-AF65-F5344CB8AC3E}">
        <p14:creationId xmlns:p14="http://schemas.microsoft.com/office/powerpoint/2010/main" val="199636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ARP: Address Resolution Protocol</a:t>
            </a:r>
          </a:p>
        </p:txBody>
      </p:sp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host maintains an ARP table</a:t>
            </a:r>
          </a:p>
          <a:p>
            <a:pPr lvl="1"/>
            <a:r>
              <a:rPr lang="en-US" dirty="0"/>
              <a:t>List of (IP address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MAC address) pairs</a:t>
            </a:r>
          </a:p>
          <a:p>
            <a:r>
              <a:rPr lang="en-US" dirty="0"/>
              <a:t>Consult the table when sending a packet</a:t>
            </a:r>
          </a:p>
          <a:p>
            <a:pPr lvl="1"/>
            <a:r>
              <a:rPr lang="en-US" dirty="0"/>
              <a:t>Map dest. IP address to dest. MAC address</a:t>
            </a:r>
          </a:p>
          <a:p>
            <a:pPr lvl="1"/>
            <a:r>
              <a:rPr lang="en-US" dirty="0"/>
              <a:t>Encapsulate (IP) data packet with MAC header; xmit</a:t>
            </a:r>
          </a:p>
          <a:p>
            <a:r>
              <a:rPr lang="en-US" dirty="0">
                <a:solidFill>
                  <a:srgbClr val="0000FF"/>
                </a:solidFill>
              </a:rPr>
              <a:t>What if IP address not in the table?</a:t>
            </a:r>
          </a:p>
          <a:p>
            <a:pPr lvl="1"/>
            <a:r>
              <a:rPr lang="en-US" dirty="0"/>
              <a:t>Sender broadcasts: Who has IP address 1.2.3.156?</a:t>
            </a:r>
          </a:p>
          <a:p>
            <a:pPr lvl="1"/>
            <a:r>
              <a:rPr lang="en-US" dirty="0"/>
              <a:t>Receiver replies: MAC address 58-23-D7-FA-20-B0</a:t>
            </a:r>
          </a:p>
          <a:p>
            <a:pPr lvl="1"/>
            <a:r>
              <a:rPr lang="en-US" dirty="0"/>
              <a:t>Sender caches result in its ARP table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D32F7FE-4F97-8478-AE50-C0384695597F}"/>
                  </a:ext>
                </a:extLst>
              </p14:cNvPr>
              <p14:cNvContentPartPr/>
              <p14:nvPr/>
            </p14:nvContentPartPr>
            <p14:xfrm>
              <a:off x="2054160" y="1572120"/>
              <a:ext cx="635040" cy="642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D32F7FE-4F97-8478-AE50-C038469559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44800" y="1562760"/>
                <a:ext cx="653760" cy="66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500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299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the destination is remote?</a:t>
            </a:r>
          </a:p>
        </p:txBody>
      </p:sp>
      <p:sp>
        <p:nvSpPr>
          <p:cNvPr id="9451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6777"/>
            <a:ext cx="8229600" cy="4411662"/>
          </a:xfrm>
        </p:spPr>
        <p:txBody>
          <a:bodyPr/>
          <a:lstStyle/>
          <a:p>
            <a:r>
              <a:rPr lang="en-US" sz="2400" dirty="0">
                <a:cs typeface="Arial" charset="0"/>
              </a:rPr>
              <a:t>Look up the MAC address of the first hop router</a:t>
            </a:r>
          </a:p>
          <a:p>
            <a:pPr lvl="1"/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1.2.3.48 uses ARP to find MAC address for first-hop router </a:t>
            </a:r>
            <a:r>
              <a:rPr lang="en-US" sz="2000" b="1" dirty="0">
                <a:solidFill>
                  <a:srgbClr val="000090"/>
                </a:solidFill>
                <a:ea typeface="Arial" charset="0"/>
                <a:cs typeface="Arial" charset="0"/>
              </a:rPr>
              <a:t>1.2.3.19</a:t>
            </a:r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 rather than ultimate destination IP address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ea typeface="Arial" charset="0"/>
                <a:cs typeface="Arial" charset="0"/>
              </a:rPr>
              <a:t>How does the red host know the destination is not local?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Uses netmask (discovered via DHCP)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ea typeface="Arial" charset="0"/>
                <a:cs typeface="Arial" charset="0"/>
              </a:rPr>
              <a:t>How does the red host know about 1.2.3.19?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Also DHCP</a:t>
            </a:r>
          </a:p>
          <a:p>
            <a:pPr>
              <a:lnSpc>
                <a:spcPct val="90000"/>
              </a:lnSpc>
            </a:pPr>
            <a:endParaRPr lang="en-US" sz="2400" dirty="0">
              <a:cs typeface="Arial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cs typeface="Arial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cs typeface="Arial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400" dirty="0">
              <a:cs typeface="Arial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52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88940" y="4343212"/>
            <a:ext cx="8342327" cy="2390775"/>
            <a:chOff x="133" y="2589"/>
            <a:chExt cx="5255" cy="1506"/>
          </a:xfrm>
        </p:grpSpPr>
        <p:sp>
          <p:nvSpPr>
            <p:cNvPr id="57354" name="Line 5"/>
            <p:cNvSpPr>
              <a:spLocks noChangeShapeType="1"/>
            </p:cNvSpPr>
            <p:nvPr/>
          </p:nvSpPr>
          <p:spPr bwMode="auto">
            <a:xfrm>
              <a:off x="628" y="3402"/>
              <a:ext cx="1632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5" name="Line 6"/>
            <p:cNvSpPr>
              <a:spLocks noChangeShapeType="1"/>
            </p:cNvSpPr>
            <p:nvPr/>
          </p:nvSpPr>
          <p:spPr bwMode="auto">
            <a:xfrm>
              <a:off x="820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6" name="Line 7"/>
            <p:cNvSpPr>
              <a:spLocks noChangeShapeType="1"/>
            </p:cNvSpPr>
            <p:nvPr/>
          </p:nvSpPr>
          <p:spPr bwMode="auto">
            <a:xfrm>
              <a:off x="1396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7" name="Line 8"/>
            <p:cNvSpPr>
              <a:spLocks noChangeShapeType="1"/>
            </p:cNvSpPr>
            <p:nvPr/>
          </p:nvSpPr>
          <p:spPr bwMode="auto">
            <a:xfrm>
              <a:off x="2068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8" name="Rectangle 9"/>
            <p:cNvSpPr>
              <a:spLocks noChangeArrowheads="1"/>
            </p:cNvSpPr>
            <p:nvPr/>
          </p:nvSpPr>
          <p:spPr bwMode="auto">
            <a:xfrm>
              <a:off x="647" y="3028"/>
              <a:ext cx="361" cy="213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bg1"/>
                  </a:solidFill>
                </a:rPr>
                <a:t>host</a:t>
              </a:r>
            </a:p>
          </p:txBody>
        </p:sp>
        <p:sp>
          <p:nvSpPr>
            <p:cNvPr id="57359" name="Rectangle 10"/>
            <p:cNvSpPr>
              <a:spLocks noChangeArrowheads="1"/>
            </p:cNvSpPr>
            <p:nvPr/>
          </p:nvSpPr>
          <p:spPr bwMode="auto">
            <a:xfrm>
              <a:off x="1207" y="3028"/>
              <a:ext cx="361" cy="2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/>
                <a:t>host</a:t>
              </a:r>
            </a:p>
          </p:txBody>
        </p:sp>
        <p:sp>
          <p:nvSpPr>
            <p:cNvPr id="57360" name="Rectangle 11"/>
            <p:cNvSpPr>
              <a:spLocks noChangeArrowheads="1"/>
            </p:cNvSpPr>
            <p:nvPr/>
          </p:nvSpPr>
          <p:spPr bwMode="auto">
            <a:xfrm>
              <a:off x="1867" y="3028"/>
              <a:ext cx="388" cy="213"/>
            </a:xfrm>
            <a:prstGeom prst="rect">
              <a:avLst/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accent2"/>
                  </a:solidFill>
                </a:rPr>
                <a:t>DNS</a:t>
              </a:r>
            </a:p>
          </p:txBody>
        </p:sp>
        <p:sp>
          <p:nvSpPr>
            <p:cNvPr id="57361" name="Text Box 12"/>
            <p:cNvSpPr txBox="1">
              <a:spLocks noChangeArrowheads="1"/>
            </p:cNvSpPr>
            <p:nvPr/>
          </p:nvSpPr>
          <p:spPr bwMode="auto">
            <a:xfrm>
              <a:off x="1588" y="2969"/>
              <a:ext cx="22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600" b="0">
                  <a:latin typeface="+mn-lt"/>
                </a:rPr>
                <a:t>...</a:t>
              </a:r>
            </a:p>
          </p:txBody>
        </p:sp>
        <p:sp>
          <p:nvSpPr>
            <p:cNvPr id="57362" name="Line 13"/>
            <p:cNvSpPr>
              <a:spLocks noChangeShapeType="1"/>
            </p:cNvSpPr>
            <p:nvPr/>
          </p:nvSpPr>
          <p:spPr bwMode="auto">
            <a:xfrm>
              <a:off x="3556" y="3402"/>
              <a:ext cx="1632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3" name="Line 14"/>
            <p:cNvSpPr>
              <a:spLocks noChangeShapeType="1"/>
            </p:cNvSpPr>
            <p:nvPr/>
          </p:nvSpPr>
          <p:spPr bwMode="auto">
            <a:xfrm>
              <a:off x="3748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4" name="Line 15"/>
            <p:cNvSpPr>
              <a:spLocks noChangeShapeType="1"/>
            </p:cNvSpPr>
            <p:nvPr/>
          </p:nvSpPr>
          <p:spPr bwMode="auto">
            <a:xfrm>
              <a:off x="4324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5" name="Line 16"/>
            <p:cNvSpPr>
              <a:spLocks noChangeShapeType="1"/>
            </p:cNvSpPr>
            <p:nvPr/>
          </p:nvSpPr>
          <p:spPr bwMode="auto">
            <a:xfrm>
              <a:off x="4996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6" name="Rectangle 17"/>
            <p:cNvSpPr>
              <a:spLocks noChangeArrowheads="1"/>
            </p:cNvSpPr>
            <p:nvPr/>
          </p:nvSpPr>
          <p:spPr bwMode="auto">
            <a:xfrm>
              <a:off x="3571" y="3027"/>
              <a:ext cx="361" cy="2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57367" name="Rectangle 18"/>
            <p:cNvSpPr>
              <a:spLocks noChangeArrowheads="1"/>
            </p:cNvSpPr>
            <p:nvPr/>
          </p:nvSpPr>
          <p:spPr bwMode="auto">
            <a:xfrm>
              <a:off x="4135" y="3027"/>
              <a:ext cx="361" cy="2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57368" name="Rectangle 19"/>
            <p:cNvSpPr>
              <a:spLocks noChangeArrowheads="1"/>
            </p:cNvSpPr>
            <p:nvPr/>
          </p:nvSpPr>
          <p:spPr bwMode="auto">
            <a:xfrm>
              <a:off x="4810" y="3027"/>
              <a:ext cx="361" cy="213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bg1"/>
                  </a:solidFill>
                </a:rPr>
                <a:t>host</a:t>
              </a:r>
            </a:p>
          </p:txBody>
        </p:sp>
        <p:sp>
          <p:nvSpPr>
            <p:cNvPr id="57369" name="Text Box 20"/>
            <p:cNvSpPr txBox="1">
              <a:spLocks noChangeArrowheads="1"/>
            </p:cNvSpPr>
            <p:nvPr/>
          </p:nvSpPr>
          <p:spPr bwMode="auto">
            <a:xfrm>
              <a:off x="4516" y="2969"/>
              <a:ext cx="22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600" b="0">
                  <a:latin typeface="+mn-lt"/>
                </a:rPr>
                <a:t>...</a:t>
              </a:r>
            </a:p>
          </p:txBody>
        </p:sp>
        <p:sp>
          <p:nvSpPr>
            <p:cNvPr id="57370" name="AutoShape 21"/>
            <p:cNvSpPr>
              <a:spLocks noChangeArrowheads="1"/>
            </p:cNvSpPr>
            <p:nvPr/>
          </p:nvSpPr>
          <p:spPr bwMode="auto">
            <a:xfrm>
              <a:off x="2740" y="3855"/>
              <a:ext cx="384" cy="240"/>
            </a:xfrm>
            <a:prstGeom prst="roundRect">
              <a:avLst>
                <a:gd name="adj" fmla="val 16667"/>
              </a:avLst>
            </a:prstGeom>
            <a:solidFill>
              <a:srgbClr val="D3A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600" b="0"/>
                <a:t>router</a:t>
              </a:r>
            </a:p>
          </p:txBody>
        </p:sp>
        <p:sp>
          <p:nvSpPr>
            <p:cNvPr id="57371" name="Line 22"/>
            <p:cNvSpPr>
              <a:spLocks noChangeShapeType="1"/>
            </p:cNvSpPr>
            <p:nvPr/>
          </p:nvSpPr>
          <p:spPr bwMode="auto">
            <a:xfrm>
              <a:off x="1791" y="3377"/>
              <a:ext cx="0" cy="4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2" name="AutoShape 23"/>
            <p:cNvSpPr>
              <a:spLocks noChangeArrowheads="1"/>
            </p:cNvSpPr>
            <p:nvPr/>
          </p:nvSpPr>
          <p:spPr bwMode="auto">
            <a:xfrm>
              <a:off x="3892" y="3855"/>
              <a:ext cx="384" cy="240"/>
            </a:xfrm>
            <a:prstGeom prst="roundRect">
              <a:avLst>
                <a:gd name="adj" fmla="val 16667"/>
              </a:avLst>
            </a:prstGeom>
            <a:solidFill>
              <a:srgbClr val="D3A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600" b="0"/>
                <a:t>router</a:t>
              </a:r>
            </a:p>
          </p:txBody>
        </p:sp>
        <p:sp>
          <p:nvSpPr>
            <p:cNvPr id="57373" name="Line 24"/>
            <p:cNvSpPr>
              <a:spLocks noChangeShapeType="1"/>
            </p:cNvSpPr>
            <p:nvPr/>
          </p:nvSpPr>
          <p:spPr bwMode="auto">
            <a:xfrm flipH="1">
              <a:off x="4090" y="3394"/>
              <a:ext cx="0" cy="4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4" name="Line 25"/>
            <p:cNvSpPr>
              <a:spLocks noChangeShapeType="1"/>
            </p:cNvSpPr>
            <p:nvPr/>
          </p:nvSpPr>
          <p:spPr bwMode="auto">
            <a:xfrm>
              <a:off x="1972" y="3951"/>
              <a:ext cx="76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5" name="Line 26"/>
            <p:cNvSpPr>
              <a:spLocks noChangeShapeType="1"/>
            </p:cNvSpPr>
            <p:nvPr/>
          </p:nvSpPr>
          <p:spPr bwMode="auto">
            <a:xfrm>
              <a:off x="3124" y="3951"/>
              <a:ext cx="76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6" name="Text Box 27"/>
            <p:cNvSpPr txBox="1">
              <a:spLocks noChangeArrowheads="1"/>
            </p:cNvSpPr>
            <p:nvPr/>
          </p:nvSpPr>
          <p:spPr bwMode="auto">
            <a:xfrm>
              <a:off x="133" y="2589"/>
              <a:ext cx="19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latin typeface="+mn-lt"/>
                </a:rPr>
                <a:t>1.2.3.0/24 (255.255.255.0)</a:t>
              </a:r>
            </a:p>
          </p:txBody>
        </p:sp>
        <p:sp>
          <p:nvSpPr>
            <p:cNvPr id="57377" name="Text Box 28"/>
            <p:cNvSpPr txBox="1">
              <a:spLocks noChangeArrowheads="1"/>
            </p:cNvSpPr>
            <p:nvPr/>
          </p:nvSpPr>
          <p:spPr bwMode="auto">
            <a:xfrm>
              <a:off x="4625" y="2822"/>
              <a:ext cx="7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5.6.7.0/24</a:t>
              </a:r>
            </a:p>
          </p:txBody>
        </p:sp>
        <p:sp>
          <p:nvSpPr>
            <p:cNvPr id="57379" name="Text Box 30"/>
            <p:cNvSpPr txBox="1">
              <a:spLocks noChangeArrowheads="1"/>
            </p:cNvSpPr>
            <p:nvPr/>
          </p:nvSpPr>
          <p:spPr bwMode="auto">
            <a:xfrm>
              <a:off x="1731" y="2822"/>
              <a:ext cx="7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latin typeface="+mn-lt"/>
                </a:rPr>
                <a:t>1.2.3.156</a:t>
              </a:r>
            </a:p>
          </p:txBody>
        </p:sp>
        <p:sp>
          <p:nvSpPr>
            <p:cNvPr id="57380" name="Text Box 31"/>
            <p:cNvSpPr txBox="1">
              <a:spLocks noChangeArrowheads="1"/>
            </p:cNvSpPr>
            <p:nvPr/>
          </p:nvSpPr>
          <p:spPr bwMode="auto">
            <a:xfrm>
              <a:off x="511" y="2822"/>
              <a:ext cx="64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solidFill>
                    <a:srgbClr val="FF3300"/>
                  </a:solidFill>
                  <a:latin typeface="+mn-lt"/>
                </a:rPr>
                <a:t>1.2.3.48</a:t>
              </a:r>
            </a:p>
          </p:txBody>
        </p:sp>
        <p:sp>
          <p:nvSpPr>
            <p:cNvPr id="57381" name="Text Box 32"/>
            <p:cNvSpPr txBox="1">
              <a:spLocks noChangeArrowheads="1"/>
            </p:cNvSpPr>
            <p:nvPr/>
          </p:nvSpPr>
          <p:spPr bwMode="auto">
            <a:xfrm>
              <a:off x="1825" y="3612"/>
              <a:ext cx="64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>
                  <a:latin typeface="+mn-lt"/>
                </a:rPr>
                <a:t>1.2.3.19</a:t>
              </a:r>
            </a:p>
          </p:txBody>
        </p:sp>
        <p:sp>
          <p:nvSpPr>
            <p:cNvPr id="57382" name="AutoShape 33"/>
            <p:cNvSpPr>
              <a:spLocks noChangeArrowheads="1"/>
            </p:cNvSpPr>
            <p:nvPr/>
          </p:nvSpPr>
          <p:spPr bwMode="auto">
            <a:xfrm>
              <a:off x="1601" y="3853"/>
              <a:ext cx="384" cy="240"/>
            </a:xfrm>
            <a:prstGeom prst="roundRect">
              <a:avLst>
                <a:gd name="adj" fmla="val 16667"/>
              </a:avLst>
            </a:prstGeom>
            <a:solidFill>
              <a:srgbClr val="D3A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600" b="0"/>
                <a:t>router</a:t>
              </a: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2982912" y="1892771"/>
            <a:ext cx="5018088" cy="4424375"/>
            <a:chOff x="2839" y="1413"/>
            <a:chExt cx="3161" cy="2787"/>
          </a:xfrm>
        </p:grpSpPr>
        <p:sp>
          <p:nvSpPr>
            <p:cNvPr id="57351" name="Oval 36"/>
            <p:cNvSpPr>
              <a:spLocks noChangeArrowheads="1"/>
            </p:cNvSpPr>
            <p:nvPr/>
          </p:nvSpPr>
          <p:spPr bwMode="auto">
            <a:xfrm>
              <a:off x="2839" y="3959"/>
              <a:ext cx="791" cy="241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2" name="Oval 37"/>
            <p:cNvSpPr>
              <a:spLocks noChangeArrowheads="1"/>
            </p:cNvSpPr>
            <p:nvPr/>
          </p:nvSpPr>
          <p:spPr bwMode="auto">
            <a:xfrm>
              <a:off x="5232" y="1413"/>
              <a:ext cx="768" cy="24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57353" name="AutoShape 38"/>
            <p:cNvCxnSpPr>
              <a:cxnSpLocks noChangeShapeType="1"/>
              <a:stCxn id="57352" idx="4"/>
              <a:endCxn id="57351" idx="0"/>
            </p:cNvCxnSpPr>
            <p:nvPr/>
          </p:nvCxnSpPr>
          <p:spPr bwMode="auto">
            <a:xfrm flipH="1">
              <a:off x="3235" y="1653"/>
              <a:ext cx="2381" cy="2306"/>
            </a:xfrm>
            <a:prstGeom prst="straightConnector1">
              <a:avLst/>
            </a:prstGeom>
            <a:noFill/>
            <a:ln w="222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47" name="Group 35"/>
          <p:cNvGrpSpPr>
            <a:grpSpLocks/>
          </p:cNvGrpSpPr>
          <p:nvPr/>
        </p:nvGrpSpPr>
        <p:grpSpPr bwMode="auto">
          <a:xfrm>
            <a:off x="355608" y="2972378"/>
            <a:ext cx="3073400" cy="1749438"/>
            <a:chOff x="2631" y="1800"/>
            <a:chExt cx="1936" cy="1102"/>
          </a:xfrm>
        </p:grpSpPr>
        <p:sp>
          <p:nvSpPr>
            <p:cNvPr id="48" name="Oval 36"/>
            <p:cNvSpPr>
              <a:spLocks noChangeArrowheads="1"/>
            </p:cNvSpPr>
            <p:nvPr/>
          </p:nvSpPr>
          <p:spPr bwMode="auto">
            <a:xfrm>
              <a:off x="2631" y="2664"/>
              <a:ext cx="1936" cy="238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37"/>
            <p:cNvSpPr>
              <a:spLocks noChangeArrowheads="1"/>
            </p:cNvSpPr>
            <p:nvPr/>
          </p:nvSpPr>
          <p:spPr bwMode="auto">
            <a:xfrm>
              <a:off x="3463" y="1800"/>
              <a:ext cx="740" cy="24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50" name="AutoShape 38"/>
            <p:cNvCxnSpPr>
              <a:cxnSpLocks noChangeShapeType="1"/>
              <a:stCxn id="49" idx="4"/>
              <a:endCxn id="48" idx="0"/>
            </p:cNvCxnSpPr>
            <p:nvPr/>
          </p:nvCxnSpPr>
          <p:spPr bwMode="auto">
            <a:xfrm flipH="1">
              <a:off x="3599" y="2040"/>
              <a:ext cx="234" cy="624"/>
            </a:xfrm>
            <a:prstGeom prst="straightConnector1">
              <a:avLst/>
            </a:prstGeom>
            <a:noFill/>
            <a:ln w="222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15" name="Freeform 14"/>
          <p:cNvSpPr/>
          <p:nvPr/>
        </p:nvSpPr>
        <p:spPr>
          <a:xfrm>
            <a:off x="1455187" y="5393450"/>
            <a:ext cx="6778200" cy="1264337"/>
          </a:xfrm>
          <a:custGeom>
            <a:avLst/>
            <a:gdLst>
              <a:gd name="connsiteX0" fmla="*/ 139186 w 6778200"/>
              <a:gd name="connsiteY0" fmla="*/ 40529 h 1264337"/>
              <a:gd name="connsiteX1" fmla="*/ 152698 w 6778200"/>
              <a:gd name="connsiteY1" fmla="*/ 391789 h 1264337"/>
              <a:gd name="connsiteX2" fmla="*/ 1693024 w 6778200"/>
              <a:gd name="connsiteY2" fmla="*/ 486359 h 1264337"/>
              <a:gd name="connsiteX3" fmla="*/ 1733559 w 6778200"/>
              <a:gd name="connsiteY3" fmla="*/ 1202387 h 1264337"/>
              <a:gd name="connsiteX4" fmla="*/ 5057422 w 6778200"/>
              <a:gd name="connsiteY4" fmla="*/ 1121327 h 1264337"/>
              <a:gd name="connsiteX5" fmla="*/ 5124980 w 6778200"/>
              <a:gd name="connsiteY5" fmla="*/ 270199 h 1264337"/>
              <a:gd name="connsiteX6" fmla="*/ 6624772 w 6778200"/>
              <a:gd name="connsiteY6" fmla="*/ 216159 h 1264337"/>
              <a:gd name="connsiteX7" fmla="*/ 6651795 w 6778200"/>
              <a:gd name="connsiteY7" fmla="*/ 0 h 126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78200" h="1264337">
                <a:moveTo>
                  <a:pt x="139186" y="40529"/>
                </a:moveTo>
                <a:cubicBezTo>
                  <a:pt x="16455" y="179006"/>
                  <a:pt x="-106275" y="317484"/>
                  <a:pt x="152698" y="391789"/>
                </a:cubicBezTo>
                <a:cubicBezTo>
                  <a:pt x="411671" y="466094"/>
                  <a:pt x="1429547" y="351259"/>
                  <a:pt x="1693024" y="486359"/>
                </a:cubicBezTo>
                <a:cubicBezTo>
                  <a:pt x="1956501" y="621459"/>
                  <a:pt x="1172826" y="1096559"/>
                  <a:pt x="1733559" y="1202387"/>
                </a:cubicBezTo>
                <a:cubicBezTo>
                  <a:pt x="2294292" y="1308215"/>
                  <a:pt x="4492185" y="1276692"/>
                  <a:pt x="5057422" y="1121327"/>
                </a:cubicBezTo>
                <a:cubicBezTo>
                  <a:pt x="5622659" y="965962"/>
                  <a:pt x="4863755" y="421060"/>
                  <a:pt x="5124980" y="270199"/>
                </a:cubicBezTo>
                <a:cubicBezTo>
                  <a:pt x="5386205" y="119338"/>
                  <a:pt x="6370303" y="261192"/>
                  <a:pt x="6624772" y="216159"/>
                </a:cubicBezTo>
                <a:cubicBezTo>
                  <a:pt x="6879241" y="171126"/>
                  <a:pt x="6765518" y="85563"/>
                  <a:pt x="6651795" y="0"/>
                </a:cubicBezTo>
              </a:path>
            </a:pathLst>
          </a:custGeom>
          <a:ln w="28575" cmpd="sng">
            <a:solidFill>
              <a:srgbClr val="0080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50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ideas in both ARP and DHCP</a:t>
            </a:r>
          </a:p>
        </p:txBody>
      </p:sp>
      <p:sp>
        <p:nvSpPr>
          <p:cNvPr id="926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Broadcasting</a:t>
            </a:r>
            <a:r>
              <a:rPr lang="en-US" dirty="0"/>
              <a:t>: Can use broadcast to make contact</a:t>
            </a:r>
          </a:p>
          <a:p>
            <a:pPr lvl="1"/>
            <a:r>
              <a:rPr lang="en-US" dirty="0"/>
              <a:t>Scalable because of limited size</a:t>
            </a:r>
          </a:p>
          <a:p>
            <a:r>
              <a:rPr lang="en-US" dirty="0">
                <a:solidFill>
                  <a:srgbClr val="0000FF"/>
                </a:solidFill>
              </a:rPr>
              <a:t>Caching</a:t>
            </a:r>
            <a:r>
              <a:rPr lang="en-US" dirty="0"/>
              <a:t>: remember the past for a while</a:t>
            </a:r>
          </a:p>
          <a:p>
            <a:pPr lvl="1"/>
            <a:r>
              <a:rPr lang="en-US" dirty="0"/>
              <a:t>Store the information you learn to reduce overhead</a:t>
            </a:r>
          </a:p>
          <a:p>
            <a:r>
              <a:rPr lang="en-US" dirty="0">
                <a:solidFill>
                  <a:srgbClr val="0000FF"/>
                </a:solidFill>
              </a:rPr>
              <a:t>Soft state</a:t>
            </a:r>
            <a:r>
              <a:rPr lang="en-US" dirty="0"/>
              <a:t>: eventually forget the past</a:t>
            </a:r>
          </a:p>
          <a:p>
            <a:pPr lvl="1"/>
            <a:r>
              <a:rPr lang="en-US" dirty="0"/>
              <a:t>Associate a time-to-live field with the information</a:t>
            </a:r>
          </a:p>
          <a:p>
            <a:pPr lvl="1"/>
            <a:r>
              <a:rPr lang="en-US" dirty="0"/>
              <a:t>… and either refresh or discard the information</a:t>
            </a:r>
          </a:p>
          <a:p>
            <a:pPr lvl="1"/>
            <a:r>
              <a:rPr lang="en-US" dirty="0"/>
              <a:t>Key for robustness in the face of unpredictable change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8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72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 resolution in networking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81000" y="2252663"/>
          <a:ext cx="8534400" cy="33861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06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7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3667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Layer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Configuration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Resolution</a:t>
                      </a:r>
                    </a:p>
                    <a:p>
                      <a:pPr algn="ctr"/>
                      <a:r>
                        <a:rPr lang="en-US" sz="1600" dirty="0"/>
                        <a:t>Service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4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App.</a:t>
                      </a:r>
                    </a:p>
                    <a:p>
                      <a:pPr algn="ctr"/>
                      <a:r>
                        <a:rPr lang="en-US" sz="1600" dirty="0"/>
                        <a:t>Layer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cse.umich.edu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Organizational hierarchy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~ manual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4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Network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Layer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123.45.6.78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topological</a:t>
                      </a:r>
                      <a:r>
                        <a:rPr lang="en-US" sz="1600" baseline="0" dirty="0"/>
                        <a:t> hierarchy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DHCP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4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Link layer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45-CC-4E-12-F0-97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vendor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(flat)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hard-coded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" name="Up-Down Arrow 4"/>
          <p:cNvSpPr/>
          <p:nvPr/>
        </p:nvSpPr>
        <p:spPr bwMode="auto">
          <a:xfrm>
            <a:off x="7620000" y="3962400"/>
            <a:ext cx="152400" cy="457200"/>
          </a:xfrm>
          <a:prstGeom prst="upDownArrow">
            <a:avLst/>
          </a:prstGeom>
          <a:solidFill>
            <a:srgbClr val="D3A600"/>
          </a:solidFill>
          <a:ln w="9525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22977" y="3962400"/>
            <a:ext cx="67197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b="0" dirty="0">
                <a:ea typeface="Arial" charset="0"/>
                <a:cs typeface="Arial" charset="0"/>
              </a:rPr>
              <a:t>DNS</a:t>
            </a:r>
          </a:p>
        </p:txBody>
      </p:sp>
      <p:sp>
        <p:nvSpPr>
          <p:cNvPr id="8" name="Up-Down Arrow 7"/>
          <p:cNvSpPr/>
          <p:nvPr/>
        </p:nvSpPr>
        <p:spPr bwMode="auto">
          <a:xfrm>
            <a:off x="7620000" y="4724400"/>
            <a:ext cx="152400" cy="457200"/>
          </a:xfrm>
          <a:prstGeom prst="upDownArrow">
            <a:avLst/>
          </a:prstGeom>
          <a:solidFill>
            <a:srgbClr val="D3A600"/>
          </a:solidFill>
          <a:ln w="9525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Arial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27147" y="4781490"/>
            <a:ext cx="659155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b="0" dirty="0">
                <a:ea typeface="Arial" charset="0"/>
                <a:cs typeface="Arial" charset="0"/>
              </a:rPr>
              <a:t>ARP</a:t>
            </a:r>
          </a:p>
        </p:txBody>
      </p:sp>
    </p:spTree>
    <p:extLst>
      <p:ext uri="{BB962C8B-B14F-4D97-AF65-F5344CB8AC3E}">
        <p14:creationId xmlns:p14="http://schemas.microsoft.com/office/powerpoint/2010/main" val="19092669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Discovery mechanisms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seen two approaches</a:t>
            </a:r>
          </a:p>
          <a:p>
            <a:pPr lvl="1"/>
            <a:r>
              <a:rPr lang="en-US" dirty="0"/>
              <a:t>Broadcast (ARP, DHCP)</a:t>
            </a:r>
          </a:p>
          <a:p>
            <a:pPr lvl="2"/>
            <a:r>
              <a:rPr lang="en-US" dirty="0"/>
              <a:t>Flooding does not scale </a:t>
            </a:r>
          </a:p>
          <a:p>
            <a:pPr lvl="2"/>
            <a:r>
              <a:rPr lang="en-US" dirty="0"/>
              <a:t>No centralized point of failure</a:t>
            </a:r>
          </a:p>
          <a:p>
            <a:pPr lvl="2"/>
            <a:r>
              <a:rPr lang="en-US" dirty="0"/>
              <a:t>Zero configuration</a:t>
            </a:r>
          </a:p>
          <a:p>
            <a:pPr lvl="1"/>
            <a:r>
              <a:rPr lang="en-US" dirty="0"/>
              <a:t>Directory service (DNS)</a:t>
            </a:r>
          </a:p>
          <a:p>
            <a:pPr lvl="2"/>
            <a:r>
              <a:rPr lang="en-US" dirty="0"/>
              <a:t>No flooding = scalable</a:t>
            </a:r>
          </a:p>
          <a:p>
            <a:pPr lvl="2"/>
            <a:r>
              <a:rPr lang="en-US" dirty="0"/>
              <a:t>Root of the directory is vulnerable (caching is key)</a:t>
            </a:r>
          </a:p>
          <a:p>
            <a:pPr lvl="2"/>
            <a:r>
              <a:rPr lang="en-US" dirty="0"/>
              <a:t>Needs configuration to bootstrap (local, root servers, etc.)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2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link layer transfers data between adjacent nodes or nodes connected to the same switch</a:t>
            </a:r>
          </a:p>
          <a:p>
            <a:r>
              <a:rPr lang="en-US" dirty="0"/>
              <a:t>Ethernet evolved from a broadcast medium to switched</a:t>
            </a:r>
          </a:p>
          <a:p>
            <a:r>
              <a:rPr lang="en-US" dirty="0"/>
              <a:t>Spanning tree enables Ethernet to efficiently flood a network to learn routes while forwarding packets</a:t>
            </a:r>
          </a:p>
          <a:p>
            <a:r>
              <a:rPr lang="en-US" dirty="0"/>
              <a:t>DHCP and ARP form the discovery backplane of networking and make everything work together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0FDF-AD8C-E4C0-4E5A-E7F4F0E1F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Additional</a:t>
            </a:r>
            <a:r>
              <a:rPr lang="zh-CN" altLang="en-US" dirty="0"/>
              <a:t> </a:t>
            </a:r>
            <a:r>
              <a:rPr lang="en-US" altLang="zh-CN" dirty="0"/>
              <a:t>slides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A7B39-0613-4AF3-9505-0E3A5CB4C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14863-8991-F550-D4F6-30A4C81876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7314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CSMA/CD (Collision Detection)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For this to work, </a:t>
            </a:r>
            <a:r>
              <a:rPr lang="en-US" dirty="0">
                <a:solidFill>
                  <a:srgbClr val="0000FF"/>
                </a:solidFill>
              </a:rPr>
              <a:t>need restrictions on minimum frame size and maximum distance</a:t>
            </a:r>
          </a:p>
          <a:p>
            <a:pPr lvl="1"/>
            <a:r>
              <a:rPr lang="en-US" dirty="0"/>
              <a:t>Why?</a:t>
            </a:r>
          </a:p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58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363860" y="1798910"/>
            <a:ext cx="4433887" cy="3956050"/>
            <a:chOff x="1999481" y="1446213"/>
            <a:chExt cx="4433887" cy="3956050"/>
          </a:xfrm>
        </p:grpSpPr>
        <p:pic>
          <p:nvPicPr>
            <p:cNvPr id="103427" name="Picture 3" descr="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9481" y="1531938"/>
              <a:ext cx="4433887" cy="387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75" name="Rectangle 29"/>
            <p:cNvSpPr>
              <a:spLocks noChangeArrowheads="1"/>
            </p:cNvSpPr>
            <p:nvPr/>
          </p:nvSpPr>
          <p:spPr bwMode="auto">
            <a:xfrm>
              <a:off x="2185218" y="1446213"/>
              <a:ext cx="4135438" cy="1211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76" name="Rectangle 9"/>
            <p:cNvSpPr>
              <a:spLocks noChangeArrowheads="1"/>
            </p:cNvSpPr>
            <p:nvPr/>
          </p:nvSpPr>
          <p:spPr bwMode="auto">
            <a:xfrm>
              <a:off x="2921818" y="1595438"/>
              <a:ext cx="256857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dirty="0">
                  <a:cs typeface="+mn-cs"/>
                </a:rPr>
                <a:t>S</a:t>
              </a:r>
              <a:r>
                <a:rPr lang="en-US" sz="1600" i="0" dirty="0">
                  <a:latin typeface="Arial" charset="0"/>
                  <a:cs typeface="+mn-cs"/>
                </a:rPr>
                <a:t>patial layout of nodes </a:t>
              </a:r>
              <a:endParaRPr lang="en-US" sz="2000" i="0" dirty="0">
                <a:latin typeface="Arial" charset="0"/>
                <a:cs typeface="+mn-cs"/>
              </a:endParaRPr>
            </a:p>
          </p:txBody>
        </p:sp>
        <p:grpSp>
          <p:nvGrpSpPr>
            <p:cNvPr id="103432" name="Group 30"/>
            <p:cNvGrpSpPr>
              <a:grpSpLocks/>
            </p:cNvGrpSpPr>
            <p:nvPr/>
          </p:nvGrpSpPr>
          <p:grpSpPr bwMode="auto">
            <a:xfrm>
              <a:off x="2685281" y="1985963"/>
              <a:ext cx="3263900" cy="195262"/>
              <a:chOff x="4220" y="1231"/>
              <a:chExt cx="1989" cy="90"/>
            </a:xfrm>
          </p:grpSpPr>
          <p:sp>
            <p:nvSpPr>
              <p:cNvPr id="32790" name="Line 23"/>
              <p:cNvSpPr>
                <a:spLocks noChangeShapeType="1"/>
              </p:cNvSpPr>
              <p:nvPr/>
            </p:nvSpPr>
            <p:spPr bwMode="auto">
              <a:xfrm>
                <a:off x="4220" y="1232"/>
                <a:ext cx="198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2791" name="Line 24"/>
              <p:cNvSpPr>
                <a:spLocks noChangeShapeType="1"/>
              </p:cNvSpPr>
              <p:nvPr/>
            </p:nvSpPr>
            <p:spPr bwMode="auto">
              <a:xfrm>
                <a:off x="4220" y="1231"/>
                <a:ext cx="0" cy="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2792" name="Line 25"/>
              <p:cNvSpPr>
                <a:spLocks noChangeShapeType="1"/>
              </p:cNvSpPr>
              <p:nvPr/>
            </p:nvSpPr>
            <p:spPr bwMode="auto">
              <a:xfrm>
                <a:off x="4886" y="1234"/>
                <a:ext cx="0" cy="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2793" name="Line 26"/>
              <p:cNvSpPr>
                <a:spLocks noChangeShapeType="1"/>
              </p:cNvSpPr>
              <p:nvPr/>
            </p:nvSpPr>
            <p:spPr bwMode="auto">
              <a:xfrm>
                <a:off x="5489" y="1234"/>
                <a:ext cx="0" cy="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2794" name="Line 27"/>
              <p:cNvSpPr>
                <a:spLocks noChangeShapeType="1"/>
              </p:cNvSpPr>
              <p:nvPr/>
            </p:nvSpPr>
            <p:spPr bwMode="auto">
              <a:xfrm>
                <a:off x="6200" y="1231"/>
                <a:ext cx="0" cy="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03433" name="Group 11"/>
            <p:cNvGrpSpPr>
              <a:grpSpLocks/>
            </p:cNvGrpSpPr>
            <p:nvPr/>
          </p:nvGrpSpPr>
          <p:grpSpPr bwMode="auto">
            <a:xfrm flipH="1">
              <a:off x="2331268" y="2119313"/>
              <a:ext cx="501650" cy="512762"/>
              <a:chOff x="2839" y="3501"/>
              <a:chExt cx="755" cy="803"/>
            </a:xfrm>
          </p:grpSpPr>
          <p:pic>
            <p:nvPicPr>
              <p:cNvPr id="103443" name="Picture 1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444" name="Freeform 13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03434" name="Group 14"/>
            <p:cNvGrpSpPr>
              <a:grpSpLocks/>
            </p:cNvGrpSpPr>
            <p:nvPr/>
          </p:nvGrpSpPr>
          <p:grpSpPr bwMode="auto">
            <a:xfrm flipH="1">
              <a:off x="3423468" y="2101850"/>
              <a:ext cx="501650" cy="512763"/>
              <a:chOff x="2839" y="3501"/>
              <a:chExt cx="755" cy="803"/>
            </a:xfrm>
          </p:grpSpPr>
          <p:pic>
            <p:nvPicPr>
              <p:cNvPr id="103441" name="Picture 1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442" name="Freeform 16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03435" name="Group 17"/>
            <p:cNvGrpSpPr>
              <a:grpSpLocks/>
            </p:cNvGrpSpPr>
            <p:nvPr/>
          </p:nvGrpSpPr>
          <p:grpSpPr bwMode="auto">
            <a:xfrm flipH="1">
              <a:off x="4422006" y="2092325"/>
              <a:ext cx="501650" cy="512763"/>
              <a:chOff x="2839" y="3501"/>
              <a:chExt cx="755" cy="803"/>
            </a:xfrm>
          </p:grpSpPr>
          <p:pic>
            <p:nvPicPr>
              <p:cNvPr id="103439" name="Picture 1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440" name="Freeform 19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03436" name="Group 20"/>
            <p:cNvGrpSpPr>
              <a:grpSpLocks/>
            </p:cNvGrpSpPr>
            <p:nvPr/>
          </p:nvGrpSpPr>
          <p:grpSpPr bwMode="auto">
            <a:xfrm flipH="1">
              <a:off x="5541193" y="2106613"/>
              <a:ext cx="501650" cy="512762"/>
              <a:chOff x="2839" y="3501"/>
              <a:chExt cx="755" cy="803"/>
            </a:xfrm>
          </p:grpSpPr>
          <p:pic>
            <p:nvPicPr>
              <p:cNvPr id="103437" name="Picture 2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438" name="Freeform 2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011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on CSMA/CD network length</a:t>
            </a:r>
          </a:p>
        </p:txBody>
      </p:sp>
      <p:sp>
        <p:nvSpPr>
          <p:cNvPr id="94310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004456"/>
            <a:ext cx="7924800" cy="3015343"/>
          </a:xfrm>
        </p:spPr>
        <p:txBody>
          <a:bodyPr/>
          <a:lstStyle/>
          <a:p>
            <a:r>
              <a:rPr lang="en-US" dirty="0"/>
              <a:t>Latency depends on physical length of link</a:t>
            </a:r>
          </a:p>
          <a:p>
            <a:pPr lvl="1"/>
            <a:r>
              <a:rPr lang="en-US" dirty="0"/>
              <a:t>Time to propagate a frame from one end to other</a:t>
            </a:r>
          </a:p>
          <a:p>
            <a:r>
              <a:rPr lang="en-US" dirty="0"/>
              <a:t> Suppose A sends a frame at time </a:t>
            </a:r>
            <a:r>
              <a:rPr lang="en-US" b="1" dirty="0"/>
              <a:t>t</a:t>
            </a:r>
          </a:p>
          <a:p>
            <a:pPr lvl="1"/>
            <a:r>
              <a:rPr lang="en-US" dirty="0"/>
              <a:t>And B sees an idle line at a time just before </a:t>
            </a:r>
            <a:r>
              <a:rPr lang="en-US" b="1" dirty="0"/>
              <a:t>t + d</a:t>
            </a:r>
          </a:p>
          <a:p>
            <a:pPr lvl="1"/>
            <a:r>
              <a:rPr lang="en-US" dirty="0"/>
              <a:t>… so B happily starts transmitting a frame</a:t>
            </a:r>
          </a:p>
          <a:p>
            <a:r>
              <a:rPr lang="en-US" dirty="0"/>
              <a:t>B detects a collision, and sends jamming signal</a:t>
            </a:r>
          </a:p>
          <a:p>
            <a:pPr lvl="1"/>
            <a:r>
              <a:rPr lang="en-US" dirty="0"/>
              <a:t>But A cannot see collision until </a:t>
            </a:r>
            <a:r>
              <a:rPr lang="en-US" b="1" dirty="0"/>
              <a:t>t + 2d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59</a:t>
            </a:fld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914400" y="1410746"/>
            <a:ext cx="7354389" cy="1362047"/>
            <a:chOff x="517525" y="1201738"/>
            <a:chExt cx="8554585" cy="1584325"/>
          </a:xfrm>
        </p:grpSpPr>
        <p:pic>
          <p:nvPicPr>
            <p:cNvPr id="96261" name="Picture 4" descr="j019538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1413" y="1431925"/>
              <a:ext cx="1316037" cy="1344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6262" name="Picture 5" descr="j029202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850" y="1316038"/>
              <a:ext cx="1549400" cy="147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263" name="Rectangle 6"/>
            <p:cNvSpPr>
              <a:spLocks noChangeArrowheads="1"/>
            </p:cNvSpPr>
            <p:nvPr/>
          </p:nvSpPr>
          <p:spPr bwMode="auto">
            <a:xfrm>
              <a:off x="2074863" y="1970089"/>
              <a:ext cx="5568950" cy="8731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266" name="Text Box 13"/>
            <p:cNvSpPr txBox="1">
              <a:spLocks noChangeArrowheads="1"/>
            </p:cNvSpPr>
            <p:nvPr/>
          </p:nvSpPr>
          <p:spPr bwMode="auto">
            <a:xfrm>
              <a:off x="4030663" y="1547813"/>
              <a:ext cx="12858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latency</a:t>
              </a:r>
              <a:r>
                <a:rPr lang="en-US" i="1">
                  <a:latin typeface="Helvetica" charset="0"/>
                </a:rPr>
                <a:t> d</a:t>
              </a:r>
              <a:endParaRPr lang="en-US">
                <a:latin typeface="Helvetica" charset="0"/>
              </a:endParaRPr>
            </a:p>
          </p:txBody>
        </p:sp>
        <p:sp>
          <p:nvSpPr>
            <p:cNvPr id="96267" name="Text Box 14"/>
            <p:cNvSpPr txBox="1">
              <a:spLocks noChangeArrowheads="1"/>
            </p:cNvSpPr>
            <p:nvPr/>
          </p:nvSpPr>
          <p:spPr bwMode="auto">
            <a:xfrm>
              <a:off x="517525" y="12652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Helvetica" charset="0"/>
                </a:rPr>
                <a:t>A</a:t>
              </a:r>
              <a:endParaRPr lang="en-US">
                <a:latin typeface="Helvetica" charset="0"/>
              </a:endParaRPr>
            </a:p>
          </p:txBody>
        </p:sp>
        <p:sp>
          <p:nvSpPr>
            <p:cNvPr id="96268" name="Text Box 15"/>
            <p:cNvSpPr txBox="1">
              <a:spLocks noChangeArrowheads="1"/>
            </p:cNvSpPr>
            <p:nvPr/>
          </p:nvSpPr>
          <p:spPr bwMode="auto">
            <a:xfrm>
              <a:off x="8703810" y="12017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Helvetica" charset="0"/>
                </a:rPr>
                <a:t>B</a:t>
              </a:r>
              <a:endParaRPr lang="en-US">
                <a:latin typeface="Helvetica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BDB5558-E65E-B74E-BB12-173292128204}"/>
                  </a:ext>
                </a:extLst>
              </p14:cNvPr>
              <p14:cNvContentPartPr/>
              <p14:nvPr/>
            </p14:nvContentPartPr>
            <p14:xfrm>
              <a:off x="557280" y="613080"/>
              <a:ext cx="8073000" cy="6043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BDB5558-E65E-B74E-BB12-1732921282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1080" y="596880"/>
                <a:ext cx="8105400" cy="607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106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3107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on CSMA/CD network length</a:t>
            </a:r>
          </a:p>
        </p:txBody>
      </p:sp>
      <p:sp>
        <p:nvSpPr>
          <p:cNvPr id="9451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017520"/>
            <a:ext cx="7924800" cy="3002280"/>
          </a:xfrm>
        </p:spPr>
        <p:txBody>
          <a:bodyPr/>
          <a:lstStyle/>
          <a:p>
            <a:r>
              <a:rPr lang="en-US" dirty="0"/>
              <a:t>A needs to wait for time </a:t>
            </a:r>
            <a:r>
              <a:rPr lang="en-US" b="1" dirty="0"/>
              <a:t>2d</a:t>
            </a:r>
            <a:r>
              <a:rPr lang="en-US" dirty="0"/>
              <a:t> to detect collision</a:t>
            </a:r>
          </a:p>
          <a:p>
            <a:pPr lvl="1"/>
            <a:r>
              <a:rPr lang="en-US" dirty="0"/>
              <a:t>So, A should keep transmitting during this period</a:t>
            </a:r>
          </a:p>
          <a:p>
            <a:pPr lvl="1"/>
            <a:r>
              <a:rPr lang="en-US" dirty="0"/>
              <a:t>AND keep an eye out for a possible collision</a:t>
            </a:r>
          </a:p>
          <a:p>
            <a:r>
              <a:rPr lang="en-US" dirty="0"/>
              <a:t>Imposes restrictions; e.g., for 10 Mbps Ethernet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Maximum length</a:t>
            </a:r>
            <a:r>
              <a:rPr lang="en-US" dirty="0"/>
              <a:t> of the wire: 2,500 meters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Minimum length</a:t>
            </a:r>
            <a:r>
              <a:rPr lang="en-US" dirty="0"/>
              <a:t> of a frame: 512 bits (64 bytes)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60</a:t>
            </a:fld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914400" y="1410746"/>
            <a:ext cx="7354389" cy="1362047"/>
            <a:chOff x="517525" y="1201738"/>
            <a:chExt cx="8554585" cy="1584325"/>
          </a:xfrm>
        </p:grpSpPr>
        <p:pic>
          <p:nvPicPr>
            <p:cNvPr id="11" name="Picture 4" descr="j019538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1413" y="1431925"/>
              <a:ext cx="1316037" cy="1344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5" descr="j029202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850" y="1316038"/>
              <a:ext cx="1549400" cy="147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2074863" y="1970089"/>
              <a:ext cx="5568950" cy="8731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4030663" y="1547813"/>
              <a:ext cx="12858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latency</a:t>
              </a:r>
              <a:r>
                <a:rPr lang="en-US" i="1">
                  <a:latin typeface="Helvetica" charset="0"/>
                </a:rPr>
                <a:t> d</a:t>
              </a:r>
              <a:endParaRPr lang="en-US">
                <a:latin typeface="Helvetica" charset="0"/>
              </a:endParaRP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517525" y="12652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Helvetica" charset="0"/>
                </a:rPr>
                <a:t>A</a:t>
              </a:r>
              <a:endParaRPr lang="en-US">
                <a:latin typeface="Helvetica" charset="0"/>
              </a:endParaRPr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8703810" y="12017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Helvetica" charset="0"/>
                </a:rPr>
                <a:t>B</a:t>
              </a:r>
              <a:endParaRPr lang="en-US">
                <a:latin typeface="Helvetica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32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5155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Framing frames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Physical layer puts bits on a link</a:t>
            </a:r>
          </a:p>
          <a:p>
            <a:r>
              <a:rPr lang="en-US" dirty="0"/>
              <a:t>But, two hosts connected on the same physical medium need to be able to exchange frames</a:t>
            </a:r>
          </a:p>
          <a:p>
            <a:pPr lvl="1"/>
            <a:r>
              <a:rPr lang="en-US" dirty="0"/>
              <a:t>Service provided by the link layer</a:t>
            </a:r>
          </a:p>
          <a:p>
            <a:pPr lvl="1"/>
            <a:r>
              <a:rPr lang="en-US" dirty="0"/>
              <a:t>Implemented by the network adaptor</a:t>
            </a:r>
          </a:p>
          <a:p>
            <a:r>
              <a:rPr lang="en-US" dirty="0">
                <a:solidFill>
                  <a:srgbClr val="0000FF"/>
                </a:solidFill>
              </a:rPr>
              <a:t>Framing problem</a:t>
            </a:r>
            <a:r>
              <a:rPr lang="en-US" dirty="0"/>
              <a:t>: how does the link layer determine where each frame begins and ends?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1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approach: Count bytes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includes number of bytes in header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Receiver extracts this number of bytes of body</a:t>
            </a:r>
          </a:p>
          <a:p>
            <a:r>
              <a:rPr lang="en-US" dirty="0">
                <a:solidFill>
                  <a:srgbClr val="0000FF"/>
                </a:solidFill>
              </a:rPr>
              <a:t>What if the Count field is corrupted?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L2 will frame the wrong bytes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a framing error</a:t>
            </a:r>
          </a:p>
          <a:p>
            <a:pPr lvl="1"/>
            <a:r>
              <a:rPr lang="en-US" dirty="0"/>
              <a:t>CRC tells you to discard this frame, but what about the next one?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62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182017" y="2318771"/>
            <a:ext cx="6779967" cy="763616"/>
            <a:chOff x="1178378" y="2221468"/>
            <a:chExt cx="6779967" cy="763616"/>
          </a:xfrm>
        </p:grpSpPr>
        <p:sp>
          <p:nvSpPr>
            <p:cNvPr id="23" name="Rectangle 7"/>
            <p:cNvSpPr>
              <a:spLocks noChangeArrowheads="1"/>
            </p:cNvSpPr>
            <p:nvPr/>
          </p:nvSpPr>
          <p:spPr bwMode="auto">
            <a:xfrm>
              <a:off x="1178378" y="2221468"/>
              <a:ext cx="698500" cy="355407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>
                  <a:ea typeface="Arial" charset="0"/>
                  <a:cs typeface="Arial" charset="0"/>
                </a:rPr>
                <a:t>53</a:t>
              </a:r>
            </a:p>
          </p:txBody>
        </p:sp>
        <p:sp>
          <p:nvSpPr>
            <p:cNvPr id="25" name="Rectangle 9"/>
            <p:cNvSpPr>
              <a:spLocks noChangeArrowheads="1"/>
            </p:cNvSpPr>
            <p:nvPr/>
          </p:nvSpPr>
          <p:spPr bwMode="auto">
            <a:xfrm>
              <a:off x="1876878" y="2221468"/>
              <a:ext cx="1913229" cy="355407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>
                  <a:ea typeface="Arial" charset="0"/>
                  <a:cs typeface="Arial" charset="0"/>
                </a:rPr>
                <a:t>Body</a:t>
              </a:r>
            </a:p>
          </p:txBody>
        </p:sp>
        <p:sp>
          <p:nvSpPr>
            <p:cNvPr id="27" name="Rectangle 7"/>
            <p:cNvSpPr>
              <a:spLocks noChangeArrowheads="1"/>
            </p:cNvSpPr>
            <p:nvPr/>
          </p:nvSpPr>
          <p:spPr bwMode="auto">
            <a:xfrm>
              <a:off x="3790107" y="2221468"/>
              <a:ext cx="698500" cy="355407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>
                  <a:ea typeface="Arial" charset="0"/>
                  <a:cs typeface="Arial" charset="0"/>
                </a:rPr>
                <a:t>80</a:t>
              </a:r>
            </a:p>
          </p:txBody>
        </p:sp>
        <p:sp>
          <p:nvSpPr>
            <p:cNvPr id="28" name="Rectangle 9"/>
            <p:cNvSpPr>
              <a:spLocks noChangeArrowheads="1"/>
            </p:cNvSpPr>
            <p:nvPr/>
          </p:nvSpPr>
          <p:spPr bwMode="auto">
            <a:xfrm>
              <a:off x="4488607" y="2221468"/>
              <a:ext cx="3469738" cy="355407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>
                  <a:ea typeface="Arial" charset="0"/>
                  <a:cs typeface="Arial" charset="0"/>
                </a:rPr>
                <a:t>Body</a:t>
              </a:r>
            </a:p>
          </p:txBody>
        </p:sp>
        <p:sp>
          <p:nvSpPr>
            <p:cNvPr id="29" name="Left Brace 28"/>
            <p:cNvSpPr/>
            <p:nvPr/>
          </p:nvSpPr>
          <p:spPr>
            <a:xfrm rot="16200000">
              <a:off x="2745416" y="1708337"/>
              <a:ext cx="135332" cy="1872407"/>
            </a:xfrm>
            <a:prstGeom prst="leftBrace">
              <a:avLst>
                <a:gd name="adj1" fmla="val 34259"/>
                <a:gd name="adj2" fmla="val 50000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053953" y="2645613"/>
              <a:ext cx="16466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>
                  <a:ea typeface="Arial" charset="0"/>
                  <a:cs typeface="Arial" charset="0"/>
                </a:rPr>
                <a:t>53 bytes of data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378999" y="2646530"/>
              <a:ext cx="16466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>
                  <a:ea typeface="Arial" charset="0"/>
                  <a:cs typeface="Arial" charset="0"/>
                </a:rPr>
                <a:t>80 bytes of data</a:t>
              </a:r>
            </a:p>
          </p:txBody>
        </p:sp>
        <p:sp>
          <p:nvSpPr>
            <p:cNvPr id="32" name="Left Brace 31"/>
            <p:cNvSpPr/>
            <p:nvPr/>
          </p:nvSpPr>
          <p:spPr>
            <a:xfrm rot="16200000">
              <a:off x="6155810" y="926740"/>
              <a:ext cx="135332" cy="3469737"/>
            </a:xfrm>
            <a:prstGeom prst="leftBrace">
              <a:avLst>
                <a:gd name="adj1" fmla="val 34259"/>
                <a:gd name="adj2" fmla="val 50000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79623" y="4067017"/>
            <a:ext cx="7584754" cy="1264746"/>
            <a:chOff x="1178376" y="4841625"/>
            <a:chExt cx="7584754" cy="1264746"/>
          </a:xfrm>
        </p:grpSpPr>
        <p:sp>
          <p:nvSpPr>
            <p:cNvPr id="35" name="Rectangle 7"/>
            <p:cNvSpPr>
              <a:spLocks noChangeArrowheads="1"/>
            </p:cNvSpPr>
            <p:nvPr/>
          </p:nvSpPr>
          <p:spPr bwMode="auto">
            <a:xfrm>
              <a:off x="1178376" y="5343672"/>
              <a:ext cx="698500" cy="355407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/>
                <a:t>61</a:t>
              </a:r>
            </a:p>
          </p:txBody>
        </p:sp>
        <p:sp>
          <p:nvSpPr>
            <p:cNvPr id="36" name="Rectangle 9"/>
            <p:cNvSpPr>
              <a:spLocks noChangeArrowheads="1"/>
            </p:cNvSpPr>
            <p:nvPr/>
          </p:nvSpPr>
          <p:spPr bwMode="auto">
            <a:xfrm>
              <a:off x="1876876" y="5343672"/>
              <a:ext cx="1913229" cy="355407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/>
                <a:t>Body</a:t>
              </a:r>
            </a:p>
          </p:txBody>
        </p:sp>
        <p:sp>
          <p:nvSpPr>
            <p:cNvPr id="37" name="Rectangle 7"/>
            <p:cNvSpPr>
              <a:spLocks noChangeArrowheads="1"/>
            </p:cNvSpPr>
            <p:nvPr/>
          </p:nvSpPr>
          <p:spPr bwMode="auto">
            <a:xfrm>
              <a:off x="3790105" y="5343672"/>
              <a:ext cx="698500" cy="355407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/>
                <a:t>80</a:t>
              </a:r>
            </a:p>
          </p:txBody>
        </p:sp>
        <p:sp>
          <p:nvSpPr>
            <p:cNvPr id="38" name="Rectangle 9"/>
            <p:cNvSpPr>
              <a:spLocks noChangeArrowheads="1"/>
            </p:cNvSpPr>
            <p:nvPr/>
          </p:nvSpPr>
          <p:spPr bwMode="auto">
            <a:xfrm>
              <a:off x="4488605" y="5343672"/>
              <a:ext cx="3469740" cy="355407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/>
                <a:t>Body</a:t>
              </a:r>
            </a:p>
          </p:txBody>
        </p:sp>
        <p:sp>
          <p:nvSpPr>
            <p:cNvPr id="39" name="Left Brace 38"/>
            <p:cNvSpPr/>
            <p:nvPr/>
          </p:nvSpPr>
          <p:spPr>
            <a:xfrm rot="16200000">
              <a:off x="3284129" y="4291827"/>
              <a:ext cx="135332" cy="2949835"/>
            </a:xfrm>
            <a:prstGeom prst="leftBrace">
              <a:avLst>
                <a:gd name="adj1" fmla="val 34259"/>
                <a:gd name="adj2" fmla="val 50000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053951" y="5767817"/>
              <a:ext cx="28536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/>
                <a:t>61 bytes of data </a:t>
              </a:r>
              <a:r>
                <a:rPr lang="en-US" b="0" dirty="0">
                  <a:solidFill>
                    <a:srgbClr val="FF0000"/>
                  </a:solidFill>
                </a:rPr>
                <a:t>misdelivered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795651" y="5767817"/>
              <a:ext cx="29674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/>
                <a:t>??? bytes of data </a:t>
              </a:r>
              <a:r>
                <a:rPr lang="en-US" b="0" dirty="0">
                  <a:solidFill>
                    <a:srgbClr val="FF0000"/>
                  </a:solidFill>
                </a:rPr>
                <a:t>misdelivered</a:t>
              </a:r>
            </a:p>
          </p:txBody>
        </p:sp>
        <p:sp>
          <p:nvSpPr>
            <p:cNvPr id="42" name="Left Brace 41"/>
            <p:cNvSpPr/>
            <p:nvPr/>
          </p:nvSpPr>
          <p:spPr>
            <a:xfrm rot="16200000">
              <a:off x="6691102" y="4568240"/>
              <a:ext cx="135332" cy="2399154"/>
            </a:xfrm>
            <a:prstGeom prst="leftBrace">
              <a:avLst>
                <a:gd name="adj1" fmla="val 34259"/>
                <a:gd name="adj2" fmla="val 50000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0"/>
            </a:p>
          </p:txBody>
        </p:sp>
        <p:sp>
          <p:nvSpPr>
            <p:cNvPr id="43" name="Multiply 42"/>
            <p:cNvSpPr/>
            <p:nvPr/>
          </p:nvSpPr>
          <p:spPr>
            <a:xfrm>
              <a:off x="1521470" y="5165969"/>
              <a:ext cx="355406" cy="355406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b="0" dirty="0"/>
            </a:p>
          </p:txBody>
        </p:sp>
        <p:sp>
          <p:nvSpPr>
            <p:cNvPr id="44" name="Rectangle 7"/>
            <p:cNvSpPr>
              <a:spLocks noChangeArrowheads="1"/>
            </p:cNvSpPr>
            <p:nvPr/>
          </p:nvSpPr>
          <p:spPr bwMode="auto">
            <a:xfrm>
              <a:off x="4860691" y="5343671"/>
              <a:ext cx="698500" cy="35540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accent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/>
                <a:t>???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151315" y="4841625"/>
              <a:ext cx="17572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/>
                <a:t>Bogus count field</a:t>
              </a:r>
            </a:p>
          </p:txBody>
        </p:sp>
        <p:cxnSp>
          <p:nvCxnSpPr>
            <p:cNvPr id="48" name="Straight Arrow Connector 47"/>
            <p:cNvCxnSpPr>
              <a:stCxn id="46" idx="1"/>
              <a:endCxn id="44" idx="0"/>
            </p:cNvCxnSpPr>
            <p:nvPr/>
          </p:nvCxnSpPr>
          <p:spPr>
            <a:xfrm flipH="1">
              <a:off x="5209941" y="5010902"/>
              <a:ext cx="941374" cy="332769"/>
            </a:xfrm>
            <a:prstGeom prst="straightConnector1">
              <a:avLst/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1644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Desynchronization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framing on a link is desynchronized, it can stay that way</a:t>
            </a:r>
          </a:p>
          <a:p>
            <a:r>
              <a:rPr lang="en-US" dirty="0"/>
              <a:t>Need a method to </a:t>
            </a:r>
            <a:r>
              <a:rPr lang="en-US" dirty="0">
                <a:solidFill>
                  <a:srgbClr val="0000FF"/>
                </a:solidFill>
              </a:rPr>
              <a:t>resynchronize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808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Framing with sentinel bits</a:t>
            </a:r>
            <a:endParaRPr lang="en-US" dirty="0"/>
          </a:p>
        </p:txBody>
      </p:sp>
      <p:sp>
        <p:nvSpPr>
          <p:cNvPr id="945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Delineate frame with special “sentinel” bit pattern</a:t>
            </a:r>
          </a:p>
          <a:p>
            <a:pPr lvl="1"/>
            <a:r>
              <a:rPr lang="en-US" dirty="0"/>
              <a:t>e.g., 01111110 </a:t>
            </a:r>
            <a:r>
              <a:rPr lang="en-US" dirty="0">
                <a:sym typeface="Symbol" charset="0"/>
              </a:rPr>
              <a:t> start, </a:t>
            </a:r>
            <a:r>
              <a:rPr lang="en-US" dirty="0"/>
              <a:t>01111111 </a:t>
            </a:r>
            <a:r>
              <a:rPr lang="en-US" dirty="0">
                <a:sym typeface="Symbol" charset="0"/>
              </a:rPr>
              <a:t> end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What if sentinel occurs within frame?</a:t>
            </a:r>
          </a:p>
          <a:p>
            <a:r>
              <a:rPr lang="en-US" dirty="0"/>
              <a:t>Solution: bit stuffing</a:t>
            </a:r>
          </a:p>
          <a:p>
            <a:pPr lvl="1"/>
            <a:r>
              <a:rPr lang="en-US" dirty="0"/>
              <a:t>Sender always inserts a 0 after five 1s in the frame contents</a:t>
            </a:r>
          </a:p>
          <a:p>
            <a:pPr lvl="1"/>
            <a:r>
              <a:rPr lang="en-US" dirty="0"/>
              <a:t>Receiver always removes a 0 appearing after five 1s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64</a:t>
            </a:fld>
            <a:endParaRPr lang="en-US"/>
          </a:p>
        </p:txBody>
      </p:sp>
      <p:grpSp>
        <p:nvGrpSpPr>
          <p:cNvPr id="37893" name="Group 4"/>
          <p:cNvGrpSpPr>
            <a:grpSpLocks/>
          </p:cNvGrpSpPr>
          <p:nvPr/>
        </p:nvGrpSpPr>
        <p:grpSpPr bwMode="auto">
          <a:xfrm>
            <a:off x="1422402" y="3176954"/>
            <a:ext cx="6259513" cy="500063"/>
            <a:chOff x="969" y="2184"/>
            <a:chExt cx="3943" cy="315"/>
          </a:xfrm>
        </p:grpSpPr>
        <p:sp>
          <p:nvSpPr>
            <p:cNvPr id="37894" name="Rectangle 5"/>
            <p:cNvSpPr>
              <a:spLocks noChangeArrowheads="1"/>
            </p:cNvSpPr>
            <p:nvPr/>
          </p:nvSpPr>
          <p:spPr bwMode="auto">
            <a:xfrm>
              <a:off x="969" y="2184"/>
              <a:ext cx="919" cy="315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ea typeface="Arial" charset="0"/>
                <a:cs typeface="Arial" charset="0"/>
              </a:endParaRPr>
            </a:p>
          </p:txBody>
        </p:sp>
        <p:sp>
          <p:nvSpPr>
            <p:cNvPr id="37895" name="Text Box 6"/>
            <p:cNvSpPr txBox="1">
              <a:spLocks noChangeArrowheads="1"/>
            </p:cNvSpPr>
            <p:nvPr/>
          </p:nvSpPr>
          <p:spPr bwMode="auto">
            <a:xfrm>
              <a:off x="1045" y="2208"/>
              <a:ext cx="77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01111110</a:t>
              </a:r>
            </a:p>
          </p:txBody>
        </p:sp>
        <p:sp>
          <p:nvSpPr>
            <p:cNvPr id="37896" name="Rectangle 7"/>
            <p:cNvSpPr>
              <a:spLocks noChangeArrowheads="1"/>
            </p:cNvSpPr>
            <p:nvPr/>
          </p:nvSpPr>
          <p:spPr bwMode="auto">
            <a:xfrm>
              <a:off x="1889" y="2184"/>
              <a:ext cx="2104" cy="315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ea typeface="Arial" charset="0"/>
                <a:cs typeface="Arial" charset="0"/>
              </a:endParaRPr>
            </a:p>
          </p:txBody>
        </p:sp>
        <p:sp>
          <p:nvSpPr>
            <p:cNvPr id="37897" name="Rectangle 8"/>
            <p:cNvSpPr>
              <a:spLocks noChangeArrowheads="1"/>
            </p:cNvSpPr>
            <p:nvPr/>
          </p:nvSpPr>
          <p:spPr bwMode="auto">
            <a:xfrm>
              <a:off x="3993" y="2184"/>
              <a:ext cx="919" cy="315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ea typeface="Arial" charset="0"/>
                <a:cs typeface="Arial" charset="0"/>
              </a:endParaRPr>
            </a:p>
          </p:txBody>
        </p:sp>
        <p:sp>
          <p:nvSpPr>
            <p:cNvPr id="37898" name="Text Box 9"/>
            <p:cNvSpPr txBox="1">
              <a:spLocks noChangeArrowheads="1"/>
            </p:cNvSpPr>
            <p:nvPr/>
          </p:nvSpPr>
          <p:spPr bwMode="auto">
            <a:xfrm>
              <a:off x="4065" y="2208"/>
              <a:ext cx="78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01111111</a:t>
              </a:r>
            </a:p>
          </p:txBody>
        </p:sp>
        <p:sp>
          <p:nvSpPr>
            <p:cNvPr id="37899" name="Text Box 10"/>
            <p:cNvSpPr txBox="1">
              <a:spLocks noChangeArrowheads="1"/>
            </p:cNvSpPr>
            <p:nvPr/>
          </p:nvSpPr>
          <p:spPr bwMode="auto">
            <a:xfrm>
              <a:off x="2309" y="2208"/>
              <a:ext cx="123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Frame contents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952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When receiver sees five 1s…</a:t>
            </a:r>
            <a:endParaRPr lang="en-US" dirty="0"/>
          </a:p>
        </p:txBody>
      </p:sp>
      <p:sp>
        <p:nvSpPr>
          <p:cNvPr id="945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If next bit 0, remove it; begin counting again</a:t>
            </a:r>
          </a:p>
          <a:p>
            <a:pPr lvl="1"/>
            <a:r>
              <a:rPr lang="en-US" dirty="0"/>
              <a:t>Because this must be a stuffed bit; we can’t be at beginning/end of frame (those had six or seven 1s)</a:t>
            </a:r>
          </a:p>
          <a:p>
            <a:r>
              <a:rPr lang="en-US" dirty="0"/>
              <a:t>If next bit 1 (i.e., we’ve seen six 1s) then:</a:t>
            </a:r>
          </a:p>
          <a:p>
            <a:pPr lvl="1"/>
            <a:r>
              <a:rPr lang="en-US" dirty="0"/>
              <a:t>If following bit is 0, this is start of frame</a:t>
            </a:r>
          </a:p>
          <a:p>
            <a:pPr lvl="2"/>
            <a:r>
              <a:rPr lang="en-US" dirty="0"/>
              <a:t>Because the receiver has seen 01111110</a:t>
            </a:r>
          </a:p>
          <a:p>
            <a:pPr lvl="1"/>
            <a:r>
              <a:rPr lang="en-US" dirty="0"/>
              <a:t>If following bit is 1, this is end of frame</a:t>
            </a:r>
          </a:p>
          <a:p>
            <a:pPr lvl="2"/>
            <a:r>
              <a:rPr lang="en-US" dirty="0"/>
              <a:t>Because the receiver has seen 01111111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65</a:t>
            </a:fld>
            <a:endParaRPr lang="en-US"/>
          </a:p>
        </p:txBody>
      </p:sp>
      <p:grpSp>
        <p:nvGrpSpPr>
          <p:cNvPr id="39941" name="Group 4"/>
          <p:cNvGrpSpPr>
            <a:grpSpLocks/>
          </p:cNvGrpSpPr>
          <p:nvPr/>
        </p:nvGrpSpPr>
        <p:grpSpPr bwMode="auto">
          <a:xfrm>
            <a:off x="1442244" y="1920347"/>
            <a:ext cx="6259513" cy="500063"/>
            <a:chOff x="969" y="2184"/>
            <a:chExt cx="3943" cy="315"/>
          </a:xfrm>
        </p:grpSpPr>
        <p:sp>
          <p:nvSpPr>
            <p:cNvPr id="39942" name="Rectangle 5"/>
            <p:cNvSpPr>
              <a:spLocks noChangeArrowheads="1"/>
            </p:cNvSpPr>
            <p:nvPr/>
          </p:nvSpPr>
          <p:spPr bwMode="auto">
            <a:xfrm>
              <a:off x="969" y="2184"/>
              <a:ext cx="919" cy="315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ea typeface="Arial" charset="0"/>
                <a:cs typeface="Arial" charset="0"/>
              </a:endParaRPr>
            </a:p>
          </p:txBody>
        </p:sp>
        <p:sp>
          <p:nvSpPr>
            <p:cNvPr id="39943" name="Text Box 6"/>
            <p:cNvSpPr txBox="1">
              <a:spLocks noChangeArrowheads="1"/>
            </p:cNvSpPr>
            <p:nvPr/>
          </p:nvSpPr>
          <p:spPr bwMode="auto">
            <a:xfrm>
              <a:off x="1045" y="2208"/>
              <a:ext cx="77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01111110</a:t>
              </a:r>
            </a:p>
          </p:txBody>
        </p:sp>
        <p:sp>
          <p:nvSpPr>
            <p:cNvPr id="39944" name="Rectangle 7"/>
            <p:cNvSpPr>
              <a:spLocks noChangeArrowheads="1"/>
            </p:cNvSpPr>
            <p:nvPr/>
          </p:nvSpPr>
          <p:spPr bwMode="auto">
            <a:xfrm>
              <a:off x="1889" y="2184"/>
              <a:ext cx="2104" cy="315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ea typeface="Arial" charset="0"/>
                <a:cs typeface="Arial" charset="0"/>
              </a:endParaRPr>
            </a:p>
          </p:txBody>
        </p:sp>
        <p:sp>
          <p:nvSpPr>
            <p:cNvPr id="39945" name="Rectangle 8"/>
            <p:cNvSpPr>
              <a:spLocks noChangeArrowheads="1"/>
            </p:cNvSpPr>
            <p:nvPr/>
          </p:nvSpPr>
          <p:spPr bwMode="auto">
            <a:xfrm>
              <a:off x="3993" y="2184"/>
              <a:ext cx="919" cy="315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ea typeface="Arial" charset="0"/>
                <a:cs typeface="Arial" charset="0"/>
              </a:endParaRPr>
            </a:p>
          </p:txBody>
        </p:sp>
        <p:sp>
          <p:nvSpPr>
            <p:cNvPr id="39946" name="Text Box 9"/>
            <p:cNvSpPr txBox="1">
              <a:spLocks noChangeArrowheads="1"/>
            </p:cNvSpPr>
            <p:nvPr/>
          </p:nvSpPr>
          <p:spPr bwMode="auto">
            <a:xfrm>
              <a:off x="4065" y="2208"/>
              <a:ext cx="78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01111111</a:t>
              </a:r>
            </a:p>
          </p:txBody>
        </p:sp>
        <p:sp>
          <p:nvSpPr>
            <p:cNvPr id="39947" name="Text Box 10"/>
            <p:cNvSpPr txBox="1">
              <a:spLocks noChangeArrowheads="1"/>
            </p:cNvSpPr>
            <p:nvPr/>
          </p:nvSpPr>
          <p:spPr bwMode="auto">
            <a:xfrm>
              <a:off x="2350" y="2208"/>
              <a:ext cx="115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Frame content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054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5155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sentinel bits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Original data, including </a:t>
            </a:r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start/end of frame</a:t>
            </a:r>
            <a:r>
              <a:rPr lang="en-US" sz="280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:</a:t>
            </a:r>
          </a:p>
          <a:p>
            <a:pPr lvl="1"/>
            <a:r>
              <a:rPr lang="en-US" dirty="0">
                <a:solidFill>
                  <a:srgbClr val="0000E5"/>
                </a:solidFill>
                <a:latin typeface="Arial" charset="0"/>
                <a:ea typeface="Arial" charset="0"/>
                <a:cs typeface="Arial" charset="0"/>
              </a:rPr>
              <a:t>01111110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0111111011111011111001</a:t>
            </a:r>
            <a:r>
              <a:rPr lang="en-US" dirty="0">
                <a:solidFill>
                  <a:srgbClr val="0000E5"/>
                </a:solidFill>
                <a:latin typeface="Arial" charset="0"/>
                <a:ea typeface="Arial" charset="0"/>
                <a:cs typeface="Arial" charset="0"/>
              </a:rPr>
              <a:t>01111111</a:t>
            </a:r>
            <a:endParaRPr lang="en-US" sz="32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2800" dirty="0">
                <a:latin typeface="Arial" charset="0"/>
                <a:ea typeface="Arial" charset="0"/>
                <a:cs typeface="Arial" charset="0"/>
              </a:rPr>
              <a:t>Sender rule: five 1s </a:t>
            </a:r>
            <a:r>
              <a:rPr lang="en-US" sz="2800" dirty="0">
                <a:latin typeface="Arial" charset="0"/>
                <a:ea typeface="Arial" charset="0"/>
                <a:cs typeface="Arial" charset="0"/>
                <a:sym typeface="Wingdings"/>
              </a:rPr>
              <a:t> insert a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  <a:sym typeface="Wingdings"/>
              </a:rPr>
              <a:t>0</a:t>
            </a:r>
            <a:endParaRPr lang="en-US" sz="2800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  <a:p>
            <a:pPr lvl="1"/>
            <a:r>
              <a:rPr lang="en-US" sz="2400" dirty="0">
                <a:latin typeface="Arial" charset="0"/>
                <a:ea typeface="Arial" charset="0"/>
                <a:cs typeface="Arial" charset="0"/>
              </a:rPr>
              <a:t>After bit stuffing at the sender:</a:t>
            </a:r>
          </a:p>
          <a:p>
            <a:pPr lvl="1"/>
            <a:r>
              <a:rPr lang="en-US" sz="2400" dirty="0">
                <a:solidFill>
                  <a:srgbClr val="0000E5"/>
                </a:solidFill>
                <a:latin typeface="Arial" charset="0"/>
                <a:ea typeface="Arial" charset="0"/>
                <a:cs typeface="Arial" charset="0"/>
              </a:rPr>
              <a:t>01111110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2400" u="sng" dirty="0">
                <a:latin typeface="Arial" charset="0"/>
                <a:ea typeface="Arial" charset="0"/>
                <a:cs typeface="Arial" charset="0"/>
              </a:rPr>
              <a:t>11111</a:t>
            </a:r>
            <a:r>
              <a:rPr lang="en-US" sz="24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10</a:t>
            </a:r>
            <a:r>
              <a:rPr lang="en-US" sz="2400" u="sng" dirty="0">
                <a:latin typeface="Arial" charset="0"/>
                <a:ea typeface="Arial" charset="0"/>
                <a:cs typeface="Arial" charset="0"/>
              </a:rPr>
              <a:t>11111</a:t>
            </a:r>
            <a:r>
              <a:rPr lang="en-US" sz="24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2400" u="sng" dirty="0">
                <a:latin typeface="Arial" charset="0"/>
                <a:ea typeface="Arial" charset="0"/>
                <a:cs typeface="Arial" charset="0"/>
              </a:rPr>
              <a:t>11111</a:t>
            </a:r>
            <a:r>
              <a:rPr lang="en-US" sz="24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001</a:t>
            </a:r>
            <a:r>
              <a:rPr lang="en-US" sz="2400" dirty="0">
                <a:solidFill>
                  <a:srgbClr val="0000E5"/>
                </a:solidFill>
                <a:latin typeface="Arial" charset="0"/>
                <a:ea typeface="Arial" charset="0"/>
                <a:cs typeface="Arial" charset="0"/>
              </a:rPr>
              <a:t>01111111</a:t>
            </a:r>
            <a:endParaRPr lang="en-US" sz="28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2800" dirty="0">
                <a:latin typeface="Arial" charset="0"/>
                <a:ea typeface="Arial" charset="0"/>
                <a:cs typeface="Arial" charset="0"/>
              </a:rPr>
              <a:t>Receiver rule: five 1s and next bit 0 </a:t>
            </a:r>
            <a:r>
              <a:rPr lang="en-US" sz="2800" dirty="0">
                <a:latin typeface="Arial" charset="0"/>
                <a:ea typeface="Arial" charset="0"/>
                <a:cs typeface="Arial" charset="0"/>
                <a:sym typeface="Wingdings"/>
              </a:rPr>
              <a:t> remove 0</a:t>
            </a:r>
            <a:endParaRPr lang="en-US" dirty="0">
              <a:solidFill>
                <a:srgbClr val="0000E5"/>
              </a:solidFill>
              <a:latin typeface="Arial" charset="0"/>
              <a:ea typeface="Arial" charset="0"/>
              <a:cs typeface="Arial" charset="0"/>
              <a:sym typeface="Wingdings"/>
            </a:endParaRPr>
          </a:p>
          <a:p>
            <a:pPr lvl="1"/>
            <a:r>
              <a:rPr lang="en-US" dirty="0">
                <a:solidFill>
                  <a:srgbClr val="0000E5"/>
                </a:solidFill>
                <a:latin typeface="Arial" charset="0"/>
                <a:ea typeface="Arial" charset="0"/>
                <a:cs typeface="Arial" charset="0"/>
              </a:rPr>
              <a:t>01111110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u="sng" dirty="0">
                <a:latin typeface="Arial" charset="0"/>
                <a:ea typeface="Arial" charset="0"/>
                <a:cs typeface="Arial" charset="0"/>
              </a:rPr>
              <a:t>11111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10</a:t>
            </a:r>
            <a:r>
              <a:rPr lang="en-US" u="sng" dirty="0">
                <a:latin typeface="Arial" charset="0"/>
                <a:ea typeface="Arial" charset="0"/>
                <a:cs typeface="Arial" charset="0"/>
              </a:rPr>
              <a:t>11111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u="sng" dirty="0">
                <a:latin typeface="Arial" charset="0"/>
                <a:ea typeface="Arial" charset="0"/>
                <a:cs typeface="Arial" charset="0"/>
              </a:rPr>
              <a:t>11111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001</a:t>
            </a:r>
            <a:r>
              <a:rPr lang="en-US" dirty="0">
                <a:solidFill>
                  <a:srgbClr val="0000E5"/>
                </a:solidFill>
                <a:latin typeface="Arial" charset="0"/>
                <a:ea typeface="Arial" charset="0"/>
                <a:cs typeface="Arial" charset="0"/>
              </a:rPr>
              <a:t>01111111</a:t>
            </a:r>
            <a:endParaRPr lang="en-US" sz="2800" dirty="0">
              <a:solidFill>
                <a:srgbClr val="0000E5"/>
              </a:solidFill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endParaRPr lang="en-US" sz="28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8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learning: Handling misses</a:t>
            </a:r>
          </a:p>
        </p:txBody>
      </p:sp>
      <p:sp>
        <p:nvSpPr>
          <p:cNvPr id="686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When packet arrives with unfamiliar destination</a:t>
            </a:r>
          </a:p>
          <a:p>
            <a:r>
              <a:rPr lang="en-US"/>
              <a:t>Forward packet out all other ports</a:t>
            </a:r>
          </a:p>
          <a:p>
            <a:r>
              <a:rPr lang="en-US"/>
              <a:t>Response may teach switch about that destination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68617" name="Rectangle 4"/>
          <p:cNvSpPr>
            <a:spLocks noChangeArrowheads="1"/>
          </p:cNvSpPr>
          <p:nvPr/>
        </p:nvSpPr>
        <p:spPr bwMode="auto">
          <a:xfrm>
            <a:off x="3975100" y="5227638"/>
            <a:ext cx="355600" cy="88900"/>
          </a:xfrm>
          <a:prstGeom prst="rect">
            <a:avLst/>
          </a:prstGeom>
          <a:solidFill>
            <a:srgbClr val="CC99FF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l"/>
          </a:scene3d>
          <a:sp3d extrusionH="430200" prstMaterial="legacyMatte">
            <a:bevelT w="13500" h="13500" prst="angle"/>
            <a:bevelB w="13500" h="13500" prst="angle"/>
            <a:extrusionClr>
              <a:srgbClr val="CC99FF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graphicFrame>
        <p:nvGraphicFramePr>
          <p:cNvPr id="68610" name="Object 2"/>
          <p:cNvGraphicFramePr>
            <a:graphicFrameLocks noChangeAspect="1"/>
          </p:cNvGraphicFramePr>
          <p:nvPr/>
        </p:nvGraphicFramePr>
        <p:xfrm>
          <a:off x="3968750" y="3946525"/>
          <a:ext cx="5127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686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3946525"/>
                        <a:ext cx="5127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1" name="Object 3"/>
          <p:cNvGraphicFramePr>
            <a:graphicFrameLocks noChangeAspect="1"/>
          </p:cNvGraphicFramePr>
          <p:nvPr/>
        </p:nvGraphicFramePr>
        <p:xfrm>
          <a:off x="3998913" y="6207125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686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6207125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4"/>
          <p:cNvGraphicFramePr>
            <a:graphicFrameLocks noChangeAspect="1"/>
          </p:cNvGraphicFramePr>
          <p:nvPr/>
        </p:nvGraphicFramePr>
        <p:xfrm>
          <a:off x="5383213" y="4975225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686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213" y="4975225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3" name="Object 5"/>
          <p:cNvGraphicFramePr>
            <a:graphicFrameLocks noChangeAspect="1"/>
          </p:cNvGraphicFramePr>
          <p:nvPr/>
        </p:nvGraphicFramePr>
        <p:xfrm>
          <a:off x="2551113" y="4986338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307948" imgH="1084823" progId="MS_ClipArt_Gallery.2">
                  <p:embed/>
                </p:oleObj>
              </mc:Choice>
              <mc:Fallback>
                <p:oleObj name="Clip" r:id="rId5" imgW="1307948" imgH="1084823" progId="MS_ClipArt_Gallery.2">
                  <p:embed/>
                  <p:pic>
                    <p:nvPicPr>
                      <p:cNvPr id="686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3" y="4986338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8" name="Rectangle 9"/>
          <p:cNvSpPr>
            <a:spLocks noChangeArrowheads="1"/>
          </p:cNvSpPr>
          <p:nvPr/>
        </p:nvSpPr>
        <p:spPr bwMode="auto">
          <a:xfrm>
            <a:off x="3033713" y="5129213"/>
            <a:ext cx="153987" cy="131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19" name="Rectangle 10"/>
          <p:cNvSpPr>
            <a:spLocks noChangeArrowheads="1"/>
          </p:cNvSpPr>
          <p:nvPr/>
        </p:nvSpPr>
        <p:spPr bwMode="auto">
          <a:xfrm>
            <a:off x="5289550" y="5129213"/>
            <a:ext cx="153988" cy="131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20" name="Rectangle 11"/>
          <p:cNvSpPr>
            <a:spLocks noChangeArrowheads="1"/>
          </p:cNvSpPr>
          <p:nvPr/>
        </p:nvSpPr>
        <p:spPr bwMode="auto">
          <a:xfrm>
            <a:off x="4210050" y="4386263"/>
            <a:ext cx="120650" cy="2079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21" name="Rectangle 12"/>
          <p:cNvSpPr>
            <a:spLocks noChangeArrowheads="1"/>
          </p:cNvSpPr>
          <p:nvPr/>
        </p:nvSpPr>
        <p:spPr bwMode="auto">
          <a:xfrm>
            <a:off x="4217988" y="6013450"/>
            <a:ext cx="120650" cy="2079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22" name="Line 13"/>
          <p:cNvSpPr>
            <a:spLocks noChangeShapeType="1"/>
          </p:cNvSpPr>
          <p:nvPr/>
        </p:nvSpPr>
        <p:spPr bwMode="auto">
          <a:xfrm>
            <a:off x="3187700" y="5184775"/>
            <a:ext cx="842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23" name="Line 14"/>
          <p:cNvSpPr>
            <a:spLocks noChangeShapeType="1"/>
          </p:cNvSpPr>
          <p:nvPr/>
        </p:nvSpPr>
        <p:spPr bwMode="auto">
          <a:xfrm>
            <a:off x="4256088" y="4597400"/>
            <a:ext cx="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24" name="Line 15"/>
          <p:cNvSpPr>
            <a:spLocks noChangeShapeType="1"/>
          </p:cNvSpPr>
          <p:nvPr/>
        </p:nvSpPr>
        <p:spPr bwMode="auto">
          <a:xfrm flipH="1">
            <a:off x="4419600" y="5184775"/>
            <a:ext cx="852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25" name="Line 16"/>
          <p:cNvSpPr>
            <a:spLocks noChangeShapeType="1"/>
          </p:cNvSpPr>
          <p:nvPr/>
        </p:nvSpPr>
        <p:spPr bwMode="auto">
          <a:xfrm flipV="1">
            <a:off x="4256088" y="5305425"/>
            <a:ext cx="11112" cy="687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26" name="Text Box 17"/>
          <p:cNvSpPr txBox="1">
            <a:spLocks noChangeArrowheads="1"/>
          </p:cNvSpPr>
          <p:nvPr/>
        </p:nvSpPr>
        <p:spPr bwMode="auto">
          <a:xfrm>
            <a:off x="2090738" y="49260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A</a:t>
            </a:r>
          </a:p>
        </p:txBody>
      </p:sp>
      <p:sp>
        <p:nvSpPr>
          <p:cNvPr id="68627" name="Text Box 18"/>
          <p:cNvSpPr txBox="1">
            <a:spLocks noChangeArrowheads="1"/>
          </p:cNvSpPr>
          <p:nvPr/>
        </p:nvSpPr>
        <p:spPr bwMode="auto">
          <a:xfrm>
            <a:off x="4587875" y="388937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B</a:t>
            </a:r>
          </a:p>
        </p:txBody>
      </p:sp>
      <p:sp>
        <p:nvSpPr>
          <p:cNvPr id="68628" name="Text Box 19"/>
          <p:cNvSpPr txBox="1">
            <a:spLocks noChangeArrowheads="1"/>
          </p:cNvSpPr>
          <p:nvPr/>
        </p:nvSpPr>
        <p:spPr bwMode="auto">
          <a:xfrm>
            <a:off x="6008688" y="49641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C</a:t>
            </a:r>
          </a:p>
        </p:txBody>
      </p:sp>
      <p:sp>
        <p:nvSpPr>
          <p:cNvPr id="68629" name="Text Box 20"/>
          <p:cNvSpPr txBox="1">
            <a:spLocks noChangeArrowheads="1"/>
          </p:cNvSpPr>
          <p:nvPr/>
        </p:nvSpPr>
        <p:spPr bwMode="auto">
          <a:xfrm>
            <a:off x="4548188" y="615473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D</a:t>
            </a:r>
          </a:p>
        </p:txBody>
      </p:sp>
      <p:sp>
        <p:nvSpPr>
          <p:cNvPr id="68631" name="Rectangle 22"/>
          <p:cNvSpPr>
            <a:spLocks noChangeArrowheads="1"/>
          </p:cNvSpPr>
          <p:nvPr/>
        </p:nvSpPr>
        <p:spPr bwMode="auto">
          <a:xfrm>
            <a:off x="3421063" y="4927600"/>
            <a:ext cx="460375" cy="15398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2" name="Rectangle 23"/>
          <p:cNvSpPr>
            <a:spLocks noChangeArrowheads="1"/>
          </p:cNvSpPr>
          <p:nvPr/>
        </p:nvSpPr>
        <p:spPr bwMode="auto">
          <a:xfrm>
            <a:off x="3727450" y="4927600"/>
            <a:ext cx="153988" cy="15398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3" name="Freeform 24"/>
          <p:cNvSpPr>
            <a:spLocks/>
          </p:cNvSpPr>
          <p:nvPr/>
        </p:nvSpPr>
        <p:spPr bwMode="auto">
          <a:xfrm>
            <a:off x="3957638" y="4581525"/>
            <a:ext cx="179387" cy="363538"/>
          </a:xfrm>
          <a:custGeom>
            <a:avLst/>
            <a:gdLst>
              <a:gd name="T0" fmla="*/ 0 w 113"/>
              <a:gd name="T1" fmla="*/ 2147483647 h 229"/>
              <a:gd name="T2" fmla="*/ 2147483647 w 113"/>
              <a:gd name="T3" fmla="*/ 2147483647 h 229"/>
              <a:gd name="T4" fmla="*/ 2147483647 w 113"/>
              <a:gd name="T5" fmla="*/ 0 h 229"/>
              <a:gd name="T6" fmla="*/ 0 60000 65536"/>
              <a:gd name="T7" fmla="*/ 0 60000 65536"/>
              <a:gd name="T8" fmla="*/ 0 60000 65536"/>
              <a:gd name="T9" fmla="*/ 0 w 113"/>
              <a:gd name="T10" fmla="*/ 0 h 229"/>
              <a:gd name="T11" fmla="*/ 113 w 113"/>
              <a:gd name="T12" fmla="*/ 229 h 22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3" h="229">
                <a:moveTo>
                  <a:pt x="0" y="218"/>
                </a:moveTo>
                <a:cubicBezTo>
                  <a:pt x="40" y="223"/>
                  <a:pt x="81" y="229"/>
                  <a:pt x="97" y="193"/>
                </a:cubicBezTo>
                <a:cubicBezTo>
                  <a:pt x="113" y="157"/>
                  <a:pt x="105" y="78"/>
                  <a:pt x="97" y="0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4" name="Freeform 25"/>
          <p:cNvSpPr>
            <a:spLocks/>
          </p:cNvSpPr>
          <p:nvPr/>
        </p:nvSpPr>
        <p:spPr bwMode="auto">
          <a:xfrm>
            <a:off x="3649663" y="5272088"/>
            <a:ext cx="498475" cy="538162"/>
          </a:xfrm>
          <a:custGeom>
            <a:avLst/>
            <a:gdLst>
              <a:gd name="T0" fmla="*/ 0 w 314"/>
              <a:gd name="T1" fmla="*/ 0 h 339"/>
              <a:gd name="T2" fmla="*/ 2147483647 w 314"/>
              <a:gd name="T3" fmla="*/ 2147483647 h 339"/>
              <a:gd name="T4" fmla="*/ 2147483647 w 314"/>
              <a:gd name="T5" fmla="*/ 2147483647 h 339"/>
              <a:gd name="T6" fmla="*/ 0 60000 65536"/>
              <a:gd name="T7" fmla="*/ 0 60000 65536"/>
              <a:gd name="T8" fmla="*/ 0 60000 65536"/>
              <a:gd name="T9" fmla="*/ 0 w 314"/>
              <a:gd name="T10" fmla="*/ 0 h 339"/>
              <a:gd name="T11" fmla="*/ 314 w 314"/>
              <a:gd name="T12" fmla="*/ 339 h 33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4" h="339">
                <a:moveTo>
                  <a:pt x="0" y="0"/>
                </a:moveTo>
                <a:cubicBezTo>
                  <a:pt x="109" y="32"/>
                  <a:pt x="218" y="65"/>
                  <a:pt x="266" y="121"/>
                </a:cubicBezTo>
                <a:cubicBezTo>
                  <a:pt x="314" y="177"/>
                  <a:pt x="302" y="258"/>
                  <a:pt x="290" y="339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5" name="Line 26"/>
          <p:cNvSpPr>
            <a:spLocks noChangeShapeType="1"/>
          </p:cNvSpPr>
          <p:nvPr/>
        </p:nvSpPr>
        <p:spPr bwMode="auto">
          <a:xfrm>
            <a:off x="3957638" y="5003800"/>
            <a:ext cx="122872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81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Contrast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Packets forwarded on all available links</a:t>
            </a:r>
          </a:p>
          <a:p>
            <a:r>
              <a:rPr lang="en-US" sz="2000" dirty="0"/>
              <a:t>Addresses can be aggregated</a:t>
            </a:r>
          </a:p>
          <a:p>
            <a:r>
              <a:rPr lang="en-US" sz="2000" dirty="0"/>
              <a:t>Routing protocol computes loop-free paths</a:t>
            </a:r>
          </a:p>
          <a:p>
            <a:r>
              <a:rPr lang="en-US" sz="2000" dirty="0"/>
              <a:t>Forwarding table computed by routing protocol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400" dirty="0"/>
              <a:t>Ethernet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2000" dirty="0"/>
              <a:t>Packets forwarded on subset of links (spanning tree)</a:t>
            </a:r>
          </a:p>
          <a:p>
            <a:r>
              <a:rPr lang="en-US" sz="2000" dirty="0"/>
              <a:t>Flat addresses</a:t>
            </a:r>
          </a:p>
          <a:p>
            <a:r>
              <a:rPr lang="en-US" sz="2000" dirty="0"/>
              <a:t>“Routing” protocol computes loop-free topology</a:t>
            </a:r>
          </a:p>
          <a:p>
            <a:r>
              <a:rPr lang="en-US" sz="2000" dirty="0"/>
              <a:t>Forwarding table derived from data packets(+ spanning tree for floods) </a:t>
            </a:r>
          </a:p>
          <a:p>
            <a:endParaRPr lang="en-US" sz="2000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D11CF967-1287-0948-92AE-55309D196149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8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DHCP: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local DHCP servers maintain required information </a:t>
            </a:r>
          </a:p>
          <a:p>
            <a:pPr lvl="1"/>
            <a:r>
              <a:rPr lang="en-US" dirty="0"/>
              <a:t>IP address pool, netmask, DNS servers, etc.</a:t>
            </a:r>
          </a:p>
          <a:p>
            <a:pPr lvl="1"/>
            <a:r>
              <a:rPr lang="en-US" dirty="0"/>
              <a:t>Application that listens on UDP port 67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5577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DHCP: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local DHCP servers maintain required information</a:t>
            </a:r>
          </a:p>
          <a:p>
            <a:r>
              <a:rPr lang="en-US" dirty="0"/>
              <a:t>Client broadcasts a DHCP discovery message</a:t>
            </a:r>
          </a:p>
          <a:p>
            <a:pPr lvl="1"/>
            <a:r>
              <a:rPr lang="en-US" dirty="0"/>
              <a:t>L2 broadcast, to MAC address FF:FF:FF:FF:FF:FF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845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DHCP: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local DHCP servers maintain required information</a:t>
            </a:r>
          </a:p>
          <a:p>
            <a:r>
              <a:rPr lang="en-US" dirty="0"/>
              <a:t>Client broadcasts a DHCP discovery message</a:t>
            </a:r>
          </a:p>
          <a:p>
            <a:r>
              <a:rPr lang="en-US" dirty="0"/>
              <a:t>One or more DHCP servers responds with a DHCP “offer” message</a:t>
            </a:r>
          </a:p>
          <a:p>
            <a:pPr lvl="1"/>
            <a:r>
              <a:rPr lang="en-US" dirty="0"/>
              <a:t>Proposed IP address for client, lease time</a:t>
            </a:r>
          </a:p>
          <a:p>
            <a:pPr lvl="1"/>
            <a:r>
              <a:rPr lang="en-US" dirty="0"/>
              <a:t>Other parameters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5970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DHCP: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local DHCP servers maintain required information</a:t>
            </a:r>
          </a:p>
          <a:p>
            <a:r>
              <a:rPr lang="en-US" dirty="0"/>
              <a:t>Client broadcasts a DHCP </a:t>
            </a:r>
            <a:r>
              <a:rPr lang="en-US" dirty="0">
                <a:solidFill>
                  <a:srgbClr val="0000FF"/>
                </a:solidFill>
              </a:rPr>
              <a:t>discovery</a:t>
            </a:r>
            <a:r>
              <a:rPr lang="en-US" dirty="0"/>
              <a:t> message</a:t>
            </a:r>
          </a:p>
          <a:p>
            <a:r>
              <a:rPr lang="en-US" dirty="0"/>
              <a:t>One or more DHCP servers responds with a DHCP “offer” message</a:t>
            </a:r>
          </a:p>
          <a:p>
            <a:r>
              <a:rPr lang="en-US" dirty="0"/>
              <a:t>Client broadcasts a DHCP </a:t>
            </a:r>
            <a:r>
              <a:rPr lang="en-US" dirty="0">
                <a:solidFill>
                  <a:srgbClr val="0000FF"/>
                </a:solidFill>
              </a:rPr>
              <a:t>request</a:t>
            </a:r>
            <a:r>
              <a:rPr lang="en-US" dirty="0"/>
              <a:t> message</a:t>
            </a:r>
          </a:p>
          <a:p>
            <a:pPr lvl="1"/>
            <a:r>
              <a:rPr lang="en-US" dirty="0"/>
              <a:t>Specifies which offer it wants </a:t>
            </a:r>
          </a:p>
          <a:p>
            <a:pPr lvl="1"/>
            <a:r>
              <a:rPr lang="en-US" dirty="0"/>
              <a:t>Echoes accepted parameters</a:t>
            </a:r>
          </a:p>
          <a:p>
            <a:pPr lvl="1"/>
            <a:r>
              <a:rPr lang="en-US" dirty="0"/>
              <a:t>Other DHCP servers learn they were not chosen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776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DHCP: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local DHCP servers maintain required information</a:t>
            </a:r>
          </a:p>
          <a:p>
            <a:r>
              <a:rPr lang="en-US" dirty="0"/>
              <a:t>Client broadcasts a DHCP discovery message</a:t>
            </a:r>
          </a:p>
          <a:p>
            <a:r>
              <a:rPr lang="en-US" dirty="0"/>
              <a:t>One or more DHCP servers responds with a DHCP “offer” message</a:t>
            </a:r>
          </a:p>
          <a:p>
            <a:r>
              <a:rPr lang="en-US" dirty="0"/>
              <a:t>Client broadcasts a DHCP request message</a:t>
            </a:r>
          </a:p>
          <a:p>
            <a:r>
              <a:rPr lang="en-US" dirty="0"/>
              <a:t>Selected DHCP server responds with an ACK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694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DHCP: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local DHCP servers maintain required information</a:t>
            </a:r>
          </a:p>
          <a:p>
            <a:r>
              <a:rPr lang="en-US" dirty="0"/>
              <a:t>Client broadcasts a DHCP discovery message</a:t>
            </a:r>
          </a:p>
          <a:p>
            <a:r>
              <a:rPr lang="en-US" dirty="0"/>
              <a:t>One or more DHCP servers responds with a DHCP “offer” message</a:t>
            </a:r>
          </a:p>
          <a:p>
            <a:r>
              <a:rPr lang="en-US" dirty="0"/>
              <a:t>Client broadcasts a DHCP request message</a:t>
            </a:r>
          </a:p>
          <a:p>
            <a:r>
              <a:rPr lang="en-US" dirty="0"/>
              <a:t>Selected DHCP server responds with an ACK</a:t>
            </a:r>
          </a:p>
          <a:p>
            <a:r>
              <a:rPr lang="en-US" dirty="0">
                <a:solidFill>
                  <a:srgbClr val="0000FF"/>
                </a:solidFill>
              </a:rPr>
              <a:t>DHCP “relay agents” used when the DHCP server is not on the same broadcast domain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973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DHCP uses “soft state”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 state: if not refreshed, state is forgotten</a:t>
            </a:r>
          </a:p>
          <a:p>
            <a:pPr lvl="1"/>
            <a:r>
              <a:rPr lang="en-US" dirty="0"/>
              <a:t>Hard state: allocation/revocation is deliberate</a:t>
            </a:r>
          </a:p>
          <a:p>
            <a:r>
              <a:rPr lang="en-US" dirty="0"/>
              <a:t>Implementation:</a:t>
            </a:r>
          </a:p>
          <a:p>
            <a:pPr lvl="1"/>
            <a:r>
              <a:rPr lang="en-US" dirty="0"/>
              <a:t>Address allocations have a </a:t>
            </a:r>
            <a:r>
              <a:rPr lang="en-US" dirty="0">
                <a:solidFill>
                  <a:srgbClr val="0000FF"/>
                </a:solidFill>
              </a:rPr>
              <a:t>lease</a:t>
            </a:r>
            <a:r>
              <a:rPr lang="en-US" dirty="0"/>
              <a:t> period</a:t>
            </a:r>
          </a:p>
          <a:p>
            <a:pPr lvl="1"/>
            <a:r>
              <a:rPr lang="en-US" dirty="0"/>
              <a:t>Server sets a timer for each allocation</a:t>
            </a:r>
          </a:p>
          <a:p>
            <a:pPr lvl="1"/>
            <a:r>
              <a:rPr lang="en-US" dirty="0"/>
              <a:t>Client must request a refresh before lease expires</a:t>
            </a:r>
          </a:p>
          <a:p>
            <a:pPr lvl="1"/>
            <a:r>
              <a:rPr lang="en-US" dirty="0"/>
              <a:t>Server resets timer when a refresh arrives and ACKs</a:t>
            </a:r>
          </a:p>
          <a:p>
            <a:pPr lvl="2"/>
            <a:r>
              <a:rPr lang="en-US" dirty="0"/>
              <a:t>OR reclaims allocated address when timer expires</a:t>
            </a:r>
          </a:p>
          <a:p>
            <a:r>
              <a:rPr lang="en-US" dirty="0"/>
              <a:t>Simple, yet robust under failure</a:t>
            </a:r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88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csci teaching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 teaching" id="{CAC89F1B-4FFB-964B-9A2D-A8369A14651A}" vid="{8051F690-D81E-0040-802C-B071D1B3EDD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csci teaching</Template>
  <TotalTime>1490454723</TotalTime>
  <Pages>7</Pages>
  <Words>3451</Words>
  <Application>Microsoft Macintosh PowerPoint</Application>
  <PresentationFormat>On-screen Show (4:3)</PresentationFormat>
  <Paragraphs>733</Paragraphs>
  <Slides>75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9" baseType="lpstr">
      <vt:lpstr>ＭＳ Ｐゴシック</vt:lpstr>
      <vt:lpstr>Arial</vt:lpstr>
      <vt:lpstr>Arial Black</vt:lpstr>
      <vt:lpstr>Calibri</vt:lpstr>
      <vt:lpstr>Courier New</vt:lpstr>
      <vt:lpstr>Gill Sans</vt:lpstr>
      <vt:lpstr>Helvetica</vt:lpstr>
      <vt:lpstr>Helvetica Neue</vt:lpstr>
      <vt:lpstr>Monotype Sorts</vt:lpstr>
      <vt:lpstr>Symbol</vt:lpstr>
      <vt:lpstr>Times New Roman</vt:lpstr>
      <vt:lpstr>Wingdings</vt:lpstr>
      <vt:lpstr>csci teaching</vt:lpstr>
      <vt:lpstr>Clip</vt:lpstr>
      <vt:lpstr>CSCI4430 Computer Networks  Lecture 15: Link Layer – Ethernet</vt:lpstr>
      <vt:lpstr>Data link layer</vt:lpstr>
      <vt:lpstr>Link layer</vt:lpstr>
      <vt:lpstr>Packets are now “frames”</vt:lpstr>
      <vt:lpstr>Point-to-point vs. broadcast medium</vt:lpstr>
      <vt:lpstr>Multiple access algorithm</vt:lpstr>
      <vt:lpstr>Random access MAC protocols</vt:lpstr>
      <vt:lpstr>Ethernet</vt:lpstr>
      <vt:lpstr>CSMA</vt:lpstr>
      <vt:lpstr>CSMA collisions</vt:lpstr>
      <vt:lpstr>CSMA/CD (Collision Detection)</vt:lpstr>
      <vt:lpstr>Three key ideas of random access</vt:lpstr>
      <vt:lpstr>Three key ideas of random access</vt:lpstr>
      <vt:lpstr>How long should you wait?</vt:lpstr>
      <vt:lpstr>Ethernet: CSMA/CD Protocol</vt:lpstr>
      <vt:lpstr>Switched Ethernet</vt:lpstr>
      <vt:lpstr>Why switched Ethernet?</vt:lpstr>
      <vt:lpstr>The evolution of Ethernet</vt:lpstr>
      <vt:lpstr>Turing Award 2022</vt:lpstr>
      <vt:lpstr>Topics</vt:lpstr>
      <vt:lpstr>Ethernet “Frames”</vt:lpstr>
      <vt:lpstr>Topics</vt:lpstr>
      <vt:lpstr>Medium Access Control (MAC) Address</vt:lpstr>
      <vt:lpstr>MAC address vs. IP address</vt:lpstr>
      <vt:lpstr>Topics</vt:lpstr>
      <vt:lpstr>“Routing” with broadcast Ethernet</vt:lpstr>
      <vt:lpstr>“Routing” with broadcast Ethernet</vt:lpstr>
      <vt:lpstr>Why does Ethernet not use LS/DV? </vt:lpstr>
      <vt:lpstr>Routing in extended LANs</vt:lpstr>
      <vt:lpstr>Easiest way to avoid loops</vt:lpstr>
      <vt:lpstr>Consider a graph</vt:lpstr>
      <vt:lpstr>A spanning tree</vt:lpstr>
      <vt:lpstr>Another spanning tree</vt:lpstr>
      <vt:lpstr>Spanning tree protocol (Perlman’85)</vt:lpstr>
      <vt:lpstr>Routing with switched Ethernet?</vt:lpstr>
      <vt:lpstr>Flooding on spanning tree</vt:lpstr>
      <vt:lpstr>Ethernet topics</vt:lpstr>
      <vt:lpstr>But isn’t flooding wasteful?</vt:lpstr>
      <vt:lpstr>Nodes can “learn” routes</vt:lpstr>
      <vt:lpstr>General approach</vt:lpstr>
      <vt:lpstr>Learning from flood packets</vt:lpstr>
      <vt:lpstr>Node B responds</vt:lpstr>
      <vt:lpstr>Ethernet switches are “self learning”</vt:lpstr>
      <vt:lpstr>Link layer topics</vt:lpstr>
      <vt:lpstr>Discovery</vt:lpstr>
      <vt:lpstr>ARP and DHCP</vt:lpstr>
      <vt:lpstr>ARP and DHCP</vt:lpstr>
      <vt:lpstr>DHCP</vt:lpstr>
      <vt:lpstr>Are we there yet?</vt:lpstr>
      <vt:lpstr>Sending packets over link layer</vt:lpstr>
      <vt:lpstr>ARP: Address Resolution Protocol</vt:lpstr>
      <vt:lpstr>What if the destination is remote?</vt:lpstr>
      <vt:lpstr>Key ideas in both ARP and DHCP</vt:lpstr>
      <vt:lpstr>ID resolution in networking</vt:lpstr>
      <vt:lpstr>Discovery mechanisms</vt:lpstr>
      <vt:lpstr>Summary</vt:lpstr>
      <vt:lpstr>Additional slides</vt:lpstr>
      <vt:lpstr>CSMA/CD (Collision Detection)</vt:lpstr>
      <vt:lpstr>Limits on CSMA/CD network length</vt:lpstr>
      <vt:lpstr>Limits on CSMA/CD network length</vt:lpstr>
      <vt:lpstr>Framing frames</vt:lpstr>
      <vt:lpstr>Simple approach: Count bytes</vt:lpstr>
      <vt:lpstr>Desynchronization</vt:lpstr>
      <vt:lpstr>Framing with sentinel bits</vt:lpstr>
      <vt:lpstr>When receiver sees five 1s…</vt:lpstr>
      <vt:lpstr>Example: sentinel bits</vt:lpstr>
      <vt:lpstr>Self learning: Handling misses</vt:lpstr>
      <vt:lpstr>Contrast</vt:lpstr>
      <vt:lpstr>DHCP: Operation</vt:lpstr>
      <vt:lpstr>DHCP: Operation</vt:lpstr>
      <vt:lpstr>DHCP: Operation</vt:lpstr>
      <vt:lpstr>DHCP: Operation</vt:lpstr>
      <vt:lpstr>DHCP: Operation</vt:lpstr>
      <vt:lpstr>DHCP: Operation</vt:lpstr>
      <vt:lpstr>DHCP uses “soft state”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Hong Xu</cp:lastModifiedBy>
  <cp:revision>1311</cp:revision>
  <cp:lastPrinted>1999-09-08T17:25:07Z</cp:lastPrinted>
  <dcterms:created xsi:type="dcterms:W3CDTF">2014-01-14T18:15:50Z</dcterms:created>
  <dcterms:modified xsi:type="dcterms:W3CDTF">2025-04-07T08:13:51Z</dcterms:modified>
  <cp:category/>
</cp:coreProperties>
</file>
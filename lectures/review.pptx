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36" r:id="rId1"/>
  </p:sldMasterIdLst>
  <p:notesMasterIdLst>
    <p:notesMasterId r:id="rId101"/>
  </p:notesMasterIdLst>
  <p:handoutMasterIdLst>
    <p:handoutMasterId r:id="rId102"/>
  </p:handoutMasterIdLst>
  <p:sldIdLst>
    <p:sldId id="655" r:id="rId2"/>
    <p:sldId id="598" r:id="rId3"/>
    <p:sldId id="514" r:id="rId4"/>
    <p:sldId id="515" r:id="rId5"/>
    <p:sldId id="517" r:id="rId6"/>
    <p:sldId id="603" r:id="rId7"/>
    <p:sldId id="656" r:id="rId8"/>
    <p:sldId id="604" r:id="rId9"/>
    <p:sldId id="605" r:id="rId10"/>
    <p:sldId id="521" r:id="rId11"/>
    <p:sldId id="525" r:id="rId12"/>
    <p:sldId id="608" r:id="rId13"/>
    <p:sldId id="529" r:id="rId14"/>
    <p:sldId id="638" r:id="rId15"/>
    <p:sldId id="639" r:id="rId16"/>
    <p:sldId id="534" r:id="rId17"/>
    <p:sldId id="640" r:id="rId18"/>
    <p:sldId id="650" r:id="rId19"/>
    <p:sldId id="643" r:id="rId20"/>
    <p:sldId id="644" r:id="rId21"/>
    <p:sldId id="541" r:id="rId22"/>
    <p:sldId id="562" r:id="rId23"/>
    <p:sldId id="645" r:id="rId24"/>
    <p:sldId id="542" r:id="rId25"/>
    <p:sldId id="543" r:id="rId26"/>
    <p:sldId id="544" r:id="rId27"/>
    <p:sldId id="545" r:id="rId28"/>
    <p:sldId id="546" r:id="rId29"/>
    <p:sldId id="547" r:id="rId30"/>
    <p:sldId id="646" r:id="rId31"/>
    <p:sldId id="647" r:id="rId32"/>
    <p:sldId id="613" r:id="rId33"/>
    <p:sldId id="551" r:id="rId34"/>
    <p:sldId id="648" r:id="rId35"/>
    <p:sldId id="649" r:id="rId36"/>
    <p:sldId id="553" r:id="rId37"/>
    <p:sldId id="554" r:id="rId38"/>
    <p:sldId id="552" r:id="rId39"/>
    <p:sldId id="591" r:id="rId40"/>
    <p:sldId id="651" r:id="rId41"/>
    <p:sldId id="556" r:id="rId42"/>
    <p:sldId id="557" r:id="rId43"/>
    <p:sldId id="558" r:id="rId44"/>
    <p:sldId id="559" r:id="rId45"/>
    <p:sldId id="560" r:id="rId46"/>
    <p:sldId id="561" r:id="rId47"/>
    <p:sldId id="563" r:id="rId48"/>
    <p:sldId id="564" r:id="rId49"/>
    <p:sldId id="565" r:id="rId50"/>
    <p:sldId id="566" r:id="rId51"/>
    <p:sldId id="567" r:id="rId52"/>
    <p:sldId id="568" r:id="rId53"/>
    <p:sldId id="569" r:id="rId54"/>
    <p:sldId id="570" r:id="rId55"/>
    <p:sldId id="571" r:id="rId56"/>
    <p:sldId id="572" r:id="rId57"/>
    <p:sldId id="573" r:id="rId58"/>
    <p:sldId id="574" r:id="rId59"/>
    <p:sldId id="595" r:id="rId60"/>
    <p:sldId id="596" r:id="rId61"/>
    <p:sldId id="652" r:id="rId62"/>
    <p:sldId id="519" r:id="rId63"/>
    <p:sldId id="581" r:id="rId64"/>
    <p:sldId id="597" r:id="rId65"/>
    <p:sldId id="583" r:id="rId66"/>
    <p:sldId id="582" r:id="rId67"/>
    <p:sldId id="586" r:id="rId68"/>
    <p:sldId id="587" r:id="rId69"/>
    <p:sldId id="657" r:id="rId70"/>
    <p:sldId id="658" r:id="rId71"/>
    <p:sldId id="527" r:id="rId72"/>
    <p:sldId id="528" r:id="rId73"/>
    <p:sldId id="659" r:id="rId74"/>
    <p:sldId id="660" r:id="rId75"/>
    <p:sldId id="530" r:id="rId76"/>
    <p:sldId id="661" r:id="rId77"/>
    <p:sldId id="662" r:id="rId78"/>
    <p:sldId id="663" r:id="rId79"/>
    <p:sldId id="609" r:id="rId80"/>
    <p:sldId id="535" r:id="rId81"/>
    <p:sldId id="611" r:id="rId82"/>
    <p:sldId id="612" r:id="rId83"/>
    <p:sldId id="664" r:id="rId84"/>
    <p:sldId id="614" r:id="rId85"/>
    <p:sldId id="540" r:id="rId86"/>
    <p:sldId id="665" r:id="rId87"/>
    <p:sldId id="615" r:id="rId88"/>
    <p:sldId id="623" r:id="rId89"/>
    <p:sldId id="671" r:id="rId90"/>
    <p:sldId id="672" r:id="rId91"/>
    <p:sldId id="673" r:id="rId92"/>
    <p:sldId id="674" r:id="rId93"/>
    <p:sldId id="676" r:id="rId94"/>
    <p:sldId id="677" r:id="rId95"/>
    <p:sldId id="678" r:id="rId96"/>
    <p:sldId id="679" r:id="rId97"/>
    <p:sldId id="680" r:id="rId98"/>
    <p:sldId id="681" r:id="rId99"/>
    <p:sldId id="512" r:id="rId10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62"/>
    <p:restoredTop sz="94726"/>
  </p:normalViewPr>
  <p:slideViewPr>
    <p:cSldViewPr>
      <p:cViewPr varScale="1">
        <p:scale>
          <a:sx n="120" d="100"/>
          <a:sy n="120" d="100"/>
        </p:scale>
        <p:origin x="24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Shape 10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 lIns="96661" tIns="48331" rIns="96661" bIns="48331"/>
          <a:lstStyle/>
          <a:p>
            <a:pPr lvl="0"/>
            <a:endParaRPr/>
          </a:p>
        </p:txBody>
      </p:sp>
      <p:sp>
        <p:nvSpPr>
          <p:cNvPr id="1040" name="Shape 10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268426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7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51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9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1130973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06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54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7A2AF4-21A1-4549-972D-2D4D3C966DCF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95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4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01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66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30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7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5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15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853705C-35BF-A442-8E55-A6E2782461EE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20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25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2204167-EFB0-2D48-A5F0-063C27AB3381}" type="slidenum">
              <a:rPr lang="en-US" sz="1300" b="0">
                <a:latin typeface="Times New Roman" charset="0"/>
              </a:rPr>
              <a:pPr eaLnBrk="1" hangingPunct="1"/>
              <a:t>67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841875" cy="3630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4576763"/>
            <a:ext cx="5345113" cy="4340225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34" tIns="47567" rIns="95134" bIns="47567"/>
          <a:lstStyle/>
          <a:p>
            <a:endParaRPr lang="en-GB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5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What could go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38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DF86D6B3-6172-344F-AF2E-101ACF88B5E5}" type="slidenum">
              <a:rPr lang="en-US">
                <a:latin typeface="Times New Roman" charset="0"/>
              </a:rPr>
              <a:pPr/>
              <a:t>74</a:t>
            </a:fld>
            <a:endParaRPr 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0186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42B0DAA6-02FB-6E4A-B752-815ED524F531}" type="slidenum">
              <a:rPr lang="en-US">
                <a:latin typeface="Times New Roman" charset="0"/>
              </a:rPr>
              <a:pPr/>
              <a:t>75</a:t>
            </a:fld>
            <a:endParaRPr 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16311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C462F0-F4EF-5244-A49E-6CE8D6940A21}" type="slidenum">
              <a:rPr lang="en-US" sz="1300" b="0">
                <a:latin typeface="Times New Roman" charset="0"/>
              </a:rPr>
              <a:pPr eaLnBrk="1" hangingPunct="1"/>
              <a:t>79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53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80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64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2177F9-D46C-9E47-A59B-29E08ABE9F97}" type="slidenum">
              <a:rPr lang="en-US" sz="1300" b="0">
                <a:latin typeface="Times New Roman" charset="0"/>
              </a:rPr>
              <a:pPr eaLnBrk="1" hangingPunct="1"/>
              <a:t>84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Arrows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are routing message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2863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217817-1DE6-EC4D-9339-BD283CA19325}" type="slidenum">
              <a:rPr lang="en-US" sz="1300" b="0">
                <a:latin typeface="Times New Roman" charset="0"/>
              </a:rPr>
              <a:pPr eaLnBrk="1" hangingPunct="1"/>
              <a:t>85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Arrows:</a:t>
            </a:r>
            <a:r>
              <a:rPr lang="en-US" altLang="zh-CN" baseline="0" dirty="0">
                <a:ea typeface="宋体" charset="0"/>
                <a:cs typeface="宋体" charset="0"/>
              </a:rPr>
              <a:t> routing messages!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853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90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50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91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91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92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200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93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37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94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306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05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96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083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24AA143-4958-F344-9D47-C49E6475F95B}" type="slidenum">
              <a:rPr lang="en-US" sz="1200" b="0">
                <a:latin typeface="Times New Roman" charset="0"/>
              </a:rPr>
              <a:pPr eaLnBrk="1" hangingPunct="1"/>
              <a:t>97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6283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200844-4843-4742-AC76-3A2BFB1A275A}" type="slidenum">
              <a:rPr lang="en-US" sz="1200" b="0">
                <a:latin typeface="Times New Roman" charset="0"/>
              </a:rPr>
              <a:pPr eaLnBrk="1" hangingPunct="1"/>
              <a:t>98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25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3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1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19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4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2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8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3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05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925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1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41222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6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Course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Review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</a:t>
            </a:r>
            <a:r>
              <a:rPr lang="en-US" altLang="zh-CN" dirty="0"/>
              <a:t>sed-book</a:t>
            </a:r>
            <a:r>
              <a:rPr lang="en-US" dirty="0"/>
              <a:t>, but </a:t>
            </a:r>
            <a:r>
              <a:rPr lang="en-US" altLang="zh-CN" dirty="0">
                <a:solidFill>
                  <a:srgbClr val="0000FF"/>
                </a:solidFill>
              </a:rPr>
              <a:t>can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use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one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A4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aid-sheet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Two-sided</a:t>
            </a:r>
            <a:endParaRPr lang="en-US" dirty="0"/>
          </a:p>
          <a:p>
            <a:r>
              <a:rPr lang="en-US" altLang="zh-CN" dirty="0">
                <a:solidFill>
                  <a:schemeClr val="accent6"/>
                </a:solidFill>
              </a:rPr>
              <a:t>Calculator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allowed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(though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not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really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helpful)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Answer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all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five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questions,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each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focusing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particular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lecture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topic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Format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similar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previous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years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(1)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</a:t>
            </a:r>
            <a:r>
              <a:rPr lang="en-US" dirty="0"/>
              <a:t>nly assumes material covered in lecture</a:t>
            </a:r>
            <a:r>
              <a:rPr lang="en-US" altLang="zh-CN" dirty="0"/>
              <a:t>s</a:t>
            </a:r>
            <a:r>
              <a:rPr lang="en-US" dirty="0"/>
              <a:t>, tutor</a:t>
            </a:r>
            <a:r>
              <a:rPr lang="en-US" altLang="zh-CN" dirty="0"/>
              <a:t>ials,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dirty="0"/>
              <a:t>quizzes</a:t>
            </a:r>
          </a:p>
          <a:p>
            <a:r>
              <a:rPr lang="en-US" dirty="0"/>
              <a:t>The test doesn’t require you to do complicated calculations </a:t>
            </a:r>
          </a:p>
          <a:p>
            <a:pPr lvl="1"/>
            <a:r>
              <a:rPr lang="en-US" dirty="0"/>
              <a:t>Use this as a hint to determine if you’re on right track</a:t>
            </a:r>
          </a:p>
          <a:p>
            <a:r>
              <a:rPr lang="en-US" dirty="0"/>
              <a:t>You don’t need to memorize anything</a:t>
            </a:r>
          </a:p>
          <a:p>
            <a:r>
              <a:rPr lang="en-US" dirty="0">
                <a:solidFill>
                  <a:srgbClr val="0000FF"/>
                </a:solidFill>
              </a:rPr>
              <a:t>You do need to understand how things work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(2)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prepared to:</a:t>
            </a:r>
          </a:p>
          <a:p>
            <a:pPr lvl="1"/>
            <a:r>
              <a:rPr lang="en-US" dirty="0"/>
              <a:t>Weigh design options outside of the context we studied them in</a:t>
            </a:r>
          </a:p>
          <a:p>
            <a:pPr lvl="1"/>
            <a:r>
              <a:rPr lang="en-US" dirty="0"/>
              <a:t>Contemplate new designs we haven’t covered in detail but can be put together</a:t>
            </a:r>
          </a:p>
          <a:p>
            <a:pPr lvl="2"/>
            <a:r>
              <a:rPr lang="en-US" dirty="0"/>
              <a:t>e.g., I introduce a new IP address format; how does this affect… </a:t>
            </a:r>
          </a:p>
          <a:p>
            <a:pPr lvl="1"/>
            <a:r>
              <a:rPr lang="en-US" dirty="0"/>
              <a:t>Reason from what you know about the pros/cons of solutions we did study 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1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review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Walk through what you’re expected to know at this point: key topics, important aspects of each</a:t>
            </a:r>
          </a:p>
          <a:p>
            <a:r>
              <a:rPr lang="en-US" dirty="0"/>
              <a:t>Not covered in review </a:t>
            </a:r>
            <a:r>
              <a:rPr lang="en-US" dirty="0">
                <a:solidFill>
                  <a:srgbClr val="0000FF"/>
                </a:solidFill>
              </a:rPr>
              <a:t>does NOT imply</a:t>
            </a:r>
            <a:r>
              <a:rPr lang="en-US" dirty="0"/>
              <a:t> you don’t need to know it</a:t>
            </a:r>
          </a:p>
          <a:p>
            <a:pPr lvl="1"/>
            <a:r>
              <a:rPr lang="en-US" dirty="0"/>
              <a:t>But if it’s covered today, you should know it</a:t>
            </a:r>
          </a:p>
          <a:p>
            <a:r>
              <a:rPr lang="en-US" altLang="zh-CN" dirty="0"/>
              <a:t>Flip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endParaRPr lang="en-US" dirty="0"/>
          </a:p>
          <a:p>
            <a:pPr lvl="1"/>
            <a:r>
              <a:rPr lang="en-US" dirty="0"/>
              <a:t>Let</a:t>
            </a:r>
            <a:r>
              <a:rPr lang="zh-CN" altLang="en-US" dirty="0"/>
              <a:t> </a:t>
            </a:r>
            <a:r>
              <a:rPr lang="en-US" altLang="zh-CN" dirty="0"/>
              <a:t>me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Piazza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explanation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</a:t>
            </a:r>
          </a:p>
          <a:p>
            <a:r>
              <a:rPr lang="en-US" dirty="0"/>
              <a:t>Transport layer (lectures 6–9)</a:t>
            </a:r>
          </a:p>
          <a:p>
            <a:pPr lvl="1"/>
            <a:r>
              <a:rPr lang="en-US" dirty="0"/>
              <a:t>UDP vs. TCP </a:t>
            </a:r>
          </a:p>
          <a:p>
            <a:pPr lvl="1"/>
            <a:r>
              <a:rPr lang="en-US" dirty="0"/>
              <a:t>TCP details: reliability and flow control </a:t>
            </a:r>
          </a:p>
          <a:p>
            <a:pPr lvl="1"/>
            <a:r>
              <a:rPr lang="en-US" dirty="0"/>
              <a:t>TCP congestion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13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(lecture</a:t>
            </a:r>
            <a:r>
              <a:rPr lang="en-US" altLang="zh-CN" dirty="0"/>
              <a:t>s</a:t>
            </a:r>
            <a:r>
              <a:rPr lang="en-US" dirty="0"/>
              <a:t> 10–1</a:t>
            </a:r>
            <a:r>
              <a:rPr lang="en-US" altLang="zh-CN" dirty="0"/>
              <a:t>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Overview</a:t>
            </a:r>
          </a:p>
          <a:p>
            <a:pPr lvl="1"/>
            <a:r>
              <a:rPr lang="en-US" dirty="0"/>
              <a:t>Rout</a:t>
            </a:r>
            <a:r>
              <a:rPr lang="en-US" altLang="zh-CN" dirty="0"/>
              <a:t>ers</a:t>
            </a:r>
          </a:p>
          <a:p>
            <a:pPr lvl="1"/>
            <a:r>
              <a:rPr lang="en-US" dirty="0"/>
              <a:t>Intra-domain routing </a:t>
            </a:r>
          </a:p>
          <a:p>
            <a:pPr lvl="1"/>
            <a:r>
              <a:rPr lang="en-US" dirty="0"/>
              <a:t>Inter-domain routing</a:t>
            </a:r>
          </a:p>
          <a:p>
            <a:pPr lvl="1"/>
            <a:r>
              <a:rPr lang="en-US" altLang="zh-CN" dirty="0"/>
              <a:t>SDN</a:t>
            </a:r>
            <a:endParaRPr lang="en-US" dirty="0"/>
          </a:p>
          <a:p>
            <a:r>
              <a:rPr lang="en-US" dirty="0"/>
              <a:t>Link layer (lecture 1</a:t>
            </a:r>
            <a:r>
              <a:rPr lang="en-US" altLang="zh-CN" dirty="0"/>
              <a:t>5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2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know: </a:t>
            </a:r>
          </a:p>
          <a:p>
            <a:pPr lvl="1"/>
            <a:r>
              <a:rPr lang="en-US" dirty="0"/>
              <a:t>Packet vs. circuit switching </a:t>
            </a:r>
          </a:p>
          <a:p>
            <a:pPr lvl="1"/>
            <a:r>
              <a:rPr lang="en-US" dirty="0"/>
              <a:t>Statistical multiplexing </a:t>
            </a:r>
          </a:p>
          <a:p>
            <a:pPr lvl="1"/>
            <a:r>
              <a:rPr lang="en-US" dirty="0"/>
              <a:t>Link characteristics </a:t>
            </a:r>
          </a:p>
          <a:p>
            <a:pPr lvl="1"/>
            <a:r>
              <a:rPr lang="en-US" dirty="0"/>
              <a:t>Packet delays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8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</a:p>
          <a:p>
            <a:pPr lvl="1"/>
            <a:r>
              <a:rPr lang="en-US" dirty="0"/>
              <a:t>For example, directly connecting N nodes to each other would require N</a:t>
            </a:r>
            <a:r>
              <a:rPr lang="en-US" baseline="30000" dirty="0"/>
              <a:t>2 </a:t>
            </a:r>
            <a:r>
              <a:rPr lang="en-US" dirty="0"/>
              <a:t>links!</a:t>
            </a:r>
            <a:endParaRPr lang="en-US" baseline="30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8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10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Two approaches to sharing</a:t>
            </a:r>
            <a:endParaRPr lang="en-US" dirty="0"/>
          </a:p>
        </p:txBody>
      </p:sp>
      <p:sp>
        <p:nvSpPr>
          <p:cNvPr id="1036" name="Shape 10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  <a:p>
            <a:pPr lvl="1"/>
            <a:r>
              <a:rPr lang="en-US" dirty="0"/>
              <a:t>Network resources consumed on demand per-packet 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packet</a:t>
            </a:r>
            <a:endParaRPr lang="en-US" dirty="0"/>
          </a:p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Network resources reserved a priori  at “connection” initiation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connection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Good for bursty traffic (average &lt;&lt; peak demand)</a:t>
            </a:r>
          </a:p>
          <a:p>
            <a:pPr lvl="1"/>
            <a:r>
              <a:rPr lang="en-US" dirty="0"/>
              <a:t>Packet switching exploits statistical multiplexing better than circuit switching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5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7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884" name="Shape 88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13</a:t>
            </a:fld>
            <a:endParaRPr lang="en-US"/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2665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6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practice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44909163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</p:spTree>
    <p:extLst>
      <p:ext uri="{BB962C8B-B14F-4D97-AF65-F5344CB8AC3E}">
        <p14:creationId xmlns:p14="http://schemas.microsoft.com/office/powerpoint/2010/main" val="5249594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49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 Text Transfer Protocol (HTTP)</a:t>
            </a:r>
            <a:endParaRPr lang="en-US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 architecture</a:t>
            </a:r>
          </a:p>
          <a:p>
            <a:pPr lvl="1"/>
            <a:r>
              <a:rPr lang="en-US" dirty="0"/>
              <a:t>Server is “always on” and “well known”</a:t>
            </a:r>
          </a:p>
          <a:p>
            <a:pPr lvl="1"/>
            <a:r>
              <a:rPr lang="en-US" dirty="0"/>
              <a:t>Clients initiate contact to server</a:t>
            </a:r>
          </a:p>
          <a:p>
            <a:r>
              <a:rPr lang="en-US" dirty="0"/>
              <a:t>Synchronous request/reply protocol </a:t>
            </a:r>
          </a:p>
          <a:p>
            <a:pPr lvl="1"/>
            <a:r>
              <a:rPr lang="en-US" dirty="0"/>
              <a:t>Runs over TCP, Port 80</a:t>
            </a:r>
          </a:p>
          <a:p>
            <a:r>
              <a:rPr lang="en-US" dirty="0">
                <a:solidFill>
                  <a:srgbClr val="0000FF"/>
                </a:solidFill>
              </a:rPr>
              <a:t>Stateless</a:t>
            </a:r>
          </a:p>
          <a:p>
            <a:r>
              <a:rPr lang="en-US" dirty="0"/>
              <a:t>ASCII format</a:t>
            </a:r>
          </a:p>
          <a:p>
            <a:pPr lvl="1"/>
            <a:r>
              <a:rPr lang="en-US" dirty="0"/>
              <a:t>Before HTTP/2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CEB31-5CA0-F64A-A799-01B439721F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58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request response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338632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RTT (round-trip time)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T</a:t>
            </a:r>
            <a:r>
              <a:rPr lang="en-US" dirty="0"/>
              <a:t>ime for a small packet to travel from client to server and back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Response time</a:t>
            </a:r>
            <a:endParaRPr lang="en-US" dirty="0"/>
          </a:p>
          <a:p>
            <a:pPr lvl="1"/>
            <a:r>
              <a:rPr lang="en-US" dirty="0"/>
              <a:t>1 RTT for TCP setup</a:t>
            </a:r>
          </a:p>
          <a:p>
            <a:pPr lvl="1"/>
            <a:r>
              <a:rPr lang="en-US" dirty="0"/>
              <a:t>1 RTT for HTTP request and first few bytes</a:t>
            </a:r>
          </a:p>
          <a:p>
            <a:pPr lvl="1"/>
            <a:r>
              <a:rPr lang="en-US" dirty="0"/>
              <a:t>Transmission time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Total</a:t>
            </a:r>
            <a:r>
              <a:rPr lang="en-US" dirty="0"/>
              <a:t> = 2RTT + Transmission Time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7BAEA-6772-594B-A24F-4AD6BA38AE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5138546" y="1923173"/>
            <a:ext cx="3377002" cy="3560755"/>
            <a:chOff x="5138546" y="1923173"/>
            <a:chExt cx="3377002" cy="3560755"/>
          </a:xfrm>
        </p:grpSpPr>
        <p:sp>
          <p:nvSpPr>
            <p:cNvPr id="41" name="AutoShape 13"/>
            <p:cNvSpPr>
              <a:spLocks noChangeArrowheads="1"/>
            </p:cNvSpPr>
            <p:nvPr/>
          </p:nvSpPr>
          <p:spPr bwMode="auto">
            <a:xfrm rot="16200000" flipH="1">
              <a:off x="6273220" y="3410809"/>
              <a:ext cx="1378340" cy="2243994"/>
            </a:xfrm>
            <a:prstGeom prst="parallelogram">
              <a:avLst>
                <a:gd name="adj" fmla="val 25000"/>
              </a:avLst>
            </a:prstGeom>
            <a:solidFill>
              <a:srgbClr val="D3A600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lIns="91962" tIns="45982" rIns="91962" bIns="45982" anchor="ctr"/>
            <a:lstStyle/>
            <a:p>
              <a:pPr>
                <a:spcBef>
                  <a:spcPts val="1000"/>
                </a:spcBef>
                <a:spcAft>
                  <a:spcPts val="1000"/>
                </a:spcAft>
              </a:pPr>
              <a:endPara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endParaRPr>
            </a:p>
          </p:txBody>
        </p:sp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5840394" y="2282077"/>
              <a:ext cx="1462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8085859" y="2283528"/>
              <a:ext cx="0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5481352" y="1923173"/>
              <a:ext cx="77253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Client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7653247" y="1923173"/>
              <a:ext cx="862301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5840394" y="2423870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 rot="305992">
              <a:off x="6530548" y="2211896"/>
              <a:ext cx="9791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5840394" y="2774724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 rot="21314389">
              <a:off x="5989520" y="2578831"/>
              <a:ext cx="16109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 + ack 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5840394" y="3406261"/>
              <a:ext cx="2245465" cy="421025"/>
            </a:xfrm>
            <a:prstGeom prst="line">
              <a:avLst/>
            </a:prstGeom>
            <a:noFill/>
            <a:ln w="25400">
              <a:solidFill>
                <a:srgbClr val="D3A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 rot="623789">
              <a:off x="5862812" y="3281420"/>
              <a:ext cx="2209402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ack + HTTP GET</a:t>
              </a:r>
            </a:p>
          </p:txBody>
        </p:sp>
        <p:sp>
          <p:nvSpPr>
            <p:cNvPr id="25" name="AutoShape 20"/>
            <p:cNvSpPr>
              <a:spLocks/>
            </p:cNvSpPr>
            <p:nvPr/>
          </p:nvSpPr>
          <p:spPr bwMode="auto">
            <a:xfrm>
              <a:off x="5700052" y="2353699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5138546" y="2452687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4" name="AutoShape 20"/>
            <p:cNvSpPr>
              <a:spLocks/>
            </p:cNvSpPr>
            <p:nvPr/>
          </p:nvSpPr>
          <p:spPr bwMode="auto">
            <a:xfrm>
              <a:off x="5700052" y="3483263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5138546" y="3582251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7" name="AutoShape 20"/>
            <p:cNvSpPr>
              <a:spLocks/>
            </p:cNvSpPr>
            <p:nvPr/>
          </p:nvSpPr>
          <p:spPr bwMode="auto">
            <a:xfrm>
              <a:off x="5722481" y="4244411"/>
              <a:ext cx="70171" cy="100584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8" name="Text Box 22"/>
            <p:cNvSpPr txBox="1">
              <a:spLocks noChangeArrowheads="1"/>
            </p:cNvSpPr>
            <p:nvPr/>
          </p:nvSpPr>
          <p:spPr bwMode="auto">
            <a:xfrm>
              <a:off x="5160975" y="4580400"/>
              <a:ext cx="421476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 err="1">
                  <a:solidFill>
                    <a:srgbClr val="333399"/>
                  </a:solidFill>
                  <a:latin typeface="+mn-lt"/>
                </a:rPr>
                <a:t>Tx</a:t>
              </a:r>
              <a:endParaRPr lang="en-US" dirty="0">
                <a:solidFill>
                  <a:srgbClr val="333399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5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HTTP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Optimizing connections using </a:t>
            </a:r>
            <a:r>
              <a:rPr lang="en-US" dirty="0">
                <a:solidFill>
                  <a:srgbClr val="0000FF"/>
                </a:solidFill>
              </a:rPr>
              <a:t>three “P”s</a:t>
            </a:r>
          </a:p>
          <a:p>
            <a:pPr lvl="1"/>
            <a:r>
              <a:rPr lang="en-US" dirty="0"/>
              <a:t>Persistent connections </a:t>
            </a:r>
          </a:p>
          <a:p>
            <a:pPr lvl="1"/>
            <a:r>
              <a:rPr lang="en-US" dirty="0"/>
              <a:t>Parallel/concurrent connections </a:t>
            </a:r>
          </a:p>
          <a:p>
            <a:pPr lvl="1"/>
            <a:r>
              <a:rPr lang="en-US" dirty="0"/>
              <a:t>Pipelined transfers over the same connection</a:t>
            </a:r>
          </a:p>
          <a:p>
            <a:r>
              <a:rPr lang="en-US" dirty="0"/>
              <a:t>Caching</a:t>
            </a:r>
          </a:p>
          <a:p>
            <a:pPr lvl="1"/>
            <a:r>
              <a:rPr lang="en-US" dirty="0"/>
              <a:t>Forward proxy: close to clients</a:t>
            </a:r>
          </a:p>
          <a:p>
            <a:pPr lvl="1"/>
            <a:r>
              <a:rPr lang="en-US" dirty="0"/>
              <a:t>Reverse proxy: close to servers</a:t>
            </a:r>
          </a:p>
          <a:p>
            <a:r>
              <a:rPr lang="en-US" dirty="0"/>
              <a:t>Replication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small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latency</a:t>
            </a:r>
          </a:p>
          <a:p>
            <a:endParaRPr lang="en-US" dirty="0"/>
          </a:p>
          <a:p>
            <a:r>
              <a:rPr lang="en-US" dirty="0"/>
              <a:t>One-at-a-time:  ~2n RTT</a:t>
            </a:r>
          </a:p>
          <a:p>
            <a:r>
              <a:rPr lang="en-US" dirty="0"/>
              <a:t>m concurrent: ~2[n/m] RTT</a:t>
            </a:r>
          </a:p>
          <a:p>
            <a:r>
              <a:rPr lang="en-US" dirty="0"/>
              <a:t>Persistent: ~ (n+1) RTT</a:t>
            </a:r>
          </a:p>
          <a:p>
            <a:r>
              <a:rPr lang="en-US" dirty="0"/>
              <a:t>Pipelined: ~2 RTT</a:t>
            </a:r>
          </a:p>
          <a:p>
            <a:r>
              <a:rPr lang="en-US" dirty="0"/>
              <a:t>Pipelined and Persistent: ~2 RTT first time; RTT later for another n from the same site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0828-CFE2-FE41-8CC1-C71D8AFBCB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large objects each of size 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TCP throughput B</a:t>
            </a:r>
            <a:r>
              <a:rPr lang="en-US" baseline="-25000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 (&lt;= B</a:t>
            </a:r>
            <a:r>
              <a:rPr lang="en-US" baseline="-25000" dirty="0">
                <a:solidFill>
                  <a:srgbClr val="0000FF"/>
                </a:solidFill>
              </a:rPr>
              <a:t>L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dirty="0"/>
              <a:t>, where link bandwidth is referred by B</a:t>
            </a:r>
            <a:r>
              <a:rPr lang="en-US" baseline="-25000" dirty="0"/>
              <a:t>L</a:t>
            </a:r>
          </a:p>
          <a:p>
            <a:endParaRPr lang="en-US" dirty="0"/>
          </a:p>
          <a:p>
            <a:r>
              <a:rPr lang="en-US" dirty="0"/>
              <a:t>One-at-a-time: 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r>
              <a:rPr lang="en-US" dirty="0"/>
              <a:t>m concurrent: ~ </a:t>
            </a:r>
            <a:r>
              <a:rPr lang="en-US" dirty="0" err="1"/>
              <a:t>nF</a:t>
            </a:r>
            <a:r>
              <a:rPr lang="en-US" dirty="0"/>
              <a:t>/(</a:t>
            </a:r>
            <a:r>
              <a:rPr lang="en-US" dirty="0" err="1"/>
              <a:t>mB</a:t>
            </a:r>
            <a:r>
              <a:rPr lang="en-US" baseline="-25000" dirty="0" err="1"/>
              <a:t>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Assuming each TCP connection gets the same throughput and </a:t>
            </a:r>
            <a:r>
              <a:rPr lang="en-US" dirty="0" err="1"/>
              <a:t>mB</a:t>
            </a:r>
            <a:r>
              <a:rPr lang="en-US" baseline="-25000" dirty="0" err="1"/>
              <a:t>C</a:t>
            </a:r>
            <a:r>
              <a:rPr lang="en-US" dirty="0"/>
              <a:t> &lt;= B</a:t>
            </a:r>
            <a:r>
              <a:rPr lang="en-US" baseline="-25000" dirty="0"/>
              <a:t>L</a:t>
            </a:r>
          </a:p>
          <a:p>
            <a:r>
              <a:rPr lang="en-US" dirty="0"/>
              <a:t>Pipelined and/or persistent: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pPr lvl="1"/>
            <a:r>
              <a:rPr lang="en-US" dirty="0"/>
              <a:t>The only thing that helps is higher throughput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52E1-9A2F-EA45-A5F8-B704C09262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Distribution Networks (CDN)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Caching and replication as a service</a:t>
            </a:r>
          </a:p>
          <a:p>
            <a:r>
              <a:rPr lang="en-US" dirty="0"/>
              <a:t>Combination of caching and replication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Pull</a:t>
            </a:r>
            <a:r>
              <a:rPr lang="en-US" dirty="0"/>
              <a:t>: Direct result of clients</a:t>
            </a:r>
            <a:r>
              <a:rPr lang="ja-JP" altLang="en-US" dirty="0"/>
              <a:t>’</a:t>
            </a:r>
            <a:r>
              <a:rPr lang="en-US" dirty="0"/>
              <a:t>requests (caching)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Push</a:t>
            </a:r>
            <a:r>
              <a:rPr lang="en-US" dirty="0"/>
              <a:t>: Expectation of high access rate (replication)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Hierarchies in the DNS</a:t>
            </a:r>
          </a:p>
        </p:txBody>
      </p:sp>
      <p:sp>
        <p:nvSpPr>
          <p:cNvPr id="146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intertwined hierarchies </a:t>
            </a:r>
          </a:p>
          <a:p>
            <a:pPr lvl="1"/>
            <a:r>
              <a:rPr lang="en-US" dirty="0"/>
              <a:t>Hierarchical namespace</a:t>
            </a:r>
          </a:p>
          <a:p>
            <a:pPr lvl="2"/>
            <a:r>
              <a:rPr lang="en-US" dirty="0"/>
              <a:t>As opposed to flat namespace</a:t>
            </a:r>
          </a:p>
          <a:p>
            <a:pPr lvl="1"/>
            <a:r>
              <a:rPr lang="en-US" dirty="0"/>
              <a:t>Hierarchically administered</a:t>
            </a:r>
          </a:p>
          <a:p>
            <a:pPr lvl="2"/>
            <a:r>
              <a:rPr lang="en-US" dirty="0"/>
              <a:t>As opposed to centralized </a:t>
            </a:r>
          </a:p>
          <a:p>
            <a:pPr lvl="1"/>
            <a:r>
              <a:rPr lang="en-US" dirty="0"/>
              <a:t>(Distributed) hierarchy of servers</a:t>
            </a:r>
          </a:p>
          <a:p>
            <a:pPr lvl="2"/>
            <a:r>
              <a:rPr lang="en-US" dirty="0"/>
              <a:t>As opposed to centralized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1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</p:spTree>
    <p:extLst>
      <p:ext uri="{BB962C8B-B14F-4D97-AF65-F5344CB8AC3E}">
        <p14:creationId xmlns:p14="http://schemas.microsoft.com/office/powerpoint/2010/main" val="2069155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0" animBg="1"/>
      <p:bldP spid="1146" grpId="0" animBg="1"/>
      <p:bldP spid="11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77562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25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85997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95124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Recursive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12"/>
          <p:cNvSpPr/>
          <p:nvPr/>
        </p:nvSpPr>
        <p:spPr>
          <a:xfrm flipH="1" flipV="1">
            <a:off x="7335095" y="3925317"/>
            <a:ext cx="487020" cy="85224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21"/>
          <p:cNvSpPr/>
          <p:nvPr/>
        </p:nvSpPr>
        <p:spPr>
          <a:xfrm>
            <a:off x="7084502" y="3938631"/>
            <a:ext cx="518773" cy="8929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22"/>
          <p:cNvSpPr/>
          <p:nvPr/>
        </p:nvSpPr>
        <p:spPr>
          <a:xfrm>
            <a:off x="4723804" y="2687836"/>
            <a:ext cx="2134195" cy="90894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3" name="Shape 1223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4" name="Shape 1224"/>
          <p:cNvSpPr/>
          <p:nvPr/>
        </p:nvSpPr>
        <p:spPr>
          <a:xfrm flipH="1" flipV="1">
            <a:off x="1421933" y="4240635"/>
            <a:ext cx="843095" cy="10821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849516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Iterative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1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4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261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7" name="Shape 1269"/>
          <p:cNvSpPr/>
          <p:nvPr/>
        </p:nvSpPr>
        <p:spPr>
          <a:xfrm flipH="1">
            <a:off x="1572936" y="3692702"/>
            <a:ext cx="4856439" cy="34659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8" name="Shape 1270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271"/>
          <p:cNvSpPr/>
          <p:nvPr/>
        </p:nvSpPr>
        <p:spPr>
          <a:xfrm flipV="1">
            <a:off x="1547768" y="3842232"/>
            <a:ext cx="4881607" cy="335485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72"/>
          <p:cNvSpPr/>
          <p:nvPr/>
        </p:nvSpPr>
        <p:spPr>
          <a:xfrm flipH="1" flipV="1">
            <a:off x="1547768" y="4278385"/>
            <a:ext cx="5787327" cy="72010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73"/>
          <p:cNvSpPr/>
          <p:nvPr/>
        </p:nvSpPr>
        <p:spPr>
          <a:xfrm>
            <a:off x="1472269" y="4404220"/>
            <a:ext cx="5690532" cy="738474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74"/>
          <p:cNvSpPr/>
          <p:nvPr/>
        </p:nvSpPr>
        <p:spPr>
          <a:xfrm flipH="1" flipV="1">
            <a:off x="1157681" y="4404219"/>
            <a:ext cx="868261" cy="111993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207586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dvAuto="0"/>
      <p:bldP spid="24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caching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all these queries takes time</a:t>
            </a:r>
          </a:p>
          <a:p>
            <a:pPr lvl="1"/>
            <a:r>
              <a:rPr lang="en-US" dirty="0"/>
              <a:t>Up to 1-second latency before starting download</a:t>
            </a:r>
          </a:p>
          <a:p>
            <a:r>
              <a:rPr lang="en-US" dirty="0"/>
              <a:t>Caching can greatly reduce overhead</a:t>
            </a:r>
          </a:p>
          <a:p>
            <a:pPr lvl="1"/>
            <a:r>
              <a:rPr lang="en-US" dirty="0"/>
              <a:t>The top-level servers very rarely change</a:t>
            </a:r>
          </a:p>
          <a:p>
            <a:pPr lvl="1"/>
            <a:r>
              <a:rPr lang="en-US" dirty="0"/>
              <a:t>Popular sites (e.g., </a:t>
            </a:r>
            <a:r>
              <a:rPr lang="en-US" dirty="0" err="1"/>
              <a:t>www.google.com</a:t>
            </a:r>
            <a:r>
              <a:rPr lang="en-US" dirty="0"/>
              <a:t>) visited often</a:t>
            </a:r>
          </a:p>
          <a:p>
            <a:pPr lvl="1"/>
            <a:r>
              <a:rPr lang="en-US" dirty="0"/>
              <a:t>Local DNS server often has the information cached</a:t>
            </a:r>
          </a:p>
          <a:p>
            <a:r>
              <a:rPr lang="en-US" dirty="0"/>
              <a:t>How DNS caching works</a:t>
            </a:r>
          </a:p>
          <a:p>
            <a:pPr lvl="1"/>
            <a:r>
              <a:rPr lang="en-US" dirty="0"/>
              <a:t>DNS servers cache responses to queries</a:t>
            </a:r>
          </a:p>
          <a:p>
            <a:pPr lvl="1"/>
            <a:r>
              <a:rPr lang="en-US" dirty="0"/>
              <a:t>Responses include a </a:t>
            </a:r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dirty="0">
                <a:solidFill>
                  <a:srgbClr val="0000FF"/>
                </a:solidFill>
              </a:rPr>
              <a:t>time to live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 (TTL)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Server deletes cached entry after TTL expires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  <a:p>
            <a:r>
              <a:rPr lang="en-US" dirty="0"/>
              <a:t>Client first buffers for a while 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multiple resolutions 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8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8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Traditional datacenter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21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servers’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7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Straight Connector 166"/>
          <p:cNvCxnSpPr>
            <a:stCxn id="22" idx="0"/>
          </p:cNvCxnSpPr>
          <p:nvPr/>
        </p:nvCxnSpPr>
        <p:spPr bwMode="auto">
          <a:xfrm flipV="1">
            <a:off x="2859331" y="1676400"/>
            <a:ext cx="1712669" cy="791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70" name="Straight Connector 169"/>
          <p:cNvCxnSpPr>
            <a:stCxn id="54" idx="0"/>
          </p:cNvCxnSpPr>
          <p:nvPr/>
        </p:nvCxnSpPr>
        <p:spPr bwMode="auto">
          <a:xfrm flipH="1" flipV="1">
            <a:off x="4800600" y="1676400"/>
            <a:ext cx="1548854" cy="7859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noFill/>
        </p:spPr>
        <p:txBody>
          <a:bodyPr/>
          <a:lstStyle/>
          <a:p>
            <a:r>
              <a:rPr lang="en-US" dirty="0"/>
              <a:t>Modern datacenter networks: More bandwidth, more paths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1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/>
              <a:t>All links have the same b/w</a:t>
            </a:r>
            <a:endParaRPr lang="en-US" dirty="0"/>
          </a:p>
          <a:p>
            <a:r>
              <a:rPr lang="en-US" dirty="0"/>
              <a:t>At most k</a:t>
            </a:r>
            <a:r>
              <a:rPr lang="en-US" baseline="30000" dirty="0"/>
              <a:t>3</a:t>
            </a:r>
            <a:r>
              <a:rPr lang="en-US" dirty="0"/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</p:spTree>
    <p:extLst>
      <p:ext uri="{BB962C8B-B14F-4D97-AF65-F5344CB8AC3E}">
        <p14:creationId xmlns:p14="http://schemas.microsoft.com/office/powerpoint/2010/main" val="721346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Application layer (lectures 3–5) </a:t>
            </a:r>
          </a:p>
          <a:p>
            <a:r>
              <a:rPr lang="en-US" dirty="0"/>
              <a:t>Transport layer (lectures 6–9)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38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(1) Communication between application processes</a:t>
            </a:r>
          </a:p>
          <a:p>
            <a:pPr lvl="1"/>
            <a:r>
              <a:rPr lang="en-US" dirty="0"/>
              <a:t>Mux and </a:t>
            </a:r>
            <a:r>
              <a:rPr lang="en-US" dirty="0" err="1"/>
              <a:t>demux</a:t>
            </a:r>
            <a:r>
              <a:rPr lang="en-US" dirty="0"/>
              <a:t> from/to application processes</a:t>
            </a:r>
          </a:p>
          <a:p>
            <a:pPr lvl="1"/>
            <a:r>
              <a:rPr lang="en-US" dirty="0"/>
              <a:t>Implemented using ports</a:t>
            </a:r>
          </a:p>
          <a:p>
            <a:r>
              <a:rPr lang="en-US" dirty="0"/>
              <a:t>(2) Provide common end-to-end services for app layer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18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UDP vs. TCP</a:t>
            </a:r>
            <a:endParaRPr lang="en-US" dirty="0"/>
          </a:p>
        </p:txBody>
      </p:sp>
      <p:graphicFrame>
        <p:nvGraphicFramePr>
          <p:cNvPr id="1153028" name="Group 4"/>
          <p:cNvGraphicFramePr>
            <a:graphicFrameLocks noGrp="1"/>
          </p:cNvGraphicFramePr>
          <p:nvPr>
            <p:ph idx="1"/>
          </p:nvPr>
        </p:nvGraphicFramePr>
        <p:xfrm>
          <a:off x="609600" y="2381794"/>
          <a:ext cx="7924800" cy="2573338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UDP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TCP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Data abstraction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Packets (datagrams)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Stream of bytes of arbitrary length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Service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Best-effort (same as IP)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Reliability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In-order delivery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Congestion control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Flow control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3CF10D24-AF79-3B40-9DAD-BB1417A215A5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530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8077200" cy="685800"/>
          </a:xfrm>
        </p:spPr>
        <p:txBody>
          <a:bodyPr/>
          <a:lstStyle/>
          <a:p>
            <a:pPr lvl="1"/>
            <a:r>
              <a:rPr lang="en-US" dirty="0"/>
              <a:t>Both UDP and TCP perform mux/</a:t>
            </a:r>
            <a:r>
              <a:rPr lang="en-US" dirty="0" err="1"/>
              <a:t>demux</a:t>
            </a:r>
            <a:r>
              <a:rPr lang="en-US" dirty="0"/>
              <a:t> via ports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9551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transport: </a:t>
            </a:r>
            <a:br>
              <a:rPr lang="en-US" dirty="0"/>
            </a:br>
            <a:r>
              <a:rPr lang="en-US" dirty="0"/>
              <a:t>General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(feedback from receiver)</a:t>
            </a:r>
          </a:p>
          <a:p>
            <a:pPr lvl="1"/>
            <a:r>
              <a:rPr lang="en-US" dirty="0"/>
              <a:t>Cumulative: “received everything up to X”</a:t>
            </a:r>
          </a:p>
          <a:p>
            <a:pPr lvl="1"/>
            <a:r>
              <a:rPr lang="en-US" dirty="0"/>
              <a:t>Selective: “received X”</a:t>
            </a:r>
          </a:p>
          <a:p>
            <a:r>
              <a:rPr lang="en-US" dirty="0"/>
              <a:t>Sequence no (detect duplicates, accounting)</a:t>
            </a:r>
          </a:p>
          <a:p>
            <a:r>
              <a:rPr lang="en-US" dirty="0"/>
              <a:t>Sliding windows (for efficiency)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493431" y="5105400"/>
            <a:ext cx="4157137" cy="1569660"/>
          </a:xfrm>
          <a:prstGeom prst="rect">
            <a:avLst/>
          </a:prstGeom>
          <a:solidFill>
            <a:schemeClr val="accent5"/>
          </a:solidFill>
        </p:spPr>
        <p:txBody>
          <a:bodyPr wrap="square" lIns="90848" tIns="45424" rIns="90848" bIns="45424" rtlCol="0">
            <a:spAutoFit/>
          </a:bodyPr>
          <a:lstStyle/>
          <a:p>
            <a:pPr algn="l"/>
            <a:r>
              <a:rPr lang="en-US" sz="2400" b="0" dirty="0">
                <a:latin typeface="+mn-lt"/>
              </a:rPr>
              <a:t>You should know: 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what these concepts are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why they exist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how TCP uses them</a:t>
            </a:r>
          </a:p>
        </p:txBody>
      </p:sp>
    </p:spTree>
    <p:extLst>
      <p:ext uri="{BB962C8B-B14F-4D97-AF65-F5344CB8AC3E}">
        <p14:creationId xmlns:p14="http://schemas.microsoft.com/office/powerpoint/2010/main" val="258227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is correct but inefficient</a:t>
            </a:r>
          </a:p>
          <a:p>
            <a:pPr lvl="1"/>
            <a:r>
              <a:rPr lang="en-US" dirty="0"/>
              <a:t>Works packet by packet (of size DATA)</a:t>
            </a:r>
          </a:p>
          <a:p>
            <a:pPr lvl="1"/>
            <a:r>
              <a:rPr lang="en-US" dirty="0"/>
              <a:t>Throughput is (DATA/ RTT)</a:t>
            </a:r>
          </a:p>
          <a:p>
            <a:r>
              <a:rPr lang="en-US" dirty="0">
                <a:solidFill>
                  <a:srgbClr val="0000FF"/>
                </a:solidFill>
              </a:rPr>
              <a:t>Sliding window</a:t>
            </a:r>
            <a:r>
              <a:rPr lang="en-US" dirty="0"/>
              <a:t>: use pipelining to increase throughput</a:t>
            </a:r>
          </a:p>
          <a:p>
            <a:pPr lvl="1"/>
            <a:r>
              <a:rPr lang="en-US" dirty="0"/>
              <a:t>n packets at a time results in higher throughput</a:t>
            </a:r>
          </a:p>
          <a:p>
            <a:pPr lvl="1"/>
            <a:r>
              <a:rPr lang="en-US" dirty="0"/>
              <a:t>MIN(n*DATA/RTT, Link Bandwidth)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22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46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know about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TCP achieves reliability</a:t>
            </a:r>
          </a:p>
          <a:p>
            <a:r>
              <a:rPr lang="en-US" dirty="0"/>
              <a:t>RTT estimation</a:t>
            </a:r>
          </a:p>
          <a:p>
            <a:r>
              <a:rPr lang="en-US" dirty="0"/>
              <a:t>Connection establishment/teardown </a:t>
            </a:r>
          </a:p>
          <a:p>
            <a:r>
              <a:rPr lang="en-US" dirty="0"/>
              <a:t>Flow Control</a:t>
            </a:r>
          </a:p>
          <a:p>
            <a:r>
              <a:rPr lang="en-US" dirty="0"/>
              <a:t>Congestion Control</a:t>
            </a:r>
          </a:p>
          <a:p>
            <a:r>
              <a:rPr lang="en-US" dirty="0"/>
              <a:t>For each, know how the functionality is implemented and why it is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TCP take care of it simplifies application development</a:t>
            </a:r>
          </a:p>
          <a:p>
            <a:r>
              <a:rPr lang="en-US" dirty="0"/>
              <a:t>How</a:t>
            </a:r>
          </a:p>
          <a:p>
            <a:pPr lvl="1"/>
            <a:r>
              <a:rPr lang="en-US" dirty="0"/>
              <a:t>Checksums and timers (for error and loss detection) </a:t>
            </a:r>
          </a:p>
          <a:p>
            <a:pPr lvl="1"/>
            <a:r>
              <a:rPr lang="en-US" dirty="0"/>
              <a:t>Fast retransmit (to detect faster-than-timeout loss)</a:t>
            </a:r>
          </a:p>
          <a:p>
            <a:pPr lvl="1"/>
            <a:r>
              <a:rPr lang="en-US" dirty="0"/>
              <a:t>Cumulative ACKs (receiver feedback: what’s lost?)</a:t>
            </a:r>
          </a:p>
          <a:p>
            <a:pPr lvl="1"/>
            <a:r>
              <a:rPr lang="en-US" dirty="0"/>
              <a:t>Sliding windows (for efficiency)</a:t>
            </a:r>
          </a:p>
          <a:p>
            <a:pPr lvl="1"/>
            <a:r>
              <a:rPr lang="en-US" dirty="0"/>
              <a:t>Buffers at sender (hold packets until ACKs arrive)</a:t>
            </a:r>
          </a:p>
          <a:p>
            <a:pPr lvl="1"/>
            <a:r>
              <a:rPr lang="en-US" dirty="0"/>
              <a:t>Buffers at receiver (to reorder packets before delivery to application)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Establishing/terminating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Three-way handshake</a:t>
            </a:r>
            <a:r>
              <a:rPr lang="en-US" sz="2400" dirty="0"/>
              <a:t> to establish 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  <a:p>
            <a:r>
              <a:rPr lang="en-US" sz="2300" dirty="0"/>
              <a:t>Three-way handshake to terminate (normal operation)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36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TCP at the receiver must buffer a packet until all packets before it (in byte-order) have arrived and the receiving application has consumed available bytes</a:t>
            </a:r>
          </a:p>
          <a:p>
            <a:pPr lvl="1"/>
            <a:r>
              <a:rPr lang="en-US" dirty="0"/>
              <a:t>Hence, receiver advances its window when the receiving application consumes data</a:t>
            </a:r>
          </a:p>
          <a:p>
            <a:pPr lvl="1"/>
            <a:r>
              <a:rPr lang="en-US" dirty="0"/>
              <a:t>Sender advances its window when new data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Risk of sender overrunning the receiver’s buffers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“Advertised Window” field in TCP header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Because the network itself can be the bottleneck</a:t>
            </a:r>
          </a:p>
          <a:p>
            <a:pPr lvl="1"/>
            <a:r>
              <a:rPr lang="en-US" dirty="0"/>
              <a:t>Should make efficient use of available network capacity</a:t>
            </a:r>
          </a:p>
          <a:p>
            <a:pPr lvl="2"/>
            <a:r>
              <a:rPr lang="en-US" dirty="0"/>
              <a:t>While sharing available capacity fairly with other flows</a:t>
            </a:r>
          </a:p>
          <a:p>
            <a:pPr lvl="2"/>
            <a:r>
              <a:rPr lang="en-US" dirty="0"/>
              <a:t>And adapting to changes in available capacity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Dynamically adapts the size of the sending window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Restrict window to RWND to make sure that the receiver isn’t overwhelmed</a:t>
            </a:r>
          </a:p>
          <a:p>
            <a:r>
              <a:rPr lang="en-US" dirty="0"/>
              <a:t>Congestion Control</a:t>
            </a:r>
          </a:p>
          <a:p>
            <a:pPr lvl="1"/>
            <a:r>
              <a:rPr lang="en-US" dirty="0"/>
              <a:t>Restrict window to CWND to make sure that the network isn’t overwhelmed</a:t>
            </a:r>
          </a:p>
          <a:p>
            <a:r>
              <a:rPr lang="en-US" dirty="0"/>
              <a:t>Together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Restrict window to min{RWND, CWND}</a:t>
            </a:r>
            <a:r>
              <a:rPr lang="en-US" dirty="0"/>
              <a:t> to make sure that neither the receiver nor the network are overwhelmed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40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</a:t>
            </a:r>
            <a:r>
              <a:rPr lang="en-US" dirty="0"/>
              <a:t> (initialized to a small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dupACKcount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timer</a:t>
            </a:r>
            <a:endParaRPr lang="en-US" dirty="0"/>
          </a:p>
          <a:p>
            <a:r>
              <a:rPr lang="en-US" dirty="0"/>
              <a:t>Events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ACK</a:t>
            </a:r>
            <a:r>
              <a:rPr lang="en-US" dirty="0"/>
              <a:t> (new data)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dupACK</a:t>
            </a:r>
            <a:r>
              <a:rPr lang="en-US" dirty="0"/>
              <a:t> (duplicate ACK for old data)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Timeout</a:t>
            </a:r>
            <a:r>
              <a:rPr lang="en-US" dirty="0"/>
              <a:t>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CWND &lt; ssthresh</a:t>
            </a:r>
          </a:p>
          <a:p>
            <a:pPr lvl="1"/>
            <a:r>
              <a:rPr lang="en-US"/>
              <a:t>CWND += 1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34000" y="1981200"/>
            <a:ext cx="3352800" cy="1371600"/>
          </a:xfrm>
          <a:prstGeom prst="wedgeRoundRectCallout">
            <a:avLst>
              <a:gd name="adj1" fmla="val -118358"/>
              <a:gd name="adj2" fmla="val -18268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0" y="2029361"/>
            <a:ext cx="27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CWND packets per RTT </a:t>
            </a:r>
          </a:p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Hence, after one RTT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with no drops: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solidFill>
                  <a:srgbClr val="0000FF"/>
                </a:solidFill>
                <a:latin typeface="+mn-lt"/>
              </a:rPr>
              <a:t>    CWND = 2xCWND</a:t>
            </a:r>
          </a:p>
        </p:txBody>
      </p:sp>
    </p:spTree>
    <p:extLst>
      <p:ext uri="{BB962C8B-B14F-4D97-AF65-F5344CB8AC3E}">
        <p14:creationId xmlns:p14="http://schemas.microsoft.com/office/powerpoint/2010/main" val="159061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CWND &lt;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/>
              <a:t>CWND += 1</a:t>
            </a:r>
          </a:p>
          <a:p>
            <a:pPr lvl="1"/>
            <a:endParaRPr lang="en-US" dirty="0"/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CWND = CWND + 1/CWND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Right Brace 5"/>
          <p:cNvSpPr/>
          <p:nvPr/>
        </p:nvSpPr>
        <p:spPr bwMode="auto">
          <a:xfrm>
            <a:off x="5506121" y="17526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0135" y="2038290"/>
            <a:ext cx="2706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+mn-lt"/>
              </a:rPr>
              <a:t>Slow start 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phase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829721" y="4920880"/>
            <a:ext cx="3352800" cy="1371600"/>
            <a:chOff x="5105400" y="4267200"/>
            <a:chExt cx="3352800" cy="1371600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105400" y="4267200"/>
              <a:ext cx="3352800" cy="1371600"/>
            </a:xfrm>
            <a:prstGeom prst="wedgeRoundRectCallout">
              <a:avLst>
                <a:gd name="adj1" fmla="val -61310"/>
                <a:gd name="adj2" fmla="val -117752"/>
                <a:gd name="adj3" fmla="val 16667"/>
              </a:avLst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5400" y="4315361"/>
              <a:ext cx="27377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CWND packets per RTT </a:t>
              </a:r>
            </a:p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Hence, after one RTT 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latin typeface="+mn-lt"/>
                </a:rPr>
                <a:t>with no drops: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solidFill>
                    <a:srgbClr val="0000FF"/>
                  </a:solidFill>
                  <a:latin typeface="+mn-lt"/>
                </a:rPr>
                <a:t>    CWND = CWND + 1</a:t>
              </a:r>
            </a:p>
          </p:txBody>
        </p:sp>
      </p:grpSp>
      <p:sp>
        <p:nvSpPr>
          <p:cNvPr id="10" name="Right Brace 9"/>
          <p:cNvSpPr/>
          <p:nvPr/>
        </p:nvSpPr>
        <p:spPr bwMode="auto">
          <a:xfrm>
            <a:off x="5506121" y="34290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352407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 dirty="0">
                <a:solidFill>
                  <a:srgbClr val="0000FF"/>
                </a:solidFill>
                <a:latin typeface="+mn-lt"/>
              </a:rPr>
              <a:t>Congestion </a:t>
            </a:r>
            <a:br>
              <a:rPr lang="en-US" sz="2400" i="1" dirty="0">
                <a:solidFill>
                  <a:srgbClr val="0000FF"/>
                </a:solidFill>
                <a:latin typeface="+mn-lt"/>
              </a:rPr>
            </a:br>
            <a:r>
              <a:rPr lang="en-US" sz="2400" i="1" dirty="0">
                <a:solidFill>
                  <a:srgbClr val="0000FF"/>
                </a:solidFill>
                <a:latin typeface="+mn-lt"/>
              </a:rPr>
              <a:t>avoidance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 phase</a:t>
            </a:r>
          </a:p>
        </p:txBody>
      </p:sp>
    </p:spTree>
    <p:extLst>
      <p:ext uri="{BB962C8B-B14F-4D97-AF65-F5344CB8AC3E}">
        <p14:creationId xmlns:p14="http://schemas.microsoft.com/office/powerpoint/2010/main" val="47441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TimeOut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Timeout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0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dupACK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dupACKcount</a:t>
            </a:r>
            <a:r>
              <a:rPr lang="en-US" dirty="0"/>
              <a:t> ++ 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 3 </a:t>
            </a:r>
            <a:r>
              <a:rPr lang="en-US" dirty="0">
                <a:solidFill>
                  <a:srgbClr val="0000FF"/>
                </a:solidFill>
              </a:rPr>
              <a:t>/* fast retransmit  */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= CWND/2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03427" name="Freeform 3"/>
          <p:cNvSpPr>
            <a:spLocks/>
          </p:cNvSpPr>
          <p:nvPr/>
        </p:nvSpPr>
        <p:spPr bwMode="auto">
          <a:xfrm>
            <a:off x="914400" y="20351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8" name="Freeform 4"/>
          <p:cNvSpPr>
            <a:spLocks/>
          </p:cNvSpPr>
          <p:nvPr/>
        </p:nvSpPr>
        <p:spPr bwMode="auto">
          <a:xfrm>
            <a:off x="914400" y="34067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48768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t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341313" y="1501775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Window</a:t>
            </a:r>
          </a:p>
        </p:txBody>
      </p:sp>
      <p:sp>
        <p:nvSpPr>
          <p:cNvPr id="986119" name="Text Box 7"/>
          <p:cNvSpPr txBox="1">
            <a:spLocks noChangeArrowheads="1"/>
          </p:cNvSpPr>
          <p:nvPr/>
        </p:nvSpPr>
        <p:spPr bwMode="auto">
          <a:xfrm>
            <a:off x="655638" y="5528203"/>
            <a:ext cx="783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400" b="0" dirty="0">
                <a:latin typeface="Arial" charset="0"/>
              </a:rPr>
              <a:t>Slow-start restart: Go back to CWND = 1 MSS, but take advantage of knowing the previous value of CWND</a:t>
            </a:r>
          </a:p>
        </p:txBody>
      </p:sp>
      <p:sp>
        <p:nvSpPr>
          <p:cNvPr id="103432" name="Freeform 8"/>
          <p:cNvSpPr>
            <a:spLocks/>
          </p:cNvSpPr>
          <p:nvPr/>
        </p:nvSpPr>
        <p:spPr bwMode="auto">
          <a:xfrm>
            <a:off x="2743200" y="2873375"/>
            <a:ext cx="2667000" cy="1524000"/>
          </a:xfrm>
          <a:custGeom>
            <a:avLst/>
            <a:gdLst>
              <a:gd name="T0" fmla="*/ 0 w 1680"/>
              <a:gd name="T1" fmla="*/ 2147483647 h 960"/>
              <a:gd name="T2" fmla="*/ 0 w 1680"/>
              <a:gd name="T3" fmla="*/ 2147483647 h 960"/>
              <a:gd name="T4" fmla="*/ 2147483647 w 1680"/>
              <a:gd name="T5" fmla="*/ 2147483647 h 960"/>
              <a:gd name="T6" fmla="*/ 2147483647 w 1680"/>
              <a:gd name="T7" fmla="*/ 2147483647 h 960"/>
              <a:gd name="T8" fmla="*/ 2147483647 w 1680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960"/>
              <a:gd name="T17" fmla="*/ 1680 w 1680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960">
                <a:moveTo>
                  <a:pt x="0" y="336"/>
                </a:moveTo>
                <a:lnTo>
                  <a:pt x="0" y="816"/>
                </a:lnTo>
                <a:lnTo>
                  <a:pt x="384" y="528"/>
                </a:lnTo>
                <a:lnTo>
                  <a:pt x="384" y="960"/>
                </a:lnTo>
                <a:lnTo>
                  <a:pt x="1680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5410200" y="2873375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828800" y="3852864"/>
            <a:ext cx="4711700" cy="1709738"/>
            <a:chOff x="1152" y="2379"/>
            <a:chExt cx="2968" cy="1077"/>
          </a:xfrm>
        </p:grpSpPr>
        <p:sp>
          <p:nvSpPr>
            <p:cNvPr id="103450" name="Freeform 11"/>
            <p:cNvSpPr>
              <a:spLocks/>
            </p:cNvSpPr>
            <p:nvPr/>
          </p:nvSpPr>
          <p:spPr bwMode="auto">
            <a:xfrm>
              <a:off x="3544" y="2379"/>
              <a:ext cx="576" cy="624"/>
            </a:xfrm>
            <a:custGeom>
              <a:avLst/>
              <a:gdLst>
                <a:gd name="T0" fmla="*/ 36 w 1152"/>
                <a:gd name="T1" fmla="*/ 0 h 864"/>
                <a:gd name="T2" fmla="*/ 33 w 1152"/>
                <a:gd name="T3" fmla="*/ 66 h 864"/>
                <a:gd name="T4" fmla="*/ 26 w 1152"/>
                <a:gd name="T5" fmla="*/ 123 h 864"/>
                <a:gd name="T6" fmla="*/ 12 w 1152"/>
                <a:gd name="T7" fmla="*/ 160 h 864"/>
                <a:gd name="T8" fmla="*/ 0 w 1152"/>
                <a:gd name="T9" fmla="*/ 170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451" name="AutoShape 12"/>
            <p:cNvSpPr>
              <a:spLocks noChangeArrowheads="1"/>
            </p:cNvSpPr>
            <p:nvPr/>
          </p:nvSpPr>
          <p:spPr bwMode="auto">
            <a:xfrm>
              <a:off x="1152" y="2880"/>
              <a:ext cx="1824" cy="576"/>
            </a:xfrm>
            <a:prstGeom prst="wedgeRectCallout">
              <a:avLst>
                <a:gd name="adj1" fmla="val 106361"/>
                <a:gd name="adj2" fmla="val -71009"/>
              </a:avLst>
            </a:prstGeom>
            <a:solidFill>
              <a:srgbClr val="D3A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1600" b="0" dirty="0">
                  <a:ea typeface="Arial" charset="0"/>
                  <a:cs typeface="Arial" charset="0"/>
                </a:rPr>
                <a:t>Slow start in operation until it reaches half of previous CWND, i.e., </a:t>
              </a:r>
              <a:r>
                <a:rPr lang="en-US" sz="1600" b="0" i="1" dirty="0">
                  <a:ea typeface="Arial" charset="0"/>
                  <a:cs typeface="Arial" charset="0"/>
                </a:rPr>
                <a:t>SSTHRESH</a:t>
              </a:r>
              <a:endParaRPr lang="en-US" sz="16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724400" y="3171748"/>
            <a:ext cx="4114800" cy="1452562"/>
            <a:chOff x="2976" y="1965"/>
            <a:chExt cx="2592" cy="915"/>
          </a:xfrm>
        </p:grpSpPr>
        <p:sp>
          <p:nvSpPr>
            <p:cNvPr id="103447" name="Freeform 14"/>
            <p:cNvSpPr>
              <a:spLocks/>
            </p:cNvSpPr>
            <p:nvPr/>
          </p:nvSpPr>
          <p:spPr bwMode="auto">
            <a:xfrm>
              <a:off x="4560" y="1965"/>
              <a:ext cx="1008" cy="624"/>
            </a:xfrm>
            <a:custGeom>
              <a:avLst/>
              <a:gdLst>
                <a:gd name="T0" fmla="*/ 0 w 1008"/>
                <a:gd name="T1" fmla="*/ 0 h 624"/>
                <a:gd name="T2" fmla="*/ 0 w 1008"/>
                <a:gd name="T3" fmla="*/ 624 h 624"/>
                <a:gd name="T4" fmla="*/ 720 w 1008"/>
                <a:gd name="T5" fmla="*/ 48 h 624"/>
                <a:gd name="T6" fmla="*/ 720 w 1008"/>
                <a:gd name="T7" fmla="*/ 576 h 624"/>
                <a:gd name="T8" fmla="*/ 1008 w 1008"/>
                <a:gd name="T9" fmla="*/ 336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624"/>
                <a:gd name="T17" fmla="*/ 1008 w 1008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624">
                  <a:moveTo>
                    <a:pt x="0" y="0"/>
                  </a:moveTo>
                  <a:lnTo>
                    <a:pt x="0" y="624"/>
                  </a:lnTo>
                  <a:lnTo>
                    <a:pt x="720" y="48"/>
                  </a:lnTo>
                  <a:lnTo>
                    <a:pt x="720" y="576"/>
                  </a:lnTo>
                  <a:lnTo>
                    <a:pt x="1008" y="33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8" name="Line 15"/>
            <p:cNvSpPr>
              <a:spLocks noChangeShapeType="1"/>
            </p:cNvSpPr>
            <p:nvPr/>
          </p:nvSpPr>
          <p:spPr bwMode="auto">
            <a:xfrm flipV="1">
              <a:off x="4128" y="1968"/>
              <a:ext cx="432" cy="4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16"/>
            <p:cNvSpPr>
              <a:spLocks noChangeShapeType="1"/>
            </p:cNvSpPr>
            <p:nvPr/>
          </p:nvSpPr>
          <p:spPr bwMode="auto">
            <a:xfrm flipV="1">
              <a:off x="2976" y="2352"/>
              <a:ext cx="1136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105400" y="1816100"/>
            <a:ext cx="1411288" cy="1079500"/>
            <a:chOff x="3216" y="1144"/>
            <a:chExt cx="889" cy="680"/>
          </a:xfrm>
        </p:grpSpPr>
        <p:sp>
          <p:nvSpPr>
            <p:cNvPr id="103444" name="Line 18"/>
            <p:cNvSpPr>
              <a:spLocks noChangeShapeType="1"/>
            </p:cNvSpPr>
            <p:nvPr/>
          </p:nvSpPr>
          <p:spPr bwMode="auto">
            <a:xfrm flipH="1">
              <a:off x="3485" y="1344"/>
              <a:ext cx="163" cy="46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5" name="Text Box 19"/>
            <p:cNvSpPr txBox="1">
              <a:spLocks noChangeArrowheads="1"/>
            </p:cNvSpPr>
            <p:nvPr/>
          </p:nvSpPr>
          <p:spPr bwMode="auto">
            <a:xfrm>
              <a:off x="3216" y="1144"/>
              <a:ext cx="8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Timeout</a:t>
              </a:r>
            </a:p>
          </p:txBody>
        </p:sp>
        <p:sp>
          <p:nvSpPr>
            <p:cNvPr id="103446" name="Line 20"/>
            <p:cNvSpPr>
              <a:spLocks noChangeShapeType="1"/>
            </p:cNvSpPr>
            <p:nvPr/>
          </p:nvSpPr>
          <p:spPr bwMode="auto">
            <a:xfrm>
              <a:off x="3408" y="18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981200" y="1981200"/>
            <a:ext cx="2362200" cy="2425700"/>
            <a:chOff x="1248" y="1248"/>
            <a:chExt cx="1488" cy="1528"/>
          </a:xfrm>
        </p:grpSpPr>
        <p:sp>
          <p:nvSpPr>
            <p:cNvPr id="103441" name="Text Box 22"/>
            <p:cNvSpPr txBox="1">
              <a:spLocks noChangeArrowheads="1"/>
            </p:cNvSpPr>
            <p:nvPr/>
          </p:nvSpPr>
          <p:spPr bwMode="auto">
            <a:xfrm>
              <a:off x="1248" y="1248"/>
              <a:ext cx="148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Fast Retransmission</a:t>
              </a:r>
            </a:p>
          </p:txBody>
        </p:sp>
        <p:cxnSp>
          <p:nvCxnSpPr>
            <p:cNvPr id="103442" name="AutoShape 23"/>
            <p:cNvCxnSpPr>
              <a:cxnSpLocks noChangeShapeType="1"/>
              <a:stCxn id="103441" idx="2"/>
              <a:endCxn id="103432" idx="1"/>
            </p:cNvCxnSpPr>
            <p:nvPr/>
          </p:nvCxnSpPr>
          <p:spPr bwMode="auto">
            <a:xfrm flipH="1">
              <a:off x="1722" y="1690"/>
              <a:ext cx="270" cy="93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3" name="AutoShape 24"/>
            <p:cNvCxnSpPr>
              <a:cxnSpLocks noChangeShapeType="1"/>
              <a:stCxn id="103441" idx="2"/>
              <a:endCxn id="103432" idx="3"/>
            </p:cNvCxnSpPr>
            <p:nvPr/>
          </p:nvCxnSpPr>
          <p:spPr bwMode="auto">
            <a:xfrm>
              <a:off x="1992" y="1690"/>
              <a:ext cx="120" cy="108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10200" y="1905000"/>
            <a:ext cx="2895600" cy="1981200"/>
            <a:chOff x="3408" y="1200"/>
            <a:chExt cx="1824" cy="1248"/>
          </a:xfrm>
        </p:grpSpPr>
        <p:sp>
          <p:nvSpPr>
            <p:cNvPr id="103439" name="Line 26"/>
            <p:cNvSpPr>
              <a:spLocks noChangeShapeType="1"/>
            </p:cNvSpPr>
            <p:nvPr/>
          </p:nvSpPr>
          <p:spPr bwMode="auto">
            <a:xfrm flipH="1">
              <a:off x="3408" y="1632"/>
              <a:ext cx="1152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0" name="Text Box 27"/>
            <p:cNvSpPr txBox="1">
              <a:spLocks noChangeArrowheads="1"/>
            </p:cNvSpPr>
            <p:nvPr/>
          </p:nvSpPr>
          <p:spPr bwMode="auto">
            <a:xfrm>
              <a:off x="4080" y="1200"/>
              <a:ext cx="11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SSThresh</a:t>
              </a:r>
            </a:p>
            <a:p>
              <a:pPr algn="ctr" eaLnBrk="1" hangingPunct="1"/>
              <a:r>
                <a:rPr lang="en-US">
                  <a:latin typeface="Arial" charset="0"/>
                </a:rPr>
                <a:t>Set to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65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flavors 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TCP-Tahoe</a:t>
            </a:r>
          </a:p>
          <a:p>
            <a:pPr lvl="1"/>
            <a:r>
              <a:rPr lang="en-US" dirty="0"/>
              <a:t>CWND =1 on 3 dupACKs</a:t>
            </a:r>
          </a:p>
          <a:p>
            <a:r>
              <a:rPr lang="en-US" dirty="0"/>
              <a:t>TCP-Reno</a:t>
            </a:r>
          </a:p>
          <a:p>
            <a:pPr lvl="1"/>
            <a:r>
              <a:rPr lang="en-US" dirty="0"/>
              <a:t>CWND =1 on timeout</a:t>
            </a:r>
          </a:p>
          <a:p>
            <a:pPr lvl="1"/>
            <a:r>
              <a:rPr lang="en-US" dirty="0"/>
              <a:t>CWND = CWND/2 on 3 dupACKs</a:t>
            </a:r>
          </a:p>
          <a:p>
            <a:r>
              <a:rPr lang="en-US" dirty="0">
                <a:solidFill>
                  <a:srgbClr val="0000FF"/>
                </a:solidFill>
              </a:rPr>
              <a:t>TCP-</a:t>
            </a:r>
            <a:r>
              <a:rPr lang="en-US" dirty="0" err="1">
                <a:solidFill>
                  <a:srgbClr val="0000FF"/>
                </a:solidFill>
              </a:rPr>
              <a:t>newReno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TCP-Reno + improved fast recovery</a:t>
            </a:r>
          </a:p>
          <a:p>
            <a:r>
              <a:rPr lang="en-US" dirty="0"/>
              <a:t>TCP-SACK</a:t>
            </a:r>
          </a:p>
          <a:p>
            <a:pPr lvl="1"/>
            <a:r>
              <a:rPr lang="en-US" dirty="0"/>
              <a:t>Incorporates selective acknowledgements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8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257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708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080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792BE-4556-A84C-88DC-CC3CE7143D3B}"/>
              </a:ext>
            </a:extLst>
          </p:cNvPr>
          <p:cNvSpPr txBox="1"/>
          <p:nvPr/>
        </p:nvSpPr>
        <p:spPr>
          <a:xfrm>
            <a:off x="3200400" y="6290846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</a:rPr>
              <a:t>in MSS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3057525" y="4495800"/>
          <a:ext cx="4257675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511300" progId="Equation.3">
                  <p:embed/>
                </p:oleObj>
              </mc:Choice>
              <mc:Fallback>
                <p:oleObj name="Equation" r:id="rId2" imgW="2717800" imgH="1511300" progId="Equation.3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495800"/>
                        <a:ext cx="4257675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 err="1">
                <a:latin typeface="Times New Roman" charset="0"/>
              </a:rPr>
              <a:t>cwnd</a:t>
            </a:r>
            <a:endParaRPr lang="en-US" i="1" dirty="0">
              <a:latin typeface="Times New Roman" charset="0"/>
            </a:endParaRP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362" imgH="228501" progId="Equation.3">
                  <p:embed/>
                </p:oleObj>
              </mc:Choice>
              <mc:Fallback>
                <p:oleObj name="Equation" r:id="rId4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393359" progId="Equation.3">
                  <p:embed/>
                </p:oleObj>
              </mc:Choice>
              <mc:Fallback>
                <p:oleObj name="Equation" r:id="rId6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2743200" y="5486400"/>
            <a:ext cx="4800600" cy="55103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743200" y="5867400"/>
            <a:ext cx="5257800" cy="990600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92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Application layer (lectures 3–5)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Transport layer (lectures 6–9)</a:t>
            </a:r>
          </a:p>
          <a:p>
            <a:r>
              <a:rPr lang="en-US" dirty="0"/>
              <a:t>Network layer (lecture 10–1</a:t>
            </a:r>
            <a:r>
              <a:rPr lang="en-US" altLang="zh-CN" dirty="0"/>
              <a:t>5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37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Performs </a:t>
            </a:r>
            <a:r>
              <a:rPr lang="en-US" dirty="0">
                <a:solidFill>
                  <a:srgbClr val="0000FF"/>
                </a:solidFill>
              </a:rPr>
              <a:t>addressing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forwarding</a:t>
            </a:r>
            <a:r>
              <a:rPr lang="en-US" dirty="0"/>
              <a:t>, and </a:t>
            </a:r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, among other tasks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782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vs. routing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Forwarding: “</a:t>
            </a:r>
            <a:r>
              <a:rPr lang="en-US" dirty="0">
                <a:solidFill>
                  <a:srgbClr val="0000FF"/>
                </a:solidFill>
              </a:rPr>
              <a:t>data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Directing one data packet</a:t>
            </a:r>
          </a:p>
          <a:p>
            <a:pPr lvl="1"/>
            <a:r>
              <a:rPr lang="en-US" dirty="0"/>
              <a:t>Each router using local routing state</a:t>
            </a:r>
          </a:p>
          <a:p>
            <a:r>
              <a:rPr lang="en-US" dirty="0"/>
              <a:t>Routing: “</a:t>
            </a:r>
            <a:r>
              <a:rPr lang="en-US" dirty="0">
                <a:solidFill>
                  <a:srgbClr val="0000FF"/>
                </a:solidFill>
              </a:rPr>
              <a:t>control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Computing the forwarding tables that guide packets</a:t>
            </a:r>
          </a:p>
          <a:p>
            <a:pPr lvl="1"/>
            <a:r>
              <a:rPr lang="en-US" dirty="0"/>
              <a:t>Jointly computed by routers using a distributed algorithm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41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/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07" name="Straight Connector 106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579309" y="3918284"/>
            <a:ext cx="914400" cy="240632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79979" y="42882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8853" y="43074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3354" y="535273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1845" y="5181600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43961" y="1819275"/>
          <a:ext cx="2743200" cy="1716087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Destination 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4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328124" y="1439862"/>
            <a:ext cx="2154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Forwarding Table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891561" y="2886075"/>
            <a:ext cx="2971800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1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19289 -0.0868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89 -0.08681 L 0.34184 -0.0222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39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84 -0.02222 L 0.34184 0.1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7" grpId="0" animBg="1"/>
      <p:bldP spid="77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the IP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IP header as an interface</a:t>
            </a:r>
          </a:p>
          <a:p>
            <a:pPr lvl="1"/>
            <a:r>
              <a:rPr lang="en-US" dirty="0"/>
              <a:t>Between the source and destination end-systems</a:t>
            </a:r>
          </a:p>
          <a:p>
            <a:pPr lvl="1"/>
            <a:r>
              <a:rPr lang="en-US" dirty="0"/>
              <a:t>Between the source and network (routers)</a:t>
            </a:r>
          </a:p>
          <a:p>
            <a:r>
              <a:rPr lang="en-US" dirty="0"/>
              <a:t>Designing an interface</a:t>
            </a:r>
          </a:p>
          <a:p>
            <a:pPr lvl="1"/>
            <a:r>
              <a:rPr lang="en-US" dirty="0"/>
              <a:t>What task(s) are we trying to accomplish?</a:t>
            </a:r>
          </a:p>
          <a:p>
            <a:pPr lvl="1"/>
            <a:r>
              <a:rPr lang="en-US" dirty="0"/>
              <a:t>What information is needed to do it?</a:t>
            </a:r>
          </a:p>
          <a:p>
            <a:r>
              <a:rPr lang="en-US" dirty="0"/>
              <a:t>Header reflects information needed for basic tasks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60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 </a:t>
            </a:r>
            <a:r>
              <a:rPr lang="en-US" dirty="0">
                <a:solidFill>
                  <a:srgbClr val="0000FF"/>
                </a:solidFill>
              </a:rPr>
              <a:t>TTL (8 bits)</a:t>
            </a:r>
          </a:p>
          <a:p>
            <a:pPr lvl="1"/>
            <a:r>
              <a:rPr lang="en-US" dirty="0"/>
              <a:t>Corruption: </a:t>
            </a:r>
            <a:r>
              <a:rPr lang="en-US" dirty="0">
                <a:solidFill>
                  <a:srgbClr val="0000FF"/>
                </a:solidFill>
              </a:rPr>
              <a:t>checksum (16 bits)</a:t>
            </a:r>
          </a:p>
          <a:p>
            <a:pPr lvl="1"/>
            <a:r>
              <a:rPr lang="en-US" dirty="0"/>
              <a:t>Packet too large: </a:t>
            </a:r>
            <a:r>
              <a:rPr lang="en-US" dirty="0">
                <a:solidFill>
                  <a:srgbClr val="0000FF"/>
                </a:solidFill>
              </a:rPr>
              <a:t>fragmentation fields (32 bits)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80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IPv4 and IPv6 header comparison</a:t>
            </a:r>
            <a:endParaRPr lang="en-US" dirty="0"/>
          </a:p>
        </p:txBody>
      </p:sp>
      <p:graphicFrame>
        <p:nvGraphicFramePr>
          <p:cNvPr id="34819" name="Group 3"/>
          <p:cNvGraphicFramePr>
            <a:graphicFrameLocks noGrp="1"/>
          </p:cNvGraphicFramePr>
          <p:nvPr/>
        </p:nvGraphicFramePr>
        <p:xfrm>
          <a:off x="90488" y="1905000"/>
          <a:ext cx="4557711" cy="3276599"/>
        </p:xfrm>
        <a:graphic>
          <a:graphicData uri="http://schemas.openxmlformats.org/drawingml/2006/table">
            <a:tbl>
              <a:tblPr/>
              <a:tblGrid>
                <a:gridCol w="7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556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IHL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Type of Service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Total Length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56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Identification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Flags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Fragment Offset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Time to Live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Protocol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Header Checksum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5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86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21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Options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Padding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49" name="Group 33"/>
          <p:cNvGraphicFramePr>
            <a:graphicFrameLocks noGrp="1"/>
          </p:cNvGraphicFramePr>
          <p:nvPr/>
        </p:nvGraphicFramePr>
        <p:xfrm>
          <a:off x="4724400" y="1905000"/>
          <a:ext cx="4343400" cy="45720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Traffic Class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Label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688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Payload Length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Next Header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Hop Limit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163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69" name="Rectangle 53"/>
          <p:cNvSpPr>
            <a:spLocks noChangeArrowheads="1"/>
          </p:cNvSpPr>
          <p:nvPr/>
        </p:nvSpPr>
        <p:spPr bwMode="gray">
          <a:xfrm>
            <a:off x="1752600" y="1447800"/>
            <a:ext cx="763588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IPv4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gray">
          <a:xfrm>
            <a:off x="5334000" y="1371600"/>
            <a:ext cx="25146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Arial" charset="0"/>
                <a:cs typeface="Arial" charset="0"/>
              </a:rPr>
              <a:t>IPv6</a:t>
            </a:r>
            <a:endParaRPr lang="en-US" sz="2400" b="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871" name="AutoShape 55"/>
          <p:cNvSpPr>
            <a:spLocks noChangeArrowheads="1"/>
          </p:cNvSpPr>
          <p:nvPr/>
        </p:nvSpPr>
        <p:spPr bwMode="auto">
          <a:xfrm>
            <a:off x="381000" y="53340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2" name="AutoShape 56"/>
          <p:cNvSpPr>
            <a:spLocks noChangeArrowheads="1"/>
          </p:cNvSpPr>
          <p:nvPr/>
        </p:nvSpPr>
        <p:spPr bwMode="auto">
          <a:xfrm>
            <a:off x="381000" y="56642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3" name="AutoShape 57"/>
          <p:cNvSpPr>
            <a:spLocks noChangeArrowheads="1"/>
          </p:cNvSpPr>
          <p:nvPr/>
        </p:nvSpPr>
        <p:spPr bwMode="auto">
          <a:xfrm>
            <a:off x="381000" y="59944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1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4" name="AutoShape 58"/>
          <p:cNvSpPr>
            <a:spLocks noChangeArrowheads="1"/>
          </p:cNvSpPr>
          <p:nvPr/>
        </p:nvSpPr>
        <p:spPr bwMode="auto">
          <a:xfrm>
            <a:off x="381000" y="63246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2218" name="Text Box 59"/>
          <p:cNvSpPr txBox="1">
            <a:spLocks noChangeArrowheads="1"/>
          </p:cNvSpPr>
          <p:nvPr/>
        </p:nvSpPr>
        <p:spPr bwMode="auto">
          <a:xfrm>
            <a:off x="785814" y="5326063"/>
            <a:ext cx="3100386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124" tIns="41061" rIns="82124" bIns="41061" anchorCtr="1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 </a:t>
            </a:r>
            <a:r>
              <a:rPr lang="en-GB" sz="1400" dirty="0">
                <a:latin typeface="Arial" charset="0"/>
              </a:rPr>
              <a:t>name </a:t>
            </a:r>
            <a:r>
              <a:rPr lang="en-US" sz="1400" dirty="0">
                <a:latin typeface="Arial" charset="0"/>
              </a:rPr>
              <a:t>kept from IPv4 to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Fields not kept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Name &amp; position changed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New field in IPv6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9207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deal with problems: leave to ends</a:t>
            </a:r>
          </a:p>
          <a:p>
            <a:pPr lvl="1"/>
            <a:r>
              <a:rPr lang="en-US" dirty="0"/>
              <a:t>Eliminated fragmentation and checksum</a:t>
            </a:r>
          </a:p>
          <a:p>
            <a:pPr lvl="1"/>
            <a:r>
              <a:rPr lang="en-US" dirty="0"/>
              <a:t>Why retain TTL?</a:t>
            </a:r>
          </a:p>
          <a:p>
            <a:r>
              <a:rPr lang="en-US" dirty="0"/>
              <a:t>Simplify handling:</a:t>
            </a:r>
          </a:p>
          <a:p>
            <a:pPr lvl="1"/>
            <a:r>
              <a:rPr lang="en-US" dirty="0"/>
              <a:t>New options mechanism (uses next header)</a:t>
            </a:r>
          </a:p>
          <a:p>
            <a:pPr lvl="1"/>
            <a:r>
              <a:rPr lang="en-US" dirty="0"/>
              <a:t>Eliminated header length</a:t>
            </a:r>
          </a:p>
          <a:p>
            <a:pPr lvl="2"/>
            <a:r>
              <a:rPr lang="en-US" dirty="0"/>
              <a:t>Why couldn’t IPv4 do this?</a:t>
            </a:r>
          </a:p>
          <a:p>
            <a:r>
              <a:rPr lang="en-US" dirty="0"/>
              <a:t>Provide general flow label for packet</a:t>
            </a:r>
          </a:p>
          <a:p>
            <a:pPr lvl="1"/>
            <a:r>
              <a:rPr lang="en-US" dirty="0"/>
              <a:t>Not tied to semantics</a:t>
            </a:r>
          </a:p>
          <a:p>
            <a:pPr lvl="1"/>
            <a:r>
              <a:rPr lang="en-US" dirty="0"/>
              <a:t>Provides great flexibility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601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Routing: Local vs. global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/>
              <a:t>By itself, the state in a single router cannot be evaluated </a:t>
            </a:r>
          </a:p>
          <a:p>
            <a:pPr lvl="1"/>
            <a:r>
              <a:rPr lang="en-US" dirty="0"/>
              <a:t>It must be evaluated in terms of the global context</a:t>
            </a:r>
          </a:p>
          <a:p>
            <a:r>
              <a:rPr lang="en-US" i="1" dirty="0"/>
              <a:t>Global</a:t>
            </a:r>
            <a:r>
              <a:rPr lang="en-US" dirty="0"/>
              <a:t> state refers to the collection of forwarding tables in each of the routers</a:t>
            </a:r>
          </a:p>
          <a:p>
            <a:pPr lvl="1"/>
            <a:r>
              <a:rPr lang="en-US" dirty="0"/>
              <a:t>Global state determines which paths packets take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“Valid”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state is “valid” if it produces forwarding decisions that always deliver packets to their destinations</a:t>
            </a:r>
          </a:p>
          <a:p>
            <a:r>
              <a:rPr lang="en-US" dirty="0"/>
              <a:t>Goal of routing protocols: compute valid state</a:t>
            </a:r>
          </a:p>
          <a:p>
            <a:pPr lvl="1"/>
            <a:r>
              <a:rPr lang="en-US" dirty="0"/>
              <a:t>How can we tell if routing state if valid?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0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dead end</a:t>
            </a:r>
            <a:r>
              <a:rPr lang="en-US" dirty="0"/>
              <a:t> is when there is no outgoing link (next-hop)</a:t>
            </a:r>
          </a:p>
          <a:p>
            <a:pPr lvl="1"/>
            <a:r>
              <a:rPr lang="en-US" dirty="0"/>
              <a:t>A packet arrives, but the forwarding decision does not yield any outgoing link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loop</a:t>
            </a:r>
            <a:r>
              <a:rPr lang="en-US" dirty="0"/>
              <a:t> is when a packet cycles around the same set of nodes forever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Least-cost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Least-cost routes provide an easy way to avoid loops</a:t>
            </a:r>
          </a:p>
          <a:p>
            <a:pPr lvl="1"/>
            <a:r>
              <a:rPr lang="en-US" dirty="0"/>
              <a:t>No reasonable cost metric is minimized by traversing a loop</a:t>
            </a:r>
          </a:p>
          <a:p>
            <a:r>
              <a:rPr lang="en-US" dirty="0"/>
              <a:t>Least-cost paths form a spanning tree for each destination rooted at that destination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9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Intra-domain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(LS) routing protocol</a:t>
            </a:r>
          </a:p>
          <a:p>
            <a:pPr lvl="1"/>
            <a:r>
              <a:rPr lang="en-US" dirty="0"/>
              <a:t>Dijkstra’s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Broadcast neighbors’ info to everyone</a:t>
            </a:r>
          </a:p>
          <a:p>
            <a:r>
              <a:rPr lang="en-US" dirty="0"/>
              <a:t>Distance vector (DV) routing protocol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Gossip to neighbors about everyone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Similarities between LS and DV routing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shortest-path based routing</a:t>
            </a:r>
          </a:p>
          <a:p>
            <a:pPr lvl="1"/>
            <a:r>
              <a:rPr lang="en-US" dirty="0"/>
              <a:t>Minimizing cost metric (link weights) a common optimization goal</a:t>
            </a:r>
          </a:p>
          <a:p>
            <a:pPr lvl="2"/>
            <a:r>
              <a:rPr lang="en-US" dirty="0"/>
              <a:t>Routers share a common view as to what makes a path “good” and how to measure the “goodness” of a path</a:t>
            </a:r>
          </a:p>
          <a:p>
            <a:r>
              <a:rPr lang="en-US" dirty="0"/>
              <a:t>Due to shared goal, commonly used inside an organization</a:t>
            </a:r>
          </a:p>
          <a:p>
            <a:pPr lvl="1"/>
            <a:r>
              <a:rPr lang="en-US" dirty="0"/>
              <a:t>RIP and OSPF are mostly used for </a:t>
            </a:r>
            <a:r>
              <a:rPr lang="en-US" dirty="0">
                <a:solidFill>
                  <a:srgbClr val="0000FF"/>
                </a:solidFill>
              </a:rPr>
              <a:t>intra</a:t>
            </a:r>
            <a:r>
              <a:rPr lang="en-US" dirty="0"/>
              <a:t>-domain routing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LS and DV routing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Messaging complexity</a:t>
            </a:r>
          </a:p>
          <a:p>
            <a:r>
              <a:rPr lang="en-US" dirty="0"/>
              <a:t>LS: with N nodes, E links,         O(NE) messages sent  </a:t>
            </a:r>
          </a:p>
          <a:p>
            <a:r>
              <a:rPr lang="en-US" dirty="0"/>
              <a:t>DV: exchange between neighbors only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Speed of convergence</a:t>
            </a:r>
          </a:p>
          <a:p>
            <a:r>
              <a:rPr lang="en-US" dirty="0"/>
              <a:t>LS: relatively fast</a:t>
            </a:r>
          </a:p>
          <a:p>
            <a:r>
              <a:rPr lang="en-US" dirty="0"/>
              <a:t>DV: convergence time varies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Count-to-infinity</a:t>
            </a:r>
            <a:r>
              <a:rPr lang="en-US" dirty="0"/>
              <a:t> problem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Robustness: what happens if router malfunctions?</a:t>
            </a:r>
          </a:p>
          <a:p>
            <a:r>
              <a:rPr lang="en-US" dirty="0"/>
              <a:t>LS: 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link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 computes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r>
              <a:rPr lang="en-US" dirty="0"/>
              <a:t>DV: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path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node’s table used by others (</a:t>
            </a:r>
            <a:r>
              <a:rPr lang="en-US" dirty="0">
                <a:solidFill>
                  <a:srgbClr val="0000FF"/>
                </a:solidFill>
              </a:rPr>
              <a:t>errors propagate</a:t>
            </a:r>
            <a:r>
              <a:rPr lang="en-US" dirty="0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is key to scalable inter-domain routing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FF"/>
                </a:solidFill>
              </a:rPr>
              <a:t>Ability to aggregate</a:t>
            </a:r>
            <a:r>
              <a:rPr lang="en-US" dirty="0"/>
              <a:t> addresses is crucial for</a:t>
            </a:r>
          </a:p>
          <a:p>
            <a:pPr lvl="1"/>
            <a:r>
              <a:rPr lang="en-US" dirty="0"/>
              <a:t>State: Small forwarding tables at routers</a:t>
            </a:r>
          </a:p>
          <a:p>
            <a:pPr lvl="2"/>
            <a:r>
              <a:rPr lang="en-US" dirty="0"/>
              <a:t>Much less than the number of hosts</a:t>
            </a:r>
          </a:p>
          <a:p>
            <a:pPr lvl="1"/>
            <a:r>
              <a:rPr lang="en-US" dirty="0"/>
              <a:t>Churn: Limited rate of change in routing tables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28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Classful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Three classes</a:t>
            </a:r>
          </a:p>
          <a:p>
            <a:pPr lvl="1"/>
            <a:r>
              <a:rPr lang="en-US" dirty="0"/>
              <a:t>8-bit network prefix (Class A),</a:t>
            </a:r>
          </a:p>
          <a:p>
            <a:pPr lvl="1"/>
            <a:r>
              <a:rPr lang="en-US" dirty="0"/>
              <a:t>16-bit network prefix (Class B), or</a:t>
            </a:r>
          </a:p>
          <a:p>
            <a:pPr lvl="1"/>
            <a:r>
              <a:rPr lang="en-US" dirty="0"/>
              <a:t>24-bit network prefix (Class C)</a:t>
            </a:r>
          </a:p>
          <a:p>
            <a:pPr marL="342900" indent="-342900"/>
            <a:r>
              <a:rPr lang="en-US" dirty="0"/>
              <a:t>Example: an organization needs 500 addresses.</a:t>
            </a:r>
          </a:p>
          <a:p>
            <a:pPr marL="742950" lvl="1" indent="-285750"/>
            <a:r>
              <a:rPr lang="en-US" dirty="0"/>
              <a:t>A single class C address is not enough (&lt;500 hosts)</a:t>
            </a:r>
          </a:p>
          <a:p>
            <a:pPr marL="742950" lvl="1" indent="-285750"/>
            <a:r>
              <a:rPr lang="en-US" dirty="0"/>
              <a:t>Instead, a class B address is allocated (~65K hosts) </a:t>
            </a:r>
          </a:p>
          <a:p>
            <a:pPr marL="1042987" lvl="2" indent="-285750"/>
            <a:r>
              <a:rPr lang="en-US" dirty="0">
                <a:solidFill>
                  <a:srgbClr val="0000FF"/>
                </a:solidFill>
              </a:rPr>
              <a:t>Huge waste!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769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CIDR: C</a:t>
            </a:r>
            <a:r>
              <a:rPr lang="en-US" dirty="0"/>
              <a:t>lassless inter-domain routing</a:t>
            </a:r>
          </a:p>
        </p:txBody>
      </p:sp>
      <p:sp>
        <p:nvSpPr>
          <p:cNvPr id="138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division between network and host addresses</a:t>
            </a:r>
          </a:p>
          <a:p>
            <a:r>
              <a:rPr lang="en-US" dirty="0"/>
              <a:t>Offers a better tradeoff between size of the routing table and efficient use of the IP address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2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in IP addressing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32 bits are partitioned into a prefix and suffix components</a:t>
            </a:r>
          </a:p>
          <a:p>
            <a:r>
              <a:rPr lang="en-US" dirty="0"/>
              <a:t>Prefix is the </a:t>
            </a:r>
            <a:r>
              <a:rPr lang="en-US" dirty="0">
                <a:solidFill>
                  <a:srgbClr val="0000FF"/>
                </a:solidFill>
              </a:rPr>
              <a:t>network </a:t>
            </a:r>
            <a:r>
              <a:rPr lang="en-US" dirty="0"/>
              <a:t>component; suffix is the </a:t>
            </a:r>
            <a:r>
              <a:rPr lang="en-US" dirty="0">
                <a:solidFill>
                  <a:srgbClr val="0000FF"/>
                </a:solidFill>
              </a:rPr>
              <a:t>host </a:t>
            </a:r>
            <a:r>
              <a:rPr lang="en-US" dirty="0"/>
              <a:t>component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Inter-domain routing operates on network prefix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79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24338" y="3429000"/>
            <a:ext cx="6495324" cy="1985166"/>
            <a:chOff x="762000" y="4343400"/>
            <a:chExt cx="7334250" cy="2352791"/>
          </a:xfrm>
        </p:grpSpPr>
        <p:grpSp>
          <p:nvGrpSpPr>
            <p:cNvPr id="124932" name="Group 4"/>
            <p:cNvGrpSpPr>
              <a:grpSpLocks/>
            </p:cNvGrpSpPr>
            <p:nvPr/>
          </p:nvGrpSpPr>
          <p:grpSpPr bwMode="auto">
            <a:xfrm>
              <a:off x="762000" y="5243513"/>
              <a:ext cx="7334250" cy="633412"/>
              <a:chOff x="428" y="893"/>
              <a:chExt cx="4620" cy="399"/>
            </a:xfrm>
          </p:grpSpPr>
          <p:grpSp>
            <p:nvGrpSpPr>
              <p:cNvPr id="124948" name="Group 5"/>
              <p:cNvGrpSpPr>
                <a:grpSpLocks/>
              </p:cNvGrpSpPr>
              <p:nvPr/>
            </p:nvGrpSpPr>
            <p:grpSpPr bwMode="auto">
              <a:xfrm>
                <a:off x="428" y="904"/>
                <a:ext cx="4616" cy="328"/>
                <a:chOff x="428" y="904"/>
                <a:chExt cx="4616" cy="328"/>
              </a:xfrm>
            </p:grpSpPr>
            <p:sp>
              <p:nvSpPr>
                <p:cNvPr id="932870" name="Rectangle 6"/>
                <p:cNvSpPr>
                  <a:spLocks noChangeArrowheads="1"/>
                </p:cNvSpPr>
                <p:nvPr/>
              </p:nvSpPr>
              <p:spPr bwMode="auto">
                <a:xfrm>
                  <a:off x="428" y="908"/>
                  <a:ext cx="4616" cy="32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600">
                    <a:ea typeface="+mn-ea"/>
                    <a:cs typeface="+mn-cs"/>
                  </a:endParaRPr>
                </a:p>
              </p:txBody>
            </p:sp>
            <p:sp>
              <p:nvSpPr>
                <p:cNvPr id="124954" name="Line 7"/>
                <p:cNvSpPr>
                  <a:spLocks noChangeShapeType="1"/>
                </p:cNvSpPr>
                <p:nvPr/>
              </p:nvSpPr>
              <p:spPr bwMode="auto">
                <a:xfrm>
                  <a:off x="2728" y="904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5" name="Line 8"/>
                <p:cNvSpPr>
                  <a:spLocks noChangeShapeType="1"/>
                </p:cNvSpPr>
                <p:nvPr/>
              </p:nvSpPr>
              <p:spPr bwMode="auto">
                <a:xfrm>
                  <a:off x="1592" y="904"/>
                  <a:ext cx="0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6" name="Line 9"/>
                <p:cNvSpPr>
                  <a:spLocks noChangeShapeType="1"/>
                </p:cNvSpPr>
                <p:nvPr/>
              </p:nvSpPr>
              <p:spPr bwMode="auto">
                <a:xfrm>
                  <a:off x="3896" y="912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</p:grpSp>
          <p:sp>
            <p:nvSpPr>
              <p:cNvPr id="124949" name="Rectangle 10"/>
              <p:cNvSpPr>
                <a:spLocks noChangeArrowheads="1"/>
              </p:cNvSpPr>
              <p:nvPr/>
            </p:nvSpPr>
            <p:spPr bwMode="auto">
              <a:xfrm>
                <a:off x="438" y="893"/>
                <a:ext cx="114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00001100</a:t>
                </a:r>
              </a:p>
            </p:txBody>
          </p:sp>
          <p:sp>
            <p:nvSpPr>
              <p:cNvPr id="124950" name="Rectangle 11"/>
              <p:cNvSpPr>
                <a:spLocks noChangeArrowheads="1"/>
              </p:cNvSpPr>
              <p:nvPr/>
            </p:nvSpPr>
            <p:spPr bwMode="auto">
              <a:xfrm>
                <a:off x="1606" y="893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00100010</a:t>
                </a:r>
              </a:p>
            </p:txBody>
          </p:sp>
          <p:sp>
            <p:nvSpPr>
              <p:cNvPr id="124951" name="Rectangle 12"/>
              <p:cNvSpPr>
                <a:spLocks noChangeArrowheads="1"/>
              </p:cNvSpPr>
              <p:nvPr/>
            </p:nvSpPr>
            <p:spPr bwMode="auto">
              <a:xfrm>
                <a:off x="2758" y="901"/>
                <a:ext cx="1125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1001111</a:t>
                </a:r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4952" name="Rectangle 13"/>
              <p:cNvSpPr>
                <a:spLocks noChangeArrowheads="1"/>
              </p:cNvSpPr>
              <p:nvPr/>
            </p:nvSpPr>
            <p:spPr bwMode="auto">
              <a:xfrm>
                <a:off x="3894" y="901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00000101</a:t>
                </a:r>
              </a:p>
            </p:txBody>
          </p:sp>
        </p:grpSp>
        <p:sp>
          <p:nvSpPr>
            <p:cNvPr id="124933" name="Line 14"/>
            <p:cNvSpPr>
              <a:spLocks noChangeShapeType="1"/>
            </p:cNvSpPr>
            <p:nvPr/>
          </p:nvSpPr>
          <p:spPr bwMode="auto">
            <a:xfrm>
              <a:off x="777875" y="60198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4" name="Rectangle 15"/>
            <p:cNvSpPr>
              <a:spLocks noChangeArrowheads="1"/>
            </p:cNvSpPr>
            <p:nvPr/>
          </p:nvSpPr>
          <p:spPr bwMode="auto">
            <a:xfrm>
              <a:off x="2052628" y="6221224"/>
              <a:ext cx="2367538" cy="43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D3A600"/>
                  </a:solidFill>
                  <a:latin typeface="Arial" charset="0"/>
                </a:rPr>
                <a:t>Network (23 bits)</a:t>
              </a:r>
              <a:r>
                <a:rPr lang="en-US" b="0" dirty="0">
                  <a:solidFill>
                    <a:srgbClr val="D3A60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5" name="Line 16"/>
            <p:cNvSpPr>
              <a:spLocks noChangeShapeType="1"/>
            </p:cNvSpPr>
            <p:nvPr/>
          </p:nvSpPr>
          <p:spPr bwMode="auto">
            <a:xfrm flipH="1">
              <a:off x="777875" y="6242050"/>
              <a:ext cx="5157787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24936" name="Line 17"/>
            <p:cNvSpPr>
              <a:spLocks noChangeShapeType="1"/>
            </p:cNvSpPr>
            <p:nvPr/>
          </p:nvSpPr>
          <p:spPr bwMode="auto">
            <a:xfrm>
              <a:off x="8089900" y="59944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7" name="Line 18"/>
            <p:cNvSpPr>
              <a:spLocks noChangeShapeType="1"/>
            </p:cNvSpPr>
            <p:nvPr/>
          </p:nvSpPr>
          <p:spPr bwMode="auto">
            <a:xfrm>
              <a:off x="5935662" y="593725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8" name="Rectangle 19"/>
            <p:cNvSpPr>
              <a:spLocks noChangeArrowheads="1"/>
            </p:cNvSpPr>
            <p:nvPr/>
          </p:nvSpPr>
          <p:spPr bwMode="auto">
            <a:xfrm>
              <a:off x="6182638" y="6221225"/>
              <a:ext cx="1715936" cy="47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000090"/>
                  </a:solidFill>
                  <a:latin typeface="Arial" charset="0"/>
                </a:rPr>
                <a:t>Host (9 bits)</a:t>
              </a:r>
              <a:r>
                <a:rPr lang="en-US" b="0" dirty="0">
                  <a:solidFill>
                    <a:srgbClr val="00009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9" name="Line 20"/>
            <p:cNvSpPr>
              <a:spLocks noChangeShapeType="1"/>
            </p:cNvSpPr>
            <p:nvPr/>
          </p:nvSpPr>
          <p:spPr bwMode="auto">
            <a:xfrm>
              <a:off x="5965825" y="6242050"/>
              <a:ext cx="2120900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44" name="Line 25"/>
            <p:cNvSpPr>
              <a:spLocks noChangeShapeType="1"/>
            </p:cNvSpPr>
            <p:nvPr/>
          </p:nvSpPr>
          <p:spPr bwMode="auto">
            <a:xfrm>
              <a:off x="1685925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5" name="Line 26"/>
            <p:cNvSpPr>
              <a:spLocks noChangeShapeType="1"/>
            </p:cNvSpPr>
            <p:nvPr/>
          </p:nvSpPr>
          <p:spPr bwMode="auto">
            <a:xfrm>
              <a:off x="3611562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6" name="Line 27"/>
            <p:cNvSpPr>
              <a:spLocks noChangeShapeType="1"/>
            </p:cNvSpPr>
            <p:nvPr/>
          </p:nvSpPr>
          <p:spPr bwMode="auto">
            <a:xfrm>
              <a:off x="538480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7" name="Line 28"/>
            <p:cNvSpPr>
              <a:spLocks noChangeShapeType="1"/>
            </p:cNvSpPr>
            <p:nvPr/>
          </p:nvSpPr>
          <p:spPr bwMode="auto">
            <a:xfrm>
              <a:off x="713105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0" name="Text Box 21"/>
            <p:cNvSpPr txBox="1">
              <a:spLocks noChangeArrowheads="1"/>
            </p:cNvSpPr>
            <p:nvPr/>
          </p:nvSpPr>
          <p:spPr bwMode="auto">
            <a:xfrm>
              <a:off x="1404937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12</a:t>
              </a:r>
            </a:p>
          </p:txBody>
        </p:sp>
        <p:sp>
          <p:nvSpPr>
            <p:cNvPr id="124941" name="Text Box 22"/>
            <p:cNvSpPr txBox="1">
              <a:spLocks noChangeArrowheads="1"/>
            </p:cNvSpPr>
            <p:nvPr/>
          </p:nvSpPr>
          <p:spPr bwMode="auto">
            <a:xfrm>
              <a:off x="3306762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34</a:t>
              </a:r>
            </a:p>
          </p:txBody>
        </p:sp>
        <p:sp>
          <p:nvSpPr>
            <p:cNvPr id="124942" name="Text Box 23"/>
            <p:cNvSpPr txBox="1">
              <a:spLocks noChangeArrowheads="1"/>
            </p:cNvSpPr>
            <p:nvPr/>
          </p:nvSpPr>
          <p:spPr bwMode="auto">
            <a:xfrm>
              <a:off x="4991099" y="4343400"/>
              <a:ext cx="706393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158</a:t>
              </a:r>
            </a:p>
          </p:txBody>
        </p:sp>
        <p:sp>
          <p:nvSpPr>
            <p:cNvPr id="124943" name="Text Box 24"/>
            <p:cNvSpPr txBox="1">
              <a:spLocks noChangeArrowheads="1"/>
            </p:cNvSpPr>
            <p:nvPr/>
          </p:nvSpPr>
          <p:spPr bwMode="auto">
            <a:xfrm>
              <a:off x="6942137" y="4343400"/>
              <a:ext cx="374475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56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freedom to pick routes based on </a:t>
            </a:r>
            <a:r>
              <a:rPr lang="en-US" dirty="0">
                <a:solidFill>
                  <a:srgbClr val="0000FF"/>
                </a:solidFill>
              </a:rPr>
              <a:t>policy 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2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8"/>
          <p:cNvSpPr>
            <a:spLocks noChangeArrowheads="1"/>
          </p:cNvSpPr>
          <p:nvPr/>
        </p:nvSpPr>
        <p:spPr bwMode="auto">
          <a:xfrm>
            <a:off x="76200" y="5029200"/>
            <a:ext cx="4495800" cy="1143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relationships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62000" y="1633131"/>
            <a:ext cx="7848600" cy="2940457"/>
            <a:chOff x="762000" y="1633131"/>
            <a:chExt cx="7848600" cy="2940457"/>
          </a:xfrm>
        </p:grpSpPr>
        <p:sp>
          <p:nvSpPr>
            <p:cNvPr id="33" name="Cloud 32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loud 33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Cloud 34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Cloud 31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067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9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1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5072" name="Straight Connector 20"/>
          <p:cNvCxnSpPr>
            <a:cxnSpLocks noChangeShapeType="1"/>
          </p:cNvCxnSpPr>
          <p:nvPr/>
        </p:nvCxnSpPr>
        <p:spPr bwMode="auto">
          <a:xfrm>
            <a:off x="1905000" y="5445126"/>
            <a:ext cx="990600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Straight Connector 22"/>
          <p:cNvCxnSpPr>
            <a:cxnSpLocks noChangeShapeType="1"/>
          </p:cNvCxnSpPr>
          <p:nvPr/>
        </p:nvCxnSpPr>
        <p:spPr bwMode="auto">
          <a:xfrm>
            <a:off x="1905000" y="5864225"/>
            <a:ext cx="9128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990600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775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50" y="5214938"/>
            <a:ext cx="14160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563" y="5214938"/>
            <a:ext cx="157003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4800600"/>
            <a:ext cx="3602038" cy="461963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Relations between ASes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267200" cy="11430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Arial" charset="0"/>
                <a:ea typeface="+mn-ea"/>
                <a:cs typeface="+mn-cs"/>
              </a:rPr>
              <a:t> Customers pay provider</a:t>
            </a:r>
          </a:p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 Peers don’t pay each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0" y="4800600"/>
            <a:ext cx="3130985" cy="461665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Business implications</a:t>
            </a:r>
          </a:p>
        </p:txBody>
      </p:sp>
    </p:spTree>
    <p:extLst>
      <p:ext uri="{BB962C8B-B14F-4D97-AF65-F5344CB8AC3E}">
        <p14:creationId xmlns:p14="http://schemas.microsoft.com/office/powerpoint/2010/main" val="14915902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Freeform 32"/>
          <p:cNvSpPr>
            <a:spLocks noChangeArrowheads="1"/>
          </p:cNvSpPr>
          <p:nvPr/>
        </p:nvSpPr>
        <p:spPr bwMode="auto">
          <a:xfrm>
            <a:off x="2418319" y="3319392"/>
            <a:ext cx="2019086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Freeform 33"/>
          <p:cNvSpPr>
            <a:spLocks noChangeArrowheads="1"/>
          </p:cNvSpPr>
          <p:nvPr/>
        </p:nvSpPr>
        <p:spPr bwMode="auto">
          <a:xfrm>
            <a:off x="4904777" y="3293588"/>
            <a:ext cx="1846982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39" name="Straight Arrow Connector 41"/>
          <p:cNvCxnSpPr>
            <a:cxnSpLocks noChangeShapeType="1"/>
          </p:cNvCxnSpPr>
          <p:nvPr/>
        </p:nvCxnSpPr>
        <p:spPr bwMode="auto">
          <a:xfrm>
            <a:off x="53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946275" y="5033963"/>
            <a:ext cx="20605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allowed</a:t>
            </a:r>
          </a:p>
        </p:txBody>
      </p:sp>
      <p:sp>
        <p:nvSpPr>
          <p:cNvPr id="41" name="Freeform 31"/>
          <p:cNvSpPr>
            <a:spLocks noChangeArrowheads="1"/>
          </p:cNvSpPr>
          <p:nvPr/>
        </p:nvSpPr>
        <p:spPr bwMode="auto">
          <a:xfrm>
            <a:off x="1667142" y="2830078"/>
            <a:ext cx="5802594" cy="1438012"/>
          </a:xfrm>
          <a:custGeom>
            <a:avLst/>
            <a:gdLst>
              <a:gd name="T0" fmla="*/ 311566 w 2597454"/>
              <a:gd name="T1" fmla="*/ 2420048 h 1565160"/>
              <a:gd name="T2" fmla="*/ 428409 w 2597454"/>
              <a:gd name="T3" fmla="*/ 813294 h 1565160"/>
              <a:gd name="T4" fmla="*/ 2882020 w 2597454"/>
              <a:gd name="T5" fmla="*/ 158690 h 1565160"/>
              <a:gd name="T6" fmla="*/ 11761761 w 2597454"/>
              <a:gd name="T7" fmla="*/ 69427 h 1565160"/>
              <a:gd name="T8" fmla="*/ 15150088 w 2597454"/>
              <a:gd name="T9" fmla="*/ 575258 h 1565160"/>
              <a:gd name="T10" fmla="*/ 15500602 w 2597454"/>
              <a:gd name="T11" fmla="*/ 2390294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42" name="Straight Arrow Connector 42"/>
          <p:cNvCxnSpPr>
            <a:cxnSpLocks noChangeShapeType="1"/>
          </p:cNvCxnSpPr>
          <p:nvPr/>
        </p:nvCxnSpPr>
        <p:spPr bwMode="auto">
          <a:xfrm>
            <a:off x="434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/>
          <p:cNvSpPr txBox="1"/>
          <p:nvPr/>
        </p:nvSpPr>
        <p:spPr>
          <a:xfrm>
            <a:off x="5807075" y="5029200"/>
            <a:ext cx="257333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</a:t>
            </a:r>
            <a:r>
              <a:rPr lang="en-US" sz="2400" b="0" u="sng" dirty="0">
                <a:latin typeface="+mn-lt"/>
                <a:ea typeface="+mn-ea"/>
                <a:cs typeface="+mn-cs"/>
              </a:rPr>
              <a:t>not</a:t>
            </a:r>
            <a:r>
              <a:rPr lang="en-US" sz="2400" b="0" dirty="0">
                <a:latin typeface="+mn-lt"/>
                <a:ea typeface="+mn-ea"/>
                <a:cs typeface="+mn-cs"/>
              </a:rPr>
              <a:t> allowed</a:t>
            </a:r>
          </a:p>
        </p:txBody>
      </p:sp>
      <p:sp>
        <p:nvSpPr>
          <p:cNvPr id="44" name="Content Placeholder 39"/>
          <p:cNvSpPr txBox="1">
            <a:spLocks/>
          </p:cNvSpPr>
          <p:nvPr/>
        </p:nvSpPr>
        <p:spPr bwMode="auto">
          <a:xfrm>
            <a:off x="457200" y="5638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 err="1">
                <a:latin typeface="Arial" charset="0"/>
                <a:cs typeface="Arial" charset="0"/>
              </a:rPr>
              <a:t>ASes</a:t>
            </a:r>
            <a:r>
              <a:rPr lang="en-US" b="0" kern="0" dirty="0">
                <a:latin typeface="Arial" charset="0"/>
                <a:cs typeface="Arial" charset="0"/>
              </a:rPr>
              <a:t> provide “transit” between their customers</a:t>
            </a:r>
          </a:p>
          <a:p>
            <a:r>
              <a:rPr lang="en-US" b="0" kern="0" dirty="0">
                <a:latin typeface="Arial" charset="0"/>
                <a:cs typeface="Arial" charset="0"/>
              </a:rPr>
              <a:t>Peers do not provide transit between other peers</a:t>
            </a:r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0232AF25-F97D-DD42-9F4B-D66E4ABFCBF7}"/>
              </a:ext>
            </a:extLst>
          </p:cNvPr>
          <p:cNvCxnSpPr>
            <a:cxnSpLocks noChangeShapeType="1"/>
            <a:stCxn id="18" idx="0"/>
            <a:endCxn id="11" idx="3"/>
          </p:cNvCxnSpPr>
          <p:nvPr/>
        </p:nvCxnSpPr>
        <p:spPr bwMode="auto">
          <a:xfrm>
            <a:off x="4391465" y="1808732"/>
            <a:ext cx="2479852" cy="840768"/>
          </a:xfrm>
          <a:prstGeom prst="line">
            <a:avLst/>
          </a:prstGeom>
          <a:noFill/>
          <a:ln w="50800">
            <a:solidFill>
              <a:srgbClr val="00B050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321BCF76-025A-9D45-A501-5DD507F8D007}"/>
              </a:ext>
            </a:extLst>
          </p:cNvPr>
          <p:cNvSpPr/>
          <p:nvPr/>
        </p:nvSpPr>
        <p:spPr bwMode="auto">
          <a:xfrm>
            <a:off x="2933205" y="2303755"/>
            <a:ext cx="3408218" cy="415694"/>
          </a:xfrm>
          <a:custGeom>
            <a:avLst/>
            <a:gdLst>
              <a:gd name="connsiteX0" fmla="*/ 0 w 3408218"/>
              <a:gd name="connsiteY0" fmla="*/ 391944 h 415694"/>
              <a:gd name="connsiteX1" fmla="*/ 1793174 w 3408218"/>
              <a:gd name="connsiteY1" fmla="*/ 58 h 415694"/>
              <a:gd name="connsiteX2" fmla="*/ 3408218 w 3408218"/>
              <a:gd name="connsiteY2" fmla="*/ 415694 h 4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8218" h="415694">
                <a:moveTo>
                  <a:pt x="0" y="391944"/>
                </a:moveTo>
                <a:cubicBezTo>
                  <a:pt x="612569" y="194022"/>
                  <a:pt x="1225138" y="-3900"/>
                  <a:pt x="1793174" y="58"/>
                </a:cubicBezTo>
                <a:cubicBezTo>
                  <a:pt x="2361210" y="4016"/>
                  <a:pt x="2884714" y="209855"/>
                  <a:pt x="3408218" y="415694"/>
                </a:cubicBezTo>
              </a:path>
            </a:pathLst>
          </a:custGeom>
          <a:noFill/>
          <a:ln w="50800" cap="flat" cmpd="sng" algn="ctr">
            <a:solidFill>
              <a:srgbClr val="00B050"/>
            </a:solidFill>
            <a:prstDash val="solid"/>
            <a:round/>
            <a:headEnd type="oval" w="lg" len="lg"/>
            <a:tailEnd type="oval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70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/>
      <p:bldP spid="41" grpId="0" animBg="1"/>
      <p:bldP spid="43" grpId="0"/>
      <p:bldP spid="44" grpId="0" build="p"/>
      <p:bldP spid="5" grpId="0" animBg="1"/>
      <p:bldP spid="5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inspired by Distance-Vector with four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Shortest-path routes may not be picked to enforce policy</a:t>
            </a:r>
          </a:p>
          <a:p>
            <a:r>
              <a:rPr lang="en-US" dirty="0"/>
              <a:t>Path-Vector routing to avoid loops</a:t>
            </a:r>
          </a:p>
          <a:p>
            <a:r>
              <a:rPr lang="en-US" dirty="0"/>
              <a:t>Selective route advertisement may affect reachability</a:t>
            </a:r>
          </a:p>
          <a:p>
            <a:r>
              <a:rPr lang="en-US" dirty="0"/>
              <a:t>Routes may be aggregated for scalability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2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Basic idea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76800" y="2895600"/>
            <a:ext cx="4267200" cy="1295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Each AS </a:t>
            </a:r>
            <a:r>
              <a:rPr lang="en-US" sz="2400" dirty="0">
                <a:solidFill>
                  <a:srgbClr val="0000FF"/>
                </a:solidFill>
              </a:rPr>
              <a:t>selects</a:t>
            </a:r>
            <a:r>
              <a:rPr lang="en-US" sz="2400" dirty="0"/>
              <a:t> the </a:t>
            </a:r>
            <a:br>
              <a:rPr lang="en-US" sz="2400" dirty="0"/>
            </a:br>
            <a:r>
              <a:rPr lang="en-US" sz="2400" dirty="0"/>
              <a:t>“best” route it hears advertised for a prefix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78" name="Curved Left Arrow 77"/>
          <p:cNvSpPr/>
          <p:nvPr/>
        </p:nvSpPr>
        <p:spPr bwMode="auto">
          <a:xfrm rot="16200000">
            <a:off x="4324350" y="1162050"/>
            <a:ext cx="609600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9" name="Content Placeholder 1"/>
          <p:cNvSpPr txBox="1">
            <a:spLocks/>
          </p:cNvSpPr>
          <p:nvPr/>
        </p:nvSpPr>
        <p:spPr bwMode="auto">
          <a:xfrm>
            <a:off x="228600" y="2895600"/>
            <a:ext cx="38100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charset="0"/>
              <a:buNone/>
            </a:pPr>
            <a:r>
              <a:rPr lang="en-US" sz="2400" b="0" dirty="0">
                <a:solidFill>
                  <a:schemeClr val="accent2"/>
                </a:solidFill>
              </a:rPr>
              <a:t>An AS advertises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(“exports”) </a:t>
            </a:r>
            <a:r>
              <a:rPr lang="en-US" sz="2400" b="0" dirty="0">
                <a:solidFill>
                  <a:srgbClr val="0000FF"/>
                </a:solidFill>
              </a:rPr>
              <a:t>its</a:t>
            </a:r>
            <a:r>
              <a:rPr lang="en-US" sz="2400" b="0" dirty="0">
                <a:solidFill>
                  <a:schemeClr val="accent2"/>
                </a:solidFill>
              </a:rPr>
              <a:t> best routes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to one or more IP prefixes</a:t>
            </a:r>
          </a:p>
        </p:txBody>
      </p:sp>
      <p:sp>
        <p:nvSpPr>
          <p:cNvPr id="80" name="Curved Left Arrow 79"/>
          <p:cNvSpPr/>
          <p:nvPr/>
        </p:nvSpPr>
        <p:spPr bwMode="auto">
          <a:xfrm rot="5400000">
            <a:off x="4348550" y="2838450"/>
            <a:ext cx="609599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9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8" grpId="0" animBg="1"/>
      <p:bldP spid="79" grpId="0"/>
      <p:bldP spid="8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dictates how routes are “selected” and “exported”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4505325"/>
            <a:ext cx="723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Selection</a:t>
            </a:r>
            <a:r>
              <a:rPr lang="en-US" sz="2400" dirty="0"/>
              <a:t>: Which path to use?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leaves the network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Export</a:t>
            </a:r>
            <a:r>
              <a:rPr lang="en-US" sz="2400" dirty="0"/>
              <a:t>: Which path to advertise?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enters the network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85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772400" y="2920304"/>
            <a:ext cx="1600200" cy="899221"/>
            <a:chOff x="7620000" y="3215579"/>
            <a:chExt cx="1600200" cy="899221"/>
          </a:xfrm>
          <a:effectLst/>
        </p:grpSpPr>
        <p:sp>
          <p:nvSpPr>
            <p:cNvPr id="53" name="Rounded Rectangular Callout 52"/>
            <p:cNvSpPr/>
            <p:nvPr/>
          </p:nvSpPr>
          <p:spPr bwMode="auto">
            <a:xfrm>
              <a:off x="7924800" y="3429000"/>
              <a:ext cx="990600" cy="685800"/>
            </a:xfrm>
            <a:prstGeom prst="wedgeRoundRectCallout">
              <a:avLst>
                <a:gd name="adj1" fmla="val -47205"/>
                <a:gd name="adj2" fmla="val 10694"/>
                <a:gd name="adj3" fmla="val 16667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20000" y="3215579"/>
              <a:ext cx="1600200" cy="8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b="0" i="1" dirty="0">
                <a:solidFill>
                  <a:srgbClr val="FFFFFF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Can reach 128.3/16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blah blah</a:t>
              </a:r>
            </a:p>
          </p:txBody>
        </p:sp>
      </p:grpSp>
      <p:sp>
        <p:nvSpPr>
          <p:cNvPr id="1979417" name="Text Box 25"/>
          <p:cNvSpPr txBox="1">
            <a:spLocks noChangeArrowheads="1"/>
          </p:cNvSpPr>
          <p:nvPr/>
        </p:nvSpPr>
        <p:spPr bwMode="auto">
          <a:xfrm>
            <a:off x="4937125" y="1447800"/>
            <a:ext cx="2463800" cy="466725"/>
          </a:xfrm>
          <a:prstGeom prst="rect">
            <a:avLst/>
          </a:prstGeom>
          <a:solidFill>
            <a:srgbClr val="FFFFFF"/>
          </a:solidFill>
          <a:ln w="9525" cap="rnd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rPr>
              <a:t>Route selection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4800" y="2371725"/>
            <a:ext cx="7848600" cy="2286000"/>
            <a:chOff x="304800" y="2667000"/>
            <a:chExt cx="7848600" cy="2286000"/>
          </a:xfrm>
          <a:effectLst/>
        </p:grpSpPr>
        <p:sp>
          <p:nvSpPr>
            <p:cNvPr id="61454" name="Line 24"/>
            <p:cNvSpPr>
              <a:spLocks noChangeShapeType="1"/>
            </p:cNvSpPr>
            <p:nvPr/>
          </p:nvSpPr>
          <p:spPr bwMode="auto">
            <a:xfrm flipH="1" flipV="1">
              <a:off x="1601788" y="3049588"/>
              <a:ext cx="1141412" cy="150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04800" y="2667000"/>
              <a:ext cx="7848600" cy="2286000"/>
              <a:chOff x="304800" y="2667000"/>
              <a:chExt cx="7848600" cy="2286000"/>
            </a:xfrm>
          </p:grpSpPr>
          <p:sp>
            <p:nvSpPr>
              <p:cNvPr id="197939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057400" y="2667000"/>
                <a:ext cx="3962400" cy="1981200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A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26670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P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61447" name="Line 17"/>
              <p:cNvSpPr>
                <a:spLocks noChangeShapeType="1"/>
              </p:cNvSpPr>
              <p:nvPr/>
            </p:nvSpPr>
            <p:spPr bwMode="auto">
              <a:xfrm flipV="1">
                <a:off x="5562600" y="3201988"/>
                <a:ext cx="990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48" name="Line 18"/>
              <p:cNvSpPr>
                <a:spLocks noChangeShapeType="1"/>
              </p:cNvSpPr>
              <p:nvPr/>
            </p:nvSpPr>
            <p:spPr bwMode="auto">
              <a:xfrm>
                <a:off x="5562600" y="3582988"/>
                <a:ext cx="11430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414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477000" y="4116388"/>
                <a:ext cx="1600200" cy="836612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C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1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553200" y="2822575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B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32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38862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Q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</p:grp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 flipH="1">
              <a:off x="1600200" y="40386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9424" name="Line 32"/>
          <p:cNvSpPr>
            <a:spLocks noChangeShapeType="1"/>
          </p:cNvSpPr>
          <p:nvPr/>
        </p:nvSpPr>
        <p:spPr bwMode="auto">
          <a:xfrm flipH="1" flipV="1">
            <a:off x="1524000" y="2600325"/>
            <a:ext cx="121920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057400" y="3514725"/>
            <a:ext cx="304800" cy="533400"/>
            <a:chOff x="1392" y="2688"/>
            <a:chExt cx="192" cy="336"/>
          </a:xfrm>
          <a:effectLst/>
        </p:grpSpPr>
        <p:sp>
          <p:nvSpPr>
            <p:cNvPr id="61476" name="Line 48"/>
            <p:cNvSpPr>
              <a:spLocks noChangeShapeType="1"/>
            </p:cNvSpPr>
            <p:nvPr/>
          </p:nvSpPr>
          <p:spPr bwMode="auto">
            <a:xfrm>
              <a:off x="1392" y="2736"/>
              <a:ext cx="192" cy="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Line 49"/>
            <p:cNvSpPr>
              <a:spLocks noChangeShapeType="1"/>
            </p:cNvSpPr>
            <p:nvPr/>
          </p:nvSpPr>
          <p:spPr bwMode="auto">
            <a:xfrm flipH="1">
              <a:off x="1440" y="2688"/>
              <a:ext cx="96" cy="33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9434" name="Line 42"/>
          <p:cNvSpPr>
            <a:spLocks noChangeShapeType="1"/>
          </p:cNvSpPr>
          <p:nvPr/>
        </p:nvSpPr>
        <p:spPr bwMode="auto">
          <a:xfrm flipH="1">
            <a:off x="2286000" y="3590925"/>
            <a:ext cx="457200" cy="76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9" name="Freeform 27"/>
          <p:cNvSpPr>
            <a:spLocks/>
          </p:cNvSpPr>
          <p:nvPr/>
        </p:nvSpPr>
        <p:spPr bwMode="auto">
          <a:xfrm>
            <a:off x="5638800" y="2447925"/>
            <a:ext cx="2971800" cy="546100"/>
          </a:xfrm>
          <a:custGeom>
            <a:avLst/>
            <a:gdLst>
              <a:gd name="T0" fmla="*/ 2147483647 w 1872"/>
              <a:gd name="T1" fmla="*/ 846772500 h 344"/>
              <a:gd name="T2" fmla="*/ 2147483647 w 1872"/>
              <a:gd name="T3" fmla="*/ 725805000 h 344"/>
              <a:gd name="T4" fmla="*/ 2147483647 w 1872"/>
              <a:gd name="T5" fmla="*/ 0 h 344"/>
              <a:gd name="T6" fmla="*/ 0 w 1872"/>
              <a:gd name="T7" fmla="*/ 72580500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344"/>
              <a:gd name="T14" fmla="*/ 1872 w 1872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344">
                <a:moveTo>
                  <a:pt x="1824" y="336"/>
                </a:moveTo>
                <a:cubicBezTo>
                  <a:pt x="1848" y="340"/>
                  <a:pt x="1872" y="344"/>
                  <a:pt x="1728" y="288"/>
                </a:cubicBezTo>
                <a:cubicBezTo>
                  <a:pt x="1584" y="232"/>
                  <a:pt x="1248" y="0"/>
                  <a:pt x="960" y="0"/>
                </a:cubicBezTo>
                <a:cubicBezTo>
                  <a:pt x="672" y="0"/>
                  <a:pt x="336" y="144"/>
                  <a:pt x="0" y="288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20" name="Freeform 28"/>
          <p:cNvSpPr>
            <a:spLocks/>
          </p:cNvSpPr>
          <p:nvPr/>
        </p:nvSpPr>
        <p:spPr bwMode="auto">
          <a:xfrm>
            <a:off x="5486400" y="3362325"/>
            <a:ext cx="3048000" cy="1066800"/>
          </a:xfrm>
          <a:custGeom>
            <a:avLst/>
            <a:gdLst>
              <a:gd name="T0" fmla="*/ 2147483647 w 1872"/>
              <a:gd name="T1" fmla="*/ 987901250 h 576"/>
              <a:gd name="T2" fmla="*/ 2147483647 w 1872"/>
              <a:gd name="T3" fmla="*/ 1811152292 h 576"/>
              <a:gd name="T4" fmla="*/ 0 w 1872"/>
              <a:gd name="T5" fmla="*/ 0 h 576"/>
              <a:gd name="T6" fmla="*/ 0 60000 65536"/>
              <a:gd name="T7" fmla="*/ 0 60000 65536"/>
              <a:gd name="T8" fmla="*/ 0 60000 65536"/>
              <a:gd name="T9" fmla="*/ 0 w 1872"/>
              <a:gd name="T10" fmla="*/ 0 h 576"/>
              <a:gd name="T11" fmla="*/ 1872 w 187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576">
                <a:moveTo>
                  <a:pt x="1872" y="288"/>
                </a:moveTo>
                <a:cubicBezTo>
                  <a:pt x="1572" y="432"/>
                  <a:pt x="1272" y="576"/>
                  <a:pt x="960" y="528"/>
                </a:cubicBezTo>
                <a:cubicBezTo>
                  <a:pt x="648" y="480"/>
                  <a:pt x="324" y="24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8" name="Line 26"/>
          <p:cNvSpPr>
            <a:spLocks noChangeShapeType="1"/>
          </p:cNvSpPr>
          <p:nvPr/>
        </p:nvSpPr>
        <p:spPr bwMode="auto">
          <a:xfrm flipH="1">
            <a:off x="5486400" y="1838325"/>
            <a:ext cx="762000" cy="114300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669925" y="1371600"/>
            <a:ext cx="2073275" cy="2066925"/>
            <a:chOff x="573" y="1578"/>
            <a:chExt cx="1306" cy="1302"/>
          </a:xfrm>
        </p:grpSpPr>
        <p:sp>
          <p:nvSpPr>
            <p:cNvPr id="61479" name="Line 38"/>
            <p:cNvSpPr>
              <a:spLocks noChangeShapeType="1"/>
            </p:cNvSpPr>
            <p:nvPr/>
          </p:nvSpPr>
          <p:spPr bwMode="auto">
            <a:xfrm>
              <a:off x="1344" y="1776"/>
              <a:ext cx="480" cy="672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80" name="Line 39"/>
            <p:cNvSpPr>
              <a:spLocks noChangeShapeType="1"/>
            </p:cNvSpPr>
            <p:nvPr/>
          </p:nvSpPr>
          <p:spPr bwMode="auto">
            <a:xfrm>
              <a:off x="1296" y="1776"/>
              <a:ext cx="384" cy="1104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8" name="Text Box 37"/>
            <p:cNvSpPr txBox="1">
              <a:spLocks noChangeArrowheads="1"/>
            </p:cNvSpPr>
            <p:nvPr/>
          </p:nvSpPr>
          <p:spPr bwMode="auto">
            <a:xfrm>
              <a:off x="573" y="1578"/>
              <a:ext cx="1306" cy="294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rgbClr val="0000FF"/>
                  </a:solidFill>
                  <a:latin typeface="Arial" charset="0"/>
                  <a:ea typeface="宋体" charset="0"/>
                  <a:cs typeface="宋体" charset="0"/>
                </a:rPr>
                <a:t>Route export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1018158" y="2676525"/>
            <a:ext cx="7059042" cy="675826"/>
          </a:xfrm>
          <a:custGeom>
            <a:avLst/>
            <a:gdLst>
              <a:gd name="connsiteX0" fmla="*/ 0 w 7363842"/>
              <a:gd name="connsiteY0" fmla="*/ 229997 h 675826"/>
              <a:gd name="connsiteX1" fmla="*/ 2378048 w 7363842"/>
              <a:gd name="connsiteY1" fmla="*/ 581256 h 675826"/>
              <a:gd name="connsiteX2" fmla="*/ 5864050 w 7363842"/>
              <a:gd name="connsiteY2" fmla="*/ 327 h 675826"/>
              <a:gd name="connsiteX3" fmla="*/ 7363842 w 7363842"/>
              <a:gd name="connsiteY3" fmla="*/ 675826 h 67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3842" h="675826">
                <a:moveTo>
                  <a:pt x="0" y="229997"/>
                </a:moveTo>
                <a:cubicBezTo>
                  <a:pt x="700353" y="424765"/>
                  <a:pt x="1400706" y="619534"/>
                  <a:pt x="2378048" y="581256"/>
                </a:cubicBezTo>
                <a:cubicBezTo>
                  <a:pt x="3355390" y="542978"/>
                  <a:pt x="5033085" y="-15435"/>
                  <a:pt x="5864050" y="327"/>
                </a:cubicBezTo>
                <a:cubicBezTo>
                  <a:pt x="6695015" y="16089"/>
                  <a:pt x="7363842" y="675826"/>
                  <a:pt x="7363842" y="675826"/>
                </a:cubicBezTo>
              </a:path>
            </a:pathLst>
          </a:custGeom>
          <a:ln w="57150" cmpd="sng">
            <a:solidFill>
              <a:srgbClr val="D3A600"/>
            </a:solidFill>
            <a:prstDash val="dash"/>
            <a:headEnd type="none"/>
            <a:tailEnd type="triangle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7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7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7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7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79417" grpId="0" animBg="1"/>
      <p:bldP spid="1979424" grpId="0" animBg="1"/>
      <p:bldP spid="1979434" grpId="0" animBg="1"/>
      <p:bldP spid="1979419" grpId="0" animBg="1"/>
      <p:bldP spid="1979420" grpId="0" animBg="1"/>
      <p:bldP spid="1979418" grpId="0" animBg="1"/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export policy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78001"/>
          <a:ext cx="7772400" cy="29936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Destination</a:t>
                      </a:r>
                      <a:r>
                        <a:rPr lang="en-US" sz="2400" baseline="0" dirty="0"/>
                        <a:t> prefix advertised by…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Export route to…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Everyone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(providers, peers, other customers)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Peer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Provider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1143000" y="4953000"/>
            <a:ext cx="68580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We’ll refer to these as the “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Gao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-Rexford” rules</a:t>
            </a:r>
          </a:p>
          <a:p>
            <a:pPr algn="ctr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(capture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common </a:t>
            </a:r>
            <a:r>
              <a:rPr lang="en-US" sz="2400" b="0" dirty="0">
                <a:solidFill>
                  <a:srgbClr val="D3A600"/>
                </a:solidFill>
              </a:rPr>
              <a:t>–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but not required! </a:t>
            </a:r>
            <a:r>
              <a:rPr lang="en-US" sz="2400" b="0" dirty="0">
                <a:solidFill>
                  <a:srgbClr val="D3A600"/>
                </a:solidFill>
              </a:rPr>
              <a:t>–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</a:rPr>
              <a:t>practice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using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Rules for route selection in priority order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87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90800"/>
          <a:ext cx="7010400" cy="3403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Priority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LOCAL PREF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highest LOCAL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PREF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ASPATH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shortest ASPATH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length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 MED preferred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&gt;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Did AS learn route via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(preferred)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or </a:t>
                      </a:r>
                      <a:r>
                        <a:rPr lang="en-US" sz="1800" baseline="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?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IGP cost to next hop (egress router) 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Router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ID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Smallest next-hop router’s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IP address as tie-breaker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3022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–1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Intra-domain routing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Inter-domain routing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SDN</a:t>
            </a:r>
          </a:p>
          <a:p>
            <a:r>
              <a:rPr lang="en-US" dirty="0"/>
              <a:t>Link layer (lectures 1</a:t>
            </a:r>
            <a:r>
              <a:rPr lang="en-US" altLang="zh-CN" dirty="0"/>
              <a:t>6</a:t>
            </a:r>
            <a:r>
              <a:rPr lang="en-US" dirty="0"/>
              <a:t>–1</a:t>
            </a:r>
            <a:r>
              <a:rPr lang="en-US" altLang="zh-CN" dirty="0"/>
              <a:t>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Ethernet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6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and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node has packet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(Carrier Sense Multiple Access)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sensed idle: transmit entire frame</a:t>
            </a:r>
          </a:p>
          <a:p>
            <a:pPr lvl="1"/>
            <a:r>
              <a:rPr lang="en-US" dirty="0"/>
              <a:t>If channel sensed busy,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all collisions</a:t>
            </a:r>
          </a:p>
          <a:p>
            <a:pPr lvl="1"/>
            <a:r>
              <a:rPr lang="en-US" dirty="0"/>
              <a:t>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93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48640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9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2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Address Resolution Protocol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host maintains an ARP table</a:t>
            </a:r>
          </a:p>
          <a:p>
            <a:pPr lvl="1"/>
            <a:r>
              <a:rPr lang="en-US" dirty="0"/>
              <a:t>List of (IP address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MAC address) pairs</a:t>
            </a:r>
          </a:p>
          <a:p>
            <a:r>
              <a:rPr lang="en-US" dirty="0"/>
              <a:t>Consult the table when sending a packet</a:t>
            </a:r>
          </a:p>
          <a:p>
            <a:pPr lvl="1"/>
            <a:r>
              <a:rPr lang="en-US" dirty="0"/>
              <a:t>Map dest. IP address to dest. MAC address</a:t>
            </a:r>
          </a:p>
          <a:p>
            <a:pPr lvl="1"/>
            <a:r>
              <a:rPr lang="en-US" dirty="0"/>
              <a:t>Encapsulate (IP) data packet with MAC header; xmit</a:t>
            </a:r>
          </a:p>
          <a:p>
            <a:r>
              <a:rPr lang="en-US" dirty="0">
                <a:solidFill>
                  <a:srgbClr val="0000FF"/>
                </a:solidFill>
              </a:rPr>
              <a:t>What if IP address not in the table?</a:t>
            </a:r>
          </a:p>
          <a:p>
            <a:pPr lvl="1"/>
            <a:r>
              <a:rPr lang="en-US" dirty="0"/>
              <a:t>Sender broadcasts: Who has IP address 1.2.3.156?</a:t>
            </a:r>
          </a:p>
          <a:p>
            <a:pPr lvl="1"/>
            <a:r>
              <a:rPr lang="en-US" dirty="0"/>
              <a:t>Receiver replies: MAC address 58-23-D7-FA-20-B0</a:t>
            </a:r>
          </a:p>
          <a:p>
            <a:pPr lvl="1"/>
            <a:r>
              <a:rPr lang="en-US" dirty="0"/>
              <a:t>Sender caches result in its ARP table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7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destination is remote?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6777"/>
            <a:ext cx="8229600" cy="4411662"/>
          </a:xfrm>
        </p:spPr>
        <p:txBody>
          <a:bodyPr/>
          <a:lstStyle/>
          <a:p>
            <a:r>
              <a:rPr lang="en-US" sz="2400" dirty="0">
                <a:cs typeface="Arial" charset="0"/>
              </a:rPr>
              <a:t>Look up the MAC address of the first hop router</a:t>
            </a:r>
          </a:p>
          <a:p>
            <a:pPr lvl="1"/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1.2.3.48 uses ARP to find MAC address for first-hop router </a:t>
            </a:r>
            <a:r>
              <a:rPr lang="en-US" sz="2000" b="1" dirty="0">
                <a:solidFill>
                  <a:srgbClr val="000090"/>
                </a:solidFill>
                <a:ea typeface="Arial" charset="0"/>
                <a:cs typeface="Arial" charset="0"/>
              </a:rPr>
              <a:t>1.2.3.19</a:t>
            </a: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 rather than ultimate destination IP address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the destination is not local?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Uses netmask (discovered via DHCP)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about 1.2.3.19?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Also DHCP</a:t>
            </a: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cs typeface="Arial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8940" y="4343212"/>
            <a:ext cx="8342327" cy="2390775"/>
            <a:chOff x="133" y="2589"/>
            <a:chExt cx="5255" cy="1506"/>
          </a:xfrm>
        </p:grpSpPr>
        <p:sp>
          <p:nvSpPr>
            <p:cNvPr id="57354" name="Line 5"/>
            <p:cNvSpPr>
              <a:spLocks noChangeShapeType="1"/>
            </p:cNvSpPr>
            <p:nvPr/>
          </p:nvSpPr>
          <p:spPr bwMode="auto">
            <a:xfrm>
              <a:off x="628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5" name="Line 6"/>
            <p:cNvSpPr>
              <a:spLocks noChangeShapeType="1"/>
            </p:cNvSpPr>
            <p:nvPr/>
          </p:nvSpPr>
          <p:spPr bwMode="auto">
            <a:xfrm>
              <a:off x="820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6" name="Line 7"/>
            <p:cNvSpPr>
              <a:spLocks noChangeShapeType="1"/>
            </p:cNvSpPr>
            <p:nvPr/>
          </p:nvSpPr>
          <p:spPr bwMode="auto">
            <a:xfrm>
              <a:off x="13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7" name="Line 8"/>
            <p:cNvSpPr>
              <a:spLocks noChangeShapeType="1"/>
            </p:cNvSpPr>
            <p:nvPr/>
          </p:nvSpPr>
          <p:spPr bwMode="auto">
            <a:xfrm>
              <a:off x="206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8" name="Rectangle 9"/>
            <p:cNvSpPr>
              <a:spLocks noChangeArrowheads="1"/>
            </p:cNvSpPr>
            <p:nvPr/>
          </p:nvSpPr>
          <p:spPr bwMode="auto">
            <a:xfrm>
              <a:off x="647" y="3028"/>
              <a:ext cx="361" cy="21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59" name="Rectangle 10"/>
            <p:cNvSpPr>
              <a:spLocks noChangeArrowheads="1"/>
            </p:cNvSpPr>
            <p:nvPr/>
          </p:nvSpPr>
          <p:spPr bwMode="auto">
            <a:xfrm>
              <a:off x="1207" y="3028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/>
                <a:t>host</a:t>
              </a:r>
            </a:p>
          </p:txBody>
        </p:sp>
        <p:sp>
          <p:nvSpPr>
            <p:cNvPr id="57360" name="Rectangle 11"/>
            <p:cNvSpPr>
              <a:spLocks noChangeArrowheads="1"/>
            </p:cNvSpPr>
            <p:nvPr/>
          </p:nvSpPr>
          <p:spPr bwMode="auto">
            <a:xfrm>
              <a:off x="1867" y="3028"/>
              <a:ext cx="388" cy="213"/>
            </a:xfrm>
            <a:prstGeom prst="rect">
              <a:avLst/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accent2"/>
                  </a:solidFill>
                </a:rPr>
                <a:t>DNS</a:t>
              </a:r>
            </a:p>
          </p:txBody>
        </p:sp>
        <p:sp>
          <p:nvSpPr>
            <p:cNvPr id="57361" name="Text Box 12"/>
            <p:cNvSpPr txBox="1">
              <a:spLocks noChangeArrowheads="1"/>
            </p:cNvSpPr>
            <p:nvPr/>
          </p:nvSpPr>
          <p:spPr bwMode="auto">
            <a:xfrm>
              <a:off x="1588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>
              <a:off x="3556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>
              <a:off x="374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4324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5" name="Line 16"/>
            <p:cNvSpPr>
              <a:spLocks noChangeShapeType="1"/>
            </p:cNvSpPr>
            <p:nvPr/>
          </p:nvSpPr>
          <p:spPr bwMode="auto">
            <a:xfrm>
              <a:off x="49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6" name="Rectangle 17"/>
            <p:cNvSpPr>
              <a:spLocks noChangeArrowheads="1"/>
            </p:cNvSpPr>
            <p:nvPr/>
          </p:nvSpPr>
          <p:spPr bwMode="auto">
            <a:xfrm>
              <a:off x="3571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7" name="Rectangle 18"/>
            <p:cNvSpPr>
              <a:spLocks noChangeArrowheads="1"/>
            </p:cNvSpPr>
            <p:nvPr/>
          </p:nvSpPr>
          <p:spPr bwMode="auto">
            <a:xfrm>
              <a:off x="4135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8" name="Rectangle 19"/>
            <p:cNvSpPr>
              <a:spLocks noChangeArrowheads="1"/>
            </p:cNvSpPr>
            <p:nvPr/>
          </p:nvSpPr>
          <p:spPr bwMode="auto">
            <a:xfrm>
              <a:off x="4810" y="3027"/>
              <a:ext cx="361" cy="21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4516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70" name="AutoShape 21"/>
            <p:cNvSpPr>
              <a:spLocks noChangeArrowheads="1"/>
            </p:cNvSpPr>
            <p:nvPr/>
          </p:nvSpPr>
          <p:spPr bwMode="auto">
            <a:xfrm>
              <a:off x="2740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1" name="Line 22"/>
            <p:cNvSpPr>
              <a:spLocks noChangeShapeType="1"/>
            </p:cNvSpPr>
            <p:nvPr/>
          </p:nvSpPr>
          <p:spPr bwMode="auto">
            <a:xfrm>
              <a:off x="1791" y="3377"/>
              <a:ext cx="0" cy="4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2" name="AutoShape 23"/>
            <p:cNvSpPr>
              <a:spLocks noChangeArrowheads="1"/>
            </p:cNvSpPr>
            <p:nvPr/>
          </p:nvSpPr>
          <p:spPr bwMode="auto">
            <a:xfrm>
              <a:off x="3892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3" name="Line 24"/>
            <p:cNvSpPr>
              <a:spLocks noChangeShapeType="1"/>
            </p:cNvSpPr>
            <p:nvPr/>
          </p:nvSpPr>
          <p:spPr bwMode="auto">
            <a:xfrm flipH="1">
              <a:off x="4090" y="3394"/>
              <a:ext cx="0" cy="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4" name="Line 25"/>
            <p:cNvSpPr>
              <a:spLocks noChangeShapeType="1"/>
            </p:cNvSpPr>
            <p:nvPr/>
          </p:nvSpPr>
          <p:spPr bwMode="auto">
            <a:xfrm>
              <a:off x="1972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5" name="Line 26"/>
            <p:cNvSpPr>
              <a:spLocks noChangeShapeType="1"/>
            </p:cNvSpPr>
            <p:nvPr/>
          </p:nvSpPr>
          <p:spPr bwMode="auto">
            <a:xfrm>
              <a:off x="3124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133" y="2589"/>
              <a:ext cx="19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1.2.3.0/24 (255.255.255.0)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4625" y="2822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5.6.7.0/24</a:t>
              </a:r>
            </a:p>
          </p:txBody>
        </p:sp>
        <p:sp>
          <p:nvSpPr>
            <p:cNvPr id="57379" name="Text Box 30"/>
            <p:cNvSpPr txBox="1">
              <a:spLocks noChangeArrowheads="1"/>
            </p:cNvSpPr>
            <p:nvPr/>
          </p:nvSpPr>
          <p:spPr bwMode="auto">
            <a:xfrm>
              <a:off x="1731" y="2822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1.2.3.156</a:t>
              </a:r>
            </a:p>
          </p:txBody>
        </p:sp>
        <p:sp>
          <p:nvSpPr>
            <p:cNvPr id="57380" name="Text Box 31"/>
            <p:cNvSpPr txBox="1">
              <a:spLocks noChangeArrowheads="1"/>
            </p:cNvSpPr>
            <p:nvPr/>
          </p:nvSpPr>
          <p:spPr bwMode="auto">
            <a:xfrm>
              <a:off x="511" y="282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FF3300"/>
                  </a:solidFill>
                  <a:latin typeface="+mn-lt"/>
                </a:rPr>
                <a:t>1.2.3.48</a:t>
              </a:r>
            </a:p>
          </p:txBody>
        </p:sp>
        <p:sp>
          <p:nvSpPr>
            <p:cNvPr id="57381" name="Text Box 32"/>
            <p:cNvSpPr txBox="1">
              <a:spLocks noChangeArrowheads="1"/>
            </p:cNvSpPr>
            <p:nvPr/>
          </p:nvSpPr>
          <p:spPr bwMode="auto">
            <a:xfrm>
              <a:off x="1825" y="361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>
                  <a:latin typeface="+mn-lt"/>
                </a:rPr>
                <a:t>1.2.3.19</a:t>
              </a:r>
            </a:p>
          </p:txBody>
        </p:sp>
        <p:sp>
          <p:nvSpPr>
            <p:cNvPr id="57382" name="AutoShape 33"/>
            <p:cNvSpPr>
              <a:spLocks noChangeArrowheads="1"/>
            </p:cNvSpPr>
            <p:nvPr/>
          </p:nvSpPr>
          <p:spPr bwMode="auto">
            <a:xfrm>
              <a:off x="1601" y="3853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982912" y="1892771"/>
            <a:ext cx="5018088" cy="4424375"/>
            <a:chOff x="2839" y="1413"/>
            <a:chExt cx="3161" cy="2787"/>
          </a:xfrm>
        </p:grpSpPr>
        <p:sp>
          <p:nvSpPr>
            <p:cNvPr id="57351" name="Oval 36"/>
            <p:cNvSpPr>
              <a:spLocks noChangeArrowheads="1"/>
            </p:cNvSpPr>
            <p:nvPr/>
          </p:nvSpPr>
          <p:spPr bwMode="auto">
            <a:xfrm>
              <a:off x="2839" y="3959"/>
              <a:ext cx="791" cy="2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Oval 37"/>
            <p:cNvSpPr>
              <a:spLocks noChangeArrowheads="1"/>
            </p:cNvSpPr>
            <p:nvPr/>
          </p:nvSpPr>
          <p:spPr bwMode="auto">
            <a:xfrm>
              <a:off x="5232" y="1413"/>
              <a:ext cx="768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7353" name="AutoShape 38"/>
            <p:cNvCxnSpPr>
              <a:cxnSpLocks noChangeShapeType="1"/>
              <a:stCxn id="57352" idx="4"/>
              <a:endCxn id="57351" idx="0"/>
            </p:cNvCxnSpPr>
            <p:nvPr/>
          </p:nvCxnSpPr>
          <p:spPr bwMode="auto">
            <a:xfrm flipH="1">
              <a:off x="3235" y="1653"/>
              <a:ext cx="2381" cy="2306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355608" y="2972378"/>
            <a:ext cx="3073400" cy="1749438"/>
            <a:chOff x="2631" y="1800"/>
            <a:chExt cx="1936" cy="1102"/>
          </a:xfrm>
        </p:grpSpPr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2631" y="2664"/>
              <a:ext cx="1936" cy="23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3463" y="1800"/>
              <a:ext cx="740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0" name="AutoShape 38"/>
            <p:cNvCxnSpPr>
              <a:cxnSpLocks noChangeShapeType="1"/>
              <a:stCxn id="49" idx="4"/>
              <a:endCxn id="48" idx="0"/>
            </p:cNvCxnSpPr>
            <p:nvPr/>
          </p:nvCxnSpPr>
          <p:spPr bwMode="auto">
            <a:xfrm flipH="1">
              <a:off x="3599" y="2040"/>
              <a:ext cx="234" cy="624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5" name="Freeform 14"/>
          <p:cNvSpPr/>
          <p:nvPr/>
        </p:nvSpPr>
        <p:spPr>
          <a:xfrm>
            <a:off x="1455187" y="5393450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THANK YOU SO MUCH!!!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1490454288</TotalTime>
  <Pages>7</Pages>
  <Words>4412</Words>
  <Application>Microsoft Macintosh PowerPoint</Application>
  <PresentationFormat>On-screen Show (4:3)</PresentationFormat>
  <Paragraphs>1033</Paragraphs>
  <Slides>99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99</vt:i4>
      </vt:variant>
    </vt:vector>
  </HeadingPairs>
  <TitlesOfParts>
    <vt:vector size="117" baseType="lpstr">
      <vt:lpstr>ＭＳ Ｐゴシック</vt:lpstr>
      <vt:lpstr>PMingLiU</vt:lpstr>
      <vt:lpstr>宋体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Symbol</vt:lpstr>
      <vt:lpstr>Tahoma</vt:lpstr>
      <vt:lpstr>Times New Roman</vt:lpstr>
      <vt:lpstr>Wingdings</vt:lpstr>
      <vt:lpstr>Theme2</vt:lpstr>
      <vt:lpstr>Equation</vt:lpstr>
      <vt:lpstr>Clip</vt:lpstr>
      <vt:lpstr>CSCI4430 Computer Networks  Course Review</vt:lpstr>
      <vt:lpstr>Logistics</vt:lpstr>
      <vt:lpstr>General guidelines (1)</vt:lpstr>
      <vt:lpstr>General guidelines (2)</vt:lpstr>
      <vt:lpstr>This review</vt:lpstr>
      <vt:lpstr>Topics</vt:lpstr>
      <vt:lpstr>Topics</vt:lpstr>
      <vt:lpstr>Basic concepts</vt:lpstr>
      <vt:lpstr>Switched networks</vt:lpstr>
      <vt:lpstr>Two approaches to sharing</vt:lpstr>
      <vt:lpstr>Statistical multiplexing</vt:lpstr>
      <vt:lpstr>Delay</vt:lpstr>
      <vt:lpstr>End-to-end delay</vt:lpstr>
      <vt:lpstr>Layers</vt:lpstr>
      <vt:lpstr>Layers in practice</vt:lpstr>
      <vt:lpstr>Layer encapsulation:  Protocol headers</vt:lpstr>
      <vt:lpstr>IP is the narrow waist of the layering hourglass</vt:lpstr>
      <vt:lpstr>Topics</vt:lpstr>
      <vt:lpstr>Hyper Text Transfer Protocol (HTTP)</vt:lpstr>
      <vt:lpstr>Object request response time</vt:lpstr>
      <vt:lpstr>Improving HTTP performance</vt:lpstr>
      <vt:lpstr>Scorecard: Getting n small objects</vt:lpstr>
      <vt:lpstr>Scorecard: Getting n large objects each of size F</vt:lpstr>
      <vt:lpstr>Content Distribution Networks (CDN)</vt:lpstr>
      <vt:lpstr>Hierarchies in the DNS</vt:lpstr>
      <vt:lpstr>Name resolution</vt:lpstr>
      <vt:lpstr>Name resolution</vt:lpstr>
      <vt:lpstr>Name resolution</vt:lpstr>
      <vt:lpstr>Name resolution</vt:lpstr>
      <vt:lpstr>Name resolution: Recursive</vt:lpstr>
      <vt:lpstr>Name resolution: Iterative</vt:lpstr>
      <vt:lpstr>DNS caching</vt:lpstr>
      <vt:lpstr>HTTP streaming</vt:lpstr>
      <vt:lpstr>DASH : Dynamic Adaptive Streaming over HTTP</vt:lpstr>
      <vt:lpstr>Applications</vt:lpstr>
      <vt:lpstr>Traditional datacenter networks</vt:lpstr>
      <vt:lpstr>Challenges</vt:lpstr>
      <vt:lpstr>Modern datacenter networks: More bandwidth, more paths</vt:lpstr>
      <vt:lpstr>Clos topology</vt:lpstr>
      <vt:lpstr>Topics</vt:lpstr>
      <vt:lpstr>Role of the transport layer</vt:lpstr>
      <vt:lpstr>UDP vs. TCP</vt:lpstr>
      <vt:lpstr>Reliable transport:  General concepts</vt:lpstr>
      <vt:lpstr>Designing a reliable transport protocol</vt:lpstr>
      <vt:lpstr>The TCP abstraction</vt:lpstr>
      <vt:lpstr>Things to know about TCP</vt:lpstr>
      <vt:lpstr>Reliability</vt:lpstr>
      <vt:lpstr>Establishing/terminating a TCP connection</vt:lpstr>
      <vt:lpstr>Flow control</vt:lpstr>
      <vt:lpstr>Congestion control</vt:lpstr>
      <vt:lpstr>Put together</vt:lpstr>
      <vt:lpstr>CC implementation</vt:lpstr>
      <vt:lpstr>Event: ACK (new data)</vt:lpstr>
      <vt:lpstr>Event: ACK (new data)</vt:lpstr>
      <vt:lpstr>Event: TimeOut</vt:lpstr>
      <vt:lpstr>Event: dupACK</vt:lpstr>
      <vt:lpstr>Example</vt:lpstr>
      <vt:lpstr>TCP flavors </vt:lpstr>
      <vt:lpstr>A simple model for TCP throughput</vt:lpstr>
      <vt:lpstr>A simple model for TCP throughput</vt:lpstr>
      <vt:lpstr>Topics</vt:lpstr>
      <vt:lpstr>Network layer</vt:lpstr>
      <vt:lpstr>Forwarding vs. routing</vt:lpstr>
      <vt:lpstr>Forwarding</vt:lpstr>
      <vt:lpstr>Designing the IP header</vt:lpstr>
      <vt:lpstr>What information do we need?</vt:lpstr>
      <vt:lpstr>IPv4 and IPv6 header comparison</vt:lpstr>
      <vt:lpstr>Philosophy of changes</vt:lpstr>
      <vt:lpstr>Routing: Local vs. global view</vt:lpstr>
      <vt:lpstr>“Valid” routing state</vt:lpstr>
      <vt:lpstr>Necessary and sufficient condition</vt:lpstr>
      <vt:lpstr>Least-cost routes</vt:lpstr>
      <vt:lpstr>Intra-domain routing</vt:lpstr>
      <vt:lpstr>Similarities between LS and DV routing</vt:lpstr>
      <vt:lpstr>Comparison of LS and DV routing</vt:lpstr>
      <vt:lpstr>Addressing is key to scalable inter-domain routing</vt:lpstr>
      <vt:lpstr>Classful addressing</vt:lpstr>
      <vt:lpstr>CIDR: Classless inter-domain routing</vt:lpstr>
      <vt:lpstr>Hierarchy in IP addressing</vt:lpstr>
      <vt:lpstr>Administrative structure shapes Inter-domain routing</vt:lpstr>
      <vt:lpstr>Business relationships</vt:lpstr>
      <vt:lpstr>Routing follows the money!</vt:lpstr>
      <vt:lpstr>BGP inspired by Distance-Vector with four differences</vt:lpstr>
      <vt:lpstr>BGP: Basic idea</vt:lpstr>
      <vt:lpstr>Policy dictates how routes are “selected” and “exported”</vt:lpstr>
      <vt:lpstr>Typical export policy</vt:lpstr>
      <vt:lpstr>Selection using attributes</vt:lpstr>
      <vt:lpstr>Topics</vt:lpstr>
      <vt:lpstr>Data link layer</vt:lpstr>
      <vt:lpstr>Random access MAC protocols</vt:lpstr>
      <vt:lpstr>CSMA (Carrier Sense Multiple Access)</vt:lpstr>
      <vt:lpstr>CSMA/CD (Collision Detection)</vt:lpstr>
      <vt:lpstr>Why switched Ethernet?</vt:lpstr>
      <vt:lpstr>Ethernet switches are “self learning”</vt:lpstr>
      <vt:lpstr>ARP and DHCP</vt:lpstr>
      <vt:lpstr>Key ideas in both ARP and DHCP</vt:lpstr>
      <vt:lpstr>ARP: Address Resolution Protocol</vt:lpstr>
      <vt:lpstr>What if the destination is remote?</vt:lpstr>
      <vt:lpstr>This is it!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1377</cp:revision>
  <cp:lastPrinted>1999-09-08T17:25:07Z</cp:lastPrinted>
  <dcterms:created xsi:type="dcterms:W3CDTF">2014-01-14T18:15:50Z</dcterms:created>
  <dcterms:modified xsi:type="dcterms:W3CDTF">2025-04-14T07:25:07Z</dcterms:modified>
  <cp:category/>
</cp:coreProperties>
</file>
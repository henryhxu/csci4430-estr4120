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59"/>
  </p:notesMasterIdLst>
  <p:handoutMasterIdLst>
    <p:handoutMasterId r:id="rId60"/>
  </p:handoutMasterIdLst>
  <p:sldIdLst>
    <p:sldId id="638" r:id="rId2"/>
    <p:sldId id="487" r:id="rId3"/>
    <p:sldId id="514" r:id="rId4"/>
    <p:sldId id="515" r:id="rId5"/>
    <p:sldId id="516" r:id="rId6"/>
    <p:sldId id="517" r:id="rId7"/>
    <p:sldId id="519" r:id="rId8"/>
    <p:sldId id="518" r:id="rId9"/>
    <p:sldId id="520" r:id="rId10"/>
    <p:sldId id="521" r:id="rId11"/>
    <p:sldId id="523" r:id="rId12"/>
    <p:sldId id="524" r:id="rId13"/>
    <p:sldId id="525" r:id="rId14"/>
    <p:sldId id="526" r:id="rId15"/>
    <p:sldId id="527" r:id="rId16"/>
    <p:sldId id="528" r:id="rId17"/>
    <p:sldId id="529" r:id="rId18"/>
    <p:sldId id="530" r:id="rId19"/>
    <p:sldId id="531" r:id="rId20"/>
    <p:sldId id="639" r:id="rId21"/>
    <p:sldId id="640" r:id="rId22"/>
    <p:sldId id="532" r:id="rId23"/>
    <p:sldId id="533" r:id="rId24"/>
    <p:sldId id="534" r:id="rId25"/>
    <p:sldId id="535" r:id="rId26"/>
    <p:sldId id="536" r:id="rId27"/>
    <p:sldId id="539" r:id="rId28"/>
    <p:sldId id="540" r:id="rId29"/>
    <p:sldId id="542" r:id="rId30"/>
    <p:sldId id="543" r:id="rId31"/>
    <p:sldId id="546" r:id="rId32"/>
    <p:sldId id="547" r:id="rId33"/>
    <p:sldId id="548" r:id="rId34"/>
    <p:sldId id="549" r:id="rId35"/>
    <p:sldId id="575" r:id="rId36"/>
    <p:sldId id="550" r:id="rId37"/>
    <p:sldId id="551" r:id="rId38"/>
    <p:sldId id="552" r:id="rId39"/>
    <p:sldId id="554" r:id="rId40"/>
    <p:sldId id="555" r:id="rId41"/>
    <p:sldId id="556" r:id="rId42"/>
    <p:sldId id="557" r:id="rId43"/>
    <p:sldId id="558" r:id="rId44"/>
    <p:sldId id="567" r:id="rId45"/>
    <p:sldId id="560" r:id="rId46"/>
    <p:sldId id="561" r:id="rId47"/>
    <p:sldId id="562" r:id="rId48"/>
    <p:sldId id="563" r:id="rId49"/>
    <p:sldId id="568" r:id="rId50"/>
    <p:sldId id="565" r:id="rId51"/>
    <p:sldId id="576" r:id="rId52"/>
    <p:sldId id="569" r:id="rId53"/>
    <p:sldId id="570" r:id="rId54"/>
    <p:sldId id="572" r:id="rId55"/>
    <p:sldId id="571" r:id="rId56"/>
    <p:sldId id="573" r:id="rId57"/>
    <p:sldId id="512" r:id="rId5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0000FF"/>
    <a:srgbClr val="009900"/>
    <a:srgbClr val="D3A600"/>
    <a:srgbClr val="333399"/>
    <a:srgbClr val="FFCB05"/>
    <a:srgbClr val="FF9900"/>
    <a:srgbClr val="00274C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93"/>
    <p:restoredTop sz="96327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03:01:08.686"/>
    </inkml:context>
    <inkml:brush xml:id="br0">
      <inkml:brushProperty name="height" value="0.053" units="cm"/>
      <inkml:brushProperty name="color" value="#FF0000"/>
    </inkml:brush>
  </inkml:definitions>
  <inkml:trace contextRef="#ctx0" brushRef="#br0">11650 11519 7924,'0'-24'0,"-5"4"0,-1-2 0,-2 2 0,2 3 0,5 6 3916,-5-1-2728,4 9 0,2 3-635,0 11 1,0 12-11,0 6 1,0 5-266,0 6 1,0 4-60,0 8 0,0 5 27,0 0 1,0 6-28,0-5 0,0 5 0,0-6 0,0 6 27,0-6 1,0-1-28,0-11 0,6-4 0,-1-13 0,11-5-642,1-11 0,6-5-807,5-7 0,5-15 1230,-4-8 0,5-15 0,6-8 0,-3 0-1325,3-5 1,-12 5-3087,-5-6 3489,-4 1 1,-3 9-489,-5-4 905,-3 4 505,-8 7 0,0 1 0,0 0 0</inkml:trace>
  <inkml:trace contextRef="#ctx0" brushRef="#br0" timeOffset="1">11650 11743 7924,'-34'0'0,"-1"0"0,9 0 1794,3 0-13,4 0 325,1 0 662,9 0-1337,1 0-962,23 0 1,3-6-141,10 0 0,5-5-453,-4 5 0,5-5 41,6 5 1,-4-2-87,5 3 0,1 3-354,-2-4 0,2-2-924,-2 3 0,-4-1-778,5 6 0,-11 0 1144,-1 0 0,-1 0 1081,7 0 0,-8 0 0,-2 0 0</inkml:trace>
  <inkml:trace contextRef="#ctx0" brushRef="#br0" timeOffset="2">12287 11691 9850,'-8'-9'1657,"6"-1"496,-3 5 171,3 3-1094,2-6-951,0 8 0,2 2-60,3 4 0,-3 9-303,4 8 0,-4 7-157,-2-1 0,0 3-179,0 3 1,0-1-548,0 1 1,0-1 439,0 0 0,0 1-717,0-1 0,-6-1-152,1-5-46,-1-3 997,6-15 0,6-6 445,-1-16 0,16-15 0,-2-17 0</inkml:trace>
  <inkml:trace contextRef="#ctx0" brushRef="#br0" timeOffset="3">12476 11279 7924,'-17'-17'1706,"0"-1"2323,0 9-3234,7 1 1,2 10-240,8 4 1,2-2-1362,4 7 0,-2 1 574,7 5 0,7 6 231,5 0 0,7 7 0,-3-3 0</inkml:trace>
  <inkml:trace contextRef="#ctx0" brushRef="#br0" timeOffset="4">12717 11743 7924,'-17'-10'0,"6"-3"8,-1 7-254,8-7 1595,-11 11 1,11-6-526,-7 8 0,7 2-299,-2 4 0,4-2-158,2 7 0,0 1 451,0 5-497,0 0 0,2 6-88,4 0 0,-4 0 22,3-6 0,-3 0-23,-2 0 1,0 1-104,0-1 0,0 0 33,0 0 0,0 0-101,0 1 0,0-1 261,0 0-371,-7 0-295,5 0 180,-6-7 65,8-2 110,0-16 0,0-2 88,0-7 1,0 0 29,0 0 1,0 0 159,0-1 1,6 1-121,0 0 1,-1 6-61,-5-1 0,6 1-206,0-7 1,7 1 105,-1 0 1,-3 0-314,3 0 0,-1 1 147,6 5 0,3-4-363,2 3 0,-2-1 192,3 1 1,1-1 29,-1 7 0,2 1 197,-2 5 0,-4 1 257,4 5 1,-9 4 383,-3 7 1,-7 8-293,2 3 0,-4-1 445,-2 2 1,0-1-280,0 7 0,-6-6 280,0-1 0,-7-1-320,1 2 1,5-5-262,1-6 1,-2-7-318,2 1 241,1-9-443,5 5 0,2-21 237,3-5 0,-1-5-560,8 1 1,-1-3 273,6-4 1,-5 2 53,-1 4 0,1 4 38,5-4 0,-2 4 35,-3 2 1,7 0 137,-8 0 0,14-1 3,-8 1 1,4 6 93,-3-1 0,1 3-71,4-3 1,-4 5 316,4 7 0,2-6-122,-2 0 0,0 1 1272,-6 5-644,0 7 0,-2 3 305,-3 7 1,1 6-113,-7 0 1,0 2-364,-6-2 0,1-4-304,5 4 1,-2-4 33,8-2 0,-7-2-117,7-3 0,-1 1 106,6-7 0,1-2-273,-1-10 0,6-4-239,0-7 0,7-2-340,-1-4 1,-2-4 19,1-7 1,-7 1-503,2 5 0,-3-3-42,-3 8 0,0-5 590,0 5 0,-7 0-193,-5 6 1,-3 5 267,-2 1 1,-2 5 144,-3-6 0,-5 9 331,-7-3 1,5 4 213,1 2 1,0 0 426,-7 0 0,1 0 794,0 0 1,0 8 1663,-1 3 0,1 4-1641,0 3 1,6 1-361,-1 4 1,8-2-798,-1 7 1,3-5-640,2 6 1,2-2-99,3 1 1,7 5-387,11-5 0,11 3-6190,12-2 7039,4-5 0,17-6 0,3-1 0</inkml:trace>
  <inkml:trace contextRef="#ctx0" brushRef="#br0" timeOffset="5">14954 11468 10263,'-17'0'1038,"6"0"-72,-1 0 0,6 7-423,-5 5 1,0 5 595,-7 6 1,7 0-586,-1 11 0,3-1-332,-3 13 0,-1-4-199,7 9 1,-5-3 106,5 9 1,0-5-741,6-6 1,0-4 457,0-8 0,8-1-1402,3-5 0,-1-5 537,1-11 0,-5 1-457,6-7 1,-7-2 618,7-10 0,-8-9-189,1-8 1044,-3-8 0,-2-3 0,0-10 0</inkml:trace>
  <inkml:trace contextRef="#ctx0" brushRef="#br0" timeOffset="6">14713 11760 7957,'-40'-17'613,"0"0"1,-4 7-307,10 4 0,-3 5 1382,14 1 0,6 0 1304,6 0-1282,7 7 0,4-3-887,11 7 1,7-5-357,5 6 1,9-9-320,8 3 0,8 2 73,-2-2 1,6-1-176,5-5 0,-4 0 53,5 0 1,-5 0-436,-1 0 1,0 0-40,-1 0 1,-7 0-447,-4 0 1,-7 8 182,-10 3 0,-2 5 241,-15 1 0,-3 8-76,-8 3 1,-11-1 99,-7 2 1,-5-1 313,5 7 1,-6-8-50,6-5 1,2-2 55,10-3 1,1-8 323,4-3 14,4-4 1,-3-2 520,10 0 0,-1-8-383,8-3 0,5-4 108,6-3 1,2 1-123,-2 0 1,-4-6-830,4 0 1,2 0 278,-2 6 1,0 0-1195,-6 0 0,-2-1-486,-4 1-42,5 0 615,-14 0 1,-2 5 592,-12 1 0,-3 7-1481,-2-2 2134,0 4 0,-8-5 0,-2-3 0</inkml:trace>
  <inkml:trace contextRef="#ctx0" brushRef="#br0" timeOffset="7">16589 11519 7957,'0'-24'0,"-6"4"0,-1-1 0,-1 6 616,0 4 1,1 5-309,1-5 0,2 7 3666,-7-2-2946,7 4 0,-9 12-834,7 7 1,-6 4-116,7 13 1,-7-1-93,6 13 0,-5-1-445,5 7 0,-1 0 358,1-1 0,4 1-859,-4-1 1,4 1 343,2-1 1,0-1-543,0-4 1,8-10 516,3-7 1,5-14-250,1 2 1,8-11 888,3 0 0,5-20 0,1-5 0</inkml:trace>
  <inkml:trace contextRef="#ctx0" brushRef="#br0" timeOffset="8">16847 11829 7957,'-17'0'691,"0"0"0,5 0-420,1 0 1,5 0 2151,-5 0-1042,7 0 247,-4 0-1225,8 0 1,0 8-314,0 3 0,0 4 4,0 2 1,0 3-178,0 2 1,0 0-55,0 6 0,0-5-381,0 6 0,0-6-549,0 5 0,2-7 456,4 2 0,-4 2-99,4-2 0,-5-6 224,-1-5 0,6-7-118,0 7 0,7-10 1,-1-2-613,3-10 1216,2-5 0,1-18 0,-1-3 0</inkml:trace>
  <inkml:trace contextRef="#ctx0" brushRef="#br0" timeOffset="9">16882 11588 7957,'-35'0'392,"9"0"49,3 0 0,3 0 701,3 0-766,8 0 0,9 2-707,11 4 0,6-4 158,6 3 0,4-3-1112,8-2 1,5 0 65,0 0 1219,0-7 0,-6 5 0,1-6 0</inkml:trace>
  <inkml:trace contextRef="#ctx0" brushRef="#br0" timeOffset="10">17140 11623 7957,'-17'0'1075,"-1"0"-111,1 0 0,6 5 141,-1 1-327,8 7 0,-1-3-269,10 7 1,-1 6 29,8 0 1,-3 8-4,3-3 0,3 7 63,-3 5 0,1-2-133,-2 8 0,3-6-121,-8 6 0,5-8 228,-5 2 1,5 0-158,-5-5 0,7-5-77,-1-13 1,3-7-192,2-4 1,1-6-243,-1-6 1,6-13-879,0-16 1,5-7 596,-5-9 1,6-8-1912,-6-4 0,0-2 1082,-6 2 1,-2 3 111,-3 9 1,1 3 542,-7 8 1,-2 9-1502,-10 20 2050,4 3 0,-21 1 0,4-3 0</inkml:trace>
  <inkml:trace contextRef="#ctx0" brushRef="#br0" timeOffset="11">17639 11984 13016,'8'-10'1827,"1"-5"-608,8 3 1,6-9-590,0-2 1,10-9-197,1-2 0,1-3-147,5-9 0,-4 2-271,-2-1 1,-1 3-132,-4 7 0,-10 1-683,-8-1 224,-7 9 1,-4 8 227,-11 13 1,-12 3-499,-6 2 0,-5 2 264,-7 3 1,3 11 326,-8 7 0,6 5 17,-6-5 0,10 6 1003,1-6 0,3 7 345,9-1 1,-6 9-624,6 2 1,8 2 1315,9-1 0,4-3-859,2 8 1,16-6-445,7 6 0,7-8-218,5 2 1,7-11-1340,4-7 1,3-2 383,3-3 671,7-8 0,-5-1 0,5-8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2T02:26:06.87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22122 6704 8501,'-11'0'253,"-1"0"0,2 1 0,1 2 0,2 1 488,-2-2-478,4-1 315,-5-1 137,8 0-731,-3 0 586,5 0-214,5 0-580,2 0 224,4 0 0,6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4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6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04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7E223B3-ED0D-0B48-B88B-1C353A074062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634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1BB7AE1D-933C-6F4B-A519-23E62013EB2E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135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0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F151C3C-F8E8-0C49-AD22-28CFC2BDC263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39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9DC31C9-6D3B-3544-8EE9-1427378FF53B}" type="slidenum">
              <a:rPr lang="en-US" sz="1300" b="0">
                <a:latin typeface="Times New Roman" charset="0"/>
              </a:rPr>
              <a:pPr eaLnBrk="1" hangingPunct="1"/>
              <a:t>24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059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9DC31C9-6D3B-3544-8EE9-1427378FF53B}" type="slidenum">
              <a:rPr lang="en-US" sz="1300" b="0">
                <a:latin typeface="Times New Roman" charset="0"/>
              </a:rPr>
              <a:pPr eaLnBrk="1" hangingPunct="1"/>
              <a:t>28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75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CFB8DC4-C973-3B4E-8B9B-213E31135BEF}" type="slidenum">
              <a:rPr lang="en-US" sz="1300" b="0">
                <a:latin typeface="Times New Roman" charset="0"/>
              </a:rPr>
              <a:pPr eaLnBrk="1" hangingPunct="1"/>
              <a:t>31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48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CFB8DC4-C973-3B4E-8B9B-213E31135BEF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03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F151C3C-F8E8-0C49-AD22-28CFC2BDC263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32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73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77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54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5C712B4-5F53-514A-866E-4225DEFD290D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05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876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C775ECBE-1740-AB43-9AD4-D1859A822463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838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2275F76-7687-EA4B-81F4-114680FBF97A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320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DBF99E3-00B1-094E-B8B8-E0A30FEF6BFF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68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F5D3642-BD8E-2A45-962D-A5D80BB9D716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72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995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F9E32AA-7538-D44B-BB17-65E8A8E1DE8A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514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2204167-EFB0-2D48-A5F0-063C27AB3381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841875" cy="3630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4576763"/>
            <a:ext cx="5345113" cy="4340225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34" tIns="47567" rIns="95134" bIns="47567"/>
          <a:lstStyle/>
          <a:p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07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5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1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421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2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1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1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12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54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234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8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4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61170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10</a:t>
            </a:r>
          </a:p>
        </p:txBody>
      </p:sp>
    </p:spTree>
    <p:extLst>
      <p:ext uri="{BB962C8B-B14F-4D97-AF65-F5344CB8AC3E}">
        <p14:creationId xmlns:p14="http://schemas.microsoft.com/office/powerpoint/2010/main" val="363586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Lecture10: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Basics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basics</a:t>
            </a:r>
          </a:p>
          <a:p>
            <a:r>
              <a:rPr lang="en-US" dirty="0"/>
              <a:t>The Internet Protocol (IP)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Performs </a:t>
            </a:r>
            <a:r>
              <a:rPr lang="en-US" dirty="0">
                <a:solidFill>
                  <a:srgbClr val="0000FF"/>
                </a:solidFill>
              </a:rPr>
              <a:t>addressing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forwarding</a:t>
            </a:r>
            <a:r>
              <a:rPr lang="en-US" dirty="0"/>
              <a:t>, and </a:t>
            </a:r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, among other tasks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8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and terminology</a:t>
            </a:r>
            <a:endParaRPr lang="en-US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003" y="2359424"/>
            <a:ext cx="417443" cy="640080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 bwMode="auto">
          <a:xfrm>
            <a:off x="2895600" y="3886200"/>
            <a:ext cx="2133600" cy="16002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600200" y="2133600"/>
            <a:ext cx="2133600" cy="1600200"/>
          </a:xfrm>
          <a:prstGeom prst="clou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Cloud 12"/>
          <p:cNvSpPr/>
          <p:nvPr/>
        </p:nvSpPr>
        <p:spPr bwMode="auto">
          <a:xfrm>
            <a:off x="5638800" y="2971800"/>
            <a:ext cx="2133600" cy="1600200"/>
          </a:xfrm>
          <a:prstGeom prst="cloud">
            <a:avLst/>
          </a:prstGeom>
          <a:solidFill>
            <a:schemeClr val="accent1">
              <a:lumMod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Cube 16"/>
          <p:cNvSpPr/>
          <p:nvPr/>
        </p:nvSpPr>
        <p:spPr bwMode="auto">
          <a:xfrm>
            <a:off x="25146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Cube 17"/>
          <p:cNvSpPr/>
          <p:nvPr/>
        </p:nvSpPr>
        <p:spPr bwMode="auto">
          <a:xfrm>
            <a:off x="3276600" y="2514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Cube 20"/>
          <p:cNvSpPr/>
          <p:nvPr/>
        </p:nvSpPr>
        <p:spPr bwMode="auto">
          <a:xfrm>
            <a:off x="2895600" y="4648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Cube 23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Cube 24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Cube 26"/>
          <p:cNvSpPr/>
          <p:nvPr/>
        </p:nvSpPr>
        <p:spPr bwMode="auto">
          <a:xfrm>
            <a:off x="6096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Cube 27"/>
          <p:cNvSpPr/>
          <p:nvPr/>
        </p:nvSpPr>
        <p:spPr bwMode="auto">
          <a:xfrm>
            <a:off x="7391400" y="3657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Cube 29"/>
          <p:cNvSpPr/>
          <p:nvPr/>
        </p:nvSpPr>
        <p:spPr bwMode="auto">
          <a:xfrm>
            <a:off x="6858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Cube 31"/>
          <p:cNvSpPr/>
          <p:nvPr/>
        </p:nvSpPr>
        <p:spPr bwMode="auto">
          <a:xfrm>
            <a:off x="2667000" y="2362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3657600" y="26654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7696200" y="373380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438400" y="47990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>
            <a:stCxn id="11" idx="5"/>
            <a:endCxn id="32" idx="2"/>
          </p:cNvCxnSpPr>
          <p:nvPr/>
        </p:nvCxnSpPr>
        <p:spPr bwMode="auto">
          <a:xfrm flipV="1">
            <a:off x="1905000" y="2505075"/>
            <a:ext cx="762000" cy="476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8" idx="3"/>
            <a:endCxn id="19" idx="0"/>
          </p:cNvCxnSpPr>
          <p:nvPr/>
        </p:nvCxnSpPr>
        <p:spPr bwMode="auto">
          <a:xfrm flipH="1">
            <a:off x="3343275" y="2743200"/>
            <a:ext cx="95250" cy="533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17" idx="3"/>
            <a:endCxn id="20" idx="0"/>
          </p:cNvCxnSpPr>
          <p:nvPr/>
        </p:nvCxnSpPr>
        <p:spPr bwMode="auto">
          <a:xfrm flipH="1">
            <a:off x="2428875" y="3124200"/>
            <a:ext cx="2476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>
            <a:stCxn id="18" idx="2"/>
          </p:cNvCxnSpPr>
          <p:nvPr/>
        </p:nvCxnSpPr>
        <p:spPr bwMode="auto">
          <a:xfrm flipH="1" flipV="1">
            <a:off x="3048000" y="2514600"/>
            <a:ext cx="228600" cy="142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>
            <a:stCxn id="32" idx="3"/>
            <a:endCxn id="17" idx="0"/>
          </p:cNvCxnSpPr>
          <p:nvPr/>
        </p:nvCxnSpPr>
        <p:spPr bwMode="auto">
          <a:xfrm flipH="1">
            <a:off x="2733675" y="2590800"/>
            <a:ext cx="952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21" idx="0"/>
            <a:endCxn id="22" idx="3"/>
          </p:cNvCxnSpPr>
          <p:nvPr/>
        </p:nvCxnSpPr>
        <p:spPr bwMode="auto">
          <a:xfrm flipV="1">
            <a:off x="3114675" y="4267200"/>
            <a:ext cx="17145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endCxn id="24" idx="0"/>
          </p:cNvCxnSpPr>
          <p:nvPr/>
        </p:nvCxnSpPr>
        <p:spPr bwMode="auto">
          <a:xfrm>
            <a:off x="3267075" y="4800600"/>
            <a:ext cx="38100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>
            <a:endCxn id="25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stCxn id="24" idx="4"/>
            <a:endCxn id="25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stCxn id="24" idx="0"/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>
            <a:stCxn id="28" idx="3"/>
            <a:endCxn id="29" idx="4"/>
          </p:cNvCxnSpPr>
          <p:nvPr/>
        </p:nvCxnSpPr>
        <p:spPr bwMode="auto">
          <a:xfrm flipH="1">
            <a:off x="6724650" y="3886200"/>
            <a:ext cx="8286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>
            <a:stCxn id="30" idx="2"/>
            <a:endCxn id="27" idx="5"/>
          </p:cNvCxnSpPr>
          <p:nvPr/>
        </p:nvCxnSpPr>
        <p:spPr bwMode="auto">
          <a:xfrm flipH="1" flipV="1">
            <a:off x="6477000" y="3286125"/>
            <a:ext cx="381000" cy="571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104"/>
          <p:cNvCxnSpPr>
            <a:stCxn id="27" idx="3"/>
            <a:endCxn id="26" idx="5"/>
          </p:cNvCxnSpPr>
          <p:nvPr/>
        </p:nvCxnSpPr>
        <p:spPr bwMode="auto">
          <a:xfrm flipH="1">
            <a:off x="6019800" y="3429000"/>
            <a:ext cx="238125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stCxn id="28" idx="1"/>
            <a:endCxn id="30" idx="4"/>
          </p:cNvCxnSpPr>
          <p:nvPr/>
        </p:nvCxnSpPr>
        <p:spPr bwMode="auto">
          <a:xfrm flipH="1" flipV="1">
            <a:off x="7181850" y="3343275"/>
            <a:ext cx="371475" cy="3714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stCxn id="29" idx="0"/>
            <a:endCxn id="30" idx="3"/>
          </p:cNvCxnSpPr>
          <p:nvPr/>
        </p:nvCxnSpPr>
        <p:spPr bwMode="auto">
          <a:xfrm flipV="1">
            <a:off x="6619875" y="3429000"/>
            <a:ext cx="400050" cy="838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6096000" y="1524000"/>
            <a:ext cx="2133600" cy="12192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hosts”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dirty="0">
                <a:solidFill>
                  <a:schemeClr val="bg1"/>
                </a:solidFill>
              </a:rPr>
              <a:t>“Clients”, “Users”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points”</a:t>
            </a:r>
          </a:p>
        </p:txBody>
      </p:sp>
      <p:sp>
        <p:nvSpPr>
          <p:cNvPr id="123" name="Rounded Rectangle 122"/>
          <p:cNvSpPr/>
          <p:nvPr/>
        </p:nvSpPr>
        <p:spPr bwMode="auto">
          <a:xfrm>
            <a:off x="5486400" y="5707008"/>
            <a:ext cx="2743200" cy="609600"/>
          </a:xfrm>
          <a:prstGeom prst="roundRect">
            <a:avLst/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“Interior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25" name="Rounded Rectangle 124"/>
          <p:cNvSpPr/>
          <p:nvPr/>
        </p:nvSpPr>
        <p:spPr bwMode="auto">
          <a:xfrm>
            <a:off x="369849" y="266700"/>
            <a:ext cx="7620000" cy="94141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“Autonomous </a:t>
            </a:r>
            <a:r>
              <a:rPr lang="en-US" sz="2000" b="0" dirty="0">
                <a:solidFill>
                  <a:schemeClr val="bg1"/>
                </a:solidFill>
              </a:rPr>
              <a:t>System (AS)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“Domain”</a:t>
            </a:r>
            <a:br>
              <a:rPr lang="en-US" sz="2000" b="0" dirty="0">
                <a:solidFill>
                  <a:schemeClr val="bg1"/>
                </a:solidFill>
              </a:rPr>
            </a:br>
            <a:r>
              <a:rPr lang="en-US" sz="2000" b="0" dirty="0">
                <a:solidFill>
                  <a:schemeClr val="bg1"/>
                </a:solidFill>
              </a:rPr>
              <a:t>Region of a network under 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single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administrative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entity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228600" y="26670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3771900" y="2219325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7859751" y="3352800"/>
            <a:ext cx="945606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6" name="Oval 65"/>
          <p:cNvSpPr/>
          <p:nvPr/>
        </p:nvSpPr>
        <p:spPr bwMode="auto">
          <a:xfrm>
            <a:off x="1600200" y="44196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934307" y="478155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42672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410200" y="3505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2895600" y="30480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28956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438400" y="1208110"/>
            <a:ext cx="3505200" cy="2769583"/>
            <a:chOff x="2438400" y="1295400"/>
            <a:chExt cx="3505200" cy="2679311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2438400" y="1295400"/>
              <a:ext cx="76200" cy="914400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5" name="Straight Arrow Connector 74"/>
            <p:cNvCxnSpPr>
              <a:endCxn id="4" idx="3"/>
            </p:cNvCxnSpPr>
            <p:nvPr/>
          </p:nvCxnSpPr>
          <p:spPr bwMode="auto">
            <a:xfrm>
              <a:off x="3962400" y="1295400"/>
              <a:ext cx="0" cy="2679311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7" name="Straight Arrow Connector 76"/>
            <p:cNvCxnSpPr/>
            <p:nvPr/>
          </p:nvCxnSpPr>
          <p:spPr bwMode="auto">
            <a:xfrm>
              <a:off x="4485446" y="1295400"/>
              <a:ext cx="1458154" cy="20573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>
            <a:off x="1371600" y="2667000"/>
            <a:ext cx="6019800" cy="2667000"/>
            <a:chOff x="1371600" y="2667000"/>
            <a:chExt cx="6019800" cy="2667000"/>
          </a:xfrm>
        </p:grpSpPr>
        <p:sp>
          <p:nvSpPr>
            <p:cNvPr id="80" name="Oval 79"/>
            <p:cNvSpPr/>
            <p:nvPr/>
          </p:nvSpPr>
          <p:spPr bwMode="auto">
            <a:xfrm>
              <a:off x="13716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3581400" y="4267200"/>
              <a:ext cx="838200" cy="6096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23622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4191000" y="48006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6705600" y="3048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6248400" y="41148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91" name="Freeform 90"/>
          <p:cNvSpPr/>
          <p:nvPr/>
        </p:nvSpPr>
        <p:spPr>
          <a:xfrm>
            <a:off x="1064110" y="3266204"/>
            <a:ext cx="5565290" cy="1610596"/>
          </a:xfrm>
          <a:custGeom>
            <a:avLst/>
            <a:gdLst>
              <a:gd name="connsiteX0" fmla="*/ 0 w 5565290"/>
              <a:gd name="connsiteY0" fmla="*/ 11246 h 1610596"/>
              <a:gd name="connsiteX1" fmla="*/ 564396 w 5565290"/>
              <a:gd name="connsiteY1" fmla="*/ 42605 h 1610596"/>
              <a:gd name="connsiteX2" fmla="*/ 1285569 w 5565290"/>
              <a:gd name="connsiteY2" fmla="*/ 356204 h 1610596"/>
              <a:gd name="connsiteX3" fmla="*/ 2194874 w 5565290"/>
              <a:gd name="connsiteY3" fmla="*/ 356204 h 1610596"/>
              <a:gd name="connsiteX4" fmla="*/ 2257584 w 5565290"/>
              <a:gd name="connsiteY4" fmla="*/ 936360 h 1610596"/>
              <a:gd name="connsiteX5" fmla="*/ 2931724 w 5565290"/>
              <a:gd name="connsiteY5" fmla="*/ 1281318 h 1610596"/>
              <a:gd name="connsiteX6" fmla="*/ 3652897 w 5565290"/>
              <a:gd name="connsiteY6" fmla="*/ 1030440 h 1610596"/>
              <a:gd name="connsiteX7" fmla="*/ 4734656 w 5565290"/>
              <a:gd name="connsiteY7" fmla="*/ 560042 h 1610596"/>
              <a:gd name="connsiteX8" fmla="*/ 5502862 w 5565290"/>
              <a:gd name="connsiteY8" fmla="*/ 1296998 h 1610596"/>
              <a:gd name="connsiteX9" fmla="*/ 5518539 w 5565290"/>
              <a:gd name="connsiteY9" fmla="*/ 1610596 h 1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65290" h="1610596">
                <a:moveTo>
                  <a:pt x="0" y="11246"/>
                </a:moveTo>
                <a:cubicBezTo>
                  <a:pt x="175067" y="-1821"/>
                  <a:pt x="350135" y="-14888"/>
                  <a:pt x="564396" y="42605"/>
                </a:cubicBezTo>
                <a:cubicBezTo>
                  <a:pt x="778657" y="100098"/>
                  <a:pt x="1013823" y="303938"/>
                  <a:pt x="1285569" y="356204"/>
                </a:cubicBezTo>
                <a:cubicBezTo>
                  <a:pt x="1557315" y="408471"/>
                  <a:pt x="2032872" y="259511"/>
                  <a:pt x="2194874" y="356204"/>
                </a:cubicBezTo>
                <a:cubicBezTo>
                  <a:pt x="2356876" y="452897"/>
                  <a:pt x="2134776" y="782174"/>
                  <a:pt x="2257584" y="936360"/>
                </a:cubicBezTo>
                <a:cubicBezTo>
                  <a:pt x="2380392" y="1090546"/>
                  <a:pt x="2699172" y="1265638"/>
                  <a:pt x="2931724" y="1281318"/>
                </a:cubicBezTo>
                <a:cubicBezTo>
                  <a:pt x="3164276" y="1296998"/>
                  <a:pt x="3352408" y="1150653"/>
                  <a:pt x="3652897" y="1030440"/>
                </a:cubicBezTo>
                <a:cubicBezTo>
                  <a:pt x="3953386" y="910227"/>
                  <a:pt x="4426329" y="515616"/>
                  <a:pt x="4734656" y="560042"/>
                </a:cubicBezTo>
                <a:cubicBezTo>
                  <a:pt x="5042983" y="604468"/>
                  <a:pt x="5372215" y="1121906"/>
                  <a:pt x="5502862" y="1296998"/>
                </a:cubicBezTo>
                <a:cubicBezTo>
                  <a:pt x="5633509" y="1472090"/>
                  <a:pt x="5518539" y="1610596"/>
                  <a:pt x="5518539" y="1610596"/>
                </a:cubicBezTo>
              </a:path>
            </a:pathLst>
          </a:custGeom>
          <a:ln w="3810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762000" y="3810000"/>
            <a:ext cx="2133600" cy="609600"/>
          </a:xfrm>
          <a:prstGeom prst="roundRect">
            <a:avLst/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“Route”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“Path”</a:t>
            </a:r>
          </a:p>
        </p:txBody>
      </p:sp>
      <p:sp>
        <p:nvSpPr>
          <p:cNvPr id="124" name="Rounded Rectangle 123"/>
          <p:cNvSpPr/>
          <p:nvPr/>
        </p:nvSpPr>
        <p:spPr bwMode="auto">
          <a:xfrm>
            <a:off x="1371600" y="5553075"/>
            <a:ext cx="2743200" cy="6096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“Border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3465311"/>
            <a:ext cx="417443" cy="6400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603" y="4478995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cxnSp>
        <p:nvCxnSpPr>
          <p:cNvPr id="101" name="Straight Connector 100"/>
          <p:cNvCxnSpPr>
            <a:stCxn id="31" idx="3"/>
          </p:cNvCxnSpPr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8539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  <p:bldP spid="123" grpId="0" animBg="1"/>
      <p:bldP spid="123" grpId="1" animBg="1"/>
      <p:bldP spid="125" grpId="0" animBg="1"/>
      <p:bldP spid="125" grpId="1" animBg="1"/>
      <p:bldP spid="3" grpId="0" animBg="1"/>
      <p:bldP spid="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91" grpId="0" animBg="1"/>
      <p:bldP spid="92" grpId="0" animBg="1"/>
      <p:bldP spid="124" grpId="0" animBg="1"/>
      <p:bldP spid="1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3" name="Group 37"/>
          <p:cNvGrpSpPr>
            <a:grpSpLocks noChangeAspect="1"/>
          </p:cNvGrpSpPr>
          <p:nvPr/>
        </p:nvGrpSpPr>
        <p:grpSpPr bwMode="auto">
          <a:xfrm>
            <a:off x="254868" y="2438832"/>
            <a:ext cx="914400" cy="240632"/>
            <a:chOff x="885372" y="3276600"/>
            <a:chExt cx="1172028" cy="228600"/>
          </a:xfrm>
        </p:grpSpPr>
        <p:sp>
          <p:nvSpPr>
            <p:cNvPr id="104" name="Rectangle 103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108" name="Cube 107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0" name="Cube 109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2" name="Cube 111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3" name="Cube 112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4" name="Cube 113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5" name="Cube 114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bg2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7" name="Cube 116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bg2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8" name="Cube 117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9" name="Cube 11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0" name="Cube 119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Straight Connector 121"/>
          <p:cNvCxnSpPr>
            <a:endCxn id="132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>
            <a:stCxn id="132" idx="5"/>
            <a:endCxn id="131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Straight Connector 126"/>
          <p:cNvCxnSpPr>
            <a:stCxn id="131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8" name="Straight Connector 127"/>
          <p:cNvCxnSpPr/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9" name="Straight Connector 128"/>
          <p:cNvCxnSpPr>
            <a:endCxn id="137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Straight Connector 129"/>
          <p:cNvCxnSpPr>
            <a:stCxn id="135" idx="2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/>
          <p:cNvCxnSpPr>
            <a:stCxn id="136" idx="4"/>
            <a:endCxn id="137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>
            <a:stCxn id="136" idx="0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/>
          <p:cNvCxnSpPr>
            <a:stCxn id="138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/>
          <p:cNvCxnSpPr>
            <a:stCxn id="138" idx="3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Straight Connector 134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6" name="Picture 13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37" name="Picture 13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40" name="Straight Connector 139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8224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L 0.10538 0.00162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38 0.00162 L 0.28143 0.0921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02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143 0.09213 L 0.36372 0.21551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/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07" name="Straight Connector 106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579309" y="3918284"/>
            <a:ext cx="914400" cy="240632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79979" y="42882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8853" y="43074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3354" y="535273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1845" y="5181600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0317"/>
              </p:ext>
            </p:extLst>
          </p:nvPr>
        </p:nvGraphicFramePr>
        <p:xfrm>
          <a:off x="6043961" y="1819275"/>
          <a:ext cx="2743200" cy="1716087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Destination 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4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328124" y="1439862"/>
            <a:ext cx="2154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Forwarding Table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891561" y="2886075"/>
            <a:ext cx="2971800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5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19289 -0.0868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89 -0.08681 L 0.34184 -0.0222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39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84 -0.02222 L 0.34184 0.1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7" grpId="0" animBg="1"/>
      <p:bldP spid="7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Locally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dirty="0"/>
              <a:t>irecting a packet to the correct interface so that it progresses to its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Local</a:t>
            </a:r>
            <a:r>
              <a:rPr lang="en-US" altLang="zh-CN" dirty="0">
                <a:solidFill>
                  <a:srgbClr val="0000FF"/>
                </a:solidFill>
              </a:rPr>
              <a:t>!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Read </a:t>
            </a:r>
            <a:r>
              <a:rPr lang="en-US" altLang="zh-CN" dirty="0" err="1"/>
              <a:t>dest</a:t>
            </a:r>
            <a:r>
              <a:rPr lang="zh-CN" altLang="en-US" dirty="0"/>
              <a:t> </a:t>
            </a:r>
            <a:r>
              <a:rPr lang="en-US" dirty="0"/>
              <a:t>address from packet header</a:t>
            </a:r>
          </a:p>
          <a:p>
            <a:pPr lvl="1"/>
            <a:r>
              <a:rPr lang="en-US" dirty="0"/>
              <a:t>Search forwarding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network-wide </a:t>
            </a:r>
            <a:r>
              <a:rPr lang="en-US" i="1" dirty="0"/>
              <a:t>forwarding tables</a:t>
            </a:r>
            <a:r>
              <a:rPr lang="en-US" dirty="0"/>
              <a:t> to enable end-to-end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Global</a:t>
            </a:r>
            <a:r>
              <a:rPr lang="en-US" altLang="zh-CN" dirty="0">
                <a:solidFill>
                  <a:srgbClr val="0000FF"/>
                </a:solidFill>
              </a:rPr>
              <a:t>!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Using different routing protocols</a:t>
            </a:r>
          </a:p>
          <a:p>
            <a:r>
              <a:rPr lang="en-US" altLang="zh-CN" dirty="0"/>
              <a:t>Forwarding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“routing</a:t>
            </a:r>
            <a:r>
              <a:rPr lang="zh-CN" altLang="en-US" dirty="0"/>
              <a:t> </a:t>
            </a:r>
            <a:r>
              <a:rPr lang="en-US" altLang="zh-CN" dirty="0"/>
              <a:t>tables”</a:t>
            </a:r>
          </a:p>
          <a:p>
            <a:pPr lvl="1"/>
            <a:r>
              <a:rPr lang="en-US" altLang="zh-CN" dirty="0"/>
              <a:t>…I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know,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networking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strong</a:t>
            </a:r>
            <a:r>
              <a:rPr lang="zh-CN" altLang="en-US" dirty="0"/>
              <a:t> </a:t>
            </a:r>
            <a:r>
              <a:rPr lang="en-US" altLang="zh-CN" dirty="0"/>
              <a:t>tendency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abuse</a:t>
            </a:r>
            <a:r>
              <a:rPr lang="zh-CN" altLang="en-US" dirty="0"/>
              <a:t> </a:t>
            </a:r>
            <a:r>
              <a:rPr lang="en-US" altLang="zh-CN"/>
              <a:t>terms…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6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vs. routing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Forwarding: “</a:t>
            </a:r>
            <a:r>
              <a:rPr lang="en-US" dirty="0">
                <a:solidFill>
                  <a:srgbClr val="0000FF"/>
                </a:solidFill>
              </a:rPr>
              <a:t>data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Directing one data packet</a:t>
            </a:r>
          </a:p>
          <a:p>
            <a:pPr lvl="1"/>
            <a:r>
              <a:rPr lang="en-US" dirty="0"/>
              <a:t>Each router using local routing state</a:t>
            </a:r>
          </a:p>
          <a:p>
            <a:r>
              <a:rPr lang="en-US" dirty="0"/>
              <a:t>Routing: “</a:t>
            </a:r>
            <a:r>
              <a:rPr lang="en-US" dirty="0">
                <a:solidFill>
                  <a:srgbClr val="0000FF"/>
                </a:solidFill>
              </a:rPr>
              <a:t>control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Computing the forwarding tables that guide packets</a:t>
            </a:r>
          </a:p>
          <a:p>
            <a:pPr lvl="1"/>
            <a:r>
              <a:rPr lang="en-US" dirty="0"/>
              <a:t>Jointly computed by routers using a distributed algorithm</a:t>
            </a:r>
          </a:p>
          <a:p>
            <a:endParaRPr lang="en-US" dirty="0"/>
          </a:p>
          <a:p>
            <a:r>
              <a:rPr lang="en-US" altLang="zh-CN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ifferent timescales!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1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IP layer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2: </a:t>
            </a:r>
            <a:br>
              <a:rPr lang="en-US" dirty="0"/>
            </a:br>
            <a:r>
              <a:rPr lang="en-US" dirty="0"/>
              <a:t>Layer encapsulation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F213D-38F7-B545-8167-35D3C78C26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4220277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 animBg="1"/>
      <p:bldP spid="59436" grpId="0" animBg="1"/>
      <p:bldP spid="46084" grpId="0" animBg="1"/>
      <p:bldP spid="46085" grpId="0" animBg="1"/>
      <p:bldP spid="46086" grpId="0"/>
      <p:bldP spid="46087" grpId="0"/>
      <p:bldP spid="46091" grpId="0" animBg="1"/>
      <p:bldP spid="46092" grpId="0" animBg="1"/>
      <p:bldP spid="46094" grpId="0" animBg="1"/>
      <p:bldP spid="46095" grpId="0" animBg="1"/>
      <p:bldP spid="46096" grpId="0" animBg="1"/>
      <p:bldP spid="46097" grpId="0" animBg="1"/>
      <p:bldP spid="46099" grpId="0"/>
      <p:bldP spid="46100" grpId="0"/>
      <p:bldP spid="46101" grpId="0"/>
      <p:bldP spid="46103" grpId="0" animBg="1"/>
      <p:bldP spid="46104" grpId="0" animBg="1"/>
      <p:bldP spid="46106" grpId="0" animBg="1"/>
      <p:bldP spid="46129" grpId="0"/>
      <p:bldP spid="46130" grpId="0"/>
      <p:bldP spid="46131" grpId="0"/>
      <p:bldP spid="46132" grpId="0"/>
      <p:bldP spid="46133" grpId="0" animBg="1"/>
      <p:bldP spid="46134" grpId="0" animBg="1"/>
      <p:bldP spid="46135" grpId="0"/>
      <p:bldP spid="46136" grpId="0"/>
      <p:bldP spid="46137" grpId="0" animBg="1"/>
      <p:bldP spid="46138" grpId="0" animBg="1"/>
      <p:bldP spid="46139" grpId="0" animBg="1"/>
      <p:bldP spid="46139" grpId="1" animBg="1"/>
      <p:bldP spid="46140" grpId="0" animBg="1"/>
      <p:bldP spid="46141" grpId="0" animBg="1"/>
      <p:bldP spid="461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047054"/>
            <a:ext cx="7924800" cy="1972746"/>
          </a:xfrm>
        </p:spPr>
        <p:txBody>
          <a:bodyPr/>
          <a:lstStyle/>
          <a:p>
            <a:r>
              <a:rPr lang="en-US" dirty="0"/>
              <a:t>IP packet contains a header and payload</a:t>
            </a:r>
          </a:p>
          <a:p>
            <a:pPr lvl="1"/>
            <a:r>
              <a:rPr lang="en-US" dirty="0"/>
              <a:t>Payload is opaque to the network</a:t>
            </a:r>
          </a:p>
          <a:p>
            <a:pPr lvl="1"/>
            <a:r>
              <a:rPr lang="en-US" dirty="0"/>
              <a:t>Header is what we care about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First end-to-end layer (going bottom-up)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946690" y="2448580"/>
            <a:ext cx="5901910" cy="838200"/>
            <a:chOff x="1828800" y="1898664"/>
            <a:chExt cx="5901910" cy="2162025"/>
          </a:xfrm>
        </p:grpSpPr>
        <p:sp>
          <p:nvSpPr>
            <p:cNvPr id="11" name="Rectangle 10"/>
            <p:cNvSpPr/>
            <p:nvPr/>
          </p:nvSpPr>
          <p:spPr>
            <a:xfrm>
              <a:off x="1898771" y="1898664"/>
              <a:ext cx="1615188" cy="215757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13959" y="1898664"/>
              <a:ext cx="4216751" cy="215757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28800" y="2265502"/>
              <a:ext cx="1752600" cy="1190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IP header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38476" y="2265502"/>
              <a:ext cx="3711234" cy="119080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IP payload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3304357" y="1898664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062197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783058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503919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224780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3470690" y="321058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ea typeface="Arial" charset="0"/>
                <a:cs typeface="Arial" charset="0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87302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the IP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IP header as an interface</a:t>
            </a:r>
          </a:p>
          <a:p>
            <a:pPr lvl="1"/>
            <a:r>
              <a:rPr lang="en-US" dirty="0"/>
              <a:t>Between the source and destination end-systems</a:t>
            </a:r>
          </a:p>
          <a:p>
            <a:pPr lvl="1"/>
            <a:r>
              <a:rPr lang="en-US" dirty="0"/>
              <a:t>Between the source and network (routers)</a:t>
            </a:r>
          </a:p>
          <a:p>
            <a:r>
              <a:rPr lang="en-US" dirty="0"/>
              <a:t>Designing an interface</a:t>
            </a:r>
          </a:p>
          <a:p>
            <a:pPr lvl="1"/>
            <a:r>
              <a:rPr lang="en-US" dirty="0"/>
              <a:t>What task(s) are we trying to accomplish?</a:t>
            </a:r>
          </a:p>
          <a:p>
            <a:pPr lvl="1"/>
            <a:r>
              <a:rPr lang="en-US" dirty="0"/>
              <a:t>What information is needed to do it?</a:t>
            </a:r>
          </a:p>
          <a:p>
            <a:r>
              <a:rPr lang="en-US" dirty="0"/>
              <a:t>Header reflects information needed for basic tasks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these tasks? (in network)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r>
              <a:rPr lang="en-US" dirty="0"/>
              <a:t>Carry packet to the destination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Corruption</a:t>
            </a:r>
          </a:p>
          <a:p>
            <a:pPr lvl="1"/>
            <a:r>
              <a:rPr lang="en-US" dirty="0"/>
              <a:t>Packet too large</a:t>
            </a:r>
          </a:p>
          <a:p>
            <a:r>
              <a:rPr lang="en-US" dirty="0"/>
              <a:t>Accommodate evolution</a:t>
            </a:r>
          </a:p>
          <a:p>
            <a:r>
              <a:rPr lang="en-US" dirty="0"/>
              <a:t>Specify any special handling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2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r>
              <a:rPr lang="en-US" dirty="0"/>
              <a:t>Carry packet to the destination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Corruption</a:t>
            </a:r>
          </a:p>
          <a:p>
            <a:pPr lvl="1"/>
            <a:r>
              <a:rPr lang="en-US" dirty="0"/>
              <a:t>Packet too large</a:t>
            </a:r>
          </a:p>
          <a:p>
            <a:r>
              <a:rPr lang="en-US" dirty="0"/>
              <a:t>Accommodate evolution</a:t>
            </a:r>
          </a:p>
          <a:p>
            <a:r>
              <a:rPr lang="en-US" dirty="0"/>
              <a:t>Specify any special handling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6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</a:t>
            </a:r>
          </a:p>
          <a:p>
            <a:pPr lvl="1"/>
            <a:r>
              <a:rPr lang="en-US" dirty="0"/>
              <a:t>Corruption:</a:t>
            </a:r>
          </a:p>
          <a:p>
            <a:pPr lvl="1"/>
            <a:r>
              <a:rPr lang="en-US" dirty="0"/>
              <a:t>Packet too large: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 </a:t>
            </a:r>
            <a:r>
              <a:rPr lang="en-US" dirty="0">
                <a:solidFill>
                  <a:srgbClr val="0000FF"/>
                </a:solidFill>
              </a:rPr>
              <a:t>TTL (8 bits)</a:t>
            </a:r>
          </a:p>
          <a:p>
            <a:pPr lvl="1"/>
            <a:r>
              <a:rPr lang="en-US" dirty="0"/>
              <a:t>Corruption: </a:t>
            </a:r>
            <a:r>
              <a:rPr lang="en-US" dirty="0">
                <a:solidFill>
                  <a:srgbClr val="0000FF"/>
                </a:solidFill>
              </a:rPr>
              <a:t>checksum (16 bits)</a:t>
            </a:r>
          </a:p>
          <a:p>
            <a:pPr lvl="1"/>
            <a:r>
              <a:rPr lang="en-US" dirty="0"/>
              <a:t>Packet too large: </a:t>
            </a:r>
            <a:r>
              <a:rPr lang="en-US" dirty="0">
                <a:solidFill>
                  <a:srgbClr val="0000FF"/>
                </a:solidFill>
              </a:rPr>
              <a:t>fragmentation fields (32 bits)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6578F2-1B22-5DCB-A0BD-58A2763AFD8F}"/>
                  </a:ext>
                </a:extLst>
              </p14:cNvPr>
              <p14:cNvContentPartPr/>
              <p14:nvPr/>
            </p14:nvContentPartPr>
            <p14:xfrm>
              <a:off x="4132080" y="4041720"/>
              <a:ext cx="2358000" cy="390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6578F2-1B22-5DCB-A0BD-58A2763AFD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2720" y="4032360"/>
                <a:ext cx="2376720" cy="4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2300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loops (TTL)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 loops cause packets to cycle for a long time</a:t>
            </a:r>
          </a:p>
          <a:p>
            <a:pPr lvl="1"/>
            <a:r>
              <a:rPr lang="en-US" dirty="0"/>
              <a:t>Left unchecked would accumulate to consume all capacity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Time-to-Live (TTL) Field  (8 bits)</a:t>
            </a:r>
          </a:p>
          <a:p>
            <a:pPr lvl="1"/>
            <a:r>
              <a:rPr lang="en-US" dirty="0"/>
              <a:t>Decremented at each hop; packet discarded if 0</a:t>
            </a:r>
          </a:p>
          <a:p>
            <a:pPr lvl="2"/>
            <a:r>
              <a:rPr lang="ja-JP" altLang="en-US" dirty="0"/>
              <a:t>“</a:t>
            </a:r>
            <a:r>
              <a:rPr lang="en-US" altLang="ja-JP" dirty="0"/>
              <a:t>Time exceeded</a:t>
            </a:r>
            <a:r>
              <a:rPr lang="ja-JP" altLang="en-US" dirty="0"/>
              <a:t>”</a:t>
            </a:r>
            <a:r>
              <a:rPr lang="en-US" altLang="ja-JP" dirty="0"/>
              <a:t> message is sent to the source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965636" name="Picture 4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5637" name="Picture 5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463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5638" name="Picture 6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075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5639" name="Line 7"/>
          <p:cNvSpPr>
            <a:spLocks noChangeShapeType="1"/>
          </p:cNvSpPr>
          <p:nvPr/>
        </p:nvSpPr>
        <p:spPr bwMode="auto">
          <a:xfrm>
            <a:off x="885825" y="3843337"/>
            <a:ext cx="1228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0" name="Line 8"/>
          <p:cNvSpPr>
            <a:spLocks noChangeShapeType="1"/>
          </p:cNvSpPr>
          <p:nvPr/>
        </p:nvSpPr>
        <p:spPr bwMode="auto">
          <a:xfrm>
            <a:off x="2574925" y="3843337"/>
            <a:ext cx="1882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1" name="Line 9"/>
          <p:cNvSpPr>
            <a:spLocks noChangeShapeType="1"/>
          </p:cNvSpPr>
          <p:nvPr/>
        </p:nvSpPr>
        <p:spPr bwMode="auto">
          <a:xfrm flipV="1">
            <a:off x="4840288" y="3843337"/>
            <a:ext cx="17684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2" name="Line 10"/>
          <p:cNvSpPr>
            <a:spLocks noChangeShapeType="1"/>
          </p:cNvSpPr>
          <p:nvPr/>
        </p:nvSpPr>
        <p:spPr bwMode="auto">
          <a:xfrm>
            <a:off x="7069138" y="3843337"/>
            <a:ext cx="1228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3" name="Freeform 11"/>
          <p:cNvSpPr>
            <a:spLocks/>
          </p:cNvSpPr>
          <p:nvPr/>
        </p:nvSpPr>
        <p:spPr bwMode="auto">
          <a:xfrm>
            <a:off x="923925" y="4179887"/>
            <a:ext cx="3973513" cy="620713"/>
          </a:xfrm>
          <a:custGeom>
            <a:avLst/>
            <a:gdLst>
              <a:gd name="T0" fmla="*/ 0 w 2503"/>
              <a:gd name="T1" fmla="*/ 60483799 h 391"/>
              <a:gd name="T2" fmla="*/ 2147483647 w 2503"/>
              <a:gd name="T3" fmla="*/ 120967597 h 391"/>
              <a:gd name="T4" fmla="*/ 2147483647 w 2503"/>
              <a:gd name="T5" fmla="*/ 791329700 h 391"/>
              <a:gd name="T6" fmla="*/ 2147483647 w 2503"/>
              <a:gd name="T7" fmla="*/ 914818249 h 391"/>
              <a:gd name="T8" fmla="*/ 2147483647 w 2503"/>
              <a:gd name="T9" fmla="*/ 365423744 h 391"/>
              <a:gd name="T10" fmla="*/ 2147483647 w 2503"/>
              <a:gd name="T11" fmla="*/ 365423744 h 39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03"/>
              <a:gd name="T19" fmla="*/ 0 h 391"/>
              <a:gd name="T20" fmla="*/ 2503 w 2503"/>
              <a:gd name="T21" fmla="*/ 391 h 39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03" h="391">
                <a:moveTo>
                  <a:pt x="0" y="24"/>
                </a:moveTo>
                <a:cubicBezTo>
                  <a:pt x="925" y="12"/>
                  <a:pt x="1851" y="0"/>
                  <a:pt x="2177" y="48"/>
                </a:cubicBezTo>
                <a:cubicBezTo>
                  <a:pt x="2503" y="96"/>
                  <a:pt x="2132" y="262"/>
                  <a:pt x="1959" y="314"/>
                </a:cubicBezTo>
                <a:cubicBezTo>
                  <a:pt x="1786" y="366"/>
                  <a:pt x="1274" y="391"/>
                  <a:pt x="1137" y="363"/>
                </a:cubicBezTo>
                <a:cubicBezTo>
                  <a:pt x="1000" y="335"/>
                  <a:pt x="1056" y="181"/>
                  <a:pt x="1137" y="145"/>
                </a:cubicBezTo>
                <a:cubicBezTo>
                  <a:pt x="1218" y="109"/>
                  <a:pt x="1419" y="127"/>
                  <a:pt x="1621" y="145"/>
                </a:cubicBezTo>
              </a:path>
            </a:pathLst>
          </a:custGeom>
          <a:noFill/>
          <a:ln w="63500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4" name="Line 12"/>
          <p:cNvSpPr>
            <a:spLocks noChangeShapeType="1"/>
          </p:cNvSpPr>
          <p:nvPr/>
        </p:nvSpPr>
        <p:spPr bwMode="auto">
          <a:xfrm>
            <a:off x="2228850" y="3505200"/>
            <a:ext cx="1036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5" name="Line 13"/>
          <p:cNvSpPr>
            <a:spLocks noChangeShapeType="1"/>
          </p:cNvSpPr>
          <p:nvPr/>
        </p:nvSpPr>
        <p:spPr bwMode="auto">
          <a:xfrm flipH="1">
            <a:off x="3611563" y="3505200"/>
            <a:ext cx="1036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  <p:bldP spid="965639" grpId="0" animBg="1"/>
      <p:bldP spid="965640" grpId="0" animBg="1"/>
      <p:bldP spid="965641" grpId="0" animBg="1"/>
      <p:bldP spid="965642" grpId="0" animBg="1"/>
      <p:bldP spid="965643" grpId="0" animBg="1"/>
      <p:bldP spid="965644" grpId="0" animBg="1"/>
      <p:bldP spid="9656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corruption (Checksum)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 (16 bits)</a:t>
            </a:r>
          </a:p>
          <a:p>
            <a:pPr lvl="1"/>
            <a:r>
              <a:rPr lang="en-US" dirty="0"/>
              <a:t>Particular form of checksum over packet header</a:t>
            </a:r>
          </a:p>
          <a:p>
            <a:r>
              <a:rPr lang="en-US" dirty="0"/>
              <a:t>If not correct, router discards packets</a:t>
            </a:r>
          </a:p>
          <a:p>
            <a:pPr lvl="1"/>
            <a:r>
              <a:rPr lang="en-US" dirty="0"/>
              <a:t>So it doesn’t act on bogus information</a:t>
            </a:r>
          </a:p>
          <a:p>
            <a:r>
              <a:rPr lang="en-US" dirty="0"/>
              <a:t>Checksum recalculated at every router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8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ABB5-FA49-2A7B-C337-2E08B6DD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Aside:</a:t>
            </a:r>
            <a:r>
              <a:rPr lang="zh-CN" altLang="en-US" dirty="0"/>
              <a:t> </a:t>
            </a:r>
            <a:r>
              <a:rPr lang="en-US" altLang="zh-CN" dirty="0"/>
              <a:t>Checksum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diff</a:t>
            </a:r>
            <a:r>
              <a:rPr lang="zh-CN" altLang="en-US" dirty="0"/>
              <a:t> </a:t>
            </a:r>
            <a:r>
              <a:rPr lang="en-US" altLang="zh-CN" dirty="0"/>
              <a:t>layers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7CEB-4ACF-5DB0-B384-537AE07D1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295400"/>
          </a:xfrm>
        </p:spPr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checksum,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header,</a:t>
            </a:r>
            <a:r>
              <a:rPr lang="zh-CN" altLang="en-US" dirty="0"/>
              <a:t> </a:t>
            </a:r>
            <a:r>
              <a:rPr lang="en-US" altLang="zh-CN" dirty="0"/>
              <a:t>payload,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pseudo</a:t>
            </a:r>
            <a:r>
              <a:rPr lang="zh-CN" altLang="en-US" dirty="0"/>
              <a:t> </a:t>
            </a:r>
            <a:r>
              <a:rPr lang="en-US" altLang="zh-CN" dirty="0"/>
              <a:t>header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IPv4</a:t>
            </a:r>
            <a:endParaRPr lang="en-US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E4180C75-9F8B-BBA6-E60C-C13008468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667000"/>
            <a:ext cx="4533900" cy="24765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FBCE01-E793-46BF-C3E2-AD697948EBA8}"/>
              </a:ext>
            </a:extLst>
          </p:cNvPr>
          <p:cNvSpPr txBox="1">
            <a:spLocks/>
          </p:cNvSpPr>
          <p:nvPr/>
        </p:nvSpPr>
        <p:spPr bwMode="auto">
          <a:xfrm>
            <a:off x="685800" y="5257800"/>
            <a:ext cx="79248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Ø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altLang="zh-CN" b="0" kern="0" dirty="0"/>
              <a:t>UDP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has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same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checksum,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optional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with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IPv4,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mandatory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with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IPv6</a:t>
            </a:r>
            <a:endParaRPr lang="en-US" b="0" kern="0" dirty="0"/>
          </a:p>
        </p:txBody>
      </p:sp>
    </p:spTree>
    <p:extLst>
      <p:ext uri="{BB962C8B-B14F-4D97-AF65-F5344CB8AC3E}">
        <p14:creationId xmlns:p14="http://schemas.microsoft.com/office/powerpoint/2010/main" val="3023389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105B-72A8-8249-17FE-C3A359DE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Aside:</a:t>
            </a:r>
            <a:r>
              <a:rPr lang="zh-CN" altLang="en-US" dirty="0"/>
              <a:t> </a:t>
            </a:r>
            <a:r>
              <a:rPr lang="en-US" altLang="zh-CN" dirty="0"/>
              <a:t>Checksum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diff</a:t>
            </a:r>
            <a:r>
              <a:rPr lang="zh-CN" altLang="en-US" dirty="0"/>
              <a:t> </a:t>
            </a:r>
            <a:r>
              <a:rPr lang="en-US" altLang="zh-CN" dirty="0"/>
              <a:t>layers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8531-3346-F381-1F0F-1313889DA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checksum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layers?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assign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blame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things</a:t>
            </a:r>
            <a:r>
              <a:rPr lang="zh-CN" altLang="en-US" dirty="0"/>
              <a:t> </a:t>
            </a:r>
            <a:r>
              <a:rPr lang="en-US" altLang="zh-CN" dirty="0"/>
              <a:t>go</a:t>
            </a:r>
            <a:r>
              <a:rPr lang="zh-CN" altLang="en-US" dirty="0"/>
              <a:t> </a:t>
            </a:r>
            <a:r>
              <a:rPr lang="en-US" altLang="zh-CN" dirty="0"/>
              <a:t>south</a:t>
            </a:r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 </a:t>
            </a:r>
            <a:r>
              <a:rPr lang="en-US" altLang="zh-CN" dirty="0"/>
              <a:t>checksum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covers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IP</a:t>
            </a:r>
            <a:r>
              <a:rPr lang="zh-CN" altLang="en-US" dirty="0"/>
              <a:t> </a:t>
            </a:r>
            <a:r>
              <a:rPr lang="en-US" altLang="zh-CN" dirty="0"/>
              <a:t>header</a:t>
            </a:r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arguable…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36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 </a:t>
            </a:r>
            <a:endParaRPr lang="en-US" dirty="0"/>
          </a:p>
        </p:txBody>
      </p:sp>
      <p:sp>
        <p:nvSpPr>
          <p:cNvPr id="94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link has a “Maximum Transmission Unit” (MTU)</a:t>
            </a:r>
          </a:p>
          <a:p>
            <a:pPr lvl="1"/>
            <a:r>
              <a:rPr lang="en-US" dirty="0"/>
              <a:t>Largest number of bits it can carry as one unit</a:t>
            </a:r>
          </a:p>
          <a:p>
            <a:r>
              <a:rPr lang="en-US" dirty="0"/>
              <a:t>A router can split a packet into multiple “</a:t>
            </a:r>
            <a:r>
              <a:rPr lang="en-US" altLang="ja-JP" dirty="0"/>
              <a:t>fragments</a:t>
            </a:r>
            <a:r>
              <a:rPr lang="ja-JP" altLang="en-US" dirty="0"/>
              <a:t>”</a:t>
            </a:r>
            <a:r>
              <a:rPr lang="en-US" altLang="ja-JP" dirty="0"/>
              <a:t> if the packet size exceeds the link’s MTU</a:t>
            </a:r>
          </a:p>
          <a:p>
            <a:r>
              <a:rPr lang="en-US" dirty="0"/>
              <a:t>Must reassemble to recover original packet</a:t>
            </a:r>
          </a:p>
          <a:p>
            <a:r>
              <a:rPr lang="en-US" dirty="0"/>
              <a:t>Will return to fragmentation later …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TTL (8 bits), checksum (16 bits), frag. (32 bits)</a:t>
            </a:r>
          </a:p>
          <a:p>
            <a:r>
              <a:rPr lang="en-US" dirty="0"/>
              <a:t>Accommodate evolution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Version number (4 bits) (+ fields for special handling) </a:t>
            </a:r>
          </a:p>
          <a:p>
            <a:r>
              <a:rPr lang="en-US" dirty="0"/>
              <a:t>Specify any special handling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3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handling</a:t>
            </a:r>
            <a:endParaRPr lang="en-US" dirty="0"/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“Type of Service” (8 bits) </a:t>
            </a:r>
          </a:p>
          <a:p>
            <a:pPr lvl="1"/>
            <a:r>
              <a:rPr lang="en-US" dirty="0"/>
              <a:t>Allow packets to be treated differently based on needs</a:t>
            </a:r>
          </a:p>
          <a:p>
            <a:pPr lvl="2"/>
            <a:r>
              <a:rPr lang="en-US" dirty="0"/>
              <a:t>e.g., indicate priority, congestion notification</a:t>
            </a:r>
          </a:p>
          <a:p>
            <a:pPr lvl="1"/>
            <a:r>
              <a:rPr lang="en-US" dirty="0"/>
              <a:t>Has been redefined several times</a:t>
            </a:r>
          </a:p>
          <a:p>
            <a:pPr lvl="1"/>
            <a:r>
              <a:rPr lang="en-US" dirty="0"/>
              <a:t>Now called “Differentiated Services Code Point (DSCP)”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2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directives to the network</a:t>
            </a:r>
          </a:p>
          <a:p>
            <a:pPr lvl="1"/>
            <a:r>
              <a:rPr lang="en-US" dirty="0"/>
              <a:t>Not used very often</a:t>
            </a:r>
          </a:p>
          <a:p>
            <a:pPr lvl="1"/>
            <a:r>
              <a:rPr lang="en-US" dirty="0"/>
              <a:t>16 bits of metadata + option-specific data</a:t>
            </a:r>
          </a:p>
          <a:p>
            <a:r>
              <a:rPr lang="en-US" dirty="0"/>
              <a:t>Examples of options</a:t>
            </a:r>
          </a:p>
          <a:p>
            <a:pPr lvl="1"/>
            <a:r>
              <a:rPr lang="en-US" dirty="0"/>
              <a:t>Record Route</a:t>
            </a:r>
          </a:p>
          <a:p>
            <a:pPr lvl="1"/>
            <a:r>
              <a:rPr lang="en-US" dirty="0"/>
              <a:t>Strict Source Route</a:t>
            </a:r>
          </a:p>
          <a:p>
            <a:pPr lvl="1"/>
            <a:r>
              <a:rPr lang="en-US" dirty="0"/>
              <a:t>Loose Source Route</a:t>
            </a:r>
          </a:p>
          <a:p>
            <a:pPr lvl="1"/>
            <a:r>
              <a:rPr lang="en-US" dirty="0"/>
              <a:t>Timestamp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TTL (8 bits), checksum (16 bits), frag. (32 bits)</a:t>
            </a:r>
          </a:p>
          <a:p>
            <a:r>
              <a:rPr lang="en-US" dirty="0"/>
              <a:t>Accommodate evolution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Version number (4 bits) (+ fields for special handling) </a:t>
            </a:r>
          </a:p>
          <a:p>
            <a:r>
              <a:rPr lang="en-US" dirty="0"/>
              <a:t>Specify any special handling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ToS (8 bits), Options (variable length)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825082" y="5638800"/>
            <a:ext cx="54864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solidFill>
                  <a:schemeClr val="bg1"/>
                </a:solidFill>
              </a:rPr>
              <a:t>Payload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Parse packet</a:t>
            </a:r>
            <a:endParaRPr lang="en-US" dirty="0"/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Header length (4 bits)</a:t>
            </a:r>
          </a:p>
          <a:p>
            <a:pPr lvl="1"/>
            <a:r>
              <a:rPr lang="en-US"/>
              <a:t>Number of 32-bit words in the header</a:t>
            </a:r>
          </a:p>
          <a:p>
            <a:pPr lvl="1"/>
            <a:r>
              <a:rPr lang="en-US"/>
              <a:t>Typically </a:t>
            </a:r>
            <a:r>
              <a:rPr lang="ja-JP" altLang="en-US"/>
              <a:t>“</a:t>
            </a:r>
            <a:r>
              <a:rPr lang="en-US" altLang="ja-JP"/>
              <a:t>5</a:t>
            </a:r>
            <a:r>
              <a:rPr lang="ja-JP" altLang="en-US"/>
              <a:t>”</a:t>
            </a:r>
            <a:r>
              <a:rPr lang="en-US" altLang="ja-JP"/>
              <a:t> (for a 20-byte IPv4 header)</a:t>
            </a:r>
          </a:p>
          <a:p>
            <a:pPr lvl="1"/>
            <a:r>
              <a:rPr lang="en-US"/>
              <a:t>Can be more when IP options are used</a:t>
            </a:r>
            <a:br>
              <a:rPr lang="en-US"/>
            </a:br>
            <a:endParaRPr lang="en-US"/>
          </a:p>
          <a:p>
            <a:endParaRPr lang="en-US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7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0993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at the destination end-system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destination what to do with the received packet</a:t>
            </a:r>
          </a:p>
          <a:p>
            <a:r>
              <a:rPr lang="en-US" dirty="0"/>
              <a:t>Get responses to the packet back to the source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9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Telling end-host how to handle packet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(8 bits)</a:t>
            </a:r>
          </a:p>
          <a:p>
            <a:pPr lvl="1"/>
            <a:r>
              <a:rPr lang="en-US" dirty="0"/>
              <a:t>Identifies the higher-level protocol</a:t>
            </a:r>
          </a:p>
          <a:p>
            <a:pPr lvl="1"/>
            <a:r>
              <a:rPr lang="en-US" dirty="0"/>
              <a:t>Important for de-multiplexing at receiving host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1066800" y="3500374"/>
            <a:ext cx="0" cy="24384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89" name="Group 88"/>
          <p:cNvGrpSpPr>
            <a:grpSpLocks noChangeAspect="1"/>
          </p:cNvGrpSpPr>
          <p:nvPr/>
        </p:nvGrpSpPr>
        <p:grpSpPr>
          <a:xfrm>
            <a:off x="1447800" y="3200400"/>
            <a:ext cx="6400800" cy="3038348"/>
            <a:chOff x="860745" y="1905000"/>
            <a:chExt cx="8283261" cy="3931920"/>
          </a:xfrm>
        </p:grpSpPr>
        <p:sp>
          <p:nvSpPr>
            <p:cNvPr id="90" name="Rectangle 29"/>
            <p:cNvSpPr>
              <a:spLocks noChangeArrowheads="1"/>
            </p:cNvSpPr>
            <p:nvPr/>
          </p:nvSpPr>
          <p:spPr bwMode="auto">
            <a:xfrm>
              <a:off x="3505200" y="3502343"/>
              <a:ext cx="5638806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3505200" y="2703671"/>
              <a:ext cx="563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2" name="Rectangle 1"/>
            <p:cNvSpPr>
              <a:spLocks noChangeArrowheads="1"/>
            </p:cNvSpPr>
            <p:nvPr/>
          </p:nvSpPr>
          <p:spPr bwMode="auto">
            <a:xfrm>
              <a:off x="3505200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3" name="Rectangle 29"/>
            <p:cNvSpPr>
              <a:spLocks noChangeArrowheads="1"/>
            </p:cNvSpPr>
            <p:nvPr/>
          </p:nvSpPr>
          <p:spPr bwMode="auto">
            <a:xfrm>
              <a:off x="3504807" y="4301014"/>
              <a:ext cx="5638806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4" name="Rectangle 29"/>
            <p:cNvSpPr>
              <a:spLocks noChangeArrowheads="1"/>
            </p:cNvSpPr>
            <p:nvPr/>
          </p:nvSpPr>
          <p:spPr bwMode="auto">
            <a:xfrm>
              <a:off x="3504956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grpSp>
          <p:nvGrpSpPr>
            <p:cNvPr id="95" name="Group 94"/>
            <p:cNvGrpSpPr>
              <a:grpSpLocks/>
            </p:cNvGrpSpPr>
            <p:nvPr/>
          </p:nvGrpSpPr>
          <p:grpSpPr bwMode="auto">
            <a:xfrm>
              <a:off x="1371600" y="2125425"/>
              <a:ext cx="1649412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7" name="Rectangle 126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/>
              <p:cNvSpPr>
                <a:spLocks/>
              </p:cNvSpPr>
              <p:nvPr/>
            </p:nvSpPr>
            <p:spPr bwMode="auto">
              <a:xfrm>
                <a:off x="58" y="16"/>
                <a:ext cx="825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2699" algn="ctr"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Application</a:t>
                </a:r>
              </a:p>
            </p:txBody>
          </p:sp>
        </p:grpSp>
        <p:grpSp>
          <p:nvGrpSpPr>
            <p:cNvPr id="96" name="Group 95"/>
            <p:cNvGrpSpPr>
              <a:grpSpLocks/>
            </p:cNvGrpSpPr>
            <p:nvPr/>
          </p:nvGrpSpPr>
          <p:grpSpPr bwMode="auto">
            <a:xfrm>
              <a:off x="1371600" y="2819400"/>
              <a:ext cx="1649412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5" name="Rectangle 124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/>
              <p:cNvSpPr>
                <a:spLocks/>
              </p:cNvSpPr>
              <p:nvPr/>
            </p:nvSpPr>
            <p:spPr bwMode="auto">
              <a:xfrm>
                <a:off x="110" y="16"/>
                <a:ext cx="716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2699" algn="ctr"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Transport</a:t>
                </a:r>
              </a:p>
            </p:txBody>
          </p:sp>
        </p:grpSp>
        <p:grpSp>
          <p:nvGrpSpPr>
            <p:cNvPr id="97" name="Group 96"/>
            <p:cNvGrpSpPr>
              <a:grpSpLocks/>
            </p:cNvGrpSpPr>
            <p:nvPr/>
          </p:nvGrpSpPr>
          <p:grpSpPr bwMode="auto">
            <a:xfrm>
              <a:off x="1371600" y="3657600"/>
              <a:ext cx="1649413" cy="428625"/>
              <a:chOff x="0" y="0"/>
              <a:chExt cx="943" cy="270"/>
            </a:xfrm>
            <a:solidFill>
              <a:srgbClr val="0000FF"/>
            </a:solidFill>
            <a:effectLst/>
          </p:grpSpPr>
          <p:sp>
            <p:nvSpPr>
              <p:cNvPr id="123" name="Rectangle 122"/>
              <p:cNvSpPr>
                <a:spLocks/>
              </p:cNvSpPr>
              <p:nvPr/>
            </p:nvSpPr>
            <p:spPr bwMode="auto">
              <a:xfrm>
                <a:off x="0" y="0"/>
                <a:ext cx="943" cy="270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/>
              <p:cNvSpPr>
                <a:spLocks/>
              </p:cNvSpPr>
              <p:nvPr/>
            </p:nvSpPr>
            <p:spPr bwMode="auto">
              <a:xfrm>
                <a:off x="158" y="15"/>
                <a:ext cx="628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Network</a:t>
                </a:r>
              </a:p>
            </p:txBody>
          </p:sp>
        </p:grpSp>
        <p:grpSp>
          <p:nvGrpSpPr>
            <p:cNvPr id="98" name="Group 97"/>
            <p:cNvGrpSpPr>
              <a:grpSpLocks/>
            </p:cNvGrpSpPr>
            <p:nvPr/>
          </p:nvGrpSpPr>
          <p:grpSpPr bwMode="auto">
            <a:xfrm>
              <a:off x="1371600" y="4419600"/>
              <a:ext cx="1649413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1" name="Rectangle 120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/>
              <p:cNvSpPr>
                <a:spLocks/>
              </p:cNvSpPr>
              <p:nvPr/>
            </p:nvSpPr>
            <p:spPr bwMode="auto">
              <a:xfrm>
                <a:off x="146" y="16"/>
                <a:ext cx="656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Data link</a:t>
                </a:r>
              </a:p>
            </p:txBody>
          </p:sp>
        </p:grpSp>
        <p:grpSp>
          <p:nvGrpSpPr>
            <p:cNvPr id="99" name="Group 98"/>
            <p:cNvGrpSpPr>
              <a:grpSpLocks/>
            </p:cNvGrpSpPr>
            <p:nvPr/>
          </p:nvGrpSpPr>
          <p:grpSpPr bwMode="auto">
            <a:xfrm>
              <a:off x="1371600" y="5208588"/>
              <a:ext cx="1649413" cy="430212"/>
              <a:chOff x="0" y="0"/>
              <a:chExt cx="943" cy="271"/>
            </a:xfrm>
            <a:solidFill>
              <a:srgbClr val="0000FF"/>
            </a:solidFill>
            <a:effectLst/>
          </p:grpSpPr>
          <p:sp>
            <p:nvSpPr>
              <p:cNvPr id="119" name="Rectangle 118"/>
              <p:cNvSpPr>
                <a:spLocks/>
              </p:cNvSpPr>
              <p:nvPr/>
            </p:nvSpPr>
            <p:spPr bwMode="auto">
              <a:xfrm>
                <a:off x="0" y="0"/>
                <a:ext cx="943" cy="271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/>
              <p:cNvSpPr>
                <a:spLocks/>
              </p:cNvSpPr>
              <p:nvPr/>
            </p:nvSpPr>
            <p:spPr bwMode="auto">
              <a:xfrm>
                <a:off x="152" y="15"/>
                <a:ext cx="642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Physical</a:t>
                </a:r>
              </a:p>
            </p:txBody>
          </p:sp>
        </p:grpSp>
        <p:sp>
          <p:nvSpPr>
            <p:cNvPr id="100" name="TextBox 99"/>
            <p:cNvSpPr txBox="1"/>
            <p:nvPr/>
          </p:nvSpPr>
          <p:spPr>
            <a:xfrm>
              <a:off x="860745" y="2130981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L7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60745" y="2850634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L4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860745" y="3687246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60745" y="4450834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L2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860745" y="5239029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L1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180051" y="2157991"/>
              <a:ext cx="884128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459052" y="2129139"/>
              <a:ext cx="844713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953000" y="2858889"/>
              <a:ext cx="703651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329021" y="2857388"/>
              <a:ext cx="73061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302926" y="3687246"/>
              <a:ext cx="458866" cy="398294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278470" y="4484965"/>
              <a:ext cx="705726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134725" y="4488601"/>
              <a:ext cx="780406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724399" y="4492570"/>
              <a:ext cx="117869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670804" y="5283636"/>
              <a:ext cx="859234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610076" y="5304528"/>
              <a:ext cx="882053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82636" y="5304528"/>
              <a:ext cx="1050084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180843" y="5304528"/>
              <a:ext cx="1023115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824691" y="2141634"/>
              <a:ext cx="703651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699580" y="2135052"/>
              <a:ext cx="73061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27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Telling end-host how to handle packet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(8 bits)</a:t>
            </a:r>
          </a:p>
          <a:p>
            <a:pPr lvl="1"/>
            <a:r>
              <a:rPr lang="en-US" dirty="0"/>
              <a:t>Identifies the higher-level protocol</a:t>
            </a:r>
          </a:p>
          <a:p>
            <a:pPr lvl="1"/>
            <a:r>
              <a:rPr lang="en-US" dirty="0"/>
              <a:t>Important for de-multiplexing at receiving host</a:t>
            </a:r>
          </a:p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Most common examples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E.g., 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6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 for the Transmission Control Protocol (TCP)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E.g., 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17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 for the User Datagram Protocol (UDP)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1768475" y="4202112"/>
            <a:ext cx="5607050" cy="2198688"/>
            <a:chOff x="1806575" y="4343400"/>
            <a:chExt cx="5607050" cy="2427288"/>
          </a:xfrm>
        </p:grpSpPr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1806575" y="4811713"/>
              <a:ext cx="1958975" cy="39687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IP header</a:t>
              </a:r>
            </a:p>
          </p:txBody>
        </p:sp>
        <p:sp>
          <p:nvSpPr>
            <p:cNvPr id="47" name="Text Box 5"/>
            <p:cNvSpPr txBox="1">
              <a:spLocks noChangeArrowheads="1"/>
            </p:cNvSpPr>
            <p:nvPr/>
          </p:nvSpPr>
          <p:spPr bwMode="auto">
            <a:xfrm>
              <a:off x="5378450" y="4811713"/>
              <a:ext cx="2035175" cy="39687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IP header</a:t>
              </a:r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1806575" y="5195888"/>
              <a:ext cx="1957388" cy="44171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TCP header</a:t>
              </a:r>
            </a:p>
          </p:txBody>
        </p:sp>
        <p:sp>
          <p:nvSpPr>
            <p:cNvPr id="49" name="Text Box 7"/>
            <p:cNvSpPr txBox="1">
              <a:spLocks noChangeArrowheads="1"/>
            </p:cNvSpPr>
            <p:nvPr/>
          </p:nvSpPr>
          <p:spPr bwMode="auto">
            <a:xfrm>
              <a:off x="5378450" y="5195888"/>
              <a:ext cx="2033588" cy="39687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UDP header</a:t>
              </a:r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1806575" y="5580063"/>
              <a:ext cx="1958975" cy="11906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5378450" y="5580063"/>
              <a:ext cx="2035175" cy="11906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1949450" y="4343400"/>
              <a:ext cx="170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/>
                <a:t>protocol=6</a:t>
              </a:r>
            </a:p>
          </p:txBody>
        </p:sp>
        <p:sp>
          <p:nvSpPr>
            <p:cNvPr id="53" name="Text Box 11"/>
            <p:cNvSpPr txBox="1">
              <a:spLocks noChangeArrowheads="1"/>
            </p:cNvSpPr>
            <p:nvPr/>
          </p:nvSpPr>
          <p:spPr bwMode="auto">
            <a:xfrm>
              <a:off x="5410200" y="4343400"/>
              <a:ext cx="1860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/>
                <a:t>protocol=17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978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at the destination end-system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destination what to do with the received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protocol (8 bits)</a:t>
            </a:r>
          </a:p>
          <a:p>
            <a:r>
              <a:rPr lang="en-US" dirty="0"/>
              <a:t>Get responses to the packet back to the source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Source IP address (32 bits)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9D5433-CA9D-A309-32EA-C8679B511986}"/>
              </a:ext>
            </a:extLst>
          </p:cNvPr>
          <p:cNvSpPr/>
          <p:nvPr/>
        </p:nvSpPr>
        <p:spPr bwMode="auto">
          <a:xfrm>
            <a:off x="3387182" y="2879035"/>
            <a:ext cx="990600" cy="762000"/>
          </a:xfrm>
          <a:prstGeom prst="ellipse">
            <a:avLst/>
          </a:prstGeom>
          <a:noFill/>
          <a:ln w="12700" cap="flat" cmpd="sng" algn="ctr">
            <a:solidFill>
              <a:srgbClr val="D6009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3DCF4C-C6E7-CE1C-E810-7F405F54CE49}"/>
              </a:ext>
            </a:extLst>
          </p:cNvPr>
          <p:cNvSpPr/>
          <p:nvPr/>
        </p:nvSpPr>
        <p:spPr bwMode="auto">
          <a:xfrm>
            <a:off x="3577682" y="3597965"/>
            <a:ext cx="1984918" cy="762000"/>
          </a:xfrm>
          <a:prstGeom prst="ellipse">
            <a:avLst/>
          </a:prstGeom>
          <a:noFill/>
          <a:ln w="12700" cap="flat" cmpd="sng" algn="ctr">
            <a:solidFill>
              <a:srgbClr val="D6009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fragmentation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fragmentation 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link has a “Maximum Transmission Unit” (MTU)</a:t>
            </a:r>
          </a:p>
          <a:p>
            <a:pPr lvl="1"/>
            <a:r>
              <a:rPr lang="en-US" dirty="0"/>
              <a:t>Largest number of bits it can carry as one unit</a:t>
            </a:r>
          </a:p>
          <a:p>
            <a:r>
              <a:rPr lang="en-US" dirty="0"/>
              <a:t>A router can split a packet into multiple “</a:t>
            </a:r>
            <a:r>
              <a:rPr lang="en-US" altLang="ja-JP" dirty="0"/>
              <a:t>fragments</a:t>
            </a:r>
            <a:r>
              <a:rPr lang="ja-JP" altLang="en-US" dirty="0"/>
              <a:t>”</a:t>
            </a:r>
            <a:r>
              <a:rPr lang="en-US" altLang="ja-JP" dirty="0"/>
              <a:t> if the packet size exceeds the link’s MTU</a:t>
            </a:r>
          </a:p>
          <a:p>
            <a:r>
              <a:rPr lang="en-US" dirty="0"/>
              <a:t>Must reassemble to recover original packet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0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4000</a:t>
            </a:r>
            <a:r>
              <a:rPr lang="en-US" altLang="zh-CN" dirty="0"/>
              <a:t>-</a:t>
            </a:r>
            <a:r>
              <a:rPr lang="en-US" dirty="0"/>
              <a:t>byte packet crosses a link w/ MTU=1500B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709057" y="2723991"/>
            <a:ext cx="5682343" cy="781209"/>
            <a:chOff x="1676400" y="3582895"/>
            <a:chExt cx="5029200" cy="455705"/>
          </a:xfrm>
        </p:grpSpPr>
        <p:sp>
          <p:nvSpPr>
            <p:cNvPr id="7" name="Rounded Rectangle 6"/>
            <p:cNvSpPr/>
            <p:nvPr/>
          </p:nvSpPr>
          <p:spPr bwMode="auto">
            <a:xfrm>
              <a:off x="3048000" y="3733800"/>
              <a:ext cx="457200" cy="304800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endParaRP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4876800" y="3733800"/>
              <a:ext cx="457200" cy="304800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endParaRPr>
            </a:p>
          </p:txBody>
        </p:sp>
        <p:cxnSp>
          <p:nvCxnSpPr>
            <p:cNvPr id="9" name="Straight Connector 8"/>
            <p:cNvCxnSpPr>
              <a:endCxn id="43" idx="1"/>
            </p:cNvCxnSpPr>
            <p:nvPr/>
          </p:nvCxnSpPr>
          <p:spPr bwMode="auto">
            <a:xfrm>
              <a:off x="35052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16764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>
              <a:off x="53340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1812461" y="3582895"/>
              <a:ext cx="686959" cy="19749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Arial" charset="0"/>
                  <a:ea typeface="Arial" charset="0"/>
                  <a:cs typeface="Arial" charset="0"/>
                </a:rPr>
                <a:t>4000B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895801" y="3671850"/>
              <a:ext cx="686959" cy="1974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1500B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26538" y="3638492"/>
              <a:ext cx="345040" cy="1974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…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 bwMode="auto">
            <a:xfrm>
              <a:off x="2591676" y="3771842"/>
              <a:ext cx="381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2303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4000 byte packet crosses a link w/ MTU=1500B</a:t>
            </a:r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40386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3810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38862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3810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35194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40386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44196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44196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44196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3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3200400"/>
            <a:ext cx="1104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IP header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990600" y="35814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58392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604" grpId="0" animBg="1"/>
      <p:bldP spid="151760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reassemble?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22860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21336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17668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22860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26670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26670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26670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1104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IP header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990600" y="18288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914400" y="52578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45" name="Line 4"/>
          <p:cNvSpPr>
            <a:spLocks noChangeShapeType="1"/>
          </p:cNvSpPr>
          <p:nvPr/>
        </p:nvSpPr>
        <p:spPr bwMode="auto">
          <a:xfrm>
            <a:off x="9144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914400" y="5014912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7" name="Line 6"/>
          <p:cNvSpPr>
            <a:spLocks noChangeShapeType="1"/>
          </p:cNvSpPr>
          <p:nvPr/>
        </p:nvSpPr>
        <p:spPr bwMode="auto">
          <a:xfrm>
            <a:off x="78486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9" name="Rectangle 8"/>
          <p:cNvSpPr>
            <a:spLocks noChangeArrowheads="1"/>
          </p:cNvSpPr>
          <p:nvPr/>
        </p:nvSpPr>
        <p:spPr bwMode="auto">
          <a:xfrm>
            <a:off x="1524000" y="52578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50" name="Line 36"/>
          <p:cNvSpPr>
            <a:spLocks noChangeShapeType="1"/>
          </p:cNvSpPr>
          <p:nvPr/>
        </p:nvSpPr>
        <p:spPr bwMode="auto">
          <a:xfrm>
            <a:off x="37338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1" name="Line 37"/>
          <p:cNvSpPr>
            <a:spLocks noChangeShapeType="1"/>
          </p:cNvSpPr>
          <p:nvPr/>
        </p:nvSpPr>
        <p:spPr bwMode="auto">
          <a:xfrm>
            <a:off x="57912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447800" y="22860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914400" y="36576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1524000" y="52578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2057400" y="22860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58" name="Rectangle 3"/>
          <p:cNvSpPr>
            <a:spLocks noChangeArrowheads="1"/>
          </p:cNvSpPr>
          <p:nvPr/>
        </p:nvSpPr>
        <p:spPr bwMode="auto">
          <a:xfrm>
            <a:off x="1524000" y="36576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2133600" y="52578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95" y="5881687"/>
            <a:ext cx="881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  <a:ea typeface="Arial" charset="0"/>
                <a:cs typeface="Arial" charset="0"/>
              </a:rPr>
              <a:t>Must reassemble before sending packet to higher layers!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84EC22D-659A-F849-88BD-EA789B151DE0}"/>
                  </a:ext>
                </a:extLst>
              </p14:cNvPr>
              <p14:cNvContentPartPr/>
              <p14:nvPr/>
            </p14:nvContentPartPr>
            <p14:xfrm>
              <a:off x="7935120" y="2413440"/>
              <a:ext cx="29160" cy="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84EC22D-659A-F849-88BD-EA789B151D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8920" y="2397240"/>
                <a:ext cx="6156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53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571" grpId="0" animBg="1"/>
      <p:bldP spid="68612" grpId="0" animBg="1"/>
      <p:bldP spid="68613" grpId="0" animBg="1"/>
      <p:bldP spid="68614" grpId="0" animBg="1"/>
      <p:bldP spid="68615" grpId="0"/>
      <p:bldP spid="1517576" grpId="0" animBg="1"/>
      <p:bldP spid="1517604" grpId="0" animBg="1"/>
      <p:bldP spid="1517605" grpId="0" animBg="1"/>
      <p:bldP spid="5" grpId="0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few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to reassemble?</a:t>
            </a:r>
          </a:p>
          <a:p>
            <a:r>
              <a:rPr lang="en-US" dirty="0"/>
              <a:t>Fragments can get lost</a:t>
            </a:r>
          </a:p>
          <a:p>
            <a:r>
              <a:rPr lang="en-US" dirty="0"/>
              <a:t>Fragments can follow different paths </a:t>
            </a:r>
          </a:p>
          <a:p>
            <a:r>
              <a:rPr lang="en-US" dirty="0"/>
              <a:t>Fragments can get fragmented again</a:t>
            </a: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Seems</a:t>
            </a:r>
            <a:r>
              <a:rPr lang="zh-CN" altLang="en-US" dirty="0"/>
              <a:t> </a:t>
            </a:r>
            <a:r>
              <a:rPr lang="en-US" altLang="zh-CN" dirty="0"/>
              <a:t>really</a:t>
            </a:r>
            <a:r>
              <a:rPr lang="zh-CN" altLang="en-US" dirty="0"/>
              <a:t> </a:t>
            </a:r>
            <a:r>
              <a:rPr lang="en-US" altLang="zh-CN" dirty="0"/>
              <a:t>messy;</a:t>
            </a:r>
            <a:r>
              <a:rPr lang="zh-CN" altLang="en-US" dirty="0"/>
              <a:t> </a:t>
            </a:r>
            <a:r>
              <a:rPr lang="en-US" altLang="zh-CN" dirty="0"/>
              <a:t>doesn’t</a:t>
            </a:r>
            <a:r>
              <a:rPr lang="zh-CN" altLang="en-US" dirty="0"/>
              <a:t> </a:t>
            </a:r>
            <a:r>
              <a:rPr lang="en-US" altLang="zh-CN" dirty="0"/>
              <a:t>happen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reality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026" name="Picture 2" descr="Sigh Emoji Clipart PNG Images, Sigh Emoji, Boy, Cartoon, Boys PNG Image For  Free Download">
            <a:extLst>
              <a:ext uri="{FF2B5EF4-FFF2-40B4-BE49-F238E27FC236}">
                <a16:creationId xmlns:a16="http://schemas.microsoft.com/office/drawing/2014/main" id="{B1D72404-3CA3-8A89-5159-84C16793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267200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14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should reassembly occur?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Classic case of E2E principle</a:t>
            </a:r>
          </a:p>
          <a:p>
            <a:r>
              <a:rPr lang="en-US" dirty="0"/>
              <a:t>At next-hop router imposes burden on network</a:t>
            </a:r>
          </a:p>
          <a:p>
            <a:pPr lvl="1"/>
            <a:r>
              <a:rPr lang="en-US" dirty="0"/>
              <a:t>Complicated reassembly algorithm</a:t>
            </a:r>
          </a:p>
          <a:p>
            <a:pPr lvl="1"/>
            <a:r>
              <a:rPr lang="en-US" dirty="0"/>
              <a:t>Must hold onto fragments/state</a:t>
            </a:r>
          </a:p>
          <a:p>
            <a:r>
              <a:rPr lang="en-US" dirty="0"/>
              <a:t>Any other router may not work</a:t>
            </a:r>
          </a:p>
          <a:p>
            <a:pPr lvl="1"/>
            <a:r>
              <a:rPr lang="en-US" dirty="0"/>
              <a:t>Fragments may take different paths</a:t>
            </a:r>
          </a:p>
          <a:p>
            <a:r>
              <a:rPr lang="en-US" dirty="0"/>
              <a:t>Little benefit, large cost for network reassembly</a:t>
            </a:r>
          </a:p>
          <a:p>
            <a:r>
              <a:rPr lang="en-US" dirty="0"/>
              <a:t>Hence, reassembly is done at the destination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Reassembly: What fields?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a way to identify fragments of the packet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Introduce an identifier</a:t>
            </a:r>
            <a:endParaRPr lang="en-US" dirty="0"/>
          </a:p>
          <a:p>
            <a:r>
              <a:rPr lang="en-US" dirty="0"/>
              <a:t>Fragments can get lost</a:t>
            </a:r>
          </a:p>
          <a:p>
            <a:pPr lvl="1"/>
            <a:r>
              <a:rPr lang="en-US" dirty="0">
                <a:sym typeface="Wingdings"/>
              </a:rPr>
              <a:t>N</a:t>
            </a:r>
            <a:r>
              <a:rPr lang="en-US" sz="2400" dirty="0">
                <a:sym typeface="Wingdings"/>
              </a:rPr>
              <a:t>eed some form of sequence number or offset</a:t>
            </a:r>
          </a:p>
          <a:p>
            <a:r>
              <a:rPr lang="en-US" dirty="0">
                <a:sym typeface="Wingdings"/>
              </a:rPr>
              <a:t>Sequence numbers / offset</a:t>
            </a:r>
          </a:p>
          <a:p>
            <a:pPr lvl="1"/>
            <a:r>
              <a:rPr lang="en-US" dirty="0">
                <a:sym typeface="Wingdings"/>
              </a:rPr>
              <a:t>How do I know when I have them all? (need max </a:t>
            </a:r>
            <a:r>
              <a:rPr lang="en-US" dirty="0" err="1">
                <a:sym typeface="Wingdings"/>
              </a:rPr>
              <a:t>seq</a:t>
            </a:r>
            <a:r>
              <a:rPr lang="en-US" dirty="0">
                <a:sym typeface="Wingdings"/>
              </a:rPr>
              <a:t># / flag)</a:t>
            </a:r>
          </a:p>
          <a:p>
            <a:pPr lvl="1"/>
            <a:r>
              <a:rPr lang="en-US" dirty="0">
                <a:sym typeface="Wingdings"/>
              </a:rPr>
              <a:t>What if a fragment gets re-fragmented?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IPv4’s fragmentation fields</a:t>
            </a:r>
            <a:endParaRPr lang="en-US" dirty="0"/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Identifier</a:t>
            </a:r>
            <a:r>
              <a:rPr lang="en-US" dirty="0"/>
              <a:t>: which fragments belong together</a:t>
            </a:r>
          </a:p>
          <a:p>
            <a:r>
              <a:rPr lang="en-US" dirty="0">
                <a:solidFill>
                  <a:srgbClr val="0000FF"/>
                </a:solidFill>
              </a:rPr>
              <a:t>Flags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Reserved: ignore</a:t>
            </a:r>
          </a:p>
          <a:p>
            <a:pPr lvl="1"/>
            <a:r>
              <a:rPr lang="en-US" dirty="0"/>
              <a:t>DF: don’t fragment </a:t>
            </a:r>
          </a:p>
          <a:p>
            <a:pPr lvl="2"/>
            <a:r>
              <a:rPr lang="en-US" dirty="0"/>
              <a:t>May trigger error message back to sender</a:t>
            </a:r>
          </a:p>
          <a:p>
            <a:pPr lvl="1"/>
            <a:r>
              <a:rPr lang="en-US" dirty="0"/>
              <a:t>MF: more fragments coming</a:t>
            </a:r>
          </a:p>
          <a:p>
            <a:r>
              <a:rPr lang="en-US" dirty="0">
                <a:solidFill>
                  <a:srgbClr val="0000FF"/>
                </a:solidFill>
              </a:rPr>
              <a:t>Offset</a:t>
            </a:r>
            <a:r>
              <a:rPr lang="en-US" dirty="0"/>
              <a:t>: portion of original payload this fragment contains</a:t>
            </a:r>
          </a:p>
          <a:p>
            <a:pPr lvl="1"/>
            <a:r>
              <a:rPr lang="en-US" dirty="0"/>
              <a:t> In 8-byte units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22098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Identification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5177881" y="2209800"/>
            <a:ext cx="213360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Fragment Offset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2209800"/>
            <a:ext cx="60588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Flags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277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Fragment without MF set (last fragment)</a:t>
            </a:r>
          </a:p>
          <a:p>
            <a:pPr lvl="1"/>
            <a:r>
              <a:rPr lang="en-US" dirty="0"/>
              <a:t>Tells host which are the last bits in original payload</a:t>
            </a:r>
          </a:p>
          <a:p>
            <a:r>
              <a:rPr lang="en-US" dirty="0"/>
              <a:t>All other fragments fill in holes</a:t>
            </a:r>
          </a:p>
          <a:p>
            <a:r>
              <a:rPr lang="en-US" dirty="0"/>
              <a:t>Can tell when holes are filled, regardless of order</a:t>
            </a:r>
          </a:p>
          <a:p>
            <a:pPr lvl="1"/>
            <a:r>
              <a:rPr lang="en-US" dirty="0"/>
              <a:t>Use offset field</a:t>
            </a:r>
          </a:p>
          <a:p>
            <a:r>
              <a:rPr lang="en-US" dirty="0"/>
              <a:t>Q: why use a byte-offset for fragments rather than numbering each fragment?</a:t>
            </a:r>
          </a:p>
          <a:p>
            <a:pPr lvl="1"/>
            <a:r>
              <a:rPr lang="en-US" dirty="0"/>
              <a:t>Allows further fragmentation of fragments 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4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fragmentation (cont.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Packet split into 3 pieces</a:t>
            </a:r>
          </a:p>
          <a:p>
            <a:r>
              <a:rPr lang="en-US"/>
              <a:t>Example: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33528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3124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32004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3124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28336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33528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37338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37338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37338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38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604" grpId="0" animBg="1"/>
      <p:bldP spid="151760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fragmentation </a:t>
            </a:r>
            <a:r>
              <a:rPr lang="en-US" altLang="zh-CN" dirty="0"/>
              <a:t>(</a:t>
            </a:r>
            <a:r>
              <a:rPr lang="en-US" dirty="0"/>
              <a:t>cont</a:t>
            </a:r>
            <a:r>
              <a:rPr lang="en-US" altLang="zh-CN" dirty="0"/>
              <a:t>.)</a:t>
            </a:r>
            <a:endParaRPr lang="en-US" dirty="0"/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4000 byte packet from host 1.2.3.4 to 5.6.7.8 traverses a link with MTU 1,500 bytes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6586" name="Rectangle 26"/>
          <p:cNvSpPr>
            <a:spLocks noChangeArrowheads="1"/>
          </p:cNvSpPr>
          <p:nvPr/>
        </p:nvSpPr>
        <p:spPr bwMode="auto">
          <a:xfrm>
            <a:off x="3128128" y="6282158"/>
            <a:ext cx="350106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sz="1600" dirty="0">
                <a:solidFill>
                  <a:srgbClr val="0000FF"/>
                </a:solidFill>
                <a:latin typeface="Arial" charset="0"/>
              </a:rPr>
              <a:t>(3980 more bytes of payload here)</a:t>
            </a:r>
            <a:endParaRPr lang="en-US" sz="1400" b="0" dirty="0">
              <a:solidFill>
                <a:srgbClr val="0000FF"/>
              </a:solidFill>
              <a:latin typeface="Arial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0" name="Rectangle 29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4000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0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44019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63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054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fragmentation</a:t>
            </a:r>
            <a:r>
              <a:rPr lang="en-US" altLang="zh-CN" dirty="0"/>
              <a:t> (</a:t>
            </a:r>
            <a:r>
              <a:rPr lang="en-US" dirty="0"/>
              <a:t>cont</a:t>
            </a:r>
            <a:r>
              <a:rPr lang="en-US" altLang="zh-CN" dirty="0"/>
              <a:t>.)</a:t>
            </a:r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Datagram split into 3 pieces. Possible first piece: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1500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0</a:t>
              </a: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xxx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63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572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fragmentation</a:t>
            </a:r>
            <a:r>
              <a:rPr lang="en-US" altLang="zh-CN" dirty="0"/>
              <a:t> (</a:t>
            </a:r>
            <a:r>
              <a:rPr lang="en-US" dirty="0"/>
              <a:t>cont</a:t>
            </a:r>
            <a:r>
              <a:rPr lang="en-US" altLang="zh-CN" dirty="0"/>
              <a:t>.)</a:t>
            </a:r>
            <a:endParaRPr 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second piece: Frag#1 covered 1480bytes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0" name="Rectangle 29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1220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185 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(185 * 8 = 1480)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yyy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63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99191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fragmentation</a:t>
            </a:r>
            <a:r>
              <a:rPr lang="en-US" altLang="zh-CN" dirty="0"/>
              <a:t> (</a:t>
            </a:r>
            <a:r>
              <a:rPr lang="en-US" dirty="0"/>
              <a:t>cont</a:t>
            </a:r>
            <a:r>
              <a:rPr lang="en-US" altLang="zh-CN" dirty="0"/>
              <a:t>.)</a:t>
            </a: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Possible third piece: 1480+1200 = 2680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1320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335 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(335 * 8 = 2680)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>
                  <a:solidFill>
                    <a:srgbClr val="FF0000"/>
                  </a:solidFill>
                </a:rPr>
                <a:t>zzz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63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492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look into IPv6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9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IPv6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Motivated (prematurely) by address exhaustion</a:t>
            </a:r>
          </a:p>
          <a:p>
            <a:pPr lvl="1"/>
            <a:r>
              <a:rPr lang="en-US" dirty="0"/>
              <a:t>Addresses four times as big (128-bit)</a:t>
            </a:r>
          </a:p>
          <a:p>
            <a:pPr lvl="1"/>
            <a:r>
              <a:rPr lang="en-US" altLang="zh-CN" dirty="0"/>
              <a:t>340</a:t>
            </a:r>
            <a:r>
              <a:rPr lang="zh-CN" altLang="en-US" dirty="0"/>
              <a:t> </a:t>
            </a:r>
            <a:r>
              <a:rPr lang="en-US" altLang="zh-CN" dirty="0"/>
              <a:t>trillion</a:t>
            </a:r>
            <a:r>
              <a:rPr lang="zh-CN" altLang="en-US" dirty="0"/>
              <a:t> </a:t>
            </a:r>
            <a:r>
              <a:rPr lang="en-US" altLang="zh-CN" dirty="0"/>
              <a:t>trillion</a:t>
            </a:r>
            <a:r>
              <a:rPr lang="zh-CN" altLang="en-US" dirty="0"/>
              <a:t> </a:t>
            </a:r>
            <a:r>
              <a:rPr lang="en-US" altLang="zh-CN" dirty="0"/>
              <a:t>trillion,</a:t>
            </a:r>
            <a:r>
              <a:rPr lang="zh-CN" altLang="en-US" dirty="0"/>
              <a:t> </a:t>
            </a:r>
            <a:r>
              <a:rPr lang="en-HK" b="1" dirty="0">
                <a:latin typeface="Arial" panose="020B0604020202020204" pitchFamily="34" charset="0"/>
                <a:cs typeface="Arial" panose="020B0604020202020204" pitchFamily="34" charset="0"/>
              </a:rPr>
              <a:t>3.4 x 10</a:t>
            </a:r>
            <a:r>
              <a:rPr lang="en-HK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38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/>
              <a:t>unique</a:t>
            </a:r>
            <a:r>
              <a:rPr lang="zh-CN" altLang="en-US" dirty="0"/>
              <a:t> </a:t>
            </a:r>
            <a:r>
              <a:rPr lang="en-US" altLang="zh-CN" dirty="0"/>
              <a:t>addresses</a:t>
            </a:r>
            <a:endParaRPr lang="en-US" dirty="0"/>
          </a:p>
          <a:p>
            <a:r>
              <a:rPr lang="en-US" dirty="0"/>
              <a:t>Focused on simplifying IP</a:t>
            </a:r>
          </a:p>
          <a:p>
            <a:pPr lvl="1"/>
            <a:r>
              <a:rPr lang="en-US" dirty="0"/>
              <a:t>Got rid of all fields that were not necessary</a:t>
            </a:r>
          </a:p>
          <a:p>
            <a:r>
              <a:rPr lang="en-US" dirty="0"/>
              <a:t>Result is an elegant, if unambitious, protocol</a:t>
            </a:r>
          </a:p>
          <a:p>
            <a:pPr lvl="1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8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“clean up” would you do?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4" name="Rectangle 33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1828800" y="22098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Identification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177881" y="2209800"/>
            <a:ext cx="213360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Fragment Offset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4572000" y="2209800"/>
            <a:ext cx="60588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Flags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1825082" y="5638800"/>
            <a:ext cx="54864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solidFill>
                  <a:schemeClr val="bg1"/>
                </a:solidFill>
              </a:rPr>
              <a:t>Payload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92308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IPv4 and IPv6 header comparison</a:t>
            </a:r>
            <a:endParaRPr lang="en-US" dirty="0"/>
          </a:p>
        </p:txBody>
      </p:sp>
      <p:graphicFrame>
        <p:nvGraphicFramePr>
          <p:cNvPr id="348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30286"/>
              </p:ext>
            </p:extLst>
          </p:nvPr>
        </p:nvGraphicFramePr>
        <p:xfrm>
          <a:off x="90488" y="1905000"/>
          <a:ext cx="4557711" cy="3276599"/>
        </p:xfrm>
        <a:graphic>
          <a:graphicData uri="http://schemas.openxmlformats.org/drawingml/2006/table">
            <a:tbl>
              <a:tblPr/>
              <a:tblGrid>
                <a:gridCol w="7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556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IHL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Type of Service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Total Length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56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Identification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Flags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Fragment Offset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Time to Live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Protocol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Header Checksum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5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86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21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Options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Padding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49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93888"/>
              </p:ext>
            </p:extLst>
          </p:nvPr>
        </p:nvGraphicFramePr>
        <p:xfrm>
          <a:off x="4724400" y="1905000"/>
          <a:ext cx="4343400" cy="45720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Traffic Class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Label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688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Payload Length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Next Header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Hop Limit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163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69" name="Rectangle 53"/>
          <p:cNvSpPr>
            <a:spLocks noChangeArrowheads="1"/>
          </p:cNvSpPr>
          <p:nvPr/>
        </p:nvSpPr>
        <p:spPr bwMode="gray">
          <a:xfrm>
            <a:off x="1752600" y="1447800"/>
            <a:ext cx="763588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IPv4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gray">
          <a:xfrm>
            <a:off x="5334000" y="1371600"/>
            <a:ext cx="25146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Arial" charset="0"/>
                <a:cs typeface="Arial" charset="0"/>
              </a:rPr>
              <a:t>IPv6</a:t>
            </a:r>
            <a:endParaRPr lang="en-US" sz="2400" b="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871" name="AutoShape 55"/>
          <p:cNvSpPr>
            <a:spLocks noChangeArrowheads="1"/>
          </p:cNvSpPr>
          <p:nvPr/>
        </p:nvSpPr>
        <p:spPr bwMode="auto">
          <a:xfrm>
            <a:off x="381000" y="53340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2" name="AutoShape 56"/>
          <p:cNvSpPr>
            <a:spLocks noChangeArrowheads="1"/>
          </p:cNvSpPr>
          <p:nvPr/>
        </p:nvSpPr>
        <p:spPr bwMode="auto">
          <a:xfrm>
            <a:off x="381000" y="56642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3" name="AutoShape 57"/>
          <p:cNvSpPr>
            <a:spLocks noChangeArrowheads="1"/>
          </p:cNvSpPr>
          <p:nvPr/>
        </p:nvSpPr>
        <p:spPr bwMode="auto">
          <a:xfrm>
            <a:off x="381000" y="59944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1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4" name="AutoShape 58"/>
          <p:cNvSpPr>
            <a:spLocks noChangeArrowheads="1"/>
          </p:cNvSpPr>
          <p:nvPr/>
        </p:nvSpPr>
        <p:spPr bwMode="auto">
          <a:xfrm>
            <a:off x="381000" y="63246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2218" name="Text Box 59"/>
          <p:cNvSpPr txBox="1">
            <a:spLocks noChangeArrowheads="1"/>
          </p:cNvSpPr>
          <p:nvPr/>
        </p:nvSpPr>
        <p:spPr bwMode="auto">
          <a:xfrm>
            <a:off x="785814" y="5326063"/>
            <a:ext cx="3100386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124" tIns="41061" rIns="82124" bIns="41061" anchorCtr="1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 </a:t>
            </a:r>
            <a:r>
              <a:rPr lang="en-GB" sz="1400" dirty="0">
                <a:latin typeface="Arial" charset="0"/>
              </a:rPr>
              <a:t>name </a:t>
            </a:r>
            <a:r>
              <a:rPr lang="en-US" sz="1400" dirty="0">
                <a:latin typeface="Arial" charset="0"/>
              </a:rPr>
              <a:t>kept from IPv4 to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Fields not kept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Name &amp; position changed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New field in IPv6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564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9" grpId="0"/>
      <p:bldP spid="34870" grpId="0"/>
      <p:bldP spid="34871" grpId="0" animBg="1"/>
      <p:bldP spid="34872" grpId="0" animBg="1"/>
      <p:bldP spid="34873" grpId="0" animBg="1"/>
      <p:bldP spid="34874" grpId="0" animBg="1"/>
      <p:bldP spid="922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60093"/>
                </a:solidFill>
              </a:rPr>
              <a:t>Eliminated</a:t>
            </a:r>
            <a:r>
              <a:rPr lang="en-US" dirty="0"/>
              <a:t> fragmentation (why?)</a:t>
            </a:r>
          </a:p>
          <a:p>
            <a:pPr lvl="1"/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hairy</a:t>
            </a:r>
            <a:r>
              <a:rPr lang="zh-CN" altLang="en-US" dirty="0"/>
              <a:t> </a:t>
            </a:r>
            <a:r>
              <a:rPr lang="en-US" altLang="zh-CN" dirty="0"/>
              <a:t>security</a:t>
            </a:r>
            <a:r>
              <a:rPr lang="zh-CN" altLang="en-US" dirty="0"/>
              <a:t> </a:t>
            </a:r>
            <a:r>
              <a:rPr lang="en-US" altLang="zh-CN" dirty="0"/>
              <a:t>issues;</a:t>
            </a:r>
            <a:r>
              <a:rPr lang="zh-CN" altLang="en-US" dirty="0"/>
              <a:t> </a:t>
            </a:r>
            <a:r>
              <a:rPr lang="en-US" altLang="zh-CN" dirty="0"/>
              <a:t>IPv6</a:t>
            </a:r>
            <a:r>
              <a:rPr lang="zh-CN" altLang="en-US" dirty="0"/>
              <a:t> </a:t>
            </a:r>
            <a:r>
              <a:rPr lang="en-US" altLang="zh-CN" dirty="0"/>
              <a:t>requires</a:t>
            </a:r>
            <a:r>
              <a:rPr lang="zh-CN" altLang="en-US" dirty="0"/>
              <a:t> </a:t>
            </a:r>
            <a:r>
              <a:rPr lang="en-US" altLang="zh-CN" dirty="0"/>
              <a:t>end-hosts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perform</a:t>
            </a:r>
            <a:r>
              <a:rPr lang="zh-CN" altLang="en-US" dirty="0"/>
              <a:t> </a:t>
            </a:r>
            <a:r>
              <a:rPr lang="en-US" altLang="zh-CN" dirty="0"/>
              <a:t>MTU</a:t>
            </a:r>
            <a:r>
              <a:rPr lang="zh-CN" altLang="en-US" dirty="0"/>
              <a:t> </a:t>
            </a:r>
            <a:r>
              <a:rPr lang="en-US" altLang="zh-CN" dirty="0"/>
              <a:t>discovery</a:t>
            </a:r>
            <a:endParaRPr lang="en-US" dirty="0"/>
          </a:p>
          <a:p>
            <a:r>
              <a:rPr lang="en-US" dirty="0">
                <a:solidFill>
                  <a:srgbClr val="D60093"/>
                </a:solidFill>
              </a:rPr>
              <a:t>Eliminated</a:t>
            </a:r>
            <a:r>
              <a:rPr lang="en-US" dirty="0"/>
              <a:t> checksum (why?)</a:t>
            </a:r>
          </a:p>
          <a:p>
            <a:pPr lvl="1"/>
            <a:r>
              <a:rPr lang="en-US" altLang="zh-CN" dirty="0"/>
              <a:t>L4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checksum</a:t>
            </a:r>
            <a:r>
              <a:rPr lang="zh-CN" altLang="en-US" dirty="0"/>
              <a:t> </a:t>
            </a:r>
            <a:r>
              <a:rPr lang="en-US" altLang="zh-CN" dirty="0"/>
              <a:t>(over</a:t>
            </a:r>
            <a:r>
              <a:rPr lang="zh-CN" altLang="en-US" dirty="0"/>
              <a:t> </a:t>
            </a:r>
            <a:r>
              <a:rPr lang="en-US" altLang="zh-CN" dirty="0"/>
              <a:t>header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payload)</a:t>
            </a:r>
          </a:p>
          <a:p>
            <a:pPr lvl="1"/>
            <a:r>
              <a:rPr lang="en-US" altLang="zh-CN" dirty="0"/>
              <a:t>L2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error-detection</a:t>
            </a:r>
            <a:r>
              <a:rPr lang="zh-CN" altLang="en-US" dirty="0"/>
              <a:t> </a:t>
            </a:r>
            <a:r>
              <a:rPr lang="en-US" altLang="zh-CN" dirty="0"/>
              <a:t>(over</a:t>
            </a:r>
            <a:r>
              <a:rPr lang="zh-CN" altLang="en-US" dirty="0"/>
              <a:t> </a:t>
            </a:r>
            <a:r>
              <a:rPr lang="en-US" altLang="zh-CN" dirty="0"/>
              <a:t>header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payload)</a:t>
            </a:r>
            <a:endParaRPr lang="en-US" dirty="0"/>
          </a:p>
          <a:p>
            <a:r>
              <a:rPr lang="en-US" dirty="0"/>
              <a:t>New </a:t>
            </a:r>
            <a:r>
              <a:rPr lang="en-US"/>
              <a:t>options mechanism</a:t>
            </a:r>
            <a:endParaRPr lang="en-US" dirty="0"/>
          </a:p>
          <a:p>
            <a:r>
              <a:rPr lang="en-US" dirty="0"/>
              <a:t>Eliminated header length (why?)</a:t>
            </a:r>
          </a:p>
          <a:p>
            <a:r>
              <a:rPr lang="en-US" dirty="0"/>
              <a:t>Expanded addresses </a:t>
            </a:r>
          </a:p>
          <a:p>
            <a:r>
              <a:rPr lang="en-US" dirty="0"/>
              <a:t>Added Flow Label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4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deal with problems</a:t>
            </a:r>
            <a:r>
              <a:rPr lang="en-US" altLang="zh-CN" dirty="0"/>
              <a:t>;</a:t>
            </a:r>
            <a:r>
              <a:rPr lang="en-US" dirty="0"/>
              <a:t> </a:t>
            </a:r>
            <a:r>
              <a:rPr lang="en-US" altLang="zh-CN" dirty="0"/>
              <a:t>defer</a:t>
            </a:r>
            <a:r>
              <a:rPr lang="zh-CN" altLang="en-US" dirty="0"/>
              <a:t> </a:t>
            </a:r>
            <a:r>
              <a:rPr lang="en-US" dirty="0"/>
              <a:t>to end</a:t>
            </a:r>
            <a:r>
              <a:rPr lang="en-US" altLang="zh-CN" dirty="0"/>
              <a:t>-hosts</a:t>
            </a:r>
            <a:endParaRPr lang="en-US" dirty="0"/>
          </a:p>
          <a:p>
            <a:pPr lvl="1"/>
            <a:r>
              <a:rPr lang="en-US" dirty="0"/>
              <a:t>Eliminated fragmentation and checksum</a:t>
            </a:r>
          </a:p>
          <a:p>
            <a:pPr lvl="1"/>
            <a:r>
              <a:rPr lang="en-US" dirty="0"/>
              <a:t>Why retain TTL?</a:t>
            </a:r>
          </a:p>
          <a:p>
            <a:r>
              <a:rPr lang="en-US" dirty="0"/>
              <a:t>Simplify handling:</a:t>
            </a:r>
          </a:p>
          <a:p>
            <a:pPr lvl="1"/>
            <a:r>
              <a:rPr lang="en-US" dirty="0"/>
              <a:t>New options mechanism (uses next header)</a:t>
            </a:r>
          </a:p>
          <a:p>
            <a:pPr lvl="1"/>
            <a:r>
              <a:rPr lang="en-US" dirty="0"/>
              <a:t>Eliminated header length</a:t>
            </a:r>
          </a:p>
          <a:p>
            <a:pPr lvl="2"/>
            <a:r>
              <a:rPr lang="en-US" dirty="0"/>
              <a:t>Why couldn’t IPv4 do this?</a:t>
            </a:r>
          </a:p>
          <a:p>
            <a:r>
              <a:rPr lang="en-US" dirty="0"/>
              <a:t>Provide general flow label for packet</a:t>
            </a:r>
          </a:p>
          <a:p>
            <a:pPr lvl="1"/>
            <a:r>
              <a:rPr lang="en-US" dirty="0"/>
              <a:t>Not tied to semantics</a:t>
            </a:r>
          </a:p>
          <a:p>
            <a:pPr lvl="1"/>
            <a:r>
              <a:rPr lang="en-US" dirty="0"/>
              <a:t>Provides great flexibility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7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can be divided into data plane and control plane</a:t>
            </a:r>
          </a:p>
          <a:p>
            <a:pPr lvl="1"/>
            <a:r>
              <a:rPr lang="en-US" dirty="0"/>
              <a:t>Data plane deals with “how?”</a:t>
            </a:r>
          </a:p>
          <a:p>
            <a:pPr lvl="1"/>
            <a:r>
              <a:rPr lang="en-US" dirty="0"/>
              <a:t>Control plane deals with “what?”</a:t>
            </a:r>
          </a:p>
          <a:p>
            <a:r>
              <a:rPr lang="en-US" dirty="0"/>
              <a:t>IP is simple yet nuanced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1490453375</TotalTime>
  <Pages>7</Pages>
  <Words>2428</Words>
  <Application>Microsoft Macintosh PowerPoint</Application>
  <PresentationFormat>On-screen Show (4:3)</PresentationFormat>
  <Paragraphs>750</Paragraphs>
  <Slides>57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ＭＳ Ｐゴシック</vt:lpstr>
      <vt:lpstr>Arial</vt:lpstr>
      <vt:lpstr>Arial Black</vt:lpstr>
      <vt:lpstr>Courier New</vt:lpstr>
      <vt:lpstr>Gill Sans</vt:lpstr>
      <vt:lpstr>Helvetica Neue</vt:lpstr>
      <vt:lpstr>Monotype Sorts</vt:lpstr>
      <vt:lpstr>Times New Roman</vt:lpstr>
      <vt:lpstr>Wingdings</vt:lpstr>
      <vt:lpstr>Theme2</vt:lpstr>
      <vt:lpstr>CSCI4430 Computer Networks  Lecture10: Network Layer – Basics</vt:lpstr>
      <vt:lpstr>Agenda</vt:lpstr>
      <vt:lpstr>Network layer</vt:lpstr>
      <vt:lpstr>Context and terminology</vt:lpstr>
      <vt:lpstr>Forwarding</vt:lpstr>
      <vt:lpstr>Forwarding</vt:lpstr>
      <vt:lpstr>Forwarding</vt:lpstr>
      <vt:lpstr>Routing</vt:lpstr>
      <vt:lpstr>Forwarding vs. routing</vt:lpstr>
      <vt:lpstr>The IP layer</vt:lpstr>
      <vt:lpstr>Lecture 2:  Layer encapsulation</vt:lpstr>
      <vt:lpstr>Recall: IP packet</vt:lpstr>
      <vt:lpstr>Designing the IP header</vt:lpstr>
      <vt:lpstr>What are these tasks? (in network)</vt:lpstr>
      <vt:lpstr>What information do we need?</vt:lpstr>
      <vt:lpstr>What information do we need?</vt:lpstr>
      <vt:lpstr>What information do we need?</vt:lpstr>
      <vt:lpstr>Preventing loops (TTL)</vt:lpstr>
      <vt:lpstr>Header corruption (Checksum)</vt:lpstr>
      <vt:lpstr>Aside: Checksum in diff layers</vt:lpstr>
      <vt:lpstr>Aside: Checksum in diff layers</vt:lpstr>
      <vt:lpstr>Fragmentation </vt:lpstr>
      <vt:lpstr>What information do we need?</vt:lpstr>
      <vt:lpstr>Special handling</vt:lpstr>
      <vt:lpstr>Options</vt:lpstr>
      <vt:lpstr>What information do we need?</vt:lpstr>
      <vt:lpstr>IP packet structure</vt:lpstr>
      <vt:lpstr>Parse packet</vt:lpstr>
      <vt:lpstr>IP packet structure</vt:lpstr>
      <vt:lpstr>Tasks at the destination end-system</vt:lpstr>
      <vt:lpstr>Telling end-host how to handle packet</vt:lpstr>
      <vt:lpstr>Telling end-host how to handle packet</vt:lpstr>
      <vt:lpstr>Tasks at the destination end-system</vt:lpstr>
      <vt:lpstr>IP packet structure</vt:lpstr>
      <vt:lpstr>Dealing with fragmentation</vt:lpstr>
      <vt:lpstr>A closer look at fragmentation </vt:lpstr>
      <vt:lpstr>Example of fragmentation</vt:lpstr>
      <vt:lpstr>Example of fragmentation</vt:lpstr>
      <vt:lpstr>Why reassemble?</vt:lpstr>
      <vt:lpstr>A few considerations</vt:lpstr>
      <vt:lpstr>Where should reassembly occur?</vt:lpstr>
      <vt:lpstr>Reassembly: What fields?</vt:lpstr>
      <vt:lpstr>IPv4’s fragmentation fields</vt:lpstr>
      <vt:lpstr>IP packet structure</vt:lpstr>
      <vt:lpstr>Why this works</vt:lpstr>
      <vt:lpstr>Example of fragmentation (cont.)</vt:lpstr>
      <vt:lpstr>Example of fragmentation (cont.)</vt:lpstr>
      <vt:lpstr>Example of fragmentation (cont.)</vt:lpstr>
      <vt:lpstr>Example of fragmentation (cont.)</vt:lpstr>
      <vt:lpstr>Example of fragmentation (cont.)</vt:lpstr>
      <vt:lpstr>A quick look into IPv6</vt:lpstr>
      <vt:lpstr>IPv6</vt:lpstr>
      <vt:lpstr>What “clean up” would you do?</vt:lpstr>
      <vt:lpstr>IPv4 and IPv6 header comparison</vt:lpstr>
      <vt:lpstr>Summary of changes</vt:lpstr>
      <vt:lpstr>Philosophy of changes</vt:lpstr>
      <vt:lpstr>Summary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Lecture10: Network Layer – Basics</dc:title>
  <dc:subject/>
  <dc:creator>Hong Xu</dc:creator>
  <cp:keywords/>
  <dc:description/>
  <cp:lastModifiedBy>Hong Xu</cp:lastModifiedBy>
  <cp:revision>1316</cp:revision>
  <cp:lastPrinted>1999-09-08T17:25:07Z</cp:lastPrinted>
  <dcterms:created xsi:type="dcterms:W3CDTF">2014-01-14T18:15:50Z</dcterms:created>
  <dcterms:modified xsi:type="dcterms:W3CDTF">2025-03-10T07:55:19Z</dcterms:modified>
  <cp:category/>
</cp:coreProperties>
</file>
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1201" r:id="rId3"/>
    <p:sldId id="1165" r:id="rId4"/>
    <p:sldId id="1127" r:id="rId5"/>
    <p:sldId id="1126" r:id="rId6"/>
    <p:sldId id="1128" r:id="rId7"/>
    <p:sldId id="1129" r:id="rId8"/>
    <p:sldId id="1130" r:id="rId9"/>
    <p:sldId id="1131" r:id="rId10"/>
    <p:sldId id="1132" r:id="rId11"/>
    <p:sldId id="1133" r:id="rId12"/>
    <p:sldId id="1134" r:id="rId13"/>
    <p:sldId id="1202" r:id="rId14"/>
    <p:sldId id="1169" r:id="rId15"/>
    <p:sldId id="1176" r:id="rId16"/>
    <p:sldId id="1177" r:id="rId17"/>
    <p:sldId id="1178" r:id="rId18"/>
    <p:sldId id="1179" r:id="rId19"/>
    <p:sldId id="1180" r:id="rId20"/>
    <p:sldId id="1181" r:id="rId21"/>
    <p:sldId id="1182" r:id="rId22"/>
    <p:sldId id="1183" r:id="rId23"/>
    <p:sldId id="1184" r:id="rId24"/>
    <p:sldId id="1185" r:id="rId25"/>
    <p:sldId id="1186" r:id="rId26"/>
    <p:sldId id="11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9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7D3AA-8300-9049-A69D-2D2E45D1295F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18E1-8930-5E42-88C4-7AD4EC0BB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8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307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4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28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04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45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58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92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99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45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50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08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9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4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81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48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77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2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77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76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26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65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AE39-8A0C-B24C-BAD1-9E890A8C0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83DE8-E37D-C843-8E93-CDBFD2A1B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83BB6-32D2-B443-A821-892C8186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2BB0-C445-C343-8B6F-8AFE01C1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8872-755A-9444-9F7D-CB9C671A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8C3E-7A69-3145-9F28-B5EC7F0E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68EE-4EDB-6C41-941C-1AB31B5E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5693F-B3A7-0043-9B51-CC67DDDE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D657-1A11-3C4D-BBC5-505D3BEB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18877-E73B-EE45-80AE-3B9520D6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96D5-D070-AF4C-B076-4875B349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ED2B5-BBE3-8744-B35B-836CFD7DB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CDAA4-4E2F-8144-A98A-703E3107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0C8C-1225-3740-881A-5F729970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B2B5-D0B3-C447-BA0E-00A138ED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3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DF04-381C-FE4C-B707-16D4520D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7576D-BD8D-BC49-9D81-C48D4D805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49345-22E4-104E-9FB3-4065B570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C3955-BE2F-3146-9780-64C8BCC9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9901D-CBC3-0C48-9C30-CBD5DDEB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CC7B5-B259-DD47-9C52-BEC77A5C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774E-D320-9547-ABB0-6BFFA828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1B336-813B-2B41-8AC0-9DE19F04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1D3DB-B71E-B34A-9788-86EBF3F8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83FF2-D49B-D145-8BAE-91998DC44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E15FB-5AD4-C242-AAFE-3FFD33B3A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5DFD7-FFC9-F14D-88D1-CD28E8F0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C0517-0212-4544-8749-E45A8809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4137C-7AD6-A846-B895-5DC058A7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0F31-24C0-3F41-8551-CA66BB8B9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A9012-091E-6F44-8FF9-318E5F86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768A3-0E11-944D-8DDA-A4EDD197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3592B-8637-9640-9666-103536B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8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76EED-1FAC-D242-9B03-73268370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1C6F0-85F0-9F48-A038-2347977A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4B27-78C7-4E47-8531-2FDA501A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8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1967-49F4-1E4D-B4F1-CD4FC830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7331B-057E-4941-8245-AA79C797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25C6B-13C7-9540-A3D2-166BCDB68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7F000-4789-5344-850E-AEEA1AD6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0099A-0369-8A49-886A-C2364929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4679B-4472-B84B-96DA-E86A8C1C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3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1044-2D21-6E48-B4A4-B6C3D3D7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A0782-6E68-7A4C-AECB-F1369BFD4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B9E61-7B2C-9D43-8ABB-DB861FCC1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6E9A-4A83-5143-9AA1-EF5D794E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61F87-0822-B54E-AAD7-CEA5C5FF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A79D3-CFC6-F74C-8F8A-F445262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3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2F27-40BB-AE45-B10F-EB8A7ABE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0444D-CEDA-1642-816A-B2C3BE667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AF10-F5C5-F54B-8E4E-D482F56F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C1736-7AAA-474C-8E9B-90135767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5E549-E8B7-B64F-939A-0B1B280A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0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D703D-9125-314F-8D95-458DD1E5C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79FFA-69AE-6F43-9436-74AA880F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6027F-EACB-0C46-8C5A-EB8245D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9680-A97B-024A-A24C-27DC0471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3479-1DA9-2E40-A788-391C5EFD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1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9E724-BD4B-1548-AD2D-64A1E1AA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5CF47-DFFD-1040-A93E-47880B59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A907-BF00-6348-892A-ACBB91FC1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9D1EE-A1D1-694C-80C1-6E001F76F09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35C8-7D55-6C43-AFFA-E80F9ECF4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B3D9-1E7F-F549-B84E-183085127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5.png"/><Relationship Id="rId23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Relationship Id="rId22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C38A-34EF-8B47-BA00-689DC84A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330" y="1142240"/>
            <a:ext cx="9687339" cy="2793655"/>
          </a:xfrm>
        </p:spPr>
        <p:txBody>
          <a:bodyPr/>
          <a:lstStyle/>
          <a:p>
            <a:r>
              <a:rPr lang="en-US" dirty="0"/>
              <a:t>ESTR</a:t>
            </a:r>
            <a:r>
              <a:rPr lang="en-US" altLang="zh-CN" dirty="0"/>
              <a:t>4120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br>
              <a:rPr lang="en-HK" altLang="zh-CN" dirty="0"/>
            </a:br>
            <a:br>
              <a:rPr lang="en-HK" altLang="zh-CN" dirty="0"/>
            </a:b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P2P,</a:t>
            </a:r>
            <a:r>
              <a:rPr lang="zh-CN" altLang="en-US" dirty="0"/>
              <a:t> </a:t>
            </a:r>
            <a:r>
              <a:rPr lang="en-US" altLang="zh-CN" dirty="0"/>
              <a:t>security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F108A-5CD3-974F-9A89-B3F461DFA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4400" dirty="0"/>
          </a:p>
          <a:p>
            <a:r>
              <a:rPr lang="en-US" altLang="zh-CN" sz="4400" dirty="0"/>
              <a:t>Hong</a:t>
            </a:r>
            <a:r>
              <a:rPr lang="zh-CN" altLang="en-US" sz="4400" dirty="0"/>
              <a:t> </a:t>
            </a:r>
            <a:r>
              <a:rPr lang="en-US" altLang="zh-CN" sz="4400" dirty="0"/>
              <a:t>Xu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0782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0DAE8-A2E7-4D48-AD1C-3D411A09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Peer-to-peer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6C0EE-036E-DD4B-8459-9404EDCC0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0623" y="5474824"/>
            <a:ext cx="1423686" cy="28936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0450" y="2297968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aradigm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 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always-on host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permanent IP address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often in data centers, for scaling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75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clients: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contact, communicate with server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be intermittently connected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have dynamic IP addresses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communicate directly with each other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HTTP, IMAP, FTP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1" name="Slide Number Placeholder 2">
            <a:extLst>
              <a:ext uri="{FF2B5EF4-FFF2-40B4-BE49-F238E27FC236}">
                <a16:creationId xmlns:a16="http://schemas.microsoft.com/office/drawing/2014/main" id="{96ECE80E-E07E-F54F-B7D9-AC2C33DC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51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289251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network</a:t>
            </a:r>
            <a:endParaRPr lang="en-US" sz="100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84B6293-559E-5D43-AF2B-4CB5E09EC6C5}"/>
              </a:ext>
            </a:extLst>
          </p:cNvPr>
          <p:cNvGrpSpPr/>
          <p:nvPr/>
        </p:nvGrpSpPr>
        <p:grpSpPr>
          <a:xfrm>
            <a:off x="7493518" y="3419140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14715B6C-9A50-FE4B-A8D2-1E669BF891E3}"/>
              </a:ext>
            </a:extLst>
          </p:cNvPr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Peer-to-peer </a:t>
            </a:r>
            <a:r>
              <a:rPr lang="en-US" altLang="en-US" sz="3600" dirty="0">
                <a:ea typeface="ＭＳ Ｐゴシック" panose="020B0600070205080204" pitchFamily="34" charset="-128"/>
              </a:rPr>
              <a:t>(P2P)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664326" y="1290326"/>
            <a:ext cx="606784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US" altLang="en-US" i="1" dirty="0">
                <a:ea typeface="ＭＳ Ｐゴシック" panose="020B0600070205080204" pitchFamily="34" charset="-128"/>
              </a:rPr>
              <a:t>no</a:t>
            </a:r>
            <a:r>
              <a:rPr lang="en-US" altLang="en-US" dirty="0">
                <a:ea typeface="ＭＳ Ｐゴシック" panose="020B0600070205080204" pitchFamily="34" charset="-128"/>
              </a:rPr>
              <a:t> always-on server</a:t>
            </a:r>
          </a:p>
          <a:p>
            <a:pPr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pPr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peers request service from other peers, provide service in return to other peers</a:t>
            </a:r>
          </a:p>
          <a:p>
            <a:pPr marL="582613" lvl="1" indent="-225425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self scalability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– new peers bring new service capacity, and new service demands</a:t>
            </a:r>
          </a:p>
          <a:p>
            <a:pPr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peers are intermittently connected and change IP addresses</a:t>
            </a:r>
          </a:p>
          <a:p>
            <a:pPr lvl="1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complex management</a:t>
            </a:r>
          </a:p>
          <a:p>
            <a:pPr>
              <a:spcBef>
                <a:spcPts val="400"/>
              </a:spcBef>
            </a:pPr>
            <a:r>
              <a:rPr lang="en-US" dirty="0"/>
              <a:t>examples: </a:t>
            </a:r>
            <a:r>
              <a:rPr lang="en-US" sz="2400" dirty="0"/>
              <a:t>P2P file sharing (BitTorrent), streaming (</a:t>
            </a:r>
            <a:r>
              <a:rPr lang="en-US" sz="2400" dirty="0" err="1"/>
              <a:t>KanKan</a:t>
            </a:r>
            <a:r>
              <a:rPr lang="en-US" sz="2400" dirty="0"/>
              <a:t>), VoIP (Skype)</a:t>
            </a:r>
            <a:endParaRPr lang="en-US" dirty="0"/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575" name="Rectangle 574">
            <a:extLst>
              <a:ext uri="{FF2B5EF4-FFF2-40B4-BE49-F238E27FC236}">
                <a16:creationId xmlns:a16="http://schemas.microsoft.com/office/drawing/2014/main" id="{2DA99646-DBA9-0746-9A79-29EAA25D43FE}"/>
              </a:ext>
            </a:extLst>
          </p:cNvPr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27275-E754-4D43-889C-5A2BD4A21205}"/>
              </a:ext>
            </a:extLst>
          </p:cNvPr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1" name="Slide Number Placeholder 2">
            <a:extLst>
              <a:ext uri="{FF2B5EF4-FFF2-40B4-BE49-F238E27FC236}">
                <a16:creationId xmlns:a16="http://schemas.microsoft.com/office/drawing/2014/main" id="{033BFF8E-A045-F641-9334-CFBF85BE3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5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distribution: client-server vs P2P</a:t>
            </a:r>
            <a:endParaRPr lang="en-US" sz="4400" dirty="0"/>
          </a:p>
        </p:txBody>
      </p:sp>
      <p:sp>
        <p:nvSpPr>
          <p:cNvPr id="613" name="Rectangle 3">
            <a:extLst>
              <a:ext uri="{FF2B5EF4-FFF2-40B4-BE49-F238E27FC236}">
                <a16:creationId xmlns:a16="http://schemas.microsoft.com/office/drawing/2014/main" id="{D33C12FB-7815-3541-8A29-9A4570C91901}"/>
              </a:ext>
            </a:extLst>
          </p:cNvPr>
          <p:cNvSpPr txBox="1">
            <a:spLocks noChangeArrowheads="1"/>
          </p:cNvSpPr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013" indent="-542925">
              <a:buFont typeface="Wingdings" pitchFamily="2" charset="2"/>
              <a:buNone/>
            </a:pPr>
            <a:r>
              <a:rPr lang="en-US" altLang="en-US" sz="3200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sz="3200" dirty="0">
                <a:ea typeface="ＭＳ Ｐゴシック" panose="020B0600070205080204" pitchFamily="34" charset="-128"/>
              </a:rPr>
              <a:t> how much time to distribute </a:t>
            </a:r>
            <a:r>
              <a:rPr lang="en-US" altLang="zh-CN" sz="3200" dirty="0">
                <a:ea typeface="ＭＳ Ｐゴシック" panose="020B0600070205080204" pitchFamily="34" charset="-128"/>
              </a:rPr>
              <a:t>a</a:t>
            </a:r>
            <a:r>
              <a:rPr lang="zh-CN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file from </a:t>
            </a:r>
            <a:r>
              <a:rPr lang="en-US" altLang="zh-CN" sz="3200" dirty="0">
                <a:ea typeface="ＭＳ Ｐゴシック" panose="020B0600070205080204" pitchFamily="34" charset="-128"/>
              </a:rPr>
              <a:t>a</a:t>
            </a:r>
            <a:r>
              <a:rPr lang="en-US" altLang="en-US" sz="3200" dirty="0">
                <a:ea typeface="ＭＳ Ｐゴシック" panose="020B0600070205080204" pitchFamily="34" charset="-128"/>
              </a:rPr>
              <a:t> server to 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N  peers</a:t>
            </a:r>
            <a:r>
              <a:rPr lang="en-US" altLang="en-US" sz="3200" dirty="0">
                <a:ea typeface="ＭＳ Ｐゴシック" panose="020B0600070205080204" pitchFamily="34" charset="-128"/>
              </a:rPr>
              <a:t>?</a:t>
            </a:r>
          </a:p>
          <a:p>
            <a:pPr marL="858838" lvl="1" indent="-238125"/>
            <a:r>
              <a:rPr lang="en-US" altLang="en-US" dirty="0">
                <a:ea typeface="ＭＳ Ｐゴシック" panose="020B0600070205080204" pitchFamily="34" charset="-128"/>
              </a:rPr>
              <a:t>peer upload/download capacity is limited resource</a:t>
            </a:r>
          </a:p>
        </p:txBody>
      </p:sp>
      <p:sp>
        <p:nvSpPr>
          <p:cNvPr id="749" name="Freeform 4">
            <a:extLst>
              <a:ext uri="{FF2B5EF4-FFF2-40B4-BE49-F238E27FC236}">
                <a16:creationId xmlns:a16="http://schemas.microsoft.com/office/drawing/2014/main" id="{5781B526-D87C-EC44-AD4E-445965AD662B}"/>
              </a:ext>
            </a:extLst>
          </p:cNvPr>
          <p:cNvSpPr>
            <a:spLocks/>
          </p:cNvSpPr>
          <p:nvPr/>
        </p:nvSpPr>
        <p:spPr bwMode="auto">
          <a:xfrm>
            <a:off x="4208462" y="4079079"/>
            <a:ext cx="3775075" cy="1755775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0" name="Line 14">
            <a:extLst>
              <a:ext uri="{FF2B5EF4-FFF2-40B4-BE49-F238E27FC236}">
                <a16:creationId xmlns:a16="http://schemas.microsoft.com/office/drawing/2014/main" id="{88305A7F-251D-B74C-8F8E-CCB1F71A8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4" y="4042566"/>
            <a:ext cx="803275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1" name="Text Box 15">
            <a:extLst>
              <a:ext uri="{FF2B5EF4-FFF2-40B4-BE49-F238E27FC236}">
                <a16:creationId xmlns:a16="http://schemas.microsoft.com/office/drawing/2014/main" id="{B8157757-C95F-CB42-9942-11A4F3D2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</a:p>
        </p:txBody>
      </p:sp>
      <p:sp>
        <p:nvSpPr>
          <p:cNvPr id="752" name="Line 39">
            <a:extLst>
              <a:ext uri="{FF2B5EF4-FFF2-40B4-BE49-F238E27FC236}">
                <a16:creationId xmlns:a16="http://schemas.microsoft.com/office/drawing/2014/main" id="{33B391C4-AA6E-EF49-929E-18C688BE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412" y="4953791"/>
            <a:ext cx="101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3" name="Line 40">
            <a:extLst>
              <a:ext uri="{FF2B5EF4-FFF2-40B4-BE49-F238E27FC236}">
                <a16:creationId xmlns:a16="http://schemas.microsoft.com/office/drawing/2014/main" id="{55D5EF82-1A60-6045-9491-ACB495A754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5974" y="5101429"/>
            <a:ext cx="1003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4" name="Text Box 41">
            <a:extLst>
              <a:ext uri="{FF2B5EF4-FFF2-40B4-BE49-F238E27FC236}">
                <a16:creationId xmlns:a16="http://schemas.microsoft.com/office/drawing/2014/main" id="{551344A9-80D5-6B4D-8C5F-1C743F9C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755" name="Text Box 42">
            <a:extLst>
              <a:ext uri="{FF2B5EF4-FFF2-40B4-BE49-F238E27FC236}">
                <a16:creationId xmlns:a16="http://schemas.microsoft.com/office/drawing/2014/main" id="{DA13FA8F-3C26-0B46-A3A1-BC7065C4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756" name="Text Box 43">
            <a:extLst>
              <a:ext uri="{FF2B5EF4-FFF2-40B4-BE49-F238E27FC236}">
                <a16:creationId xmlns:a16="http://schemas.microsoft.com/office/drawing/2014/main" id="{1E15BC0C-6AFB-CF4C-B899-707280EA4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  <a:endParaRPr kumimoji="0" lang="en-US" altLang="en-US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" name="Text Box 44">
            <a:extLst>
              <a:ext uri="{FF2B5EF4-FFF2-40B4-BE49-F238E27FC236}">
                <a16:creationId xmlns:a16="http://schemas.microsoft.com/office/drawing/2014/main" id="{B744D31B-0064-CC4C-813B-2342EBCC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network (with abundant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bandwidth)</a:t>
            </a:r>
          </a:p>
        </p:txBody>
      </p:sp>
      <p:sp>
        <p:nvSpPr>
          <p:cNvPr id="758" name="Text Box 47">
            <a:extLst>
              <a:ext uri="{FF2B5EF4-FFF2-40B4-BE49-F238E27FC236}">
                <a16:creationId xmlns:a16="http://schemas.microsoft.com/office/drawing/2014/main" id="{3CFD7627-4852-C14C-83FC-5338E04E2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file, size F</a:t>
            </a:r>
            <a:endParaRPr kumimoji="0" lang="en-US" altLang="en-US" sz="1800" b="0" i="1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9" name="Text Box 49">
            <a:extLst>
              <a:ext uri="{FF2B5EF4-FFF2-40B4-BE49-F238E27FC236}">
                <a16:creationId xmlns:a16="http://schemas.microsoft.com/office/drawing/2014/main" id="{59DA6353-13D5-E042-BEEE-6FF767E8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u</a:t>
            </a:r>
            <a:r>
              <a:rPr kumimoji="0" lang="en-US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server upload capacity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60" name="Text Box 50">
            <a:extLst>
              <a:ext uri="{FF2B5EF4-FFF2-40B4-BE49-F238E27FC236}">
                <a16:creationId xmlns:a16="http://schemas.microsoft.com/office/drawing/2014/main" id="{51F84BDF-7DCA-0A43-ACDB-9BE70839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u</a:t>
            </a:r>
            <a:r>
              <a:rPr kumimoji="0" lang="en-US" altLang="en-US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peer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upload capacity</a:t>
            </a:r>
          </a:p>
        </p:txBody>
      </p:sp>
      <p:sp>
        <p:nvSpPr>
          <p:cNvPr id="761" name="Text Box 51">
            <a:extLst>
              <a:ext uri="{FF2B5EF4-FFF2-40B4-BE49-F238E27FC236}">
                <a16:creationId xmlns:a16="http://schemas.microsoft.com/office/drawing/2014/main" id="{A5D79A43-11C7-6349-BEB0-7438447D9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d</a:t>
            </a:r>
            <a:r>
              <a:rPr kumimoji="0" lang="en-US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peer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download capacity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62" name="AutoShape 327">
            <a:extLst>
              <a:ext uri="{FF2B5EF4-FFF2-40B4-BE49-F238E27FC236}">
                <a16:creationId xmlns:a16="http://schemas.microsoft.com/office/drawing/2014/main" id="{369AE872-BFBD-8443-A484-E1FE4F07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7" y="3261516"/>
            <a:ext cx="592137" cy="5810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763" name="Group 76">
            <a:extLst>
              <a:ext uri="{FF2B5EF4-FFF2-40B4-BE49-F238E27FC236}">
                <a16:creationId xmlns:a16="http://schemas.microsoft.com/office/drawing/2014/main" id="{1E070762-6E91-C249-87E6-742CA28F4553}"/>
              </a:ext>
            </a:extLst>
          </p:cNvPr>
          <p:cNvGrpSpPr>
            <a:grpSpLocks/>
          </p:cNvGrpSpPr>
          <p:nvPr/>
        </p:nvGrpSpPr>
        <p:grpSpPr bwMode="auto"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764" name="Text Box 19">
              <a:extLst>
                <a:ext uri="{FF2B5EF4-FFF2-40B4-BE49-F238E27FC236}">
                  <a16:creationId xmlns:a16="http://schemas.microsoft.com/office/drawing/2014/main" id="{616B15BE-44B0-0344-B31F-91A938627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765" name="Line 22">
              <a:extLst>
                <a:ext uri="{FF2B5EF4-FFF2-40B4-BE49-F238E27FC236}">
                  <a16:creationId xmlns:a16="http://schemas.microsoft.com/office/drawing/2014/main" id="{468AACC5-62A5-624B-8074-C32AC02B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6" name="Line 23">
              <a:extLst>
                <a:ext uri="{FF2B5EF4-FFF2-40B4-BE49-F238E27FC236}">
                  <a16:creationId xmlns:a16="http://schemas.microsoft.com/office/drawing/2014/main" id="{6ADDCF08-0E06-944A-88C1-8C3B5B0B5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7" name="Text Box 24">
              <a:extLst>
                <a:ext uri="{FF2B5EF4-FFF2-40B4-BE49-F238E27FC236}">
                  <a16:creationId xmlns:a16="http://schemas.microsoft.com/office/drawing/2014/main" id="{0F3475ED-2A92-4E41-84C3-7C019E7EF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d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768" name="Text Box 19">
              <a:extLst>
                <a:ext uri="{FF2B5EF4-FFF2-40B4-BE49-F238E27FC236}">
                  <a16:creationId xmlns:a16="http://schemas.microsoft.com/office/drawing/2014/main" id="{0B070290-50F4-544A-8EB8-39FD5D707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sp>
          <p:nvSpPr>
            <p:cNvPr id="769" name="Line 22">
              <a:extLst>
                <a:ext uri="{FF2B5EF4-FFF2-40B4-BE49-F238E27FC236}">
                  <a16:creationId xmlns:a16="http://schemas.microsoft.com/office/drawing/2014/main" id="{EDD90978-FEC1-EC4A-9B82-FE08AA882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0" name="Line 23">
              <a:extLst>
                <a:ext uri="{FF2B5EF4-FFF2-40B4-BE49-F238E27FC236}">
                  <a16:creationId xmlns:a16="http://schemas.microsoft.com/office/drawing/2014/main" id="{D06A7A37-85E1-7F49-8794-07F8D4C65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1" name="Text Box 24">
              <a:extLst>
                <a:ext uri="{FF2B5EF4-FFF2-40B4-BE49-F238E27FC236}">
                  <a16:creationId xmlns:a16="http://schemas.microsoft.com/office/drawing/2014/main" id="{EB274E98-7508-9441-B445-9BFA8D56F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d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</p:grpSp>
      <p:sp>
        <p:nvSpPr>
          <p:cNvPr id="772" name="Line 72">
            <a:extLst>
              <a:ext uri="{FF2B5EF4-FFF2-40B4-BE49-F238E27FC236}">
                <a16:creationId xmlns:a16="http://schemas.microsoft.com/office/drawing/2014/main" id="{47A84A96-E7A3-1843-B72F-6E2E41F4E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62" y="47585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3" name="Line 73">
            <a:extLst>
              <a:ext uri="{FF2B5EF4-FFF2-40B4-BE49-F238E27FC236}">
                <a16:creationId xmlns:a16="http://schemas.microsoft.com/office/drawing/2014/main" id="{13604104-CB34-D540-BE37-408B7E700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899" y="49109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4" name="Text Box 41">
            <a:extLst>
              <a:ext uri="{FF2B5EF4-FFF2-40B4-BE49-F238E27FC236}">
                <a16:creationId xmlns:a16="http://schemas.microsoft.com/office/drawing/2014/main" id="{6AECF13A-63DD-6440-9CEA-60EFAAE2D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775" name="Text Box 41">
            <a:extLst>
              <a:ext uri="{FF2B5EF4-FFF2-40B4-BE49-F238E27FC236}">
                <a16:creationId xmlns:a16="http://schemas.microsoft.com/office/drawing/2014/main" id="{B1B85AB8-3F48-6B40-9E0F-095E131A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776" name="Line 77">
            <a:extLst>
              <a:ext uri="{FF2B5EF4-FFF2-40B4-BE49-F238E27FC236}">
                <a16:creationId xmlns:a16="http://schemas.microsoft.com/office/drawing/2014/main" id="{04740FC7-F24A-9E49-ABD5-CC405E4D6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2" y="3223416"/>
            <a:ext cx="0" cy="663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7" name="Line 78">
            <a:extLst>
              <a:ext uri="{FF2B5EF4-FFF2-40B4-BE49-F238E27FC236}">
                <a16:creationId xmlns:a16="http://schemas.microsoft.com/office/drawing/2014/main" id="{644C7641-7528-D04F-B35B-B86B81EEAE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02637" y="4137816"/>
            <a:ext cx="369887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8" name="Line 79">
            <a:extLst>
              <a:ext uri="{FF2B5EF4-FFF2-40B4-BE49-F238E27FC236}">
                <a16:creationId xmlns:a16="http://schemas.microsoft.com/office/drawing/2014/main" id="{21210937-40A2-D945-A261-60D041388D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32799" y="5083966"/>
            <a:ext cx="369888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779" name="Group 81">
            <a:extLst>
              <a:ext uri="{FF2B5EF4-FFF2-40B4-BE49-F238E27FC236}">
                <a16:creationId xmlns:a16="http://schemas.microsoft.com/office/drawing/2014/main" id="{70E00E57-2D7F-E34A-A62C-8B64AA1FAC60}"/>
              </a:ext>
            </a:extLst>
          </p:cNvPr>
          <p:cNvGrpSpPr>
            <a:grpSpLocks/>
          </p:cNvGrpSpPr>
          <p:nvPr/>
        </p:nvGrpSpPr>
        <p:grpSpPr bwMode="auto"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780" name="Freeform 82">
              <a:extLst>
                <a:ext uri="{FF2B5EF4-FFF2-40B4-BE49-F238E27FC236}">
                  <a16:creationId xmlns:a16="http://schemas.microsoft.com/office/drawing/2014/main" id="{79E2F9B0-711F-DE4C-965B-924CC303B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1" name="Rectangle 83">
              <a:extLst>
                <a:ext uri="{FF2B5EF4-FFF2-40B4-BE49-F238E27FC236}">
                  <a16:creationId xmlns:a16="http://schemas.microsoft.com/office/drawing/2014/main" id="{F06DAE2F-17DE-D941-923C-E70BDCB4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2" name="Freeform 84">
              <a:extLst>
                <a:ext uri="{FF2B5EF4-FFF2-40B4-BE49-F238E27FC236}">
                  <a16:creationId xmlns:a16="http://schemas.microsoft.com/office/drawing/2014/main" id="{946A9E21-9E85-934A-A686-0A8D135B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3" name="Freeform 85">
              <a:extLst>
                <a:ext uri="{FF2B5EF4-FFF2-40B4-BE49-F238E27FC236}">
                  <a16:creationId xmlns:a16="http://schemas.microsoft.com/office/drawing/2014/main" id="{72BE6A9C-0FBC-364A-A7ED-A2A6F017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4" name="Rectangle 86">
              <a:extLst>
                <a:ext uri="{FF2B5EF4-FFF2-40B4-BE49-F238E27FC236}">
                  <a16:creationId xmlns:a16="http://schemas.microsoft.com/office/drawing/2014/main" id="{6408A6CA-7347-8E43-98E8-BCFA0438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87" name="Group 87">
              <a:extLst>
                <a:ext uri="{FF2B5EF4-FFF2-40B4-BE49-F238E27FC236}">
                  <a16:creationId xmlns:a16="http://schemas.microsoft.com/office/drawing/2014/main" id="{3BB80181-EFB9-654A-9C2B-37611F58A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22" name="AutoShape 88">
                <a:extLst>
                  <a:ext uri="{FF2B5EF4-FFF2-40B4-BE49-F238E27FC236}">
                    <a16:creationId xmlns:a16="http://schemas.microsoft.com/office/drawing/2014/main" id="{755E2639-6DC2-B445-8BA7-4A95A040D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4" name="AutoShape 89">
                <a:extLst>
                  <a:ext uri="{FF2B5EF4-FFF2-40B4-BE49-F238E27FC236}">
                    <a16:creationId xmlns:a16="http://schemas.microsoft.com/office/drawing/2014/main" id="{60B2F854-EFB8-E64E-8D27-5F6F8D396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88" name="Rectangle 90">
              <a:extLst>
                <a:ext uri="{FF2B5EF4-FFF2-40B4-BE49-F238E27FC236}">
                  <a16:creationId xmlns:a16="http://schemas.microsoft.com/office/drawing/2014/main" id="{57F9C28A-1132-144B-9916-B507ADCE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89" name="Group 91">
              <a:extLst>
                <a:ext uri="{FF2B5EF4-FFF2-40B4-BE49-F238E27FC236}">
                  <a16:creationId xmlns:a16="http://schemas.microsoft.com/office/drawing/2014/main" id="{5E2EEB51-C433-4146-9A07-B904C9EFB0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20" name="AutoShape 92">
                <a:extLst>
                  <a:ext uri="{FF2B5EF4-FFF2-40B4-BE49-F238E27FC236}">
                    <a16:creationId xmlns:a16="http://schemas.microsoft.com/office/drawing/2014/main" id="{3A27EE24-9EA3-5849-AF8B-3DE9ED4D0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1" name="AutoShape 93">
                <a:extLst>
                  <a:ext uri="{FF2B5EF4-FFF2-40B4-BE49-F238E27FC236}">
                    <a16:creationId xmlns:a16="http://schemas.microsoft.com/office/drawing/2014/main" id="{6AFF8567-F6C4-0747-BA7C-166259544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0" name="Rectangle 94">
              <a:extLst>
                <a:ext uri="{FF2B5EF4-FFF2-40B4-BE49-F238E27FC236}">
                  <a16:creationId xmlns:a16="http://schemas.microsoft.com/office/drawing/2014/main" id="{481071F4-7660-1F49-867C-3C721C3F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1" name="Rectangle 95">
              <a:extLst>
                <a:ext uri="{FF2B5EF4-FFF2-40B4-BE49-F238E27FC236}">
                  <a16:creationId xmlns:a16="http://schemas.microsoft.com/office/drawing/2014/main" id="{F9E573B0-F1E0-0244-84F0-5D9DC86D8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93" name="Group 96">
              <a:extLst>
                <a:ext uri="{FF2B5EF4-FFF2-40B4-BE49-F238E27FC236}">
                  <a16:creationId xmlns:a16="http://schemas.microsoft.com/office/drawing/2014/main" id="{60F43234-7837-E047-B8D9-B93960C93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15" name="AutoShape 97">
                <a:extLst>
                  <a:ext uri="{FF2B5EF4-FFF2-40B4-BE49-F238E27FC236}">
                    <a16:creationId xmlns:a16="http://schemas.microsoft.com/office/drawing/2014/main" id="{AA061C9E-39EE-B14D-A8E3-104E27013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7" name="AutoShape 98">
                <a:extLst>
                  <a:ext uri="{FF2B5EF4-FFF2-40B4-BE49-F238E27FC236}">
                    <a16:creationId xmlns:a16="http://schemas.microsoft.com/office/drawing/2014/main" id="{12C304B6-6E69-644F-91BB-9F1C86D1D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4" name="Freeform 99">
              <a:extLst>
                <a:ext uri="{FF2B5EF4-FFF2-40B4-BE49-F238E27FC236}">
                  <a16:creationId xmlns:a16="http://schemas.microsoft.com/office/drawing/2014/main" id="{D5358657-0340-9248-AA9C-2F41E4340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96" name="Group 100">
              <a:extLst>
                <a:ext uri="{FF2B5EF4-FFF2-40B4-BE49-F238E27FC236}">
                  <a16:creationId xmlns:a16="http://schemas.microsoft.com/office/drawing/2014/main" id="{87CDCAD0-C1B4-8646-B58D-6CD9FF243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12" name="AutoShape 101">
                <a:extLst>
                  <a:ext uri="{FF2B5EF4-FFF2-40B4-BE49-F238E27FC236}">
                    <a16:creationId xmlns:a16="http://schemas.microsoft.com/office/drawing/2014/main" id="{53F473DF-D46D-0345-9F7F-49F5BE50C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4" name="AutoShape 102">
                <a:extLst>
                  <a:ext uri="{FF2B5EF4-FFF2-40B4-BE49-F238E27FC236}">
                    <a16:creationId xmlns:a16="http://schemas.microsoft.com/office/drawing/2014/main" id="{EF047A49-61C2-3A41-8A53-6F24E9E5C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7" name="Rectangle 103">
              <a:extLst>
                <a:ext uri="{FF2B5EF4-FFF2-40B4-BE49-F238E27FC236}">
                  <a16:creationId xmlns:a16="http://schemas.microsoft.com/office/drawing/2014/main" id="{0DC41427-3FCF-3949-97B5-7D608D26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8" name="Freeform 104">
              <a:extLst>
                <a:ext uri="{FF2B5EF4-FFF2-40B4-BE49-F238E27FC236}">
                  <a16:creationId xmlns:a16="http://schemas.microsoft.com/office/drawing/2014/main" id="{8F8A38B2-57F8-E945-BFD5-DF65BDBFA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9" name="Freeform 105">
              <a:extLst>
                <a:ext uri="{FF2B5EF4-FFF2-40B4-BE49-F238E27FC236}">
                  <a16:creationId xmlns:a16="http://schemas.microsoft.com/office/drawing/2014/main" id="{0F08B7AC-3180-754D-94CE-9FA5F6748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1" name="Oval 106">
              <a:extLst>
                <a:ext uri="{FF2B5EF4-FFF2-40B4-BE49-F238E27FC236}">
                  <a16:creationId xmlns:a16="http://schemas.microsoft.com/office/drawing/2014/main" id="{C5F7D344-4D6F-D646-8C93-A97BAB8C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2" name="Freeform 107">
              <a:extLst>
                <a:ext uri="{FF2B5EF4-FFF2-40B4-BE49-F238E27FC236}">
                  <a16:creationId xmlns:a16="http://schemas.microsoft.com/office/drawing/2014/main" id="{BE829AA4-D020-7348-B510-9FB2A8536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4" name="AutoShape 108">
              <a:extLst>
                <a:ext uri="{FF2B5EF4-FFF2-40B4-BE49-F238E27FC236}">
                  <a16:creationId xmlns:a16="http://schemas.microsoft.com/office/drawing/2014/main" id="{35AAD988-1211-1E40-91C0-3937CD2EC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5" name="AutoShape 109">
              <a:extLst>
                <a:ext uri="{FF2B5EF4-FFF2-40B4-BE49-F238E27FC236}">
                  <a16:creationId xmlns:a16="http://schemas.microsoft.com/office/drawing/2014/main" id="{4305931D-5D5C-9D4F-AAD7-AB64D64AD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6" name="Oval 110">
              <a:extLst>
                <a:ext uri="{FF2B5EF4-FFF2-40B4-BE49-F238E27FC236}">
                  <a16:creationId xmlns:a16="http://schemas.microsoft.com/office/drawing/2014/main" id="{83363F10-1097-A54D-ADAB-24C8B3E21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7" name="Oval 111">
              <a:extLst>
                <a:ext uri="{FF2B5EF4-FFF2-40B4-BE49-F238E27FC236}">
                  <a16:creationId xmlns:a16="http://schemas.microsoft.com/office/drawing/2014/main" id="{B44F4B51-7681-9C40-9F0A-A4B645261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09" name="Oval 112">
              <a:extLst>
                <a:ext uri="{FF2B5EF4-FFF2-40B4-BE49-F238E27FC236}">
                  <a16:creationId xmlns:a16="http://schemas.microsoft.com/office/drawing/2014/main" id="{5582586B-92B3-3A4A-8CAC-51021195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10" name="Rectangle 113">
              <a:extLst>
                <a:ext uri="{FF2B5EF4-FFF2-40B4-BE49-F238E27FC236}">
                  <a16:creationId xmlns:a16="http://schemas.microsoft.com/office/drawing/2014/main" id="{5238CEC3-5101-4E45-98C3-C884DC620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26" name="Group 114">
            <a:extLst>
              <a:ext uri="{FF2B5EF4-FFF2-40B4-BE49-F238E27FC236}">
                <a16:creationId xmlns:a16="http://schemas.microsoft.com/office/drawing/2014/main" id="{CE9E5FE1-98E9-5B4B-A4A4-DFCEF9DD2F2A}"/>
              </a:ext>
            </a:extLst>
          </p:cNvPr>
          <p:cNvGrpSpPr>
            <a:grpSpLocks/>
          </p:cNvGrpSpPr>
          <p:nvPr/>
        </p:nvGrpSpPr>
        <p:grpSpPr bwMode="auto"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id="828" name="Picture 115" descr="desktop_computer_stylized_medium">
              <a:extLst>
                <a:ext uri="{FF2B5EF4-FFF2-40B4-BE49-F238E27FC236}">
                  <a16:creationId xmlns:a16="http://schemas.microsoft.com/office/drawing/2014/main" id="{EA6E5654-65B1-E143-93FC-22FF8A007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" name="Freeform 116">
              <a:extLst>
                <a:ext uri="{FF2B5EF4-FFF2-40B4-BE49-F238E27FC236}">
                  <a16:creationId xmlns:a16="http://schemas.microsoft.com/office/drawing/2014/main" id="{2A3D29B4-8BC4-A546-9C7A-F25B946004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1" name="Group 117">
            <a:extLst>
              <a:ext uri="{FF2B5EF4-FFF2-40B4-BE49-F238E27FC236}">
                <a16:creationId xmlns:a16="http://schemas.microsoft.com/office/drawing/2014/main" id="{9E284045-6147-7B47-BC5C-5CC7FF81FE0A}"/>
              </a:ext>
            </a:extLst>
          </p:cNvPr>
          <p:cNvGrpSpPr>
            <a:grpSpLocks/>
          </p:cNvGrpSpPr>
          <p:nvPr/>
        </p:nvGrpSpPr>
        <p:grpSpPr bwMode="auto"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id="832" name="Picture 118" descr="desktop_computer_stylized_medium">
              <a:extLst>
                <a:ext uri="{FF2B5EF4-FFF2-40B4-BE49-F238E27FC236}">
                  <a16:creationId xmlns:a16="http://schemas.microsoft.com/office/drawing/2014/main" id="{ED57643D-213A-0D48-ACB2-47375B1F69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3" name="Freeform 119">
              <a:extLst>
                <a:ext uri="{FF2B5EF4-FFF2-40B4-BE49-F238E27FC236}">
                  <a16:creationId xmlns:a16="http://schemas.microsoft.com/office/drawing/2014/main" id="{C945A6F0-C64A-034A-808B-026CA37D34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4" name="Group 120">
            <a:extLst>
              <a:ext uri="{FF2B5EF4-FFF2-40B4-BE49-F238E27FC236}">
                <a16:creationId xmlns:a16="http://schemas.microsoft.com/office/drawing/2014/main" id="{DC1F1924-84C9-2D4F-BED7-1D7A99AAAF5D}"/>
              </a:ext>
            </a:extLst>
          </p:cNvPr>
          <p:cNvGrpSpPr>
            <a:grpSpLocks/>
          </p:cNvGrpSpPr>
          <p:nvPr/>
        </p:nvGrpSpPr>
        <p:grpSpPr bwMode="auto"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id="835" name="Picture 121" descr="desktop_computer_stylized_medium">
              <a:extLst>
                <a:ext uri="{FF2B5EF4-FFF2-40B4-BE49-F238E27FC236}">
                  <a16:creationId xmlns:a16="http://schemas.microsoft.com/office/drawing/2014/main" id="{5CB3D6E4-1267-BA47-946E-11A72D2BB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6" name="Freeform 122">
              <a:extLst>
                <a:ext uri="{FF2B5EF4-FFF2-40B4-BE49-F238E27FC236}">
                  <a16:creationId xmlns:a16="http://schemas.microsoft.com/office/drawing/2014/main" id="{0260D56A-2D23-4B40-82DB-9E620FF6E8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7" name="Group 123">
            <a:extLst>
              <a:ext uri="{FF2B5EF4-FFF2-40B4-BE49-F238E27FC236}">
                <a16:creationId xmlns:a16="http://schemas.microsoft.com/office/drawing/2014/main" id="{7F9A075B-9EA6-8048-A759-51935B47F7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id="838" name="Picture 124" descr="desktop_computer_stylized_medium">
              <a:extLst>
                <a:ext uri="{FF2B5EF4-FFF2-40B4-BE49-F238E27FC236}">
                  <a16:creationId xmlns:a16="http://schemas.microsoft.com/office/drawing/2014/main" id="{BECC09C1-57D5-7847-8F83-B0BFE5CF6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" name="Freeform 125">
              <a:extLst>
                <a:ext uri="{FF2B5EF4-FFF2-40B4-BE49-F238E27FC236}">
                  <a16:creationId xmlns:a16="http://schemas.microsoft.com/office/drawing/2014/main" id="{7D172349-8EB7-C043-850F-2ACA8BB1C8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3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 time: client-server</a:t>
            </a:r>
            <a:endParaRPr lang="en-US" sz="4400" dirty="0"/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545123" y="1309462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transmission: </a:t>
            </a:r>
            <a:r>
              <a:rPr lang="en-US" altLang="en-US" dirty="0">
                <a:ea typeface="ＭＳ Ｐゴシック" panose="020B0600070205080204" pitchFamily="34" charset="-128"/>
              </a:rPr>
              <a:t>must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sequentially send (upload) </a:t>
            </a:r>
            <a:r>
              <a:rPr lang="en-US" altLang="en-US" i="1" dirty="0">
                <a:ea typeface="ＭＳ Ｐゴシック" panose="020B0600070205080204" pitchFamily="34" charset="-128"/>
              </a:rPr>
              <a:t>N </a:t>
            </a:r>
            <a:r>
              <a:rPr lang="en-US" altLang="en-US" dirty="0">
                <a:ea typeface="ＭＳ Ｐゴシック" panose="020B0600070205080204" pitchFamily="34" charset="-128"/>
              </a:rPr>
              <a:t>file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copies: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i="1" dirty="0">
                <a:ea typeface="ＭＳ Ｐゴシック" panose="020B0600070205080204" pitchFamily="34" charset="-128"/>
              </a:rPr>
              <a:t>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</a:t>
            </a:r>
            <a:r>
              <a:rPr lang="en-US" altLang="en-US" i="1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copies: </a:t>
            </a:r>
            <a:r>
              <a:rPr lang="en-US" altLang="en-US" i="1" dirty="0">
                <a:ea typeface="ＭＳ Ｐゴシック" panose="020B0600070205080204" pitchFamily="34" charset="-128"/>
              </a:rPr>
              <a:t>NF/u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client: </a:t>
            </a:r>
            <a:r>
              <a:rPr lang="en-US" altLang="en-US" sz="2800" dirty="0">
                <a:latin typeface="+mn-lt"/>
              </a:rPr>
              <a:t>each client must download file copy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</a:t>
            </a:r>
            <a:r>
              <a:rPr lang="en-US" altLang="zh-CN" sz="2400" i="1" baseline="-25000" dirty="0" err="1">
                <a:latin typeface="+mn-lt"/>
              </a:rPr>
              <a:t>n</a:t>
            </a:r>
            <a:r>
              <a:rPr lang="en-US" altLang="en-US" sz="2400" dirty="0">
                <a:latin typeface="+mn-lt"/>
              </a:rPr>
              <a:t> = min client download rate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</a:rPr>
              <a:t>max</a:t>
            </a:r>
            <a:r>
              <a:rPr lang="en-US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single-</a:t>
            </a:r>
            <a:r>
              <a:rPr lang="en-US" altLang="en-US" sz="2400" dirty="0">
                <a:latin typeface="+mn-lt"/>
              </a:rPr>
              <a:t>client download time: </a:t>
            </a:r>
            <a:r>
              <a:rPr lang="en-US" altLang="en-US" sz="2400" i="1" dirty="0">
                <a:latin typeface="+mn-lt"/>
              </a:rPr>
              <a:t>F/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 </a:t>
            </a:r>
            <a:endParaRPr lang="en-US" altLang="en-US" sz="2400" i="1" dirty="0">
              <a:latin typeface="+mn-l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chemeClr val="bg1"/>
                  </a:solidFill>
                  <a:latin typeface="+mn-lt"/>
                </a:rPr>
                <a:t>network</a:t>
              </a:r>
              <a:endParaRPr lang="en-US" alt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9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d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+mn-lt"/>
                </a:rPr>
                <a:t>F</a:t>
              </a:r>
              <a:endParaRPr lang="en-US" altLang="en-US" sz="1600" i="1" baseline="-25000">
                <a:latin typeface="+mn-lt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145" name="Line 53">
            <a:extLst>
              <a:ext uri="{FF2B5EF4-FFF2-40B4-BE49-F238E27FC236}">
                <a16:creationId xmlns:a16="http://schemas.microsoft.com/office/drawing/2014/main" id="{5B4F3401-24CB-7648-BD89-1A7CFF534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6884" y="5742831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46" name="Text Box 54">
            <a:extLst>
              <a:ext uri="{FF2B5EF4-FFF2-40B4-BE49-F238E27FC236}">
                <a16:creationId xmlns:a16="http://schemas.microsoft.com/office/drawing/2014/main" id="{5BD0C7E9-770D-0B41-BE6E-3ADF8479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784" y="6271469"/>
            <a:ext cx="2905732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>
                <a:latin typeface="+mn-lt"/>
              </a:rPr>
              <a:t>increases linearly in N</a:t>
            </a:r>
          </a:p>
        </p:txBody>
      </p:sp>
      <p:sp>
        <p:nvSpPr>
          <p:cNvPr id="147" name="Text Box 51">
            <a:extLst>
              <a:ext uri="{FF2B5EF4-FFF2-40B4-BE49-F238E27FC236}">
                <a16:creationId xmlns:a16="http://schemas.microsoft.com/office/drawing/2014/main" id="{49B83A0D-0FBE-7E43-85D0-C80B2E74D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time to  distribute F </a:t>
            </a:r>
          </a:p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to N clients using </a:t>
            </a:r>
          </a:p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client-server approach</a:t>
            </a:r>
            <a:r>
              <a:rPr lang="en-US" altLang="en-US" sz="2800">
                <a:latin typeface="+mn-lt"/>
              </a:rPr>
              <a:t> </a:t>
            </a:r>
            <a:endParaRPr lang="en-US" altLang="en-US" sz="3200">
              <a:latin typeface="+mn-lt"/>
            </a:endParaRPr>
          </a:p>
        </p:txBody>
      </p:sp>
      <p:sp>
        <p:nvSpPr>
          <p:cNvPr id="148" name="Rectangle 55">
            <a:extLst>
              <a:ext uri="{FF2B5EF4-FFF2-40B4-BE49-F238E27FC236}">
                <a16:creationId xmlns:a16="http://schemas.microsoft.com/office/drawing/2014/main" id="{01D3C4E1-DA80-A24C-A094-D590BCC34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348" y="4964956"/>
            <a:ext cx="7421599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>
              <a:latin typeface="+mn-lt"/>
            </a:endParaRPr>
          </a:p>
        </p:txBody>
      </p:sp>
      <p:sp>
        <p:nvSpPr>
          <p:cNvPr id="149" name="Text Box 96">
            <a:extLst>
              <a:ext uri="{FF2B5EF4-FFF2-40B4-BE49-F238E27FC236}">
                <a16:creationId xmlns:a16="http://schemas.microsoft.com/office/drawing/2014/main" id="{11EFB657-3D70-CB41-8FB4-5E358070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559" y="5279281"/>
            <a:ext cx="4436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 dirty="0">
                <a:latin typeface="+mn-lt"/>
              </a:rPr>
              <a:t> D</a:t>
            </a:r>
            <a:r>
              <a:rPr lang="en-US" altLang="en-US" sz="3200" i="1" baseline="-25000" dirty="0">
                <a:latin typeface="+mn-lt"/>
              </a:rPr>
              <a:t>c-s</a:t>
            </a:r>
            <a:r>
              <a:rPr lang="en-US" altLang="en-US" sz="3200" i="1" dirty="0">
                <a:latin typeface="+mn-lt"/>
              </a:rPr>
              <a:t> &gt; max{NF/u</a:t>
            </a:r>
            <a:r>
              <a:rPr lang="en-US" altLang="en-US" sz="3200" i="1" baseline="-25000" dirty="0">
                <a:latin typeface="+mn-lt"/>
              </a:rPr>
              <a:t>s</a:t>
            </a:r>
            <a:r>
              <a:rPr lang="en-US" altLang="en-US" sz="3200" i="1" dirty="0">
                <a:latin typeface="+mn-lt"/>
              </a:rPr>
              <a:t>,</a:t>
            </a:r>
            <a:r>
              <a:rPr lang="zh-CN" altLang="en-US" sz="3200" i="1" dirty="0">
                <a:latin typeface="+mn-lt"/>
              </a:rPr>
              <a:t> </a:t>
            </a:r>
            <a:r>
              <a:rPr lang="en-US" altLang="en-US" sz="3200" i="1" dirty="0">
                <a:latin typeface="+mn-lt"/>
              </a:rPr>
              <a:t>F/</a:t>
            </a:r>
            <a:r>
              <a:rPr lang="en-US" altLang="en-US" sz="3200" i="1" dirty="0" err="1">
                <a:latin typeface="+mn-lt"/>
              </a:rPr>
              <a:t>d</a:t>
            </a:r>
            <a:r>
              <a:rPr lang="en-US" altLang="en-US" sz="3200" i="1" baseline="-25000" dirty="0" err="1">
                <a:latin typeface="+mn-lt"/>
              </a:rPr>
              <a:t>min</a:t>
            </a:r>
            <a:r>
              <a:rPr lang="en-US" altLang="en-US" sz="3200" i="1" dirty="0">
                <a:latin typeface="+mn-lt"/>
              </a:rPr>
              <a:t>}</a:t>
            </a:r>
            <a:r>
              <a:rPr lang="en-US" altLang="en-US" sz="3200" i="1" dirty="0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sp>
        <p:nvSpPr>
          <p:cNvPr id="150" name="Line 120">
            <a:extLst>
              <a:ext uri="{FF2B5EF4-FFF2-40B4-BE49-F238E27FC236}">
                <a16:creationId xmlns:a16="http://schemas.microsoft.com/office/drawing/2014/main" id="{804EF034-3125-A746-B994-CD76FEE71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497" y="5707906"/>
            <a:ext cx="174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3602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 time: P2P</a:t>
            </a:r>
            <a:endParaRPr lang="en-US" sz="4400" dirty="0"/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755629" y="1323701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transmission: </a:t>
            </a:r>
            <a:r>
              <a:rPr lang="en-US" altLang="en-US" dirty="0">
                <a:ea typeface="ＭＳ Ｐゴシック" panose="020B0600070205080204" pitchFamily="34" charset="-128"/>
              </a:rPr>
              <a:t>must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upload at least one copy: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i="1" dirty="0">
                <a:ea typeface="ＭＳ Ｐゴシック" panose="020B0600070205080204" pitchFamily="34" charset="-128"/>
              </a:rPr>
              <a:t>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 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66" y="2707749"/>
            <a:ext cx="5773736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client: </a:t>
            </a:r>
            <a:r>
              <a:rPr lang="en-US" altLang="en-US" sz="2800" dirty="0">
                <a:latin typeface="+mn-lt"/>
              </a:rPr>
              <a:t>each client must download file copy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</a:rPr>
              <a:t>max</a:t>
            </a:r>
            <a:r>
              <a:rPr lang="en-US" altLang="en-US" sz="2400" dirty="0">
                <a:latin typeface="+mn-lt"/>
              </a:rPr>
              <a:t> client download time: </a:t>
            </a:r>
            <a:r>
              <a:rPr lang="en-US" altLang="en-US" sz="2400" i="1" dirty="0">
                <a:latin typeface="+mn-lt"/>
              </a:rPr>
              <a:t>F/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 </a:t>
            </a:r>
            <a:endParaRPr lang="en-US" altLang="en-US" sz="2400" i="1" dirty="0">
              <a:latin typeface="+mn-l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chemeClr val="bg1"/>
                  </a:solidFill>
                  <a:latin typeface="+mn-lt"/>
                </a:rPr>
                <a:t>network</a:t>
              </a:r>
              <a:endParaRPr lang="en-US" alt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9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d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+mn-lt"/>
                </a:rPr>
                <a:t>F</a:t>
              </a:r>
              <a:endParaRPr lang="en-US" altLang="en-US" sz="1600" i="1" baseline="-25000">
                <a:latin typeface="+mn-lt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74" name="Rectangle 47">
            <a:extLst>
              <a:ext uri="{FF2B5EF4-FFF2-40B4-BE49-F238E27FC236}">
                <a16:creationId xmlns:a16="http://schemas.microsoft.com/office/drawing/2014/main" id="{26E15167-D083-564B-BF0B-913CAA61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984" y="3876829"/>
            <a:ext cx="852416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clients: </a:t>
            </a:r>
            <a:r>
              <a:rPr lang="en-US" altLang="en-US" sz="2800" dirty="0">
                <a:latin typeface="+mn-lt"/>
              </a:rPr>
              <a:t>as aggregate must download </a:t>
            </a:r>
            <a:r>
              <a:rPr lang="en-US" altLang="en-US" sz="2800" i="1" dirty="0">
                <a:latin typeface="+mn-lt"/>
              </a:rPr>
              <a:t>NF</a:t>
            </a:r>
            <a:r>
              <a:rPr lang="en-US" altLang="en-US" sz="2800" dirty="0">
                <a:latin typeface="+mn-lt"/>
              </a:rPr>
              <a:t> bits</a:t>
            </a:r>
          </a:p>
          <a:p>
            <a:pPr lvl="1">
              <a:lnSpc>
                <a:spcPct val="85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max upload rate (limiting max download rate) is 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s</a:t>
            </a:r>
            <a:r>
              <a:rPr lang="en-US" altLang="en-US" sz="2400" i="1" dirty="0">
                <a:latin typeface="+mn-lt"/>
              </a:rPr>
              <a:t> + </a:t>
            </a:r>
            <a:r>
              <a:rPr lang="en-US" altLang="en-US" sz="2800" i="1" dirty="0">
                <a:latin typeface="Symbol" pitchFamily="2" charset="2"/>
              </a:rPr>
              <a:t>S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i</a:t>
            </a:r>
          </a:p>
        </p:txBody>
      </p:sp>
      <p:sp>
        <p:nvSpPr>
          <p:cNvPr id="75" name="Text Box 51">
            <a:extLst>
              <a:ext uri="{FF2B5EF4-FFF2-40B4-BE49-F238E27FC236}">
                <a16:creationId xmlns:a16="http://schemas.microsoft.com/office/drawing/2014/main" id="{6898F8CA-12DA-BE4E-B99B-FD50E8479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time to  distribute F </a:t>
            </a:r>
          </a:p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to N clients using </a:t>
            </a:r>
          </a:p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P2P approach</a:t>
            </a:r>
            <a:r>
              <a:rPr lang="en-US" altLang="en-US" sz="2400" dirty="0">
                <a:latin typeface="+mn-lt"/>
              </a:rPr>
              <a:t> </a:t>
            </a:r>
            <a:endParaRPr lang="en-US" altLang="en-US" sz="2800" dirty="0">
              <a:latin typeface="+mn-lt"/>
            </a:endParaRPr>
          </a:p>
        </p:txBody>
      </p:sp>
      <p:sp>
        <p:nvSpPr>
          <p:cNvPr id="76" name="Rectangle 55">
            <a:extLst>
              <a:ext uri="{FF2B5EF4-FFF2-40B4-BE49-F238E27FC236}">
                <a16:creationId xmlns:a16="http://schemas.microsoft.com/office/drawing/2014/main" id="{07D73A35-ECF9-A74A-AC62-7DA2D517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19" y="4991768"/>
            <a:ext cx="9155099" cy="1006589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>
              <a:latin typeface="+mn-lt"/>
            </a:endParaRP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1DD5EA55-8934-0448-A71E-1044D6D2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018" y="5202837"/>
            <a:ext cx="64304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 dirty="0">
                <a:latin typeface="+mn-lt"/>
              </a:rPr>
              <a:t> D</a:t>
            </a:r>
            <a:r>
              <a:rPr lang="en-US" altLang="en-US" sz="3200" i="1" baseline="-25000" dirty="0">
                <a:latin typeface="+mn-lt"/>
              </a:rPr>
              <a:t>P2P</a:t>
            </a:r>
            <a:r>
              <a:rPr lang="en-US" altLang="en-US" sz="3200" i="1" dirty="0">
                <a:latin typeface="+mn-lt"/>
              </a:rPr>
              <a:t> &gt; max{F/u</a:t>
            </a:r>
            <a:r>
              <a:rPr lang="en-US" altLang="en-US" sz="3200" i="1" baseline="-25000" dirty="0">
                <a:latin typeface="+mn-lt"/>
              </a:rPr>
              <a:t>s</a:t>
            </a:r>
            <a:r>
              <a:rPr lang="zh-CN" altLang="en-US" sz="3200" i="1" baseline="-25000" dirty="0">
                <a:latin typeface="+mn-lt"/>
              </a:rPr>
              <a:t> </a:t>
            </a:r>
            <a:r>
              <a:rPr lang="en-US" altLang="en-US" sz="3200" i="1" dirty="0">
                <a:latin typeface="+mn-lt"/>
              </a:rPr>
              <a:t>,</a:t>
            </a:r>
            <a:r>
              <a:rPr lang="zh-CN" altLang="en-US" sz="3200" i="1" dirty="0">
                <a:latin typeface="+mn-lt"/>
              </a:rPr>
              <a:t> </a:t>
            </a:r>
            <a:r>
              <a:rPr lang="en-US" altLang="en-US" sz="3200" i="1" dirty="0">
                <a:latin typeface="+mn-lt"/>
              </a:rPr>
              <a:t>F/</a:t>
            </a:r>
            <a:r>
              <a:rPr lang="en-US" altLang="en-US" sz="3200" i="1" dirty="0" err="1">
                <a:latin typeface="+mn-lt"/>
              </a:rPr>
              <a:t>d</a:t>
            </a:r>
            <a:r>
              <a:rPr lang="en-US" altLang="en-US" sz="3200" i="1" baseline="-25000" dirty="0" err="1">
                <a:latin typeface="+mn-lt"/>
              </a:rPr>
              <a:t>min</a:t>
            </a:r>
            <a:r>
              <a:rPr lang="zh-CN" altLang="en-US" sz="3200" i="1" baseline="-25000" dirty="0">
                <a:latin typeface="+mn-lt"/>
              </a:rPr>
              <a:t> </a:t>
            </a:r>
            <a:r>
              <a:rPr lang="en-US" altLang="en-US" sz="3200" i="1" dirty="0">
                <a:latin typeface="+mn-lt"/>
              </a:rPr>
              <a:t>,</a:t>
            </a:r>
            <a:r>
              <a:rPr lang="zh-CN" altLang="en-US" sz="3200" i="1" dirty="0">
                <a:latin typeface="+mn-lt"/>
              </a:rPr>
              <a:t> </a:t>
            </a:r>
            <a:r>
              <a:rPr lang="en-US" altLang="en-US" sz="3200" i="1" dirty="0">
                <a:latin typeface="+mn-lt"/>
              </a:rPr>
              <a:t>NF/(</a:t>
            </a:r>
            <a:r>
              <a:rPr lang="en-US" altLang="en-US" sz="2800" i="1" dirty="0">
                <a:latin typeface="+mn-lt"/>
              </a:rPr>
              <a:t>u</a:t>
            </a:r>
            <a:r>
              <a:rPr lang="en-US" altLang="en-US" sz="2800" i="1" baseline="-25000" dirty="0">
                <a:latin typeface="+mn-lt"/>
              </a:rPr>
              <a:t>s</a:t>
            </a:r>
            <a:r>
              <a:rPr lang="en-US" altLang="en-US" sz="2800" i="1" dirty="0">
                <a:latin typeface="+mn-lt"/>
              </a:rPr>
              <a:t> + </a:t>
            </a:r>
            <a:r>
              <a:rPr lang="en-US" altLang="en-US" sz="3200" i="1" dirty="0">
                <a:latin typeface="Symbol" pitchFamily="2" charset="2"/>
              </a:rPr>
              <a:t>S</a:t>
            </a:r>
            <a:r>
              <a:rPr lang="en-US" altLang="en-US" sz="2800" i="1" dirty="0">
                <a:latin typeface="+mn-lt"/>
              </a:rPr>
              <a:t>u</a:t>
            </a:r>
            <a:r>
              <a:rPr lang="en-US" altLang="en-US" sz="2800" i="1" baseline="-25000" dirty="0">
                <a:latin typeface="+mn-lt"/>
              </a:rPr>
              <a:t>i</a:t>
            </a:r>
            <a:r>
              <a:rPr lang="en-US" altLang="en-US" sz="3200" dirty="0">
                <a:latin typeface="+mn-lt"/>
              </a:rPr>
              <a:t>)</a:t>
            </a:r>
            <a:r>
              <a:rPr lang="en-US" altLang="en-US" sz="3200" i="1" dirty="0">
                <a:latin typeface="+mn-lt"/>
              </a:rPr>
              <a:t>}</a:t>
            </a:r>
            <a:r>
              <a:rPr lang="en-US" altLang="en-US" sz="3200" i="1" dirty="0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CD18A4-3D93-C746-80BB-B1FC987C2D33}"/>
              </a:ext>
            </a:extLst>
          </p:cNvPr>
          <p:cNvGrpSpPr/>
          <p:nvPr/>
        </p:nvGrpSpPr>
        <p:grpSpPr>
          <a:xfrm>
            <a:off x="3027135" y="5637812"/>
            <a:ext cx="7034618" cy="1072227"/>
            <a:chOff x="3027135" y="5637812"/>
            <a:chExt cx="7034618" cy="1072227"/>
          </a:xfrm>
        </p:grpSpPr>
        <p:sp>
          <p:nvSpPr>
            <p:cNvPr id="78" name="Line 33">
              <a:extLst>
                <a:ext uri="{FF2B5EF4-FFF2-40B4-BE49-F238E27FC236}">
                  <a16:creationId xmlns:a16="http://schemas.microsoft.com/office/drawing/2014/main" id="{9C4B1B80-0BB4-8F40-8465-4FD53B2DE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481" y="5669562"/>
              <a:ext cx="174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9" name="Line 53">
              <a:extLst>
                <a:ext uri="{FF2B5EF4-FFF2-40B4-BE49-F238E27FC236}">
                  <a16:creationId xmlns:a16="http://schemas.microsoft.com/office/drawing/2014/main" id="{79E64125-C1DB-B546-9439-BAE60A04A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2594" y="5731183"/>
              <a:ext cx="376235" cy="5799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2" name="Text Box 54">
              <a:extLst>
                <a:ext uri="{FF2B5EF4-FFF2-40B4-BE49-F238E27FC236}">
                  <a16:creationId xmlns:a16="http://schemas.microsoft.com/office/drawing/2014/main" id="{8D508472-5111-9543-8884-ADE49373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135" y="6314866"/>
              <a:ext cx="7034618" cy="39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2400" dirty="0">
                  <a:latin typeface="+mn-lt"/>
                </a:rPr>
                <a:t>… but so does this, as each peer brings service capacity</a:t>
              </a:r>
            </a:p>
          </p:txBody>
        </p:sp>
        <p:sp>
          <p:nvSpPr>
            <p:cNvPr id="151" name="Line 53">
              <a:extLst>
                <a:ext uri="{FF2B5EF4-FFF2-40B4-BE49-F238E27FC236}">
                  <a16:creationId xmlns:a16="http://schemas.microsoft.com/office/drawing/2014/main" id="{C2E61335-33C5-8040-B976-4A6DABA4E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35121" y="5637812"/>
              <a:ext cx="376235" cy="46253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2" name="Text Box 54">
              <a:extLst>
                <a:ext uri="{FF2B5EF4-FFF2-40B4-BE49-F238E27FC236}">
                  <a16:creationId xmlns:a16="http://schemas.microsoft.com/office/drawing/2014/main" id="{5FCFA7D9-F5C4-B849-A76B-A54251B6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684" y="6045728"/>
              <a:ext cx="3187860" cy="39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2400" dirty="0">
                  <a:latin typeface="+mn-lt"/>
                </a:rPr>
                <a:t>increases linearly in </a:t>
              </a:r>
              <a:r>
                <a:rPr lang="en-US" altLang="en-US" sz="2400" i="1" dirty="0">
                  <a:latin typeface="+mn-lt"/>
                </a:rPr>
                <a:t>N</a:t>
              </a:r>
              <a:r>
                <a:rPr lang="en-US" altLang="en-US" sz="2400" dirty="0">
                  <a:latin typeface="+mn-lt"/>
                </a:rPr>
                <a:t> …</a:t>
              </a:r>
            </a:p>
          </p:txBody>
        </p:sp>
      </p:grpSp>
      <p:sp>
        <p:nvSpPr>
          <p:cNvPr id="145" name="Slide Number Placeholder 2">
            <a:extLst>
              <a:ext uri="{FF2B5EF4-FFF2-40B4-BE49-F238E27FC236}">
                <a16:creationId xmlns:a16="http://schemas.microsoft.com/office/drawing/2014/main" id="{BC91CBC4-36C0-F74A-BE01-5502315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6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vs. P2P: example</a:t>
            </a:r>
          </a:p>
        </p:txBody>
      </p:sp>
      <p:sp>
        <p:nvSpPr>
          <p:cNvPr id="145" name="Text Box 5">
            <a:extLst>
              <a:ext uri="{FF2B5EF4-FFF2-40B4-BE49-F238E27FC236}">
                <a16:creationId xmlns:a16="http://schemas.microsoft.com/office/drawing/2014/main" id="{EEB38FFC-0E85-9543-BFA8-AC6EA14A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045" y="1362602"/>
            <a:ext cx="7481468" cy="474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latin typeface="+mn-lt"/>
              </a:rPr>
              <a:t>client upload rate =</a:t>
            </a:r>
            <a:r>
              <a:rPr lang="en-US" altLang="en-US" sz="2400" i="1" dirty="0">
                <a:latin typeface="+mn-lt"/>
              </a:rPr>
              <a:t> u</a:t>
            </a:r>
            <a:r>
              <a:rPr lang="en-US" altLang="en-US" sz="2400" dirty="0">
                <a:latin typeface="+mn-lt"/>
              </a:rPr>
              <a:t>,  </a:t>
            </a:r>
            <a:r>
              <a:rPr lang="en-US" altLang="en-US" sz="2400" i="1" dirty="0">
                <a:latin typeface="+mn-lt"/>
              </a:rPr>
              <a:t>F/u </a:t>
            </a:r>
            <a:r>
              <a:rPr lang="en-US" altLang="en-US" sz="2400" dirty="0">
                <a:latin typeface="+mn-lt"/>
              </a:rPr>
              <a:t>= 1 hour,  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s</a:t>
            </a:r>
            <a:r>
              <a:rPr lang="en-US" altLang="en-US" sz="2400" i="1" dirty="0">
                <a:latin typeface="+mn-lt"/>
              </a:rPr>
              <a:t> = 10u,  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latin typeface="+mn-lt"/>
              </a:rPr>
              <a:t> ≥ u</a:t>
            </a:r>
            <a:r>
              <a:rPr lang="en-US" altLang="en-US" sz="2400" i="1" baseline="-25000" dirty="0">
                <a:latin typeface="+mn-lt"/>
              </a:rPr>
              <a:t>s</a:t>
            </a:r>
          </a:p>
        </p:txBody>
      </p:sp>
      <p:graphicFrame>
        <p:nvGraphicFramePr>
          <p:cNvPr id="146" name="Object 2">
            <a:extLst>
              <a:ext uri="{FF2B5EF4-FFF2-40B4-BE49-F238E27FC236}">
                <a16:creationId xmlns:a16="http://schemas.microsoft.com/office/drawing/2014/main" id="{DA2A3735-C6EA-E243-957F-9D948479E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6864" y="1835409"/>
          <a:ext cx="7031830" cy="479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34300" imgH="5295900" progId="Excel.Chart.8">
                  <p:embed/>
                </p:oleObj>
              </mc:Choice>
              <mc:Fallback>
                <p:oleObj name="Chart" r:id="rId3" imgW="7734300" imgH="5295900" progId="Excel.Chart.8">
                  <p:embed/>
                  <p:pic>
                    <p:nvPicPr>
                      <p:cNvPr id="146" name="Object 2">
                        <a:extLst>
                          <a:ext uri="{FF2B5EF4-FFF2-40B4-BE49-F238E27FC236}">
                            <a16:creationId xmlns:a16="http://schemas.microsoft.com/office/drawing/2014/main" id="{DA2A3735-C6EA-E243-957F-9D948479E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864" y="1835409"/>
                        <a:ext cx="7031830" cy="4790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7AAACF9-A4E2-714C-A130-30E3EF5AB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38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P2P file distribution: BitTorrent 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F70DCCB-36C3-394B-AA08-EB0F698C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84" y="1260022"/>
            <a:ext cx="71247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file divided into 256Kb chunks</a:t>
            </a:r>
          </a:p>
          <a:p>
            <a:pPr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peers in torrent send/receive file chunks</a:t>
            </a:r>
            <a:endParaRPr lang="en-US" altLang="en-US" sz="3200" dirty="0">
              <a:latin typeface="+mn-lt"/>
            </a:endParaRP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5650BC65-B000-EC4F-B4E6-547C48D65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096" y="2371997"/>
            <a:ext cx="3018775" cy="77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tracker:</a:t>
            </a:r>
            <a:r>
              <a:rPr lang="en-US" altLang="en-US" sz="2800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tracks peers 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participating in torrent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2814A19F-08C5-434B-8DB2-D4053753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019" y="2385559"/>
            <a:ext cx="4044723" cy="77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torrent:</a:t>
            </a:r>
            <a:r>
              <a:rPr lang="en-US" altLang="en-US" sz="2800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group of peers exchanging  chunks of a file</a:t>
            </a: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91218428-BF18-064C-AC6D-09C6F280B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045" y="3765096"/>
            <a:ext cx="1587" cy="536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83D9B80D-0209-4147-9E8B-F917A5CAC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5245" y="3493634"/>
            <a:ext cx="2551112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26">
            <a:extLst>
              <a:ext uri="{FF2B5EF4-FFF2-40B4-BE49-F238E27FC236}">
                <a16:creationId xmlns:a16="http://schemas.microsoft.com/office/drawing/2014/main" id="{F9471077-2BA5-5449-84C5-497550D1A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045" y="3644446"/>
            <a:ext cx="247650" cy="181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10E079A5-4F27-9043-ABC7-F13963D847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31932" y="3404734"/>
            <a:ext cx="1168400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5691CE8D-190A-8F4F-81D8-DA20F9A025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5957" y="3941309"/>
            <a:ext cx="2039938" cy="198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0B716A5B-3226-9240-889D-C421A6779B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3270" y="5906634"/>
            <a:ext cx="739775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CB541843-3E52-6849-8C3D-ACA1E8B0A9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2257" y="3603171"/>
            <a:ext cx="900113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52216A70-C583-4540-BB2D-CF1771FB2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7357" y="4989059"/>
            <a:ext cx="2120900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F807AF1E-A5B9-A540-A172-58D4029FD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7482" y="3547609"/>
            <a:ext cx="1182688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57AE3ACE-B172-774D-A007-D1E10D334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0395" y="5928859"/>
            <a:ext cx="376237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34">
            <a:extLst>
              <a:ext uri="{FF2B5EF4-FFF2-40B4-BE49-F238E27FC236}">
                <a16:creationId xmlns:a16="http://schemas.microsoft.com/office/drawing/2014/main" id="{AD1B36D1-84DC-F74A-AFE8-CA1FD75FB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970" y="6224134"/>
            <a:ext cx="14906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35">
            <a:extLst>
              <a:ext uri="{FF2B5EF4-FFF2-40B4-BE49-F238E27FC236}">
                <a16:creationId xmlns:a16="http://schemas.microsoft.com/office/drawing/2014/main" id="{4EFE36E1-3543-7248-A7C0-2AC7D4F7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70" y="4766809"/>
            <a:ext cx="15850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Alice arrives  …</a:t>
            </a:r>
          </a:p>
        </p:txBody>
      </p:sp>
      <p:sp>
        <p:nvSpPr>
          <p:cNvPr id="23" name="Line 38">
            <a:extLst>
              <a:ext uri="{FF2B5EF4-FFF2-40B4-BE49-F238E27FC236}">
                <a16:creationId xmlns:a16="http://schemas.microsoft.com/office/drawing/2014/main" id="{E123A252-D37E-4649-B66C-7F9C1DB6CC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1257" y="5163684"/>
            <a:ext cx="2635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4" name="Picture 39" descr="Alice">
            <a:extLst>
              <a:ext uri="{FF2B5EF4-FFF2-40B4-BE49-F238E27FC236}">
                <a16:creationId xmlns:a16="http://schemas.microsoft.com/office/drawing/2014/main" id="{6F308F82-9362-FC4F-921E-2715C3D3E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270" y="4284209"/>
            <a:ext cx="4746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Line 42">
            <a:extLst>
              <a:ext uri="{FF2B5EF4-FFF2-40B4-BE49-F238E27FC236}">
                <a16:creationId xmlns:a16="http://schemas.microsoft.com/office/drawing/2014/main" id="{3C11B289-FD57-9D4E-9E24-3A266C61D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4820" y="3122159"/>
            <a:ext cx="476250" cy="2587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 Box 35">
            <a:extLst>
              <a:ext uri="{FF2B5EF4-FFF2-40B4-BE49-F238E27FC236}">
                <a16:creationId xmlns:a16="http://schemas.microsoft.com/office/drawing/2014/main" id="{927C2D32-6615-3F4A-95AB-84426525C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857" y="5027159"/>
            <a:ext cx="21605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… obtains list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of peers from tracker</a:t>
            </a:r>
          </a:p>
        </p:txBody>
      </p:sp>
      <p:grpSp>
        <p:nvGrpSpPr>
          <p:cNvPr id="27" name="Group 68">
            <a:extLst>
              <a:ext uri="{FF2B5EF4-FFF2-40B4-BE49-F238E27FC236}">
                <a16:creationId xmlns:a16="http://schemas.microsoft.com/office/drawing/2014/main" id="{0CB0B1F3-FC8E-0A48-BF34-45F53DE7FC53}"/>
              </a:ext>
            </a:extLst>
          </p:cNvPr>
          <p:cNvGrpSpPr>
            <a:grpSpLocks/>
          </p:cNvGrpSpPr>
          <p:nvPr/>
        </p:nvGrpSpPr>
        <p:grpSpPr bwMode="auto">
          <a:xfrm>
            <a:off x="4528457" y="3571421"/>
            <a:ext cx="3492500" cy="2163763"/>
            <a:chOff x="1752" y="2166"/>
            <a:chExt cx="2200" cy="1363"/>
          </a:xfrm>
        </p:grpSpPr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07CCED51-0858-B14F-BA5F-7B3C851D3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" y="2166"/>
              <a:ext cx="361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AE1CB49D-CE6D-D143-95DB-E659615A3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" y="2352"/>
              <a:ext cx="218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327E99FD-0AAB-E84D-845A-9A6E34919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820"/>
              <a:ext cx="155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Text Box 35">
            <a:extLst>
              <a:ext uri="{FF2B5EF4-FFF2-40B4-BE49-F238E27FC236}">
                <a16:creationId xmlns:a16="http://schemas.microsoft.com/office/drawing/2014/main" id="{41FA99F8-69D2-FB4B-B615-224F5CEB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170" y="5568496"/>
            <a:ext cx="31720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… and begins exchanging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file chunks with peers in torrent</a:t>
            </a:r>
          </a:p>
        </p:txBody>
      </p:sp>
      <p:grpSp>
        <p:nvGrpSpPr>
          <p:cNvPr id="32" name="Group 71">
            <a:extLst>
              <a:ext uri="{FF2B5EF4-FFF2-40B4-BE49-F238E27FC236}">
                <a16:creationId xmlns:a16="http://schemas.microsoft.com/office/drawing/2014/main" id="{A0FCD1EA-5119-B341-A835-E304CBD33AC4}"/>
              </a:ext>
            </a:extLst>
          </p:cNvPr>
          <p:cNvGrpSpPr>
            <a:grpSpLocks/>
          </p:cNvGrpSpPr>
          <p:nvPr/>
        </p:nvGrpSpPr>
        <p:grpSpPr bwMode="auto">
          <a:xfrm>
            <a:off x="3931557" y="3080884"/>
            <a:ext cx="379413" cy="604837"/>
            <a:chOff x="4140" y="429"/>
            <a:chExt cx="1425" cy="2396"/>
          </a:xfrm>
        </p:grpSpPr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36B6D999-1302-CA4C-9CFD-B5CDD532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73">
              <a:extLst>
                <a:ext uri="{FF2B5EF4-FFF2-40B4-BE49-F238E27FC236}">
                  <a16:creationId xmlns:a16="http://schemas.microsoft.com/office/drawing/2014/main" id="{AE763A03-0DD4-834A-B674-79B066627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9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1AF22850-A524-C34B-9648-D7E113A5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E1031A0C-C898-9240-84A5-5DF224E4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76">
              <a:extLst>
                <a:ext uri="{FF2B5EF4-FFF2-40B4-BE49-F238E27FC236}">
                  <a16:creationId xmlns:a16="http://schemas.microsoft.com/office/drawing/2014/main" id="{FE7D0B4D-AB22-7349-A08A-69B9AFDF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38" name="Group 77">
              <a:extLst>
                <a:ext uri="{FF2B5EF4-FFF2-40B4-BE49-F238E27FC236}">
                  <a16:creationId xmlns:a16="http://schemas.microsoft.com/office/drawing/2014/main" id="{4BEA5B83-9C56-7E41-BD11-392356434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3" name="AutoShape 78">
                <a:extLst>
                  <a:ext uri="{FF2B5EF4-FFF2-40B4-BE49-F238E27FC236}">
                    <a16:creationId xmlns:a16="http://schemas.microsoft.com/office/drawing/2014/main" id="{A1F98537-39E1-5140-824E-666C1A8D1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64" name="AutoShape 79">
                <a:extLst>
                  <a:ext uri="{FF2B5EF4-FFF2-40B4-BE49-F238E27FC236}">
                    <a16:creationId xmlns:a16="http://schemas.microsoft.com/office/drawing/2014/main" id="{3E630405-7E91-474D-81B7-5BE15C86F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39" name="Rectangle 80">
              <a:extLst>
                <a:ext uri="{FF2B5EF4-FFF2-40B4-BE49-F238E27FC236}">
                  <a16:creationId xmlns:a16="http://schemas.microsoft.com/office/drawing/2014/main" id="{B81937BA-7B8F-934F-9886-304C1E0FE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40" name="Group 81">
              <a:extLst>
                <a:ext uri="{FF2B5EF4-FFF2-40B4-BE49-F238E27FC236}">
                  <a16:creationId xmlns:a16="http://schemas.microsoft.com/office/drawing/2014/main" id="{EB47381C-540F-D44E-B9A6-D96D60900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" name="AutoShape 82">
                <a:extLst>
                  <a:ext uri="{FF2B5EF4-FFF2-40B4-BE49-F238E27FC236}">
                    <a16:creationId xmlns:a16="http://schemas.microsoft.com/office/drawing/2014/main" id="{CB241153-BE70-A046-A468-0E9F962F2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62" name="AutoShape 83">
                <a:extLst>
                  <a:ext uri="{FF2B5EF4-FFF2-40B4-BE49-F238E27FC236}">
                    <a16:creationId xmlns:a16="http://schemas.microsoft.com/office/drawing/2014/main" id="{AE4F9DC7-0CE7-224E-AC2E-7172DE8E4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41" name="Rectangle 84">
              <a:extLst>
                <a:ext uri="{FF2B5EF4-FFF2-40B4-BE49-F238E27FC236}">
                  <a16:creationId xmlns:a16="http://schemas.microsoft.com/office/drawing/2014/main" id="{8C5EDE9F-7A54-8E4C-9F85-07C13C5C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42" name="Rectangle 85">
              <a:extLst>
                <a:ext uri="{FF2B5EF4-FFF2-40B4-BE49-F238E27FC236}">
                  <a16:creationId xmlns:a16="http://schemas.microsoft.com/office/drawing/2014/main" id="{6FEC7A6E-AAC2-3842-B9A4-935F2060D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5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43" name="Group 86">
              <a:extLst>
                <a:ext uri="{FF2B5EF4-FFF2-40B4-BE49-F238E27FC236}">
                  <a16:creationId xmlns:a16="http://schemas.microsoft.com/office/drawing/2014/main" id="{CAC1B168-07EE-3C44-9AEE-5914C1B8D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" name="AutoShape 87">
                <a:extLst>
                  <a:ext uri="{FF2B5EF4-FFF2-40B4-BE49-F238E27FC236}">
                    <a16:creationId xmlns:a16="http://schemas.microsoft.com/office/drawing/2014/main" id="{F49F383C-F941-F64A-8DDE-13A4D8D16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82"/>
                <a:ext cx="72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60" name="AutoShape 88">
                <a:extLst>
                  <a:ext uri="{FF2B5EF4-FFF2-40B4-BE49-F238E27FC236}">
                    <a16:creationId xmlns:a16="http://schemas.microsoft.com/office/drawing/2014/main" id="{E3456229-948B-9C4F-B503-DD55D3230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44" name="Freeform 89">
              <a:extLst>
                <a:ext uri="{FF2B5EF4-FFF2-40B4-BE49-F238E27FC236}">
                  <a16:creationId xmlns:a16="http://schemas.microsoft.com/office/drawing/2014/main" id="{3234093D-FE87-774F-B1CC-0588229AE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90">
              <a:extLst>
                <a:ext uri="{FF2B5EF4-FFF2-40B4-BE49-F238E27FC236}">
                  <a16:creationId xmlns:a16="http://schemas.microsoft.com/office/drawing/2014/main" id="{BA746CA5-383B-584C-B3CE-776F388C9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" name="AutoShape 91">
                <a:extLst>
                  <a:ext uri="{FF2B5EF4-FFF2-40B4-BE49-F238E27FC236}">
                    <a16:creationId xmlns:a16="http://schemas.microsoft.com/office/drawing/2014/main" id="{68AEEFFF-F3C4-BE40-8529-27EE2B357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58" name="AutoShape 92">
                <a:extLst>
                  <a:ext uri="{FF2B5EF4-FFF2-40B4-BE49-F238E27FC236}">
                    <a16:creationId xmlns:a16="http://schemas.microsoft.com/office/drawing/2014/main" id="{A5A04A8A-7369-354C-9B2B-CE0C0C572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8"/>
                <a:ext cx="706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46" name="Rectangle 93">
              <a:extLst>
                <a:ext uri="{FF2B5EF4-FFF2-40B4-BE49-F238E27FC236}">
                  <a16:creationId xmlns:a16="http://schemas.microsoft.com/office/drawing/2014/main" id="{618A0788-435C-8042-AA0E-E94601F03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2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25054F67-2153-544C-AC14-FB9950D72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F3155E84-B2BA-A749-84BE-14633D97E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96">
              <a:extLst>
                <a:ext uri="{FF2B5EF4-FFF2-40B4-BE49-F238E27FC236}">
                  <a16:creationId xmlns:a16="http://schemas.microsoft.com/office/drawing/2014/main" id="{CA182219-7AC0-E240-972C-91BD56BA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85F80E33-0DDA-284C-9587-26BBD9164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AutoShape 98">
              <a:extLst>
                <a:ext uri="{FF2B5EF4-FFF2-40B4-BE49-F238E27FC236}">
                  <a16:creationId xmlns:a16="http://schemas.microsoft.com/office/drawing/2014/main" id="{882E6AD3-0779-D044-AD1D-25D362270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8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2" name="AutoShape 99">
              <a:extLst>
                <a:ext uri="{FF2B5EF4-FFF2-40B4-BE49-F238E27FC236}">
                  <a16:creationId xmlns:a16="http://schemas.microsoft.com/office/drawing/2014/main" id="{7B40A6F7-0BA7-7E46-8BEC-61560B693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3" name="Oval 100">
              <a:extLst>
                <a:ext uri="{FF2B5EF4-FFF2-40B4-BE49-F238E27FC236}">
                  <a16:creationId xmlns:a16="http://schemas.microsoft.com/office/drawing/2014/main" id="{F7339661-C71C-C74D-AC1D-5ED32FE9B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4" name="Oval 101">
              <a:extLst>
                <a:ext uri="{FF2B5EF4-FFF2-40B4-BE49-F238E27FC236}">
                  <a16:creationId xmlns:a16="http://schemas.microsoft.com/office/drawing/2014/main" id="{B23B5791-AF12-DF45-86A6-EECA1ABBE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55" name="Oval 102">
              <a:extLst>
                <a:ext uri="{FF2B5EF4-FFF2-40B4-BE49-F238E27FC236}">
                  <a16:creationId xmlns:a16="http://schemas.microsoft.com/office/drawing/2014/main" id="{276ECC61-535B-904F-A386-35EBB8EC4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6" name="Rectangle 103">
              <a:extLst>
                <a:ext uri="{FF2B5EF4-FFF2-40B4-BE49-F238E27FC236}">
                  <a16:creationId xmlns:a16="http://schemas.microsoft.com/office/drawing/2014/main" id="{EA9915CD-687B-DC45-B384-ED68394FB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</p:grpSp>
      <p:grpSp>
        <p:nvGrpSpPr>
          <p:cNvPr id="65" name="Group 104">
            <a:extLst>
              <a:ext uri="{FF2B5EF4-FFF2-40B4-BE49-F238E27FC236}">
                <a16:creationId xmlns:a16="http://schemas.microsoft.com/office/drawing/2014/main" id="{A1CC28AD-9104-D040-9B79-0D23AB0DAD5C}"/>
              </a:ext>
            </a:extLst>
          </p:cNvPr>
          <p:cNvGrpSpPr>
            <a:grpSpLocks/>
          </p:cNvGrpSpPr>
          <p:nvPr/>
        </p:nvGrpSpPr>
        <p:grpSpPr bwMode="auto">
          <a:xfrm>
            <a:off x="3825195" y="4320721"/>
            <a:ext cx="685800" cy="588963"/>
            <a:chOff x="-44" y="1473"/>
            <a:chExt cx="981" cy="1105"/>
          </a:xfrm>
        </p:grpSpPr>
        <p:pic>
          <p:nvPicPr>
            <p:cNvPr id="66" name="Picture 105" descr="desktop_computer_stylized_medium">
              <a:extLst>
                <a:ext uri="{FF2B5EF4-FFF2-40B4-BE49-F238E27FC236}">
                  <a16:creationId xmlns:a16="http://schemas.microsoft.com/office/drawing/2014/main" id="{AAA9C191-A724-DE4E-A0DA-AF600AE1B4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106">
              <a:extLst>
                <a:ext uri="{FF2B5EF4-FFF2-40B4-BE49-F238E27FC236}">
                  <a16:creationId xmlns:a16="http://schemas.microsoft.com/office/drawing/2014/main" id="{E6FC85B1-48F0-1149-9E86-28C220903A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8" name="Group 107">
            <a:extLst>
              <a:ext uri="{FF2B5EF4-FFF2-40B4-BE49-F238E27FC236}">
                <a16:creationId xmlns:a16="http://schemas.microsoft.com/office/drawing/2014/main" id="{291F0955-3988-7649-881A-FC89468189F9}"/>
              </a:ext>
            </a:extLst>
          </p:cNvPr>
          <p:cNvGrpSpPr>
            <a:grpSpLocks/>
          </p:cNvGrpSpPr>
          <p:nvPr/>
        </p:nvGrpSpPr>
        <p:grpSpPr bwMode="auto">
          <a:xfrm>
            <a:off x="5195207" y="5333546"/>
            <a:ext cx="728663" cy="620713"/>
            <a:chOff x="-44" y="1473"/>
            <a:chExt cx="981" cy="1105"/>
          </a:xfrm>
        </p:grpSpPr>
        <p:pic>
          <p:nvPicPr>
            <p:cNvPr id="69" name="Picture 108" descr="desktop_computer_stylized_medium">
              <a:extLst>
                <a:ext uri="{FF2B5EF4-FFF2-40B4-BE49-F238E27FC236}">
                  <a16:creationId xmlns:a16="http://schemas.microsoft.com/office/drawing/2014/main" id="{A5B37F88-7E58-784C-A670-1879282E5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Freeform 109">
              <a:extLst>
                <a:ext uri="{FF2B5EF4-FFF2-40B4-BE49-F238E27FC236}">
                  <a16:creationId xmlns:a16="http://schemas.microsoft.com/office/drawing/2014/main" id="{36940F9B-2451-784C-B12A-984CF4F873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1" name="Group 110">
            <a:extLst>
              <a:ext uri="{FF2B5EF4-FFF2-40B4-BE49-F238E27FC236}">
                <a16:creationId xmlns:a16="http://schemas.microsoft.com/office/drawing/2014/main" id="{7F424135-822E-074D-8C17-2A6D6E4ECAFC}"/>
              </a:ext>
            </a:extLst>
          </p:cNvPr>
          <p:cNvGrpSpPr>
            <a:grpSpLocks/>
          </p:cNvGrpSpPr>
          <p:nvPr/>
        </p:nvGrpSpPr>
        <p:grpSpPr bwMode="auto">
          <a:xfrm>
            <a:off x="5477782" y="5911396"/>
            <a:ext cx="728663" cy="620713"/>
            <a:chOff x="-44" y="1473"/>
            <a:chExt cx="981" cy="1105"/>
          </a:xfrm>
        </p:grpSpPr>
        <p:pic>
          <p:nvPicPr>
            <p:cNvPr id="72" name="Picture 111" descr="desktop_computer_stylized_medium">
              <a:extLst>
                <a:ext uri="{FF2B5EF4-FFF2-40B4-BE49-F238E27FC236}">
                  <a16:creationId xmlns:a16="http://schemas.microsoft.com/office/drawing/2014/main" id="{34FC5600-17A3-934E-9068-3B83CAC0C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112">
              <a:extLst>
                <a:ext uri="{FF2B5EF4-FFF2-40B4-BE49-F238E27FC236}">
                  <a16:creationId xmlns:a16="http://schemas.microsoft.com/office/drawing/2014/main" id="{1F97F168-3D00-8E46-92E2-721EC7E48C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4" name="Group 113">
            <a:extLst>
              <a:ext uri="{FF2B5EF4-FFF2-40B4-BE49-F238E27FC236}">
                <a16:creationId xmlns:a16="http://schemas.microsoft.com/office/drawing/2014/main" id="{C0B69BA7-0A27-7147-8AE9-1235C7C2A05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11445" y="4757284"/>
            <a:ext cx="728662" cy="620712"/>
            <a:chOff x="-44" y="1473"/>
            <a:chExt cx="981" cy="1105"/>
          </a:xfrm>
        </p:grpSpPr>
        <p:pic>
          <p:nvPicPr>
            <p:cNvPr id="75" name="Picture 114" descr="desktop_computer_stylized_medium">
              <a:extLst>
                <a:ext uri="{FF2B5EF4-FFF2-40B4-BE49-F238E27FC236}">
                  <a16:creationId xmlns:a16="http://schemas.microsoft.com/office/drawing/2014/main" id="{F68E7B52-0A00-E34D-9DA2-D7620DF99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15">
              <a:extLst>
                <a:ext uri="{FF2B5EF4-FFF2-40B4-BE49-F238E27FC236}">
                  <a16:creationId xmlns:a16="http://schemas.microsoft.com/office/drawing/2014/main" id="{CE23A1DF-EAD7-2749-B795-7C811DC2D39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7" name="Group 116">
            <a:extLst>
              <a:ext uri="{FF2B5EF4-FFF2-40B4-BE49-F238E27FC236}">
                <a16:creationId xmlns:a16="http://schemas.microsoft.com/office/drawing/2014/main" id="{C526BB6F-CCDA-0147-8FD0-0F99323F14A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63782" y="6095546"/>
            <a:ext cx="728663" cy="620713"/>
            <a:chOff x="-44" y="1473"/>
            <a:chExt cx="981" cy="1105"/>
          </a:xfrm>
        </p:grpSpPr>
        <p:pic>
          <p:nvPicPr>
            <p:cNvPr id="78" name="Picture 117" descr="desktop_computer_stylized_medium">
              <a:extLst>
                <a:ext uri="{FF2B5EF4-FFF2-40B4-BE49-F238E27FC236}">
                  <a16:creationId xmlns:a16="http://schemas.microsoft.com/office/drawing/2014/main" id="{CDFEDAF9-00CE-D646-8AE3-A7056CD30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Freeform 118">
              <a:extLst>
                <a:ext uri="{FF2B5EF4-FFF2-40B4-BE49-F238E27FC236}">
                  <a16:creationId xmlns:a16="http://schemas.microsoft.com/office/drawing/2014/main" id="{3D90A292-9B8F-C447-9D79-AE8C9EFF48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0" name="Group 119">
            <a:extLst>
              <a:ext uri="{FF2B5EF4-FFF2-40B4-BE49-F238E27FC236}">
                <a16:creationId xmlns:a16="http://schemas.microsoft.com/office/drawing/2014/main" id="{EBC84D0D-5129-DF4C-A746-CE2C76A20F2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65420" y="3569834"/>
            <a:ext cx="728662" cy="620712"/>
            <a:chOff x="-44" y="1473"/>
            <a:chExt cx="981" cy="1105"/>
          </a:xfrm>
        </p:grpSpPr>
        <p:pic>
          <p:nvPicPr>
            <p:cNvPr id="81" name="Picture 120" descr="desktop_computer_stylized_medium">
              <a:extLst>
                <a:ext uri="{FF2B5EF4-FFF2-40B4-BE49-F238E27FC236}">
                  <a16:creationId xmlns:a16="http://schemas.microsoft.com/office/drawing/2014/main" id="{2B752977-E9AF-8448-A2A8-48B1A471F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121">
              <a:extLst>
                <a:ext uri="{FF2B5EF4-FFF2-40B4-BE49-F238E27FC236}">
                  <a16:creationId xmlns:a16="http://schemas.microsoft.com/office/drawing/2014/main" id="{2274D970-5334-1C44-8D20-95FD2587EC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3" name="Group 122">
            <a:extLst>
              <a:ext uri="{FF2B5EF4-FFF2-40B4-BE49-F238E27FC236}">
                <a16:creationId xmlns:a16="http://schemas.microsoft.com/office/drawing/2014/main" id="{62B3C8B1-8466-CB42-A6EE-7A22909B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68370" y="3036434"/>
            <a:ext cx="641350" cy="620712"/>
            <a:chOff x="-44" y="1473"/>
            <a:chExt cx="981" cy="1105"/>
          </a:xfrm>
        </p:grpSpPr>
        <p:pic>
          <p:nvPicPr>
            <p:cNvPr id="84" name="Picture 123" descr="desktop_computer_stylized_medium">
              <a:extLst>
                <a:ext uri="{FF2B5EF4-FFF2-40B4-BE49-F238E27FC236}">
                  <a16:creationId xmlns:a16="http://schemas.microsoft.com/office/drawing/2014/main" id="{AD943130-CC29-0E45-BFE5-3AE7F2348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Freeform 124">
              <a:extLst>
                <a:ext uri="{FF2B5EF4-FFF2-40B4-BE49-F238E27FC236}">
                  <a16:creationId xmlns:a16="http://schemas.microsoft.com/office/drawing/2014/main" id="{D17179B0-F425-1A49-8872-7CDBB0C527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6" name="Group 125">
            <a:extLst>
              <a:ext uri="{FF2B5EF4-FFF2-40B4-BE49-F238E27FC236}">
                <a16:creationId xmlns:a16="http://schemas.microsoft.com/office/drawing/2014/main" id="{E26E3FBF-E723-C040-AEE6-20EB441E8176}"/>
              </a:ext>
            </a:extLst>
          </p:cNvPr>
          <p:cNvGrpSpPr>
            <a:grpSpLocks/>
          </p:cNvGrpSpPr>
          <p:nvPr/>
        </p:nvGrpSpPr>
        <p:grpSpPr bwMode="auto">
          <a:xfrm>
            <a:off x="4758645" y="3026909"/>
            <a:ext cx="728662" cy="620712"/>
            <a:chOff x="-44" y="1473"/>
            <a:chExt cx="981" cy="1105"/>
          </a:xfrm>
        </p:grpSpPr>
        <p:pic>
          <p:nvPicPr>
            <p:cNvPr id="87" name="Picture 126" descr="desktop_computer_stylized_medium">
              <a:extLst>
                <a:ext uri="{FF2B5EF4-FFF2-40B4-BE49-F238E27FC236}">
                  <a16:creationId xmlns:a16="http://schemas.microsoft.com/office/drawing/2014/main" id="{CF1B6F22-9E2D-1944-A52E-E77715BBD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Freeform 127">
              <a:extLst>
                <a:ext uri="{FF2B5EF4-FFF2-40B4-BE49-F238E27FC236}">
                  <a16:creationId xmlns:a16="http://schemas.microsoft.com/office/drawing/2014/main" id="{22CD730C-689A-E44A-91FA-E8E769CE6D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9" name="Group 129">
            <a:extLst>
              <a:ext uri="{FF2B5EF4-FFF2-40B4-BE49-F238E27FC236}">
                <a16:creationId xmlns:a16="http://schemas.microsoft.com/office/drawing/2014/main" id="{A7C3F63D-74FF-7040-B1D2-88A6E501954B}"/>
              </a:ext>
            </a:extLst>
          </p:cNvPr>
          <p:cNvGrpSpPr>
            <a:grpSpLocks/>
          </p:cNvGrpSpPr>
          <p:nvPr/>
        </p:nvGrpSpPr>
        <p:grpSpPr bwMode="auto">
          <a:xfrm>
            <a:off x="6858907" y="5639934"/>
            <a:ext cx="490538" cy="412750"/>
            <a:chOff x="-44" y="1473"/>
            <a:chExt cx="981" cy="1105"/>
          </a:xfrm>
        </p:grpSpPr>
        <p:pic>
          <p:nvPicPr>
            <p:cNvPr id="90" name="Picture 130" descr="desktop_computer_stylized_medium">
              <a:extLst>
                <a:ext uri="{FF2B5EF4-FFF2-40B4-BE49-F238E27FC236}">
                  <a16:creationId xmlns:a16="http://schemas.microsoft.com/office/drawing/2014/main" id="{45B574F8-532C-7A46-A7F4-34C6C8EBE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131">
              <a:extLst>
                <a:ext uri="{FF2B5EF4-FFF2-40B4-BE49-F238E27FC236}">
                  <a16:creationId xmlns:a16="http://schemas.microsoft.com/office/drawing/2014/main" id="{AA7D8503-5853-054D-99AB-15405424F7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2" name="Slide Number Placeholder 2">
            <a:extLst>
              <a:ext uri="{FF2B5EF4-FFF2-40B4-BE49-F238E27FC236}">
                <a16:creationId xmlns:a16="http://schemas.microsoft.com/office/drawing/2014/main" id="{D180C486-5822-2A45-9DAC-775AB430B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P2P file distribution: BitTorrent </a:t>
            </a:r>
          </a:p>
        </p:txBody>
      </p:sp>
      <p:sp>
        <p:nvSpPr>
          <p:cNvPr id="170" name="Rectangle 3">
            <a:extLst>
              <a:ext uri="{FF2B5EF4-FFF2-40B4-BE49-F238E27FC236}">
                <a16:creationId xmlns:a16="http://schemas.microsoft.com/office/drawing/2014/main" id="{BE01B437-A61A-9B44-A8C0-5BAD0C501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27" y="1548887"/>
            <a:ext cx="5988276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7338" indent="-287338"/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peer joining torrent: </a:t>
            </a:r>
          </a:p>
          <a:p>
            <a:pPr marL="681038" lvl="1" indent="-223838"/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has no chunks, but will accumulate them over time from other peers</a:t>
            </a:r>
          </a:p>
          <a:p>
            <a:pPr marL="681038" lvl="1" indent="-223838"/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registers with tracker to get list of peers, connects to subset of peers (</a:t>
            </a:r>
            <a:r>
              <a:rPr lang="ja-JP" altLang="en-US" kern="0">
                <a:latin typeface="+mn-lt"/>
                <a:ea typeface="ＭＳ Ｐゴシック" panose="020B0600070205080204" pitchFamily="34" charset="-128"/>
              </a:rPr>
              <a:t>“</a:t>
            </a:r>
            <a:r>
              <a:rPr lang="en-US" altLang="ja-JP" kern="0" dirty="0">
                <a:latin typeface="+mn-lt"/>
                <a:ea typeface="ＭＳ Ｐゴシック" panose="020B0600070205080204" pitchFamily="34" charset="-128"/>
              </a:rPr>
              <a:t>neighbors</a:t>
            </a:r>
            <a:r>
              <a:rPr lang="ja-JP" altLang="en-US" kern="0">
                <a:latin typeface="+mn-lt"/>
                <a:ea typeface="ＭＳ Ｐゴシック" panose="020B0600070205080204" pitchFamily="34" charset="-128"/>
              </a:rPr>
              <a:t>”</a:t>
            </a:r>
            <a:r>
              <a:rPr lang="en-US" altLang="ja-JP" kern="0" dirty="0">
                <a:latin typeface="+mn-lt"/>
                <a:ea typeface="ＭＳ Ｐゴシック" panose="020B0600070205080204" pitchFamily="34" charset="-128"/>
              </a:rPr>
              <a:t>)</a:t>
            </a:r>
            <a:endParaRPr lang="en-US" altLang="en-US" kern="0" dirty="0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171" name="Rectangle 3">
            <a:extLst>
              <a:ext uri="{FF2B5EF4-FFF2-40B4-BE49-F238E27FC236}">
                <a16:creationId xmlns:a16="http://schemas.microsoft.com/office/drawing/2014/main" id="{5C2EB95A-93B0-5840-9C4D-A1762DAE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56" y="3728719"/>
            <a:ext cx="10987087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while downloading, peer uploads chunks to other peers</a:t>
            </a:r>
          </a:p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peer may change peers with whom it exchanges chunks</a:t>
            </a:r>
          </a:p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churn:</a:t>
            </a: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 peers may come and go</a:t>
            </a:r>
          </a:p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once peer has entire file, it may (selfishly) leave or (altruistically) remain in torrent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CC6C24-30FA-4B4E-A269-8C92EE25BC46}"/>
              </a:ext>
            </a:extLst>
          </p:cNvPr>
          <p:cNvGrpSpPr/>
          <p:nvPr/>
        </p:nvGrpSpPr>
        <p:grpSpPr>
          <a:xfrm>
            <a:off x="7622267" y="1307114"/>
            <a:ext cx="3567113" cy="2233613"/>
            <a:chOff x="4911725" y="1368425"/>
            <a:chExt cx="3567113" cy="2233613"/>
          </a:xfrm>
        </p:grpSpPr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14C1BFA3-2422-AC40-9443-EBE4B0BA4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5225" y="1646238"/>
              <a:ext cx="1736725" cy="879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3" name="Line 26">
              <a:extLst>
                <a:ext uri="{FF2B5EF4-FFF2-40B4-BE49-F238E27FC236}">
                  <a16:creationId xmlns:a16="http://schemas.microsoft.com/office/drawing/2014/main" id="{858C722B-AFD5-3E4D-9F07-FC6900AAF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113" y="1739900"/>
              <a:ext cx="168275" cy="1133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BE071C26-5E10-4944-8BF4-10C7EC327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23125" y="1590675"/>
              <a:ext cx="795338" cy="190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75CAFCCB-E9E5-7E49-A3F5-4958D9F89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7500" y="1925638"/>
              <a:ext cx="1389063" cy="1239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1D50DE5F-310E-1E44-85DE-D65DD48DF2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6238" y="3152775"/>
              <a:ext cx="504825" cy="101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Line 30">
              <a:extLst>
                <a:ext uri="{FF2B5EF4-FFF2-40B4-BE49-F238E27FC236}">
                  <a16:creationId xmlns:a16="http://schemas.microsoft.com/office/drawing/2014/main" id="{FCC71024-B200-2142-949F-7D4A1B58C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9213" y="1714500"/>
              <a:ext cx="612775" cy="1046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8" name="Line 31">
              <a:extLst>
                <a:ext uri="{FF2B5EF4-FFF2-40B4-BE49-F238E27FC236}">
                  <a16:creationId xmlns:a16="http://schemas.microsoft.com/office/drawing/2014/main" id="{1790AC52-1931-A649-B99C-E0E7A089E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25" y="2579688"/>
              <a:ext cx="1443038" cy="3016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9" name="Line 32">
              <a:extLst>
                <a:ext uri="{FF2B5EF4-FFF2-40B4-BE49-F238E27FC236}">
                  <a16:creationId xmlns:a16="http://schemas.microsoft.com/office/drawing/2014/main" id="{89975C97-C827-D24A-B1B2-BA5EA5D13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963" y="1679575"/>
              <a:ext cx="804862" cy="796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0" name="Line 33">
              <a:extLst>
                <a:ext uri="{FF2B5EF4-FFF2-40B4-BE49-F238E27FC236}">
                  <a16:creationId xmlns:a16="http://schemas.microsoft.com/office/drawing/2014/main" id="{955D94CA-F543-6C42-A481-B95EE0186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165475"/>
              <a:ext cx="255587" cy="1365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1" name="Line 34">
              <a:extLst>
                <a:ext uri="{FF2B5EF4-FFF2-40B4-BE49-F238E27FC236}">
                  <a16:creationId xmlns:a16="http://schemas.microsoft.com/office/drawing/2014/main" id="{951F72DA-656A-D04D-A6C4-F256EFF9F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63" y="3351213"/>
              <a:ext cx="10144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2" name="Line 38">
              <a:extLst>
                <a:ext uri="{FF2B5EF4-FFF2-40B4-BE49-F238E27FC236}">
                  <a16:creationId xmlns:a16="http://schemas.microsoft.com/office/drawing/2014/main" id="{ADF91B87-973E-B548-B697-7A4079F1C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69238" y="2689225"/>
              <a:ext cx="179387" cy="5857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pic>
          <p:nvPicPr>
            <p:cNvPr id="183" name="Picture 39" descr="Alice">
              <a:extLst>
                <a:ext uri="{FF2B5EF4-FFF2-40B4-BE49-F238E27FC236}">
                  <a16:creationId xmlns:a16="http://schemas.microsoft.com/office/drawing/2014/main" id="{6B053B54-9371-384F-AA52-C17465B4D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" name="Group 70">
              <a:extLst>
                <a:ext uri="{FF2B5EF4-FFF2-40B4-BE49-F238E27FC236}">
                  <a16:creationId xmlns:a16="http://schemas.microsoft.com/office/drawing/2014/main" id="{C2114C23-66BC-A94F-90FC-3D02C545B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6413" y="1693863"/>
              <a:ext cx="2378075" cy="1350962"/>
              <a:chOff x="1752" y="2166"/>
              <a:chExt cx="2200" cy="1363"/>
            </a:xfrm>
          </p:grpSpPr>
          <p:sp>
            <p:nvSpPr>
              <p:cNvPr id="185" name="Line 22">
                <a:extLst>
                  <a:ext uri="{FF2B5EF4-FFF2-40B4-BE49-F238E27FC236}">
                    <a16:creationId xmlns:a16="http://schemas.microsoft.com/office/drawing/2014/main" id="{1EE108AC-8EA8-9E4A-8B60-F03F95966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166"/>
                <a:ext cx="361" cy="5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6" name="Line 23">
                <a:extLst>
                  <a:ext uri="{FF2B5EF4-FFF2-40B4-BE49-F238E27FC236}">
                    <a16:creationId xmlns:a16="http://schemas.microsoft.com/office/drawing/2014/main" id="{94D6AFB9-0FA7-C54C-9273-1A9C925AB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0" y="2352"/>
                <a:ext cx="2182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7" name="Line 24">
                <a:extLst>
                  <a:ext uri="{FF2B5EF4-FFF2-40B4-BE49-F238E27FC236}">
                    <a16:creationId xmlns:a16="http://schemas.microsoft.com/office/drawing/2014/main" id="{5EF4CD56-8EA9-104D-8536-971136B6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6" y="2820"/>
                <a:ext cx="1550" cy="7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188" name="Group 74">
              <a:extLst>
                <a:ext uri="{FF2B5EF4-FFF2-40B4-BE49-F238E27FC236}">
                  <a16:creationId xmlns:a16="http://schemas.microsoft.com/office/drawing/2014/main" id="{6DD06914-3CEB-5944-8E89-2281584DC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189" name="Freeform 75">
                <a:extLst>
                  <a:ext uri="{FF2B5EF4-FFF2-40B4-BE49-F238E27FC236}">
                    <a16:creationId xmlns:a16="http://schemas.microsoft.com/office/drawing/2014/main" id="{F5672D96-1DC0-8542-9E0B-AF784B6A0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0" name="Rectangle 76">
                <a:extLst>
                  <a:ext uri="{FF2B5EF4-FFF2-40B4-BE49-F238E27FC236}">
                    <a16:creationId xmlns:a16="http://schemas.microsoft.com/office/drawing/2014/main" id="{C336E614-D216-1B4B-9137-3DC6CF7E4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1" name="Freeform 77">
                <a:extLst>
                  <a:ext uri="{FF2B5EF4-FFF2-40B4-BE49-F238E27FC236}">
                    <a16:creationId xmlns:a16="http://schemas.microsoft.com/office/drawing/2014/main" id="{CF30086E-5442-B544-9BE6-2A808367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2" name="Freeform 78">
                <a:extLst>
                  <a:ext uri="{FF2B5EF4-FFF2-40B4-BE49-F238E27FC236}">
                    <a16:creationId xmlns:a16="http://schemas.microsoft.com/office/drawing/2014/main" id="{6218844C-628C-9547-A930-560D56E3C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3" name="Rectangle 79">
                <a:extLst>
                  <a:ext uri="{FF2B5EF4-FFF2-40B4-BE49-F238E27FC236}">
                    <a16:creationId xmlns:a16="http://schemas.microsoft.com/office/drawing/2014/main" id="{78F96A30-FAB7-9144-8F42-1A1B06A33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94" name="Group 80">
                <a:extLst>
                  <a:ext uri="{FF2B5EF4-FFF2-40B4-BE49-F238E27FC236}">
                    <a16:creationId xmlns:a16="http://schemas.microsoft.com/office/drawing/2014/main" id="{CECE58F7-7C4A-6F4D-B141-662B63F4A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9" name="AutoShape 81">
                  <a:extLst>
                    <a:ext uri="{FF2B5EF4-FFF2-40B4-BE49-F238E27FC236}">
                      <a16:creationId xmlns:a16="http://schemas.microsoft.com/office/drawing/2014/main" id="{D6885AAA-38B2-874F-868F-D00AB0AE0D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20" name="AutoShape 82">
                  <a:extLst>
                    <a:ext uri="{FF2B5EF4-FFF2-40B4-BE49-F238E27FC236}">
                      <a16:creationId xmlns:a16="http://schemas.microsoft.com/office/drawing/2014/main" id="{D61DCFC9-1720-7344-ADE6-5BD09A2BF1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95" name="Rectangle 83">
                <a:extLst>
                  <a:ext uri="{FF2B5EF4-FFF2-40B4-BE49-F238E27FC236}">
                    <a16:creationId xmlns:a16="http://schemas.microsoft.com/office/drawing/2014/main" id="{00D3BEA9-BA94-4044-B1D5-60A03C5C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96" name="Group 84">
                <a:extLst>
                  <a:ext uri="{FF2B5EF4-FFF2-40B4-BE49-F238E27FC236}">
                    <a16:creationId xmlns:a16="http://schemas.microsoft.com/office/drawing/2014/main" id="{641C2446-7A8F-504B-A8D3-FFEE0A9F63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7" name="AutoShape 85">
                  <a:extLst>
                    <a:ext uri="{FF2B5EF4-FFF2-40B4-BE49-F238E27FC236}">
                      <a16:creationId xmlns:a16="http://schemas.microsoft.com/office/drawing/2014/main" id="{C1F8A523-4462-AA4E-A2CA-29700E5DA9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18" name="AutoShape 86">
                  <a:extLst>
                    <a:ext uri="{FF2B5EF4-FFF2-40B4-BE49-F238E27FC236}">
                      <a16:creationId xmlns:a16="http://schemas.microsoft.com/office/drawing/2014/main" id="{A7658F20-DB1E-464F-B607-89092583F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97" name="Rectangle 87">
                <a:extLst>
                  <a:ext uri="{FF2B5EF4-FFF2-40B4-BE49-F238E27FC236}">
                    <a16:creationId xmlns:a16="http://schemas.microsoft.com/office/drawing/2014/main" id="{FF6AAAAA-212A-7640-8D6B-0B6EBD377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8" name="Rectangle 88">
                <a:extLst>
                  <a:ext uri="{FF2B5EF4-FFF2-40B4-BE49-F238E27FC236}">
                    <a16:creationId xmlns:a16="http://schemas.microsoft.com/office/drawing/2014/main" id="{634123E3-AB71-9F41-AD39-43B0691F1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99" name="Group 89">
                <a:extLst>
                  <a:ext uri="{FF2B5EF4-FFF2-40B4-BE49-F238E27FC236}">
                    <a16:creationId xmlns:a16="http://schemas.microsoft.com/office/drawing/2014/main" id="{DC8E4BD8-4B64-1943-9731-721699A50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5" name="AutoShape 90">
                  <a:extLst>
                    <a:ext uri="{FF2B5EF4-FFF2-40B4-BE49-F238E27FC236}">
                      <a16:creationId xmlns:a16="http://schemas.microsoft.com/office/drawing/2014/main" id="{9D762048-3A14-564D-8D32-3584214E9D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16" name="AutoShape 91">
                  <a:extLst>
                    <a:ext uri="{FF2B5EF4-FFF2-40B4-BE49-F238E27FC236}">
                      <a16:creationId xmlns:a16="http://schemas.microsoft.com/office/drawing/2014/main" id="{70B9E041-38D0-8A42-BB42-D0980C10A8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00" name="Freeform 92">
                <a:extLst>
                  <a:ext uri="{FF2B5EF4-FFF2-40B4-BE49-F238E27FC236}">
                    <a16:creationId xmlns:a16="http://schemas.microsoft.com/office/drawing/2014/main" id="{A2F57490-585D-EB4E-AE3D-BCA33E2C5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201" name="Group 93">
                <a:extLst>
                  <a:ext uri="{FF2B5EF4-FFF2-40B4-BE49-F238E27FC236}">
                    <a16:creationId xmlns:a16="http://schemas.microsoft.com/office/drawing/2014/main" id="{E23C7B19-F840-FC48-9713-9AD00E8223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3" name="AutoShape 94">
                  <a:extLst>
                    <a:ext uri="{FF2B5EF4-FFF2-40B4-BE49-F238E27FC236}">
                      <a16:creationId xmlns:a16="http://schemas.microsoft.com/office/drawing/2014/main" id="{BF66CD5C-FF99-7742-A14E-2BF2A67A6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14" name="AutoShape 95">
                  <a:extLst>
                    <a:ext uri="{FF2B5EF4-FFF2-40B4-BE49-F238E27FC236}">
                      <a16:creationId xmlns:a16="http://schemas.microsoft.com/office/drawing/2014/main" id="{F9BFFD59-AD2B-894C-819C-8D0DB9F2B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02" name="Rectangle 96">
                <a:extLst>
                  <a:ext uri="{FF2B5EF4-FFF2-40B4-BE49-F238E27FC236}">
                    <a16:creationId xmlns:a16="http://schemas.microsoft.com/office/drawing/2014/main" id="{136171A0-1A0E-8D4C-968B-D17501670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3" name="Freeform 97">
                <a:extLst>
                  <a:ext uri="{FF2B5EF4-FFF2-40B4-BE49-F238E27FC236}">
                    <a16:creationId xmlns:a16="http://schemas.microsoft.com/office/drawing/2014/main" id="{C874C361-C380-FC49-8D1C-E30AEEA3F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4" name="Freeform 98">
                <a:extLst>
                  <a:ext uri="{FF2B5EF4-FFF2-40B4-BE49-F238E27FC236}">
                    <a16:creationId xmlns:a16="http://schemas.microsoft.com/office/drawing/2014/main" id="{69C7F287-7595-D94A-87BF-95ED49C48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5" name="Oval 99">
                <a:extLst>
                  <a:ext uri="{FF2B5EF4-FFF2-40B4-BE49-F238E27FC236}">
                    <a16:creationId xmlns:a16="http://schemas.microsoft.com/office/drawing/2014/main" id="{B6E84AB5-17E1-1D48-BB79-04D2F0075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6" name="Freeform 100">
                <a:extLst>
                  <a:ext uri="{FF2B5EF4-FFF2-40B4-BE49-F238E27FC236}">
                    <a16:creationId xmlns:a16="http://schemas.microsoft.com/office/drawing/2014/main" id="{AF0BF05C-4E38-CD4D-AAFA-E3493B155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7" name="AutoShape 101">
                <a:extLst>
                  <a:ext uri="{FF2B5EF4-FFF2-40B4-BE49-F238E27FC236}">
                    <a16:creationId xmlns:a16="http://schemas.microsoft.com/office/drawing/2014/main" id="{3BB53BC2-8678-8446-A21F-7F33E9E59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8" name="AutoShape 102">
                <a:extLst>
                  <a:ext uri="{FF2B5EF4-FFF2-40B4-BE49-F238E27FC236}">
                    <a16:creationId xmlns:a16="http://schemas.microsoft.com/office/drawing/2014/main" id="{FA369464-AABC-BC43-830F-4E4F32FF7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9" name="Oval 103">
                <a:extLst>
                  <a:ext uri="{FF2B5EF4-FFF2-40B4-BE49-F238E27FC236}">
                    <a16:creationId xmlns:a16="http://schemas.microsoft.com/office/drawing/2014/main" id="{0447F744-AF3E-9645-978F-EF1BDF0F8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10" name="Oval 104">
                <a:extLst>
                  <a:ext uri="{FF2B5EF4-FFF2-40B4-BE49-F238E27FC236}">
                    <a16:creationId xmlns:a16="http://schemas.microsoft.com/office/drawing/2014/main" id="{F3C8D210-BF7D-C848-B9FD-FC1172BBD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11" name="Oval 105">
                <a:extLst>
                  <a:ext uri="{FF2B5EF4-FFF2-40B4-BE49-F238E27FC236}">
                    <a16:creationId xmlns:a16="http://schemas.microsoft.com/office/drawing/2014/main" id="{1162ED20-6D4D-2B4D-84EF-299FDEE0E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12" name="Rectangle 106">
                <a:extLst>
                  <a:ext uri="{FF2B5EF4-FFF2-40B4-BE49-F238E27FC236}">
                    <a16:creationId xmlns:a16="http://schemas.microsoft.com/office/drawing/2014/main" id="{922CF934-873F-EE4F-8726-E969CD36E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1" name="Group 107">
              <a:extLst>
                <a:ext uri="{FF2B5EF4-FFF2-40B4-BE49-F238E27FC236}">
                  <a16:creationId xmlns:a16="http://schemas.microsoft.com/office/drawing/2014/main" id="{C09F8334-EB5D-B748-8BA6-989D939E7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id="222" name="Picture 108" descr="desktop_computer_stylized_medium">
                <a:extLst>
                  <a:ext uri="{FF2B5EF4-FFF2-40B4-BE49-F238E27FC236}">
                    <a16:creationId xmlns:a16="http://schemas.microsoft.com/office/drawing/2014/main" id="{7B90278E-E343-294D-95CB-02DB24F6F5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3" name="Freeform 109">
                <a:extLst>
                  <a:ext uri="{FF2B5EF4-FFF2-40B4-BE49-F238E27FC236}">
                    <a16:creationId xmlns:a16="http://schemas.microsoft.com/office/drawing/2014/main" id="{C59628E1-7338-E340-96DD-685A37B046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4" name="Group 110">
              <a:extLst>
                <a:ext uri="{FF2B5EF4-FFF2-40B4-BE49-F238E27FC236}">
                  <a16:creationId xmlns:a16="http://schemas.microsoft.com/office/drawing/2014/main" id="{698F5DBF-2E9C-2B40-817E-23F3F51AF6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id="225" name="Picture 111" descr="desktop_computer_stylized_medium">
                <a:extLst>
                  <a:ext uri="{FF2B5EF4-FFF2-40B4-BE49-F238E27FC236}">
                    <a16:creationId xmlns:a16="http://schemas.microsoft.com/office/drawing/2014/main" id="{A569F870-B03B-2547-AF54-2C7AB5CBA0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" name="Freeform 112">
                <a:extLst>
                  <a:ext uri="{FF2B5EF4-FFF2-40B4-BE49-F238E27FC236}">
                    <a16:creationId xmlns:a16="http://schemas.microsoft.com/office/drawing/2014/main" id="{FE964CAF-BEB0-BB4E-AFC5-27ADA2EB8BD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7" name="Group 113">
              <a:extLst>
                <a:ext uri="{FF2B5EF4-FFF2-40B4-BE49-F238E27FC236}">
                  <a16:creationId xmlns:a16="http://schemas.microsoft.com/office/drawing/2014/main" id="{87763CBB-3A99-594D-9997-C76D56E76D3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id="228" name="Picture 114" descr="desktop_computer_stylized_medium">
                <a:extLst>
                  <a:ext uri="{FF2B5EF4-FFF2-40B4-BE49-F238E27FC236}">
                    <a16:creationId xmlns:a16="http://schemas.microsoft.com/office/drawing/2014/main" id="{3267E1E1-F140-B44D-B892-C5FED1C27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9" name="Freeform 115">
                <a:extLst>
                  <a:ext uri="{FF2B5EF4-FFF2-40B4-BE49-F238E27FC236}">
                    <a16:creationId xmlns:a16="http://schemas.microsoft.com/office/drawing/2014/main" id="{4F25EA7B-20CB-6C44-8B62-34CDC77621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0" name="Group 116">
              <a:extLst>
                <a:ext uri="{FF2B5EF4-FFF2-40B4-BE49-F238E27FC236}">
                  <a16:creationId xmlns:a16="http://schemas.microsoft.com/office/drawing/2014/main" id="{169372BE-08CD-7743-8E5E-EC2549832F5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id="231" name="Picture 117" descr="desktop_computer_stylized_medium">
                <a:extLst>
                  <a:ext uri="{FF2B5EF4-FFF2-40B4-BE49-F238E27FC236}">
                    <a16:creationId xmlns:a16="http://schemas.microsoft.com/office/drawing/2014/main" id="{5232EB59-D06A-CC48-8C1F-E6DAC4976B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2" name="Freeform 118">
                <a:extLst>
                  <a:ext uri="{FF2B5EF4-FFF2-40B4-BE49-F238E27FC236}">
                    <a16:creationId xmlns:a16="http://schemas.microsoft.com/office/drawing/2014/main" id="{7E7C9F9D-CF89-7545-A1F6-153E2A098F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3" name="Group 119">
              <a:extLst>
                <a:ext uri="{FF2B5EF4-FFF2-40B4-BE49-F238E27FC236}">
                  <a16:creationId xmlns:a16="http://schemas.microsoft.com/office/drawing/2014/main" id="{6869CE49-D074-8547-B1D6-1F3B5B649C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id="234" name="Picture 120" descr="desktop_computer_stylized_medium">
                <a:extLst>
                  <a:ext uri="{FF2B5EF4-FFF2-40B4-BE49-F238E27FC236}">
                    <a16:creationId xmlns:a16="http://schemas.microsoft.com/office/drawing/2014/main" id="{CE44033F-D4B7-7D46-9D32-0960EEB7B5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" name="Freeform 121">
                <a:extLst>
                  <a:ext uri="{FF2B5EF4-FFF2-40B4-BE49-F238E27FC236}">
                    <a16:creationId xmlns:a16="http://schemas.microsoft.com/office/drawing/2014/main" id="{45A28D47-C9B3-0346-8D70-361E7A4895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6" name="Group 123">
              <a:extLst>
                <a:ext uri="{FF2B5EF4-FFF2-40B4-BE49-F238E27FC236}">
                  <a16:creationId xmlns:a16="http://schemas.microsoft.com/office/drawing/2014/main" id="{4E1A9762-2C71-9742-9958-EB2D29E68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id="237" name="Picture 124" descr="desktop_computer_stylized_medium">
                <a:extLst>
                  <a:ext uri="{FF2B5EF4-FFF2-40B4-BE49-F238E27FC236}">
                    <a16:creationId xmlns:a16="http://schemas.microsoft.com/office/drawing/2014/main" id="{55B1C28D-66D6-DE4E-ADB5-D53BE1D2A0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Freeform 125">
                <a:extLst>
                  <a:ext uri="{FF2B5EF4-FFF2-40B4-BE49-F238E27FC236}">
                    <a16:creationId xmlns:a16="http://schemas.microsoft.com/office/drawing/2014/main" id="{4765CFB0-3F34-B94A-BC7F-EA339FAACF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9" name="Group 126">
              <a:extLst>
                <a:ext uri="{FF2B5EF4-FFF2-40B4-BE49-F238E27FC236}">
                  <a16:creationId xmlns:a16="http://schemas.microsoft.com/office/drawing/2014/main" id="{BE7F0DCF-B627-C847-8279-68A197C89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id="240" name="Picture 127" descr="desktop_computer_stylized_medium">
                <a:extLst>
                  <a:ext uri="{FF2B5EF4-FFF2-40B4-BE49-F238E27FC236}">
                    <a16:creationId xmlns:a16="http://schemas.microsoft.com/office/drawing/2014/main" id="{BA3AF685-5B1F-CC40-BCAF-7158B2390D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128">
                <a:extLst>
                  <a:ext uri="{FF2B5EF4-FFF2-40B4-BE49-F238E27FC236}">
                    <a16:creationId xmlns:a16="http://schemas.microsoft.com/office/drawing/2014/main" id="{1A33777F-82DA-EC46-B881-5C25C2D626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2" name="Group 129">
              <a:extLst>
                <a:ext uri="{FF2B5EF4-FFF2-40B4-BE49-F238E27FC236}">
                  <a16:creationId xmlns:a16="http://schemas.microsoft.com/office/drawing/2014/main" id="{A4323D8E-CD7F-4742-B00D-A10D592D0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id="243" name="Picture 130" descr="desktop_computer_stylized_medium">
                <a:extLst>
                  <a:ext uri="{FF2B5EF4-FFF2-40B4-BE49-F238E27FC236}">
                    <a16:creationId xmlns:a16="http://schemas.microsoft.com/office/drawing/2014/main" id="{39C6AFB3-E3B3-AA47-9771-00781B94A9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4" name="Freeform 131">
                <a:extLst>
                  <a:ext uri="{FF2B5EF4-FFF2-40B4-BE49-F238E27FC236}">
                    <a16:creationId xmlns:a16="http://schemas.microsoft.com/office/drawing/2014/main" id="{4679D4E0-5A0A-B34D-AA7C-D7A6E8AE3F8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5" name="Group 132">
              <a:extLst>
                <a:ext uri="{FF2B5EF4-FFF2-40B4-BE49-F238E27FC236}">
                  <a16:creationId xmlns:a16="http://schemas.microsoft.com/office/drawing/2014/main" id="{73C52904-5489-6E4E-8226-879A26291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id="246" name="Picture 133" descr="desktop_computer_stylized_medium">
                <a:extLst>
                  <a:ext uri="{FF2B5EF4-FFF2-40B4-BE49-F238E27FC236}">
                    <a16:creationId xmlns:a16="http://schemas.microsoft.com/office/drawing/2014/main" id="{E7C23640-AF67-8245-9B29-88C1A9B166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134">
                <a:extLst>
                  <a:ext uri="{FF2B5EF4-FFF2-40B4-BE49-F238E27FC236}">
                    <a16:creationId xmlns:a16="http://schemas.microsoft.com/office/drawing/2014/main" id="{CDD2AFE9-4A15-5147-897C-7BE6039DB5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4878E67F-D509-FD42-BE8D-29D25C1A4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9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BitTorrent: requesting, sending file chunks</a:t>
            </a:r>
          </a:p>
        </p:txBody>
      </p:sp>
      <p:sp>
        <p:nvSpPr>
          <p:cNvPr id="85" name="Rectangle 4">
            <a:extLst>
              <a:ext uri="{FF2B5EF4-FFF2-40B4-BE49-F238E27FC236}">
                <a16:creationId xmlns:a16="http://schemas.microsoft.com/office/drawing/2014/main" id="{ABE3BA82-1C3D-064A-9166-C67DC2170C39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510619"/>
            <a:ext cx="4521200" cy="4117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indent="0"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Requesting chunks:</a:t>
            </a:r>
          </a:p>
          <a:p>
            <a:pPr marL="406400" indent="-276225">
              <a:buFont typeface="Wingdings" charset="2"/>
              <a:buChar char="§"/>
              <a:defRPr/>
            </a:pPr>
            <a:r>
              <a:rPr lang="en-US" dirty="0"/>
              <a:t>at any given time, different peers have different subsets of file chunks</a:t>
            </a:r>
          </a:p>
          <a:p>
            <a:pPr marL="406400" indent="-276225">
              <a:buFont typeface="Wingdings" charset="2"/>
              <a:buChar char="§"/>
              <a:defRPr/>
            </a:pPr>
            <a:r>
              <a:rPr lang="en-US" dirty="0"/>
              <a:t>periodically, Alice asks each peer for list of chunks that they have</a:t>
            </a:r>
          </a:p>
          <a:p>
            <a:pPr marL="406400" indent="-276225">
              <a:buFont typeface="Wingdings" charset="2"/>
              <a:buChar char="§"/>
              <a:defRPr/>
            </a:pPr>
            <a:r>
              <a:rPr lang="en-US" dirty="0"/>
              <a:t>Alice requests missing chunks from peers, rarest first</a:t>
            </a:r>
          </a:p>
        </p:txBody>
      </p:sp>
      <p:sp>
        <p:nvSpPr>
          <p:cNvPr id="86" name="Rectangle 6">
            <a:extLst>
              <a:ext uri="{FF2B5EF4-FFF2-40B4-BE49-F238E27FC236}">
                <a16:creationId xmlns:a16="http://schemas.microsoft.com/office/drawing/2014/main" id="{5CFA8E56-2FAA-FC49-B7B7-8A06FD9D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271" y="1412473"/>
            <a:ext cx="5714999" cy="5039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5875" indent="0"/>
            <a:r>
              <a:rPr lang="en-US" altLang="en-US" sz="3200" dirty="0">
                <a:solidFill>
                  <a:srgbClr val="CC0000"/>
                </a:solidFill>
                <a:latin typeface="+mn-lt"/>
              </a:rPr>
              <a:t>Sending chunks: tit-for-tat</a:t>
            </a:r>
          </a:p>
          <a:p>
            <a:pPr marL="406400" indent="-341313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Alice sends chunks to those four peers currently sending her chunks </a:t>
            </a:r>
            <a:r>
              <a:rPr lang="en-US" altLang="en-US" sz="2800" i="1" dirty="0">
                <a:latin typeface="+mn-lt"/>
              </a:rPr>
              <a:t>at highest rate</a:t>
            </a:r>
            <a:r>
              <a:rPr lang="en-US" altLang="en-US" sz="2800" dirty="0">
                <a:latin typeface="+mn-lt"/>
              </a:rPr>
              <a:t> 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other peers are choked by Alice (do not receive chunks from her)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re-evaluate top 4 every</a:t>
            </a:r>
            <a:r>
              <a:rPr lang="zh-CN" altLang="en-US" sz="2400">
                <a:latin typeface="+mn-lt"/>
              </a:rPr>
              <a:t> </a:t>
            </a:r>
            <a:r>
              <a:rPr lang="en-US" altLang="en-US" sz="2400">
                <a:latin typeface="+mn-lt"/>
              </a:rPr>
              <a:t>10 </a:t>
            </a:r>
            <a:r>
              <a:rPr lang="en-US" altLang="en-US" sz="2400" dirty="0">
                <a:latin typeface="+mn-lt"/>
              </a:rPr>
              <a:t>secs</a:t>
            </a:r>
          </a:p>
          <a:p>
            <a:pPr marL="471488" indent="-341313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every 30 secs: randomly select another peer, starts sending chunks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+mn-lt"/>
              </a:rPr>
              <a:t>“optimistically unchoke” this peer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newly chosen peer may join top 4</a:t>
            </a:r>
          </a:p>
          <a:p>
            <a:pPr>
              <a:buClr>
                <a:srgbClr val="000099"/>
              </a:buClr>
              <a:buSzTx/>
              <a:buFont typeface="Wingdings" pitchFamily="2" charset="2"/>
              <a:buChar char="§"/>
            </a:pPr>
            <a:endParaRPr lang="en-US" altLang="en-US" dirty="0">
              <a:latin typeface="Gill Sans MT" panose="020B0502020104020203" pitchFamily="34" charset="77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EB65444-34EE-4547-8616-7800EB55C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52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BitTorrent: tit-for-tat</a:t>
            </a:r>
          </a:p>
        </p:txBody>
      </p:sp>
      <p:pic>
        <p:nvPicPr>
          <p:cNvPr id="7" name="Picture 13" descr="Alice">
            <a:extLst>
              <a:ext uri="{FF2B5EF4-FFF2-40B4-BE49-F238E27FC236}">
                <a16:creationId xmlns:a16="http://schemas.microsoft.com/office/drawing/2014/main" id="{8741BF70-C5D5-9A4F-93C1-15959E9C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027" y="517842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5">
            <a:extLst>
              <a:ext uri="{FF2B5EF4-FFF2-40B4-BE49-F238E27FC236}">
                <a16:creationId xmlns:a16="http://schemas.microsoft.com/office/drawing/2014/main" id="{EC6F316B-7159-F14D-8C61-058945C987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2914" y="4184650"/>
            <a:ext cx="1473200" cy="596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85312597-E60F-8D4C-A9EB-F6893D485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927" y="5010150"/>
            <a:ext cx="965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792D9181-0B03-BC4F-899D-82D2EA8580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8614" y="5124450"/>
            <a:ext cx="59690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2D784DE7-BFF3-9C40-B976-5BA78149FD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1514" y="3308350"/>
            <a:ext cx="419100" cy="647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A1C1198D-163B-9148-9612-0787A145D3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3114" y="3892550"/>
            <a:ext cx="787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C2DCB036-D113-5443-8F3C-DF1496779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114" y="4362450"/>
            <a:ext cx="59690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pic>
        <p:nvPicPr>
          <p:cNvPr id="14" name="Picture 22" descr="Bob">
            <a:extLst>
              <a:ext uri="{FF2B5EF4-FFF2-40B4-BE49-F238E27FC236}">
                <a16:creationId xmlns:a16="http://schemas.microsoft.com/office/drawing/2014/main" id="{A84998C7-BF5D-E24D-8A4A-8765DDF4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702" y="46069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23">
            <a:extLst>
              <a:ext uri="{FF2B5EF4-FFF2-40B4-BE49-F238E27FC236}">
                <a16:creationId xmlns:a16="http://schemas.microsoft.com/office/drawing/2014/main" id="{26116A51-4E13-DE4D-96FD-9486C5FBF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0314" y="4159250"/>
            <a:ext cx="1435100" cy="482600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E5EFBCB-9F3E-F141-A779-E04A3C86C9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23014" y="4248150"/>
            <a:ext cx="1397000" cy="4699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FD13D6CC-D7F1-884F-8F51-9C419483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1114" y="4349750"/>
            <a:ext cx="1371600" cy="4826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DACC5EA5-F1C3-BD42-A042-51775E5F6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046" y="1288142"/>
            <a:ext cx="4789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(1) Alice “</a:t>
            </a:r>
            <a:r>
              <a:rPr lang="en-US" altLang="ja-JP" sz="2400" dirty="0">
                <a:latin typeface="+mn-lt"/>
              </a:rPr>
              <a:t>optimistically unchokes” Bob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DE11FF06-2EB6-DE4E-9955-89EC60B6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7" y="1711330"/>
            <a:ext cx="8496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(2) Alice becomes one of Bob’</a:t>
            </a:r>
            <a:r>
              <a:rPr lang="en-US" altLang="ja-JP" sz="2400" dirty="0">
                <a:latin typeface="+mn-lt"/>
              </a:rPr>
              <a:t>s top-four providers; Bob reciprocates</a:t>
            </a:r>
            <a:endParaRPr lang="en-US" altLang="en-US" sz="2400" dirty="0">
              <a:latin typeface="+mn-lt"/>
            </a:endParaRPr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16606440-1C32-3D4E-A1E4-E55876C8B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9" y="2124086"/>
            <a:ext cx="62574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(3) Bob becomes one of Alice’</a:t>
            </a:r>
            <a:r>
              <a:rPr lang="en-US" altLang="ja-JP" sz="2400" dirty="0">
                <a:latin typeface="+mn-lt"/>
              </a:rPr>
              <a:t>s top-four providers</a:t>
            </a:r>
            <a:endParaRPr lang="en-US" altLang="en-US" sz="2400" dirty="0">
              <a:latin typeface="+mn-lt"/>
            </a:endParaRP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F65951EA-D399-4948-A91F-C888B7CD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902" y="5338537"/>
            <a:ext cx="4897389" cy="830997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>
                <a:latin typeface="+mn-lt"/>
              </a:rPr>
              <a:t>higher upload rate:</a:t>
            </a:r>
            <a:r>
              <a:rPr lang="en-US" altLang="en-US" sz="2400" dirty="0">
                <a:latin typeface="+mn-lt"/>
              </a:rPr>
              <a:t> find better trading partners, get file faster !</a:t>
            </a:r>
          </a:p>
        </p:txBody>
      </p:sp>
      <p:grpSp>
        <p:nvGrpSpPr>
          <p:cNvPr id="22" name="Group 52">
            <a:extLst>
              <a:ext uri="{FF2B5EF4-FFF2-40B4-BE49-F238E27FC236}">
                <a16:creationId xmlns:a16="http://schemas.microsoft.com/office/drawing/2014/main" id="{65490274-4BA6-774A-B416-07955688B60F}"/>
              </a:ext>
            </a:extLst>
          </p:cNvPr>
          <p:cNvGrpSpPr>
            <a:grpSpLocks/>
          </p:cNvGrpSpPr>
          <p:nvPr/>
        </p:nvGrpSpPr>
        <p:grpSpPr bwMode="auto">
          <a:xfrm>
            <a:off x="2194152" y="5014913"/>
            <a:ext cx="762000" cy="752475"/>
            <a:chOff x="-44" y="1473"/>
            <a:chExt cx="981" cy="1105"/>
          </a:xfrm>
        </p:grpSpPr>
        <p:pic>
          <p:nvPicPr>
            <p:cNvPr id="23" name="Picture 53" descr="desktop_computer_stylized_medium">
              <a:extLst>
                <a:ext uri="{FF2B5EF4-FFF2-40B4-BE49-F238E27FC236}">
                  <a16:creationId xmlns:a16="http://schemas.microsoft.com/office/drawing/2014/main" id="{72C8D70E-1AE3-CB40-AFD6-460B761828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E4AA1D2E-1517-8A4B-AB9B-C7191BBEA3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25" name="Group 55">
            <a:extLst>
              <a:ext uri="{FF2B5EF4-FFF2-40B4-BE49-F238E27FC236}">
                <a16:creationId xmlns:a16="http://schemas.microsoft.com/office/drawing/2014/main" id="{B5877426-113E-4645-9901-821F444D3C78}"/>
              </a:ext>
            </a:extLst>
          </p:cNvPr>
          <p:cNvGrpSpPr>
            <a:grpSpLocks/>
          </p:cNvGrpSpPr>
          <p:nvPr/>
        </p:nvGrpSpPr>
        <p:grpSpPr bwMode="auto">
          <a:xfrm>
            <a:off x="2889477" y="5776913"/>
            <a:ext cx="762000" cy="752475"/>
            <a:chOff x="-44" y="1473"/>
            <a:chExt cx="981" cy="1105"/>
          </a:xfrm>
        </p:grpSpPr>
        <p:pic>
          <p:nvPicPr>
            <p:cNvPr id="26" name="Picture 56" descr="desktop_computer_stylized_medium">
              <a:extLst>
                <a:ext uri="{FF2B5EF4-FFF2-40B4-BE49-F238E27FC236}">
                  <a16:creationId xmlns:a16="http://schemas.microsoft.com/office/drawing/2014/main" id="{ED1A5E6B-965E-454E-9989-4DEC33639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DD6D3C44-22E2-B449-9FDA-221947FA5E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28" name="Group 58">
            <a:extLst>
              <a:ext uri="{FF2B5EF4-FFF2-40B4-BE49-F238E27FC236}">
                <a16:creationId xmlns:a16="http://schemas.microsoft.com/office/drawing/2014/main" id="{0E9167DB-CB01-E04A-946E-D0BD377ECA5A}"/>
              </a:ext>
            </a:extLst>
          </p:cNvPr>
          <p:cNvGrpSpPr>
            <a:grpSpLocks/>
          </p:cNvGrpSpPr>
          <p:nvPr/>
        </p:nvGrpSpPr>
        <p:grpSpPr bwMode="auto">
          <a:xfrm>
            <a:off x="1708377" y="3894138"/>
            <a:ext cx="762000" cy="752475"/>
            <a:chOff x="-44" y="1473"/>
            <a:chExt cx="981" cy="1105"/>
          </a:xfrm>
        </p:grpSpPr>
        <p:pic>
          <p:nvPicPr>
            <p:cNvPr id="29" name="Picture 59" descr="desktop_computer_stylized_medium">
              <a:extLst>
                <a:ext uri="{FF2B5EF4-FFF2-40B4-BE49-F238E27FC236}">
                  <a16:creationId xmlns:a16="http://schemas.microsoft.com/office/drawing/2014/main" id="{3FC86540-2AE3-6C45-A57C-8C7A57DEE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D582964-4BDA-5043-B12E-8CB52E1A4A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31" name="Group 61">
            <a:extLst>
              <a:ext uri="{FF2B5EF4-FFF2-40B4-BE49-F238E27FC236}">
                <a16:creationId xmlns:a16="http://schemas.microsoft.com/office/drawing/2014/main" id="{AC057CF7-B165-FC49-A311-D35170CD591D}"/>
              </a:ext>
            </a:extLst>
          </p:cNvPr>
          <p:cNvGrpSpPr>
            <a:grpSpLocks/>
          </p:cNvGrpSpPr>
          <p:nvPr/>
        </p:nvGrpSpPr>
        <p:grpSpPr bwMode="auto">
          <a:xfrm>
            <a:off x="3672114" y="4427538"/>
            <a:ext cx="762000" cy="752475"/>
            <a:chOff x="-44" y="1473"/>
            <a:chExt cx="981" cy="1105"/>
          </a:xfrm>
        </p:grpSpPr>
        <p:pic>
          <p:nvPicPr>
            <p:cNvPr id="32" name="Picture 62" descr="desktop_computer_stylized_medium">
              <a:extLst>
                <a:ext uri="{FF2B5EF4-FFF2-40B4-BE49-F238E27FC236}">
                  <a16:creationId xmlns:a16="http://schemas.microsoft.com/office/drawing/2014/main" id="{18C1044E-BABC-1349-9269-834754B68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63">
              <a:extLst>
                <a:ext uri="{FF2B5EF4-FFF2-40B4-BE49-F238E27FC236}">
                  <a16:creationId xmlns:a16="http://schemas.microsoft.com/office/drawing/2014/main" id="{78C58B97-061E-EA4D-AA38-0150EABAF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34" name="Group 64">
            <a:extLst>
              <a:ext uri="{FF2B5EF4-FFF2-40B4-BE49-F238E27FC236}">
                <a16:creationId xmlns:a16="http://schemas.microsoft.com/office/drawing/2014/main" id="{8374CADC-5475-174C-A033-E425F815732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99539" y="4351338"/>
            <a:ext cx="762000" cy="752475"/>
            <a:chOff x="-44" y="1473"/>
            <a:chExt cx="981" cy="1105"/>
          </a:xfrm>
        </p:grpSpPr>
        <p:pic>
          <p:nvPicPr>
            <p:cNvPr id="35" name="Picture 65" descr="desktop_computer_stylized_medium">
              <a:extLst>
                <a:ext uri="{FF2B5EF4-FFF2-40B4-BE49-F238E27FC236}">
                  <a16:creationId xmlns:a16="http://schemas.microsoft.com/office/drawing/2014/main" id="{E829CC9A-8A66-4B4E-9FF3-CEAE73497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66">
              <a:extLst>
                <a:ext uri="{FF2B5EF4-FFF2-40B4-BE49-F238E27FC236}">
                  <a16:creationId xmlns:a16="http://schemas.microsoft.com/office/drawing/2014/main" id="{BE509D07-5156-594C-9BF4-2A36E639DB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37" name="Group 67">
            <a:extLst>
              <a:ext uri="{FF2B5EF4-FFF2-40B4-BE49-F238E27FC236}">
                <a16:creationId xmlns:a16="http://schemas.microsoft.com/office/drawing/2014/main" id="{BFB32E89-5273-0E4F-AB0A-3A5BD88706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50352" y="3513138"/>
            <a:ext cx="762000" cy="752475"/>
            <a:chOff x="-44" y="1473"/>
            <a:chExt cx="981" cy="1105"/>
          </a:xfrm>
        </p:grpSpPr>
        <p:pic>
          <p:nvPicPr>
            <p:cNvPr id="38" name="Picture 68" descr="desktop_computer_stylized_medium">
              <a:extLst>
                <a:ext uri="{FF2B5EF4-FFF2-40B4-BE49-F238E27FC236}">
                  <a16:creationId xmlns:a16="http://schemas.microsoft.com/office/drawing/2014/main" id="{7E65096A-F8A7-654C-9729-36316DFF5B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69">
              <a:extLst>
                <a:ext uri="{FF2B5EF4-FFF2-40B4-BE49-F238E27FC236}">
                  <a16:creationId xmlns:a16="http://schemas.microsoft.com/office/drawing/2014/main" id="{FE95B6B4-20A8-EF43-BAAF-C599F2F3BC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40" name="Group 70">
            <a:extLst>
              <a:ext uri="{FF2B5EF4-FFF2-40B4-BE49-F238E27FC236}">
                <a16:creationId xmlns:a16="http://schemas.microsoft.com/office/drawing/2014/main" id="{C47D9ABE-3F3C-2147-9673-332BCE8C2E7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58239" y="2892425"/>
            <a:ext cx="762000" cy="752475"/>
            <a:chOff x="-44" y="1473"/>
            <a:chExt cx="981" cy="1105"/>
          </a:xfrm>
        </p:grpSpPr>
        <p:pic>
          <p:nvPicPr>
            <p:cNvPr id="41" name="Picture 71" descr="desktop_computer_stylized_medium">
              <a:extLst>
                <a:ext uri="{FF2B5EF4-FFF2-40B4-BE49-F238E27FC236}">
                  <a16:creationId xmlns:a16="http://schemas.microsoft.com/office/drawing/2014/main" id="{E0B0EA6D-DC65-F345-866C-FF8D43D27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72">
              <a:extLst>
                <a:ext uri="{FF2B5EF4-FFF2-40B4-BE49-F238E27FC236}">
                  <a16:creationId xmlns:a16="http://schemas.microsoft.com/office/drawing/2014/main" id="{4B8179CA-F544-1947-AB02-D4AFC3D0110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43" name="Group 74">
            <a:extLst>
              <a:ext uri="{FF2B5EF4-FFF2-40B4-BE49-F238E27FC236}">
                <a16:creationId xmlns:a16="http://schemas.microsoft.com/office/drawing/2014/main" id="{3AAB7190-C86B-6B40-A2D8-F0FAFE0A25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35902" y="3883025"/>
            <a:ext cx="762000" cy="752475"/>
            <a:chOff x="-44" y="1473"/>
            <a:chExt cx="981" cy="1105"/>
          </a:xfrm>
        </p:grpSpPr>
        <p:pic>
          <p:nvPicPr>
            <p:cNvPr id="44" name="Picture 75" descr="desktop_computer_stylized_medium">
              <a:extLst>
                <a:ext uri="{FF2B5EF4-FFF2-40B4-BE49-F238E27FC236}">
                  <a16:creationId xmlns:a16="http://schemas.microsoft.com/office/drawing/2014/main" id="{E10FCAF4-5DCA-C147-944D-68091F53F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76">
              <a:extLst>
                <a:ext uri="{FF2B5EF4-FFF2-40B4-BE49-F238E27FC236}">
                  <a16:creationId xmlns:a16="http://schemas.microsoft.com/office/drawing/2014/main" id="{ED9B8D15-5F2D-AE4E-95C9-E1F0A26E1B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46" name="Group 80">
            <a:extLst>
              <a:ext uri="{FF2B5EF4-FFF2-40B4-BE49-F238E27FC236}">
                <a16:creationId xmlns:a16="http://schemas.microsoft.com/office/drawing/2014/main" id="{76F60E48-C369-D742-9AC3-453C2EB2296B}"/>
              </a:ext>
            </a:extLst>
          </p:cNvPr>
          <p:cNvGrpSpPr>
            <a:grpSpLocks/>
          </p:cNvGrpSpPr>
          <p:nvPr/>
        </p:nvGrpSpPr>
        <p:grpSpPr bwMode="auto">
          <a:xfrm>
            <a:off x="5815239" y="2717800"/>
            <a:ext cx="762000" cy="1177925"/>
            <a:chOff x="4746" y="1528"/>
            <a:chExt cx="480" cy="742"/>
          </a:xfrm>
        </p:grpSpPr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713595DD-629E-964F-90C7-0E04B74B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" y="1962"/>
              <a:ext cx="2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grpSp>
          <p:nvGrpSpPr>
            <p:cNvPr id="48" name="Group 77">
              <a:extLst>
                <a:ext uri="{FF2B5EF4-FFF2-40B4-BE49-F238E27FC236}">
                  <a16:creationId xmlns:a16="http://schemas.microsoft.com/office/drawing/2014/main" id="{AD97E688-C674-9D46-B533-DA6C65ECA57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id="49" name="Picture 78" descr="desktop_computer_stylized_medium">
                <a:extLst>
                  <a:ext uri="{FF2B5EF4-FFF2-40B4-BE49-F238E27FC236}">
                    <a16:creationId xmlns:a16="http://schemas.microsoft.com/office/drawing/2014/main" id="{A710A2EC-D64C-6A4F-A921-3C453CCA3D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Freeform 79">
                <a:extLst>
                  <a:ext uri="{FF2B5EF4-FFF2-40B4-BE49-F238E27FC236}">
                    <a16:creationId xmlns:a16="http://schemas.microsoft.com/office/drawing/2014/main" id="{AEBDADBC-EFC3-B643-B7C3-E2DB8819FDC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grpSp>
        <p:nvGrpSpPr>
          <p:cNvPr id="51" name="Group 87">
            <a:extLst>
              <a:ext uri="{FF2B5EF4-FFF2-40B4-BE49-F238E27FC236}">
                <a16:creationId xmlns:a16="http://schemas.microsoft.com/office/drawing/2014/main" id="{C55F25CE-5FFF-CB47-A09A-CEBC929646BA}"/>
              </a:ext>
            </a:extLst>
          </p:cNvPr>
          <p:cNvGrpSpPr>
            <a:grpSpLocks/>
          </p:cNvGrpSpPr>
          <p:nvPr/>
        </p:nvGrpSpPr>
        <p:grpSpPr bwMode="auto">
          <a:xfrm>
            <a:off x="2905352" y="3206750"/>
            <a:ext cx="1112837" cy="1219200"/>
            <a:chOff x="4779" y="2386"/>
            <a:chExt cx="701" cy="768"/>
          </a:xfrm>
        </p:grpSpPr>
        <p:sp>
          <p:nvSpPr>
            <p:cNvPr id="52" name="Line 46">
              <a:extLst>
                <a:ext uri="{FF2B5EF4-FFF2-40B4-BE49-F238E27FC236}">
                  <a16:creationId xmlns:a16="http://schemas.microsoft.com/office/drawing/2014/main" id="{8CEC77D4-CDB3-A04E-93BD-09A60C76B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2812"/>
              <a:ext cx="241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grpSp>
          <p:nvGrpSpPr>
            <p:cNvPr id="53" name="Group 84">
              <a:extLst>
                <a:ext uri="{FF2B5EF4-FFF2-40B4-BE49-F238E27FC236}">
                  <a16:creationId xmlns:a16="http://schemas.microsoft.com/office/drawing/2014/main" id="{39CD941B-F7CC-0249-91C8-8CDBC22385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id="54" name="Picture 85" descr="desktop_computer_stylized_medium">
                <a:extLst>
                  <a:ext uri="{FF2B5EF4-FFF2-40B4-BE49-F238E27FC236}">
                    <a16:creationId xmlns:a16="http://schemas.microsoft.com/office/drawing/2014/main" id="{0384D9E6-2AF2-1444-833F-1ACDCE810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Freeform 86">
                <a:extLst>
                  <a:ext uri="{FF2B5EF4-FFF2-40B4-BE49-F238E27FC236}">
                    <a16:creationId xmlns:a16="http://schemas.microsoft.com/office/drawing/2014/main" id="{140BEEB3-51A1-3146-AD4E-D014FC9826D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E1ED86EA-C149-2945-9786-9D3CB50C6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3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A712-C813-1D4A-39C2-B1DB9162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DE3460-AB81-4B9B-FAFB-BC7C2284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Security</a:t>
            </a:r>
            <a:r>
              <a:rPr lang="zh-CN" altLang="en-US" dirty="0"/>
              <a:t> </a:t>
            </a:r>
            <a:r>
              <a:rPr lang="en-US" altLang="zh-CN" dirty="0"/>
              <a:t>(RSA)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DE623-BA00-9F2B-E3E9-16C694BC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60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 language of cryptography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457F-FF73-744F-B4C8-89563BF1DA4D}"/>
              </a:ext>
            </a:extLst>
          </p:cNvPr>
          <p:cNvSpPr txBox="1">
            <a:spLocks noChangeArrowheads="1"/>
          </p:cNvSpPr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plaintext message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(m): </a:t>
            </a:r>
            <a:r>
              <a:rPr lang="en-US" dirty="0"/>
              <a:t>ciphertext, encrypted with key K</a:t>
            </a:r>
            <a:r>
              <a:rPr lang="en-US" baseline="-25000" dirty="0"/>
              <a:t>A</a:t>
            </a:r>
            <a:endParaRPr lang="en-US" dirty="0"/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 = 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(m))</a:t>
            </a:r>
            <a:endParaRPr lang="en-US" baseline="-25000" dirty="0">
              <a:solidFill>
                <a:srgbClr val="C00000"/>
              </a:solidFill>
            </a:endParaRP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641910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644056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0757022-6774-C94A-BAA4-D350B1EA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648985"/>
            <a:ext cx="145573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A</a:t>
              </a:r>
            </a:p>
          </p:txBody>
        </p:sp>
      </p:grpSp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D7A11F5F-767A-EC4C-B0AA-6D4085AF7666}"/>
              </a:ext>
            </a:extLst>
          </p:cNvPr>
          <p:cNvSpPr>
            <a:spLocks/>
          </p:cNvSpPr>
          <p:nvPr/>
        </p:nvSpPr>
        <p:spPr bwMode="auto">
          <a:xfrm>
            <a:off x="4933606" y="3156641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570F99C-C488-E54E-B34B-F9DE1A458E77}"/>
              </a:ext>
            </a:extLst>
          </p:cNvPr>
          <p:cNvSpPr>
            <a:spLocks/>
          </p:cNvSpPr>
          <p:nvPr/>
        </p:nvSpPr>
        <p:spPr bwMode="auto">
          <a:xfrm flipH="1">
            <a:off x="5608294" y="3155054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0B23DD9-B76B-B44C-8FA0-D0B4E6E0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719" y="1529453"/>
            <a:ext cx="1824038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Alice’</a:t>
            </a:r>
            <a:r>
              <a:rPr lang="en-US" altLang="ja-JP" sz="2400" dirty="0">
                <a:latin typeface="+mn-lt"/>
                <a:cs typeface="Arial" charset="0"/>
              </a:rPr>
              <a:t>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encryption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809532EF-4B73-154F-9DF4-49771781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556" y="1597716"/>
            <a:ext cx="1657350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Bob</a:t>
            </a:r>
            <a:r>
              <a:rPr lang="en-US" altLang="ja-JP" sz="2400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decryption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18CDF60A-5D15-834D-BFE1-94FFE10C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D6EBA2CD-A14C-6DEE-724C-301E6A8DB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38" y="1831053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86E92A1-E73F-0E2B-03A4-11B37AA98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189" y="1877154"/>
            <a:ext cx="1020860" cy="8507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6433EE2-9B7E-7D81-E90D-1A56300C98A7}"/>
              </a:ext>
            </a:extLst>
          </p:cNvPr>
          <p:cNvGrpSpPr/>
          <p:nvPr/>
        </p:nvGrpSpPr>
        <p:grpSpPr>
          <a:xfrm>
            <a:off x="5194300" y="3733784"/>
            <a:ext cx="901700" cy="1136884"/>
            <a:chOff x="5376447" y="1431378"/>
            <a:chExt cx="2680858" cy="377747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AE7587-E82B-2FF1-13C2-6C5F89BC354E}"/>
                </a:ext>
              </a:extLst>
            </p:cNvPr>
            <p:cNvGrpSpPr/>
            <p:nvPr/>
          </p:nvGrpSpPr>
          <p:grpSpPr>
            <a:xfrm rot="20864409">
              <a:off x="5467477" y="1431378"/>
              <a:ext cx="2589828" cy="3777479"/>
              <a:chOff x="7284371" y="1812733"/>
              <a:chExt cx="2589828" cy="3777479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FDABA8D3-CB23-1B51-748D-BDA59F5FAF75}"/>
                  </a:ext>
                </a:extLst>
              </p:cNvPr>
              <p:cNvSpPr/>
              <p:nvPr/>
            </p:nvSpPr>
            <p:spPr>
              <a:xfrm>
                <a:off x="7284371" y="1812733"/>
                <a:ext cx="2589828" cy="3777479"/>
              </a:xfrm>
              <a:custGeom>
                <a:avLst/>
                <a:gdLst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359580 w 2044001"/>
                  <a:gd name="connsiteY0" fmla="*/ 2229853 h 3003649"/>
                  <a:gd name="connsiteX1" fmla="*/ 0 w 2044001"/>
                  <a:gd name="connsiteY1" fmla="*/ 3003649 h 3003649"/>
                  <a:gd name="connsiteX2" fmla="*/ 1859516 w 2044001"/>
                  <a:gd name="connsiteY2" fmla="*/ 348916 h 3003649"/>
                  <a:gd name="connsiteX3" fmla="*/ 1879569 w 2044001"/>
                  <a:gd name="connsiteY3" fmla="*/ 461211 h 3003649"/>
                  <a:gd name="connsiteX4" fmla="*/ 2044001 w 2044001"/>
                  <a:gd name="connsiteY4" fmla="*/ 0 h 3003649"/>
                  <a:gd name="connsiteX5" fmla="*/ 1715137 w 2044001"/>
                  <a:gd name="connsiteY5" fmla="*/ 248653 h 3003649"/>
                  <a:gd name="connsiteX6" fmla="*/ 1807380 w 2044001"/>
                  <a:gd name="connsiteY6" fmla="*/ 264695 h 3003649"/>
                  <a:gd name="connsiteX7" fmla="*/ 359580 w 2044001"/>
                  <a:gd name="connsiteY7" fmla="*/ 2229853 h 3003649"/>
                  <a:gd name="connsiteX0" fmla="*/ 0 w 2147000"/>
                  <a:gd name="connsiteY0" fmla="*/ 2853796 h 3003649"/>
                  <a:gd name="connsiteX1" fmla="*/ 102999 w 2147000"/>
                  <a:gd name="connsiteY1" fmla="*/ 3003649 h 3003649"/>
                  <a:gd name="connsiteX2" fmla="*/ 1962515 w 2147000"/>
                  <a:gd name="connsiteY2" fmla="*/ 348916 h 3003649"/>
                  <a:gd name="connsiteX3" fmla="*/ 1982568 w 2147000"/>
                  <a:gd name="connsiteY3" fmla="*/ 461211 h 3003649"/>
                  <a:gd name="connsiteX4" fmla="*/ 2147000 w 2147000"/>
                  <a:gd name="connsiteY4" fmla="*/ 0 h 3003649"/>
                  <a:gd name="connsiteX5" fmla="*/ 1818136 w 2147000"/>
                  <a:gd name="connsiteY5" fmla="*/ 248653 h 3003649"/>
                  <a:gd name="connsiteX6" fmla="*/ 1910379 w 2147000"/>
                  <a:gd name="connsiteY6" fmla="*/ 264695 h 3003649"/>
                  <a:gd name="connsiteX7" fmla="*/ 0 w 2147000"/>
                  <a:gd name="connsiteY7" fmla="*/ 2853796 h 3003649"/>
                  <a:gd name="connsiteX0" fmla="*/ 251627 w 2398627"/>
                  <a:gd name="connsiteY0" fmla="*/ 2853796 h 3521059"/>
                  <a:gd name="connsiteX1" fmla="*/ 0 w 2398627"/>
                  <a:gd name="connsiteY1" fmla="*/ 3521059 h 3521059"/>
                  <a:gd name="connsiteX2" fmla="*/ 2214142 w 2398627"/>
                  <a:gd name="connsiteY2" fmla="*/ 348916 h 3521059"/>
                  <a:gd name="connsiteX3" fmla="*/ 2234195 w 2398627"/>
                  <a:gd name="connsiteY3" fmla="*/ 461211 h 3521059"/>
                  <a:gd name="connsiteX4" fmla="*/ 2398627 w 2398627"/>
                  <a:gd name="connsiteY4" fmla="*/ 0 h 3521059"/>
                  <a:gd name="connsiteX5" fmla="*/ 2069763 w 2398627"/>
                  <a:gd name="connsiteY5" fmla="*/ 248653 h 3521059"/>
                  <a:gd name="connsiteX6" fmla="*/ 2162006 w 2398627"/>
                  <a:gd name="connsiteY6" fmla="*/ 264695 h 3521059"/>
                  <a:gd name="connsiteX7" fmla="*/ 251627 w 2398627"/>
                  <a:gd name="connsiteY7" fmla="*/ 2853796 h 3521059"/>
                  <a:gd name="connsiteX0" fmla="*/ 0 w 2444961"/>
                  <a:gd name="connsiteY0" fmla="*/ 3262424 h 3521059"/>
                  <a:gd name="connsiteX1" fmla="*/ 46334 w 2444961"/>
                  <a:gd name="connsiteY1" fmla="*/ 3521059 h 3521059"/>
                  <a:gd name="connsiteX2" fmla="*/ 2260476 w 2444961"/>
                  <a:gd name="connsiteY2" fmla="*/ 348916 h 3521059"/>
                  <a:gd name="connsiteX3" fmla="*/ 2280529 w 2444961"/>
                  <a:gd name="connsiteY3" fmla="*/ 461211 h 3521059"/>
                  <a:gd name="connsiteX4" fmla="*/ 2444961 w 2444961"/>
                  <a:gd name="connsiteY4" fmla="*/ 0 h 3521059"/>
                  <a:gd name="connsiteX5" fmla="*/ 2116097 w 2444961"/>
                  <a:gd name="connsiteY5" fmla="*/ 248653 h 3521059"/>
                  <a:gd name="connsiteX6" fmla="*/ 2208340 w 2444961"/>
                  <a:gd name="connsiteY6" fmla="*/ 264695 h 3521059"/>
                  <a:gd name="connsiteX7" fmla="*/ 0 w 2444961"/>
                  <a:gd name="connsiteY7" fmla="*/ 3262424 h 3521059"/>
                  <a:gd name="connsiteX0" fmla="*/ 141490 w 2586451"/>
                  <a:gd name="connsiteY0" fmla="*/ 3262424 h 3777479"/>
                  <a:gd name="connsiteX1" fmla="*/ 0 w 2586451"/>
                  <a:gd name="connsiteY1" fmla="*/ 3777479 h 3777479"/>
                  <a:gd name="connsiteX2" fmla="*/ 2401966 w 2586451"/>
                  <a:gd name="connsiteY2" fmla="*/ 348916 h 3777479"/>
                  <a:gd name="connsiteX3" fmla="*/ 2422019 w 2586451"/>
                  <a:gd name="connsiteY3" fmla="*/ 461211 h 3777479"/>
                  <a:gd name="connsiteX4" fmla="*/ 2586451 w 2586451"/>
                  <a:gd name="connsiteY4" fmla="*/ 0 h 3777479"/>
                  <a:gd name="connsiteX5" fmla="*/ 2257587 w 2586451"/>
                  <a:gd name="connsiteY5" fmla="*/ 248653 h 3777479"/>
                  <a:gd name="connsiteX6" fmla="*/ 2349830 w 2586451"/>
                  <a:gd name="connsiteY6" fmla="*/ 264695 h 3777479"/>
                  <a:gd name="connsiteX7" fmla="*/ 141490 w 2586451"/>
                  <a:gd name="connsiteY7" fmla="*/ 3262424 h 3777479"/>
                  <a:gd name="connsiteX0" fmla="*/ 0 w 2589828"/>
                  <a:gd name="connsiteY0" fmla="*/ 3473135 h 3777479"/>
                  <a:gd name="connsiteX1" fmla="*/ 3377 w 2589828"/>
                  <a:gd name="connsiteY1" fmla="*/ 3777479 h 3777479"/>
                  <a:gd name="connsiteX2" fmla="*/ 2405343 w 2589828"/>
                  <a:gd name="connsiteY2" fmla="*/ 348916 h 3777479"/>
                  <a:gd name="connsiteX3" fmla="*/ 2425396 w 2589828"/>
                  <a:gd name="connsiteY3" fmla="*/ 461211 h 3777479"/>
                  <a:gd name="connsiteX4" fmla="*/ 2589828 w 2589828"/>
                  <a:gd name="connsiteY4" fmla="*/ 0 h 3777479"/>
                  <a:gd name="connsiteX5" fmla="*/ 2260964 w 2589828"/>
                  <a:gd name="connsiteY5" fmla="*/ 248653 h 3777479"/>
                  <a:gd name="connsiteX6" fmla="*/ 2353207 w 2589828"/>
                  <a:gd name="connsiteY6" fmla="*/ 264695 h 3777479"/>
                  <a:gd name="connsiteX7" fmla="*/ 0 w 2589828"/>
                  <a:gd name="connsiteY7" fmla="*/ 3473135 h 3777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9828" h="3777479">
                    <a:moveTo>
                      <a:pt x="0" y="3473135"/>
                    </a:moveTo>
                    <a:cubicBezTo>
                      <a:pt x="1126" y="3574583"/>
                      <a:pt x="2251" y="3676031"/>
                      <a:pt x="3377" y="3777479"/>
                    </a:cubicBezTo>
                    <a:lnTo>
                      <a:pt x="2405343" y="348916"/>
                    </a:lnTo>
                    <a:lnTo>
                      <a:pt x="2425396" y="461211"/>
                    </a:lnTo>
                    <a:cubicBezTo>
                      <a:pt x="2518708" y="256139"/>
                      <a:pt x="2512558" y="259615"/>
                      <a:pt x="2589828" y="0"/>
                    </a:cubicBezTo>
                    <a:cubicBezTo>
                      <a:pt x="2361495" y="124594"/>
                      <a:pt x="2373794" y="143310"/>
                      <a:pt x="2260964" y="248653"/>
                    </a:cubicBezTo>
                    <a:lnTo>
                      <a:pt x="2353207" y="264695"/>
                    </a:lnTo>
                    <a:lnTo>
                      <a:pt x="0" y="3473135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8FC91EB-2A47-B067-7654-112F3652A87A}"/>
                  </a:ext>
                </a:extLst>
              </p:cNvPr>
              <p:cNvSpPr/>
              <p:nvPr/>
            </p:nvSpPr>
            <p:spPr>
              <a:xfrm>
                <a:off x="8800699" y="1966762"/>
                <a:ext cx="373246" cy="1100489"/>
              </a:xfrm>
              <a:custGeom>
                <a:avLst/>
                <a:gdLst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3246" h="1100489">
                    <a:moveTo>
                      <a:pt x="96253" y="1100489"/>
                    </a:moveTo>
                    <a:lnTo>
                      <a:pt x="44918" y="885524"/>
                    </a:lnTo>
                    <a:lnTo>
                      <a:pt x="0" y="888733"/>
                    </a:lnTo>
                    <a:cubicBezTo>
                      <a:pt x="202131" y="502652"/>
                      <a:pt x="234214" y="430997"/>
                      <a:pt x="356135" y="0"/>
                    </a:cubicBezTo>
                    <a:cubicBezTo>
                      <a:pt x="373246" y="235285"/>
                      <a:pt x="377524" y="271647"/>
                      <a:pt x="368968" y="445971"/>
                    </a:cubicBezTo>
                    <a:lnTo>
                      <a:pt x="340093" y="352926"/>
                    </a:lnTo>
                    <a:cubicBezTo>
                      <a:pt x="248118" y="610670"/>
                      <a:pt x="223520" y="643823"/>
                      <a:pt x="131545" y="847023"/>
                    </a:cubicBezTo>
                    <a:lnTo>
                      <a:pt x="163629" y="978569"/>
                    </a:lnTo>
                    <a:lnTo>
                      <a:pt x="205339" y="972152"/>
                    </a:lnTo>
                    <a:lnTo>
                      <a:pt x="96253" y="1100489"/>
                    </a:lnTo>
                    <a:close/>
                  </a:path>
                </a:pathLst>
              </a:custGeom>
              <a:solidFill>
                <a:srgbClr val="C0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03447102-1A6F-3115-5522-71B1512FE3B4}"/>
                  </a:ext>
                </a:extLst>
              </p:cNvPr>
              <p:cNvSpPr/>
              <p:nvPr/>
            </p:nvSpPr>
            <p:spPr>
              <a:xfrm>
                <a:off x="8973954" y="2788172"/>
                <a:ext cx="792480" cy="529334"/>
              </a:xfrm>
              <a:custGeom>
                <a:avLst/>
                <a:gdLst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6711 h 521839"/>
                  <a:gd name="connsiteX1" fmla="*/ 154004 w 792480"/>
                  <a:gd name="connsiteY1" fmla="*/ 457671 h 521839"/>
                  <a:gd name="connsiteX2" fmla="*/ 150795 w 792480"/>
                  <a:gd name="connsiteY2" fmla="*/ 521839 h 521839"/>
                  <a:gd name="connsiteX3" fmla="*/ 792480 w 792480"/>
                  <a:gd name="connsiteY3" fmla="*/ 24534 h 521839"/>
                  <a:gd name="connsiteX4" fmla="*/ 478054 w 792480"/>
                  <a:gd name="connsiteY4" fmla="*/ 2075 h 521839"/>
                  <a:gd name="connsiteX5" fmla="*/ 551848 w 792480"/>
                  <a:gd name="connsiteY5" fmla="*/ 56618 h 521839"/>
                  <a:gd name="connsiteX6" fmla="*/ 202130 w 792480"/>
                  <a:gd name="connsiteY6" fmla="*/ 329334 h 521839"/>
                  <a:gd name="connsiteX7" fmla="*/ 109086 w 792480"/>
                  <a:gd name="connsiteY7" fmla="*/ 294041 h 521839"/>
                  <a:gd name="connsiteX8" fmla="*/ 102669 w 792480"/>
                  <a:gd name="connsiteY8" fmla="*/ 233081 h 521839"/>
                  <a:gd name="connsiteX9" fmla="*/ 0 w 792480"/>
                  <a:gd name="connsiteY9" fmla="*/ 396711 h 521839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2480" h="529334">
                    <a:moveTo>
                      <a:pt x="0" y="404206"/>
                    </a:moveTo>
                    <a:lnTo>
                      <a:pt x="154004" y="465166"/>
                    </a:lnTo>
                    <a:lnTo>
                      <a:pt x="150795" y="529334"/>
                    </a:lnTo>
                    <a:cubicBezTo>
                      <a:pt x="403191" y="260897"/>
                      <a:pt x="395705" y="236298"/>
                      <a:pt x="792480" y="32029"/>
                    </a:cubicBezTo>
                    <a:cubicBezTo>
                      <a:pt x="645962" y="-10749"/>
                      <a:pt x="647031" y="-2195"/>
                      <a:pt x="478054" y="9570"/>
                    </a:cubicBezTo>
                    <a:lnTo>
                      <a:pt x="551848" y="64113"/>
                    </a:lnTo>
                    <a:cubicBezTo>
                      <a:pt x="380731" y="167851"/>
                      <a:pt x="347579" y="201006"/>
                      <a:pt x="202130" y="336829"/>
                    </a:cubicBezTo>
                    <a:lnTo>
                      <a:pt x="109086" y="301536"/>
                    </a:lnTo>
                    <a:lnTo>
                      <a:pt x="102669" y="240576"/>
                    </a:lnTo>
                    <a:lnTo>
                      <a:pt x="0" y="404206"/>
                    </a:lnTo>
                    <a:close/>
                  </a:path>
                </a:pathLst>
              </a:custGeom>
              <a:solidFill>
                <a:srgbClr val="C00000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 descr="Cartoon of a cartoon child with black hair&#10;&#10;Description automatically generated">
              <a:extLst>
                <a:ext uri="{FF2B5EF4-FFF2-40B4-BE49-F238E27FC236}">
                  <a16:creationId xmlns:a16="http://schemas.microsoft.com/office/drawing/2014/main" id="{4564DA76-9695-A85B-B7DC-2AF4FEEAE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76447" y="2599772"/>
              <a:ext cx="2124733" cy="227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5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2F46A-C2D7-5E49-984A-D460665213E2}"/>
              </a:ext>
            </a:extLst>
          </p:cNvPr>
          <p:cNvSpPr txBox="1">
            <a:spLocks noChangeArrowheads="1"/>
          </p:cNvSpPr>
          <p:nvPr/>
        </p:nvSpPr>
        <p:spPr>
          <a:xfrm>
            <a:off x="889070" y="1614418"/>
            <a:ext cx="449131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crypto:</a:t>
            </a:r>
          </a:p>
          <a:p>
            <a:r>
              <a:rPr lang="en-US" dirty="0"/>
              <a:t>requires sender, receiver know shared secret key</a:t>
            </a:r>
          </a:p>
          <a:p>
            <a:r>
              <a:rPr lang="en-US" dirty="0"/>
              <a:t>Q: how to agree on key in first place (particularly if never “</a:t>
            </a:r>
            <a:r>
              <a:rPr lang="en-US" altLang="ja-JP" dirty="0"/>
              <a:t>met”)?</a:t>
            </a:r>
          </a:p>
          <a:p>
            <a:endParaRPr lang="en-US" sz="2400" dirty="0">
              <a:latin typeface="Gill Sans MT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F077-6365-434B-92DA-B7BC950B9B38}"/>
              </a:ext>
            </a:extLst>
          </p:cNvPr>
          <p:cNvGrpSpPr>
            <a:grpSpLocks/>
          </p:cNvGrpSpPr>
          <p:nvPr/>
        </p:nvGrpSpPr>
        <p:grpSpPr bwMode="auto"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ED939E3-371E-0442-85E2-498E647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1C2D504-3A54-3C4D-809A-D37AD4FB5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DCF795C7-4649-A34D-90C2-E8F51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solidFill>
                    <a:srgbClr val="C00000"/>
                  </a:solidFill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BD70911-26B3-7644-9304-E1027136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/>
                <a:t>radically </a:t>
              </a:r>
              <a:r>
                <a:rPr lang="en-US" sz="2800" dirty="0"/>
                <a:t>different approach [Diffie-Hellman76, RSA78]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dirty="0"/>
                <a:t>sender, receiver do </a:t>
              </a:r>
              <a:r>
                <a:rPr lang="en-US" sz="2800" i="1" dirty="0">
                  <a:solidFill>
                    <a:srgbClr val="000099"/>
                  </a:solidFill>
                </a:rPr>
                <a:t>not</a:t>
              </a:r>
              <a:r>
                <a:rPr lang="en-US" sz="2800" dirty="0"/>
                <a:t> share secret key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public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encryption key 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known to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i="1" dirty="0">
                  <a:solidFill>
                    <a:srgbClr val="000099"/>
                  </a:solidFill>
                </a:rPr>
                <a:t>all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private</a:t>
              </a:r>
              <a:r>
                <a:rPr lang="en-US" sz="2800" dirty="0"/>
                <a:t> decryption key known only to receiver</a:t>
              </a:r>
              <a:endParaRPr lang="en-US" sz="3200" dirty="0"/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47F25EB4-710A-844A-BC86-13A5F562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44" y="0"/>
            <a:ext cx="4744730" cy="41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74" name="Group 29">
            <a:extLst>
              <a:ext uri="{FF2B5EF4-FFF2-40B4-BE49-F238E27FC236}">
                <a16:creationId xmlns:a16="http://schemas.microsoft.com/office/drawing/2014/main" id="{7BD7980D-FCF0-3C4A-93D5-EAE9F1C3020E}"/>
              </a:ext>
            </a:extLst>
          </p:cNvPr>
          <p:cNvGrpSpPr>
            <a:grpSpLocks/>
          </p:cNvGrpSpPr>
          <p:nvPr/>
        </p:nvGrpSpPr>
        <p:grpSpPr bwMode="auto"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75" name="Text Box 30">
              <a:extLst>
                <a:ext uri="{FF2B5EF4-FFF2-40B4-BE49-F238E27FC236}">
                  <a16:creationId xmlns:a16="http://schemas.microsoft.com/office/drawing/2014/main" id="{E2514AB3-88CA-4541-9CE9-713B944F4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4153A745-501E-0545-A470-D433A0EAE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7" name="Text Box 32">
              <a:extLst>
                <a:ext uri="{FF2B5EF4-FFF2-40B4-BE49-F238E27FC236}">
                  <a16:creationId xmlns:a16="http://schemas.microsoft.com/office/drawing/2014/main" id="{5A82004A-529C-F540-B693-874631623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78" name="Text Box 33">
              <a:extLst>
                <a:ext uri="{FF2B5EF4-FFF2-40B4-BE49-F238E27FC236}">
                  <a16:creationId xmlns:a16="http://schemas.microsoft.com/office/drawing/2014/main" id="{FC50E53E-9F9B-654F-9FA8-ECCEF77A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EDF2B244-5719-2F45-A42A-402B66223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83" name="Text Box 6">
            <a:extLst>
              <a:ext uri="{FF2B5EF4-FFF2-40B4-BE49-F238E27FC236}">
                <a16:creationId xmlns:a16="http://schemas.microsoft.com/office/drawing/2014/main" id="{6CC01E21-09EC-DC40-8599-EEA1BC50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043" y="3584964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4" name="Rectangle 13">
            <a:extLst>
              <a:ext uri="{FF2B5EF4-FFF2-40B4-BE49-F238E27FC236}">
                <a16:creationId xmlns:a16="http://schemas.microsoft.com/office/drawing/2014/main" id="{889B7A33-37EE-4D46-B817-164D2D6B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5" name="Text Box 14">
            <a:extLst>
              <a:ext uri="{FF2B5EF4-FFF2-40B4-BE49-F238E27FC236}">
                <a16:creationId xmlns:a16="http://schemas.microsoft.com/office/drawing/2014/main" id="{ECBBD5A2-07AE-1344-92CC-97064DC6F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86" name="Rectangle 15">
            <a:extLst>
              <a:ext uri="{FF2B5EF4-FFF2-40B4-BE49-F238E27FC236}">
                <a16:creationId xmlns:a16="http://schemas.microsoft.com/office/drawing/2014/main" id="{60AEB48B-8CF1-8E42-A0B2-02C05B89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7" name="Text Box 16">
            <a:extLst>
              <a:ext uri="{FF2B5EF4-FFF2-40B4-BE49-F238E27FC236}">
                <a16:creationId xmlns:a16="http://schemas.microsoft.com/office/drawing/2014/main" id="{638D795E-2C6D-CB48-9019-7A6554C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426637B-377D-7B4D-99F1-F721A3FF4606}"/>
              </a:ext>
            </a:extLst>
          </p:cNvPr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08EBEE-85B2-AD4A-ACE2-254B3FCAB316}"/>
              </a:ext>
            </a:extLst>
          </p:cNvPr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A03BC1-BA79-2B42-9CE7-DBF51217C896}"/>
              </a:ext>
            </a:extLst>
          </p:cNvPr>
          <p:cNvCxnSpPr>
            <a:cxnSpLocks/>
          </p:cNvCxnSpPr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0A1163E-E166-654E-B7B1-EF42611270BE}"/>
              </a:ext>
            </a:extLst>
          </p:cNvPr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62" name="Group 17">
              <a:extLst>
                <a:ext uri="{FF2B5EF4-FFF2-40B4-BE49-F238E27FC236}">
                  <a16:creationId xmlns:a16="http://schemas.microsoft.com/office/drawing/2014/main" id="{BF5A27BD-7C5D-CD46-AACC-04980CD41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63" name="Text Box 18">
                <a:extLst>
                  <a:ext uri="{FF2B5EF4-FFF2-40B4-BE49-F238E27FC236}">
                    <a16:creationId xmlns:a16="http://schemas.microsoft.com/office/drawing/2014/main" id="{6A92BBF9-E8F3-DF4A-ADAE-98CEF3966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</a:p>
            </p:txBody>
          </p:sp>
          <p:sp>
            <p:nvSpPr>
              <p:cNvPr id="64" name="Text Box 19">
                <a:extLst>
                  <a:ext uri="{FF2B5EF4-FFF2-40B4-BE49-F238E27FC236}">
                    <a16:creationId xmlns:a16="http://schemas.microsoft.com/office/drawing/2014/main" id="{3E5AC652-46D8-0349-9928-222C0A843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0">
                <a:extLst>
                  <a:ext uri="{FF2B5EF4-FFF2-40B4-BE49-F238E27FC236}">
                    <a16:creationId xmlns:a16="http://schemas.microsoft.com/office/drawing/2014/main" id="{D038288E-5776-3D44-97D8-AA1FCEB5A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D5A73CC5-A226-834C-9D98-B404C12A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</p:grpSp>
      <p:sp>
        <p:nvSpPr>
          <p:cNvPr id="94" name="Text Box 3">
            <a:extLst>
              <a:ext uri="{FF2B5EF4-FFF2-40B4-BE49-F238E27FC236}">
                <a16:creationId xmlns:a16="http://schemas.microsoft.com/office/drawing/2014/main" id="{A06E7808-C2D2-D044-B709-E24B5275C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plaintext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message, m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1E97B71-D008-454C-9F25-22FF4C7E0BB4}"/>
              </a:ext>
            </a:extLst>
          </p:cNvPr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id="60" name="Picture 15" descr="BS00768_[1]">
              <a:extLst>
                <a:ext uri="{FF2B5EF4-FFF2-40B4-BE49-F238E27FC236}">
                  <a16:creationId xmlns:a16="http://schemas.microsoft.com/office/drawing/2014/main" id="{2560A757-A38F-AC4E-B091-353015A35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Text Box 21">
              <a:extLst>
                <a:ext uri="{FF2B5EF4-FFF2-40B4-BE49-F238E27FC236}">
                  <a16:creationId xmlns:a16="http://schemas.microsoft.com/office/drawing/2014/main" id="{50806497-41D8-2E4E-B50D-F7BB60F0F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CE859CC3-670B-FC49-A3AF-C82F3C2E7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" name="Text Box 23">
              <a:extLst>
                <a:ext uri="{FF2B5EF4-FFF2-40B4-BE49-F238E27FC236}">
                  <a16:creationId xmlns:a16="http://schemas.microsoft.com/office/drawing/2014/main" id="{598ECE34-7F25-8C4E-BDB3-B5BFD35BB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5947757-0EAA-384F-AF69-755E3F48343B}"/>
                </a:ext>
              </a:extLst>
            </p:cNvPr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56" name="Text Box 11">
                <a:extLst>
                  <a:ext uri="{FF2B5EF4-FFF2-40B4-BE49-F238E27FC236}">
                    <a16:creationId xmlns:a16="http://schemas.microsoft.com/office/drawing/2014/main" id="{EC4974E1-78D0-CA46-A1E0-4780A77AB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Bob</a:t>
                </a:r>
                <a:r>
                  <a:rPr lang="en-US" sz="2400" kern="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’</a:t>
                </a:r>
                <a:r>
                  <a:rPr kumimoji="0" lang="en-US" altLang="ja-JP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 </a:t>
                </a:r>
                <a:r>
                  <a:rPr kumimoji="0" lang="en-US" altLang="ja-JP" sz="2400" b="0" i="1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public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 key 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70DAC614-E588-2544-93E7-C7BF64B0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1B6B11D-ECAA-4143-AB7E-D47E64078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4379" y="1804781"/>
                <a:ext cx="265423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CBC244-80B9-8045-8AAB-052208AAFCAF}"/>
              </a:ext>
            </a:extLst>
          </p:cNvPr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69" name="Text Box 24">
              <a:extLst>
                <a:ext uri="{FF2B5EF4-FFF2-40B4-BE49-F238E27FC236}">
                  <a16:creationId xmlns:a16="http://schemas.microsoft.com/office/drawing/2014/main" id="{10A72390-FCE4-7743-B879-430BA64CF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Bob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’s </a:t>
              </a:r>
              <a:r>
                <a:rPr kumimoji="0" lang="en-US" altLang="ja-JP" sz="2400" b="0" i="1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private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 key </a:t>
              </a:r>
            </a:p>
          </p:txBody>
        </p:sp>
        <p:pic>
          <p:nvPicPr>
            <p:cNvPr id="70" name="Picture 25" descr="BS00768_[1]">
              <a:extLst>
                <a:ext uri="{FF2B5EF4-FFF2-40B4-BE49-F238E27FC236}">
                  <a16:creationId xmlns:a16="http://schemas.microsoft.com/office/drawing/2014/main" id="{E5AF231D-A446-4C40-90CA-324AE831D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26">
              <a:extLst>
                <a:ext uri="{FF2B5EF4-FFF2-40B4-BE49-F238E27FC236}">
                  <a16:creationId xmlns:a16="http://schemas.microsoft.com/office/drawing/2014/main" id="{1FAC5085-46DD-834E-AC5E-9F54BBD89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72" name="Text Box 27">
              <a:extLst>
                <a:ext uri="{FF2B5EF4-FFF2-40B4-BE49-F238E27FC236}">
                  <a16:creationId xmlns:a16="http://schemas.microsoft.com/office/drawing/2014/main" id="{B741F65D-D85A-BA44-A0EC-45B50137B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3" name="Text Box 28">
              <a:extLst>
                <a:ext uri="{FF2B5EF4-FFF2-40B4-BE49-F238E27FC236}">
                  <a16:creationId xmlns:a16="http://schemas.microsoft.com/office/drawing/2014/main" id="{B9C2DED2-A012-704E-B1B5-9CEE4CCC6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633644F-66D9-7E4F-AA09-88F31F1C5629}"/>
                </a:ext>
              </a:extLst>
            </p:cNvPr>
            <p:cNvCxnSpPr>
              <a:cxnSpLocks/>
            </p:cNvCxnSpPr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5D9E5-7152-6747-B8FD-477ED3BBE526}"/>
              </a:ext>
            </a:extLst>
          </p:cNvPr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rgbClr val="C00000"/>
                </a:solidFill>
              </a:rPr>
              <a:t>Wow</a:t>
            </a:r>
            <a:r>
              <a:rPr lang="en-US" sz="2800" dirty="0"/>
              <a:t> - public key cryptography revolutionized 2000-year-old (previously only symmetric key) cryptography!</a:t>
            </a:r>
          </a:p>
          <a:p>
            <a:pPr marL="457200" indent="-219075">
              <a:buClr>
                <a:srgbClr val="0012A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similar ideas emerged at roughly same time, independently in US and UK (classified)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24786CAC-701E-0D26-064D-7F1718A25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195" y="2817607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6B7B211-5CD0-7984-1B15-12BB30062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37" y="2790660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6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encryption algorithms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68E03A47-9B3A-794E-BFF5-44DDE48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  <a:cs typeface="Arial" charset="0"/>
              </a:rPr>
              <a:t>requirements:</a:t>
            </a:r>
            <a:endParaRPr lang="en-US" sz="2800" dirty="0">
              <a:latin typeface="+mn-lt"/>
              <a:cs typeface="Arial" charset="0"/>
            </a:endParaRPr>
          </a:p>
        </p:txBody>
      </p:sp>
      <p:sp>
        <p:nvSpPr>
          <p:cNvPr id="81" name="Text Box 18">
            <a:extLst>
              <a:ext uri="{FF2B5EF4-FFF2-40B4-BE49-F238E27FC236}">
                <a16:creationId xmlns:a16="http://schemas.microsoft.com/office/drawing/2014/main" id="{16426DFD-7F5D-9146-B5B8-6BE82E3A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+mn-lt"/>
              </a:rPr>
              <a:t>RSA: </a:t>
            </a:r>
            <a:r>
              <a:rPr lang="en-US" sz="3200" dirty="0">
                <a:latin typeface="+mn-lt"/>
              </a:rPr>
              <a:t>Rivest, Shamir, Adelson algorithm</a:t>
            </a:r>
            <a:endParaRPr lang="en-US" sz="2800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1C51F8-6912-1D42-B41F-94408FFBF31D}"/>
              </a:ext>
            </a:extLst>
          </p:cNvPr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55" name="Oval 13">
              <a:extLst>
                <a:ext uri="{FF2B5EF4-FFF2-40B4-BE49-F238E27FC236}">
                  <a16:creationId xmlns:a16="http://schemas.microsoft.com/office/drawing/2014/main" id="{8759335D-10E6-8E46-9BB4-AB2699D2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0012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cs typeface="Arial" charset="0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92F4D5F-E3F2-414D-9260-894C3CB63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1</a:t>
              </a:r>
              <a:endParaRPr lang="en-US" sz="2400" dirty="0">
                <a:solidFill>
                  <a:srgbClr val="0012A0"/>
                </a:solidFill>
                <a:latin typeface="+mn-lt"/>
                <a:cs typeface="Arial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C5FB7-A5B2-B344-AFD6-9E724B658B39}"/>
                </a:ext>
              </a:extLst>
            </p:cNvPr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CA2DA16D-E37C-234A-A7B1-3797CF3FF0B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charset="0"/>
                  <a:buNone/>
                </a:pPr>
                <a:r>
                  <a:rPr lang="en-US" sz="3200" dirty="0">
                    <a:cs typeface="Arial" charset="0"/>
                  </a:rPr>
                  <a:t>need K  ( ) and K  ( ) such that</a:t>
                </a:r>
              </a:p>
            </p:txBody>
          </p:sp>
          <p:sp>
            <p:nvSpPr>
              <p:cNvPr id="45" name="Text Box 4">
                <a:extLst>
                  <a:ext uri="{FF2B5EF4-FFF2-40B4-BE49-F238E27FC236}">
                    <a16:creationId xmlns:a16="http://schemas.microsoft.com/office/drawing/2014/main" id="{95278E0E-E4B9-CE4C-B839-ED5B84E6F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07916C1-001A-F244-A971-628BF84CD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6">
                <a:extLst>
                  <a:ext uri="{FF2B5EF4-FFF2-40B4-BE49-F238E27FC236}">
                    <a16:creationId xmlns:a16="http://schemas.microsoft.com/office/drawing/2014/main" id="{F9C7534C-C712-0C4D-826C-FA84E56A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48" name="Text Box 7">
                <a:extLst>
                  <a:ext uri="{FF2B5EF4-FFF2-40B4-BE49-F238E27FC236}">
                    <a16:creationId xmlns:a16="http://schemas.microsoft.com/office/drawing/2014/main" id="{130DAE2D-652A-D64A-A8CF-1577E0BDD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82" name="Text Box 19">
                <a:extLst>
                  <a:ext uri="{FF2B5EF4-FFF2-40B4-BE49-F238E27FC236}">
                    <a16:creationId xmlns:a16="http://schemas.microsoft.com/office/drawing/2014/main" id="{7113FF55-E386-0E45-AEE7-2E3FA7DA3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92" name="Text Box 20">
                <a:extLst>
                  <a:ext uri="{FF2B5EF4-FFF2-40B4-BE49-F238E27FC236}">
                    <a16:creationId xmlns:a16="http://schemas.microsoft.com/office/drawing/2014/main" id="{F00B9A6A-EC0B-3346-8BFB-801B419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latin typeface="+mn-lt"/>
                    <a:cs typeface="Arial" charset="0"/>
                  </a:rPr>
                  <a:t>-</a:t>
                </a:r>
              </a:p>
            </p:txBody>
          </p:sp>
          <p:grpSp>
            <p:nvGrpSpPr>
              <p:cNvPr id="93" name="Group 21">
                <a:extLst>
                  <a:ext uri="{FF2B5EF4-FFF2-40B4-BE49-F238E27FC236}">
                    <a16:creationId xmlns:a16="http://schemas.microsoft.com/office/drawing/2014/main" id="{575E144C-05EB-1D4D-B765-49E6255B1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95" name="Group 22">
                  <a:extLst>
                    <a:ext uri="{FF2B5EF4-FFF2-40B4-BE49-F238E27FC236}">
                      <a16:creationId xmlns:a16="http://schemas.microsoft.com/office/drawing/2014/main" id="{DD517EF7-D86B-F54D-A42C-9E0AB21DAA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99" name="Text Box 23">
                    <a:extLst>
                      <a:ext uri="{FF2B5EF4-FFF2-40B4-BE49-F238E27FC236}">
                        <a16:creationId xmlns:a16="http://schemas.microsoft.com/office/drawing/2014/main" id="{9C8D92BF-6B25-834E-B350-8B4E945BA4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32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K  (K   (m))  =  m </a:t>
                    </a:r>
                  </a:p>
                </p:txBody>
              </p:sp>
              <p:sp>
                <p:nvSpPr>
                  <p:cNvPr id="101" name="Text Box 24">
                    <a:extLst>
                      <a:ext uri="{FF2B5EF4-FFF2-40B4-BE49-F238E27FC236}">
                        <a16:creationId xmlns:a16="http://schemas.microsoft.com/office/drawing/2014/main" id="{9882DCB3-D7A7-F041-A7C4-765BE0D361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  <p:sp>
                <p:nvSpPr>
                  <p:cNvPr id="102" name="Text Box 25">
                    <a:extLst>
                      <a:ext uri="{FF2B5EF4-FFF2-40B4-BE49-F238E27FC236}">
                        <a16:creationId xmlns:a16="http://schemas.microsoft.com/office/drawing/2014/main" id="{53A078BB-04F6-AD4C-8010-FB1C4E8663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</p:grpSp>
            <p:sp>
              <p:nvSpPr>
                <p:cNvPr id="97" name="Text Box 26">
                  <a:extLst>
                    <a:ext uri="{FF2B5EF4-FFF2-40B4-BE49-F238E27FC236}">
                      <a16:creationId xmlns:a16="http://schemas.microsoft.com/office/drawing/2014/main" id="{81B0E173-437B-944D-AFC7-1191728D2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98" name="Text Box 27">
                  <a:extLst>
                    <a:ext uri="{FF2B5EF4-FFF2-40B4-BE49-F238E27FC236}">
                      <a16:creationId xmlns:a16="http://schemas.microsoft.com/office/drawing/2014/main" id="{873C3E9B-7D7E-0F45-825C-CB01E679ED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B37BF4-ADC0-7C4A-B2EE-07083244021D}"/>
              </a:ext>
            </a:extLst>
          </p:cNvPr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58F91EC6-E6B4-924D-9AB5-CE96A06FA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cs typeface="Arial" charset="0"/>
                </a:rPr>
                <a:t>given public key K  , it should be impossible to compute private key K  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9C99D718-344C-E14D-8E0F-802BD4E0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53" name="Text Box 10">
              <a:extLst>
                <a:ext uri="{FF2B5EF4-FFF2-40B4-BE49-F238E27FC236}">
                  <a16:creationId xmlns:a16="http://schemas.microsoft.com/office/drawing/2014/main" id="{0896A106-22CD-5A42-9112-99A6540B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755F3E15-FB06-3341-8DFF-070377E83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BB89F9D0-3AC7-ED46-8A4A-CD7D65257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w="349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99"/>
                  </a:solidFill>
                  <a:cs typeface="Arial" charset="0"/>
                </a:endParaRPr>
              </a:p>
            </p:txBody>
          </p:sp>
          <p:sp>
            <p:nvSpPr>
              <p:cNvPr id="80" name="Text Box 17">
                <a:extLst>
                  <a:ext uri="{FF2B5EF4-FFF2-40B4-BE49-F238E27FC236}">
                    <a16:creationId xmlns:a16="http://schemas.microsoft.com/office/drawing/2014/main" id="{3BA80475-B13A-DF44-A883-CCF63CDF2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99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0012A0"/>
                    </a:solidFill>
                    <a:latin typeface="+mn-lt"/>
                    <a:cs typeface="Arial" charset="0"/>
                  </a:rPr>
                  <a:t>2</a:t>
                </a:r>
                <a:endParaRPr lang="en-US" sz="2400" dirty="0">
                  <a:solidFill>
                    <a:srgbClr val="0012A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03" name="Text Box 28">
              <a:extLst>
                <a:ext uri="{FF2B5EF4-FFF2-40B4-BE49-F238E27FC236}">
                  <a16:creationId xmlns:a16="http://schemas.microsoft.com/office/drawing/2014/main" id="{FDDA8894-CCE9-4F4F-B6BC-4038E8E7F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09" name="Text Box 29">
              <a:extLst>
                <a:ext uri="{FF2B5EF4-FFF2-40B4-BE49-F238E27FC236}">
                  <a16:creationId xmlns:a16="http://schemas.microsoft.com/office/drawing/2014/main" id="{1C616302-4F70-464A-984D-28E0A094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73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7924800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/>
              <a:t>x mod n = remainder of x when divide by n</a:t>
            </a:r>
          </a:p>
          <a:p>
            <a:pPr marL="277813" indent="-277813"/>
            <a:r>
              <a:rPr lang="en-US" sz="3200" dirty="0"/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* (b mod n)] mod n = (a*b) mod n</a:t>
            </a:r>
          </a:p>
          <a:p>
            <a:pPr marL="277813" indent="-277813"/>
            <a:r>
              <a:rPr lang="en-US" sz="3200" dirty="0"/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/>
              <a:t>    </a:t>
            </a:r>
            <a:r>
              <a:rPr lang="en-US" sz="3200" dirty="0">
                <a:solidFill>
                  <a:srgbClr val="000099"/>
                </a:solidFill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example: x=14, n=10, d=2:</a:t>
            </a:r>
            <a:br>
              <a:rPr lang="en-US" sz="3200" dirty="0"/>
            </a:br>
            <a:r>
              <a:rPr lang="en-US" sz="3200" dirty="0"/>
              <a:t>    (x mod n)</a:t>
            </a:r>
            <a:r>
              <a:rPr lang="en-US" sz="3200" baseline="30000" dirty="0"/>
              <a:t>d</a:t>
            </a:r>
            <a:r>
              <a:rPr lang="en-US" sz="3200" dirty="0"/>
              <a:t> mod n = 4</a:t>
            </a:r>
            <a:r>
              <a:rPr lang="en-US" sz="3200" baseline="30000" dirty="0"/>
              <a:t>2</a:t>
            </a:r>
            <a:r>
              <a:rPr lang="en-US" sz="3200" dirty="0"/>
              <a:t> mod 10 = 6</a:t>
            </a:r>
            <a:br>
              <a:rPr lang="en-US" sz="3200" dirty="0"/>
            </a:br>
            <a:r>
              <a:rPr lang="en-US" sz="3200" dirty="0"/>
              <a:t>    x</a:t>
            </a:r>
            <a:r>
              <a:rPr lang="en-US" sz="3200" baseline="30000" dirty="0"/>
              <a:t>d</a:t>
            </a:r>
            <a:r>
              <a:rPr lang="en-US" sz="3200" dirty="0"/>
              <a:t> = 14</a:t>
            </a:r>
            <a:r>
              <a:rPr lang="en-US" sz="3200" baseline="30000" dirty="0"/>
              <a:t>2</a:t>
            </a:r>
            <a:r>
              <a:rPr lang="en-US" sz="3200" dirty="0"/>
              <a:t> = 196   x</a:t>
            </a:r>
            <a:r>
              <a:rPr lang="en-US" sz="3200" baseline="30000" dirty="0"/>
              <a:t>d</a:t>
            </a:r>
            <a:r>
              <a:rPr lang="en-US" sz="3200" dirty="0"/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RSA: getting ready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070DD6-9C23-9845-83F8-26D99BC9F34A}"/>
              </a:ext>
            </a:extLst>
          </p:cNvPr>
          <p:cNvSpPr txBox="1">
            <a:spLocks noChangeArrowheads="1"/>
          </p:cNvSpPr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>
              <a:lnSpc>
                <a:spcPct val="110000"/>
              </a:lnSpc>
            </a:pPr>
            <a:r>
              <a:rPr lang="en-US" sz="3200" dirty="0"/>
              <a:t>message: just a bit pattern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bit pattern can be uniquely represented by an integer number </a:t>
            </a:r>
          </a:p>
          <a:p>
            <a:pPr marL="277813" indent="-277813"/>
            <a:r>
              <a:rPr lang="en-US" sz="3200" dirty="0"/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example:</a:t>
            </a:r>
          </a:p>
          <a:p>
            <a:pPr marL="693738" indent="-223838"/>
            <a:r>
              <a:rPr lang="en-US" dirty="0"/>
              <a:t>m= 10010001. This message is uniquely represented by the decimal number 145. </a:t>
            </a:r>
          </a:p>
          <a:p>
            <a:pPr marL="693738" indent="-223838"/>
            <a:r>
              <a:rPr lang="en-US" dirty="0"/>
              <a:t>to encrypt m, we encrypt the corresponding number, which gives a new number (the ciphertext).</a:t>
            </a:r>
          </a:p>
        </p:txBody>
      </p:sp>
    </p:spTree>
    <p:extLst>
      <p:ext uri="{BB962C8B-B14F-4D97-AF65-F5344CB8AC3E}">
        <p14:creationId xmlns:p14="http://schemas.microsoft.com/office/powerpoint/2010/main" val="158587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Creating public/private key pair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90D8010-0A1D-6340-A10F-5D2A7174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sz="2800" dirty="0">
                <a:latin typeface="+mn-lt"/>
              </a:rPr>
              <a:t> choose two large prime numbers </a:t>
            </a:r>
            <a:r>
              <a:rPr lang="en-US" sz="2800" i="1" dirty="0">
                <a:latin typeface="+mn-lt"/>
              </a:rPr>
              <a:t>p, q.</a:t>
            </a:r>
            <a:r>
              <a:rPr lang="en-US" sz="2800" dirty="0">
                <a:latin typeface="+mn-lt"/>
              </a:rPr>
              <a:t>  (e.g., 1024 bits each)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4929A20-5DDA-7E4E-B7D1-697CDB61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2800" dirty="0">
                <a:latin typeface="+mn-lt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 </a:t>
            </a:r>
            <a:r>
              <a:rPr lang="en-US" sz="2800" i="1" dirty="0">
                <a:latin typeface="+mn-lt"/>
              </a:rPr>
              <a:t>= pq,  z = (p-1)(q-1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ECA6D99-7D73-AA45-B5BA-F1660C93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52425" indent="-352425"/>
            <a:r>
              <a:rPr lang="en-US" sz="28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e</a:t>
            </a:r>
            <a:r>
              <a:rPr lang="en-US" sz="2800" i="1" dirty="0">
                <a:latin typeface="+mn-lt"/>
              </a:rPr>
              <a:t> (</a:t>
            </a:r>
            <a:r>
              <a:rPr lang="en-US" sz="2800" dirty="0">
                <a:latin typeface="+mn-lt"/>
              </a:rPr>
              <a:t>with</a:t>
            </a:r>
            <a:r>
              <a:rPr lang="en-US" sz="2800" i="1" dirty="0">
                <a:latin typeface="+mn-lt"/>
              </a:rPr>
              <a:t> e&lt;n)</a:t>
            </a:r>
            <a:r>
              <a:rPr lang="en-US" sz="2800" dirty="0">
                <a:latin typeface="+mn-lt"/>
              </a:rPr>
              <a:t> that has no common factors  with z (</a:t>
            </a:r>
            <a:r>
              <a:rPr lang="en-US" sz="2800" i="1" dirty="0">
                <a:latin typeface="+mn-lt"/>
              </a:rPr>
              <a:t>e, z</a:t>
            </a:r>
            <a:r>
              <a:rPr lang="en-US" sz="2800" dirty="0">
                <a:latin typeface="+mn-lt"/>
              </a:rPr>
              <a:t> are “</a:t>
            </a:r>
            <a:r>
              <a:rPr lang="en-US" altLang="ja-JP" sz="2800" dirty="0">
                <a:latin typeface="+mn-lt"/>
              </a:rPr>
              <a:t>relatively prime”).</a:t>
            </a:r>
            <a:endParaRPr lang="en-US" sz="2800" dirty="0">
              <a:latin typeface="+mn-lt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E97B724-5589-0D4C-9525-09651E11E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404813" indent="-392113"/>
            <a:r>
              <a:rPr lang="en-US" sz="2800" dirty="0">
                <a:solidFill>
                  <a:srgbClr val="000099"/>
                </a:solidFill>
                <a:latin typeface="+mn-lt"/>
              </a:rPr>
              <a:t>4.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d</a:t>
            </a:r>
            <a:r>
              <a:rPr lang="en-US" sz="2800" dirty="0">
                <a:latin typeface="+mn-lt"/>
              </a:rPr>
              <a:t> such that </a:t>
            </a:r>
            <a:r>
              <a:rPr lang="en-US" sz="2800" i="1" dirty="0">
                <a:latin typeface="+mn-lt"/>
              </a:rPr>
              <a:t>ed-1</a:t>
            </a:r>
            <a:r>
              <a:rPr lang="en-US" sz="2800" dirty="0">
                <a:latin typeface="+mn-lt"/>
              </a:rPr>
              <a:t> is  exactly divisible by </a:t>
            </a:r>
            <a:r>
              <a:rPr lang="en-US" sz="2800" i="1" dirty="0">
                <a:latin typeface="+mn-lt"/>
              </a:rPr>
              <a:t>z</a:t>
            </a:r>
            <a:r>
              <a:rPr lang="en-US" sz="2800" dirty="0">
                <a:latin typeface="+mn-lt"/>
              </a:rPr>
              <a:t>.  (in other words: </a:t>
            </a:r>
            <a:r>
              <a:rPr lang="en-US" sz="2800" i="1" dirty="0">
                <a:latin typeface="+mn-lt"/>
              </a:rPr>
              <a:t>ed</a:t>
            </a:r>
            <a:r>
              <a:rPr lang="en-US" sz="2800" dirty="0">
                <a:latin typeface="+mn-lt"/>
              </a:rPr>
              <a:t> mod </a:t>
            </a:r>
            <a:r>
              <a:rPr lang="en-US" sz="2800" i="1" dirty="0">
                <a:latin typeface="+mn-lt"/>
              </a:rPr>
              <a:t>z  = 1 </a:t>
            </a:r>
            <a:r>
              <a:rPr lang="en-US" sz="2800" dirty="0">
                <a:latin typeface="+mn-lt"/>
              </a:rPr>
              <a:t>).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1BDA10B-6C91-B24D-B490-3E2713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5.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public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2800" i="1" dirty="0">
                <a:latin typeface="+mn-lt"/>
              </a:rPr>
              <a:t>).</a:t>
            </a:r>
            <a:r>
              <a:rPr lang="en-US" sz="2800" dirty="0">
                <a:latin typeface="+mn-lt"/>
              </a:rPr>
              <a:t> 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private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2800" i="1" dirty="0">
                <a:latin typeface="+mn-lt"/>
              </a:rPr>
              <a:t>).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92401F63-E607-EC42-81D5-B599E298C06E}"/>
              </a:ext>
            </a:extLst>
          </p:cNvPr>
          <p:cNvGrpSpPr>
            <a:grpSpLocks/>
          </p:cNvGrpSpPr>
          <p:nvPr/>
        </p:nvGrpSpPr>
        <p:grpSpPr bwMode="auto"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7974BD35-F581-2A4B-8232-EC3577D9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95094613-170F-DB41-A508-D84F0D83F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B5BBC98D-0AD4-C843-8D5A-7499CC0AA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49FB52D6-CC18-274A-981A-C804A9C7DB97}"/>
              </a:ext>
            </a:extLst>
          </p:cNvPr>
          <p:cNvGrpSpPr>
            <a:grpSpLocks/>
          </p:cNvGrpSpPr>
          <p:nvPr/>
        </p:nvGrpSpPr>
        <p:grpSpPr bwMode="auto"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693197C3-20B4-354C-95D0-D37FF8CFB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4162E66-99EA-6641-817F-A30782A5C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7614295A-36D3-BD40-AE97-E81A1538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</p:grpSp>
      <p:sp>
        <p:nvSpPr>
          <p:cNvPr id="19" name="AutoShape 16">
            <a:extLst>
              <a:ext uri="{FF2B5EF4-FFF2-40B4-BE49-F238E27FC236}">
                <a16:creationId xmlns:a16="http://schemas.microsoft.com/office/drawing/2014/main" id="{C8E63AC6-2EC5-1C45-BD35-68B79810907F}"/>
              </a:ext>
            </a:extLst>
          </p:cNvPr>
          <p:cNvSpPr>
            <a:spLocks/>
          </p:cNvSpPr>
          <p:nvPr/>
        </p:nvSpPr>
        <p:spPr bwMode="auto">
          <a:xfrm rot="5400000">
            <a:off x="3569087" y="5227389"/>
            <a:ext cx="165100" cy="788588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765E3246-B890-1944-AECE-AF673B857899}"/>
              </a:ext>
            </a:extLst>
          </p:cNvPr>
          <p:cNvSpPr>
            <a:spLocks/>
          </p:cNvSpPr>
          <p:nvPr/>
        </p:nvSpPr>
        <p:spPr bwMode="auto">
          <a:xfrm rot="5400000">
            <a:off x="6348800" y="5197226"/>
            <a:ext cx="165100" cy="788589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854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encryption, decryption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9056CA21-CF24-294A-9634-A7793AC8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0.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 given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and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as computed above</a:t>
            </a:r>
          </a:p>
        </p:txBody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A699F20C-465F-AE4E-AB75-A61EDA154B23}"/>
              </a:ext>
            </a:extLst>
          </p:cNvPr>
          <p:cNvGrpSpPr>
            <a:grpSpLocks/>
          </p:cNvGrpSpPr>
          <p:nvPr/>
        </p:nvGrpSpPr>
        <p:grpSpPr bwMode="auto"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1E69CCAC-498E-F14E-AE4B-01A7DAE18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000099"/>
                  </a:solidFill>
                  <a:latin typeface="+mn-lt"/>
                </a:rPr>
                <a:t>1.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 to encrypt message </a:t>
              </a:r>
              <a:r>
                <a:rPr lang="en-US" sz="3200" i="1" dirty="0">
                  <a:solidFill>
                    <a:srgbClr val="000000"/>
                  </a:solidFill>
                  <a:latin typeface="+mn-lt"/>
                </a:rPr>
                <a:t>m (&lt;n)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, compute</a:t>
              </a:r>
            </a:p>
          </p:txBody>
        </p: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931667AD-2167-4643-ACCA-FEDA340BB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50" name="Text Box 7">
                <a:extLst>
                  <a:ext uri="{FF2B5EF4-FFF2-40B4-BE49-F238E27FC236}">
                    <a16:creationId xmlns:a16="http://schemas.microsoft.com/office/drawing/2014/main" id="{5C608D45-4EAE-9741-8605-B1917498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c = m   </a:t>
                </a:r>
                <a:r>
                  <a:rPr lang="en-US" sz="3200" dirty="0">
                    <a:solidFill>
                      <a:srgbClr val="C00000"/>
                    </a:solidFill>
                    <a:latin typeface="+mn-lt"/>
                  </a:rPr>
                  <a:t>mod</a:t>
                </a: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  n</a:t>
                </a:r>
              </a:p>
            </p:txBody>
          </p:sp>
          <p:sp>
            <p:nvSpPr>
              <p:cNvPr id="51" name="Text Box 8">
                <a:extLst>
                  <a:ext uri="{FF2B5EF4-FFF2-40B4-BE49-F238E27FC236}">
                    <a16:creationId xmlns:a16="http://schemas.microsoft.com/office/drawing/2014/main" id="{3BDD1282-A69D-8140-8C13-F90A6D2EC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e</a:t>
                </a:r>
              </a:p>
            </p:txBody>
          </p:sp>
        </p:grpSp>
        <p:grpSp>
          <p:nvGrpSpPr>
            <p:cNvPr id="47" name="Group 9">
              <a:extLst>
                <a:ext uri="{FF2B5EF4-FFF2-40B4-BE49-F238E27FC236}">
                  <a16:creationId xmlns:a16="http://schemas.microsoft.com/office/drawing/2014/main" id="{A532181C-5B2B-F54F-A31A-7CB8B2AC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56FC0B1F-B51B-5D49-B5E8-867272361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" name="Text Box 11">
                <a:extLst>
                  <a:ext uri="{FF2B5EF4-FFF2-40B4-BE49-F238E27FC236}">
                    <a16:creationId xmlns:a16="http://schemas.microsoft.com/office/drawing/2014/main" id="{51D18D63-8BB0-E84D-9227-3CB61C2AD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  <p:sp>
        <p:nvSpPr>
          <p:cNvPr id="53" name="Text Box 12">
            <a:extLst>
              <a:ext uri="{FF2B5EF4-FFF2-40B4-BE49-F238E27FC236}">
                <a16:creationId xmlns:a16="http://schemas.microsoft.com/office/drawing/2014/main" id="{10236FC4-064B-9D42-8E70-8161A1BF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to decrypt received bit pattern, </a:t>
            </a:r>
            <a:r>
              <a:rPr lang="en-US" sz="3200" i="1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, compute</a:t>
            </a: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22E7CBF0-068F-0A41-8BBB-68965EBE48C8}"/>
              </a:ext>
            </a:extLst>
          </p:cNvPr>
          <p:cNvGrpSpPr>
            <a:grpSpLocks/>
          </p:cNvGrpSpPr>
          <p:nvPr/>
        </p:nvGrpSpPr>
        <p:grpSpPr bwMode="auto"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CD267156-6332-8D4B-8449-03B5F8456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m = c   </a:t>
              </a:r>
              <a:r>
                <a:rPr lang="en-US" sz="3200" dirty="0">
                  <a:solidFill>
                    <a:srgbClr val="C00000"/>
                  </a:solidFill>
                  <a:latin typeface="+mn-lt"/>
                </a:rPr>
                <a:t>mod</a:t>
              </a: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  n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2C25EF-BAAD-254C-BAAF-B7D9FFD71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d</a:t>
              </a: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A1035740-363B-2345-B7B1-2001DD85CEB8}"/>
              </a:ext>
            </a:extLst>
          </p:cNvPr>
          <p:cNvGrpSpPr>
            <a:grpSpLocks/>
          </p:cNvGrpSpPr>
          <p:nvPr/>
        </p:nvGrpSpPr>
        <p:grpSpPr bwMode="auto"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21E382C2-360B-D747-92D9-5E9A861F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m  =  (m  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n)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62237C72-69BA-0C4F-90E5-A564C691A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03B9FE94-17D8-7F47-B42E-A398B32AE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</a:t>
              </a:r>
            </a:p>
          </p:txBody>
        </p:sp>
        <p:sp>
          <p:nvSpPr>
            <p:cNvPr id="61" name="Text Box 20">
              <a:extLst>
                <a:ext uri="{FF2B5EF4-FFF2-40B4-BE49-F238E27FC236}">
                  <a16:creationId xmlns:a16="http://schemas.microsoft.com/office/drawing/2014/main" id="{BABBDF2C-2DAC-174A-9933-6193C8848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d</a:t>
              </a:r>
            </a:p>
          </p:txBody>
        </p:sp>
      </p:grpSp>
      <p:sp>
        <p:nvSpPr>
          <p:cNvPr id="62" name="Text Box 21">
            <a:extLst>
              <a:ext uri="{FF2B5EF4-FFF2-40B4-BE49-F238E27FC236}">
                <a16:creationId xmlns:a16="http://schemas.microsoft.com/office/drawing/2014/main" id="{C0266B1E-F960-E548-8AB2-60F2F2967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magic happens!</a:t>
            </a: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9D1B2350-594E-3E44-A1E2-05DB52F0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486" y="4916556"/>
            <a:ext cx="7667141" cy="1099931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4" name="AutoShape 23">
            <a:extLst>
              <a:ext uri="{FF2B5EF4-FFF2-40B4-BE49-F238E27FC236}">
                <a16:creationId xmlns:a16="http://schemas.microsoft.com/office/drawing/2014/main" id="{CE2EA006-139B-1845-B02F-1FEF788A185A}"/>
              </a:ext>
            </a:extLst>
          </p:cNvPr>
          <p:cNvSpPr>
            <a:spLocks/>
          </p:cNvSpPr>
          <p:nvPr/>
        </p:nvSpPr>
        <p:spPr bwMode="auto">
          <a:xfrm rot="-5400000">
            <a:off x="7193343" y="4984092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65" name="Text Box 24">
            <a:extLst>
              <a:ext uri="{FF2B5EF4-FFF2-40B4-BE49-F238E27FC236}">
                <a16:creationId xmlns:a16="http://schemas.microsoft.com/office/drawing/2014/main" id="{28C77BF7-7E4E-CE43-9481-0A97EF77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4467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example: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4" name="Text Box 3">
            <a:extLst>
              <a:ext uri="{FF2B5EF4-FFF2-40B4-BE49-F238E27FC236}">
                <a16:creationId xmlns:a16="http://schemas.microsoft.com/office/drawing/2014/main" id="{FB0DD009-6BF8-9B41-9C00-98FA2E9C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Bob chooses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p=5, q=7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  Then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n=35, z=24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</a:t>
            </a:r>
          </a:p>
        </p:txBody>
      </p:sp>
      <p:sp>
        <p:nvSpPr>
          <p:cNvPr id="85" name="Text Box 4">
            <a:extLst>
              <a:ext uri="{FF2B5EF4-FFF2-40B4-BE49-F238E27FC236}">
                <a16:creationId xmlns:a16="http://schemas.microsoft.com/office/drawing/2014/main" id="{9C293842-DC20-4B4C-B1AD-4749A530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e=5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e, z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relatively prime).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d=29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ed-1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exactly divisible by z).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</a:t>
            </a: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2FBF81FF-D042-0E4E-BE40-EB560CEC1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bit pattern</a:t>
            </a:r>
          </a:p>
        </p:txBody>
      </p:sp>
      <p:sp>
        <p:nvSpPr>
          <p:cNvPr id="87" name="Text Box 6">
            <a:extLst>
              <a:ext uri="{FF2B5EF4-FFF2-40B4-BE49-F238E27FC236}">
                <a16:creationId xmlns:a16="http://schemas.microsoft.com/office/drawing/2014/main" id="{1E8319D7-A62A-7B4C-A347-CD7574E5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4F445430-8120-FB43-B18D-70F17C4B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9" name="Text Box 8">
            <a:extLst>
              <a:ext uri="{FF2B5EF4-FFF2-40B4-BE49-F238E27FC236}">
                <a16:creationId xmlns:a16="http://schemas.microsoft.com/office/drawing/2014/main" id="{8E6A7F1C-7108-5449-8193-1321ACFA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</a:t>
            </a: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1A927CF2-FBEE-C949-ACEF-A5C2A74C9C6F}"/>
              </a:ext>
            </a:extLst>
          </p:cNvPr>
          <p:cNvGrpSpPr>
            <a:grpSpLocks/>
          </p:cNvGrpSpPr>
          <p:nvPr/>
        </p:nvGrpSpPr>
        <p:grpSpPr bwMode="auto"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19C1075F-254D-0B48-9778-9E9562D02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c = m  mod  n</a:t>
              </a:r>
            </a:p>
          </p:txBody>
        </p:sp>
        <p:sp>
          <p:nvSpPr>
            <p:cNvPr id="92" name="Text Box 11">
              <a:extLst>
                <a:ext uri="{FF2B5EF4-FFF2-40B4-BE49-F238E27FC236}">
                  <a16:creationId xmlns:a16="http://schemas.microsoft.com/office/drawing/2014/main" id="{E4D271F5-00DA-E94B-AD49-5AF427F13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</p:grpSp>
      <p:sp>
        <p:nvSpPr>
          <p:cNvPr id="93" name="Text Box 12">
            <a:extLst>
              <a:ext uri="{FF2B5EF4-FFF2-40B4-BE49-F238E27FC236}">
                <a16:creationId xmlns:a16="http://schemas.microsoft.com/office/drawing/2014/main" id="{86499D3F-2848-0748-A706-290A93EF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0000l000</a:t>
            </a:r>
          </a:p>
        </p:txBody>
      </p:sp>
      <p:sp>
        <p:nvSpPr>
          <p:cNvPr id="94" name="Text Box 13">
            <a:extLst>
              <a:ext uri="{FF2B5EF4-FFF2-40B4-BE49-F238E27FC236}">
                <a16:creationId xmlns:a16="http://schemas.microsoft.com/office/drawing/2014/main" id="{21EA5B24-1503-1343-BEB8-1B4FE1C0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12</a:t>
            </a:r>
          </a:p>
        </p:txBody>
      </p:sp>
      <p:sp>
        <p:nvSpPr>
          <p:cNvPr id="95" name="Text Box 14">
            <a:extLst>
              <a:ext uri="{FF2B5EF4-FFF2-40B4-BE49-F238E27FC236}">
                <a16:creationId xmlns:a16="http://schemas.microsoft.com/office/drawing/2014/main" id="{506F66DC-AD7F-0E4E-A0BB-4A6279D5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24832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E746DBFE-0909-1D47-A24F-4CF5FE32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17</a:t>
            </a:r>
          </a:p>
        </p:txBody>
      </p:sp>
      <p:sp>
        <p:nvSpPr>
          <p:cNvPr id="97" name="Text Box 28">
            <a:extLst>
              <a:ext uri="{FF2B5EF4-FFF2-40B4-BE49-F238E27FC236}">
                <a16:creationId xmlns:a16="http://schemas.microsoft.com/office/drawing/2014/main" id="{EFF46EF4-7BA8-8949-B84B-E9B1E644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99"/>
                </a:solidFill>
                <a:latin typeface="+mn-lt"/>
                <a:cs typeface="Arial" charset="0"/>
              </a:rPr>
              <a:t>encrypt:</a:t>
            </a: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11939F08-D7FB-D941-9914-067FA0FF2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encrypting 8-bit messages.</a:t>
            </a:r>
          </a:p>
        </p:txBody>
      </p:sp>
      <p:sp>
        <p:nvSpPr>
          <p:cNvPr id="99" name="Right Brace 1">
            <a:extLst>
              <a:ext uri="{FF2B5EF4-FFF2-40B4-BE49-F238E27FC236}">
                <a16:creationId xmlns:a16="http://schemas.microsoft.com/office/drawing/2014/main" id="{E98DD281-14BA-E246-B6C3-6B66EF2CC6C1}"/>
              </a:ext>
            </a:extLst>
          </p:cNvPr>
          <p:cNvSpPr>
            <a:spLocks/>
          </p:cNvSpPr>
          <p:nvPr/>
        </p:nvSpPr>
        <p:spPr bwMode="auto">
          <a:xfrm rot="5400000">
            <a:off x="4202733" y="3216828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0" name="Right Brace 31">
            <a:extLst>
              <a:ext uri="{FF2B5EF4-FFF2-40B4-BE49-F238E27FC236}">
                <a16:creationId xmlns:a16="http://schemas.microsoft.com/office/drawing/2014/main" id="{2307264E-9C5B-5A43-AFD8-13406440796F}"/>
              </a:ext>
            </a:extLst>
          </p:cNvPr>
          <p:cNvSpPr>
            <a:spLocks/>
          </p:cNvSpPr>
          <p:nvPr/>
        </p:nvSpPr>
        <p:spPr bwMode="auto">
          <a:xfrm rot="5400000">
            <a:off x="5525120" y="3689903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1" name="Right Brace 32">
            <a:extLst>
              <a:ext uri="{FF2B5EF4-FFF2-40B4-BE49-F238E27FC236}">
                <a16:creationId xmlns:a16="http://schemas.microsoft.com/office/drawing/2014/main" id="{877E4C41-AB3C-E740-BA48-3E574A17A614}"/>
              </a:ext>
            </a:extLst>
          </p:cNvPr>
          <p:cNvSpPr>
            <a:spLocks/>
          </p:cNvSpPr>
          <p:nvPr/>
        </p:nvSpPr>
        <p:spPr bwMode="auto">
          <a:xfrm rot="5400000">
            <a:off x="6772102" y="3695458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2" name="Right Brace 33">
            <a:extLst>
              <a:ext uri="{FF2B5EF4-FFF2-40B4-BE49-F238E27FC236}">
                <a16:creationId xmlns:a16="http://schemas.microsoft.com/office/drawing/2014/main" id="{1C88363E-5034-0A4B-A052-583195F4E9F2}"/>
              </a:ext>
            </a:extLst>
          </p:cNvPr>
          <p:cNvSpPr>
            <a:spLocks/>
          </p:cNvSpPr>
          <p:nvPr/>
        </p:nvSpPr>
        <p:spPr bwMode="auto">
          <a:xfrm rot="5400000">
            <a:off x="9314483" y="2905677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48CF0B2-3182-EF47-B3D7-985E8B8AFB67}"/>
              </a:ext>
            </a:extLst>
          </p:cNvPr>
          <p:cNvGrpSpPr>
            <a:grpSpLocks/>
          </p:cNvGrpSpPr>
          <p:nvPr/>
        </p:nvGrpSpPr>
        <p:grpSpPr bwMode="auto"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104" name="Text Box 16">
              <a:extLst>
                <a:ext uri="{FF2B5EF4-FFF2-40B4-BE49-F238E27FC236}">
                  <a16:creationId xmlns:a16="http://schemas.microsoft.com/office/drawing/2014/main" id="{55FD3CE7-0885-8446-8200-9A0EEE48B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105" name="Group 17">
              <a:extLst>
                <a:ext uri="{FF2B5EF4-FFF2-40B4-BE49-F238E27FC236}">
                  <a16:creationId xmlns:a16="http://schemas.microsoft.com/office/drawing/2014/main" id="{F7AFF9D6-B4A1-9E43-B57B-496703EDA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116" name="Text Box 18">
                <a:extLst>
                  <a:ext uri="{FF2B5EF4-FFF2-40B4-BE49-F238E27FC236}">
                    <a16:creationId xmlns:a16="http://schemas.microsoft.com/office/drawing/2014/main" id="{EDB87C99-05D3-7F4D-AC08-ECF06ECA0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117" name="Text Box 19">
                <a:extLst>
                  <a:ext uri="{FF2B5EF4-FFF2-40B4-BE49-F238E27FC236}">
                    <a16:creationId xmlns:a16="http://schemas.microsoft.com/office/drawing/2014/main" id="{8DE61BF2-BDC1-1542-9084-C17039C47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06" name="Text Box 20">
              <a:extLst>
                <a:ext uri="{FF2B5EF4-FFF2-40B4-BE49-F238E27FC236}">
                  <a16:creationId xmlns:a16="http://schemas.microsoft.com/office/drawing/2014/main" id="{1F8625A9-6775-A54A-A7DF-25E164F01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17</a:t>
              </a:r>
            </a:p>
          </p:txBody>
        </p:sp>
        <p:sp>
          <p:nvSpPr>
            <p:cNvPr id="107" name="Text Box 21">
              <a:extLst>
                <a:ext uri="{FF2B5EF4-FFF2-40B4-BE49-F238E27FC236}">
                  <a16:creationId xmlns:a16="http://schemas.microsoft.com/office/drawing/2014/main" id="{E3D9D933-964F-B246-9386-8B839697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108" name="Text Box 22">
              <a:extLst>
                <a:ext uri="{FF2B5EF4-FFF2-40B4-BE49-F238E27FC236}">
                  <a16:creationId xmlns:a16="http://schemas.microsoft.com/office/drawing/2014/main" id="{D9BF4DD4-D8B3-E841-9716-E4DB33C53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12</a:t>
              </a:r>
            </a:p>
          </p:txBody>
        </p:sp>
        <p:grpSp>
          <p:nvGrpSpPr>
            <p:cNvPr id="109" name="Group 23">
              <a:extLst>
                <a:ext uri="{FF2B5EF4-FFF2-40B4-BE49-F238E27FC236}">
                  <a16:creationId xmlns:a16="http://schemas.microsoft.com/office/drawing/2014/main" id="{8885D463-FAA8-9140-9A84-C0EDE70E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114" name="Text Box 24">
                <a:extLst>
                  <a:ext uri="{FF2B5EF4-FFF2-40B4-BE49-F238E27FC236}">
                    <a16:creationId xmlns:a16="http://schemas.microsoft.com/office/drawing/2014/main" id="{6D72F36B-148A-AA4C-8FE5-CC456C4F9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115" name="Text Box 25">
                <a:extLst>
                  <a:ext uri="{FF2B5EF4-FFF2-40B4-BE49-F238E27FC236}">
                    <a16:creationId xmlns:a16="http://schemas.microsoft.com/office/drawing/2014/main" id="{678A0FE0-D6EC-FC46-B048-C1C5F1AFE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10" name="Text Box 29">
              <a:extLst>
                <a:ext uri="{FF2B5EF4-FFF2-40B4-BE49-F238E27FC236}">
                  <a16:creationId xmlns:a16="http://schemas.microsoft.com/office/drawing/2014/main" id="{9263726D-66BD-4840-925A-32F3F8E7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decrypt:</a:t>
              </a:r>
            </a:p>
          </p:txBody>
        </p:sp>
        <p:sp>
          <p:nvSpPr>
            <p:cNvPr id="111" name="Right Brace 36">
              <a:extLst>
                <a:ext uri="{FF2B5EF4-FFF2-40B4-BE49-F238E27FC236}">
                  <a16:creationId xmlns:a16="http://schemas.microsoft.com/office/drawing/2014/main" id="{806B4247-52E0-F94A-A51F-3FF58755CF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2" name="Right Brace 37">
              <a:extLst>
                <a:ext uri="{FF2B5EF4-FFF2-40B4-BE49-F238E27FC236}">
                  <a16:creationId xmlns:a16="http://schemas.microsoft.com/office/drawing/2014/main" id="{780C030B-9AB8-4A41-9DF9-D8B492D150D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3" name="Right Brace 38">
              <a:extLst>
                <a:ext uri="{FF2B5EF4-FFF2-40B4-BE49-F238E27FC236}">
                  <a16:creationId xmlns:a16="http://schemas.microsoft.com/office/drawing/2014/main" id="{B97D913A-A8C6-074F-AC8F-39F524A3F8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18" name="Left-Right Arrow 117">
            <a:extLst>
              <a:ext uri="{FF2B5EF4-FFF2-40B4-BE49-F238E27FC236}">
                <a16:creationId xmlns:a16="http://schemas.microsoft.com/office/drawing/2014/main" id="{7E5EB329-6AAF-B24A-AEA1-CE46E0712404}"/>
              </a:ext>
            </a:extLst>
          </p:cNvPr>
          <p:cNvSpPr>
            <a:spLocks noChangeArrowheads="1"/>
          </p:cNvSpPr>
          <p:nvPr/>
        </p:nvSpPr>
        <p:spPr bwMode="auto">
          <a:xfrm rot="1604466">
            <a:off x="5690221" y="4840840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rgbClr val="3333CC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does RSA work?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5F5DD7F8-21FC-134D-BADA-5441DF2BCD61}"/>
              </a:ext>
            </a:extLst>
          </p:cNvPr>
          <p:cNvSpPr txBox="1">
            <a:spLocks noChangeArrowheads="1"/>
          </p:cNvSpPr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must show that c</a:t>
            </a:r>
            <a:r>
              <a:rPr lang="en-US" sz="3200" baseline="30000" dirty="0"/>
              <a:t>d</a:t>
            </a:r>
            <a:r>
              <a:rPr lang="en-US" sz="3200" dirty="0"/>
              <a:t> mod n = m,  where c = m</a:t>
            </a:r>
            <a:r>
              <a:rPr lang="en-US" sz="3200" baseline="30000" dirty="0"/>
              <a:t>e</a:t>
            </a:r>
            <a:r>
              <a:rPr lang="en-US" sz="3200" dirty="0"/>
              <a:t> mod n</a:t>
            </a:r>
          </a:p>
          <a:p>
            <a:pPr indent="-339725"/>
            <a:r>
              <a:rPr lang="en-US" sz="3200" dirty="0"/>
              <a:t>fact: for any x and y: x</a:t>
            </a:r>
            <a:r>
              <a:rPr lang="en-US" sz="3200" baseline="30000" dirty="0"/>
              <a:t>y</a:t>
            </a:r>
            <a:r>
              <a:rPr lang="en-US" sz="3200" dirty="0"/>
              <a:t> mod n = x</a:t>
            </a:r>
            <a:r>
              <a:rPr lang="en-US" sz="3200" baseline="30000" dirty="0"/>
              <a:t>(y mod z)</a:t>
            </a:r>
            <a:r>
              <a:rPr lang="en-US" sz="3200" dirty="0"/>
              <a:t> mod n</a:t>
            </a:r>
          </a:p>
          <a:p>
            <a:pPr marL="574675" lvl="1" indent="-222250"/>
            <a:r>
              <a:rPr lang="en-US" sz="2800" dirty="0"/>
              <a:t>where n= pq and z = (p-1)(q-1)</a:t>
            </a:r>
          </a:p>
          <a:p>
            <a:pPr indent="-339725"/>
            <a:r>
              <a:rPr lang="en-US" sz="3200" dirty="0"/>
              <a:t>thus, </a:t>
            </a:r>
            <a:br>
              <a:rPr lang="en-US" sz="3200" dirty="0"/>
            </a:br>
            <a:r>
              <a:rPr lang="en-US" sz="3200" dirty="0"/>
              <a:t> c</a:t>
            </a:r>
            <a:r>
              <a:rPr lang="en-US" sz="3200" baseline="30000" dirty="0"/>
              <a:t>d</a:t>
            </a:r>
            <a:r>
              <a:rPr lang="en-US" sz="3200" dirty="0"/>
              <a:t> mod n = 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ed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(ed mod z)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1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</a:p>
        </p:txBody>
      </p:sp>
      <p:grpSp>
        <p:nvGrpSpPr>
          <p:cNvPr id="40" name="Group 8">
            <a:extLst>
              <a:ext uri="{FF2B5EF4-FFF2-40B4-BE49-F238E27FC236}">
                <a16:creationId xmlns:a16="http://schemas.microsoft.com/office/drawing/2014/main" id="{854DF921-3E50-E048-A33A-4941BF48FC38}"/>
              </a:ext>
            </a:extLst>
          </p:cNvPr>
          <p:cNvGrpSpPr>
            <a:grpSpLocks/>
          </p:cNvGrpSpPr>
          <p:nvPr/>
        </p:nvGrpSpPr>
        <p:grpSpPr bwMode="auto"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F9A81EDD-9C78-4D40-BBF1-D502F1E67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402"/>
              <a:ext cx="3119" cy="481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00F77348-56A4-5C4D-805A-F10A82434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889"/>
              <a:ext cx="740" cy="1236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</p:grpSp>
      <p:pic>
        <p:nvPicPr>
          <p:cNvPr id="4" name="Picture 3" descr="A black text with a number&#10;&#10;AI-generated content may be incorrect.">
            <a:extLst>
              <a:ext uri="{FF2B5EF4-FFF2-40B4-BE49-F238E27FC236}">
                <a16:creationId xmlns:a16="http://schemas.microsoft.com/office/drawing/2014/main" id="{1441DE24-FE5F-773B-33A1-57F49BBD2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396" y="4311802"/>
            <a:ext cx="3997740" cy="6801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A349EA-EBFA-F10B-58DE-0C77F4169F87}"/>
              </a:ext>
            </a:extLst>
          </p:cNvPr>
          <p:cNvSpPr txBox="1"/>
          <p:nvPr/>
        </p:nvSpPr>
        <p:spPr>
          <a:xfrm>
            <a:off x="8239646" y="3884543"/>
            <a:ext cx="248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Euler’s</a:t>
            </a:r>
            <a:r>
              <a:rPr lang="zh-CN" altLang="en-US" sz="2800" dirty="0"/>
              <a:t> </a:t>
            </a:r>
            <a:r>
              <a:rPr lang="en-US" altLang="zh-CN" sz="2800" dirty="0"/>
              <a:t>theorem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2327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another important property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0E1F4A0-78B0-BD4D-A91E-EC5C0891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The following property will be </a:t>
            </a:r>
            <a:r>
              <a:rPr lang="en-US" sz="3200" i="1" dirty="0">
                <a:solidFill>
                  <a:srgbClr val="0012A0"/>
                </a:solidFill>
                <a:latin typeface="+mn-lt"/>
              </a:rPr>
              <a:t>very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useful later:</a:t>
            </a:r>
            <a:endParaRPr lang="en-US" sz="2800" dirty="0">
              <a:latin typeface="+mn-lt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016FCB0-4AEE-864B-90F8-703500D61B3D}"/>
              </a:ext>
            </a:extLst>
          </p:cNvPr>
          <p:cNvGrpSpPr>
            <a:grpSpLocks/>
          </p:cNvGrpSpPr>
          <p:nvPr/>
        </p:nvGrpSpPr>
        <p:grpSpPr bwMode="auto"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B4185EBA-7292-654A-9C55-3FD6DFE33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4DEA9E7F-3063-C44A-8BA6-2D10AAC9C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7CA309C3-F398-7342-B829-761DD9380E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id="{4BE4A247-397C-4B49-A0FE-B01CAD55C6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2" name="Text Box 9">
                  <a:extLst>
                    <a:ext uri="{FF2B5EF4-FFF2-40B4-BE49-F238E27FC236}">
                      <a16:creationId xmlns:a16="http://schemas.microsoft.com/office/drawing/2014/main" id="{AE701ACD-F994-B443-8676-C896D17D9C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E794409D-DEC5-A249-803E-48D183B57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CC2E8FA6-62C9-B64C-B493-1F6F04723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FD29B7F-090A-A44F-9DB5-BC9E17EDE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23894D50-3F7E-414D-9D50-733406DA1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89D2D53-9991-9F4F-ACA1-CE73046CA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30F1D5B7-EC19-7B4D-95C1-F2494D51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84D77053-58F4-9548-BA15-30800CD9F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D8FA4809-100F-6F42-B949-08EFA64CE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  <p:sp>
        <p:nvSpPr>
          <p:cNvPr id="23" name="Text Box 18">
            <a:extLst>
              <a:ext uri="{FF2B5EF4-FFF2-40B4-BE49-F238E27FC236}">
                <a16:creationId xmlns:a16="http://schemas.microsoft.com/office/drawing/2014/main" id="{340CC0E8-B62C-504E-AEB1-6848700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public key first, followed by private key </a:t>
            </a:r>
            <a:endParaRPr lang="en-US" sz="2800" dirty="0">
              <a:latin typeface="+mn-lt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E3A42832-F508-B343-8C8C-BEF9E3FF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private key first, followed by public key </a:t>
            </a:r>
            <a:endParaRPr lang="en-US" sz="2800" dirty="0">
              <a:latin typeface="+mn-lt"/>
            </a:endParaRP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02AA67A9-2B3D-0D41-9805-A055EFEABF26}"/>
              </a:ext>
            </a:extLst>
          </p:cNvPr>
          <p:cNvSpPr>
            <a:spLocks/>
          </p:cNvSpPr>
          <p:nvPr/>
        </p:nvSpPr>
        <p:spPr bwMode="auto">
          <a:xfrm rot="5400000">
            <a:off x="3581193" y="2445763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635B218B-7A80-474D-B6FE-1FEED4F297EF}"/>
              </a:ext>
            </a:extLst>
          </p:cNvPr>
          <p:cNvSpPr>
            <a:spLocks/>
          </p:cNvSpPr>
          <p:nvPr/>
        </p:nvSpPr>
        <p:spPr bwMode="auto">
          <a:xfrm rot="5400000">
            <a:off x="6853030" y="2437825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7" name="Text Box 22">
            <a:extLst>
              <a:ext uri="{FF2B5EF4-FFF2-40B4-BE49-F238E27FC236}">
                <a16:creationId xmlns:a16="http://schemas.microsoft.com/office/drawing/2014/main" id="{133B9DA1-4813-804A-BDEB-BC6F62E80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i="1" dirty="0">
                <a:solidFill>
                  <a:srgbClr val="C00000"/>
                </a:solidFill>
                <a:latin typeface="+mn-lt"/>
              </a:rPr>
              <a:t>result is the same!</a:t>
            </a:r>
            <a:r>
              <a:rPr lang="en-US" sz="3600" dirty="0">
                <a:solidFill>
                  <a:srgbClr val="C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70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01C5215-2055-6645-B2A2-7E90E6DD7C1D}"/>
              </a:ext>
            </a:extLst>
          </p:cNvPr>
          <p:cNvSpPr txBox="1">
            <a:spLocks noChangeArrowheads="1"/>
          </p:cNvSpPr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3200" dirty="0"/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dirty="0"/>
              <a:t>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 = m</a:t>
            </a:r>
            <a:r>
              <a:rPr lang="en-US" sz="3200" baseline="30000" dirty="0"/>
              <a:t>ed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m</a:t>
            </a:r>
            <a:r>
              <a:rPr lang="en-US" sz="3200" baseline="30000" dirty="0"/>
              <a:t>de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(m</a:t>
            </a:r>
            <a:r>
              <a:rPr lang="en-US" sz="3200" baseline="30000" dirty="0"/>
              <a:t>d</a:t>
            </a:r>
            <a:r>
              <a:rPr lang="en-US" sz="3200" dirty="0"/>
              <a:t> mod n)</a:t>
            </a:r>
            <a:r>
              <a:rPr lang="en-US" sz="3200" baseline="30000" dirty="0"/>
              <a:t>e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A05BA737-B1A7-9E44-9589-2517A92B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+mn-lt"/>
              </a:rPr>
              <a:t>Why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BEC6564A-7ECB-C449-9E44-F7AE43F71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  <a:latin typeface="Arial" charset="0"/>
                <a:cs typeface="Arial" charset="0"/>
              </a:rPr>
              <a:t>?</a:t>
            </a:r>
          </a:p>
        </p:txBody>
      </p:sp>
      <p:grpSp>
        <p:nvGrpSpPr>
          <p:cNvPr id="47" name="Group 4">
            <a:extLst>
              <a:ext uri="{FF2B5EF4-FFF2-40B4-BE49-F238E27FC236}">
                <a16:creationId xmlns:a16="http://schemas.microsoft.com/office/drawing/2014/main" id="{8536CA01-0A05-2040-B9E9-70C1D7FF1EE8}"/>
              </a:ext>
            </a:extLst>
          </p:cNvPr>
          <p:cNvGrpSpPr>
            <a:grpSpLocks/>
          </p:cNvGrpSpPr>
          <p:nvPr/>
        </p:nvGrpSpPr>
        <p:grpSpPr bwMode="auto"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8" name="Group 5">
              <a:extLst>
                <a:ext uri="{FF2B5EF4-FFF2-40B4-BE49-F238E27FC236}">
                  <a16:creationId xmlns:a16="http://schemas.microsoft.com/office/drawing/2014/main" id="{6E379951-E11F-D84F-AE4B-3E03B60F8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56" name="Group 6">
                <a:extLst>
                  <a:ext uri="{FF2B5EF4-FFF2-40B4-BE49-F238E27FC236}">
                    <a16:creationId xmlns:a16="http://schemas.microsoft.com/office/drawing/2014/main" id="{AD7E7E0C-2F26-8748-9DB0-0A4018ACB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59" name="Text Box 7">
                  <a:extLst>
                    <a:ext uri="{FF2B5EF4-FFF2-40B4-BE49-F238E27FC236}">
                      <a16:creationId xmlns:a16="http://schemas.microsoft.com/office/drawing/2014/main" id="{94C94DD1-CB16-EC44-AF5B-8946009CAD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60" name="Text Box 8">
                  <a:extLst>
                    <a:ext uri="{FF2B5EF4-FFF2-40B4-BE49-F238E27FC236}">
                      <a16:creationId xmlns:a16="http://schemas.microsoft.com/office/drawing/2014/main" id="{096DF2BA-5704-A84D-A3D6-88351D80C3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61" name="Text Box 9">
                  <a:extLst>
                    <a:ext uri="{FF2B5EF4-FFF2-40B4-BE49-F238E27FC236}">
                      <a16:creationId xmlns:a16="http://schemas.microsoft.com/office/drawing/2014/main" id="{6AA81AA7-43CE-784A-8D0D-3ADEBA89F6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57" name="Text Box 10">
                <a:extLst>
                  <a:ext uri="{FF2B5EF4-FFF2-40B4-BE49-F238E27FC236}">
                    <a16:creationId xmlns:a16="http://schemas.microsoft.com/office/drawing/2014/main" id="{42C5AC87-8B91-D549-A18F-3823C61C9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9A5B81AD-CE77-5B4E-896E-695978519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36B2E6A2-F23D-DB49-AB69-90BEB607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28004FB0-749E-DA48-A7C0-B15CEAA6F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1" name="Text Box 14">
              <a:extLst>
                <a:ext uri="{FF2B5EF4-FFF2-40B4-BE49-F238E27FC236}">
                  <a16:creationId xmlns:a16="http://schemas.microsoft.com/office/drawing/2014/main" id="{B727BAD1-AC6B-AD4C-BE92-314207D95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3" name="Text Box 15">
              <a:extLst>
                <a:ext uri="{FF2B5EF4-FFF2-40B4-BE49-F238E27FC236}">
                  <a16:creationId xmlns:a16="http://schemas.microsoft.com/office/drawing/2014/main" id="{0434FBA1-64EE-564E-87E8-5154C80B9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D2F24B3D-FEEA-BE4A-AF8F-1170CCAD9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55" name="Text Box 17">
              <a:extLst>
                <a:ext uri="{FF2B5EF4-FFF2-40B4-BE49-F238E27FC236}">
                  <a16:creationId xmlns:a16="http://schemas.microsoft.com/office/drawing/2014/main" id="{B12BE81F-2742-3E43-A16D-9AF31D72C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2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is RSA secure?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31E5408-C987-264E-9C9C-5C63DC5B66BA}"/>
              </a:ext>
            </a:extLst>
          </p:cNvPr>
          <p:cNvSpPr txBox="1">
            <a:spLocks noChangeArrowheads="1"/>
          </p:cNvSpPr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lnSpc>
                <a:spcPct val="100000"/>
              </a:lnSpc>
            </a:pPr>
            <a:r>
              <a:rPr lang="en-US" sz="3200" dirty="0"/>
              <a:t>suppose you know Bob’</a:t>
            </a:r>
            <a:r>
              <a:rPr lang="en-US" altLang="ja-JP" sz="3200" dirty="0"/>
              <a:t>s public key (n,e). How hard is it to determine d?</a:t>
            </a:r>
          </a:p>
          <a:p>
            <a:pPr indent="-339725">
              <a:lnSpc>
                <a:spcPct val="100000"/>
              </a:lnSpc>
            </a:pPr>
            <a:r>
              <a:rPr lang="en-US" sz="3200" dirty="0"/>
              <a:t>essentially need to find factors of n without knowing the two factors p and q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fact: factoring a big number is hard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8384</TotalTime>
  <Words>1911</Words>
  <Application>Microsoft Macintosh PowerPoint</Application>
  <PresentationFormat>Widescreen</PresentationFormat>
  <Paragraphs>444</Paragraphs>
  <Slides>26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ＭＳ Ｐゴシック</vt:lpstr>
      <vt:lpstr>ZapfDingbats</vt:lpstr>
      <vt:lpstr>Arial</vt:lpstr>
      <vt:lpstr>Calibri</vt:lpstr>
      <vt:lpstr>Calibri Light</vt:lpstr>
      <vt:lpstr>Gill Sans MT</vt:lpstr>
      <vt:lpstr>Symbol</vt:lpstr>
      <vt:lpstr>Times New Roman</vt:lpstr>
      <vt:lpstr>Wingdings</vt:lpstr>
      <vt:lpstr>Office Theme</vt:lpstr>
      <vt:lpstr>Chart</vt:lpstr>
      <vt:lpstr>ESTR4120 Computer Networks   Lecture 2: P2P, security</vt:lpstr>
      <vt:lpstr>Peer-to-peer</vt:lpstr>
      <vt:lpstr>Client-server paradigm</vt:lpstr>
      <vt:lpstr>Peer-to-peer (P2P) architecture</vt:lpstr>
      <vt:lpstr>File distribution: client-server vs P2P</vt:lpstr>
      <vt:lpstr>File distribution time: client-server</vt:lpstr>
      <vt:lpstr>File distribution time: P2P</vt:lpstr>
      <vt:lpstr>Client-server vs. P2P: example</vt:lpstr>
      <vt:lpstr>P2P file distribution: BitTorrent </vt:lpstr>
      <vt:lpstr>P2P file distribution: BitTorrent </vt:lpstr>
      <vt:lpstr>BitTorrent: requesting, sending file chunks</vt:lpstr>
      <vt:lpstr>BitTorrent: tit-for-tat</vt:lpstr>
      <vt:lpstr>Security (RSA)</vt:lpstr>
      <vt:lpstr>The language of cryptography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Why does RSA work?</vt:lpstr>
      <vt:lpstr>RSA: another important property</vt:lpstr>
      <vt:lpstr>PowerPoint Presentation</vt:lpstr>
      <vt:lpstr>Why is RSA secure?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Hong Xu (CSD)</dc:creator>
  <cp:keywords/>
  <dc:description/>
  <cp:lastModifiedBy>Hong Xu</cp:lastModifiedBy>
  <cp:revision>134</cp:revision>
  <dcterms:created xsi:type="dcterms:W3CDTF">2022-01-07T08:30:34Z</dcterms:created>
  <dcterms:modified xsi:type="dcterms:W3CDTF">2025-09-09T01:07:50Z</dcterms:modified>
  <cp:category/>
</cp:coreProperties>
</file>
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5" r:id="rId7"/>
    <p:sldId id="275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24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7D3AA-8300-9049-A69D-2D2E45D1295F}" type="datetimeFigureOut">
              <a:rPr lang="en-US" smtClean="0"/>
              <a:t>9/13/25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D818E1-8930-5E42-88C4-7AD4EC0BB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98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AE39-8A0C-B24C-BAD1-9E890A8C0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883DE8-E37D-C843-8E93-CDBFD2A1B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83BB6-32D2-B443-A821-892C8186B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02BB0-C445-C343-8B6F-8AFE01C1E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A8872-755A-9444-9F7D-CB9C671A4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84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28C3E-7A69-3145-9F28-B5EC7F0EE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768EE-4EDB-6C41-941C-1AB31B5EC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5693F-B3A7-0043-9B51-CC67DDDE7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7D657-1A11-3C4D-BBC5-505D3BEB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18877-E73B-EE45-80AE-3B9520D63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0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D96D5-D070-AF4C-B076-4875B3490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ED2B5-BBE3-8744-B35B-836CFD7DB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CDAA4-4E2F-8144-A98A-703E3107A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70C8C-1225-3740-881A-5F7299702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4B2B5-D0B3-C447-BA0E-00A138ED5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3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5DF04-381C-FE4C-B707-16D4520D8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7576D-BD8D-BC49-9D81-C48D4D805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049345-22E4-104E-9FB3-4065B570C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C3955-BE2F-3146-9780-64C8BCC97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9901D-CBC3-0C48-9C30-CBD5DDEBC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CC7B5-B259-DD47-9C52-BEC77A5CA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8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E774E-D320-9547-ABB0-6BFFA8285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1B336-813B-2B41-8AC0-9DE19F042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61D3DB-B71E-B34A-9788-86EBF3F8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483FF2-D49B-D145-8BAE-91998DC447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2E15FB-5AD4-C242-AAFE-3FFD33B3A7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B5DFD7-FFC9-F14D-88D1-CD28E8F07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CC0517-0212-4544-8749-E45A8809F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E4137C-7AD6-A846-B895-5DC058A78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0F31-24C0-3F41-8551-CA66BB8B9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0A9012-091E-6F44-8FF9-318E5F868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F768A3-0E11-944D-8DDA-A4EDD197F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3592B-8637-9640-9666-103536B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89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876EED-1FAC-D242-9B03-73268370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31C6F0-85F0-9F48-A038-2347977A5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94B27-78C7-4E47-8531-2FDA501AB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89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1967-49F4-1E4D-B4F1-CD4FC830A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7331B-057E-4941-8245-AA79C797B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25C6B-13C7-9540-A3D2-166BCDB68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7F000-4789-5344-850E-AEEA1AD60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0099A-0369-8A49-886A-C2364929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94679B-4472-B84B-96DA-E86A8C1CB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733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01044-2D21-6E48-B4A4-B6C3D3D78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EA0782-6E68-7A4C-AECB-F1369BFD4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B9E61-7B2C-9D43-8ABB-DB861FCC18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76E9A-4A83-5143-9AA1-EF5D794ED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61F87-0822-B54E-AAD7-CEA5C5FF9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A79D3-CFC6-F74C-8F8A-F445262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134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A2F27-40BB-AE45-B10F-EB8A7ABE4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40444D-CEDA-1642-816A-B2C3BE667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7AF10-F5C5-F54B-8E4E-D482F56F3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C1736-7AAA-474C-8E9B-901357674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5E549-E8B7-B64F-939A-0B1B280A3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08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9D703D-9125-314F-8D95-458DD1E5C3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A79FFA-69AE-6F43-9436-74AA880FE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6027F-EACB-0C46-8C5A-EB8245DA8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E9680-A97B-024A-A24C-27DC04716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B3479-1DA9-2E40-A788-391C5EFD3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11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59E724-BD4B-1548-AD2D-64A1E1AA7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5CF47-DFFD-1040-A93E-47880B591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BA907-BF00-6348-892A-ACBB91FC1F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9D1EE-A1D1-694C-80C1-6E001F76F094}" type="datetimeFigureOut">
              <a:rPr lang="en-US" smtClean="0"/>
              <a:t>9/13/25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135C8-7D55-6C43-AFFA-E80F9ECF48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7B3D9-1E7F-F549-B84E-183085127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59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FC38A-34EF-8B47-BA00-689DC84A9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8017" y="1112422"/>
            <a:ext cx="10455966" cy="2793655"/>
          </a:xfrm>
        </p:spPr>
        <p:txBody>
          <a:bodyPr>
            <a:normAutofit fontScale="90000"/>
          </a:bodyPr>
          <a:lstStyle/>
          <a:p>
            <a:r>
              <a:rPr lang="en-US" dirty="0"/>
              <a:t>ESTR</a:t>
            </a:r>
            <a:r>
              <a:rPr lang="en-US" altLang="zh-CN" dirty="0"/>
              <a:t>4120</a:t>
            </a:r>
            <a:r>
              <a:rPr lang="zh-CN" altLang="en-US" dirty="0"/>
              <a:t> </a:t>
            </a:r>
            <a:r>
              <a:rPr lang="en-US" altLang="zh-CN" dirty="0"/>
              <a:t>Computer</a:t>
            </a:r>
            <a:r>
              <a:rPr lang="zh-CN" altLang="en-US" dirty="0"/>
              <a:t> </a:t>
            </a:r>
            <a:r>
              <a:rPr lang="en-US" altLang="zh-CN" dirty="0"/>
              <a:t>Networks</a:t>
            </a:r>
            <a:r>
              <a:rPr lang="zh-CN" altLang="en-US" dirty="0"/>
              <a:t> </a:t>
            </a:r>
            <a:br>
              <a:rPr lang="en-HK" altLang="zh-CN" dirty="0"/>
            </a:br>
            <a:br>
              <a:rPr lang="en-HK" altLang="zh-CN" dirty="0"/>
            </a:br>
            <a:r>
              <a:rPr lang="en-US" altLang="zh-CN" dirty="0"/>
              <a:t>Lecture</a:t>
            </a:r>
            <a:r>
              <a:rPr lang="zh-CN" altLang="en-US" dirty="0"/>
              <a:t> </a:t>
            </a:r>
            <a:r>
              <a:rPr lang="en-US" altLang="zh-CN" dirty="0"/>
              <a:t>3:</a:t>
            </a:r>
            <a:r>
              <a:rPr lang="zh-CN" altLang="en-US" dirty="0"/>
              <a:t> </a:t>
            </a:r>
            <a:r>
              <a:rPr lang="en-US" altLang="zh-CN" dirty="0"/>
              <a:t>Consistent hashing, Chord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F108A-5CD3-974F-9A89-B3F461DFAA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CN" sz="4400" dirty="0"/>
          </a:p>
          <a:p>
            <a:r>
              <a:rPr lang="en-US" altLang="zh-CN" sz="4400" dirty="0"/>
              <a:t>Hong</a:t>
            </a:r>
            <a:r>
              <a:rPr lang="zh-CN" altLang="en-US" sz="4400" dirty="0"/>
              <a:t> </a:t>
            </a:r>
            <a:r>
              <a:rPr lang="en-US" altLang="zh-CN" sz="4400" dirty="0"/>
              <a:t>Xu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807822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61E12-83D5-427A-AF7B-27A72B42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can take caching to the Next Level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2E62B-0DA4-45C0-9A30-B120E6103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Web cache that is shared by many users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Idea</a:t>
            </a:r>
            <a:r>
              <a:rPr lang="en-US" dirty="0"/>
              <a:t>: What if all users on CUHK Network (or close in location) can access amazon.com from some web cache located nearby?</a:t>
            </a:r>
          </a:p>
          <a:p>
            <a:endParaRPr lang="en-US" dirty="0"/>
          </a:p>
          <a:p>
            <a:r>
              <a:rPr lang="en-US" b="1" dirty="0"/>
              <a:t>The benefits</a:t>
            </a:r>
            <a:r>
              <a:rPr lang="en-US" dirty="0"/>
              <a:t>: By aggregating the recent page requests of many users, these users will enjoy many more cache hits and consequently less latency.</a:t>
            </a:r>
          </a:p>
          <a:p>
            <a:endParaRPr lang="en-US" dirty="0"/>
          </a:p>
          <a:p>
            <a:r>
              <a:rPr lang="en-US" dirty="0"/>
              <a:t>The business plan for </a:t>
            </a:r>
            <a:r>
              <a:rPr lang="en-US" b="1" dirty="0"/>
              <a:t>Akamai Technology </a:t>
            </a:r>
            <a:r>
              <a:rPr lang="en-US" dirty="0"/>
              <a:t>in 1998 which is currently valuated at more than </a:t>
            </a:r>
            <a:r>
              <a:rPr lang="en-US" b="1" dirty="0"/>
              <a:t>10 billion</a:t>
            </a:r>
            <a:r>
              <a:rPr lang="en-US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771009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2B729-9A68-4236-AD04-A22249D73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C20C3-CB9C-4549-96C7-AFD978C9D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Remembering the recently accessed Web pages of a large number of users might take a lot of fast storage, with efficient retrieval.</a:t>
            </a:r>
          </a:p>
          <a:p>
            <a:pPr lvl="1"/>
            <a:r>
              <a:rPr lang="en-US" dirty="0"/>
              <a:t>Akamai’s plan was to do this in main memory. </a:t>
            </a:r>
          </a:p>
          <a:p>
            <a:endParaRPr lang="en-US" dirty="0"/>
          </a:p>
          <a:p>
            <a:r>
              <a:rPr lang="en-US" dirty="0"/>
              <a:t>Implementing a shared cache at a large scale requires spreading the cache over multiple machines</a:t>
            </a:r>
          </a:p>
          <a:p>
            <a:endParaRPr lang="en-US" dirty="0"/>
          </a:p>
          <a:p>
            <a:r>
              <a:rPr lang="en-US" dirty="0"/>
              <a:t>Suppose there are 100 machines and you are requesting amazon.com, which machine should you ask for it?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098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9052E-6E12-4CE5-83A8-E7C608919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ideas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1A610-0CB9-4FCF-B9A4-0367E2E1E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Poll all 100 servers for copy. </a:t>
            </a:r>
          </a:p>
          <a:p>
            <a:pPr lvl="1"/>
            <a:r>
              <a:rPr lang="en-US" dirty="0"/>
              <a:t>Infeasible at scale.</a:t>
            </a:r>
          </a:p>
          <a:p>
            <a:pPr lvl="1"/>
            <a:endParaRPr lang="en-US" dirty="0"/>
          </a:p>
          <a:p>
            <a:r>
              <a:rPr lang="en-US" b="1" dirty="0"/>
              <a:t>Our training so far</a:t>
            </a:r>
            <a:r>
              <a:rPr lang="en-US" dirty="0"/>
              <a:t>: Use hash functions and for say </a:t>
            </a:r>
            <a:r>
              <a:rPr lang="en-US" i="1" dirty="0"/>
              <a:t>amazon.com</a:t>
            </a:r>
            <a:r>
              <a:rPr lang="en-US" dirty="0"/>
              <a:t>, let h(</a:t>
            </a:r>
            <a:r>
              <a:rPr lang="en-US" i="1" dirty="0"/>
              <a:t>amazon.com</a:t>
            </a:r>
            <a:r>
              <a:rPr lang="en-US" dirty="0"/>
              <a:t>) machine cache the page associated with amazon.com.</a:t>
            </a:r>
          </a:p>
          <a:p>
            <a:pPr lvl="1"/>
            <a:r>
              <a:rPr lang="en-US" dirty="0"/>
              <a:t>Easy to search!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What if you got 5 extra machines tomorrow? What if a server with #ID, crashed and it down.</a:t>
            </a:r>
          </a:p>
          <a:p>
            <a:pPr lvl="1"/>
            <a:r>
              <a:rPr lang="en-US" dirty="0"/>
              <a:t>It turns out this will be quite frequent at large scale. </a:t>
            </a:r>
          </a:p>
        </p:txBody>
      </p:sp>
    </p:spTree>
    <p:extLst>
      <p:ext uri="{BB962C8B-B14F-4D97-AF65-F5344CB8AC3E}">
        <p14:creationId xmlns:p14="http://schemas.microsoft.com/office/powerpoint/2010/main" val="843943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835EE-4687-4889-98A6-D747491C7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Reallocation?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972B1-E3D0-4DCA-BD6C-D3CD6078B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h(x) = x  mod 12</a:t>
            </a:r>
          </a:p>
          <a:p>
            <a:pPr lvl="1"/>
            <a:r>
              <a:rPr lang="en-US" dirty="0"/>
              <a:t>Addition or deletion of one machine changes it to x mod 13 or x mod 11. Shift everything to maintain consistency. </a:t>
            </a:r>
          </a:p>
          <a:p>
            <a:pPr lvl="1"/>
            <a:r>
              <a:rPr lang="en-US" dirty="0"/>
              <a:t>Infeasible when n is changing all the time.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Thoughts? </a:t>
            </a:r>
          </a:p>
          <a:p>
            <a:endParaRPr lang="en-US" dirty="0"/>
          </a:p>
          <a:p>
            <a:r>
              <a:rPr lang="en-US" dirty="0"/>
              <a:t>Solution: Consistent Hashing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 descr="A close-up of a website&#10;&#10;AI-generated content may be incorrect.">
            <a:extLst>
              <a:ext uri="{FF2B5EF4-FFF2-40B4-BE49-F238E27FC236}">
                <a16:creationId xmlns:a16="http://schemas.microsoft.com/office/drawing/2014/main" id="{1295A1AE-388D-A9DF-9497-1226C4DFB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389" y="3829322"/>
            <a:ext cx="7772400" cy="158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0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42CC6E-4335-4711-8708-82C2D64789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966" y="1870075"/>
            <a:ext cx="7613922" cy="32177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3170FC-49F6-4581-86D0-805E9715B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 is consistent hashing?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6C8128-75EE-4F94-B76E-8ECD571081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Hash both machines and objects in the same range.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To assign object x,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(x) and then traverse right until you find the first machine’s hash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Assign x to Y.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6C8128-75EE-4F94-B76E-8ECD571081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081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C2502-091E-45B6-A49F-B31545E5E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Image taken from Tim Roughgarden Notes</a:t>
            </a:r>
          </a:p>
        </p:txBody>
      </p:sp>
    </p:spTree>
    <p:extLst>
      <p:ext uri="{BB962C8B-B14F-4D97-AF65-F5344CB8AC3E}">
        <p14:creationId xmlns:p14="http://schemas.microsoft.com/office/powerpoint/2010/main" val="1632941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7EB4E-18D8-44BD-8B21-9AF305FB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happens when servers are added/deleted?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DE7B5-988F-4EB2-B0EF-97FE6658E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3BA50E-EC68-40FF-9BE6-CF80BAAE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Image taken from Tim Roughgarden Notes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A338B1-FE84-458B-8009-8C1CB07774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9433" y="2910380"/>
            <a:ext cx="8409392" cy="3553919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CD4F0BE-67C3-4D7A-9342-591EE7A8EF02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1570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They all share the load.</a:t>
            </a:r>
          </a:p>
          <a:p>
            <a:r>
              <a:rPr lang="en-US" dirty="0"/>
              <a:t>We only have to move data from one of the servers instead of all with traditional hashing!</a:t>
            </a:r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797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802BD-1A54-AF5C-7DB9-76FC3BCEF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Consistent</a:t>
            </a:r>
            <a:r>
              <a:rPr lang="zh-CN" altLang="en-US" dirty="0"/>
              <a:t> </a:t>
            </a:r>
            <a:r>
              <a:rPr lang="en-US" altLang="zh-CN" dirty="0"/>
              <a:t>hashing:</a:t>
            </a:r>
            <a:r>
              <a:rPr lang="zh-CN" altLang="en-US" dirty="0"/>
              <a:t> </a:t>
            </a:r>
            <a:r>
              <a:rPr lang="en-US" altLang="zh-CN" dirty="0"/>
              <a:t>applications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22B2F-C5BF-E23E-0492-5720D57C0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Widely</a:t>
            </a:r>
            <a:r>
              <a:rPr lang="zh-CN" altLang="en-US" dirty="0"/>
              <a:t> </a:t>
            </a:r>
            <a:r>
              <a:rPr lang="en-US" altLang="zh-CN" dirty="0"/>
              <a:t>used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many</a:t>
            </a:r>
            <a:r>
              <a:rPr lang="zh-CN" altLang="en-US" dirty="0"/>
              <a:t> </a:t>
            </a:r>
            <a:r>
              <a:rPr lang="en-US" altLang="zh-CN" dirty="0"/>
              <a:t>applications:</a:t>
            </a:r>
            <a:r>
              <a:rPr lang="zh-CN" altLang="en-US" dirty="0"/>
              <a:t> </a:t>
            </a:r>
            <a:r>
              <a:rPr lang="en-US" altLang="zh-CN" dirty="0"/>
              <a:t>CDN,</a:t>
            </a:r>
            <a:r>
              <a:rPr lang="zh-CN" altLang="en-US" dirty="0"/>
              <a:t> </a:t>
            </a:r>
            <a:r>
              <a:rPr lang="en-US" altLang="zh-CN" dirty="0"/>
              <a:t>P2P</a:t>
            </a:r>
          </a:p>
          <a:p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scale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large,</a:t>
            </a:r>
            <a:r>
              <a:rPr lang="zh-CN" altLang="en-US" dirty="0"/>
              <a:t> </a:t>
            </a:r>
            <a:r>
              <a:rPr lang="en-US" altLang="zh-CN" dirty="0"/>
              <a:t>efficient</a:t>
            </a:r>
            <a:r>
              <a:rPr lang="zh-CN" altLang="en-US" dirty="0"/>
              <a:t> </a:t>
            </a:r>
            <a:r>
              <a:rPr lang="en-US" altLang="zh-CN" dirty="0"/>
              <a:t>lookup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</a:p>
          <a:p>
            <a:pPr lvl="1"/>
            <a:r>
              <a:rPr lang="en-US" altLang="zh-CN" dirty="0"/>
              <a:t>Impractical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assume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node</a:t>
            </a:r>
            <a:r>
              <a:rPr lang="zh-CN" altLang="en-US" dirty="0"/>
              <a:t> </a:t>
            </a:r>
            <a:r>
              <a:rPr lang="en-US" altLang="zh-CN" dirty="0"/>
              <a:t>know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node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</a:p>
          <a:p>
            <a:pPr lvl="1"/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efficient</a:t>
            </a:r>
            <a:r>
              <a:rPr lang="zh-CN" altLang="en-US" dirty="0"/>
              <a:t> </a:t>
            </a:r>
            <a:r>
              <a:rPr lang="en-US" altLang="zh-CN" dirty="0"/>
              <a:t>“routing”</a:t>
            </a:r>
            <a:r>
              <a:rPr lang="zh-CN" altLang="en-US" dirty="0"/>
              <a:t> </a:t>
            </a:r>
            <a:r>
              <a:rPr lang="en-US" altLang="zh-CN" dirty="0"/>
              <a:t>protocol</a:t>
            </a:r>
            <a:r>
              <a:rPr lang="zh-CN" altLang="en-US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109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6561</TotalTime>
  <Words>440</Words>
  <Application>Microsoft Macintosh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ESTR4120 Computer Networks   Lecture 3: Consistent hashing, Chord</vt:lpstr>
      <vt:lpstr>We can take caching to the Next Level </vt:lpstr>
      <vt:lpstr>Challenges</vt:lpstr>
      <vt:lpstr>Some ideas </vt:lpstr>
      <vt:lpstr>Reallocation? </vt:lpstr>
      <vt:lpstr>So what is consistent hashing?</vt:lpstr>
      <vt:lpstr>What happens when servers are added/deleted?</vt:lpstr>
      <vt:lpstr>Consistent hashing: applications</vt:lpstr>
    </vt:vector>
  </TitlesOfParts>
  <Manager/>
  <Company>CUHK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Hong Xu (CSD)</dc:creator>
  <cp:keywords/>
  <dc:description/>
  <cp:lastModifiedBy>Hong Xu</cp:lastModifiedBy>
  <cp:revision>200</cp:revision>
  <dcterms:created xsi:type="dcterms:W3CDTF">2022-01-07T08:30:34Z</dcterms:created>
  <dcterms:modified xsi:type="dcterms:W3CDTF">2025-09-13T09:27:19Z</dcterms:modified>
  <cp:category/>
</cp:coreProperties>
</file>
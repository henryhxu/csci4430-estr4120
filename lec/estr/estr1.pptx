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1037" r:id="rId3"/>
    <p:sldId id="1038" r:id="rId4"/>
    <p:sldId id="978" r:id="rId5"/>
    <p:sldId id="979" r:id="rId6"/>
    <p:sldId id="980" r:id="rId7"/>
    <p:sldId id="1009" r:id="rId8"/>
    <p:sldId id="1010" r:id="rId9"/>
    <p:sldId id="1032" r:id="rId10"/>
    <p:sldId id="1033" r:id="rId11"/>
    <p:sldId id="1034" r:id="rId12"/>
    <p:sldId id="1036" r:id="rId13"/>
    <p:sldId id="1035" r:id="rId14"/>
    <p:sldId id="103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9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7D3AA-8300-9049-A69D-2D2E45D1295F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818E1-8930-5E42-88C4-7AD4EC0BB6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8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19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332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695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1401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320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15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1856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832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819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621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AE39-8A0C-B24C-BAD1-9E890A8C0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883DE8-E37D-C843-8E93-CDBFD2A1B0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83BB6-32D2-B443-A821-892C8186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2BB0-C445-C343-8B6F-8AFE01C1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8872-755A-9444-9F7D-CB9C671A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28C3E-7A69-3145-9F28-B5EC7F0EE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68EE-4EDB-6C41-941C-1AB31B5E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5693F-B3A7-0043-9B51-CC67DDDE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7D657-1A11-3C4D-BBC5-505D3BEB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18877-E73B-EE45-80AE-3B9520D6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0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96D5-D070-AF4C-B076-4875B349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ED2B5-BBE3-8744-B35B-836CFD7DB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CDAA4-4E2F-8144-A98A-703E3107A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0C8C-1225-3740-881A-5F729970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4B2B5-D0B3-C447-BA0E-00A138ED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3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DF04-381C-FE4C-B707-16D4520D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7576D-BD8D-BC49-9D81-C48D4D805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49345-22E4-104E-9FB3-4065B570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C3955-BE2F-3146-9780-64C8BCC9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9901D-CBC3-0C48-9C30-CBD5DDEB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CC7B5-B259-DD47-9C52-BEC77A5C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774E-D320-9547-ABB0-6BFFA828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1B336-813B-2B41-8AC0-9DE19F042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1D3DB-B71E-B34A-9788-86EBF3F8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483FF2-D49B-D145-8BAE-91998DC447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E15FB-5AD4-C242-AAFE-3FFD33B3A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B5DFD7-FFC9-F14D-88D1-CD28E8F0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CC0517-0212-4544-8749-E45A8809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4137C-7AD6-A846-B895-5DC058A78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0F31-24C0-3F41-8551-CA66BB8B9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A9012-091E-6F44-8FF9-318E5F868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F768A3-0E11-944D-8DDA-A4EDD197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3592B-8637-9640-9666-103536B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8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76EED-1FAC-D242-9B03-73268370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1C6F0-85F0-9F48-A038-2347977A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94B27-78C7-4E47-8531-2FDA501A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8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1967-49F4-1E4D-B4F1-CD4FC830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7331B-057E-4941-8245-AA79C797B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25C6B-13C7-9540-A3D2-166BCDB68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7F000-4789-5344-850E-AEEA1AD60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0099A-0369-8A49-886A-C2364929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4679B-4472-B84B-96DA-E86A8C1C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3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1044-2D21-6E48-B4A4-B6C3D3D7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A0782-6E68-7A4C-AECB-F1369BFD4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B9E61-7B2C-9D43-8ABB-DB861FCC1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76E9A-4A83-5143-9AA1-EF5D794ED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61F87-0822-B54E-AAD7-CEA5C5FF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CA79D3-CFC6-F74C-8F8A-F445262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3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2F27-40BB-AE45-B10F-EB8A7ABE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0444D-CEDA-1642-816A-B2C3BE667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AF10-F5C5-F54B-8E4E-D482F56F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C1736-7AAA-474C-8E9B-901357674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5E549-E8B7-B64F-939A-0B1B280A3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50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D703D-9125-314F-8D95-458DD1E5C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79FFA-69AE-6F43-9436-74AA880FE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6027F-EACB-0C46-8C5A-EB8245DA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E9680-A97B-024A-A24C-27DC0471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B3479-1DA9-2E40-A788-391C5EFD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11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59E724-BD4B-1548-AD2D-64A1E1AA7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5CF47-DFFD-1040-A93E-47880B591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A907-BF00-6348-892A-ACBB91FC1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9D1EE-A1D1-694C-80C1-6E001F76F094}" type="datetimeFigureOut">
              <a:rPr lang="en-US" smtClean="0"/>
              <a:t>9/1/25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8135C8-7D55-6C43-AFFA-E80F9ECF4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B3D9-1E7F-F549-B84E-183085127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2AB07-8276-4D42-8E95-2C74D2B22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obitec.ie.cuhk.edu.hk/ierg5090Spring2017/index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FC38A-34EF-8B47-BA00-689DC84A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330" y="1142241"/>
            <a:ext cx="9687339" cy="2387600"/>
          </a:xfrm>
        </p:spPr>
        <p:txBody>
          <a:bodyPr/>
          <a:lstStyle/>
          <a:p>
            <a:r>
              <a:rPr lang="en-US" dirty="0"/>
              <a:t>ESTR</a:t>
            </a:r>
            <a:r>
              <a:rPr lang="en-US" altLang="zh-CN" dirty="0"/>
              <a:t>4120</a:t>
            </a:r>
            <a:r>
              <a:rPr lang="zh-CN" altLang="en-US" dirty="0"/>
              <a:t> </a:t>
            </a:r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r>
              <a:rPr lang="en-HK" altLang="zh-CN" dirty="0"/>
              <a:t>Le</a:t>
            </a:r>
            <a:r>
              <a:rPr lang="en-US" altLang="zh-CN" dirty="0" err="1"/>
              <a:t>cture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F108A-5CD3-974F-9A89-B3F461DFA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4400" dirty="0"/>
          </a:p>
          <a:p>
            <a:r>
              <a:rPr lang="en-US" altLang="zh-CN" sz="4400" dirty="0"/>
              <a:t>Hong</a:t>
            </a:r>
            <a:r>
              <a:rPr lang="zh-CN" altLang="en-US" sz="4400" dirty="0"/>
              <a:t> </a:t>
            </a:r>
            <a:r>
              <a:rPr lang="en-US" altLang="zh-CN" sz="4400" dirty="0"/>
              <a:t>Xu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80782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AB7A18-B355-B1C1-4B93-7D48B1D7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Logistics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expectations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8632A-4133-1AC7-0070-615EFF14E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Individual</a:t>
            </a:r>
            <a:r>
              <a:rPr lang="zh-CN" altLang="en-US" dirty="0"/>
              <a:t> </a:t>
            </a:r>
            <a:r>
              <a:rPr lang="en-US" altLang="zh-CN" dirty="0"/>
              <a:t>projects:</a:t>
            </a:r>
            <a:r>
              <a:rPr lang="zh-CN" altLang="en-US" dirty="0"/>
              <a:t> </a:t>
            </a:r>
            <a:r>
              <a:rPr lang="en-US" altLang="zh-CN" dirty="0"/>
              <a:t>5%</a:t>
            </a:r>
            <a:r>
              <a:rPr lang="zh-CN" altLang="en-US" dirty="0"/>
              <a:t> </a:t>
            </a:r>
            <a:r>
              <a:rPr lang="en-US" altLang="zh-CN" dirty="0"/>
              <a:t>marks,</a:t>
            </a:r>
            <a:r>
              <a:rPr lang="zh-CN" altLang="en-US" dirty="0"/>
              <a:t> </a:t>
            </a:r>
            <a:r>
              <a:rPr lang="en-US" altLang="zh-CN" dirty="0"/>
              <a:t>replaces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tutorial</a:t>
            </a:r>
            <a:r>
              <a:rPr lang="zh-CN" altLang="en-US" dirty="0"/>
              <a:t> </a:t>
            </a:r>
            <a:r>
              <a:rPr lang="en-US" altLang="zh-CN" dirty="0"/>
              <a:t>quizzes</a:t>
            </a:r>
          </a:p>
          <a:p>
            <a:pPr lvl="1"/>
            <a:r>
              <a:rPr lang="en-US" altLang="zh-CN" dirty="0"/>
              <a:t>Choose</a:t>
            </a:r>
            <a:r>
              <a:rPr lang="zh-CN" altLang="en-US" dirty="0"/>
              <a:t> </a:t>
            </a:r>
            <a:r>
              <a:rPr lang="en-US" altLang="zh-CN" dirty="0"/>
              <a:t>your</a:t>
            </a:r>
            <a:r>
              <a:rPr lang="zh-CN" altLang="en-US" dirty="0"/>
              <a:t> </a:t>
            </a:r>
            <a:r>
              <a:rPr lang="en-US" altLang="zh-CN" dirty="0"/>
              <a:t>own</a:t>
            </a:r>
            <a:r>
              <a:rPr lang="zh-CN" altLang="en-US" dirty="0"/>
              <a:t> </a:t>
            </a:r>
            <a:r>
              <a:rPr lang="en-US" altLang="zh-CN" dirty="0"/>
              <a:t>topics</a:t>
            </a:r>
          </a:p>
          <a:p>
            <a:r>
              <a:rPr lang="en-US" altLang="zh-CN" dirty="0"/>
              <a:t>My</a:t>
            </a:r>
            <a:r>
              <a:rPr lang="zh-CN" altLang="en-US" dirty="0"/>
              <a:t> </a:t>
            </a:r>
            <a:r>
              <a:rPr lang="en-US" altLang="zh-CN" dirty="0"/>
              <a:t>expectations: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in-class</a:t>
            </a:r>
            <a:r>
              <a:rPr lang="zh-CN" altLang="en-US" dirty="0"/>
              <a:t> </a:t>
            </a:r>
            <a:r>
              <a:rPr lang="en-US" altLang="zh-CN" dirty="0"/>
              <a:t>interactions,</a:t>
            </a:r>
            <a:r>
              <a:rPr lang="zh-CN" altLang="en-US" dirty="0"/>
              <a:t> </a:t>
            </a:r>
            <a:r>
              <a:rPr lang="en-US" altLang="zh-CN" dirty="0"/>
              <a:t>discussions/debates</a:t>
            </a:r>
            <a:r>
              <a:rPr lang="zh-CN" altLang="en-US" dirty="0"/>
              <a:t> </a:t>
            </a:r>
            <a:r>
              <a:rPr lang="en-US" altLang="zh-CN" dirty="0"/>
              <a:t>welcome</a:t>
            </a:r>
          </a:p>
          <a:p>
            <a:r>
              <a:rPr lang="en-US" altLang="zh-CN" dirty="0"/>
              <a:t>Contents:</a:t>
            </a:r>
            <a:r>
              <a:rPr lang="zh-CN" altLang="en-US" dirty="0"/>
              <a:t> </a:t>
            </a:r>
            <a:r>
              <a:rPr lang="en-US" altLang="zh-CN" dirty="0"/>
              <a:t>follow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3-phase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1:</a:t>
            </a:r>
            <a:r>
              <a:rPr lang="zh-CN" altLang="en-US" dirty="0"/>
              <a:t> </a:t>
            </a:r>
            <a:r>
              <a:rPr lang="en-US" altLang="zh-CN" dirty="0"/>
              <a:t>Extensions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  <a:r>
              <a:rPr lang="zh-CN" altLang="en-US" dirty="0"/>
              <a:t> </a:t>
            </a:r>
            <a:r>
              <a:rPr lang="en-US" altLang="zh-CN" dirty="0"/>
              <a:t>basics</a:t>
            </a:r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2:</a:t>
            </a:r>
            <a:r>
              <a:rPr lang="zh-CN" altLang="en-US" dirty="0"/>
              <a:t> </a:t>
            </a:r>
            <a:r>
              <a:rPr lang="en-US" altLang="zh-CN" dirty="0"/>
              <a:t>Video</a:t>
            </a:r>
            <a:r>
              <a:rPr lang="zh-CN" altLang="en-US" dirty="0"/>
              <a:t> </a:t>
            </a:r>
            <a:r>
              <a:rPr lang="en-US" altLang="zh-CN" dirty="0"/>
              <a:t>streaming,</a:t>
            </a:r>
            <a:r>
              <a:rPr lang="zh-CN" altLang="en-US" dirty="0"/>
              <a:t> </a:t>
            </a:r>
            <a:r>
              <a:rPr lang="en-US" altLang="zh-CN" dirty="0"/>
              <a:t>SDN,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center</a:t>
            </a:r>
            <a:r>
              <a:rPr lang="zh-CN" altLang="en-US" dirty="0"/>
              <a:t> </a:t>
            </a:r>
            <a:r>
              <a:rPr lang="en-US" altLang="zh-CN" dirty="0"/>
              <a:t>networking</a:t>
            </a:r>
          </a:p>
          <a:p>
            <a:pPr lvl="1"/>
            <a:r>
              <a:rPr lang="en-US" altLang="zh-CN" dirty="0"/>
              <a:t>Phase</a:t>
            </a:r>
            <a:r>
              <a:rPr lang="zh-CN" altLang="en-US" dirty="0"/>
              <a:t> </a:t>
            </a:r>
            <a:r>
              <a:rPr lang="en-US" altLang="zh-CN" dirty="0"/>
              <a:t>3: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networking,</a:t>
            </a:r>
            <a:r>
              <a:rPr lang="zh-CN" altLang="en-US" dirty="0"/>
              <a:t> </a:t>
            </a:r>
            <a:r>
              <a:rPr lang="en-US" altLang="zh-CN" dirty="0"/>
              <a:t>interconnect,</a:t>
            </a:r>
            <a:r>
              <a:rPr lang="zh-CN" altLang="en-US" dirty="0"/>
              <a:t> </a:t>
            </a:r>
            <a:r>
              <a:rPr lang="en-US" altLang="zh-CN" dirty="0"/>
              <a:t>scale-out/scale-up</a:t>
            </a:r>
          </a:p>
          <a:p>
            <a:r>
              <a:rPr lang="en-US" altLang="zh-CN" dirty="0"/>
              <a:t>Paper</a:t>
            </a:r>
            <a:r>
              <a:rPr lang="zh-CN" altLang="en-US" dirty="0"/>
              <a:t> </a:t>
            </a:r>
            <a:r>
              <a:rPr lang="en-US" altLang="zh-CN" dirty="0"/>
              <a:t>reading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critiques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5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636A15-F47D-113D-321A-CCB28827B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Extension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6B039-F11B-A185-0562-D18E9CA33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4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10" y="273146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5400" b="0" dirty="0">
                <a:ea typeface="ＭＳ Ｐゴシック" panose="020B0600070205080204" pitchFamily="34" charset="-128"/>
              </a:rPr>
              <a:t>Links: physical media</a:t>
            </a:r>
            <a:endParaRPr lang="en-US" sz="5400" b="0" dirty="0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B41BDD21-3AA2-5A47-848F-E5981CBA9334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1671911"/>
            <a:ext cx="4639003" cy="4648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bit: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propagates between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transmitter/receiver pairs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link: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what lies between transmitter &amp; receiver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guided media: 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signals propagate in solid media: copper, fiber, coax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unguided media: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signals propagate freely, e.g., radio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9986260-6BBE-5549-A319-09906DD70AAA}"/>
              </a:ext>
            </a:extLst>
          </p:cNvPr>
          <p:cNvGrpSpPr/>
          <p:nvPr/>
        </p:nvGrpSpPr>
        <p:grpSpPr>
          <a:xfrm>
            <a:off x="6333223" y="1671911"/>
            <a:ext cx="5123052" cy="3611287"/>
            <a:chOff x="6333223" y="1671911"/>
            <a:chExt cx="5123052" cy="3611287"/>
          </a:xfrm>
        </p:grpSpPr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9573907E-68CA-1046-A0DB-1869CFA3841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11036" y="1671911"/>
              <a:ext cx="5045239" cy="33464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0"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Twisted pair (TP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)</a:t>
              </a:r>
              <a:endPara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charset="2"/>
                <a:buChar char="§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two insulated copper wires</a:t>
              </a:r>
            </a:p>
            <a:p>
              <a:pPr marL="6826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Arial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Category 5: 100 Mbps, 1 Gbps Ethernet</a:t>
              </a:r>
            </a:p>
            <a:p>
              <a:pPr marL="682625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Arial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Category 6: 10Gbps Ethernet</a:t>
              </a:r>
            </a:p>
          </p:txBody>
        </p:sp>
        <p:pic>
          <p:nvPicPr>
            <p:cNvPr id="11266" name="Picture 2" descr="Twisted_Pair_Cables">
              <a:extLst>
                <a:ext uri="{FF2B5EF4-FFF2-40B4-BE49-F238E27FC236}">
                  <a16:creationId xmlns:a16="http://schemas.microsoft.com/office/drawing/2014/main" id="{D6B65C46-A39A-504A-B7AF-C7226316E1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3223" y="3476662"/>
              <a:ext cx="2220035" cy="1709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68" name="Picture 4" descr="Image result for twisted pair">
              <a:extLst>
                <a:ext uri="{FF2B5EF4-FFF2-40B4-BE49-F238E27FC236}">
                  <a16:creationId xmlns:a16="http://schemas.microsoft.com/office/drawing/2014/main" id="{BD4509EA-366C-1C41-A7BB-9925F1143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05176" y="3594371"/>
              <a:ext cx="2359134" cy="16888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3A14225-DCBF-BB44-B1DF-EA9373578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22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10" y="273146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5400" b="0" dirty="0">
                <a:ea typeface="ＭＳ Ｐゴシック" panose="020B0600070205080204" pitchFamily="34" charset="-128"/>
              </a:rPr>
              <a:t>Links: physical media</a:t>
            </a:r>
            <a:endParaRPr lang="en-US" sz="5400" b="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CEA851-800B-1A42-B1E6-3BCEBBFF06DD}"/>
              </a:ext>
            </a:extLst>
          </p:cNvPr>
          <p:cNvSpPr txBox="1">
            <a:spLocks noChangeArrowheads="1"/>
          </p:cNvSpPr>
          <p:nvPr/>
        </p:nvSpPr>
        <p:spPr>
          <a:xfrm>
            <a:off x="982262" y="1320920"/>
            <a:ext cx="4878973" cy="4327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19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Coaxial cable: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two concentric copper conductors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bidirectional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broadband: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 frequency channels on cable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100’s Mbps per channel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259C2-0AA0-BE4D-A5F7-362CC0D6A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92153">
            <a:off x="1742089" y="3834600"/>
            <a:ext cx="1854420" cy="185442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F6FF9DA-97F1-3A4B-8FA4-5FF000565416}"/>
              </a:ext>
            </a:extLst>
          </p:cNvPr>
          <p:cNvGrpSpPr/>
          <p:nvPr/>
        </p:nvGrpSpPr>
        <p:grpSpPr>
          <a:xfrm>
            <a:off x="6360527" y="1276574"/>
            <a:ext cx="5602289" cy="5319638"/>
            <a:chOff x="6360527" y="1276574"/>
            <a:chExt cx="5602289" cy="5319638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0636A257-4BF5-0D40-8994-53C8EDAFC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0527" y="1276574"/>
              <a:ext cx="5602289" cy="3438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682625" indent="-2254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ED7D31"/>
                </a:buClr>
                <a:buSzPct val="85000"/>
                <a:buFont typeface="Wingdings" pitchFamily="2" charset="2"/>
                <a:buNone/>
                <a:tabLst/>
                <a:defRPr/>
              </a:pPr>
              <a:r>
                <a: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Fiber optic cable: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glass fiber carrying light pulses, each pulse a bit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high-speed operation:</a:t>
              </a:r>
            </a:p>
            <a:p>
              <a:pPr marL="682625" marR="0" lvl="1" indent="-225425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high-speed point-to-point transmission (10’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s-100’s Gbps)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low error rate: </a:t>
              </a:r>
            </a:p>
            <a:p>
              <a:pPr marL="682625" marR="0" lvl="1" indent="-225425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repeaters spaced far apart </a:t>
              </a:r>
            </a:p>
            <a:p>
              <a:pPr marL="682625" marR="0" lvl="1" indent="-225425" algn="l" defTabSz="914400" rtl="0" eaLnBrk="1" fontAlgn="auto" latinLnBrk="0" hangingPunct="1">
                <a:lnSpc>
                  <a:spcPct val="85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9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immune to electromagnetic noise</a:t>
              </a:r>
            </a:p>
          </p:txBody>
        </p:sp>
        <p:pic>
          <p:nvPicPr>
            <p:cNvPr id="12290" name="Picture 2" descr="Image result for optical fiber">
              <a:extLst>
                <a:ext uri="{FF2B5EF4-FFF2-40B4-BE49-F238E27FC236}">
                  <a16:creationId xmlns:a16="http://schemas.microsoft.com/office/drawing/2014/main" id="{DE83E3CC-89A7-4743-A47D-FE0D94F681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5119" y="4700678"/>
              <a:ext cx="2872373" cy="1895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55E0361-C998-CE4A-A872-E67F1A517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5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Title 1">
            <a:extLst>
              <a:ext uri="{FF2B5EF4-FFF2-40B4-BE49-F238E27FC236}">
                <a16:creationId xmlns:a16="http://schemas.microsoft.com/office/drawing/2014/main" id="{C9770F09-EBB8-174E-A6FB-4752E1D9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710" y="273146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5400" b="0" dirty="0">
                <a:ea typeface="ＭＳ Ｐゴシック" panose="020B0600070205080204" pitchFamily="34" charset="-128"/>
              </a:rPr>
              <a:t>Links: physical media</a:t>
            </a:r>
            <a:endParaRPr lang="en-US" sz="5400" b="0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FE4FCF6-C044-7F40-BE10-AF4FF95479A4}"/>
              </a:ext>
            </a:extLst>
          </p:cNvPr>
          <p:cNvSpPr txBox="1">
            <a:spLocks noChangeArrowheads="1"/>
          </p:cNvSpPr>
          <p:nvPr/>
        </p:nvSpPr>
        <p:spPr>
          <a:xfrm>
            <a:off x="952499" y="1354420"/>
            <a:ext cx="4950759" cy="4876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Wireless radio</a:t>
            </a:r>
          </a:p>
          <a:p>
            <a:pPr marL="346075" marR="0" lvl="0" indent="-2841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signal carried in various “bands” in electromagnetic spectrum</a:t>
            </a:r>
          </a:p>
          <a:p>
            <a:pPr marL="346075" marR="0" lvl="0" indent="-2841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physical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wire”</a:t>
            </a:r>
          </a:p>
          <a:p>
            <a:pPr marL="346075" marR="0" lvl="0" indent="-2841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broadcast, “half-duplex”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(sender to receiver)</a:t>
            </a:r>
          </a:p>
          <a:p>
            <a:pPr marL="346075" marR="0" lvl="0" indent="-2841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propagation environment effects:</a:t>
            </a:r>
          </a:p>
          <a:p>
            <a:pPr marL="635000" marR="0" lvl="1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reflection </a:t>
            </a:r>
          </a:p>
          <a:p>
            <a:pPr marL="635000" marR="0" lvl="1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obstruction by objects</a:t>
            </a:r>
          </a:p>
          <a:p>
            <a:pPr marL="635000" marR="0" lvl="1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Interference/noise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111B3EB7-227E-F543-AA3C-890766F25AA8}"/>
              </a:ext>
            </a:extLst>
          </p:cNvPr>
          <p:cNvSpPr txBox="1">
            <a:spLocks noChangeArrowheads="1"/>
          </p:cNvSpPr>
          <p:nvPr/>
        </p:nvSpPr>
        <p:spPr>
          <a:xfrm>
            <a:off x="6349562" y="1354420"/>
            <a:ext cx="5188014" cy="5118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SzPct val="85000"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Radio link types:</a:t>
            </a:r>
          </a:p>
          <a:p>
            <a:pPr marL="342900" marR="0" lvl="0" indent="-2809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Wireless LAN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(WiFi)</a:t>
            </a:r>
          </a:p>
          <a:p>
            <a:pPr marL="635000" marR="0" lvl="1" indent="-2301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10-100’s Mbps; 10’s of meters</a:t>
            </a:r>
          </a:p>
          <a:p>
            <a:pPr marL="342900" marR="0" lvl="0" indent="-2809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wide-area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(e.g., 4G cellular)</a:t>
            </a:r>
          </a:p>
          <a:p>
            <a:pPr marL="635000" marR="0" lvl="1" indent="-2301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10’s Mbps over ~10 Km </a:t>
            </a:r>
          </a:p>
          <a:p>
            <a:pPr marL="346075" marR="0" lvl="0" indent="-28575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Bluetooth: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cable replacement</a:t>
            </a:r>
          </a:p>
          <a:p>
            <a:pPr marL="747712" marR="0" lvl="1" indent="-3429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prstClr val="black">
                  <a:lumMod val="95000"/>
                  <a:lumOff val="5000"/>
                </a:prstClr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short distances, limited rates</a:t>
            </a:r>
          </a:p>
          <a:p>
            <a:pPr marL="342900" marR="0" lvl="0" indent="-2809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terrestrial  microwave</a:t>
            </a:r>
          </a:p>
          <a:p>
            <a:pPr marL="635000" marR="0" lvl="1" indent="-2301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point-to-point; 45 Mbps channels</a:t>
            </a:r>
          </a:p>
          <a:p>
            <a:pPr marL="342900" marR="0" lvl="0" indent="-280988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satellite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up to 45 Mbps per channel</a:t>
            </a:r>
          </a:p>
          <a:p>
            <a:pPr marL="685800" marR="0" lvl="1" indent="-228600" algn="l" defTabSz="914400" rtl="0" eaLnBrk="1" fontAlgn="auto" latinLnBrk="0" hangingPunct="1">
              <a:lnSpc>
                <a:spcPct val="85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270 msec end-end delay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205DD8-018E-E64A-86F3-58BAA2CE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29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38">
            <a:extLst>
              <a:ext uri="{FF2B5EF4-FFF2-40B4-BE49-F238E27FC236}">
                <a16:creationId xmlns:a16="http://schemas.microsoft.com/office/drawing/2014/main" id="{54E266FC-2C53-E845-810D-72800D812F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31406" y="5366286"/>
            <a:ext cx="469144" cy="3154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ne 105">
            <a:extLst>
              <a:ext uri="{FF2B5EF4-FFF2-40B4-BE49-F238E27FC236}">
                <a16:creationId xmlns:a16="http://schemas.microsoft.com/office/drawing/2014/main" id="{BF1773B1-5019-2B4A-BE6A-B8195D8981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1311" y="5467468"/>
            <a:ext cx="639909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349EA779-C782-D646-A376-27962D2DE8E5}"/>
              </a:ext>
            </a:extLst>
          </p:cNvPr>
          <p:cNvGrpSpPr/>
          <p:nvPr/>
        </p:nvGrpSpPr>
        <p:grpSpPr>
          <a:xfrm>
            <a:off x="3109054" y="5514269"/>
            <a:ext cx="860625" cy="398511"/>
            <a:chOff x="7493876" y="2774731"/>
            <a:chExt cx="1481958" cy="894622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051DA911-6679-5545-AC55-97B68D0A590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B387723-AD5A-6B40-86DC-4E06378B6C3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EAEAA504-561F-934C-865A-D764D9D4B58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B39429AE-64BE-C648-B108-3B471FFD1A3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09B151A-13E2-DE44-ACE5-AC68DBD136E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EF70FD4D-FD10-ED44-BB61-DD85162EEA3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F03C20EC-4A97-134D-9A10-FFE3DDFF03F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" name="Line 106">
            <a:extLst>
              <a:ext uri="{FF2B5EF4-FFF2-40B4-BE49-F238E27FC236}">
                <a16:creationId xmlns:a16="http://schemas.microsoft.com/office/drawing/2014/main" id="{254FEBFF-881B-E94A-B5B4-5A077C547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6350" y="5451593"/>
            <a:ext cx="67755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ine 108">
            <a:extLst>
              <a:ext uri="{FF2B5EF4-FFF2-40B4-BE49-F238E27FC236}">
                <a16:creationId xmlns:a16="http://schemas.microsoft.com/office/drawing/2014/main" id="{524659AB-C458-864A-B318-E8190017E7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88223" y="5062655"/>
            <a:ext cx="661222" cy="273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Line 291">
            <a:extLst>
              <a:ext uri="{FF2B5EF4-FFF2-40B4-BE49-F238E27FC236}">
                <a16:creationId xmlns:a16="http://schemas.microsoft.com/office/drawing/2014/main" id="{EB8F889A-4D2D-1B4E-8BFD-EC217EFF65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474" y="5583355"/>
            <a:ext cx="318847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A77B42D-EF91-9343-B8AA-7F791CA6173D}"/>
              </a:ext>
            </a:extLst>
          </p:cNvPr>
          <p:cNvGrpSpPr/>
          <p:nvPr/>
        </p:nvGrpSpPr>
        <p:grpSpPr>
          <a:xfrm>
            <a:off x="3957067" y="5203592"/>
            <a:ext cx="860625" cy="398511"/>
            <a:chOff x="7493876" y="2774731"/>
            <a:chExt cx="1481958" cy="894622"/>
          </a:xfrm>
        </p:grpSpPr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717B3640-CBA8-9D4D-B10E-118D8375828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DF87D0C-16B9-0242-9434-F058BACF6AF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875F2C4B-EC99-0546-B8BC-E6ABDA1C57C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7AB43264-5575-584F-8FE6-D1C2C13E1C3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99D8A414-A25C-5C43-9BC9-95C40A420EC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B398E537-2A8D-B343-AFFC-0C206FB72B1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8F5B5F4D-A081-8041-8446-B98FF777149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" name="Line 113">
            <a:extLst>
              <a:ext uri="{FF2B5EF4-FFF2-40B4-BE49-F238E27FC236}">
                <a16:creationId xmlns:a16="http://schemas.microsoft.com/office/drawing/2014/main" id="{EEC03E85-460E-344B-B658-EA55A92713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2660" y="5511918"/>
            <a:ext cx="865759" cy="1444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Line 294">
            <a:extLst>
              <a:ext uri="{FF2B5EF4-FFF2-40B4-BE49-F238E27FC236}">
                <a16:creationId xmlns:a16="http://schemas.microsoft.com/office/drawing/2014/main" id="{6AFF4B42-51C0-8447-92BB-FCA57D50B6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7823" y="5773855"/>
            <a:ext cx="487128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EAC493A-EEEF-7C4F-AA98-1801621812D4}"/>
              </a:ext>
            </a:extLst>
          </p:cNvPr>
          <p:cNvGrpSpPr/>
          <p:nvPr/>
        </p:nvGrpSpPr>
        <p:grpSpPr>
          <a:xfrm>
            <a:off x="4985387" y="5543879"/>
            <a:ext cx="860625" cy="398511"/>
            <a:chOff x="7493876" y="2774731"/>
            <a:chExt cx="1481958" cy="894622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7C772A01-ED51-DF4C-9654-6B6278386C2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B003DFE7-C366-8140-9629-CD63DF215ED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5F84292C-45D7-D245-AF05-1049328026B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672ECA71-4ED1-A742-8D27-C7DD78E8129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AB422B19-1B67-F744-AB96-3C00EBB25FA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64DBC56A-851B-1045-8E18-0E1AE5828A8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687D1E8F-A9D2-414E-B37C-C2A41CFCDB2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“Real” Internet delays and routes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980180" y="1324511"/>
            <a:ext cx="10342830" cy="18853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do “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real” Internet delay &amp; loss look like? 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traceroute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program: provides delay measurement from source to router along end-end Internet path towards destination.  For all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i:</a:t>
            </a:r>
          </a:p>
        </p:txBody>
      </p:sp>
      <p:sp>
        <p:nvSpPr>
          <p:cNvPr id="23" name="Line 260">
            <a:extLst>
              <a:ext uri="{FF2B5EF4-FFF2-40B4-BE49-F238E27FC236}">
                <a16:creationId xmlns:a16="http://schemas.microsoft.com/office/drawing/2014/main" id="{146ED7EC-5957-5A4D-8C10-71CB9EFF9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1850" y="5476993"/>
            <a:ext cx="677550" cy="207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Line 261">
            <a:extLst>
              <a:ext uri="{FF2B5EF4-FFF2-40B4-BE49-F238E27FC236}">
                <a16:creationId xmlns:a16="http://schemas.microsoft.com/office/drawing/2014/main" id="{7F082344-D846-A442-8098-3870FBC04E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60060" y="5423018"/>
            <a:ext cx="777191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Line 292">
            <a:extLst>
              <a:ext uri="{FF2B5EF4-FFF2-40B4-BE49-F238E27FC236}">
                <a16:creationId xmlns:a16="http://schemas.microsoft.com/office/drawing/2014/main" id="{F2A2632A-A659-1B45-9C0A-17E3A7312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524" y="5170605"/>
            <a:ext cx="318847" cy="311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Line 295">
            <a:extLst>
              <a:ext uri="{FF2B5EF4-FFF2-40B4-BE49-F238E27FC236}">
                <a16:creationId xmlns:a16="http://schemas.microsoft.com/office/drawing/2014/main" id="{69CE8977-5EAF-2D48-AB87-ABB232029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4926" y="5277473"/>
            <a:ext cx="8857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Box 300">
            <a:extLst>
              <a:ext uri="{FF2B5EF4-FFF2-40B4-BE49-F238E27FC236}">
                <a16:creationId xmlns:a16="http://schemas.microsoft.com/office/drawing/2014/main" id="{A650D718-81E6-C34A-AA06-669C83840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9161" y="5135680"/>
            <a:ext cx="1397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 probes</a:t>
            </a:r>
          </a:p>
        </p:txBody>
      </p:sp>
      <p:sp>
        <p:nvSpPr>
          <p:cNvPr id="30" name="Text Box 302">
            <a:extLst>
              <a:ext uri="{FF2B5EF4-FFF2-40B4-BE49-F238E27FC236}">
                <a16:creationId xmlns:a16="http://schemas.microsoft.com/office/drawing/2014/main" id="{8C2F6269-CD63-DC47-AA5A-D6F6AD85E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3524" y="5696068"/>
            <a:ext cx="1397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 probes</a:t>
            </a:r>
          </a:p>
        </p:txBody>
      </p:sp>
      <p:sp>
        <p:nvSpPr>
          <p:cNvPr id="31" name="Text Box 304">
            <a:extLst>
              <a:ext uri="{FF2B5EF4-FFF2-40B4-BE49-F238E27FC236}">
                <a16:creationId xmlns:a16="http://schemas.microsoft.com/office/drawing/2014/main" id="{43A2AD3C-9D79-9140-BB67-1BE3BD426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700" y="5044156"/>
            <a:ext cx="13971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 probes</a:t>
            </a:r>
          </a:p>
        </p:txBody>
      </p:sp>
      <p:grpSp>
        <p:nvGrpSpPr>
          <p:cNvPr id="32" name="Group 100">
            <a:extLst>
              <a:ext uri="{FF2B5EF4-FFF2-40B4-BE49-F238E27FC236}">
                <a16:creationId xmlns:a16="http://schemas.microsoft.com/office/drawing/2014/main" id="{1BEC51D1-0886-F14D-B99F-4CA3879860C9}"/>
              </a:ext>
            </a:extLst>
          </p:cNvPr>
          <p:cNvGrpSpPr>
            <a:grpSpLocks/>
          </p:cNvGrpSpPr>
          <p:nvPr/>
        </p:nvGrpSpPr>
        <p:grpSpPr bwMode="auto">
          <a:xfrm>
            <a:off x="1934728" y="5072180"/>
            <a:ext cx="1027081" cy="688975"/>
            <a:chOff x="-44" y="1473"/>
            <a:chExt cx="981" cy="1105"/>
          </a:xfrm>
        </p:grpSpPr>
        <p:pic>
          <p:nvPicPr>
            <p:cNvPr id="33" name="Picture 101" descr="desktop_computer_stylized_medium">
              <a:extLst>
                <a:ext uri="{FF2B5EF4-FFF2-40B4-BE49-F238E27FC236}">
                  <a16:creationId xmlns:a16="http://schemas.microsoft.com/office/drawing/2014/main" id="{C4436358-53EB-1341-B2F7-BBA9BFD86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102">
              <a:extLst>
                <a:ext uri="{FF2B5EF4-FFF2-40B4-BE49-F238E27FC236}">
                  <a16:creationId xmlns:a16="http://schemas.microsoft.com/office/drawing/2014/main" id="{4813CA23-213B-0C4B-B526-D05F84EB965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Group 103">
            <a:extLst>
              <a:ext uri="{FF2B5EF4-FFF2-40B4-BE49-F238E27FC236}">
                <a16:creationId xmlns:a16="http://schemas.microsoft.com/office/drawing/2014/main" id="{838A2555-9382-2A43-A8D2-3F77BF649C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77586" y="5110280"/>
            <a:ext cx="1051754" cy="669925"/>
            <a:chOff x="-44" y="1473"/>
            <a:chExt cx="981" cy="1105"/>
          </a:xfrm>
        </p:grpSpPr>
        <p:pic>
          <p:nvPicPr>
            <p:cNvPr id="42" name="Picture 104" descr="desktop_computer_stylized_medium">
              <a:extLst>
                <a:ext uri="{FF2B5EF4-FFF2-40B4-BE49-F238E27FC236}">
                  <a16:creationId xmlns:a16="http://schemas.microsoft.com/office/drawing/2014/main" id="{99E32CCD-2CED-C441-BCF6-83FBBB7A2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105">
              <a:extLst>
                <a:ext uri="{FF2B5EF4-FFF2-40B4-BE49-F238E27FC236}">
                  <a16:creationId xmlns:a16="http://schemas.microsoft.com/office/drawing/2014/main" id="{1DE64A0C-778E-0542-AF02-9D5203B331A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4" name="Freeform 303">
            <a:extLst>
              <a:ext uri="{FF2B5EF4-FFF2-40B4-BE49-F238E27FC236}">
                <a16:creationId xmlns:a16="http://schemas.microsoft.com/office/drawing/2014/main" id="{D57CFF59-F6AE-0444-8D13-D8E49817EC92}"/>
              </a:ext>
            </a:extLst>
          </p:cNvPr>
          <p:cNvSpPr>
            <a:spLocks/>
          </p:cNvSpPr>
          <p:nvPr/>
        </p:nvSpPr>
        <p:spPr bwMode="auto">
          <a:xfrm>
            <a:off x="2868986" y="5356343"/>
            <a:ext cx="3135331" cy="403225"/>
          </a:xfrm>
          <a:custGeom>
            <a:avLst/>
            <a:gdLst>
              <a:gd name="T0" fmla="*/ 2147483647 w 1416"/>
              <a:gd name="T1" fmla="*/ 2147483647 h 254"/>
              <a:gd name="T2" fmla="*/ 2147483647 w 1416"/>
              <a:gd name="T3" fmla="*/ 2147483647 h 254"/>
              <a:gd name="T4" fmla="*/ 2147483647 w 1416"/>
              <a:gd name="T5" fmla="*/ 2147483647 h 254"/>
              <a:gd name="T6" fmla="*/ 2147483647 w 1416"/>
              <a:gd name="T7" fmla="*/ 2147483647 h 254"/>
              <a:gd name="T8" fmla="*/ 2147483647 w 1416"/>
              <a:gd name="T9" fmla="*/ 2147483647 h 254"/>
              <a:gd name="T10" fmla="*/ 2147483647 w 1416"/>
              <a:gd name="T11" fmla="*/ 2147483647 h 254"/>
              <a:gd name="T12" fmla="*/ 0 w 1416"/>
              <a:gd name="T13" fmla="*/ 2147483647 h 2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16"/>
              <a:gd name="T22" fmla="*/ 0 h 254"/>
              <a:gd name="T23" fmla="*/ 1416 w 1416"/>
              <a:gd name="T24" fmla="*/ 254 h 2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16" h="254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5" name="Freeform 299">
            <a:extLst>
              <a:ext uri="{FF2B5EF4-FFF2-40B4-BE49-F238E27FC236}">
                <a16:creationId xmlns:a16="http://schemas.microsoft.com/office/drawing/2014/main" id="{106F45C5-44D3-EB44-A1DD-18F6304B9226}"/>
              </a:ext>
            </a:extLst>
          </p:cNvPr>
          <p:cNvSpPr>
            <a:spLocks/>
          </p:cNvSpPr>
          <p:nvPr/>
        </p:nvSpPr>
        <p:spPr bwMode="auto">
          <a:xfrm>
            <a:off x="2900736" y="5392855"/>
            <a:ext cx="584553" cy="419100"/>
          </a:xfrm>
          <a:custGeom>
            <a:avLst/>
            <a:gdLst>
              <a:gd name="T0" fmla="*/ 2147483647 w 264"/>
              <a:gd name="T1" fmla="*/ 0 h 264"/>
              <a:gd name="T2" fmla="*/ 2147483647 w 264"/>
              <a:gd name="T3" fmla="*/ 2147483647 h 264"/>
              <a:gd name="T4" fmla="*/ 0 w 264"/>
              <a:gd name="T5" fmla="*/ 2147483647 h 264"/>
              <a:gd name="T6" fmla="*/ 0 60000 65536"/>
              <a:gd name="T7" fmla="*/ 0 60000 65536"/>
              <a:gd name="T8" fmla="*/ 0 60000 65536"/>
              <a:gd name="T9" fmla="*/ 0 w 264"/>
              <a:gd name="T10" fmla="*/ 0 h 264"/>
              <a:gd name="T11" fmla="*/ 264 w 264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4" h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6" name="Freeform 301">
            <a:extLst>
              <a:ext uri="{FF2B5EF4-FFF2-40B4-BE49-F238E27FC236}">
                <a16:creationId xmlns:a16="http://schemas.microsoft.com/office/drawing/2014/main" id="{B0DADD8E-881D-B14F-BA59-384DC3B918B6}"/>
              </a:ext>
            </a:extLst>
          </p:cNvPr>
          <p:cNvSpPr>
            <a:spLocks/>
          </p:cNvSpPr>
          <p:nvPr/>
        </p:nvSpPr>
        <p:spPr bwMode="auto">
          <a:xfrm>
            <a:off x="2894387" y="5307130"/>
            <a:ext cx="1877656" cy="474663"/>
          </a:xfrm>
          <a:custGeom>
            <a:avLst/>
            <a:gdLst>
              <a:gd name="T0" fmla="*/ 2147483647 w 848"/>
              <a:gd name="T1" fmla="*/ 2147483647 h 299"/>
              <a:gd name="T2" fmla="*/ 2147483647 w 848"/>
              <a:gd name="T3" fmla="*/ 2147483647 h 299"/>
              <a:gd name="T4" fmla="*/ 2147483647 w 848"/>
              <a:gd name="T5" fmla="*/ 2147483647 h 299"/>
              <a:gd name="T6" fmla="*/ 2147483647 w 848"/>
              <a:gd name="T7" fmla="*/ 2147483647 h 299"/>
              <a:gd name="T8" fmla="*/ 0 w 848"/>
              <a:gd name="T9" fmla="*/ 2147483647 h 29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299"/>
              <a:gd name="T17" fmla="*/ 848 w 848"/>
              <a:gd name="T18" fmla="*/ 299 h 29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299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1E1CD52-668E-2940-80F2-B10C4C902272}"/>
              </a:ext>
            </a:extLst>
          </p:cNvPr>
          <p:cNvGrpSpPr/>
          <p:nvPr/>
        </p:nvGrpSpPr>
        <p:grpSpPr>
          <a:xfrm>
            <a:off x="6096000" y="5229664"/>
            <a:ext cx="860625" cy="398511"/>
            <a:chOff x="7493876" y="2774731"/>
            <a:chExt cx="1481958" cy="894622"/>
          </a:xfrm>
        </p:grpSpPr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524447EB-AF2A-A041-9AAF-22AE80BEBB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02DFC5C8-0F07-0646-B191-3F36D49C234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39560971-B62C-2E4C-935A-836B552692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E2E046A7-F455-5A48-9F2B-58FE95A5E2B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B411AFE3-7C43-B447-9404-B41B6AD175D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149A557C-1B39-D44A-ABCE-44F29E0A3D1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C47C4949-2773-9643-AB8D-C5F0FC9CD57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0" name="Rectangle 5">
            <a:extLst>
              <a:ext uri="{FF2B5EF4-FFF2-40B4-BE49-F238E27FC236}">
                <a16:creationId xmlns:a16="http://schemas.microsoft.com/office/drawing/2014/main" id="{C45704CB-2C2D-E04A-BF4B-17BB274AE2EB}"/>
              </a:ext>
            </a:extLst>
          </p:cNvPr>
          <p:cNvSpPr txBox="1">
            <a:spLocks noChangeArrowheads="1"/>
          </p:cNvSpPr>
          <p:nvPr/>
        </p:nvSpPr>
        <p:spPr>
          <a:xfrm>
            <a:off x="909932" y="3067365"/>
            <a:ext cx="10342830" cy="172365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sends three packets that will reach router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on path towards destination (with time-to-live field value of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)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router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i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will return packets to sender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sender measures time interval between transmission and reply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B25BBF9C-F6B7-D74C-8D2F-80041D203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8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Real Internet delays and routes</a:t>
            </a:r>
            <a:endParaRPr lang="en-US" sz="4400" dirty="0"/>
          </a:p>
        </p:txBody>
      </p:sp>
      <p:sp>
        <p:nvSpPr>
          <p:cNvPr id="68" name="Text Box 4">
            <a:extLst>
              <a:ext uri="{FF2B5EF4-FFF2-40B4-BE49-F238E27FC236}">
                <a16:creationId xmlns:a16="http://schemas.microsoft.com/office/drawing/2014/main" id="{7892B7DA-887D-4048-94A0-6C1A0FF2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495" y="2282978"/>
            <a:ext cx="8229600" cy="394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 cs-gw (128.119.240.254)  1 ms  1 ms  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  border1-rt-fa5-1-0.gw.umass.edu (128.119.3.145)  1 ms  1 ms  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  cht-vbns.gw.umass.edu (128.119.3.130)  6 ms 5 ms 5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  jn1-at1-0-0-19.wor.vbns.net (204.147.132.129)  16 ms 11 ms 13 ms 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  jn1-so7-0-0-0.wae.vbns.net (204.147.136.136)  21 ms 18 ms 18 ms 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  abilene-vbns.abilene.ucaid.edu (198.32.11.9)  22 ms  18 ms  22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  nycm-wash.abilene.ucaid.edu (198.32.8.46)  22 ms  22 ms  22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  62.40.103.253 (62.40.103.253)  104 ms 109 ms 106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9  de2-1.de1.de.geant.net (62.40.96.129)  109 ms 102 ms 104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10  de.fr1.fr.geant.net (62.40.96.50)  113 ms 121 ms 114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  renater-gw.fr1.fr.geant.net (62.40.103.54)  112 ms  114 ms  112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12  nio-n2.cssi.renater.fr (193.51.206.13)  111 ms  114 ms  116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13  nice.cssi.renater.fr (195.220.98.102)  123 ms  125 ms  124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14  r3t2-nice.cssi.renater.fr (195.220.98.110)  126 ms  126 ms  124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15  eurecom-valbonne.r3t2.ft.net (193.48.50.54)  135 ms  128 ms  133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16  194.214.211.25 (194.214.211.25)  126 ms  128 ms  126 ms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17  * * *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18  * * *</a:t>
            </a:r>
          </a:p>
          <a:p>
            <a:pPr marL="457200" marR="0" lvl="0" indent="-4572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19  fantasia.eurecom.fr (193.55.113.142)  132 ms  128 ms  136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ms</a:t>
            </a:r>
          </a:p>
        </p:txBody>
      </p:sp>
      <p:sp>
        <p:nvSpPr>
          <p:cNvPr id="69" name="Text Box 5">
            <a:extLst>
              <a:ext uri="{FF2B5EF4-FFF2-40B4-BE49-F238E27FC236}">
                <a16:creationId xmlns:a16="http://schemas.microsoft.com/office/drawing/2014/main" id="{6BA8008D-6458-AA4E-BF53-C2EE121DA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4133" y="1091177"/>
            <a:ext cx="81930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traceroute: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gaia.cs.umass.edu to www.eurecom.fr</a:t>
            </a:r>
          </a:p>
        </p:txBody>
      </p:sp>
      <p:sp>
        <p:nvSpPr>
          <p:cNvPr id="79" name="TextBox 1">
            <a:extLst>
              <a:ext uri="{FF2B5EF4-FFF2-40B4-BE49-F238E27FC236}">
                <a16:creationId xmlns:a16="http://schemas.microsoft.com/office/drawing/2014/main" id="{5B7BE9BA-BD29-2540-9F9F-541887F319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770" y="6259665"/>
            <a:ext cx="65293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* Do some traceroutes from exotic countries at www.traceroute.org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86D7C8-597D-9743-AF6B-834300DFF928}"/>
              </a:ext>
            </a:extLst>
          </p:cNvPr>
          <p:cNvGrpSpPr/>
          <p:nvPr/>
        </p:nvGrpSpPr>
        <p:grpSpPr>
          <a:xfrm>
            <a:off x="2464209" y="5464534"/>
            <a:ext cx="7293694" cy="400110"/>
            <a:chOff x="2464209" y="5464534"/>
            <a:chExt cx="7293694" cy="400110"/>
          </a:xfrm>
        </p:grpSpPr>
        <p:sp>
          <p:nvSpPr>
            <p:cNvPr id="76" name="Text Box 12">
              <a:extLst>
                <a:ext uri="{FF2B5EF4-FFF2-40B4-BE49-F238E27FC236}">
                  <a16:creationId xmlns:a16="http://schemas.microsoft.com/office/drawing/2014/main" id="{417C0065-CF59-F04B-A2B4-24B98D2D9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1403" y="5464534"/>
              <a:ext cx="62865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* means no response (probe lost, router not replying)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2945742-6EAA-EB4A-8286-39E218644B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4209" y="5590849"/>
              <a:ext cx="1007194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17CFBCC-5D80-154D-AFE4-84B6F3DE8CD2}"/>
              </a:ext>
            </a:extLst>
          </p:cNvPr>
          <p:cNvGrpSpPr/>
          <p:nvPr/>
        </p:nvGrpSpPr>
        <p:grpSpPr>
          <a:xfrm>
            <a:off x="1915886" y="1596610"/>
            <a:ext cx="9454526" cy="899847"/>
            <a:chOff x="1915886" y="1596610"/>
            <a:chExt cx="9454526" cy="899847"/>
          </a:xfrm>
        </p:grpSpPr>
        <p:sp>
          <p:nvSpPr>
            <p:cNvPr id="71" name="Text Box 7">
              <a:extLst>
                <a:ext uri="{FF2B5EF4-FFF2-40B4-BE49-F238E27FC236}">
                  <a16:creationId xmlns:a16="http://schemas.microsoft.com/office/drawing/2014/main" id="{7FD28BA9-B712-134B-86AC-CFCC39EB2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3162" y="1596610"/>
              <a:ext cx="5937250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3 delay measurements from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gaia.cs.umass.edu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to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cs-gw.cs.umass.edu 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Line 8">
              <a:extLst>
                <a:ext uri="{FF2B5EF4-FFF2-40B4-BE49-F238E27FC236}">
                  <a16:creationId xmlns:a16="http://schemas.microsoft.com/office/drawing/2014/main" id="{F1026D73-2E6E-CF45-8EF3-ADEA186C5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0508" y="1909915"/>
              <a:ext cx="671512" cy="4127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Line 9">
              <a:extLst>
                <a:ext uri="{FF2B5EF4-FFF2-40B4-BE49-F238E27FC236}">
                  <a16:creationId xmlns:a16="http://schemas.microsoft.com/office/drawing/2014/main" id="{2DB0FD1B-3421-FB44-A67B-6CAF879C89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70258" y="1898803"/>
              <a:ext cx="139700" cy="404812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Line 10">
              <a:extLst>
                <a:ext uri="{FF2B5EF4-FFF2-40B4-BE49-F238E27FC236}">
                  <a16:creationId xmlns:a16="http://schemas.microsoft.com/office/drawing/2014/main" id="{B675A34D-78B1-1642-8329-2219BE4346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05195" y="1908328"/>
              <a:ext cx="366713" cy="39052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56CE76B-0913-694C-A88F-94E62A67C5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2020" y="1908328"/>
              <a:ext cx="512012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80459DB-9FBC-AA43-AD0D-E4EC703C0CD5}"/>
                </a:ext>
              </a:extLst>
            </p:cNvPr>
            <p:cNvSpPr/>
            <p:nvPr/>
          </p:nvSpPr>
          <p:spPr>
            <a:xfrm>
              <a:off x="1915886" y="2307771"/>
              <a:ext cx="638628" cy="188686"/>
            </a:xfrm>
            <a:prstGeom prst="rect">
              <a:avLst/>
            </a:prstGeom>
            <a:solidFill>
              <a:srgbClr val="FFFF00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048766B-8BD7-5447-A58F-0580BF2517D6}"/>
              </a:ext>
            </a:extLst>
          </p:cNvPr>
          <p:cNvGrpSpPr/>
          <p:nvPr/>
        </p:nvGrpSpPr>
        <p:grpSpPr>
          <a:xfrm>
            <a:off x="1959429" y="2305498"/>
            <a:ext cx="10306229" cy="617861"/>
            <a:chOff x="1959429" y="2305498"/>
            <a:chExt cx="10306229" cy="617861"/>
          </a:xfrm>
        </p:grpSpPr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3C3101AA-04AC-604D-B1DD-586ADCDA2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9566" y="2305498"/>
              <a:ext cx="4086092" cy="617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3 delay measurements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to 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border1-rt-fa5-1-0.gw.umass.edu 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30144341-821E-C445-8967-E53F584FFF2F}"/>
                </a:ext>
              </a:extLst>
            </p:cNvPr>
            <p:cNvCxnSpPr/>
            <p:nvPr/>
          </p:nvCxnSpPr>
          <p:spPr>
            <a:xfrm flipH="1">
              <a:off x="8136140" y="2591761"/>
              <a:ext cx="738960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7106E5-CEC9-5B4C-9D96-768239ACF3F9}"/>
                </a:ext>
              </a:extLst>
            </p:cNvPr>
            <p:cNvSpPr/>
            <p:nvPr/>
          </p:nvSpPr>
          <p:spPr>
            <a:xfrm>
              <a:off x="1959429" y="2525486"/>
              <a:ext cx="2975428" cy="159657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93B100-C8EC-E14F-A08F-A5227BBD8A75}"/>
              </a:ext>
            </a:extLst>
          </p:cNvPr>
          <p:cNvGrpSpPr/>
          <p:nvPr/>
        </p:nvGrpSpPr>
        <p:grpSpPr>
          <a:xfrm>
            <a:off x="7046686" y="4088438"/>
            <a:ext cx="4427559" cy="617861"/>
            <a:chOff x="7046686" y="4088438"/>
            <a:chExt cx="4427559" cy="61786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769EA44-D208-F546-BC48-10986246EF9A}"/>
                </a:ext>
              </a:extLst>
            </p:cNvPr>
            <p:cNvGrpSpPr/>
            <p:nvPr/>
          </p:nvGrpSpPr>
          <p:grpSpPr>
            <a:xfrm>
              <a:off x="8136140" y="4088438"/>
              <a:ext cx="3338105" cy="617861"/>
              <a:chOff x="8136140" y="4088438"/>
              <a:chExt cx="3338105" cy="617861"/>
            </a:xfrm>
          </p:grpSpPr>
          <p:sp>
            <p:nvSpPr>
              <p:cNvPr id="16" name="Text Box 7">
                <a:extLst>
                  <a:ext uri="{FF2B5EF4-FFF2-40B4-BE49-F238E27FC236}">
                    <a16:creationId xmlns:a16="http://schemas.microsoft.com/office/drawing/2014/main" id="{461E9B9B-D89F-E045-903F-E4B91E6BD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31045" y="4088438"/>
                <a:ext cx="2743200" cy="6178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looks like delays </a:t>
                </a: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decrease</a:t>
                </a: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! Why?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7B545969-F2B6-3640-A5C7-754982F63617}"/>
                  </a:ext>
                </a:extLst>
              </p:cNvPr>
              <p:cNvCxnSpPr/>
              <p:nvPr/>
            </p:nvCxnSpPr>
            <p:spPr>
              <a:xfrm flipH="1">
                <a:off x="8136140" y="4381712"/>
                <a:ext cx="738960" cy="0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D5D0FA-CF95-C647-8691-03423CEA1D6E}"/>
                </a:ext>
              </a:extLst>
            </p:cNvPr>
            <p:cNvSpPr/>
            <p:nvPr/>
          </p:nvSpPr>
          <p:spPr>
            <a:xfrm>
              <a:off x="7402286" y="4223657"/>
              <a:ext cx="725714" cy="261257"/>
            </a:xfrm>
            <a:prstGeom prst="rect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B422DF4-E50E-8C4F-8EDF-EA4A3399E21E}"/>
                </a:ext>
              </a:extLst>
            </p:cNvPr>
            <p:cNvSpPr/>
            <p:nvPr/>
          </p:nvSpPr>
          <p:spPr>
            <a:xfrm>
              <a:off x="7046686" y="4419600"/>
              <a:ext cx="725714" cy="261257"/>
            </a:xfrm>
            <a:prstGeom prst="rect">
              <a:avLst/>
            </a:prstGeom>
            <a:solidFill>
              <a:srgbClr val="FFFF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A6E80E2-2107-5945-8AA3-407451B7E60F}"/>
              </a:ext>
            </a:extLst>
          </p:cNvPr>
          <p:cNvGrpSpPr/>
          <p:nvPr/>
        </p:nvGrpSpPr>
        <p:grpSpPr>
          <a:xfrm>
            <a:off x="1937658" y="3381528"/>
            <a:ext cx="8901587" cy="508300"/>
            <a:chOff x="1937658" y="3381528"/>
            <a:chExt cx="8901587" cy="5083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BE253E-6EA1-BB4E-8BF0-19C339C404C1}"/>
                </a:ext>
              </a:extLst>
            </p:cNvPr>
            <p:cNvGrpSpPr/>
            <p:nvPr/>
          </p:nvGrpSpPr>
          <p:grpSpPr>
            <a:xfrm>
              <a:off x="1937658" y="3381528"/>
              <a:ext cx="8901587" cy="460375"/>
              <a:chOff x="1937658" y="3381528"/>
              <a:chExt cx="8901587" cy="460375"/>
            </a:xfrm>
          </p:grpSpPr>
          <p:sp>
            <p:nvSpPr>
              <p:cNvPr id="77" name="Freeform 14">
                <a:extLst>
                  <a:ext uri="{FF2B5EF4-FFF2-40B4-BE49-F238E27FC236}">
                    <a16:creationId xmlns:a16="http://schemas.microsoft.com/office/drawing/2014/main" id="{D3347813-BBD3-9B4D-B4C4-CAF563726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1470" y="3595840"/>
                <a:ext cx="1012825" cy="246063"/>
              </a:xfrm>
              <a:custGeom>
                <a:avLst/>
                <a:gdLst>
                  <a:gd name="T0" fmla="*/ 2147483647 w 638"/>
                  <a:gd name="T1" fmla="*/ 0 h 155"/>
                  <a:gd name="T2" fmla="*/ 2147483647 w 638"/>
                  <a:gd name="T3" fmla="*/ 2147483647 h 155"/>
                  <a:gd name="T4" fmla="*/ 2147483647 w 638"/>
                  <a:gd name="T5" fmla="*/ 2147483647 h 155"/>
                  <a:gd name="T6" fmla="*/ 2147483647 w 638"/>
                  <a:gd name="T7" fmla="*/ 2147483647 h 155"/>
                  <a:gd name="T8" fmla="*/ 0 w 638"/>
                  <a:gd name="T9" fmla="*/ 2147483647 h 1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8"/>
                  <a:gd name="T16" fmla="*/ 0 h 155"/>
                  <a:gd name="T17" fmla="*/ 638 w 638"/>
                  <a:gd name="T18" fmla="*/ 155 h 1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8" h="155">
                    <a:moveTo>
                      <a:pt x="593" y="0"/>
                    </a:moveTo>
                    <a:cubicBezTo>
                      <a:pt x="607" y="9"/>
                      <a:pt x="621" y="18"/>
                      <a:pt x="623" y="38"/>
                    </a:cubicBezTo>
                    <a:cubicBezTo>
                      <a:pt x="625" y="58"/>
                      <a:pt x="638" y="104"/>
                      <a:pt x="608" y="123"/>
                    </a:cubicBezTo>
                    <a:cubicBezTo>
                      <a:pt x="578" y="142"/>
                      <a:pt x="547" y="153"/>
                      <a:pt x="446" y="154"/>
                    </a:cubicBezTo>
                    <a:cubicBezTo>
                      <a:pt x="345" y="155"/>
                      <a:pt x="72" y="133"/>
                      <a:pt x="0" y="130"/>
                    </a:cubicBezTo>
                  </a:path>
                </a:pathLst>
              </a:custGeom>
              <a:noFill/>
              <a:ln w="1905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Text Box 15">
                <a:extLst>
                  <a:ext uri="{FF2B5EF4-FFF2-40B4-BE49-F238E27FC236}">
                    <a16:creationId xmlns:a16="http://schemas.microsoft.com/office/drawing/2014/main" id="{36225CEE-E8B5-D342-87EF-CF5AADE63F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096045" y="3381528"/>
                <a:ext cx="27432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trans-oceanic link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FEDFBE5-9FAF-5841-909F-D0F941024CFF}"/>
                  </a:ext>
                </a:extLst>
              </p:cNvPr>
              <p:cNvSpPr/>
              <p:nvPr/>
            </p:nvSpPr>
            <p:spPr>
              <a:xfrm>
                <a:off x="1937658" y="3519717"/>
                <a:ext cx="2750456" cy="123370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4AAD3ED-1CE9-2F41-9A86-B86A45BB3764}"/>
                  </a:ext>
                </a:extLst>
              </p:cNvPr>
              <p:cNvSpPr/>
              <p:nvPr/>
            </p:nvSpPr>
            <p:spPr>
              <a:xfrm>
                <a:off x="2002973" y="3686630"/>
                <a:ext cx="1306284" cy="145141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12C0CA-EC0F-6646-B05E-6CF824061878}"/>
                </a:ext>
              </a:extLst>
            </p:cNvPr>
            <p:cNvSpPr/>
            <p:nvPr/>
          </p:nvSpPr>
          <p:spPr>
            <a:xfrm>
              <a:off x="7315200" y="3468914"/>
              <a:ext cx="667657" cy="203200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6B3651B-4FF4-7D4B-9806-691B5A2E72B0}"/>
                </a:ext>
              </a:extLst>
            </p:cNvPr>
            <p:cNvSpPr/>
            <p:nvPr/>
          </p:nvSpPr>
          <p:spPr>
            <a:xfrm>
              <a:off x="6320972" y="3679371"/>
              <a:ext cx="776514" cy="210457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55A976FD-BCA0-3B40-B7FA-0498D9E5E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panet2">
            <a:extLst>
              <a:ext uri="{FF2B5EF4-FFF2-40B4-BE49-F238E27FC236}">
                <a16:creationId xmlns:a16="http://schemas.microsoft.com/office/drawing/2014/main" id="{E7F81C40-077A-8344-A0DD-CCE7EDD75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58"/>
          <a:stretch>
            <a:fillRect/>
          </a:stretch>
        </p:blipFill>
        <p:spPr bwMode="auto">
          <a:xfrm>
            <a:off x="9282054" y="4269293"/>
            <a:ext cx="2443026" cy="2370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history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74700" y="2095499"/>
            <a:ext cx="4978400" cy="434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1961: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Kleinrock - queueing theory shows effectiveness of packet-switching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1964: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Baran - packet-switching in military nets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1967: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ARPAnet conceived by Advanced Research Projects Agency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1969: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first ARPAnet node operational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B9E4F-B92F-C246-833A-CE5D8587A03B}"/>
              </a:ext>
            </a:extLst>
          </p:cNvPr>
          <p:cNvSpPr txBox="1">
            <a:spLocks noChangeArrowheads="1"/>
          </p:cNvSpPr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1972: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523875" marR="0" lvl="1" indent="-2365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ARPAnet public demo</a:t>
            </a:r>
          </a:p>
          <a:p>
            <a:pPr marL="523875" marR="0" lvl="1" indent="-2365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NCP (Network Control Protocol) first host-host protocol </a:t>
            </a:r>
          </a:p>
          <a:p>
            <a:pPr marL="523875" marR="0" lvl="1" indent="-2365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first e-mail program</a:t>
            </a:r>
          </a:p>
          <a:p>
            <a:pPr marL="523875" marR="0" lvl="1" indent="-2365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ARPAnet has 15 nodes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799867" y="1211969"/>
            <a:ext cx="75684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1961-1972: Early packet-switching principles</a:t>
            </a:r>
            <a:endParaRPr kumimoji="0" lang="en-US" altLang="en-US" sz="3200" b="0" i="0" u="sng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8637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history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660400" y="2095499"/>
            <a:ext cx="5283200" cy="434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1970: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ALOHAnet satellite network in Hawaii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1974: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Cerf and Kahn - architecture for interconnecting networks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1976: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Ethernet at Xerox PARC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late70’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proprietary architectures: DECnet, SNA, XNA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1979: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ARPAnet has 200 nodes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790785" y="1202606"/>
            <a:ext cx="10064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1972-1980: Internetworking, new and proprietary networks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4B01480-39E3-A449-9BF1-26DFD957BB24}"/>
              </a:ext>
            </a:extLst>
          </p:cNvPr>
          <p:cNvGrpSpPr/>
          <p:nvPr/>
        </p:nvGrpSpPr>
        <p:grpSpPr>
          <a:xfrm>
            <a:off x="6851353" y="2147296"/>
            <a:ext cx="4978399" cy="4075895"/>
            <a:chOff x="6851353" y="2147296"/>
            <a:chExt cx="4978399" cy="4075895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608262C8-1FAC-0443-9A02-4D30DF80F9F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79929" y="2320332"/>
              <a:ext cx="4735804" cy="390285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17475" marR="0" lvl="0" indent="1270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Cerf and Kahn’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 internetworking principles:</a:t>
              </a:r>
            </a:p>
            <a:p>
              <a:pPr marL="473075" marR="0" lvl="1" indent="-28892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minimalism, autonomy - no internal changes required to interconnect networks</a:t>
              </a:r>
            </a:p>
            <a:p>
              <a:pPr marL="473075" marR="0" lvl="1" indent="-28892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best-effort service model</a:t>
              </a:r>
            </a:p>
            <a:p>
              <a:pPr marL="473075" marR="0" lvl="1" indent="-28892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stateless routing</a:t>
              </a:r>
            </a:p>
            <a:p>
              <a:pPr marL="473075" marR="0" lvl="1" indent="-28892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decentralized control</a:t>
              </a:r>
            </a:p>
            <a:p>
              <a:pPr marL="117475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define today’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 Internet architecture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21C6B9B7-113F-CF4E-B965-F2D14958F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353" y="2147296"/>
              <a:ext cx="4978399" cy="4050304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D3DCC67-63F6-B945-AA9C-E5C8ADE95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75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history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2095499"/>
            <a:ext cx="4978400" cy="434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1983: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deployment of TCP/IP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1982: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smtp e-mail protocol defined 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1983: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defined for name-to-IP-address translation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1985: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ftp protocol defined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1988: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TCP congestion control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B9E4F-B92F-C246-833A-CE5D8587A03B}"/>
              </a:ext>
            </a:extLst>
          </p:cNvPr>
          <p:cNvSpPr txBox="1">
            <a:spLocks noChangeArrowheads="1"/>
          </p:cNvSpPr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national networks: CSnet, BITnet, NSFnet, Minitel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100,000 hosts connected to confederation of networks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762000" y="1212520"/>
            <a:ext cx="91334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1980-1990: new protocols, a proliferation of networks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43D9156-178D-FA4A-ACEB-4C58A8C3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98" y="3880533"/>
            <a:ext cx="3906331" cy="287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251F43-145C-4745-8AAF-75529DC33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0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history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87167" y="2079634"/>
            <a:ext cx="5578281" cy="4712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early 1990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s: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ARPAnet decommissioned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1991: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NSF lifts restrictions on commercial use of NSFnet (decommissioned, 1995)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early 1990s: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Web</a:t>
            </a:r>
          </a:p>
          <a:p>
            <a:pPr marL="569913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hypertext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[Bush 1945, Nelson 1960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s]</a:t>
            </a:r>
          </a:p>
          <a:p>
            <a:pPr marL="569913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HTML, HTTP: Berners-Lee</a:t>
            </a:r>
          </a:p>
          <a:p>
            <a:pPr marL="569913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1994: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Mosaic, later Netscape</a:t>
            </a:r>
          </a:p>
          <a:p>
            <a:pPr marL="569913" marR="0" lvl="1" indent="-2254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late 1990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s: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commercialization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the Web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2B9E4F-B92F-C246-833A-CE5D8587A03B}"/>
              </a:ext>
            </a:extLst>
          </p:cNvPr>
          <p:cNvSpPr txBox="1">
            <a:spLocks noChangeArrowheads="1"/>
          </p:cNvSpPr>
          <p:nvPr/>
        </p:nvSpPr>
        <p:spPr>
          <a:xfrm>
            <a:off x="6146799" y="2087567"/>
            <a:ext cx="5578281" cy="434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late 1990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– 2000s: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killer apps: instant messaging, P2P file sharing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security to forefront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est. 50 million host, 100 million+ users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backbone links running at Gbps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740579" y="1215136"/>
            <a:ext cx="100589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1990, 2000s: commercialization, the Web, new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72142-082B-F24A-8C5A-2A184D6D9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05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history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763532" y="1770592"/>
            <a:ext cx="11142134" cy="4734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9113" marR="0" lvl="1" indent="-3889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en-US" sz="2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ggressive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deployment of broadband home access (10-100’s Mbps)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2008: software-defined networking (SDN)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increasing ubiquity of high-speed wireless access: 4G/5G, WiFi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service providers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(Google, Microsoft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create their own networks</a:t>
            </a:r>
          </a:p>
          <a:p>
            <a:pPr marL="812800" marR="0" lvl="2" indent="-2349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bypass commercial Internet to connect “close” to end user, providing 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instantaneous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access to social media, search, video content, …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enterprises run their services in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cloud”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(e.g., Amazon Web Services, Microsoft Azure)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rise of smartphones: more mobile than fixed devices on Internet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(2017)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~18B devices attached to Internet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(2017)</a:t>
            </a:r>
          </a:p>
          <a:p>
            <a:pPr marL="473075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9C0EBB-BEDB-6E47-9336-6C5042E6E6F8}"/>
              </a:ext>
            </a:extLst>
          </p:cNvPr>
          <p:cNvSpPr/>
          <p:nvPr/>
        </p:nvSpPr>
        <p:spPr>
          <a:xfrm>
            <a:off x="800333" y="1211969"/>
            <a:ext cx="6946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2005-present: scale, SDN, mobility, cloud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605DD5-B970-0D47-8DE7-E0269EA38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0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7FC720-7C10-67CF-A179-46EABEB4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Additional</a:t>
            </a:r>
            <a:r>
              <a:rPr lang="zh-CN" altLang="en-US" dirty="0"/>
              <a:t> </a:t>
            </a:r>
            <a:r>
              <a:rPr lang="en-US" altLang="zh-CN" dirty="0"/>
              <a:t>materials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IERG5090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038805-E6F1-3116-A4CB-6BE00F46E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Credit:</a:t>
            </a:r>
            <a:r>
              <a:rPr lang="zh-CN" altLang="en-US" dirty="0"/>
              <a:t> </a:t>
            </a:r>
            <a:r>
              <a:rPr lang="en-US" altLang="zh-CN" dirty="0"/>
              <a:t>Prof.</a:t>
            </a:r>
            <a:r>
              <a:rPr lang="zh-CN" altLang="en-US" dirty="0"/>
              <a:t> </a:t>
            </a:r>
            <a:r>
              <a:rPr lang="en-US" altLang="zh-CN" dirty="0" err="1"/>
              <a:t>Dahming</a:t>
            </a:r>
            <a:r>
              <a:rPr lang="zh-CN" altLang="en-US" dirty="0"/>
              <a:t> </a:t>
            </a:r>
            <a:r>
              <a:rPr lang="en-US" altLang="zh-CN" dirty="0"/>
              <a:t>Chiu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Prof.</a:t>
            </a:r>
            <a:r>
              <a:rPr lang="zh-CN" altLang="en-US" dirty="0"/>
              <a:t> </a:t>
            </a:r>
            <a:r>
              <a:rPr lang="en-US" altLang="zh-CN" dirty="0"/>
              <a:t>Wing</a:t>
            </a:r>
            <a:r>
              <a:rPr lang="zh-CN" altLang="en-US" dirty="0"/>
              <a:t> </a:t>
            </a:r>
            <a:r>
              <a:rPr lang="en-US" altLang="zh-CN" dirty="0"/>
              <a:t>Lau,</a:t>
            </a:r>
            <a:r>
              <a:rPr lang="zh-CN" altLang="en-US" dirty="0"/>
              <a:t> </a:t>
            </a:r>
            <a:r>
              <a:rPr lang="en-US" altLang="zh-CN" dirty="0"/>
              <a:t>IE,</a:t>
            </a:r>
            <a:r>
              <a:rPr lang="zh-CN" altLang="en-US" dirty="0"/>
              <a:t> </a:t>
            </a:r>
            <a:r>
              <a:rPr lang="en-HK" altLang="zh-CN" dirty="0">
                <a:hlinkClick r:id="rId2"/>
              </a:rPr>
              <a:t>https://mobitec.ie.cuhk.edu.hk/ierg5090Spring2017/index.html</a:t>
            </a:r>
            <a:r>
              <a:rPr lang="zh-CN" altLang="en-US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0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1619</TotalTime>
  <Words>1255</Words>
  <Application>Microsoft Macintosh PowerPoint</Application>
  <PresentationFormat>Widescreen</PresentationFormat>
  <Paragraphs>183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ＭＳ Ｐゴシック</vt:lpstr>
      <vt:lpstr>Arial</vt:lpstr>
      <vt:lpstr>Calibri</vt:lpstr>
      <vt:lpstr>Calibri Light</vt:lpstr>
      <vt:lpstr>Times New Roman</vt:lpstr>
      <vt:lpstr>Wingdings</vt:lpstr>
      <vt:lpstr>Office Theme</vt:lpstr>
      <vt:lpstr>ESTR4120 Computer Networks Lecture 1: Internet</vt:lpstr>
      <vt:lpstr>Logistics and expectations</vt:lpstr>
      <vt:lpstr>Extension of Lecture 1</vt:lpstr>
      <vt:lpstr>Links: physical media</vt:lpstr>
      <vt:lpstr>Links: physical media</vt:lpstr>
      <vt:lpstr>Links: physical media</vt:lpstr>
      <vt:lpstr>“Real” Internet delays and routes</vt:lpstr>
      <vt:lpstr>Real Internet delays and routes</vt:lpstr>
      <vt:lpstr>Internet history</vt:lpstr>
      <vt:lpstr>Internet history</vt:lpstr>
      <vt:lpstr>Internet history</vt:lpstr>
      <vt:lpstr>Internet history</vt:lpstr>
      <vt:lpstr>Internet history</vt:lpstr>
      <vt:lpstr>Additional materials from IERG5090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Hong Xu (CSD)</dc:creator>
  <cp:lastModifiedBy>Hong Xu</cp:lastModifiedBy>
  <cp:revision>40</cp:revision>
  <dcterms:created xsi:type="dcterms:W3CDTF">2022-01-07T08:30:34Z</dcterms:created>
  <dcterms:modified xsi:type="dcterms:W3CDTF">2025-09-01T06:02:55Z</dcterms:modified>
</cp:coreProperties>
</file>
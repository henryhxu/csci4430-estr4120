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.xml" ContentType="application/inkml+xml"/>
  <Override PartName="/ppt/notesSlides/notesSlide9.xml" ContentType="application/vnd.openxmlformats-officedocument.presentationml.notesSlide+xml"/>
  <Override PartName="/ppt/ink/ink2.xml" ContentType="application/inkml+xml"/>
  <Override PartName="/ppt/notesSlides/notesSlide10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722" r:id="rId1"/>
  </p:sldMasterIdLst>
  <p:notesMasterIdLst>
    <p:notesMasterId r:id="rId48"/>
  </p:notesMasterIdLst>
  <p:handoutMasterIdLst>
    <p:handoutMasterId r:id="rId49"/>
  </p:handoutMasterIdLst>
  <p:sldIdLst>
    <p:sldId id="648" r:id="rId2"/>
    <p:sldId id="487" r:id="rId3"/>
    <p:sldId id="514" r:id="rId4"/>
    <p:sldId id="516" r:id="rId5"/>
    <p:sldId id="517" r:id="rId6"/>
    <p:sldId id="1050" r:id="rId7"/>
    <p:sldId id="518" r:id="rId8"/>
    <p:sldId id="519" r:id="rId9"/>
    <p:sldId id="520" r:id="rId10"/>
    <p:sldId id="521" r:id="rId11"/>
    <p:sldId id="522" r:id="rId12"/>
    <p:sldId id="523" r:id="rId13"/>
    <p:sldId id="526" r:id="rId14"/>
    <p:sldId id="513" r:id="rId15"/>
    <p:sldId id="527" r:id="rId16"/>
    <p:sldId id="528" r:id="rId17"/>
    <p:sldId id="529" r:id="rId18"/>
    <p:sldId id="531" r:id="rId19"/>
    <p:sldId id="532" r:id="rId20"/>
    <p:sldId id="533" r:id="rId21"/>
    <p:sldId id="534" r:id="rId22"/>
    <p:sldId id="535" r:id="rId23"/>
    <p:sldId id="536" r:id="rId24"/>
    <p:sldId id="538" r:id="rId25"/>
    <p:sldId id="539" r:id="rId26"/>
    <p:sldId id="540" r:id="rId27"/>
    <p:sldId id="541" r:id="rId28"/>
    <p:sldId id="542" r:id="rId29"/>
    <p:sldId id="543" r:id="rId30"/>
    <p:sldId id="544" r:id="rId31"/>
    <p:sldId id="545" r:id="rId32"/>
    <p:sldId id="546" r:id="rId33"/>
    <p:sldId id="547" r:id="rId34"/>
    <p:sldId id="548" r:id="rId35"/>
    <p:sldId id="549" r:id="rId36"/>
    <p:sldId id="550" r:id="rId37"/>
    <p:sldId id="551" r:id="rId38"/>
    <p:sldId id="552" r:id="rId39"/>
    <p:sldId id="553" r:id="rId40"/>
    <p:sldId id="562" r:id="rId41"/>
    <p:sldId id="555" r:id="rId42"/>
    <p:sldId id="563" r:id="rId43"/>
    <p:sldId id="557" r:id="rId44"/>
    <p:sldId id="558" r:id="rId45"/>
    <p:sldId id="559" r:id="rId46"/>
    <p:sldId id="512" r:id="rId47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D3A600"/>
    <a:srgbClr val="333399"/>
    <a:srgbClr val="FFCB05"/>
    <a:srgbClr val="FF9900"/>
    <a:srgbClr val="00274C"/>
    <a:srgbClr val="009900"/>
    <a:srgbClr val="D60093"/>
    <a:srgbClr val="FF3300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310"/>
    <p:restoredTop sz="96327"/>
  </p:normalViewPr>
  <p:slideViewPr>
    <p:cSldViewPr>
      <p:cViewPr varScale="1">
        <p:scale>
          <a:sx n="128" d="100"/>
          <a:sy n="128" d="100"/>
        </p:scale>
        <p:origin x="1752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2" d="100"/>
          <a:sy n="82" d="100"/>
        </p:scale>
        <p:origin x="-1914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fld id="{B29687F7-08B4-A54B-BC56-F290ADA497A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8747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01:54:26.308"/>
    </inkml:context>
    <inkml:brush xml:id="br0">
      <inkml:brushProperty name="height" value="0.053" units="cm"/>
      <inkml:brushProperty name="color" value="#FF0000"/>
    </inkml:brush>
  </inkml:definitions>
  <inkml:trace contextRef="#ctx0" brushRef="#br0">5954 6465 7853,'-17'0'418,"0"0"0,0 0 28,-1 0 1,-5-6 0,0 0 0,2 2 612,2 2 1,2 10 0,0 5-626,0 8 0,1 2 1,3 12-1,3 7 0,3 6-258,3 3 1,2 8 0,2 6-1,2 8-58,4 7 1,5 2-123,12-1 0,4-5 1,9-9-1,2-2-549,3-2 1,5-10 151,-6-1 1,7-8-635,-1-10 802,-4 1 0,6-9 0,-8-3-203,-1-4 1,-3-3 293,-2-5 0,1 4-46,-1-3 1,-7-3 110,-4 3 1,-6-1-98,-5 6 0,3 1 21,-4-1 0,-3 6-35,-2 0 1,-4 0-168,-2-6 0,0 0-6,0 0 133,0 0 0,0 1 162,0-1 1,0-6 0,-2 1 88,-4 1 153,4-5 0,-11 7 0,5-4-50,-1 5 391,5 9 0,-12-4-243,5 7 1,-4 3 0,-1 9 376,5 6 0,-4 5-91,3 7 1,3-3 733,-3 8-924,8 0 1,-3 14 0,5 7 80,-4 11 0,4 3-508,-1-44 1,0 0-1,2 3 1,0-1 176,1 1 1,0 1 0,0 4 0,0 2 0,0 2 0,0 0 0,0 1 0,-2-1 2,0 0 1,-1 0 0,2 1 0,0 0 42,-2-4 0,0 0 0,-1 1 0,0 0-19,2 0 1,-1-2 0,-3-7 0,0-1 213,4 1 1,-2-1 0,-9 38 129,2-6 1,-5-2-116,-1-10 0,0-1-156,0-10 0,-2-10 5,-4-7 1,2-10-1,-8-1 0,6-10-1799,-6-14 0,-5-5-1084,-6-12 1,-10-13 2657,-2-15 0,-7-7 0,-10-4 0,0 3 0</inkml:trace>
  <inkml:trace contextRef="#ctx0" brushRef="#br0" timeOffset="1">7090 7943 7640,'10'-17'7216,"-3"7"-6900,-14 3 0,5 9 0,-4 5 0,2 11-145,-2 8 1,4 7-1,-3 3 1,3 4-179,2 6 0,-6 6 0,0 3 1,2 4-99,3 2 0,2 4 0,5 8 0,4 1-108,-1-1 0,7-10 0,-7-6 0,3-5 0,-1-6-186,3-6 0,-5-17 244,3-6 285,-9-11-175,5 1 1,-8-8 301,0-5-320,0-11 0,0-4 1,-2-10-235,-4-5 0,3-6 229,-9-10 0,8-5 100,-1-1-108,-5-6 0,8 2-352,-4-6 1,2 8 0,1 7 318,-3 5 0,0 8-15,6-6 541,0 16 1,0-3 0,0 16 55,0 0 512,0 7 0,2-3-459,4 7 1,-2 0-1,7 6 850,3 0-1032,1-7 1,4 5-356,4-4 1,-2 2-1,6 0-276,-2-1 0,-1-1 372,-1 6 0,-4 0-170,4 0 0,-3 0-377,-3 0-54,0 8 1,-2 1 227,-3 8 1,-5 1-49,-7-1 1,-2 2 56,-3 4 0,-5-4 126,-7 4 0,0 2-30,0-2 0,-1 5 103,1-5 0,0 2 157,0-2 0,-1-4-135,1 4 0,0-4 272,0-2-165,7 0 0,-3 1 397,7-1 1,-5 0-59,5 0 0,0-5 245,6-1 1,6 1 109,0 5 1,7 0-310,-1 0 0,3 0-330,2 1 1,6-1-99,0 0 1,6 0-367,-6 0 1,5 1 384,-5-1-344,8 0 0,-10-2 0,8-1-906,1-3 1,-5-5 66,-2 5 182,-4-7 1,-2 4 0,0-8-47,1 0 0,-3-2 50,-4-4 0,-1-3 347,-4-9 1,-4-1 624,3-4 0,5-11 0,-1-10 0</inkml:trace>
  <inkml:trace contextRef="#ctx0" brushRef="#br0" timeOffset="2">7641 8064 8092,'-18'-8'1672,"9"6"0,-6-8-602,3 5 1,4 1 785,3-8-1217,3 9 0,4-11 92,3 9 0,5-3-600,7 2 1,8 2 175,4-7-667,3-1 0,3 3 0,-1 1 192,1 1-409,-1 5 1,2-6 0,3 6-182,1-4 0,-2 4-319,-9-3 0,1 3 313,-7 2 1,6 0 135,-6 0 1,0 6-158,-6-1 1,-2 3 211,-3-2 1,1-2 572,-7 7 0,7-7 0,-11 11 0,6-5 0</inkml:trace>
  <inkml:trace contextRef="#ctx0" brushRef="#br0" timeOffset="3">8088 8012 8092,'-17'2'0,"0"4"0,-1-4 0,1 3 0,0 3 0,0-2 0,0 7 0,-1-3 0,7 9 0,1 4 3438,3 5 1,1 7-1721,6 5 1,0 4-1294,0 7 1,0 7-594,0-1 0,0 0-490,0-5 0,6-1 418,-1 1 1,9-8-388,-3-4 0,-1-11-197,1-6-2276,-7-4 1639,11-2 1,-5-8 412,7-3 1,-5-6 209,-1-6 838,1-11 0,5-9 0,0-9 0</inkml:trace>
  <inkml:trace contextRef="#ctx0" brushRef="#br0" timeOffset="4">8243 8098 8092,'0'-17'385,"0"0"1,-2-1 1819,-4 1 0,4 0-806,-3 0 1,3 5-566,2 1 0,2 5-162,3-5 1,5 1-376,7-1 0,2-3-245,4 9 0,-2-9-49,8 3 1,0 3-478,5 2 395,0 4 1,1-3 0,-1-1-455,1 2 0,-1 2 52,1 2 0,-3 6-375,-3 0 0,1 5 394,-7-5 0,2 5-45,-2-5 0,-4 6 55,4-7 0,-9 1-1104,-3-6-1108,0 8 1994,7-6 0,-9 3 670,-3-10 0,-4-5 0,-2-7 0</inkml:trace>
  <inkml:trace contextRef="#ctx0" brushRef="#br0" timeOffset="5">8673 7874 8092,'-17'10'4476,"0"-2"1351,0-8-3392,-1 7-1544,1 3 1,8 15-1,3 3-569,4 5 0,2 11-797,0 7 0,8 7 314,3 5 0,2 4-126,-1-4 0,3 3-479,-3 3 0,7 4-1188,-2-4 1,4-1-3425,-9-16 5251,-5 3 0,8-11 0,-5 8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01:54:26.314"/>
    </inkml:context>
    <inkml:brush xml:id="br0">
      <inkml:brushProperty name="height" value="0.053" units="cm"/>
      <inkml:brushProperty name="color" value="#FF0000"/>
    </inkml:brush>
  </inkml:definitions>
  <inkml:trace contextRef="#ctx0" brushRef="#br0">6711 6757 7853,'0'-17'194,"-5"-2"1,-3-2 683,-2-2 0,7 5 0,-3 7-56,4-2 1,4 5 0,2 4-550,1 8 0,1 13 1,-6 14-1,2 7 1,2 8-114,2 3 1,-1 11 0,-5 5-104,0 7 1,2 7-1,2 7 1,2 1 0,0 7-168,-3-43 1,1 1 0,0 3 0,0 1-113,1 4 0,1 0 0,1-2 0,0-1 0,-3-1 0,-1 1 117,2-2 0,0 0 0,0 1 0,1-1 0,3-2 0,0-1 125,-1 0 1,1-1 0,10 41 159,4-17 0,4-7-22,7-4 0,1-1-30,-1-12 1,0 1-123,1-18 1,-1 2-7,1-13 1,5 0 78,0-6 1,-8-5-122,-9-1 0,2-7-47,-2 2 0,0-2-8,-6 1 1,-5-3-365,-1 4 1,1-4 112,5-2 0,-6-6-588,1 1 287,-8-9 371,3 5 1,-1-9-111,0 1 0,0 6-446,-6-1 732,0 1-52,0 1 218,-8 3 0,4 7 132,-7 0 0,1 13 343,-1 4 0,-5 14 85,5 3 1,-4 10 649,-3 13 0,7 10-636,-1 8 0,9 15-501,-3 1 0,4-37 0,2 1 17,0 5 1,0 1 0,0 3 0,0 1-364,0 7 1,0 0 0,1 1-1,0 1 230,2 3 0,0 1 0,-2-4 0,1 1 18,4 0 0,0-1 0,-4-7 0,0-1 50,1 0 0,-1 0 0,0-3 0,-2-2-85,1 0 1,-2-1 0,-2-3-1,-3 0 125,-2 1 0,-1-1 1,0-6-1,-2-1 52,-2 2 1,-2-1-1,-14 41 155,13-46 1,-2 0 0,-24 36-473,-4-2 1,-4-17 48,-2-6 0,-1-18-627,-5-16 1,3-12-808,-8-5 0,0-23 1521,-6-18 0,0-9 0,33 12 0,-1-3 0,-2-2 0,-2-2 0,-3-4 0,0 0 0</inkml:trace>
  <inkml:trace contextRef="#ctx0" brushRef="#br0" timeOffset="1">8002 9525 8055,'-17'-2'1040,"0"-2"0,-1-1 0,1 1-472,0 2 0,7 4 0,5 3 0,3 7 1,2 5-519,0 6 1,6-2-1,1 8 1,1 1-367,-1 3 0,5 7 0,-4 0 0,1-2 22,5-2 0,-5-7 0,1 0 0,-1-1-525,1-1 0,-6-2 1,3-10-13,1-3 1,-4-8-1,5-16 831,-1-11 0,5-7 0,-11-12 0,6-2 0</inkml:trace>
  <inkml:trace contextRef="#ctx0" brushRef="#br0" timeOffset="2">7985 9095 8055,'-25'0'1035,"6"0"0,-4 0 0,4 0 2735,2 0-2310,7 0 0,4 0-1402,12 0 0,5 0-627,12 0 0,4 0-812,8 0 0,1 0 861,4 0 520,-4 0 0,14 0 0,-6 0 0</inkml:trace>
  <inkml:trace contextRef="#ctx0" brushRef="#br0" timeOffset="3">8690 9491 8055,'-7'-27'1011,"-9"2"0,-8 6-469,-3-4 0,6 2 1,-2-6-1,4 1 0,0-1 45,-4-4 1,4 6-418,-4 2 0,-2 6-111,2 6 1,-8 3 318,3 8-285,-5 15 0,4 6 1,3 18 281,1 1 0,2 8 46,6-3 0,7 3-377,4-2 1,4 2 70,2-8 0,2-4-116,4-1 0,4-13 299,7 7-479,8-16 0,1 1 0,11-8 41,3-3 1,-4-1-133,4-2 0,-3-15 72,-3-8 0,1-7 79,-1-5 1,-5-1-225,-1-4 1,-7-4 127,2-8 0,-6 6 148,-5 1 1,1 1-35,-7-2 1,0-4 37,-6 4 0,-2 4 76,-4 2 1,2 4 186,-7 1 1,5 11 612,-5 6 139,-1 1 0,1 15 553,-1-3 0,8 6-699,-1 11 1,3 9-383,2 19 0,0 4-265,0 8 1,2 1-84,3 4 1,-1 4-168,8 8 1,-1-6-322,6 0 0,1-7-182,-1 1 1,0-5-880,0-7 0,6-4-157,0-13 0,6-5 589,-6-11 0,5-5 200,-5-7 1,0-15 233,-5-8 1,3-15-43,-4-8 1,8-17 105,-14-6 1,6-19-417,-11-3 691,-3 42 1,0-2 0,0-4 0,1-1 0,1 0 0,0 0 0</inkml:trace>
  <inkml:trace contextRef="#ctx0" brushRef="#br0" timeOffset="4">9017 8597 8055,'-5'-23'573,"-1"0"1,-6 6 2286,7 5-198,-9 8-527,12-3 0,-5 16-858,7 8 1,2 16 291,3 13 1,3 5-1086,3 7 1,5 3-270,-5 7 1,6 1-342,6 0 0,-3 2-603,2 3 1,3-9-1058,-2 4 1,6-6 272,-6 0 0,6-6-616,-6-11 0,-1-4 1027,-4-7 0,-1-3-70,0-3 0,-5 1-1268,-1-7 1511,-7 0 929,4-6 0,-7-7 80,5-4 0,-4-12 0,6-4 0</inkml:trace>
  <inkml:trace contextRef="#ctx0" brushRef="#br0" timeOffset="5">9413 9628 8014,'0'-9'3697,"0"-7"-3088,0 7 1,2-7 960,4 5-1089,-4-4 0,13 5-49,-4-7 0,5 0-319,1 0 0,6 5-173,0 1 0,7 1 165,-1-1 0,4-3-111,1 9 0,0-7-145,1 6 1,-1-1 56,1 1 1,-1 2-136,1-7 1,-3 5 83,-3-5 0,3-3 82,-3-9 1,-2 2-76,1-7 1,-7-7-176,2-5 1,-5-8 15,-7 2 1,-3-3-150,-8-3 0,-4 10 344,-8 8 1,-1 1-94,-16 10 0,-1 8 1019,-10 9 0,1 12 127,-7 6 1,6 16 555,-6 7 1,6 16-500,-6 1 1,10 13 146,2 3 0,1 1-193,10 6 0,2-6 379,10-6 0,5-4-1201,12-8 0,3-7-34,8-4 0,8-17-2297,4-5 1,11-13 596,6 1 1594,4-19 0,5 5 0,-3-15 0,-4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01:54:26.328"/>
    </inkml:context>
    <inkml:brush xml:id="br0">
      <inkml:brushProperty name="height" value="0.053" units="cm"/>
      <inkml:brushProperty name="color" value="#FF0000"/>
    </inkml:brush>
  </inkml:definitions>
  <inkml:trace contextRef="#ctx0" brushRef="#br0">14765 6568 7853,'-2'11'2671,"-4"1"-2261,4-1 0,-7 6 0,5 2 0,-2 2 1,1 4-1,-1 4 0,-2 7 231,-1 8 1,3 10 0,-6 7 0,-1 10-294,-2 5 1,3 10-1,1 9 1,4-44 0,0 0-21,0 4 1,-1 0 0,2-2 0,1 0-241,-1 1 0,0 0 0,1-3 0,1 0 0,-2 3 0,0 1 0,3-2 0,0 1 63,2 0 1,1 0-1,-1-4 1,2 0-310,-1 2 1,0-1 0,0 41 183,0-1 1,0-10-151,0-7 0,1-19-60,5-9 1,-2-17-344,7-12 1,-5-7 303,6-10 1,-7-4-364,7-8 0,-6-1-1434,5-16 1,-5-7 591,5-10 0,-7-11-1322,2-6 2750,3-12 0,-12-1 0,3-4 0,-4 3 0</inkml:trace>
  <inkml:trace contextRef="#ctx0" brushRef="#br0" timeOffset="1">14834 6447 7853,'0'-17'100,"0"0"359,0 0 1,0 5 650,0 1 0,-2 7-142,-4-2 1,2 4 0,-7 4-434,-2 4 1,-3 2-1,-1 5 1,0-1-104,0 1 1,-6 2-1,-2 2 55,-2 1 0,4 5-468,-6-1 1,-5 9 0,-6-2-290,2 3 1,-4-3-178,1-1 1,3 1-1026,9 6 0,-1-3 677,7-3 1,2-5-1,9-6-2103,7-1 1896,3 0 266,2-7 0,7-5 736,5-10 0,3-5 0,2-7 0</inkml:trace>
  <inkml:trace contextRef="#ctx0" brushRef="#br0" timeOffset="2">14559 6619 8173,'17'-11'1226,"0"-1"-926,0 9 0,-5-11 0,-3 7 574,-1-3-633,5-1 1,-9-1 1227,8 1 1,-7 5-705,7-6 1,-1 9 475,6-3 0,1 4-593,-1 2 1,0 2-587,0 4 1,6 5 0,0 12-950,-2 6 0,4 3 780,-2 3-1986,0-1 0,-6 0 1008,0 1 1,1-1 1084,-1 0 0,0 1 0,0-1 0</inkml:trace>
  <inkml:trace contextRef="#ctx0" brushRef="#br0" timeOffset="3">15608 6172 7853,'-2'-17'745,"-3"0"0,1 2 0,-8 3 0,-1 6 470,-2 5 0,3 1 0,3 1 0,-1 5-721,0 6 0,-1 9 0,-6 4 0,0 1-388,-1 5 1,1 7 0,0 4 0,0 2-138,0 4 1,-6 3-1,0 5 1,2 1-91,2-2 0,-3-1 0,3-4 1,4-5-1,2-4-1140,3-5 0,-3-9-607,7-4 1162,0-12 1,6-5 0,2-12-253,4-5 1,5-14 230,12-10 0,-4-1 0,4-10 727,-3-2 0,4-9 0,-5 4 0,6-7 0</inkml:trace>
  <inkml:trace contextRef="#ctx0" brushRef="#br0" timeOffset="4">15505 6258 7853,'0'-28'-1590,"0"-1"1458,8 8 0,-6-4 1764,3 8 0,3 0-684,-2 0 0,5 5 2413,-5 1-2228,0 7 1,-4-2-73,3 12 1,-3 5-566,4 12 1,-4 4-178,-2 7 0,0 8-326,0 4 0,0 4 0,0 0 229,0-5-714,0 5 0,0-12 0,0 6 331,0-2-902,0-2 0,0-7 1,2-3 158,3-1 1,-3-8 40,4 2-2623,-4-12 1254,6-3 946,-6-8 925,5 0 361,-14-8 0,5-1 0,-6-8 0</inkml:trace>
  <inkml:trace contextRef="#ctx0" brushRef="#br0" timeOffset="5">15419 6585 7853,'-15'-11'655,"1"-1"1720,3-1-1655,7 5 1,-9-7 1347,7 3-1272,0-3 1,6 4 253,0-1 1,2 1 0,4-7-845,5 1-216,5 8 0,3-7-1496,4 5 0,-2-4 706,7-3 0,3 9 1,7 1-3791,2 1 3565,0 5 1025,-5-6 0,7 0 0,2-1 0</inkml:trace>
  <inkml:trace contextRef="#ctx0" brushRef="#br0" timeOffset="6">16159 6275 7853,'-17'-17'517,"0"0"1,-3 0 366,-3 0 1,4 1 0,-4 3-285,4 2 0,2 1 0,0-3 65,0 1 0,-1 8 1,1-1-85,0 3 0,0 2-186,0 0 1,-1 9 126,1 9 0,0 6 136,0 11-205,0-1 1,-1 8 0,1 4 408,0 4-613,0 1 0,7 1 0,4-3-243,5-3 1,1 0-800,0-11 770,7 3 0,10-15-842,12 0 1,0-2 0,3-16-187,5-1 1,3-4-541,0-6 0,-2-3 89,8-8 1145,-8-8 0,6-2-813,-4-7 1,-3-6 549,3 0 0,-10-6 620,-1 6 0,-8-16 0,4 3 0</inkml:trace>
  <inkml:trace contextRef="#ctx0" brushRef="#br0" timeOffset="7">16297 6104 7853,'-12'-6'0,"3"-2"801,1-1 1656,-5 5 0,11-6 2291,-4 5-2589,-4 3 32,8-6-1427,-5 16-748,7 9 1,0 4 147,0 7 1,0 3-108,0 9 1,0-2-61,0 8 1,0 0-750,0 6 0,0-1-861,0 1 0,0-6 724,0 0 0,0-4-268,0-2 0,0-2 1,0-15-175,0-2-951,0-2 1628,0-10 0,2-1-85,3-8 1,-1-2 0,6-4 738,-3-5 0,7-4 0,-5-2 0,9-8 0,-1-2 0</inkml:trace>
  <inkml:trace contextRef="#ctx0" brushRef="#br0" timeOffset="8">16572 6224 7853,'27'-23'-883,"-6"0"744,-8 2 1,-5 8-1,-8 1 1404,0-1 0,0-2-491,0-3 733,0 9-998,0-6 1,0 11-446,0-8 0,-2 8 79,-4-1-218,4 3 1,-13 4 0,3 3-334,-3 7 1,4 3 257,-1 2-83,1 1 1,-6 1 71,-1 4 1,1-2 129,0 7 1,0-7 0,-1 4 161,1 0 0,0-6 385,0 4 1,0-4-145,-1-2 457,1 0 1,6-5 327,-1-1 1,1-1 734,-6 1 54,-1 5-696,9-14-460,1 5-348,8-7 0,2 0 240,4 0 0,-2 0-48,7 0 0,1 0-10,5 0-362,0 0 0,0 0-110,0 0 1,3 0-1,1 2-56,2 4 0,7-2 248,-1 7-3003,-4-7 0,5 9 1322,-7-7 0,6 6-80,-6-7 1,6 9 229,-7-3 0,3-3 0,-4-1-1674,2 1 1289,0-6 1,-6 6 1571,1-8 0,-1 0 0,0 0 0</inkml:trace>
  <inkml:trace contextRef="#ctx0" brushRef="#br0" timeOffset="9">17037 6104 7853,'-2'-27'0,"-2"2"411,-2 0 0,-5 6 0,5-4 0,0 6 1051,-1 5 1,5 3 0,-6 5-538,0-2 1,4 3 215,-7 8-820,0 12 1,-1 10-1,1 10 754,-3 3-795,-1 4 0,0 15 327,3 4 0,-1-2-264,7 2 1,0-4-432,6-1 1,0-1 0,0-13-754,0 0 1,10-4-9,7-12 0,8-5-2333,9-11 2357,1-4 0,1-10 0,2-4-2928,2-6 3753,1-11 0,1-11 0,2-10 0</inkml:trace>
  <inkml:trace contextRef="#ctx0" brushRef="#br0" timeOffset="10">17329 6138 7853,'-2'-15'9830,"-4"3"-7911,5-3 1,-5 13 0,12-4 0,5 4-1966,4 2 0,8 0 1,0 0-1,0 0-521,2 0 1,-4 2-1,6 2 1,-2 2-623,-4-2 0,-2 3 1,-4 1-1,-3 1 365,-7 5 1,-3 1-1,-2 2 1,0 2 70,0 4 0,-13 2 0,-6 6 457,-6-3 0,2 1 0,-6 5 164,-1 1 1,3-1 962,-2 1 1,8-9 53,-2-3 1,10-4 2089,1-1 587,1-1-2698,1 0 0,10-7-185,12-5 0,-1-3-387,7-2 0,-5-2 0,10-2 87,-4-1-194,6-9 0,-4 11-1126,8-9 1,-7 6-714,7-5 0,0 1 292,5-1 0,-1-4-679,-5 3 1,3 4 1051,-8 3 1,6-3-2214,-6 2 1630,0-7 1572,-6 11 0,0-13 0,0 5 0</inkml:trace>
  <inkml:trace contextRef="#ctx0" brushRef="#br0" timeOffset="11">17777 5949 7853,'-8'-10'0,"4"1"4419,-7 3 0,7-4-1952,-2-7 0,4 6-336,2-1 0,10 9-973,7-3-616,0 4 0,10 4 0,-6 4-542,2 5 0,7 12 0,-5 4 0,6 9 0,-2 4 0,-8 4 0,9 8 0,-7-1 0,-2 3 0,-9 3 0,-5-2-1178,-7 8 1,-2-5 67,-3 5 0,-7-8-2204,-11 2 1,-11-3 3313,-12-2 0,-4-1 0,-1 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9T01:54:26.340"/>
    </inkml:context>
    <inkml:brush xml:id="br0">
      <inkml:brushProperty name="height" value="0.053" units="cm"/>
      <inkml:brushProperty name="color" value="#FF0000"/>
    </inkml:brush>
  </inkml:definitions>
  <inkml:trace contextRef="#ctx0" brushRef="#br0">1359 8665 7853,'-28'10'263,"-1"-4"0,0-3 0,-7 3 0,-4 8 123,-6 7 0,2 5 1,-2 11-1,-2 3 0,1 7 1,1 9 429,6 7 1,7 2-1,10-2 1,12-6-816,7-3 0,8-3 1,7-3-1,14-6-824,11-8 1,10-13 0,12-3 0,7-11-2323,7-5 3145,-1-2 0,13-7 0,-6-3 0</inkml:trace>
  <inkml:trace contextRef="#ctx0" brushRef="#br0" timeOffset="1">1532 8837 7853,'-18'-17'686,"1"0"0,6 5 0,1 1 0,2-2 430,5-3 1,8 5-1,7 1 1,3 1-604,2-1 1,2 6 0,4-1-1,4 3-631,0 2 0,4 0 0,-8 0 0,-1 2-235,3 3 0,-6 5 0,4 7 0,-5 0-21,-7 1 0,2 1 0,-7 4 0,-2 3 123,-2 1 0,-4 5 0,-2-5 0,-3 2 271,-3 0 1,-3-3-1,-8 5 357,-2-2 0,-2-8 64,2 1 0,2-1 0,-6-1 1,2-1 596,4-4 0,2-4-342,2 1 449,0 3-307,7-13-19,-5 6-936,13-8 163,-6 0 1,16 0-528,3 0 0,5-6 392,1 0 0,2-1-1064,4 1 0,4 2 568,7-7 1,0 7-717,1-2 1,-1-2 628,1 3 0,1-7-340,4 6 1,-2-1 296,8 1 1,-6 4 63,6-4 0,-7 3-464,1-3 1115,-4 4 0,6-13 0,2 5 0</inkml:trace>
  <inkml:trace contextRef="#ctx0" brushRef="#br0" timeOffset="2">2375 9112 7853,'0'-17'1018,"0"0"90,0 0 1,2 2 690,3 3 0,-3-3 1128,4 3-1798,-4 5-531,-2-1 1,-2 27-643,-4 4 1,-3 17 115,-8-5 0,-3 5-1380,-2 0 1,2-2 829,-3 8 0,4-10 478,2-1 0,0 7 0,0-6 0</inkml:trace>
  <inkml:trace contextRef="#ctx0" brushRef="#br0" timeOffset="3">2736 8683 7853,'0'-18'839,"0"1"0,0 0 0,0 0 667,0 0 0,0-1 0,2 3 0,2 2-612,2 1 1,1 7 0,-1-5 0,6 2-771,3 5 0,2-5 0,0 2 0,0 2-492,1 2 0,5 4 1,0 2-1,-2 4-986,-2 1 1,-2-3 0,-2 6 0,-1 1 168,-3 2 0,-1 2 465,1 1 1,-3-1 393,-8 0 1,0 0 7,0 0 332,0 1 0,-2-3 1,-4-2-337,-5-1 1526,3 7 226,-7 0 1,5 6-706,-7-8 0,5 0 576,1 0 0,7 0-640,-2 1 0,-1-7 245,1 1 0,0-1-366,6 6 1,0-5 153,0-1 0,2-5-286,4 5 1,2-5-136,3 6 1,6-3-95,0 3 1,1 1 45,5-7 1,-2-1-132,2-5 1,-4 2 73,4 4 0,-4-4-296,-2 4 0,-6-4 1,-1 0 97,-2 3-685,-3-3 1,-5 13 364,0-3 1,-9 5-511,-8 6 1,-2-2 0,-10 6-340,-2-2 0,4-2 269,-1-6-107,-1 0 1,-3-2 0,3-1-212,6-3 1,-2-7-1317,2 2 2564,0-5 0,6-1 0,0 0 0</inkml:trace>
  <inkml:trace contextRef="#ctx0" brushRef="#br0" timeOffset="4">3562 9044 10743,'-15'2'1393,"2"3"0,1 7-1208,-1 3 0,-3 4 0,-1 2 0,-2 4-774,-4 2 0,2 7-566,-8 6 1,1 8 1154,-7-2 0,-7 3 0,-2 3 0</inkml:trace>
  <inkml:trace contextRef="#ctx0" brushRef="#br0" timeOffset="5">4044 8579 7853,'-17'-7'1043,"2"3"0,1-6 0,5 1 0,-1 1 1211,0 1 1,5 1-2135,-7 6 1,7 0 0,-7 2 0,1 3-78,1 7 1,-5 3 0,5 4-1,-1 4 157,-1 6 0,1-2 0,-6 1 1,1 3 143,5 1 0,-5-3 0,5 0 0,-2-1-15,1-1 0,3-2 1,5-8-1,-2 2-335,2 4 0,-3-10 1,1 5-1,2-3-181,2 0 1,4-3-210,4-1 0,3-1 1,8 3-1,1-3-293,-1-3 0,0 1 414,0-2 1,2-4 22,4 3 315,4-3 1,2-2-125,0 0 1,-1-7 1,7-5 0,-1 3 1,0-3-167,1-1 180,-1-3 1,1 1-6,-1 4 1,-5-5-327,-1 5 0,-6 1 96,0-1 0,-2 1-649,-3-1 553,0-4 0,-2 11-221,-3-8 1,-5 7-725,-7-7 0,0 6 453,0-5 1,-7 1 867,-5-1 0,-11-12 0,-3 4 0</inkml:trace>
  <inkml:trace contextRef="#ctx0" brushRef="#br0" timeOffset="6">4096 8648 7853,'-2'10'1698,"-4"-3"-559,-5 1 0,1-6 48,-1 4 102,-1 3 1,-5 1 894,0 7 1,5 6-1029,1 0 1,5 13-555,-6-2 0,7 14-248,-7 4 1,8 7-130,-1 10 1,3-6-810,2 0 0,0-4 0,2-2 261,3-11-1152,-3-8 1,14-5 396,-5-4 1,-1-10-750,1-8 0,1-9-17,5-2 1,0-9 961,0-14 882,0-4 0,1-15 0,-1-2 0</inkml:trace>
  <inkml:trace contextRef="#ctx0" brushRef="#br0" timeOffset="7">4199 8476 7853,'0'-17'2393,"0"0"1,0 0 799,0-1 0,2 3 0,4 4-1835,5 5 1,4 4 0,4 2-567,4 0 0,4 2 0,6 6-792,-5 9 0,5 10 0,-4 13 0,-5 4 0,5 13 0,-12 0 0,2 10 0,-13 2 0,0 2 0,-6 11 0,0 6 0,-10-8-1309,-7 6 557,0-12 0,-21 3-590,3-9 1,-5-1-1403,0-4 1,-8-5 2743,-15-12 0,6-1 0,-16-3 0,-2 4 0,-3-4 0,-2-4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fld id="{C7E9A20B-E167-2E4E-BE18-AA9F5BF5FBB1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154" tIns="48580" rIns="97154" bIns="485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notes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343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8413" y="727075"/>
            <a:ext cx="4781550" cy="35861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2151473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65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14EF427-E3A8-D542-91D3-317F25033480}" type="slidenum"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rPr>
              <a:pPr marL="0" marR="0" lvl="0" indent="0" algn="r" defTabSz="965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1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ＭＳ Ｐゴシック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8413" y="727075"/>
            <a:ext cx="4781550" cy="3586163"/>
          </a:xfrm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3302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7206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22820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SCTP: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Stream Control Transmission Protocol</a:t>
            </a:r>
          </a:p>
          <a:p>
            <a:r>
              <a:rPr lang="en-US" dirty="0"/>
              <a:t>MPTCP:</a:t>
            </a:r>
            <a:r>
              <a:rPr lang="en-US" baseline="0" dirty="0"/>
              <a:t> Multipath TCP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SST: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Structured Stream Transport</a:t>
            </a:r>
          </a:p>
          <a:p>
            <a:r>
              <a:rPr lang="en-US" baseline="0" dirty="0"/>
              <a:t>RDP: Remote Desktop Protocol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DCCP: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Datagram Congestion Control Protocol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052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7155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234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00C7672D-F7A8-8D43-80DB-7EE57F86E28F}" type="slidenum">
              <a:rPr lang="en-US" sz="1300" b="0">
                <a:latin typeface="Times New Roman" charset="0"/>
              </a:rPr>
              <a:pPr eaLnBrk="1" hangingPunct="1"/>
              <a:t>13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285698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85699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63799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962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Q: What’s the throughput?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9800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598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762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7A6ABD5D-5C43-3B8B-4A47-61649E3D115D}"/>
              </a:ext>
            </a:extLst>
          </p:cNvPr>
          <p:cNvGrpSpPr/>
          <p:nvPr/>
        </p:nvGrpSpPr>
        <p:grpSpPr>
          <a:xfrm>
            <a:off x="-37202" y="-17808"/>
            <a:ext cx="9251052" cy="6875808"/>
            <a:chOff x="-37202" y="-17808"/>
            <a:chExt cx="9251052" cy="6875808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2FDF3C8-2579-FE76-C255-8D388A2880AF}"/>
                </a:ext>
              </a:extLst>
            </p:cNvPr>
            <p:cNvGrpSpPr/>
            <p:nvPr/>
          </p:nvGrpSpPr>
          <p:grpSpPr>
            <a:xfrm>
              <a:off x="-37202" y="-17808"/>
              <a:ext cx="9244426" cy="1548158"/>
              <a:chOff x="-37202" y="-17808"/>
              <a:chExt cx="9244426" cy="1548158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6D509864-1F3D-8C50-E36A-3487881676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40960" y="-11183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80E07DA5-2FB8-1986-62D0-9BB0764651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7202" y="-17808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766DB696-4315-02EB-D756-79083474CD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05111" y="-635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6" name="Picture 5" descr="Diagram, schematic&#10;&#10;Description automatically generated">
                <a:extLst>
                  <a:ext uri="{FF2B5EF4-FFF2-40B4-BE49-F238E27FC236}">
                    <a16:creationId xmlns:a16="http://schemas.microsoft.com/office/drawing/2014/main" id="{0A6BFE68-C6E3-7A10-DCB8-5FD39DDBA1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19824" y="-11183"/>
                <a:ext cx="787400" cy="952500"/>
              </a:xfrm>
              <a:prstGeom prst="rect">
                <a:avLst/>
              </a:prstGeom>
            </p:spPr>
          </p:pic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743C08E-B7FB-2D84-E28E-CC3A7E03C06F}"/>
                </a:ext>
              </a:extLst>
            </p:cNvPr>
            <p:cNvGrpSpPr/>
            <p:nvPr/>
          </p:nvGrpSpPr>
          <p:grpSpPr>
            <a:xfrm>
              <a:off x="-37202" y="769936"/>
              <a:ext cx="9251052" cy="6088064"/>
              <a:chOff x="-37202" y="769936"/>
              <a:chExt cx="9251052" cy="6088064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3BA3378A-AFC4-1653-B4E5-9C6B3D6766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57525" y="803132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153205CB-0D4F-3284-FBBF-4BC351A30A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0637" y="796507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C72CAB5D-6617-2E21-A6CA-E328F087A6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78163" y="2295524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AC10B77-A31F-38D5-8382-985CF6E443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" y="2288899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A3D89739-FD09-01B4-E7B4-C701FC01DE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57525" y="3832224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73D27228-5C6E-DC91-30A7-0AFAC16936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0637" y="3825599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A5C2DA61-3005-968A-BDF3-075B1EEF41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11737" y="769936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66484D52-BFEA-C60D-525E-8A2E735CE5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98800" y="53213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0EDF70D3-66A0-0672-CB97-8ED9B35050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15050" y="53213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B6A4AD92-9E85-875E-19B0-E18A6D7FBE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11737" y="38100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60FF33F9-2A42-D7B7-13B2-7D74E6EE83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05111" y="2295524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FF948A23-E96A-3660-C39C-A546002B61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53213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20" name="Picture 19" descr="Diagram, schematic&#10;&#10;Description automatically generated">
                <a:extLst>
                  <a:ext uri="{FF2B5EF4-FFF2-40B4-BE49-F238E27FC236}">
                    <a16:creationId xmlns:a16="http://schemas.microsoft.com/office/drawing/2014/main" id="{8B622CB2-32C0-5EFC-FFC0-B7C19B9D93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6200000">
                <a:off x="898" y="5981700"/>
                <a:ext cx="825500" cy="901700"/>
              </a:xfrm>
              <a:prstGeom prst="rect">
                <a:avLst/>
              </a:prstGeom>
            </p:spPr>
          </p:pic>
        </p:grpSp>
      </p:grpSp>
      <p:sp>
        <p:nvSpPr>
          <p:cNvPr id="18440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96" charset="2"/>
              <a:buNone/>
              <a:defRPr/>
            </a:lvl1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8441" name="Rectangle 9"/>
          <p:cNvSpPr>
            <a:spLocks noGrp="1" noChangeArrowheads="1"/>
          </p:cNvSpPr>
          <p:nvPr>
            <p:ph type="ctrTitle"/>
          </p:nvPr>
        </p:nvSpPr>
        <p:spPr>
          <a:xfrm>
            <a:off x="685800" y="1143000"/>
            <a:ext cx="7772400" cy="20574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830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D56800-6334-BE84-16B6-7402A699A2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D93E6A-DFC3-F407-380A-65EE47A5BD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177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46FBCA-2034-049B-7243-88D60D4898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D3DFD9-081B-E3C1-6BDB-F23B9D5426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849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8B70F-5298-827C-1F78-46F17904375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621DC-16FE-7694-2F83-79847B007A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381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A258BA9-ABEF-2D2D-F1E7-F2356DD5037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E6F0A74-64F4-300F-53EB-BC2B1B6CDC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807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55C166-3163-C0BB-0B5E-A60433A07D1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F18343-21BC-17F6-D79A-F8EF5B15B4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341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0865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0831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07096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19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5600" y="152400"/>
            <a:ext cx="2133600" cy="58674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248400" cy="58674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5357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title style</a:t>
            </a:r>
            <a:endParaRPr/>
          </a:p>
        </p:txBody>
      </p:sp>
      <p:sp>
        <p:nvSpPr>
          <p:cNvPr id="11" name="Shape 1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 marL="937584" indent="-401822">
              <a:spcBef>
                <a:spcPts val="1687"/>
              </a:spcBef>
              <a:buChar char="-"/>
              <a:defRPr sz="2500" i="1"/>
            </a:lvl2pPr>
            <a:lvl3pPr marL="1250112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3pPr>
            <a:lvl4pPr marL="1562640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4pPr>
            <a:lvl5pPr marL="1875168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C076283-46FE-75A6-72E4-8CE13BC3D9C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6B11F8-0795-6902-0730-FC53F014C6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908739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819F1C90-BCC2-4A38-9B30-6926C9F242B2}" type="datetime1">
              <a:rPr lang="en-US" altLang="en-US" smtClean="0"/>
              <a:t>9/28/25</a:t>
            </a:fld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05800" y="6400800"/>
            <a:ext cx="625475" cy="457200"/>
          </a:xfrm>
        </p:spPr>
        <p:txBody>
          <a:bodyPr/>
          <a:lstStyle>
            <a:lvl1pPr>
              <a:defRPr/>
            </a:lvl1pPr>
          </a:lstStyle>
          <a:p>
            <a:fld id="{C9399570-805F-4B6D-83F4-39FC9E49A71F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93258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5D9187BA-81F8-B3C4-BE54-802E5CB4AADB}"/>
              </a:ext>
            </a:extLst>
          </p:cNvPr>
          <p:cNvGrpSpPr/>
          <p:nvPr/>
        </p:nvGrpSpPr>
        <p:grpSpPr>
          <a:xfrm>
            <a:off x="-37202" y="769936"/>
            <a:ext cx="9251052" cy="6088064"/>
            <a:chOff x="-37202" y="769936"/>
            <a:chExt cx="9251052" cy="608806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BC71FB7-FA16-2D27-CACE-D02A556CD8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57525" y="803132"/>
              <a:ext cx="3098800" cy="153670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7861273-92E0-492B-CA3C-71BA2BBCF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0637" y="796507"/>
              <a:ext cx="3098800" cy="15367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6201456-9595-A276-41A8-30205C2FEC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78163" y="2295524"/>
              <a:ext cx="3098800" cy="153670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F482A01-0A49-6750-039E-5DF6F6D8CD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" y="2288899"/>
              <a:ext cx="3098800" cy="15367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1AB3331-87E4-5291-9B07-04FBF9319A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57525" y="3832224"/>
              <a:ext cx="3098800" cy="15367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4603EAB-DE9B-8605-F5EA-86EE04BB7A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0637" y="3825599"/>
              <a:ext cx="3098800" cy="15367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8BC458A-594C-2231-0980-29D3BCD49A3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1737" y="769936"/>
              <a:ext cx="3098800" cy="15367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6605DDB-0D60-730A-9DC4-C473EFEB16D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98800" y="5321300"/>
              <a:ext cx="3098800" cy="15367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E3E6929-9A7F-4C0B-5CAA-0969F1F1AD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5050" y="5321300"/>
              <a:ext cx="3098800" cy="15367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51D58DE-9738-3628-3BB8-CDE6E50154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1737" y="3810000"/>
              <a:ext cx="3098800" cy="15367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567987B-DB8A-1727-6CAC-CEB7FF1A9C3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05111" y="2295524"/>
              <a:ext cx="3098800" cy="15367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0D0A162-213F-2600-105C-FE0FC8A8E8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321300"/>
              <a:ext cx="3098800" cy="1536700"/>
            </a:xfrm>
            <a:prstGeom prst="rect">
              <a:avLst/>
            </a:prstGeom>
          </p:spPr>
        </p:pic>
        <p:pic>
          <p:nvPicPr>
            <p:cNvPr id="19" name="Picture 18" descr="Diagram, schematic&#10;&#10;Description automatically generated">
              <a:extLst>
                <a:ext uri="{FF2B5EF4-FFF2-40B4-BE49-F238E27FC236}">
                  <a16:creationId xmlns:a16="http://schemas.microsoft.com/office/drawing/2014/main" id="{DB469211-2D9E-AB17-3FC0-B7AEAAB221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8" y="5981700"/>
              <a:ext cx="825500" cy="901700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C3F89B2-E890-6C43-5892-22AD02C50523}"/>
              </a:ext>
            </a:extLst>
          </p:cNvPr>
          <p:cNvGrpSpPr/>
          <p:nvPr/>
        </p:nvGrpSpPr>
        <p:grpSpPr>
          <a:xfrm>
            <a:off x="-37202" y="-17808"/>
            <a:ext cx="9244426" cy="1548158"/>
            <a:chOff x="-37202" y="-17808"/>
            <a:chExt cx="9244426" cy="1548158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50C326B-E0CE-7E4B-AAB3-6C17E7E24B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40960" y="-11183"/>
              <a:ext cx="3098800" cy="153670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E40EC80-B3CD-B537-331F-0ADE24D7A1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7202" y="-17808"/>
              <a:ext cx="3098800" cy="15367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4A493CE-633E-1F89-D9FA-C4320B1A38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05111" y="-6350"/>
              <a:ext cx="3098800" cy="1536700"/>
            </a:xfrm>
            <a:prstGeom prst="rect">
              <a:avLst/>
            </a:prstGeom>
          </p:spPr>
        </p:pic>
        <p:pic>
          <p:nvPicPr>
            <p:cNvPr id="22" name="Picture 21" descr="Diagram, schematic&#10;&#10;Description automatically generated">
              <a:extLst>
                <a:ext uri="{FF2B5EF4-FFF2-40B4-BE49-F238E27FC236}">
                  <a16:creationId xmlns:a16="http://schemas.microsoft.com/office/drawing/2014/main" id="{63BA936B-D5C9-23EF-D13E-28E80A17AC3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19824" y="-11183"/>
              <a:ext cx="787400" cy="952500"/>
            </a:xfrm>
            <a:prstGeom prst="rect">
              <a:avLst/>
            </a:prstGeom>
          </p:spPr>
        </p:pic>
      </p:grpSp>
      <p:sp>
        <p:nvSpPr>
          <p:cNvPr id="1028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00200"/>
            <a:ext cx="7924800" cy="44196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37" name="Line 13"/>
          <p:cNvSpPr>
            <a:spLocks noChangeShapeType="1"/>
          </p:cNvSpPr>
          <p:nvPr/>
        </p:nvSpPr>
        <p:spPr bwMode="auto">
          <a:xfrm>
            <a:off x="0" y="1371600"/>
            <a:ext cx="8305800" cy="0"/>
          </a:xfrm>
          <a:prstGeom prst="line">
            <a:avLst/>
          </a:prstGeom>
          <a:noFill/>
          <a:ln w="44450">
            <a:solidFill>
              <a:srgbClr val="FFCB05"/>
            </a:solidFill>
            <a:round/>
            <a:headEnd/>
            <a:tailEnd/>
          </a:ln>
          <a:effectLst>
            <a:outerShdw dist="53882" dir="2700000" algn="ctr" rotWithShape="0">
              <a:srgbClr val="D3A600"/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endParaRPr lang="en-US" sz="1200"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7FC9C51-8850-8B4B-97BB-F12E7B15E3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397EC8AD-C9B9-C2A9-BCD1-F1E8E706B6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98365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513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  <p:sldLayoutId id="2147483735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500" b="0">
          <a:solidFill>
            <a:schemeClr val="tx1"/>
          </a:solidFill>
          <a:effectLst/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Ø"/>
        <a:defRPr sz="2800">
          <a:solidFill>
            <a:schemeClr val="accent2"/>
          </a:solidFill>
          <a:latin typeface="+mn-lt"/>
          <a:ea typeface="ＭＳ Ｐゴシック" charset="-128"/>
          <a:cs typeface="ＭＳ Ｐゴシック" charset="-128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q"/>
        <a:defRPr sz="2400">
          <a:solidFill>
            <a:schemeClr val="accent2"/>
          </a:solidFill>
          <a:latin typeface="+mn-lt"/>
          <a:ea typeface="ＭＳ Ｐゴシック" charset="-128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accent2"/>
          </a:solidFill>
          <a:latin typeface="+mn-lt"/>
          <a:ea typeface="ＭＳ Ｐゴシック" charset="-128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n"/>
        <a:defRPr sz="1200">
          <a:solidFill>
            <a:schemeClr val="accent2"/>
          </a:solidFill>
          <a:latin typeface="+mn-lt"/>
          <a:ea typeface="ＭＳ Ｐゴシック" charset="-128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l"/>
        <a:defRPr sz="1200">
          <a:solidFill>
            <a:schemeClr val="accent2"/>
          </a:solidFill>
          <a:latin typeface="+mn-lt"/>
          <a:ea typeface="ＭＳ Ｐゴシック" charset="-128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enryhxu/CSCI4430-ESTR4120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38150" y="3733800"/>
            <a:ext cx="8248650" cy="1220647"/>
          </a:xfrm>
        </p:spPr>
        <p:txBody>
          <a:bodyPr/>
          <a:lstStyle/>
          <a:p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Hong</a:t>
            </a:r>
            <a:r>
              <a:rPr lang="zh-CN" altLang="en-US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Xu,</a:t>
            </a:r>
            <a:r>
              <a:rPr lang="zh-CN" altLang="en-US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Henry</a:t>
            </a: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CSE@CUHK,</a:t>
            </a:r>
            <a:r>
              <a:rPr lang="zh-CN" altLang="en-US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2025</a:t>
            </a: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algn="l"/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Material with thanks to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sz="1800" i="1" dirty="0" err="1">
                <a:latin typeface="Arial" charset="0"/>
                <a:ea typeface="ＭＳ Ｐゴシック" charset="0"/>
                <a:cs typeface="ＭＳ Ｐゴシック" charset="0"/>
              </a:rPr>
              <a:t>Mosharaf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sz="1800" i="1" dirty="0">
                <a:latin typeface="Arial" charset="0"/>
                <a:ea typeface="ＭＳ Ｐゴシック" charset="0"/>
                <a:cs typeface="ＭＳ Ｐゴシック" charset="0"/>
              </a:rPr>
              <a:t>Chowdhury,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Aditya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Akella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Sugih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Jamin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Philip Levis, Sylvia Ratnasamy, Peter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Steenkiste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and many other colleague</a:t>
            </a:r>
            <a:r>
              <a:rPr lang="en-US" altLang="zh-CN" sz="1800" i="1" dirty="0">
                <a:latin typeface="Arial" charset="0"/>
                <a:ea typeface="ＭＳ Ｐゴシック" charset="0"/>
                <a:cs typeface="ＭＳ Ｐゴシック" charset="0"/>
              </a:rPr>
              <a:t>s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.</a:t>
            </a: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-3858" y="1090432"/>
            <a:ext cx="9144000" cy="2286000"/>
          </a:xfrm>
        </p:spPr>
        <p:txBody>
          <a:bodyPr/>
          <a:lstStyle/>
          <a:p>
            <a:pPr algn="ctr"/>
            <a:r>
              <a:rPr lang="en-US" altLang="zh-CN" dirty="0">
                <a:effectLst/>
              </a:rPr>
              <a:t>CSCI4430</a:t>
            </a:r>
            <a:r>
              <a:rPr lang="zh-CN" altLang="en-US" b="1" dirty="0">
                <a:ea typeface="ＭＳ Ｐゴシック" charset="0"/>
              </a:rPr>
              <a:t> </a:t>
            </a:r>
            <a:r>
              <a:rPr lang="en-US" dirty="0"/>
              <a:t>Computer Networks</a:t>
            </a:r>
            <a:b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</a:br>
            <a:br>
              <a:rPr lang="en-US" sz="2400" dirty="0">
                <a:latin typeface="Arial Black" charset="0"/>
                <a:ea typeface="ＭＳ Ｐゴシック" charset="0"/>
                <a:cs typeface="ＭＳ Ｐゴシック" charset="0"/>
              </a:rPr>
            </a:b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Lecture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6: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Transport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Layer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–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Basics</a:t>
            </a:r>
            <a:endParaRPr lang="en-US" b="1" dirty="0">
              <a:effectLst/>
              <a:latin typeface="Arial" panose="020B0604020202020204" pitchFamily="34" charset="0"/>
              <a:ea typeface="ＭＳ Ｐゴシック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Transport layer basics</a:t>
            </a:r>
          </a:p>
          <a:p>
            <a:r>
              <a:rPr lang="en-US" dirty="0"/>
              <a:t>UDP</a:t>
            </a:r>
          </a:p>
          <a:p>
            <a:r>
              <a:rPr lang="en-US" dirty="0"/>
              <a:t>Designing a reliable transport protocol</a:t>
            </a:r>
          </a:p>
        </p:txBody>
      </p:sp>
    </p:spTree>
    <p:extLst>
      <p:ext uri="{BB962C8B-B14F-4D97-AF65-F5344CB8AC3E}">
        <p14:creationId xmlns:p14="http://schemas.microsoft.com/office/powerpoint/2010/main" val="631649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Transport layer</a:t>
            </a:r>
          </a:p>
        </p:txBody>
      </p:sp>
      <p:sp>
        <p:nvSpPr>
          <p:cNvPr id="44" name="Content Placeholder 4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Layer at </a:t>
            </a:r>
            <a:r>
              <a:rPr lang="en-US" dirty="0">
                <a:solidFill>
                  <a:srgbClr val="0000FF"/>
                </a:solidFill>
              </a:rPr>
              <a:t>end hosts</a:t>
            </a:r>
            <a:r>
              <a:rPr lang="en-US" dirty="0"/>
              <a:t>, between the application and network layer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066800" y="3822700"/>
            <a:ext cx="1703388" cy="381000"/>
          </a:xfrm>
          <a:prstGeom prst="rect">
            <a:avLst/>
          </a:prstGeom>
          <a:solidFill>
            <a:srgbClr val="0000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233488" y="3806825"/>
            <a:ext cx="136795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Transport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066800" y="4203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1325563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066800" y="4584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1331913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1066800" y="4965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1311275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6477000" y="3822700"/>
            <a:ext cx="1703388" cy="381000"/>
          </a:xfrm>
          <a:prstGeom prst="rect">
            <a:avLst/>
          </a:prstGeom>
          <a:solidFill>
            <a:srgbClr val="0000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6643688" y="3806825"/>
            <a:ext cx="136795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Transport</a:t>
            </a:r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6477000" y="4203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7" name="Text Box 15"/>
          <p:cNvSpPr txBox="1">
            <a:spLocks noChangeArrowheads="1"/>
          </p:cNvSpPr>
          <p:nvPr/>
        </p:nvSpPr>
        <p:spPr bwMode="auto">
          <a:xfrm>
            <a:off x="6735763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18" name="Rectangle 16"/>
          <p:cNvSpPr>
            <a:spLocks noChangeArrowheads="1"/>
          </p:cNvSpPr>
          <p:nvPr/>
        </p:nvSpPr>
        <p:spPr bwMode="auto">
          <a:xfrm>
            <a:off x="6477000" y="4584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9" name="Text Box 17"/>
          <p:cNvSpPr txBox="1">
            <a:spLocks noChangeArrowheads="1"/>
          </p:cNvSpPr>
          <p:nvPr/>
        </p:nvSpPr>
        <p:spPr bwMode="auto">
          <a:xfrm>
            <a:off x="6742113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20" name="Rectangle 18"/>
          <p:cNvSpPr>
            <a:spLocks noChangeArrowheads="1"/>
          </p:cNvSpPr>
          <p:nvPr/>
        </p:nvSpPr>
        <p:spPr bwMode="auto">
          <a:xfrm>
            <a:off x="6477000" y="4965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1" name="Text Box 19"/>
          <p:cNvSpPr txBox="1">
            <a:spLocks noChangeArrowheads="1"/>
          </p:cNvSpPr>
          <p:nvPr/>
        </p:nvSpPr>
        <p:spPr bwMode="auto">
          <a:xfrm>
            <a:off x="6721475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sp>
        <p:nvSpPr>
          <p:cNvPr id="22" name="Rectangle 20"/>
          <p:cNvSpPr>
            <a:spLocks noChangeArrowheads="1"/>
          </p:cNvSpPr>
          <p:nvPr/>
        </p:nvSpPr>
        <p:spPr bwMode="auto">
          <a:xfrm>
            <a:off x="3706813" y="4203700"/>
            <a:ext cx="1703387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3" name="Text Box 21"/>
          <p:cNvSpPr txBox="1">
            <a:spLocks noChangeArrowheads="1"/>
          </p:cNvSpPr>
          <p:nvPr/>
        </p:nvSpPr>
        <p:spPr bwMode="auto">
          <a:xfrm>
            <a:off x="3965575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24" name="Rectangle 22"/>
          <p:cNvSpPr>
            <a:spLocks noChangeArrowheads="1"/>
          </p:cNvSpPr>
          <p:nvPr/>
        </p:nvSpPr>
        <p:spPr bwMode="auto">
          <a:xfrm>
            <a:off x="3706813" y="4584700"/>
            <a:ext cx="1703387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5" name="Text Box 23"/>
          <p:cNvSpPr txBox="1">
            <a:spLocks noChangeArrowheads="1"/>
          </p:cNvSpPr>
          <p:nvPr/>
        </p:nvSpPr>
        <p:spPr bwMode="auto">
          <a:xfrm>
            <a:off x="3971925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26" name="Rectangle 24"/>
          <p:cNvSpPr>
            <a:spLocks noChangeArrowheads="1"/>
          </p:cNvSpPr>
          <p:nvPr/>
        </p:nvSpPr>
        <p:spPr bwMode="auto">
          <a:xfrm>
            <a:off x="3706813" y="4965700"/>
            <a:ext cx="1703387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7" name="Text Box 25"/>
          <p:cNvSpPr txBox="1">
            <a:spLocks noChangeArrowheads="1"/>
          </p:cNvSpPr>
          <p:nvPr/>
        </p:nvSpPr>
        <p:spPr bwMode="auto">
          <a:xfrm>
            <a:off x="3951288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cxnSp>
        <p:nvCxnSpPr>
          <p:cNvPr id="28" name="AutoShape 26"/>
          <p:cNvCxnSpPr>
            <a:cxnSpLocks noChangeShapeType="1"/>
          </p:cNvCxnSpPr>
          <p:nvPr/>
        </p:nvCxnSpPr>
        <p:spPr bwMode="auto">
          <a:xfrm>
            <a:off x="2782888" y="5156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9" name="AutoShape 27"/>
          <p:cNvCxnSpPr>
            <a:cxnSpLocks noChangeShapeType="1"/>
          </p:cNvCxnSpPr>
          <p:nvPr/>
        </p:nvCxnSpPr>
        <p:spPr bwMode="auto">
          <a:xfrm>
            <a:off x="2782888" y="4775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0" name="AutoShape 28"/>
          <p:cNvCxnSpPr>
            <a:cxnSpLocks noChangeShapeType="1"/>
          </p:cNvCxnSpPr>
          <p:nvPr/>
        </p:nvCxnSpPr>
        <p:spPr bwMode="auto">
          <a:xfrm>
            <a:off x="2782888" y="4394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1" name="AutoShape 29"/>
          <p:cNvCxnSpPr>
            <a:cxnSpLocks noChangeShapeType="1"/>
          </p:cNvCxnSpPr>
          <p:nvPr/>
        </p:nvCxnSpPr>
        <p:spPr bwMode="auto">
          <a:xfrm>
            <a:off x="5422900" y="5156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2" name="AutoShape 30"/>
          <p:cNvCxnSpPr>
            <a:cxnSpLocks noChangeShapeType="1"/>
          </p:cNvCxnSpPr>
          <p:nvPr/>
        </p:nvCxnSpPr>
        <p:spPr bwMode="auto">
          <a:xfrm>
            <a:off x="5422900" y="4775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3" name="AutoShape 31"/>
          <p:cNvCxnSpPr>
            <a:cxnSpLocks noChangeShapeType="1"/>
          </p:cNvCxnSpPr>
          <p:nvPr/>
        </p:nvCxnSpPr>
        <p:spPr bwMode="auto">
          <a:xfrm>
            <a:off x="5422900" y="4394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4" name="AutoShape 32"/>
          <p:cNvCxnSpPr>
            <a:cxnSpLocks noChangeShapeType="1"/>
          </p:cNvCxnSpPr>
          <p:nvPr/>
        </p:nvCxnSpPr>
        <p:spPr bwMode="auto">
          <a:xfrm>
            <a:off x="2782888" y="4013200"/>
            <a:ext cx="3681412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6" name="Rectangle 34"/>
          <p:cNvSpPr>
            <a:spLocks noChangeArrowheads="1"/>
          </p:cNvSpPr>
          <p:nvPr/>
        </p:nvSpPr>
        <p:spPr bwMode="auto">
          <a:xfrm>
            <a:off x="1066800" y="3441700"/>
            <a:ext cx="1703388" cy="381000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37" name="Text Box 35"/>
          <p:cNvSpPr txBox="1">
            <a:spLocks noChangeArrowheads="1"/>
          </p:cNvSpPr>
          <p:nvPr/>
        </p:nvSpPr>
        <p:spPr bwMode="auto">
          <a:xfrm>
            <a:off x="1143000" y="3441700"/>
            <a:ext cx="1581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Application</a:t>
            </a:r>
          </a:p>
        </p:txBody>
      </p:sp>
      <p:sp>
        <p:nvSpPr>
          <p:cNvPr id="38" name="Rectangle 36"/>
          <p:cNvSpPr>
            <a:spLocks noChangeArrowheads="1"/>
          </p:cNvSpPr>
          <p:nvPr/>
        </p:nvSpPr>
        <p:spPr bwMode="auto">
          <a:xfrm>
            <a:off x="6477000" y="3441700"/>
            <a:ext cx="1703388" cy="381000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39" name="Text Box 37"/>
          <p:cNvSpPr txBox="1">
            <a:spLocks noChangeArrowheads="1"/>
          </p:cNvSpPr>
          <p:nvPr/>
        </p:nvSpPr>
        <p:spPr bwMode="auto">
          <a:xfrm>
            <a:off x="6510338" y="3441700"/>
            <a:ext cx="1581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Application</a:t>
            </a:r>
          </a:p>
        </p:txBody>
      </p:sp>
      <p:cxnSp>
        <p:nvCxnSpPr>
          <p:cNvPr id="40" name="AutoShape 38"/>
          <p:cNvCxnSpPr>
            <a:cxnSpLocks noChangeShapeType="1"/>
          </p:cNvCxnSpPr>
          <p:nvPr/>
        </p:nvCxnSpPr>
        <p:spPr bwMode="auto">
          <a:xfrm>
            <a:off x="2770188" y="3632200"/>
            <a:ext cx="3740150" cy="9525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41" name="Text Box 39"/>
          <p:cNvSpPr txBox="1">
            <a:spLocks noChangeArrowheads="1"/>
          </p:cNvSpPr>
          <p:nvPr/>
        </p:nvSpPr>
        <p:spPr bwMode="auto">
          <a:xfrm>
            <a:off x="817399" y="5499100"/>
            <a:ext cx="2200603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2800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End system</a:t>
            </a:r>
          </a:p>
        </p:txBody>
      </p:sp>
      <p:sp>
        <p:nvSpPr>
          <p:cNvPr id="42" name="Text Box 40"/>
          <p:cNvSpPr txBox="1">
            <a:spLocks noChangeArrowheads="1"/>
          </p:cNvSpPr>
          <p:nvPr/>
        </p:nvSpPr>
        <p:spPr bwMode="auto">
          <a:xfrm>
            <a:off x="6229187" y="5499100"/>
            <a:ext cx="2200603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280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End system</a:t>
            </a:r>
          </a:p>
        </p:txBody>
      </p:sp>
      <p:sp>
        <p:nvSpPr>
          <p:cNvPr id="43" name="Text Box 41"/>
          <p:cNvSpPr txBox="1">
            <a:spLocks noChangeArrowheads="1"/>
          </p:cNvSpPr>
          <p:nvPr/>
        </p:nvSpPr>
        <p:spPr bwMode="auto">
          <a:xfrm>
            <a:off x="3887818" y="5499100"/>
            <a:ext cx="1339790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280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Switch</a:t>
            </a:r>
          </a:p>
        </p:txBody>
      </p:sp>
      <p:sp>
        <p:nvSpPr>
          <p:cNvPr id="45" name="Freeform 42"/>
          <p:cNvSpPr>
            <a:spLocks/>
          </p:cNvSpPr>
          <p:nvPr/>
        </p:nvSpPr>
        <p:spPr bwMode="auto">
          <a:xfrm>
            <a:off x="2667000" y="3457612"/>
            <a:ext cx="3866424" cy="1723988"/>
          </a:xfrm>
          <a:custGeom>
            <a:avLst/>
            <a:gdLst>
              <a:gd name="T0" fmla="*/ 0 w 2352"/>
              <a:gd name="T1" fmla="*/ 0 h 1968"/>
              <a:gd name="T2" fmla="*/ 0 w 2352"/>
              <a:gd name="T3" fmla="*/ 2147483647 h 1968"/>
              <a:gd name="T4" fmla="*/ 2147483647 w 2352"/>
              <a:gd name="T5" fmla="*/ 2147483647 h 1968"/>
              <a:gd name="T6" fmla="*/ 2147483647 w 2352"/>
              <a:gd name="T7" fmla="*/ 2147483647 h 1968"/>
              <a:gd name="T8" fmla="*/ 2147483647 w 2352"/>
              <a:gd name="T9" fmla="*/ 2147483647 h 1968"/>
              <a:gd name="T10" fmla="*/ 2147483647 w 2352"/>
              <a:gd name="T11" fmla="*/ 2147483647 h 1968"/>
              <a:gd name="T12" fmla="*/ 2147483647 w 2352"/>
              <a:gd name="T13" fmla="*/ 2147483647 h 1968"/>
              <a:gd name="T14" fmla="*/ 2147483647 w 2352"/>
              <a:gd name="T15" fmla="*/ 2147483647 h 1968"/>
              <a:gd name="T16" fmla="*/ 2147483647 w 2352"/>
              <a:gd name="T17" fmla="*/ 2147483647 h 1968"/>
              <a:gd name="T18" fmla="*/ 2147483647 w 2352"/>
              <a:gd name="T19" fmla="*/ 0 h 1968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2352"/>
              <a:gd name="T31" fmla="*/ 0 h 1968"/>
              <a:gd name="T32" fmla="*/ 2352 w 2352"/>
              <a:gd name="T33" fmla="*/ 1968 h 1968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2352" h="1968">
                <a:moveTo>
                  <a:pt x="0" y="0"/>
                </a:moveTo>
                <a:lnTo>
                  <a:pt x="0" y="1824"/>
                </a:lnTo>
                <a:lnTo>
                  <a:pt x="96" y="1968"/>
                </a:lnTo>
                <a:lnTo>
                  <a:pt x="864" y="1968"/>
                </a:lnTo>
                <a:lnTo>
                  <a:pt x="864" y="1200"/>
                </a:lnTo>
                <a:lnTo>
                  <a:pt x="1488" y="1200"/>
                </a:lnTo>
                <a:lnTo>
                  <a:pt x="1488" y="1968"/>
                </a:lnTo>
                <a:lnTo>
                  <a:pt x="2256" y="1968"/>
                </a:lnTo>
                <a:lnTo>
                  <a:pt x="2352" y="1824"/>
                </a:lnTo>
                <a:lnTo>
                  <a:pt x="2352" y="0"/>
                </a:lnTo>
              </a:path>
            </a:pathLst>
          </a:custGeom>
          <a:noFill/>
          <a:ln w="50800">
            <a:solidFill>
              <a:srgbClr val="D3A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90474" tIns="44444" rIns="90474" bIns="44444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2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a transport layer? </a:t>
            </a:r>
            <a:endParaRPr lang="en-US" dirty="0"/>
          </a:p>
        </p:txBody>
      </p:sp>
      <p:sp>
        <p:nvSpPr>
          <p:cNvPr id="11038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IP addresses capture hosts, but end-to-end communication happens between applications</a:t>
            </a:r>
          </a:p>
          <a:p>
            <a:pPr lvl="1"/>
            <a:r>
              <a:rPr lang="en-US" dirty="0"/>
              <a:t>Need a way to decide which packets go to which applications (multiplexing/demultiplexing)</a:t>
            </a:r>
          </a:p>
          <a:p>
            <a:r>
              <a:rPr lang="en-US" dirty="0"/>
              <a:t>IP provides a weak service model (best-effort)</a:t>
            </a:r>
          </a:p>
          <a:p>
            <a:pPr lvl="1"/>
            <a:r>
              <a:rPr lang="en-US" dirty="0"/>
              <a:t>Packets can be corrupted, delayed, dropped, reordered, duplicated </a:t>
            </a:r>
          </a:p>
          <a:p>
            <a:pPr lvl="1"/>
            <a:r>
              <a:rPr lang="en-US" dirty="0"/>
              <a:t>No guidance on how much traffic to send and when</a:t>
            </a:r>
          </a:p>
          <a:p>
            <a:pPr lvl="1"/>
            <a:r>
              <a:rPr lang="en-US" dirty="0"/>
              <a:t>Dealing with this is tedious for application developers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060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387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of the transport layer</a:t>
            </a:r>
          </a:p>
        </p:txBody>
      </p:sp>
      <p:sp>
        <p:nvSpPr>
          <p:cNvPr id="11038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00FF"/>
                </a:solidFill>
              </a:rPr>
              <a:t>1.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rgbClr val="0000FF"/>
                </a:solidFill>
              </a:rPr>
              <a:t>Communication between processes</a:t>
            </a:r>
          </a:p>
          <a:p>
            <a:pPr lvl="1"/>
            <a:r>
              <a:rPr lang="en-US" dirty="0"/>
              <a:t>Mux and demux from/to application processes</a:t>
            </a:r>
          </a:p>
          <a:p>
            <a:pPr lvl="1"/>
            <a:r>
              <a:rPr lang="en-US" dirty="0"/>
              <a:t>Implemented using </a:t>
            </a:r>
            <a:r>
              <a:rPr lang="en-US" i="1" dirty="0">
                <a:solidFill>
                  <a:srgbClr val="0000FF"/>
                </a:solidFill>
              </a:rPr>
              <a:t>ports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Multiplexing (Mux)</a:t>
            </a:r>
          </a:p>
          <a:p>
            <a:pPr lvl="2"/>
            <a:r>
              <a:rPr lang="en-US" dirty="0"/>
              <a:t>Gather</a:t>
            </a:r>
            <a:r>
              <a:rPr lang="en-US" altLang="zh-CN" dirty="0"/>
              <a:t>ing</a:t>
            </a:r>
            <a:r>
              <a:rPr lang="en-US" dirty="0"/>
              <a:t> and combining data chunks at the source from different applications and delivering to the network layer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Demultiplexing (</a:t>
            </a:r>
            <a:r>
              <a:rPr lang="en-US" dirty="0" err="1">
                <a:solidFill>
                  <a:srgbClr val="0000FF"/>
                </a:solidFill>
              </a:rPr>
              <a:t>Demux</a:t>
            </a:r>
            <a:r>
              <a:rPr lang="en-US" dirty="0">
                <a:solidFill>
                  <a:srgbClr val="0000FF"/>
                </a:solidFill>
              </a:rPr>
              <a:t>)</a:t>
            </a:r>
          </a:p>
          <a:p>
            <a:pPr lvl="2"/>
            <a:r>
              <a:rPr lang="en-US" dirty="0"/>
              <a:t>Delivering correct data to corresponding sockets from a multiplexed stream</a:t>
            </a:r>
            <a:endParaRPr lang="en-US" i="1" dirty="0">
              <a:solidFill>
                <a:srgbClr val="0000FF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154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387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Freeform 157">
            <a:extLst>
              <a:ext uri="{FF2B5EF4-FFF2-40B4-BE49-F238E27FC236}">
                <a16:creationId xmlns:a16="http://schemas.microsoft.com/office/drawing/2014/main" id="{511A693F-4BF3-344C-BDC6-28BAA983976E}"/>
              </a:ext>
            </a:extLst>
          </p:cNvPr>
          <p:cNvSpPr>
            <a:spLocks/>
          </p:cNvSpPr>
          <p:nvPr/>
        </p:nvSpPr>
        <p:spPr bwMode="auto">
          <a:xfrm>
            <a:off x="3831323" y="3536808"/>
            <a:ext cx="414338" cy="1562100"/>
          </a:xfrm>
          <a:custGeom>
            <a:avLst/>
            <a:gdLst>
              <a:gd name="T0" fmla="*/ 0 w 348"/>
              <a:gd name="T1" fmla="*/ 2147483647 h 1312"/>
              <a:gd name="T2" fmla="*/ 2147483647 w 348"/>
              <a:gd name="T3" fmla="*/ 0 h 1312"/>
              <a:gd name="T4" fmla="*/ 2147483647 w 348"/>
              <a:gd name="T5" fmla="*/ 2147483647 h 1312"/>
              <a:gd name="T6" fmla="*/ 2147483647 w 348"/>
              <a:gd name="T7" fmla="*/ 2147483647 h 1312"/>
              <a:gd name="T8" fmla="*/ 0 w 348"/>
              <a:gd name="T9" fmla="*/ 2147483647 h 13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48" h="1312">
                <a:moveTo>
                  <a:pt x="0" y="1306"/>
                </a:moveTo>
                <a:lnTo>
                  <a:pt x="348" y="0"/>
                </a:lnTo>
                <a:lnTo>
                  <a:pt x="342" y="1258"/>
                </a:lnTo>
                <a:lnTo>
                  <a:pt x="180" y="1312"/>
                </a:lnTo>
                <a:lnTo>
                  <a:pt x="0" y="1306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B2B2B2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685800" eaLnBrk="0" hangingPunct="0">
              <a:defRPr/>
            </a:pPr>
            <a:endParaRPr lang="en-US" sz="1200" b="0" kern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3" name="Text Box 37">
            <a:extLst>
              <a:ext uri="{FF2B5EF4-FFF2-40B4-BE49-F238E27FC236}">
                <a16:creationId xmlns:a16="http://schemas.microsoft.com/office/drawing/2014/main" id="{4EEECEF7-BD4D-FD41-9A84-F2FC20AA2A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6496" y="4230943"/>
            <a:ext cx="72167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 defTabSz="685800" eaLnBrk="0" hangingPunct="0">
              <a:defRPr/>
            </a:pPr>
            <a:r>
              <a:rPr lang="en-US" sz="1200" b="0">
                <a:solidFill>
                  <a:srgbClr val="000000"/>
                </a:solidFill>
                <a:latin typeface="Arial" charset="0"/>
                <a:cs typeface="+mn-cs"/>
              </a:rPr>
              <a:t>process</a:t>
            </a:r>
          </a:p>
        </p:txBody>
      </p:sp>
      <p:sp>
        <p:nvSpPr>
          <p:cNvPr id="134" name="Text Box 38">
            <a:extLst>
              <a:ext uri="{FF2B5EF4-FFF2-40B4-BE49-F238E27FC236}">
                <a16:creationId xmlns:a16="http://schemas.microsoft.com/office/drawing/2014/main" id="{FC061EBE-026B-F943-BBD5-748F965BF8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7156" y="3929715"/>
            <a:ext cx="617478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 defTabSz="685800" eaLnBrk="0" hangingPunct="0">
              <a:defRPr/>
            </a:pPr>
            <a:r>
              <a:rPr lang="en-US" sz="1200" b="0" kern="0">
                <a:solidFill>
                  <a:srgbClr val="000000"/>
                </a:solidFill>
                <a:cs typeface="+mn-cs"/>
              </a:rPr>
              <a:t>socket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5AFC3DE-B7EF-9945-9B42-A8FE2028B2CF}"/>
              </a:ext>
            </a:extLst>
          </p:cNvPr>
          <p:cNvGrpSpPr/>
          <p:nvPr/>
        </p:nvGrpSpPr>
        <p:grpSpPr>
          <a:xfrm>
            <a:off x="5262456" y="2098533"/>
            <a:ext cx="3627235" cy="1229917"/>
            <a:chOff x="7016607" y="1655043"/>
            <a:chExt cx="4836313" cy="163988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5BAE722-1B29-F74D-B90E-AAE0C7FE9C2E}"/>
                </a:ext>
              </a:extLst>
            </p:cNvPr>
            <p:cNvSpPr/>
            <p:nvPr/>
          </p:nvSpPr>
          <p:spPr>
            <a:xfrm>
              <a:off x="7016607" y="1945555"/>
              <a:ext cx="4508220" cy="125169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 b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grpSp>
          <p:nvGrpSpPr>
            <p:cNvPr id="135" name="Group 177">
              <a:extLst>
                <a:ext uri="{FF2B5EF4-FFF2-40B4-BE49-F238E27FC236}">
                  <a16:creationId xmlns:a16="http://schemas.microsoft.com/office/drawing/2014/main" id="{0626849A-4E21-EE42-AD9A-55F4D52F11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41220" y="1655043"/>
              <a:ext cx="4711700" cy="1639889"/>
              <a:chOff x="2879" y="903"/>
              <a:chExt cx="2968" cy="1033"/>
            </a:xfrm>
          </p:grpSpPr>
          <p:sp>
            <p:nvSpPr>
              <p:cNvPr id="136" name="Rectangle 41">
                <a:extLst>
                  <a:ext uri="{FF2B5EF4-FFF2-40B4-BE49-F238E27FC236}">
                    <a16:creationId xmlns:a16="http://schemas.microsoft.com/office/drawing/2014/main" id="{1C592E58-CF36-1C40-A0FA-08F6B84985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5" y="1148"/>
                <a:ext cx="2892" cy="78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eaLnBrk="0" hangingPunct="0">
                  <a:lnSpc>
                    <a:spcPct val="80000"/>
                  </a:lnSpc>
                  <a:defRPr/>
                </a:pPr>
                <a:r>
                  <a:rPr lang="en-US" sz="1800" b="0" kern="0" dirty="0">
                    <a:solidFill>
                      <a:srgbClr val="000000"/>
                    </a:solidFill>
                    <a:latin typeface="Calibri" panose="020F0502020204030204"/>
                    <a:cs typeface="+mn-cs"/>
                  </a:rPr>
                  <a:t>use header info to deliver</a:t>
                </a:r>
              </a:p>
              <a:p>
                <a:pPr defTabSz="685800" eaLnBrk="0" hangingPunct="0">
                  <a:lnSpc>
                    <a:spcPct val="80000"/>
                  </a:lnSpc>
                  <a:defRPr/>
                </a:pPr>
                <a:r>
                  <a:rPr lang="en-US" sz="1800" b="0" kern="0" dirty="0">
                    <a:solidFill>
                      <a:srgbClr val="000000"/>
                    </a:solidFill>
                    <a:latin typeface="Calibri" panose="020F0502020204030204"/>
                    <a:cs typeface="+mn-cs"/>
                  </a:rPr>
                  <a:t>received segments to correct </a:t>
                </a:r>
              </a:p>
              <a:p>
                <a:pPr defTabSz="685800" eaLnBrk="0" hangingPunct="0">
                  <a:lnSpc>
                    <a:spcPct val="80000"/>
                  </a:lnSpc>
                  <a:defRPr/>
                </a:pPr>
                <a:r>
                  <a:rPr lang="en-US" sz="1800" b="0" kern="0" dirty="0">
                    <a:solidFill>
                      <a:srgbClr val="000000"/>
                    </a:solidFill>
                    <a:latin typeface="Calibri" panose="020F0502020204030204"/>
                    <a:cs typeface="+mn-cs"/>
                  </a:rPr>
                  <a:t>socket</a:t>
                </a:r>
              </a:p>
            </p:txBody>
          </p:sp>
          <p:grpSp>
            <p:nvGrpSpPr>
              <p:cNvPr id="137" name="Group 42">
                <a:extLst>
                  <a:ext uri="{FF2B5EF4-FFF2-40B4-BE49-F238E27FC236}">
                    <a16:creationId xmlns:a16="http://schemas.microsoft.com/office/drawing/2014/main" id="{4D9CEE39-3F97-1346-9C27-5F6F930F2A8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79" y="903"/>
                <a:ext cx="2593" cy="349"/>
                <a:chOff x="889" y="3594"/>
                <a:chExt cx="2081" cy="349"/>
              </a:xfrm>
            </p:grpSpPr>
            <p:sp>
              <p:nvSpPr>
                <p:cNvPr id="138" name="Rectangle 43">
                  <a:extLst>
                    <a:ext uri="{FF2B5EF4-FFF2-40B4-BE49-F238E27FC236}">
                      <a16:creationId xmlns:a16="http://schemas.microsoft.com/office/drawing/2014/main" id="{8DE7A6B0-1014-184E-9108-23C65807C2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22" y="3732"/>
                  <a:ext cx="1002" cy="21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defTabSz="685800" eaLnBrk="0" hangingPunct="0">
                    <a:defRPr/>
                  </a:pPr>
                  <a:endParaRPr lang="en-US" sz="1350" b="0" kern="0">
                    <a:solidFill>
                      <a:srgbClr val="000000"/>
                    </a:solidFill>
                    <a:latin typeface="Calibri" panose="020F0502020204030204"/>
                    <a:cs typeface="+mn-cs"/>
                  </a:endParaRPr>
                </a:p>
              </p:txBody>
            </p:sp>
            <p:sp>
              <p:nvSpPr>
                <p:cNvPr id="139" name="Text Box 44">
                  <a:extLst>
                    <a:ext uri="{FF2B5EF4-FFF2-40B4-BE49-F238E27FC236}">
                      <a16:creationId xmlns:a16="http://schemas.microsoft.com/office/drawing/2014/main" id="{88457A8D-2DB2-C848-9B52-93F5252D0E1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89" y="3594"/>
                  <a:ext cx="2081" cy="349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9pPr>
                </a:lstStyle>
                <a:p>
                  <a:pPr algn="ctr" defTabSz="685800" eaLnBrk="0" hangingPunct="0">
                    <a:defRPr/>
                  </a:pPr>
                  <a:r>
                    <a:rPr lang="en-US" sz="2100" b="0" i="1" kern="0" dirty="0">
                      <a:solidFill>
                        <a:srgbClr val="CC0000"/>
                      </a:solidFill>
                      <a:latin typeface="Calibri" panose="020F0502020204030204"/>
                      <a:cs typeface="+mn-cs"/>
                    </a:rPr>
                    <a:t>demultiplexing at receiver:</a:t>
                  </a:r>
                </a:p>
              </p:txBody>
            </p:sp>
          </p:grpSp>
        </p:grpSp>
      </p:grpSp>
      <p:grpSp>
        <p:nvGrpSpPr>
          <p:cNvPr id="140" name="Group 57">
            <a:extLst>
              <a:ext uri="{FF2B5EF4-FFF2-40B4-BE49-F238E27FC236}">
                <a16:creationId xmlns:a16="http://schemas.microsoft.com/office/drawing/2014/main" id="{AE84E6CF-C8B6-044E-92D9-9754C3253112}"/>
              </a:ext>
            </a:extLst>
          </p:cNvPr>
          <p:cNvGrpSpPr>
            <a:grpSpLocks/>
          </p:cNvGrpSpPr>
          <p:nvPr/>
        </p:nvGrpSpPr>
        <p:grpSpPr bwMode="auto">
          <a:xfrm>
            <a:off x="7367480" y="3985675"/>
            <a:ext cx="400050" cy="154781"/>
            <a:chOff x="344" y="1846"/>
            <a:chExt cx="336" cy="130"/>
          </a:xfrm>
        </p:grpSpPr>
        <p:sp>
          <p:nvSpPr>
            <p:cNvPr id="141" name="Rectangle 35">
              <a:extLst>
                <a:ext uri="{FF2B5EF4-FFF2-40B4-BE49-F238E27FC236}">
                  <a16:creationId xmlns:a16="http://schemas.microsoft.com/office/drawing/2014/main" id="{7D4B092F-0804-EE4A-94E0-8271C51001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" y="1846"/>
              <a:ext cx="336" cy="13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142" name="Rectangle 54">
              <a:extLst>
                <a:ext uri="{FF2B5EF4-FFF2-40B4-BE49-F238E27FC236}">
                  <a16:creationId xmlns:a16="http://schemas.microsoft.com/office/drawing/2014/main" id="{8FBA6612-C2CB-7A4A-BDE1-C5A9430DFE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" y="1863"/>
              <a:ext cx="110" cy="9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143" name="Rectangle 55">
              <a:extLst>
                <a:ext uri="{FF2B5EF4-FFF2-40B4-BE49-F238E27FC236}">
                  <a16:creationId xmlns:a16="http://schemas.microsoft.com/office/drawing/2014/main" id="{CB6C4329-1870-6D47-94B8-AB8D08DC00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" y="1921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144" name="Rectangle 56">
              <a:extLst>
                <a:ext uri="{FF2B5EF4-FFF2-40B4-BE49-F238E27FC236}">
                  <a16:creationId xmlns:a16="http://schemas.microsoft.com/office/drawing/2014/main" id="{7506EAD6-B400-9A41-8C08-BA08298518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" y="1922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</p:grpSp>
      <p:sp>
        <p:nvSpPr>
          <p:cNvPr id="145" name="Rectangle 23">
            <a:extLst>
              <a:ext uri="{FF2B5EF4-FFF2-40B4-BE49-F238E27FC236}">
                <a16:creationId xmlns:a16="http://schemas.microsoft.com/office/drawing/2014/main" id="{F1314FFD-BA11-A042-BA84-1061E3729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2089" y="3574908"/>
            <a:ext cx="1122760" cy="14859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hangingPunct="0">
              <a:defRPr/>
            </a:pPr>
            <a:endParaRPr lang="en-US" altLang="en-US" sz="1800" b="0">
              <a:solidFill>
                <a:srgbClr val="000000"/>
              </a:solidFill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46" name="Rectangle 24">
            <a:extLst>
              <a:ext uri="{FF2B5EF4-FFF2-40B4-BE49-F238E27FC236}">
                <a16:creationId xmlns:a16="http://schemas.microsoft.com/office/drawing/2014/main" id="{89D8A59C-E128-B74A-B94F-06FAC9DB73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5895" y="3615390"/>
            <a:ext cx="1104900" cy="148471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hangingPunct="0">
              <a:defRPr/>
            </a:pPr>
            <a:endParaRPr lang="en-US" altLang="en-US" sz="1800" b="0" kern="0">
              <a:solidFill>
                <a:srgbClr val="000000"/>
              </a:solidFill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47" name="Line 25">
            <a:extLst>
              <a:ext uri="{FF2B5EF4-FFF2-40B4-BE49-F238E27FC236}">
                <a16:creationId xmlns:a16="http://schemas.microsoft.com/office/drawing/2014/main" id="{B922FB1F-8B1A-1843-A740-29E910EB3E97}"/>
              </a:ext>
            </a:extLst>
          </p:cNvPr>
          <p:cNvSpPr>
            <a:spLocks noChangeShapeType="1"/>
          </p:cNvSpPr>
          <p:nvPr/>
        </p:nvSpPr>
        <p:spPr bwMode="auto">
          <a:xfrm>
            <a:off x="4220657" y="4192843"/>
            <a:ext cx="1095375" cy="2381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algn="ctr" defTabSz="685800" eaLnBrk="0" hangingPunct="0">
              <a:defRPr/>
            </a:pPr>
            <a:endParaRPr lang="en-US" sz="1200" b="0" kern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8" name="Text Box 26">
            <a:extLst>
              <a:ext uri="{FF2B5EF4-FFF2-40B4-BE49-F238E27FC236}">
                <a16:creationId xmlns:a16="http://schemas.microsoft.com/office/drawing/2014/main" id="{BE3B5056-5F96-5946-AEC3-17140DB163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4236" y="4179745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hangingPunct="0">
              <a:lnSpc>
                <a:spcPct val="110000"/>
              </a:lnSpc>
              <a:defRPr/>
            </a:pPr>
            <a:r>
              <a:rPr lang="en-US" altLang="en-US" sz="1050" b="0" kern="0">
                <a:solidFill>
                  <a:srgbClr val="000000"/>
                </a:solidFill>
                <a:cs typeface="+mn-cs"/>
              </a:rPr>
              <a:t>transport</a:t>
            </a:r>
          </a:p>
        </p:txBody>
      </p:sp>
      <p:sp>
        <p:nvSpPr>
          <p:cNvPr id="149" name="Line 27">
            <a:extLst>
              <a:ext uri="{FF2B5EF4-FFF2-40B4-BE49-F238E27FC236}">
                <a16:creationId xmlns:a16="http://schemas.microsoft.com/office/drawing/2014/main" id="{FF1A214D-FBCE-7342-8332-F3FA9C577B4A}"/>
              </a:ext>
            </a:extLst>
          </p:cNvPr>
          <p:cNvSpPr>
            <a:spLocks noChangeShapeType="1"/>
          </p:cNvSpPr>
          <p:nvPr/>
        </p:nvSpPr>
        <p:spPr bwMode="auto">
          <a:xfrm>
            <a:off x="4221849" y="4430968"/>
            <a:ext cx="1092994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algn="ctr" defTabSz="685800" eaLnBrk="0" hangingPunct="0">
              <a:defRPr/>
            </a:pPr>
            <a:endParaRPr lang="en-US" sz="1200" b="0" kern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50" name="Text Box 26">
            <a:extLst>
              <a:ext uri="{FF2B5EF4-FFF2-40B4-BE49-F238E27FC236}">
                <a16:creationId xmlns:a16="http://schemas.microsoft.com/office/drawing/2014/main" id="{975D136A-FEFB-9E40-BA33-B33E91228F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1855" y="3590386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hangingPunct="0">
              <a:lnSpc>
                <a:spcPct val="110000"/>
              </a:lnSpc>
              <a:defRPr/>
            </a:pPr>
            <a:r>
              <a:rPr lang="en-US" altLang="en-US" sz="1050" b="0" kern="0">
                <a:solidFill>
                  <a:srgbClr val="000000"/>
                </a:solidFill>
                <a:cs typeface="+mn-cs"/>
              </a:rPr>
              <a:t>application</a:t>
            </a:r>
          </a:p>
        </p:txBody>
      </p:sp>
      <p:sp>
        <p:nvSpPr>
          <p:cNvPr id="151" name="Text Box 26">
            <a:extLst>
              <a:ext uri="{FF2B5EF4-FFF2-40B4-BE49-F238E27FC236}">
                <a16:creationId xmlns:a16="http://schemas.microsoft.com/office/drawing/2014/main" id="{50D62C6A-4C80-854F-A4B8-723E99A5A7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9474" y="4858402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hangingPunct="0">
              <a:lnSpc>
                <a:spcPct val="110000"/>
              </a:lnSpc>
              <a:defRPr/>
            </a:pPr>
            <a:r>
              <a:rPr lang="en-US" altLang="en-US" sz="1050" b="0" kern="0">
                <a:solidFill>
                  <a:srgbClr val="000000"/>
                </a:solidFill>
                <a:cs typeface="+mn-cs"/>
              </a:rPr>
              <a:t>physical</a:t>
            </a:r>
          </a:p>
        </p:txBody>
      </p:sp>
      <p:sp>
        <p:nvSpPr>
          <p:cNvPr id="152" name="Text Box 26">
            <a:extLst>
              <a:ext uri="{FF2B5EF4-FFF2-40B4-BE49-F238E27FC236}">
                <a16:creationId xmlns:a16="http://schemas.microsoft.com/office/drawing/2014/main" id="{A79D3A45-C33B-7046-9088-A02FAACCA1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9474" y="4644089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hangingPunct="0">
              <a:lnSpc>
                <a:spcPct val="110000"/>
              </a:lnSpc>
              <a:defRPr/>
            </a:pPr>
            <a:r>
              <a:rPr lang="en-US" altLang="en-US" sz="1050" b="0" kern="0">
                <a:solidFill>
                  <a:srgbClr val="000000"/>
                </a:solidFill>
                <a:cs typeface="+mn-cs"/>
              </a:rPr>
              <a:t>link</a:t>
            </a:r>
          </a:p>
        </p:txBody>
      </p:sp>
      <p:sp>
        <p:nvSpPr>
          <p:cNvPr id="153" name="Text Box 26">
            <a:extLst>
              <a:ext uri="{FF2B5EF4-FFF2-40B4-BE49-F238E27FC236}">
                <a16:creationId xmlns:a16="http://schemas.microsoft.com/office/drawing/2014/main" id="{F3520259-D4C5-3340-8000-3B8C746A77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9474" y="4420252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hangingPunct="0">
              <a:lnSpc>
                <a:spcPct val="110000"/>
              </a:lnSpc>
              <a:defRPr/>
            </a:pPr>
            <a:r>
              <a:rPr lang="en-US" altLang="en-US" sz="1050" b="0" kern="0">
                <a:solidFill>
                  <a:srgbClr val="000000"/>
                </a:solidFill>
                <a:cs typeface="+mn-cs"/>
              </a:rPr>
              <a:t>network</a:t>
            </a:r>
          </a:p>
        </p:txBody>
      </p:sp>
      <p:sp>
        <p:nvSpPr>
          <p:cNvPr id="154" name="Oval 120">
            <a:extLst>
              <a:ext uri="{FF2B5EF4-FFF2-40B4-BE49-F238E27FC236}">
                <a16:creationId xmlns:a16="http://schemas.microsoft.com/office/drawing/2014/main" id="{A77294DB-DD97-F741-82FD-F8B94839A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4539" y="3871374"/>
            <a:ext cx="448866" cy="2286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685800" eaLnBrk="0" hangingPunct="0">
              <a:defRPr/>
            </a:pPr>
            <a:r>
              <a:rPr lang="en-US" sz="1350" b="0" kern="0">
                <a:solidFill>
                  <a:srgbClr val="000000"/>
                </a:solidFill>
                <a:latin typeface="Calibri" panose="020F0502020204030204"/>
                <a:cs typeface="+mn-cs"/>
              </a:rPr>
              <a:t>P2</a:t>
            </a:r>
          </a:p>
        </p:txBody>
      </p:sp>
      <p:sp>
        <p:nvSpPr>
          <p:cNvPr id="155" name="Line 27">
            <a:extLst>
              <a:ext uri="{FF2B5EF4-FFF2-40B4-BE49-F238E27FC236}">
                <a16:creationId xmlns:a16="http://schemas.microsoft.com/office/drawing/2014/main" id="{E1326351-38D1-A440-A7B8-5079367D54AC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9467" y="4664330"/>
            <a:ext cx="1092994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algn="ctr" defTabSz="685800" eaLnBrk="0" hangingPunct="0">
              <a:defRPr/>
            </a:pPr>
            <a:endParaRPr lang="en-US" sz="1200" b="0" kern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56" name="Line 27">
            <a:extLst>
              <a:ext uri="{FF2B5EF4-FFF2-40B4-BE49-F238E27FC236}">
                <a16:creationId xmlns:a16="http://schemas.microsoft.com/office/drawing/2014/main" id="{891B0B5D-A14D-1A40-B291-CC1A04A094FC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7086" y="4888168"/>
            <a:ext cx="1092994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algn="ctr" defTabSz="685800" eaLnBrk="0" hangingPunct="0">
              <a:defRPr/>
            </a:pPr>
            <a:endParaRPr lang="en-US" sz="1200" b="0" kern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57" name="Oval 128">
            <a:extLst>
              <a:ext uri="{FF2B5EF4-FFF2-40B4-BE49-F238E27FC236}">
                <a16:creationId xmlns:a16="http://schemas.microsoft.com/office/drawing/2014/main" id="{AAD00A20-9526-2F4E-9C87-C3B249C8E9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5901" y="3871374"/>
            <a:ext cx="448866" cy="2286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685800" eaLnBrk="0" hangingPunct="0">
              <a:defRPr/>
            </a:pPr>
            <a:r>
              <a:rPr lang="en-US" sz="1350" b="0" kern="0">
                <a:solidFill>
                  <a:srgbClr val="000000"/>
                </a:solidFill>
                <a:latin typeface="Calibri" panose="020F0502020204030204"/>
                <a:cs typeface="+mn-cs"/>
              </a:rPr>
              <a:t>P1</a:t>
            </a:r>
          </a:p>
        </p:txBody>
      </p:sp>
      <p:grpSp>
        <p:nvGrpSpPr>
          <p:cNvPr id="158" name="Group 134">
            <a:extLst>
              <a:ext uri="{FF2B5EF4-FFF2-40B4-BE49-F238E27FC236}">
                <a16:creationId xmlns:a16="http://schemas.microsoft.com/office/drawing/2014/main" id="{015BC705-D8E3-EA41-A198-6A8DDB031BE2}"/>
              </a:ext>
            </a:extLst>
          </p:cNvPr>
          <p:cNvGrpSpPr>
            <a:grpSpLocks/>
          </p:cNvGrpSpPr>
          <p:nvPr/>
        </p:nvGrpSpPr>
        <p:grpSpPr bwMode="auto">
          <a:xfrm>
            <a:off x="4851688" y="4140455"/>
            <a:ext cx="309563" cy="119063"/>
            <a:chOff x="1383" y="2620"/>
            <a:chExt cx="260" cy="100"/>
          </a:xfrm>
        </p:grpSpPr>
        <p:sp>
          <p:nvSpPr>
            <p:cNvPr id="159" name="Rectangle 130">
              <a:extLst>
                <a:ext uri="{FF2B5EF4-FFF2-40B4-BE49-F238E27FC236}">
                  <a16:creationId xmlns:a16="http://schemas.microsoft.com/office/drawing/2014/main" id="{617E09BE-67A7-E846-8718-4C5F4E894E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2620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160" name="Rectangle 131">
              <a:extLst>
                <a:ext uri="{FF2B5EF4-FFF2-40B4-BE49-F238E27FC236}">
                  <a16:creationId xmlns:a16="http://schemas.microsoft.com/office/drawing/2014/main" id="{DAEC0345-B8B5-6942-9E07-837C51C11E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4" y="2633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161" name="Rectangle 132">
              <a:extLst>
                <a:ext uri="{FF2B5EF4-FFF2-40B4-BE49-F238E27FC236}">
                  <a16:creationId xmlns:a16="http://schemas.microsoft.com/office/drawing/2014/main" id="{CBC575E8-9188-C944-A373-1BE60CEDE4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9" y="2678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162" name="Rectangle 133">
              <a:extLst>
                <a:ext uri="{FF2B5EF4-FFF2-40B4-BE49-F238E27FC236}">
                  <a16:creationId xmlns:a16="http://schemas.microsoft.com/office/drawing/2014/main" id="{5CBAC889-4624-214B-8DD0-1C5D2121C3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4" y="2679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</p:grpSp>
      <p:grpSp>
        <p:nvGrpSpPr>
          <p:cNvPr id="163" name="Group 135">
            <a:extLst>
              <a:ext uri="{FF2B5EF4-FFF2-40B4-BE49-F238E27FC236}">
                <a16:creationId xmlns:a16="http://schemas.microsoft.com/office/drawing/2014/main" id="{E0C06B10-B8DE-5649-9DA7-1C38410338CA}"/>
              </a:ext>
            </a:extLst>
          </p:cNvPr>
          <p:cNvGrpSpPr>
            <a:grpSpLocks/>
          </p:cNvGrpSpPr>
          <p:nvPr/>
        </p:nvGrpSpPr>
        <p:grpSpPr bwMode="auto">
          <a:xfrm>
            <a:off x="4325432" y="4134502"/>
            <a:ext cx="309563" cy="119063"/>
            <a:chOff x="1383" y="2620"/>
            <a:chExt cx="260" cy="100"/>
          </a:xfrm>
        </p:grpSpPr>
        <p:sp>
          <p:nvSpPr>
            <p:cNvPr id="164" name="Rectangle 136">
              <a:extLst>
                <a:ext uri="{FF2B5EF4-FFF2-40B4-BE49-F238E27FC236}">
                  <a16:creationId xmlns:a16="http://schemas.microsoft.com/office/drawing/2014/main" id="{90DDD937-6604-0E4A-BC22-D308693331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2620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165" name="Rectangle 137">
              <a:extLst>
                <a:ext uri="{FF2B5EF4-FFF2-40B4-BE49-F238E27FC236}">
                  <a16:creationId xmlns:a16="http://schemas.microsoft.com/office/drawing/2014/main" id="{12ACDF7C-B3D8-9B4A-BD4A-D8CF4A0282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4" y="2633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166" name="Rectangle 138">
              <a:extLst>
                <a:ext uri="{FF2B5EF4-FFF2-40B4-BE49-F238E27FC236}">
                  <a16:creationId xmlns:a16="http://schemas.microsoft.com/office/drawing/2014/main" id="{BBABF61C-A52E-5440-86D9-57F0C4530F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9" y="2678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167" name="Rectangle 139">
              <a:extLst>
                <a:ext uri="{FF2B5EF4-FFF2-40B4-BE49-F238E27FC236}">
                  <a16:creationId xmlns:a16="http://schemas.microsoft.com/office/drawing/2014/main" id="{32461327-4600-6E4F-AB44-FD06E8C35B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4" y="2679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</p:grpSp>
      <p:sp>
        <p:nvSpPr>
          <p:cNvPr id="170" name="Rectangle 23">
            <a:extLst>
              <a:ext uri="{FF2B5EF4-FFF2-40B4-BE49-F238E27FC236}">
                <a16:creationId xmlns:a16="http://schemas.microsoft.com/office/drawing/2014/main" id="{18A5F7E9-E597-8A49-8FBA-5EBCB6131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8730" y="3852324"/>
            <a:ext cx="972740" cy="14859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hangingPunct="0">
              <a:defRPr/>
            </a:pPr>
            <a:endParaRPr lang="en-US" altLang="en-US" sz="1800" b="0">
              <a:solidFill>
                <a:srgbClr val="000000"/>
              </a:solidFill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71" name="Rectangle 24">
            <a:extLst>
              <a:ext uri="{FF2B5EF4-FFF2-40B4-BE49-F238E27FC236}">
                <a16:creationId xmlns:a16="http://schemas.microsoft.com/office/drawing/2014/main" id="{5DFFE03C-FB1C-D742-84E9-52CBDDB98D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0155" y="3892805"/>
            <a:ext cx="954881" cy="1484709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hangingPunct="0">
              <a:defRPr/>
            </a:pPr>
            <a:endParaRPr lang="en-US" altLang="en-US" sz="1800" b="0" kern="0">
              <a:solidFill>
                <a:srgbClr val="000000"/>
              </a:solidFill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72" name="Line 25">
            <a:extLst>
              <a:ext uri="{FF2B5EF4-FFF2-40B4-BE49-F238E27FC236}">
                <a16:creationId xmlns:a16="http://schemas.microsoft.com/office/drawing/2014/main" id="{5AD7BC14-F444-E745-8910-70D580A778B1}"/>
              </a:ext>
            </a:extLst>
          </p:cNvPr>
          <p:cNvSpPr>
            <a:spLocks noChangeShapeType="1"/>
          </p:cNvSpPr>
          <p:nvPr/>
        </p:nvSpPr>
        <p:spPr bwMode="auto">
          <a:xfrm>
            <a:off x="5917298" y="4463115"/>
            <a:ext cx="947738" cy="2381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algn="ctr" defTabSz="685800" eaLnBrk="0" hangingPunct="0">
              <a:defRPr/>
            </a:pPr>
            <a:endParaRPr lang="en-US" sz="1200" b="0" kern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3" name="Text Box 26">
            <a:extLst>
              <a:ext uri="{FF2B5EF4-FFF2-40B4-BE49-F238E27FC236}">
                <a16:creationId xmlns:a16="http://schemas.microsoft.com/office/drawing/2014/main" id="{1058B2AB-1EA8-1A46-9E03-D8FFDD9E54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5151" y="4450018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hangingPunct="0">
              <a:lnSpc>
                <a:spcPct val="110000"/>
              </a:lnSpc>
              <a:defRPr/>
            </a:pPr>
            <a:r>
              <a:rPr lang="en-US" altLang="en-US" sz="1050" b="0" kern="0">
                <a:solidFill>
                  <a:srgbClr val="000000"/>
                </a:solidFill>
                <a:cs typeface="+mn-cs"/>
              </a:rPr>
              <a:t>transport</a:t>
            </a:r>
          </a:p>
        </p:txBody>
      </p:sp>
      <p:sp>
        <p:nvSpPr>
          <p:cNvPr id="174" name="Line 27">
            <a:extLst>
              <a:ext uri="{FF2B5EF4-FFF2-40B4-BE49-F238E27FC236}">
                <a16:creationId xmlns:a16="http://schemas.microsoft.com/office/drawing/2014/main" id="{3A83CA24-DF84-F740-B870-F5C298378EA2}"/>
              </a:ext>
            </a:extLst>
          </p:cNvPr>
          <p:cNvSpPr>
            <a:spLocks noChangeShapeType="1"/>
          </p:cNvSpPr>
          <p:nvPr/>
        </p:nvSpPr>
        <p:spPr bwMode="auto">
          <a:xfrm>
            <a:off x="5923251" y="4703621"/>
            <a:ext cx="947738" cy="2381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algn="ctr" defTabSz="685800" eaLnBrk="0" hangingPunct="0">
              <a:defRPr/>
            </a:pPr>
            <a:endParaRPr lang="en-US" sz="1200" b="0" kern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5" name="Line 28">
            <a:extLst>
              <a:ext uri="{FF2B5EF4-FFF2-40B4-BE49-F238E27FC236}">
                <a16:creationId xmlns:a16="http://schemas.microsoft.com/office/drawing/2014/main" id="{1D5846CF-9A4C-784A-A5A4-98F8F1486DDE}"/>
              </a:ext>
            </a:extLst>
          </p:cNvPr>
          <p:cNvSpPr>
            <a:spLocks noChangeShapeType="1"/>
          </p:cNvSpPr>
          <p:nvPr/>
        </p:nvSpPr>
        <p:spPr bwMode="auto">
          <a:xfrm>
            <a:off x="5912536" y="4935793"/>
            <a:ext cx="947738" cy="2381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algn="ctr" defTabSz="685800" eaLnBrk="0" hangingPunct="0">
              <a:defRPr/>
            </a:pPr>
            <a:endParaRPr lang="en-US" sz="1200" b="0" kern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6" name="Line 29">
            <a:extLst>
              <a:ext uri="{FF2B5EF4-FFF2-40B4-BE49-F238E27FC236}">
                <a16:creationId xmlns:a16="http://schemas.microsoft.com/office/drawing/2014/main" id="{987AF988-33D7-A644-9737-1635D99E92DD}"/>
              </a:ext>
            </a:extLst>
          </p:cNvPr>
          <p:cNvSpPr>
            <a:spLocks noChangeShapeType="1"/>
          </p:cNvSpPr>
          <p:nvPr/>
        </p:nvSpPr>
        <p:spPr bwMode="auto">
          <a:xfrm>
            <a:off x="5912536" y="5150106"/>
            <a:ext cx="947738" cy="2381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algn="ctr" defTabSz="685800" eaLnBrk="0" hangingPunct="0">
              <a:defRPr/>
            </a:pPr>
            <a:endParaRPr lang="en-US" sz="1200" b="0" kern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7" name="Text Box 26">
            <a:extLst>
              <a:ext uri="{FF2B5EF4-FFF2-40B4-BE49-F238E27FC236}">
                <a16:creationId xmlns:a16="http://schemas.microsoft.com/office/drawing/2014/main" id="{DC53D19A-63B2-7141-9008-9BC3F67805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1345" y="3885661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hangingPunct="0">
              <a:lnSpc>
                <a:spcPct val="110000"/>
              </a:lnSpc>
              <a:defRPr/>
            </a:pPr>
            <a:r>
              <a:rPr lang="en-US" altLang="en-US" sz="1050" b="0" kern="0">
                <a:solidFill>
                  <a:srgbClr val="000000"/>
                </a:solidFill>
                <a:cs typeface="+mn-cs"/>
              </a:rPr>
              <a:t>application</a:t>
            </a:r>
          </a:p>
        </p:txBody>
      </p:sp>
      <p:sp>
        <p:nvSpPr>
          <p:cNvPr id="178" name="Text Box 26">
            <a:extLst>
              <a:ext uri="{FF2B5EF4-FFF2-40B4-BE49-F238E27FC236}">
                <a16:creationId xmlns:a16="http://schemas.microsoft.com/office/drawing/2014/main" id="{668FFB30-2FA6-AE41-99EF-4D74E37F3E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8008" y="5128674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hangingPunct="0">
              <a:lnSpc>
                <a:spcPct val="110000"/>
              </a:lnSpc>
              <a:defRPr/>
            </a:pPr>
            <a:r>
              <a:rPr lang="en-US" altLang="en-US" sz="1050" b="0" kern="0">
                <a:solidFill>
                  <a:srgbClr val="000000"/>
                </a:solidFill>
                <a:cs typeface="+mn-cs"/>
              </a:rPr>
              <a:t>physical</a:t>
            </a:r>
          </a:p>
        </p:txBody>
      </p:sp>
      <p:sp>
        <p:nvSpPr>
          <p:cNvPr id="179" name="Text Box 26">
            <a:extLst>
              <a:ext uri="{FF2B5EF4-FFF2-40B4-BE49-F238E27FC236}">
                <a16:creationId xmlns:a16="http://schemas.microsoft.com/office/drawing/2014/main" id="{9646084A-4EA0-5345-8A3E-91D3475359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2295" y="4914361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hangingPunct="0">
              <a:lnSpc>
                <a:spcPct val="110000"/>
              </a:lnSpc>
              <a:defRPr/>
            </a:pPr>
            <a:r>
              <a:rPr lang="en-US" altLang="en-US" sz="1050" b="0" kern="0">
                <a:solidFill>
                  <a:srgbClr val="000000"/>
                </a:solidFill>
                <a:cs typeface="+mn-cs"/>
              </a:rPr>
              <a:t>link</a:t>
            </a:r>
          </a:p>
        </p:txBody>
      </p:sp>
      <p:sp>
        <p:nvSpPr>
          <p:cNvPr id="180" name="Text Box 26">
            <a:extLst>
              <a:ext uri="{FF2B5EF4-FFF2-40B4-BE49-F238E27FC236}">
                <a16:creationId xmlns:a16="http://schemas.microsoft.com/office/drawing/2014/main" id="{9FDE009F-BD4C-6B4C-A66D-690533C0F5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5151" y="4692905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hangingPunct="0">
              <a:lnSpc>
                <a:spcPct val="110000"/>
              </a:lnSpc>
              <a:defRPr/>
            </a:pPr>
            <a:r>
              <a:rPr lang="en-US" altLang="en-US" sz="1050" b="0" kern="0">
                <a:solidFill>
                  <a:srgbClr val="000000"/>
                </a:solidFill>
                <a:cs typeface="+mn-cs"/>
              </a:rPr>
              <a:t>network</a:t>
            </a:r>
          </a:p>
        </p:txBody>
      </p:sp>
      <p:sp>
        <p:nvSpPr>
          <p:cNvPr id="181" name="Oval 101">
            <a:extLst>
              <a:ext uri="{FF2B5EF4-FFF2-40B4-BE49-F238E27FC236}">
                <a16:creationId xmlns:a16="http://schemas.microsoft.com/office/drawing/2014/main" id="{092F802C-72A1-EE41-9CEB-72883AD3F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2568" y="4141646"/>
            <a:ext cx="448865" cy="2286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685800" eaLnBrk="0" hangingPunct="0">
              <a:defRPr/>
            </a:pPr>
            <a:r>
              <a:rPr lang="en-US" sz="1350" b="0" kern="0">
                <a:solidFill>
                  <a:srgbClr val="000000"/>
                </a:solidFill>
                <a:latin typeface="Calibri" panose="020F0502020204030204"/>
                <a:cs typeface="+mn-cs"/>
              </a:rPr>
              <a:t>P4</a:t>
            </a:r>
          </a:p>
        </p:txBody>
      </p:sp>
      <p:sp>
        <p:nvSpPr>
          <p:cNvPr id="182" name="Freeform 103">
            <a:extLst>
              <a:ext uri="{FF2B5EF4-FFF2-40B4-BE49-F238E27FC236}">
                <a16:creationId xmlns:a16="http://schemas.microsoft.com/office/drawing/2014/main" id="{DEF6D5D3-E4DA-4B46-BBC5-93311E115D92}"/>
              </a:ext>
            </a:extLst>
          </p:cNvPr>
          <p:cNvSpPr>
            <a:spLocks/>
          </p:cNvSpPr>
          <p:nvPr/>
        </p:nvSpPr>
        <p:spPr bwMode="auto">
          <a:xfrm>
            <a:off x="6874561" y="3876136"/>
            <a:ext cx="435769" cy="1528763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685800" eaLnBrk="0" hangingPunct="0">
              <a:defRPr/>
            </a:pPr>
            <a:endParaRPr lang="en-US" sz="1200" b="0" kern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3" name="Freeform 70">
            <a:extLst>
              <a:ext uri="{FF2B5EF4-FFF2-40B4-BE49-F238E27FC236}">
                <a16:creationId xmlns:a16="http://schemas.microsoft.com/office/drawing/2014/main" id="{4A88383C-61F9-1949-9D88-EC83EDA3F2B6}"/>
              </a:ext>
            </a:extLst>
          </p:cNvPr>
          <p:cNvSpPr>
            <a:spLocks/>
          </p:cNvSpPr>
          <p:nvPr/>
        </p:nvSpPr>
        <p:spPr bwMode="auto">
          <a:xfrm>
            <a:off x="2232313" y="3891614"/>
            <a:ext cx="414338" cy="1562100"/>
          </a:xfrm>
          <a:custGeom>
            <a:avLst/>
            <a:gdLst>
              <a:gd name="T0" fmla="*/ 0 w 348"/>
              <a:gd name="T1" fmla="*/ 2147483647 h 1312"/>
              <a:gd name="T2" fmla="*/ 2147483647 w 348"/>
              <a:gd name="T3" fmla="*/ 0 h 1312"/>
              <a:gd name="T4" fmla="*/ 2147483647 w 348"/>
              <a:gd name="T5" fmla="*/ 2147483647 h 1312"/>
              <a:gd name="T6" fmla="*/ 2147483647 w 348"/>
              <a:gd name="T7" fmla="*/ 2147483647 h 1312"/>
              <a:gd name="T8" fmla="*/ 0 w 348"/>
              <a:gd name="T9" fmla="*/ 2147483647 h 13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48" h="1312">
                <a:moveTo>
                  <a:pt x="0" y="1306"/>
                </a:moveTo>
                <a:lnTo>
                  <a:pt x="348" y="0"/>
                </a:lnTo>
                <a:lnTo>
                  <a:pt x="342" y="1258"/>
                </a:lnTo>
                <a:lnTo>
                  <a:pt x="180" y="1312"/>
                </a:lnTo>
                <a:lnTo>
                  <a:pt x="0" y="1306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B2B2B2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685800" eaLnBrk="0" hangingPunct="0">
              <a:defRPr/>
            </a:pPr>
            <a:endParaRPr lang="en-US" sz="1200" b="0" kern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4" name="Rectangle 23">
            <a:extLst>
              <a:ext uri="{FF2B5EF4-FFF2-40B4-BE49-F238E27FC236}">
                <a16:creationId xmlns:a16="http://schemas.microsoft.com/office/drawing/2014/main" id="{AC94A5E0-4794-4246-825A-61CE412794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9989" y="3858277"/>
            <a:ext cx="972741" cy="14859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hangingPunct="0">
              <a:defRPr/>
            </a:pPr>
            <a:endParaRPr lang="en-US" altLang="en-US" sz="1800" b="0">
              <a:solidFill>
                <a:srgbClr val="000000"/>
              </a:solidFill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85" name="Rectangle 24">
            <a:extLst>
              <a:ext uri="{FF2B5EF4-FFF2-40B4-BE49-F238E27FC236}">
                <a16:creationId xmlns:a16="http://schemas.microsoft.com/office/drawing/2014/main" id="{6F8DDC46-C4B7-DF4E-8AF5-C602B6EAA1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1414" y="3898758"/>
            <a:ext cx="954881" cy="148471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hangingPunct="0">
              <a:defRPr/>
            </a:pPr>
            <a:endParaRPr lang="en-US" altLang="en-US" sz="1800" b="0" kern="0">
              <a:solidFill>
                <a:srgbClr val="000000"/>
              </a:solidFill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186" name="Line 25">
            <a:extLst>
              <a:ext uri="{FF2B5EF4-FFF2-40B4-BE49-F238E27FC236}">
                <a16:creationId xmlns:a16="http://schemas.microsoft.com/office/drawing/2014/main" id="{DBA82451-A905-D646-87C3-445C7FB42130}"/>
              </a:ext>
            </a:extLst>
          </p:cNvPr>
          <p:cNvSpPr>
            <a:spLocks noChangeShapeType="1"/>
          </p:cNvSpPr>
          <p:nvPr/>
        </p:nvSpPr>
        <p:spPr bwMode="auto">
          <a:xfrm>
            <a:off x="2658557" y="4469068"/>
            <a:ext cx="947738" cy="2381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algn="ctr" defTabSz="685800" eaLnBrk="0" hangingPunct="0">
              <a:defRPr/>
            </a:pPr>
            <a:endParaRPr lang="en-US" sz="1200" b="0" kern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7" name="Text Box 26">
            <a:extLst>
              <a:ext uri="{FF2B5EF4-FFF2-40B4-BE49-F238E27FC236}">
                <a16:creationId xmlns:a16="http://schemas.microsoft.com/office/drawing/2014/main" id="{20A57016-2D36-9945-9BC2-7F8B323410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6411" y="4455970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hangingPunct="0">
              <a:lnSpc>
                <a:spcPct val="110000"/>
              </a:lnSpc>
              <a:defRPr/>
            </a:pPr>
            <a:r>
              <a:rPr lang="en-US" altLang="en-US" sz="1050" b="0" kern="0">
                <a:solidFill>
                  <a:srgbClr val="000000"/>
                </a:solidFill>
                <a:cs typeface="+mn-cs"/>
              </a:rPr>
              <a:t>transport</a:t>
            </a:r>
          </a:p>
        </p:txBody>
      </p:sp>
      <p:sp>
        <p:nvSpPr>
          <p:cNvPr id="188" name="Line 27">
            <a:extLst>
              <a:ext uri="{FF2B5EF4-FFF2-40B4-BE49-F238E27FC236}">
                <a16:creationId xmlns:a16="http://schemas.microsoft.com/office/drawing/2014/main" id="{C4DE758D-2140-4D46-8462-D030054EF893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4511" y="4709575"/>
            <a:ext cx="947738" cy="2381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algn="ctr" defTabSz="685800" eaLnBrk="0" hangingPunct="0">
              <a:defRPr/>
            </a:pPr>
            <a:endParaRPr lang="en-US" sz="1200" b="0" kern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9" name="Line 28">
            <a:extLst>
              <a:ext uri="{FF2B5EF4-FFF2-40B4-BE49-F238E27FC236}">
                <a16:creationId xmlns:a16="http://schemas.microsoft.com/office/drawing/2014/main" id="{54E984A7-4546-6E49-B9F8-528EAF4E1F35}"/>
              </a:ext>
            </a:extLst>
          </p:cNvPr>
          <p:cNvSpPr>
            <a:spLocks noChangeShapeType="1"/>
          </p:cNvSpPr>
          <p:nvPr/>
        </p:nvSpPr>
        <p:spPr bwMode="auto">
          <a:xfrm>
            <a:off x="2653795" y="4941746"/>
            <a:ext cx="947738" cy="2381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algn="ctr" defTabSz="685800" eaLnBrk="0" hangingPunct="0">
              <a:defRPr/>
            </a:pPr>
            <a:endParaRPr lang="en-US" sz="1200" b="0" kern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0" name="Line 29">
            <a:extLst>
              <a:ext uri="{FF2B5EF4-FFF2-40B4-BE49-F238E27FC236}">
                <a16:creationId xmlns:a16="http://schemas.microsoft.com/office/drawing/2014/main" id="{85DE9E64-476F-6F4E-8BFA-3205F1E596F5}"/>
              </a:ext>
            </a:extLst>
          </p:cNvPr>
          <p:cNvSpPr>
            <a:spLocks noChangeShapeType="1"/>
          </p:cNvSpPr>
          <p:nvPr/>
        </p:nvSpPr>
        <p:spPr bwMode="auto">
          <a:xfrm>
            <a:off x="2653795" y="5156059"/>
            <a:ext cx="947738" cy="2381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algn="ctr" defTabSz="685800" eaLnBrk="0" hangingPunct="0">
              <a:defRPr/>
            </a:pPr>
            <a:endParaRPr lang="en-US" sz="1200" b="0" kern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1" name="Text Box 26">
            <a:extLst>
              <a:ext uri="{FF2B5EF4-FFF2-40B4-BE49-F238E27FC236}">
                <a16:creationId xmlns:a16="http://schemas.microsoft.com/office/drawing/2014/main" id="{A1B9282E-64F8-1442-8F95-7A9813CE8F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2605" y="3891614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hangingPunct="0">
              <a:lnSpc>
                <a:spcPct val="110000"/>
              </a:lnSpc>
              <a:defRPr/>
            </a:pPr>
            <a:r>
              <a:rPr lang="en-US" altLang="en-US" sz="1050" b="0" kern="0">
                <a:solidFill>
                  <a:srgbClr val="000000"/>
                </a:solidFill>
                <a:cs typeface="+mn-cs"/>
              </a:rPr>
              <a:t>application</a:t>
            </a:r>
          </a:p>
        </p:txBody>
      </p:sp>
      <p:sp>
        <p:nvSpPr>
          <p:cNvPr id="192" name="Text Box 26">
            <a:extLst>
              <a:ext uri="{FF2B5EF4-FFF2-40B4-BE49-F238E27FC236}">
                <a16:creationId xmlns:a16="http://schemas.microsoft.com/office/drawing/2014/main" id="{83782313-46E0-BE46-BEED-BDC4F6A04A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9267" y="5134627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hangingPunct="0">
              <a:lnSpc>
                <a:spcPct val="110000"/>
              </a:lnSpc>
              <a:defRPr/>
            </a:pPr>
            <a:r>
              <a:rPr lang="en-US" altLang="en-US" sz="1050" b="0" kern="0">
                <a:solidFill>
                  <a:srgbClr val="000000"/>
                </a:solidFill>
                <a:cs typeface="+mn-cs"/>
              </a:rPr>
              <a:t>physical</a:t>
            </a:r>
          </a:p>
        </p:txBody>
      </p:sp>
      <p:sp>
        <p:nvSpPr>
          <p:cNvPr id="193" name="Text Box 26">
            <a:extLst>
              <a:ext uri="{FF2B5EF4-FFF2-40B4-BE49-F238E27FC236}">
                <a16:creationId xmlns:a16="http://schemas.microsoft.com/office/drawing/2014/main" id="{E3A71501-A89A-D249-84FB-20D98047A2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3555" y="4920314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hangingPunct="0">
              <a:lnSpc>
                <a:spcPct val="110000"/>
              </a:lnSpc>
              <a:defRPr/>
            </a:pPr>
            <a:r>
              <a:rPr lang="en-US" altLang="en-US" sz="1050" b="0" kern="0">
                <a:solidFill>
                  <a:srgbClr val="000000"/>
                </a:solidFill>
                <a:cs typeface="+mn-cs"/>
              </a:rPr>
              <a:t>link</a:t>
            </a:r>
          </a:p>
        </p:txBody>
      </p:sp>
      <p:sp>
        <p:nvSpPr>
          <p:cNvPr id="194" name="Text Box 26">
            <a:extLst>
              <a:ext uri="{FF2B5EF4-FFF2-40B4-BE49-F238E27FC236}">
                <a16:creationId xmlns:a16="http://schemas.microsoft.com/office/drawing/2014/main" id="{6C7F0039-C145-9D4F-92E4-1AF9B0406D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6411" y="4698858"/>
            <a:ext cx="988219" cy="25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hangingPunct="0">
              <a:lnSpc>
                <a:spcPct val="110000"/>
              </a:lnSpc>
              <a:defRPr/>
            </a:pPr>
            <a:r>
              <a:rPr lang="en-US" altLang="en-US" sz="1050" b="0" kern="0">
                <a:solidFill>
                  <a:srgbClr val="000000"/>
                </a:solidFill>
                <a:cs typeface="+mn-cs"/>
              </a:rPr>
              <a:t>network</a:t>
            </a:r>
          </a:p>
        </p:txBody>
      </p:sp>
      <p:sp>
        <p:nvSpPr>
          <p:cNvPr id="195" name="Oval 23">
            <a:extLst>
              <a:ext uri="{FF2B5EF4-FFF2-40B4-BE49-F238E27FC236}">
                <a16:creationId xmlns:a16="http://schemas.microsoft.com/office/drawing/2014/main" id="{34D7692A-81D8-4D48-8FE7-F92A1F4747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3826" y="4147599"/>
            <a:ext cx="448866" cy="2286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685800" eaLnBrk="0" hangingPunct="0">
              <a:defRPr/>
            </a:pPr>
            <a:r>
              <a:rPr lang="en-US" sz="1350" b="0" kern="0">
                <a:solidFill>
                  <a:srgbClr val="000000"/>
                </a:solidFill>
                <a:latin typeface="Calibri" panose="020F0502020204030204"/>
                <a:cs typeface="+mn-cs"/>
              </a:rPr>
              <a:t>P3</a:t>
            </a:r>
          </a:p>
        </p:txBody>
      </p:sp>
      <p:grpSp>
        <p:nvGrpSpPr>
          <p:cNvPr id="196" name="Group 149">
            <a:extLst>
              <a:ext uri="{FF2B5EF4-FFF2-40B4-BE49-F238E27FC236}">
                <a16:creationId xmlns:a16="http://schemas.microsoft.com/office/drawing/2014/main" id="{21881EDC-E749-4F46-8C1C-B44DD21BA9AD}"/>
              </a:ext>
            </a:extLst>
          </p:cNvPr>
          <p:cNvGrpSpPr>
            <a:grpSpLocks/>
          </p:cNvGrpSpPr>
          <p:nvPr/>
        </p:nvGrpSpPr>
        <p:grpSpPr bwMode="auto">
          <a:xfrm>
            <a:off x="2971692" y="4401202"/>
            <a:ext cx="309563" cy="119063"/>
            <a:chOff x="1287" y="2524"/>
            <a:chExt cx="260" cy="100"/>
          </a:xfrm>
        </p:grpSpPr>
        <p:sp>
          <p:nvSpPr>
            <p:cNvPr id="197" name="Rectangle 73">
              <a:extLst>
                <a:ext uri="{FF2B5EF4-FFF2-40B4-BE49-F238E27FC236}">
                  <a16:creationId xmlns:a16="http://schemas.microsoft.com/office/drawing/2014/main" id="{F3D0248D-63A0-3447-AD45-C92BA38B99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198" name="Rectangle 74">
              <a:extLst>
                <a:ext uri="{FF2B5EF4-FFF2-40B4-BE49-F238E27FC236}">
                  <a16:creationId xmlns:a16="http://schemas.microsoft.com/office/drawing/2014/main" id="{A8C44BD4-B473-EA48-B1D2-4212120DE7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199" name="Rectangle 75">
              <a:extLst>
                <a:ext uri="{FF2B5EF4-FFF2-40B4-BE49-F238E27FC236}">
                  <a16:creationId xmlns:a16="http://schemas.microsoft.com/office/drawing/2014/main" id="{08B6F9A7-9AD7-B040-B431-D7898B467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200" name="Rectangle 129">
              <a:extLst>
                <a:ext uri="{FF2B5EF4-FFF2-40B4-BE49-F238E27FC236}">
                  <a16:creationId xmlns:a16="http://schemas.microsoft.com/office/drawing/2014/main" id="{310C322C-F672-7946-BD16-DA4CE50EE1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</p:grpSp>
      <p:grpSp>
        <p:nvGrpSpPr>
          <p:cNvPr id="201" name="Group 150">
            <a:extLst>
              <a:ext uri="{FF2B5EF4-FFF2-40B4-BE49-F238E27FC236}">
                <a16:creationId xmlns:a16="http://schemas.microsoft.com/office/drawing/2014/main" id="{C5660C67-80CE-084B-8B8D-F5CCCDA73638}"/>
              </a:ext>
            </a:extLst>
          </p:cNvPr>
          <p:cNvGrpSpPr>
            <a:grpSpLocks/>
          </p:cNvGrpSpPr>
          <p:nvPr/>
        </p:nvGrpSpPr>
        <p:grpSpPr bwMode="auto">
          <a:xfrm>
            <a:off x="6226861" y="4400011"/>
            <a:ext cx="309563" cy="119063"/>
            <a:chOff x="1287" y="2524"/>
            <a:chExt cx="260" cy="100"/>
          </a:xfrm>
        </p:grpSpPr>
        <p:sp>
          <p:nvSpPr>
            <p:cNvPr id="202" name="Rectangle 151">
              <a:extLst>
                <a:ext uri="{FF2B5EF4-FFF2-40B4-BE49-F238E27FC236}">
                  <a16:creationId xmlns:a16="http://schemas.microsoft.com/office/drawing/2014/main" id="{E39443DC-01F4-7A42-BC3B-BD48B1952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203" name="Rectangle 152">
              <a:extLst>
                <a:ext uri="{FF2B5EF4-FFF2-40B4-BE49-F238E27FC236}">
                  <a16:creationId xmlns:a16="http://schemas.microsoft.com/office/drawing/2014/main" id="{810BA023-C5B8-434B-9FF4-507BAFBB25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204" name="Rectangle 153">
              <a:extLst>
                <a:ext uri="{FF2B5EF4-FFF2-40B4-BE49-F238E27FC236}">
                  <a16:creationId xmlns:a16="http://schemas.microsoft.com/office/drawing/2014/main" id="{48739CB2-AA1C-8B4E-8D0B-CFBBB2A4F3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205" name="Rectangle 154">
              <a:extLst>
                <a:ext uri="{FF2B5EF4-FFF2-40B4-BE49-F238E27FC236}">
                  <a16:creationId xmlns:a16="http://schemas.microsoft.com/office/drawing/2014/main" id="{435BB581-5D52-C345-BA75-358EC9A437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</p:grpSp>
      <p:sp>
        <p:nvSpPr>
          <p:cNvPr id="206" name="Freeform 146">
            <a:extLst>
              <a:ext uri="{FF2B5EF4-FFF2-40B4-BE49-F238E27FC236}">
                <a16:creationId xmlns:a16="http://schemas.microsoft.com/office/drawing/2014/main" id="{8EB20ED3-9276-204C-BA00-A485E0531DD2}"/>
              </a:ext>
            </a:extLst>
          </p:cNvPr>
          <p:cNvSpPr>
            <a:spLocks/>
          </p:cNvSpPr>
          <p:nvPr/>
        </p:nvSpPr>
        <p:spPr bwMode="auto">
          <a:xfrm>
            <a:off x="4762393" y="4176174"/>
            <a:ext cx="1629965" cy="1491853"/>
          </a:xfrm>
          <a:custGeom>
            <a:avLst/>
            <a:gdLst>
              <a:gd name="T0" fmla="*/ 2147483647 w 1369"/>
              <a:gd name="T1" fmla="*/ 2147483647 h 1253"/>
              <a:gd name="T2" fmla="*/ 2147483647 w 1369"/>
              <a:gd name="T3" fmla="*/ 2147483647 h 1253"/>
              <a:gd name="T4" fmla="*/ 2147483647 w 1369"/>
              <a:gd name="T5" fmla="*/ 2147483647 h 1253"/>
              <a:gd name="T6" fmla="*/ 0 w 1369"/>
              <a:gd name="T7" fmla="*/ 2147483647 h 1253"/>
              <a:gd name="T8" fmla="*/ 2147483647 w 1369"/>
              <a:gd name="T9" fmla="*/ 0 h 125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369" h="1253">
                <a:moveTo>
                  <a:pt x="1369" y="216"/>
                </a:moveTo>
                <a:lnTo>
                  <a:pt x="1362" y="1252"/>
                </a:lnTo>
                <a:lnTo>
                  <a:pt x="16" y="1253"/>
                </a:lnTo>
                <a:lnTo>
                  <a:pt x="0" y="121"/>
                </a:lnTo>
                <a:lnTo>
                  <a:pt x="191" y="0"/>
                </a:lnTo>
              </a:path>
            </a:pathLst>
          </a:custGeom>
          <a:noFill/>
          <a:ln w="19050" cap="flat" cmpd="sng">
            <a:solidFill>
              <a:srgbClr val="000099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defTabSz="685800" eaLnBrk="0" hangingPunct="0">
              <a:defRPr/>
            </a:pPr>
            <a:endParaRPr lang="en-US" sz="1200" b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07" name="Freeform 147">
            <a:extLst>
              <a:ext uri="{FF2B5EF4-FFF2-40B4-BE49-F238E27FC236}">
                <a16:creationId xmlns:a16="http://schemas.microsoft.com/office/drawing/2014/main" id="{911482D4-C931-F64A-A760-F208DA9E7FB6}"/>
              </a:ext>
            </a:extLst>
          </p:cNvPr>
          <p:cNvSpPr>
            <a:spLocks/>
          </p:cNvSpPr>
          <p:nvPr/>
        </p:nvSpPr>
        <p:spPr bwMode="auto">
          <a:xfrm>
            <a:off x="4851689" y="4199987"/>
            <a:ext cx="1488281" cy="1407319"/>
          </a:xfrm>
          <a:custGeom>
            <a:avLst/>
            <a:gdLst>
              <a:gd name="T0" fmla="*/ 2147483647 w 1250"/>
              <a:gd name="T1" fmla="*/ 2147483647 h 1182"/>
              <a:gd name="T2" fmla="*/ 2147483647 w 1250"/>
              <a:gd name="T3" fmla="*/ 2147483647 h 1182"/>
              <a:gd name="T4" fmla="*/ 2147483647 w 1250"/>
              <a:gd name="T5" fmla="*/ 2147483647 h 1182"/>
              <a:gd name="T6" fmla="*/ 0 w 1250"/>
              <a:gd name="T7" fmla="*/ 2147483647 h 1182"/>
              <a:gd name="T8" fmla="*/ 2147483647 w 1250"/>
              <a:gd name="T9" fmla="*/ 0 h 11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50" h="1182">
                <a:moveTo>
                  <a:pt x="1250" y="190"/>
                </a:moveTo>
                <a:lnTo>
                  <a:pt x="1244" y="1182"/>
                </a:lnTo>
                <a:lnTo>
                  <a:pt x="19" y="1181"/>
                </a:lnTo>
                <a:lnTo>
                  <a:pt x="0" y="155"/>
                </a:lnTo>
                <a:lnTo>
                  <a:pt x="171" y="0"/>
                </a:lnTo>
              </a:path>
            </a:pathLst>
          </a:custGeom>
          <a:noFill/>
          <a:ln w="19050" cap="flat" cmpd="sng">
            <a:solidFill>
              <a:srgbClr val="000099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defTabSz="685800" eaLnBrk="0" hangingPunct="0">
              <a:defRPr/>
            </a:pPr>
            <a:endParaRPr lang="en-US" sz="1200" b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08" name="Oval 36">
            <a:extLst>
              <a:ext uri="{FF2B5EF4-FFF2-40B4-BE49-F238E27FC236}">
                <a16:creationId xmlns:a16="http://schemas.microsoft.com/office/drawing/2014/main" id="{6C459D77-5631-504A-9CB0-A48BD9C61B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764" y="4259518"/>
            <a:ext cx="448866" cy="2286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685800" eaLnBrk="0" hangingPunct="0">
              <a:defRPr/>
            </a:pPr>
            <a:endParaRPr lang="en-US" sz="1200" b="0" kern="0">
              <a:solidFill>
                <a:srgbClr val="000000"/>
              </a:solidFill>
              <a:latin typeface="Comic Sans MS" charset="0"/>
              <a:cs typeface="+mn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4545698" y="4354748"/>
            <a:ext cx="416499" cy="53633"/>
            <a:chOff x="1420065" y="5012608"/>
            <a:chExt cx="555332" cy="71510"/>
          </a:xfrm>
        </p:grpSpPr>
        <p:sp>
          <p:nvSpPr>
            <p:cNvPr id="210" name="Oval 166">
              <a:extLst>
                <a:ext uri="{FF2B5EF4-FFF2-40B4-BE49-F238E27FC236}">
                  <a16:creationId xmlns:a16="http://schemas.microsoft.com/office/drawing/2014/main" id="{ADD1825C-C7DB-6844-A3DF-BCF2BA1F05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0065" y="5012608"/>
              <a:ext cx="196850" cy="69850"/>
            </a:xfrm>
            <a:prstGeom prst="ellips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211" name="Oval 167">
              <a:extLst>
                <a:ext uri="{FF2B5EF4-FFF2-40B4-BE49-F238E27FC236}">
                  <a16:creationId xmlns:a16="http://schemas.microsoft.com/office/drawing/2014/main" id="{0600B33C-3B3C-0646-85DB-B042B7A876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8547" y="5014268"/>
              <a:ext cx="196850" cy="69850"/>
            </a:xfrm>
            <a:prstGeom prst="ellips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</p:grpSp>
      <p:sp>
        <p:nvSpPr>
          <p:cNvPr id="212" name="Freeform 168">
            <a:extLst>
              <a:ext uri="{FF2B5EF4-FFF2-40B4-BE49-F238E27FC236}">
                <a16:creationId xmlns:a16="http://schemas.microsoft.com/office/drawing/2014/main" id="{202E5E96-F7A0-1448-90F0-6A79F4073978}"/>
              </a:ext>
            </a:extLst>
          </p:cNvPr>
          <p:cNvSpPr>
            <a:spLocks/>
          </p:cNvSpPr>
          <p:nvPr/>
        </p:nvSpPr>
        <p:spPr bwMode="auto">
          <a:xfrm>
            <a:off x="3983723" y="3314162"/>
            <a:ext cx="516731" cy="1076325"/>
          </a:xfrm>
          <a:custGeom>
            <a:avLst/>
            <a:gdLst>
              <a:gd name="T0" fmla="*/ 434 w 434"/>
              <a:gd name="T1" fmla="*/ 904 h 904"/>
              <a:gd name="T2" fmla="*/ 2 w 434"/>
              <a:gd name="T3" fmla="*/ 902 h 904"/>
              <a:gd name="T4" fmla="*/ 0 w 434"/>
              <a:gd name="T5" fmla="*/ 0 h 90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4" h="904">
                <a:moveTo>
                  <a:pt x="434" y="904"/>
                </a:moveTo>
                <a:lnTo>
                  <a:pt x="2" y="902"/>
                </a:ln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rgbClr val="CC0000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defTabSz="685800" eaLnBrk="0" hangingPunct="0">
              <a:defRPr/>
            </a:pPr>
            <a:endParaRPr lang="en-US" sz="1200" b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13" name="Group 172">
            <a:extLst>
              <a:ext uri="{FF2B5EF4-FFF2-40B4-BE49-F238E27FC236}">
                <a16:creationId xmlns:a16="http://schemas.microsoft.com/office/drawing/2014/main" id="{A2D29F5F-484F-7547-9B9A-8974E37BD10F}"/>
              </a:ext>
            </a:extLst>
          </p:cNvPr>
          <p:cNvGrpSpPr>
            <a:grpSpLocks/>
          </p:cNvGrpSpPr>
          <p:nvPr/>
        </p:nvGrpSpPr>
        <p:grpSpPr bwMode="auto">
          <a:xfrm>
            <a:off x="4658807" y="3286777"/>
            <a:ext cx="785813" cy="1081088"/>
            <a:chOff x="2432" y="1758"/>
            <a:chExt cx="660" cy="908"/>
          </a:xfrm>
        </p:grpSpPr>
        <p:sp>
          <p:nvSpPr>
            <p:cNvPr id="214" name="Oval 170">
              <a:extLst>
                <a:ext uri="{FF2B5EF4-FFF2-40B4-BE49-F238E27FC236}">
                  <a16:creationId xmlns:a16="http://schemas.microsoft.com/office/drawing/2014/main" id="{E03C7F13-7247-C24D-85C2-723A1405F1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2" y="2564"/>
              <a:ext cx="144" cy="102"/>
            </a:xfrm>
            <a:prstGeom prst="ellips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215" name="Freeform 171">
              <a:extLst>
                <a:ext uri="{FF2B5EF4-FFF2-40B4-BE49-F238E27FC236}">
                  <a16:creationId xmlns:a16="http://schemas.microsoft.com/office/drawing/2014/main" id="{9BC6BA8A-16A3-F446-97F4-7677482846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6" y="1758"/>
              <a:ext cx="586" cy="810"/>
            </a:xfrm>
            <a:custGeom>
              <a:avLst/>
              <a:gdLst>
                <a:gd name="T0" fmla="*/ 0 w 586"/>
                <a:gd name="T1" fmla="*/ 810 h 810"/>
                <a:gd name="T2" fmla="*/ 2 w 586"/>
                <a:gd name="T3" fmla="*/ 808 h 810"/>
                <a:gd name="T4" fmla="*/ 2 w 586"/>
                <a:gd name="T5" fmla="*/ 170 h 810"/>
                <a:gd name="T6" fmla="*/ 586 w 586"/>
                <a:gd name="T7" fmla="*/ 0 h 8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86" h="810">
                  <a:moveTo>
                    <a:pt x="0" y="810"/>
                  </a:moveTo>
                  <a:lnTo>
                    <a:pt x="2" y="808"/>
                  </a:lnTo>
                  <a:lnTo>
                    <a:pt x="2" y="170"/>
                  </a:lnTo>
                  <a:lnTo>
                    <a:pt x="586" y="0"/>
                  </a:lnTo>
                </a:path>
              </a:pathLst>
            </a:custGeom>
            <a:noFill/>
            <a:ln w="12700" cap="flat" cmpd="sng">
              <a:solidFill>
                <a:srgbClr val="CC0000"/>
              </a:solidFill>
              <a:prstDash val="solid"/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defTabSz="685800" eaLnBrk="0" hangingPunct="0">
                <a:defRPr/>
              </a:pPr>
              <a:endParaRPr lang="en-US" sz="1200" b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16" name="Group 179">
            <a:extLst>
              <a:ext uri="{FF2B5EF4-FFF2-40B4-BE49-F238E27FC236}">
                <a16:creationId xmlns:a16="http://schemas.microsoft.com/office/drawing/2014/main" id="{D0DD382B-DAC3-2346-B02D-B07D99212014}"/>
              </a:ext>
            </a:extLst>
          </p:cNvPr>
          <p:cNvGrpSpPr>
            <a:grpSpLocks/>
          </p:cNvGrpSpPr>
          <p:nvPr/>
        </p:nvGrpSpPr>
        <p:grpSpPr bwMode="auto">
          <a:xfrm>
            <a:off x="1883461" y="5023900"/>
            <a:ext cx="600075" cy="621506"/>
            <a:chOff x="-44" y="1473"/>
            <a:chExt cx="981" cy="1105"/>
          </a:xfrm>
        </p:grpSpPr>
        <p:pic>
          <p:nvPicPr>
            <p:cNvPr id="217" name="Picture 180" descr="desktop_computer_stylized_medium">
              <a:extLst>
                <a:ext uri="{FF2B5EF4-FFF2-40B4-BE49-F238E27FC236}">
                  <a16:creationId xmlns:a16="http://schemas.microsoft.com/office/drawing/2014/main" id="{DED124CB-DBF2-BA4A-A3F5-D0D2EE27E0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8" name="Freeform 181">
              <a:extLst>
                <a:ext uri="{FF2B5EF4-FFF2-40B4-BE49-F238E27FC236}">
                  <a16:creationId xmlns:a16="http://schemas.microsoft.com/office/drawing/2014/main" id="{45C70753-F80F-0E44-A5BE-EA6A0103012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19" name="Group 182">
            <a:extLst>
              <a:ext uri="{FF2B5EF4-FFF2-40B4-BE49-F238E27FC236}">
                <a16:creationId xmlns:a16="http://schemas.microsoft.com/office/drawing/2014/main" id="{8C1F52F1-3DCD-D94D-B922-F8CEBAB5F0B4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119830" y="4959606"/>
            <a:ext cx="591740" cy="586978"/>
            <a:chOff x="-44" y="1473"/>
            <a:chExt cx="981" cy="1105"/>
          </a:xfrm>
        </p:grpSpPr>
        <p:pic>
          <p:nvPicPr>
            <p:cNvPr id="220" name="Picture 183" descr="desktop_computer_stylized_medium">
              <a:extLst>
                <a:ext uri="{FF2B5EF4-FFF2-40B4-BE49-F238E27FC236}">
                  <a16:creationId xmlns:a16="http://schemas.microsoft.com/office/drawing/2014/main" id="{E6083DB7-3B07-6F40-9810-0033E2E06F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1" name="Freeform 184">
              <a:extLst>
                <a:ext uri="{FF2B5EF4-FFF2-40B4-BE49-F238E27FC236}">
                  <a16:creationId xmlns:a16="http://schemas.microsoft.com/office/drawing/2014/main" id="{28CB0DC7-F192-5840-BCC3-B9D66210604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22" name="Group 185">
            <a:extLst>
              <a:ext uri="{FF2B5EF4-FFF2-40B4-BE49-F238E27FC236}">
                <a16:creationId xmlns:a16="http://schemas.microsoft.com/office/drawing/2014/main" id="{7750F2FB-96FA-374A-AF56-26502EF04672}"/>
              </a:ext>
            </a:extLst>
          </p:cNvPr>
          <p:cNvGrpSpPr>
            <a:grpSpLocks/>
          </p:cNvGrpSpPr>
          <p:nvPr/>
        </p:nvGrpSpPr>
        <p:grpSpPr bwMode="auto">
          <a:xfrm>
            <a:off x="3812274" y="4648852"/>
            <a:ext cx="269081" cy="528638"/>
            <a:chOff x="4140" y="429"/>
            <a:chExt cx="1425" cy="2396"/>
          </a:xfrm>
        </p:grpSpPr>
        <p:sp>
          <p:nvSpPr>
            <p:cNvPr id="223" name="Freeform 186">
              <a:extLst>
                <a:ext uri="{FF2B5EF4-FFF2-40B4-BE49-F238E27FC236}">
                  <a16:creationId xmlns:a16="http://schemas.microsoft.com/office/drawing/2014/main" id="{E441858B-A566-F746-B48C-912CA3020C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4" name="Rectangle 187">
              <a:extLst>
                <a:ext uri="{FF2B5EF4-FFF2-40B4-BE49-F238E27FC236}">
                  <a16:creationId xmlns:a16="http://schemas.microsoft.com/office/drawing/2014/main" id="{20003129-35A4-1E46-8065-8AF4C6403D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225" name="Freeform 188">
              <a:extLst>
                <a:ext uri="{FF2B5EF4-FFF2-40B4-BE49-F238E27FC236}">
                  <a16:creationId xmlns:a16="http://schemas.microsoft.com/office/drawing/2014/main" id="{6F94D7AE-C4D1-AF4A-B970-086B7D245AC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6" name="Freeform 189">
              <a:extLst>
                <a:ext uri="{FF2B5EF4-FFF2-40B4-BE49-F238E27FC236}">
                  <a16:creationId xmlns:a16="http://schemas.microsoft.com/office/drawing/2014/main" id="{EAFC03EF-54DF-8942-9852-25739DA158B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7" name="Rectangle 190">
              <a:extLst>
                <a:ext uri="{FF2B5EF4-FFF2-40B4-BE49-F238E27FC236}">
                  <a16:creationId xmlns:a16="http://schemas.microsoft.com/office/drawing/2014/main" id="{2241F7B6-5281-A74E-8DCB-3BE3777E93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3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grpSp>
          <p:nvGrpSpPr>
            <p:cNvPr id="228" name="Group 191">
              <a:extLst>
                <a:ext uri="{FF2B5EF4-FFF2-40B4-BE49-F238E27FC236}">
                  <a16:creationId xmlns:a16="http://schemas.microsoft.com/office/drawing/2014/main" id="{02DB0249-6EBB-FF4B-B17F-CC771B255D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53" name="AutoShape 192">
                <a:extLst>
                  <a:ext uri="{FF2B5EF4-FFF2-40B4-BE49-F238E27FC236}">
                    <a16:creationId xmlns:a16="http://schemas.microsoft.com/office/drawing/2014/main" id="{BE55370E-BC12-1B42-9E3C-C950033EEF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hangingPunct="0">
                  <a:defRPr/>
                </a:pPr>
                <a:endParaRPr lang="en-US" sz="1200" b="0" kern="0">
                  <a:solidFill>
                    <a:srgbClr val="000000"/>
                  </a:solidFill>
                  <a:latin typeface="Tahoma" charset="0"/>
                  <a:cs typeface="+mn-cs"/>
                </a:endParaRPr>
              </a:p>
            </p:txBody>
          </p:sp>
          <p:sp>
            <p:nvSpPr>
              <p:cNvPr id="254" name="AutoShape 193">
                <a:extLst>
                  <a:ext uri="{FF2B5EF4-FFF2-40B4-BE49-F238E27FC236}">
                    <a16:creationId xmlns:a16="http://schemas.microsoft.com/office/drawing/2014/main" id="{1BBB99EB-2FFB-5942-9855-24BEE1C689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2"/>
                <a:ext cx="692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hangingPunct="0">
                  <a:defRPr/>
                </a:pPr>
                <a:endParaRPr lang="en-US" sz="1200" b="0" kern="0">
                  <a:solidFill>
                    <a:srgbClr val="000000"/>
                  </a:solidFill>
                  <a:latin typeface="Tahoma" charset="0"/>
                  <a:cs typeface="+mn-cs"/>
                </a:endParaRPr>
              </a:p>
            </p:txBody>
          </p:sp>
        </p:grpSp>
        <p:sp>
          <p:nvSpPr>
            <p:cNvPr id="229" name="Rectangle 194">
              <a:extLst>
                <a:ext uri="{FF2B5EF4-FFF2-40B4-BE49-F238E27FC236}">
                  <a16:creationId xmlns:a16="http://schemas.microsoft.com/office/drawing/2014/main" id="{9C5699FC-2B4E-BD46-B9CC-CA578E2EA7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17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grpSp>
          <p:nvGrpSpPr>
            <p:cNvPr id="230" name="Group 195">
              <a:extLst>
                <a:ext uri="{FF2B5EF4-FFF2-40B4-BE49-F238E27FC236}">
                  <a16:creationId xmlns:a16="http://schemas.microsoft.com/office/drawing/2014/main" id="{676615F3-A30A-9740-8080-AFEE6BAAEF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51" name="AutoShape 196">
                <a:extLst>
                  <a:ext uri="{FF2B5EF4-FFF2-40B4-BE49-F238E27FC236}">
                    <a16:creationId xmlns:a16="http://schemas.microsoft.com/office/drawing/2014/main" id="{D31569A0-2CDC-3B4B-B7FA-067BF2CB0D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6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hangingPunct="0">
                  <a:defRPr/>
                </a:pPr>
                <a:endParaRPr lang="en-US" sz="1200" b="0" kern="0">
                  <a:solidFill>
                    <a:srgbClr val="000000"/>
                  </a:solidFill>
                  <a:latin typeface="Tahoma" charset="0"/>
                  <a:cs typeface="+mn-cs"/>
                </a:endParaRPr>
              </a:p>
            </p:txBody>
          </p:sp>
          <p:sp>
            <p:nvSpPr>
              <p:cNvPr id="252" name="AutoShape 197">
                <a:extLst>
                  <a:ext uri="{FF2B5EF4-FFF2-40B4-BE49-F238E27FC236}">
                    <a16:creationId xmlns:a16="http://schemas.microsoft.com/office/drawing/2014/main" id="{5D70C5E6-3DFB-1D45-8469-DE5EA96E13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hangingPunct="0">
                  <a:defRPr/>
                </a:pPr>
                <a:endParaRPr lang="en-US" sz="1200" b="0" kern="0">
                  <a:solidFill>
                    <a:srgbClr val="000000"/>
                  </a:solidFill>
                  <a:latin typeface="Tahoma" charset="0"/>
                  <a:cs typeface="+mn-cs"/>
                </a:endParaRPr>
              </a:p>
            </p:txBody>
          </p:sp>
        </p:grpSp>
        <p:sp>
          <p:nvSpPr>
            <p:cNvPr id="231" name="Rectangle 198">
              <a:extLst>
                <a:ext uri="{FF2B5EF4-FFF2-40B4-BE49-F238E27FC236}">
                  <a16:creationId xmlns:a16="http://schemas.microsoft.com/office/drawing/2014/main" id="{AE060187-10EA-1F4E-AEDE-8C6C0E8358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7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232" name="Rectangle 199">
              <a:extLst>
                <a:ext uri="{FF2B5EF4-FFF2-40B4-BE49-F238E27FC236}">
                  <a16:creationId xmlns:a16="http://schemas.microsoft.com/office/drawing/2014/main" id="{32874526-51C0-C749-BDC8-3D9F62AFE7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grpSp>
          <p:nvGrpSpPr>
            <p:cNvPr id="233" name="Group 200">
              <a:extLst>
                <a:ext uri="{FF2B5EF4-FFF2-40B4-BE49-F238E27FC236}">
                  <a16:creationId xmlns:a16="http://schemas.microsoft.com/office/drawing/2014/main" id="{09E63F43-E74F-6045-A673-3756891EE9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49" name="AutoShape 201">
                <a:extLst>
                  <a:ext uri="{FF2B5EF4-FFF2-40B4-BE49-F238E27FC236}">
                    <a16:creationId xmlns:a16="http://schemas.microsoft.com/office/drawing/2014/main" id="{0296B9BB-82CD-2A45-8E56-F4ACF6FCC0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hangingPunct="0">
                  <a:defRPr/>
                </a:pPr>
                <a:endParaRPr lang="en-US" sz="1200" b="0" kern="0">
                  <a:solidFill>
                    <a:srgbClr val="000000"/>
                  </a:solidFill>
                  <a:latin typeface="Tahoma" charset="0"/>
                  <a:cs typeface="+mn-cs"/>
                </a:endParaRPr>
              </a:p>
            </p:txBody>
          </p:sp>
          <p:sp>
            <p:nvSpPr>
              <p:cNvPr id="250" name="AutoShape 202">
                <a:extLst>
                  <a:ext uri="{FF2B5EF4-FFF2-40B4-BE49-F238E27FC236}">
                    <a16:creationId xmlns:a16="http://schemas.microsoft.com/office/drawing/2014/main" id="{DD3C3254-A817-B449-AE0F-31BEFF504A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9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hangingPunct="0">
                  <a:defRPr/>
                </a:pPr>
                <a:endParaRPr lang="en-US" sz="1200" b="0" kern="0">
                  <a:solidFill>
                    <a:srgbClr val="000000"/>
                  </a:solidFill>
                  <a:latin typeface="Tahoma" charset="0"/>
                  <a:cs typeface="+mn-cs"/>
                </a:endParaRPr>
              </a:p>
            </p:txBody>
          </p:sp>
        </p:grpSp>
        <p:sp>
          <p:nvSpPr>
            <p:cNvPr id="234" name="Freeform 203">
              <a:extLst>
                <a:ext uri="{FF2B5EF4-FFF2-40B4-BE49-F238E27FC236}">
                  <a16:creationId xmlns:a16="http://schemas.microsoft.com/office/drawing/2014/main" id="{D05041BE-8046-EB49-A23A-C7FEB06D91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35" name="Group 204">
              <a:extLst>
                <a:ext uri="{FF2B5EF4-FFF2-40B4-BE49-F238E27FC236}">
                  <a16:creationId xmlns:a16="http://schemas.microsoft.com/office/drawing/2014/main" id="{BD1D997D-F690-4C4E-9473-F0433427C9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47" name="AutoShape 205">
                <a:extLst>
                  <a:ext uri="{FF2B5EF4-FFF2-40B4-BE49-F238E27FC236}">
                    <a16:creationId xmlns:a16="http://schemas.microsoft.com/office/drawing/2014/main" id="{631C3D3D-8F7D-6F44-AD56-665A5242B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hangingPunct="0">
                  <a:defRPr/>
                </a:pPr>
                <a:endParaRPr lang="en-US" sz="1200" b="0" kern="0">
                  <a:solidFill>
                    <a:srgbClr val="000000"/>
                  </a:solidFill>
                  <a:latin typeface="Tahoma" charset="0"/>
                  <a:cs typeface="+mn-cs"/>
                </a:endParaRPr>
              </a:p>
            </p:txBody>
          </p:sp>
          <p:sp>
            <p:nvSpPr>
              <p:cNvPr id="248" name="AutoShape 206">
                <a:extLst>
                  <a:ext uri="{FF2B5EF4-FFF2-40B4-BE49-F238E27FC236}">
                    <a16:creationId xmlns:a16="http://schemas.microsoft.com/office/drawing/2014/main" id="{E7F87D38-4528-0F45-9911-B79B599D25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1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defTabSz="685800" eaLnBrk="0" hangingPunct="0">
                  <a:defRPr/>
                </a:pPr>
                <a:endParaRPr lang="en-US" sz="1200" b="0" kern="0">
                  <a:solidFill>
                    <a:srgbClr val="000000"/>
                  </a:solidFill>
                  <a:latin typeface="Tahoma" charset="0"/>
                  <a:cs typeface="+mn-cs"/>
                </a:endParaRPr>
              </a:p>
            </p:txBody>
          </p:sp>
        </p:grpSp>
        <p:sp>
          <p:nvSpPr>
            <p:cNvPr id="236" name="Rectangle 207">
              <a:extLst>
                <a:ext uri="{FF2B5EF4-FFF2-40B4-BE49-F238E27FC236}">
                  <a16:creationId xmlns:a16="http://schemas.microsoft.com/office/drawing/2014/main" id="{60B24777-81BE-BC42-AC64-6F2229E5FB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8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237" name="Freeform 208">
              <a:extLst>
                <a:ext uri="{FF2B5EF4-FFF2-40B4-BE49-F238E27FC236}">
                  <a16:creationId xmlns:a16="http://schemas.microsoft.com/office/drawing/2014/main" id="{FD1049FD-ADAC-FC43-A186-6585ECAE43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8" name="Freeform 209">
              <a:extLst>
                <a:ext uri="{FF2B5EF4-FFF2-40B4-BE49-F238E27FC236}">
                  <a16:creationId xmlns:a16="http://schemas.microsoft.com/office/drawing/2014/main" id="{A25585BA-2AFC-3047-B9D5-7CC45D5DBC4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9" name="Oval 210">
              <a:extLst>
                <a:ext uri="{FF2B5EF4-FFF2-40B4-BE49-F238E27FC236}">
                  <a16:creationId xmlns:a16="http://schemas.microsoft.com/office/drawing/2014/main" id="{78C608B6-FCB9-3F43-A504-D33DD7782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09"/>
              <a:ext cx="50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240" name="Freeform 211">
              <a:extLst>
                <a:ext uri="{FF2B5EF4-FFF2-40B4-BE49-F238E27FC236}">
                  <a16:creationId xmlns:a16="http://schemas.microsoft.com/office/drawing/2014/main" id="{F24BE4FA-86B6-5840-8B76-BF70EF006A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1" name="AutoShape 212">
              <a:extLst>
                <a:ext uri="{FF2B5EF4-FFF2-40B4-BE49-F238E27FC236}">
                  <a16:creationId xmlns:a16="http://schemas.microsoft.com/office/drawing/2014/main" id="{22C6B4EC-00C6-BA43-95E2-370E8204DD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242" name="AutoShape 213">
              <a:extLst>
                <a:ext uri="{FF2B5EF4-FFF2-40B4-BE49-F238E27FC236}">
                  <a16:creationId xmlns:a16="http://schemas.microsoft.com/office/drawing/2014/main" id="{7B9210ED-D802-C84E-8A67-93399801B5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12"/>
              <a:ext cx="1072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243" name="Oval 214">
              <a:extLst>
                <a:ext uri="{FF2B5EF4-FFF2-40B4-BE49-F238E27FC236}">
                  <a16:creationId xmlns:a16="http://schemas.microsoft.com/office/drawing/2014/main" id="{552E77C8-7BFE-BF4D-8F0B-DF6513BE6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2"/>
              <a:ext cx="158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244" name="Oval 215">
              <a:extLst>
                <a:ext uri="{FF2B5EF4-FFF2-40B4-BE49-F238E27FC236}">
                  <a16:creationId xmlns:a16="http://schemas.microsoft.com/office/drawing/2014/main" id="{86496A7E-E21F-444D-B883-E410329FF2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2"/>
              <a:ext cx="158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>
                <a:defRPr/>
              </a:pPr>
              <a:endParaRPr lang="en-US" sz="1350" b="0" kern="0">
                <a:solidFill>
                  <a:srgbClr val="FF0000"/>
                </a:solidFill>
                <a:cs typeface="Arial" charset="0"/>
              </a:endParaRPr>
            </a:p>
          </p:txBody>
        </p:sp>
        <p:sp>
          <p:nvSpPr>
            <p:cNvPr id="245" name="Oval 216">
              <a:extLst>
                <a:ext uri="{FF2B5EF4-FFF2-40B4-BE49-F238E27FC236}">
                  <a16:creationId xmlns:a16="http://schemas.microsoft.com/office/drawing/2014/main" id="{555E4B0D-EDB2-D04B-B9AD-93FA92DDAA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2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  <p:sp>
          <p:nvSpPr>
            <p:cNvPr id="246" name="Rectangle 217">
              <a:extLst>
                <a:ext uri="{FF2B5EF4-FFF2-40B4-BE49-F238E27FC236}">
                  <a16:creationId xmlns:a16="http://schemas.microsoft.com/office/drawing/2014/main" id="{DE659B39-E72A-634A-A2AC-C4BA4DC9C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685800" eaLnBrk="0" hangingPunct="0">
                <a:defRPr/>
              </a:pPr>
              <a:endParaRPr lang="en-US" sz="1200" b="0" kern="0">
                <a:solidFill>
                  <a:srgbClr val="000000"/>
                </a:solidFill>
                <a:latin typeface="Tahoma" charset="0"/>
                <a:cs typeface="+mn-cs"/>
              </a:endParaRPr>
            </a:p>
          </p:txBody>
        </p:sp>
      </p:grpSp>
      <p:grpSp>
        <p:nvGrpSpPr>
          <p:cNvPr id="255" name="Group 176">
            <a:extLst>
              <a:ext uri="{FF2B5EF4-FFF2-40B4-BE49-F238E27FC236}">
                <a16:creationId xmlns:a16="http://schemas.microsoft.com/office/drawing/2014/main" id="{A688A9DA-2CE4-9245-B0CF-12C3AB6DA03D}"/>
              </a:ext>
            </a:extLst>
          </p:cNvPr>
          <p:cNvGrpSpPr>
            <a:grpSpLocks/>
          </p:cNvGrpSpPr>
          <p:nvPr/>
        </p:nvGrpSpPr>
        <p:grpSpPr bwMode="auto">
          <a:xfrm>
            <a:off x="887316" y="2029501"/>
            <a:ext cx="3619524" cy="1289741"/>
            <a:chOff x="5" y="727"/>
            <a:chExt cx="2460" cy="1047"/>
          </a:xfrm>
        </p:grpSpPr>
        <p:sp>
          <p:nvSpPr>
            <p:cNvPr id="256" name="Text Box 45">
              <a:extLst>
                <a:ext uri="{FF2B5EF4-FFF2-40B4-BE49-F238E27FC236}">
                  <a16:creationId xmlns:a16="http://schemas.microsoft.com/office/drawing/2014/main" id="{08227C49-D6DA-834A-88D1-4F61E7C3A2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" y="1101"/>
              <a:ext cx="2332" cy="6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defTabSz="685800" fontAlgn="auto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800" b="0" dirty="0">
                  <a:solidFill>
                    <a:prstClr val="black"/>
                  </a:solidFill>
                  <a:latin typeface="Calibri" panose="020F0502020204030204"/>
                  <a:cs typeface="+mn-cs"/>
                </a:rPr>
                <a:t>handle data from multiple</a:t>
              </a:r>
            </a:p>
            <a:p>
              <a:pPr defTabSz="685800" fontAlgn="auto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800" b="0" dirty="0">
                  <a:solidFill>
                    <a:prstClr val="black"/>
                  </a:solidFill>
                  <a:latin typeface="Calibri" panose="020F0502020204030204"/>
                  <a:cs typeface="+mn-cs"/>
                </a:rPr>
                <a:t>sockets, add transport header (later used for demultiplexing)</a:t>
              </a:r>
            </a:p>
          </p:txBody>
        </p:sp>
        <p:sp>
          <p:nvSpPr>
            <p:cNvPr id="257" name="Rectangle 46">
              <a:extLst>
                <a:ext uri="{FF2B5EF4-FFF2-40B4-BE49-F238E27FC236}">
                  <a16:creationId xmlns:a16="http://schemas.microsoft.com/office/drawing/2014/main" id="{3B2C1C25-63A3-9D42-A34A-56DE5B3AC2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" y="901"/>
              <a:ext cx="2298" cy="873"/>
            </a:xfrm>
            <a:prstGeom prst="rect">
              <a:avLst/>
            </a:prstGeom>
            <a:noFill/>
            <a:ln w="19050">
              <a:solidFill>
                <a:srgbClr val="CC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500" b="0">
                <a:solidFill>
                  <a:prstClr val="black"/>
                </a:solidFill>
                <a:latin typeface="Calibri" panose="020F0502020204030204"/>
                <a:cs typeface="+mn-cs"/>
              </a:endParaRPr>
            </a:p>
          </p:txBody>
        </p:sp>
        <p:grpSp>
          <p:nvGrpSpPr>
            <p:cNvPr id="258" name="Group 47">
              <a:extLst>
                <a:ext uri="{FF2B5EF4-FFF2-40B4-BE49-F238E27FC236}">
                  <a16:creationId xmlns:a16="http://schemas.microsoft.com/office/drawing/2014/main" id="{9141C6D7-5B52-C14E-B286-0BE1FAEACC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1" y="727"/>
              <a:ext cx="1854" cy="375"/>
              <a:chOff x="869" y="3567"/>
              <a:chExt cx="1780" cy="375"/>
            </a:xfrm>
          </p:grpSpPr>
          <p:sp>
            <p:nvSpPr>
              <p:cNvPr id="259" name="Rectangle 48">
                <a:extLst>
                  <a:ext uri="{FF2B5EF4-FFF2-40B4-BE49-F238E27FC236}">
                    <a16:creationId xmlns:a16="http://schemas.microsoft.com/office/drawing/2014/main" id="{9B8AF1CA-3C6F-F243-9464-0DF4CA71C4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2" y="3732"/>
                <a:ext cx="1006" cy="2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500" b="0">
                  <a:solidFill>
                    <a:prstClr val="black"/>
                  </a:solidFill>
                  <a:latin typeface="Calibri" panose="020F0502020204030204"/>
                  <a:cs typeface="+mn-cs"/>
                </a:endParaRPr>
              </a:p>
            </p:txBody>
          </p:sp>
          <p:sp>
            <p:nvSpPr>
              <p:cNvPr id="260" name="Text Box 49">
                <a:extLst>
                  <a:ext uri="{FF2B5EF4-FFF2-40B4-BE49-F238E27FC236}">
                    <a16:creationId xmlns:a16="http://schemas.microsoft.com/office/drawing/2014/main" id="{70A5AF43-DDA0-2A40-9B92-B39F358268C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9" y="3567"/>
                <a:ext cx="1780" cy="33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100" b="0" i="1" dirty="0">
                    <a:solidFill>
                      <a:srgbClr val="CC0000"/>
                    </a:solidFill>
                    <a:latin typeface="Calibri" panose="020F0502020204030204"/>
                    <a:cs typeface="+mn-cs"/>
                  </a:rPr>
                  <a:t>multiplexing at sender:</a:t>
                </a:r>
              </a:p>
            </p:txBody>
          </p:sp>
        </p:grpSp>
      </p:grpSp>
      <p:sp>
        <p:nvSpPr>
          <p:cNvPr id="169" name="Freeform 142">
            <a:extLst>
              <a:ext uri="{FF2B5EF4-FFF2-40B4-BE49-F238E27FC236}">
                <a16:creationId xmlns:a16="http://schemas.microsoft.com/office/drawing/2014/main" id="{9633E13F-8D02-CA4B-A3EB-E64D4EB42802}"/>
              </a:ext>
            </a:extLst>
          </p:cNvPr>
          <p:cNvSpPr>
            <a:spLocks/>
          </p:cNvSpPr>
          <p:nvPr/>
        </p:nvSpPr>
        <p:spPr bwMode="auto">
          <a:xfrm>
            <a:off x="3149095" y="4201177"/>
            <a:ext cx="1471613" cy="1422797"/>
          </a:xfrm>
          <a:custGeom>
            <a:avLst/>
            <a:gdLst>
              <a:gd name="T0" fmla="*/ 0 w 1236"/>
              <a:gd name="T1" fmla="*/ 2147483647 h 1195"/>
              <a:gd name="T2" fmla="*/ 2147483647 w 1236"/>
              <a:gd name="T3" fmla="*/ 2147483647 h 1195"/>
              <a:gd name="T4" fmla="*/ 2147483647 w 1236"/>
              <a:gd name="T5" fmla="*/ 2147483647 h 1195"/>
              <a:gd name="T6" fmla="*/ 2147483647 w 1236"/>
              <a:gd name="T7" fmla="*/ 2147483647 h 1195"/>
              <a:gd name="T8" fmla="*/ 2147483647 w 1236"/>
              <a:gd name="T9" fmla="*/ 0 h 119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36" h="1195">
                <a:moveTo>
                  <a:pt x="0" y="202"/>
                </a:moveTo>
                <a:lnTo>
                  <a:pt x="6" y="1194"/>
                </a:lnTo>
                <a:lnTo>
                  <a:pt x="1236" y="1195"/>
                </a:lnTo>
                <a:lnTo>
                  <a:pt x="1227" y="150"/>
                </a:lnTo>
                <a:lnTo>
                  <a:pt x="1069" y="0"/>
                </a:lnTo>
              </a:path>
            </a:pathLst>
          </a:custGeom>
          <a:noFill/>
          <a:ln w="19050" cap="flat" cmpd="sng">
            <a:solidFill>
              <a:srgbClr val="000099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defTabSz="685800" eaLnBrk="0" hangingPunct="0">
              <a:defRPr/>
            </a:pPr>
            <a:endParaRPr lang="en-US" sz="1200" b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8" name="Freeform 141">
            <a:extLst>
              <a:ext uri="{FF2B5EF4-FFF2-40B4-BE49-F238E27FC236}">
                <a16:creationId xmlns:a16="http://schemas.microsoft.com/office/drawing/2014/main" id="{68E70704-F4BA-164C-AD06-3859E25D67E2}"/>
              </a:ext>
            </a:extLst>
          </p:cNvPr>
          <p:cNvSpPr>
            <a:spLocks/>
          </p:cNvSpPr>
          <p:nvPr/>
        </p:nvSpPr>
        <p:spPr bwMode="auto">
          <a:xfrm>
            <a:off x="3101470" y="4182127"/>
            <a:ext cx="1620441" cy="1491854"/>
          </a:xfrm>
          <a:custGeom>
            <a:avLst/>
            <a:gdLst>
              <a:gd name="T0" fmla="*/ 0 w 1361"/>
              <a:gd name="T1" fmla="*/ 2147483647 h 1253"/>
              <a:gd name="T2" fmla="*/ 2147483647 w 1361"/>
              <a:gd name="T3" fmla="*/ 2147483647 h 1253"/>
              <a:gd name="T4" fmla="*/ 2147483647 w 1361"/>
              <a:gd name="T5" fmla="*/ 2147483647 h 1253"/>
              <a:gd name="T6" fmla="*/ 2147483647 w 1361"/>
              <a:gd name="T7" fmla="*/ 2147483647 h 1253"/>
              <a:gd name="T8" fmla="*/ 2147483647 w 1361"/>
              <a:gd name="T9" fmla="*/ 2147483647 h 1253"/>
              <a:gd name="T10" fmla="*/ 2147483647 w 1361"/>
              <a:gd name="T11" fmla="*/ 0 h 125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361" h="1253">
                <a:moveTo>
                  <a:pt x="0" y="216"/>
                </a:moveTo>
                <a:lnTo>
                  <a:pt x="7" y="1252"/>
                </a:lnTo>
                <a:lnTo>
                  <a:pt x="1320" y="1253"/>
                </a:lnTo>
                <a:lnTo>
                  <a:pt x="1361" y="1252"/>
                </a:lnTo>
                <a:lnTo>
                  <a:pt x="1353" y="114"/>
                </a:lnTo>
                <a:lnTo>
                  <a:pt x="1178" y="0"/>
                </a:lnTo>
              </a:path>
            </a:pathLst>
          </a:custGeom>
          <a:noFill/>
          <a:ln w="19050" cap="flat" cmpd="sng">
            <a:solidFill>
              <a:srgbClr val="000099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defTabSz="685800" eaLnBrk="0" hangingPunct="0">
              <a:defRPr/>
            </a:pPr>
            <a:endParaRPr lang="en-US" sz="1200" b="0">
              <a:solidFill>
                <a:srgbClr val="000000"/>
              </a:solidFill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3338205" y="4098566"/>
            <a:ext cx="2811727" cy="86160"/>
            <a:chOff x="4450940" y="4321755"/>
            <a:chExt cx="3748969" cy="114880"/>
          </a:xfrm>
        </p:grpSpPr>
        <p:sp>
          <p:nvSpPr>
            <p:cNvPr id="6" name="Left-Right Arrow 5"/>
            <p:cNvSpPr/>
            <p:nvPr/>
          </p:nvSpPr>
          <p:spPr>
            <a:xfrm rot="20821812">
              <a:off x="4450940" y="4321755"/>
              <a:ext cx="1216152" cy="99004"/>
            </a:xfrm>
            <a:prstGeom prst="leftRightArrow">
              <a:avLst/>
            </a:prstGeom>
            <a:solidFill>
              <a:srgbClr val="000090"/>
            </a:solidFill>
            <a:ln>
              <a:solidFill>
                <a:srgbClr val="00009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 b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61" name="Left-Right Arrow 260"/>
            <p:cNvSpPr/>
            <p:nvPr/>
          </p:nvSpPr>
          <p:spPr>
            <a:xfrm rot="778188" flipV="1">
              <a:off x="6983757" y="4337631"/>
              <a:ext cx="1216152" cy="99004"/>
            </a:xfrm>
            <a:prstGeom prst="leftRightArrow">
              <a:avLst/>
            </a:prstGeom>
            <a:solidFill>
              <a:srgbClr val="000090"/>
            </a:solidFill>
            <a:ln>
              <a:solidFill>
                <a:srgbClr val="00009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 b="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263" name="Rectangle 2">
            <a:extLst>
              <a:ext uri="{FF2B5EF4-FFF2-40B4-BE49-F238E27FC236}">
                <a16:creationId xmlns:a16="http://schemas.microsoft.com/office/drawing/2014/main" id="{77CB1095-C67C-ED49-A4C9-306E022306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Multiplexing &amp; demultiplexing</a:t>
            </a:r>
          </a:p>
        </p:txBody>
      </p:sp>
    </p:spTree>
    <p:extLst>
      <p:ext uri="{BB962C8B-B14F-4D97-AF65-F5344CB8AC3E}">
        <p14:creationId xmlns:p14="http://schemas.microsoft.com/office/powerpoint/2010/main" val="2972402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6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2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5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8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" grpId="0" animBg="1"/>
      <p:bldP spid="207" grpId="0" animBg="1"/>
      <p:bldP spid="212" grpId="0" animBg="1"/>
      <p:bldP spid="212" grpId="1" animBg="1"/>
      <p:bldP spid="169" grpId="0" animBg="1"/>
      <p:bldP spid="16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of the transport layer</a:t>
            </a:r>
          </a:p>
        </p:txBody>
      </p:sp>
      <p:sp>
        <p:nvSpPr>
          <p:cNvPr id="11038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 </a:t>
            </a:r>
            <a:r>
              <a:rPr lang="en-US" dirty="0"/>
              <a:t>Communication between processes</a:t>
            </a:r>
          </a:p>
          <a:p>
            <a:r>
              <a:rPr lang="en-US" altLang="zh-CN" dirty="0">
                <a:solidFill>
                  <a:srgbClr val="0000FF"/>
                </a:solidFill>
              </a:rPr>
              <a:t>2.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rgbClr val="0000FF"/>
                </a:solidFill>
              </a:rPr>
              <a:t>Provide common end-to-end services for app layer</a:t>
            </a:r>
          </a:p>
          <a:p>
            <a:pPr lvl="1"/>
            <a:r>
              <a:rPr lang="en-US" dirty="0"/>
              <a:t>Reliable, in-order data delivery</a:t>
            </a:r>
          </a:p>
          <a:p>
            <a:pPr lvl="1"/>
            <a:r>
              <a:rPr lang="en-US" dirty="0"/>
              <a:t>Well-paced data delivery</a:t>
            </a:r>
          </a:p>
          <a:p>
            <a:pPr lvl="2"/>
            <a:r>
              <a:rPr lang="en-US" dirty="0"/>
              <a:t>Too fast may overwhelm the network</a:t>
            </a:r>
          </a:p>
          <a:p>
            <a:pPr lvl="2"/>
            <a:r>
              <a:rPr lang="en-US" dirty="0"/>
              <a:t>Too slow is not efficient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6572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of the transport layer</a:t>
            </a:r>
          </a:p>
        </p:txBody>
      </p:sp>
      <p:sp>
        <p:nvSpPr>
          <p:cNvPr id="11038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Communication between processes</a:t>
            </a:r>
          </a:p>
          <a:p>
            <a:r>
              <a:rPr lang="en-US" dirty="0"/>
              <a:t>Provide common end-to-end services for app layer</a:t>
            </a:r>
          </a:p>
          <a:p>
            <a:r>
              <a:rPr lang="en-US" dirty="0">
                <a:solidFill>
                  <a:srgbClr val="0000FF"/>
                </a:solidFill>
              </a:rPr>
              <a:t>TCP and UDP are the common transport protocols</a:t>
            </a:r>
          </a:p>
          <a:p>
            <a:pPr lvl="1"/>
            <a:r>
              <a:rPr lang="en-US" dirty="0"/>
              <a:t>Also SCTP, MPTCP, SST, RDP, DCCP, … 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236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of the transport layer</a:t>
            </a:r>
          </a:p>
        </p:txBody>
      </p:sp>
      <p:sp>
        <p:nvSpPr>
          <p:cNvPr id="11038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Communication between processes</a:t>
            </a:r>
          </a:p>
          <a:p>
            <a:r>
              <a:rPr lang="en-US" dirty="0"/>
              <a:t>Provide common end-to-end services for app layer</a:t>
            </a:r>
          </a:p>
          <a:p>
            <a:r>
              <a:rPr lang="en-US" dirty="0"/>
              <a:t>TCP and UDP are the common transport protocols</a:t>
            </a:r>
          </a:p>
          <a:p>
            <a:r>
              <a:rPr lang="en-US" dirty="0">
                <a:solidFill>
                  <a:srgbClr val="0000FF"/>
                </a:solidFill>
              </a:rPr>
              <a:t>UDP is a minimalist transport protocol</a:t>
            </a:r>
          </a:p>
          <a:p>
            <a:pPr lvl="1"/>
            <a:r>
              <a:rPr lang="en-US" dirty="0"/>
              <a:t>Only provides mux/demux capabilities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4011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of the transport layer</a:t>
            </a:r>
          </a:p>
        </p:txBody>
      </p:sp>
      <p:sp>
        <p:nvSpPr>
          <p:cNvPr id="11038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Communication between processes</a:t>
            </a:r>
          </a:p>
          <a:p>
            <a:r>
              <a:rPr lang="en-US" dirty="0"/>
              <a:t>Provide common end-to-end services for app layer</a:t>
            </a:r>
          </a:p>
          <a:p>
            <a:r>
              <a:rPr lang="en-US" dirty="0"/>
              <a:t>TCP and UDP are the common transport protocols</a:t>
            </a:r>
          </a:p>
          <a:p>
            <a:r>
              <a:rPr lang="en-US" dirty="0"/>
              <a:t>UDP is a minimalist transport protocol</a:t>
            </a:r>
          </a:p>
          <a:p>
            <a:pPr marL="257175" lvl="1" indent="-257175">
              <a:buFont typeface="Monotype Sorts" charset="0"/>
              <a:buChar char="l"/>
            </a:pPr>
            <a:r>
              <a:rPr lang="en-US" sz="2800" dirty="0">
                <a:solidFill>
                  <a:srgbClr val="0000FF"/>
                </a:solidFill>
              </a:rPr>
              <a:t>TCP offers a reliable, in-order, byte stream abstraction</a:t>
            </a:r>
          </a:p>
          <a:p>
            <a:pPr lvl="1"/>
            <a:r>
              <a:rPr lang="en-US" dirty="0"/>
              <a:t>With congestion control, but w/o performance guarantees (delay, b/w, etc.)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5017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and sockets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Socket</a:t>
            </a:r>
            <a:r>
              <a:rPr lang="en-US" dirty="0"/>
              <a:t>: software abstraction for an application process to exchange network messages with the (transport layer in the) operating system </a:t>
            </a:r>
          </a:p>
          <a:p>
            <a:r>
              <a:rPr lang="en-US" dirty="0"/>
              <a:t>Two important types of sockets</a:t>
            </a:r>
          </a:p>
          <a:p>
            <a:pPr lvl="1"/>
            <a:r>
              <a:rPr lang="en-US" dirty="0"/>
              <a:t>UDP socket: TYPE is SOCK_DGRAM </a:t>
            </a:r>
          </a:p>
          <a:p>
            <a:pPr lvl="1"/>
            <a:r>
              <a:rPr lang="en-US" dirty="0">
                <a:sym typeface="Wingdings"/>
              </a:rPr>
              <a:t>TCP socket: TYPE is SOCK_STREAM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61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Ports</a:t>
            </a:r>
            <a:endParaRPr lang="en-US" dirty="0"/>
          </a:p>
        </p:txBody>
      </p:sp>
      <p:sp>
        <p:nvSpPr>
          <p:cNvPr id="11089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16-bit numbers that help distinguishing apps</a:t>
            </a:r>
          </a:p>
          <a:p>
            <a:pPr lvl="1"/>
            <a:r>
              <a:rPr lang="en-US" dirty="0"/>
              <a:t>Packets carry </a:t>
            </a:r>
            <a:r>
              <a:rPr lang="en-US" dirty="0" err="1"/>
              <a:t>src</a:t>
            </a:r>
            <a:r>
              <a:rPr lang="en-US" dirty="0"/>
              <a:t>/</a:t>
            </a:r>
            <a:r>
              <a:rPr lang="en-US" dirty="0" err="1"/>
              <a:t>dst</a:t>
            </a:r>
            <a:r>
              <a:rPr lang="en-US" dirty="0"/>
              <a:t> port no in transport header</a:t>
            </a:r>
          </a:p>
          <a:p>
            <a:pPr lvl="1"/>
            <a:r>
              <a:rPr lang="en-US" dirty="0">
                <a:sym typeface="Wingdings"/>
              </a:rPr>
              <a:t>Well-known (0-1023) and ephemeral ports</a:t>
            </a:r>
            <a:endParaRPr lang="en-US" dirty="0"/>
          </a:p>
          <a:p>
            <a:r>
              <a:rPr lang="en-US" dirty="0"/>
              <a:t>OS stores mapping between sockets and ports</a:t>
            </a:r>
          </a:p>
          <a:p>
            <a:pPr lvl="1"/>
            <a:r>
              <a:rPr lang="en-US" dirty="0"/>
              <a:t>Port in packets and sockets in OS</a:t>
            </a:r>
          </a:p>
          <a:p>
            <a:pPr lvl="1"/>
            <a:r>
              <a:rPr lang="en-US" dirty="0"/>
              <a:t>For UDP ports (SOCK_DGRAM)</a:t>
            </a:r>
          </a:p>
          <a:p>
            <a:pPr lvl="2"/>
            <a:r>
              <a:rPr lang="en-US" dirty="0"/>
              <a:t>OS stores (local port, local IP address) </a:t>
            </a:r>
            <a:r>
              <a:rPr lang="en-US" dirty="0">
                <a:sym typeface="Wingdings"/>
              </a:rPr>
              <a:t> socket</a:t>
            </a:r>
          </a:p>
          <a:p>
            <a:pPr lvl="1"/>
            <a:r>
              <a:rPr lang="en-US" dirty="0"/>
              <a:t>For TCP ports (SOCK_STREAM)</a:t>
            </a:r>
          </a:p>
          <a:p>
            <a:pPr lvl="2"/>
            <a:r>
              <a:rPr lang="en-US" dirty="0"/>
              <a:t>OS stores </a:t>
            </a:r>
            <a:r>
              <a:rPr lang="en-US" dirty="0">
                <a:sym typeface="Wingdings"/>
              </a:rPr>
              <a:t>(local port, local IP, remote port, remote IP)  socket</a:t>
            </a:r>
          </a:p>
        </p:txBody>
      </p:sp>
    </p:spTree>
    <p:extLst>
      <p:ext uri="{BB962C8B-B14F-4D97-AF65-F5344CB8AC3E}">
        <p14:creationId xmlns:p14="http://schemas.microsoft.com/office/powerpoint/2010/main" val="1951917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9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9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8995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UDP: User Datagram Protocol </a:t>
            </a:r>
          </a:p>
        </p:txBody>
      </p:sp>
      <p:sp>
        <p:nvSpPr>
          <p:cNvPr id="8294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Lightweight communication between processes</a:t>
            </a:r>
          </a:p>
          <a:p>
            <a:pPr lvl="1"/>
            <a:r>
              <a:rPr lang="en-US" dirty="0"/>
              <a:t>Avoid overhead and delays of order &amp; reliability</a:t>
            </a:r>
          </a:p>
          <a:p>
            <a:r>
              <a:rPr lang="en-US" dirty="0"/>
              <a:t>UDP described in RFC 768 – (1980!)</a:t>
            </a:r>
          </a:p>
          <a:p>
            <a:pPr lvl="1"/>
            <a:r>
              <a:rPr lang="en-US" dirty="0"/>
              <a:t>Destination IP address and port to support demultiplexing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4038600" y="3810000"/>
            <a:ext cx="3522663" cy="1828800"/>
            <a:chOff x="2286000" y="4953000"/>
            <a:chExt cx="3522663" cy="1828800"/>
          </a:xfrm>
        </p:grpSpPr>
        <p:sp>
          <p:nvSpPr>
            <p:cNvPr id="284676" name="Rectangle 4"/>
            <p:cNvSpPr>
              <a:spLocks noChangeArrowheads="1"/>
            </p:cNvSpPr>
            <p:nvPr/>
          </p:nvSpPr>
          <p:spPr bwMode="auto">
            <a:xfrm>
              <a:off x="2286000" y="4953000"/>
              <a:ext cx="1760538" cy="533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284677" name="Rectangle 5"/>
            <p:cNvSpPr>
              <a:spLocks noChangeArrowheads="1"/>
            </p:cNvSpPr>
            <p:nvPr/>
          </p:nvSpPr>
          <p:spPr bwMode="auto">
            <a:xfrm>
              <a:off x="4046538" y="4953000"/>
              <a:ext cx="1760537" cy="533400"/>
            </a:xfrm>
            <a:prstGeom prst="rect">
              <a:avLst/>
            </a:prstGeom>
            <a:solidFill>
              <a:srgbClr val="D3A6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284678" name="Rectangle 6"/>
            <p:cNvSpPr>
              <a:spLocks noChangeArrowheads="1"/>
            </p:cNvSpPr>
            <p:nvPr/>
          </p:nvSpPr>
          <p:spPr bwMode="auto">
            <a:xfrm>
              <a:off x="2286000" y="5486400"/>
              <a:ext cx="1760538" cy="533400"/>
            </a:xfrm>
            <a:prstGeom prst="rect">
              <a:avLst/>
            </a:prstGeom>
            <a:solidFill>
              <a:srgbClr val="D3A6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284679" name="Rectangle 7"/>
            <p:cNvSpPr>
              <a:spLocks noChangeArrowheads="1"/>
            </p:cNvSpPr>
            <p:nvPr/>
          </p:nvSpPr>
          <p:spPr bwMode="auto">
            <a:xfrm>
              <a:off x="4046538" y="5486400"/>
              <a:ext cx="1760537" cy="533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284680" name="Line 8"/>
            <p:cNvSpPr>
              <a:spLocks noChangeShapeType="1"/>
            </p:cNvSpPr>
            <p:nvPr/>
          </p:nvSpPr>
          <p:spPr bwMode="auto">
            <a:xfrm>
              <a:off x="2286000" y="6019800"/>
              <a:ext cx="0" cy="762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284681" name="Line 9"/>
            <p:cNvSpPr>
              <a:spLocks noChangeShapeType="1"/>
            </p:cNvSpPr>
            <p:nvPr/>
          </p:nvSpPr>
          <p:spPr bwMode="auto">
            <a:xfrm>
              <a:off x="5808663" y="6019800"/>
              <a:ext cx="0" cy="762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284682" name="Text Box 10"/>
            <p:cNvSpPr txBox="1">
              <a:spLocks noChangeArrowheads="1"/>
            </p:cNvSpPr>
            <p:nvPr/>
          </p:nvSpPr>
          <p:spPr bwMode="auto">
            <a:xfrm>
              <a:off x="2570163" y="5070475"/>
              <a:ext cx="1295400" cy="366713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>
                <a:buSzPct val="150000"/>
              </a:pPr>
              <a:r>
                <a:rPr lang="en-US" sz="1800" b="0" dirty="0">
                  <a:latin typeface="Arial" charset="0"/>
                  <a:ea typeface="Arial" charset="0"/>
                  <a:cs typeface="Arial" charset="0"/>
                </a:rPr>
                <a:t> SRC port</a:t>
              </a:r>
            </a:p>
          </p:txBody>
        </p:sp>
        <p:sp>
          <p:nvSpPr>
            <p:cNvPr id="284683" name="Text Box 11"/>
            <p:cNvSpPr txBox="1">
              <a:spLocks noChangeArrowheads="1"/>
            </p:cNvSpPr>
            <p:nvPr/>
          </p:nvSpPr>
          <p:spPr bwMode="auto">
            <a:xfrm>
              <a:off x="4275138" y="5070475"/>
              <a:ext cx="1295400" cy="366713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>
                <a:buSzPct val="150000"/>
              </a:pPr>
              <a:r>
                <a:rPr lang="en-US" sz="1800" b="0" dirty="0">
                  <a:latin typeface="Arial" charset="0"/>
                  <a:ea typeface="Arial" charset="0"/>
                  <a:cs typeface="Arial" charset="0"/>
                </a:rPr>
                <a:t> DST port</a:t>
              </a:r>
            </a:p>
          </p:txBody>
        </p:sp>
        <p:sp>
          <p:nvSpPr>
            <p:cNvPr id="284684" name="Text Box 12"/>
            <p:cNvSpPr txBox="1">
              <a:spLocks noChangeArrowheads="1"/>
            </p:cNvSpPr>
            <p:nvPr/>
          </p:nvSpPr>
          <p:spPr bwMode="auto">
            <a:xfrm>
              <a:off x="2751932" y="5576888"/>
              <a:ext cx="943769" cy="366712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>
                <a:buSzPct val="150000"/>
              </a:pPr>
              <a:r>
                <a:rPr lang="en-US" sz="1800" b="0" dirty="0">
                  <a:latin typeface="Arial" charset="0"/>
                  <a:ea typeface="Arial" charset="0"/>
                  <a:cs typeface="Arial" charset="0"/>
                </a:rPr>
                <a:t>Length</a:t>
              </a:r>
            </a:p>
          </p:txBody>
        </p:sp>
        <p:sp>
          <p:nvSpPr>
            <p:cNvPr id="284685" name="Text Box 13"/>
            <p:cNvSpPr txBox="1">
              <a:spLocks noChangeArrowheads="1"/>
            </p:cNvSpPr>
            <p:nvPr/>
          </p:nvSpPr>
          <p:spPr bwMode="auto">
            <a:xfrm>
              <a:off x="4275138" y="5576888"/>
              <a:ext cx="1295400" cy="369332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>
                <a:buSzPct val="150000"/>
              </a:pPr>
              <a:r>
                <a:rPr lang="en-US" sz="1800" b="0" dirty="0">
                  <a:latin typeface="Arial" charset="0"/>
                  <a:ea typeface="Arial" charset="0"/>
                  <a:cs typeface="Arial" charset="0"/>
                </a:rPr>
                <a:t>Checksum</a:t>
              </a:r>
            </a:p>
          </p:txBody>
        </p:sp>
        <p:sp>
          <p:nvSpPr>
            <p:cNvPr id="284686" name="Text Box 14"/>
            <p:cNvSpPr txBox="1">
              <a:spLocks noChangeArrowheads="1"/>
            </p:cNvSpPr>
            <p:nvPr/>
          </p:nvSpPr>
          <p:spPr bwMode="auto">
            <a:xfrm>
              <a:off x="3684588" y="6248400"/>
              <a:ext cx="8382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>
                <a:buSzPct val="150000"/>
              </a:pPr>
              <a:r>
                <a:rPr lang="en-US" sz="1800" b="0">
                  <a:latin typeface="Arial" charset="0"/>
                  <a:ea typeface="Arial" charset="0"/>
                  <a:cs typeface="Arial" charset="0"/>
                </a:rPr>
                <a:t>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45868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8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UDP (cont’d)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Optional error checking on the packet contents</a:t>
            </a:r>
          </a:p>
          <a:p>
            <a:pPr lvl="1"/>
            <a:r>
              <a:rPr lang="en-US" dirty="0"/>
              <a:t>(checksum field = 0 means </a:t>
            </a:r>
            <a:r>
              <a:rPr lang="ja-JP" altLang="en-US"/>
              <a:t>“</a:t>
            </a:r>
            <a:r>
              <a:rPr lang="en-US" altLang="ja-JP" dirty="0"/>
              <a:t>don’t verify checksum</a:t>
            </a:r>
            <a:r>
              <a:rPr lang="ja-JP" altLang="en-US"/>
              <a:t>”</a:t>
            </a:r>
            <a:r>
              <a:rPr lang="en-US" altLang="ja-JP" dirty="0"/>
              <a:t>)</a:t>
            </a:r>
          </a:p>
          <a:p>
            <a:r>
              <a:rPr lang="en-US" dirty="0"/>
              <a:t>Source port is also optional</a:t>
            </a:r>
          </a:p>
          <a:p>
            <a:pPr lvl="1"/>
            <a:r>
              <a:rPr lang="en-US" dirty="0"/>
              <a:t>Useful to respond back to the sender in some cases</a:t>
            </a:r>
          </a:p>
        </p:txBody>
      </p:sp>
    </p:spTree>
    <p:extLst>
      <p:ext uri="{BB962C8B-B14F-4D97-AF65-F5344CB8AC3E}">
        <p14:creationId xmlns:p14="http://schemas.microsoft.com/office/powerpoint/2010/main" val="850878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Beyond</a:t>
            </a:r>
            <a:r>
              <a:rPr lang="zh-CN" altLang="en-US" dirty="0"/>
              <a:t> </a:t>
            </a:r>
            <a:r>
              <a:rPr lang="en-US" altLang="zh-CN" dirty="0"/>
              <a:t>UDP…</a:t>
            </a:r>
            <a:r>
              <a:rPr lang="en-US" dirty="0"/>
              <a:t> </a:t>
            </a:r>
          </a:p>
        </p:txBody>
      </p:sp>
      <p:sp>
        <p:nvSpPr>
          <p:cNvPr id="11038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IP packets are addressed to a host but end-to-end communication is between application processes at  hosts</a:t>
            </a:r>
          </a:p>
          <a:p>
            <a:pPr lvl="1"/>
            <a:r>
              <a:rPr lang="en-US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Need a way to decide which packets go to which applications (mux/demux)</a:t>
            </a:r>
          </a:p>
          <a:p>
            <a:r>
              <a:rPr lang="en-US" dirty="0"/>
              <a:t>IP provides a weak service model (best-effort)</a:t>
            </a:r>
          </a:p>
          <a:p>
            <a:pPr lvl="1"/>
            <a:r>
              <a:rPr lang="en-US" dirty="0"/>
              <a:t>Packets can be corrupted, delayed, dropped, reordered, duplicated </a:t>
            </a:r>
          </a:p>
          <a:p>
            <a:pPr lvl="1"/>
            <a:r>
              <a:rPr lang="en-US" dirty="0"/>
              <a:t>No guidance on how much traffic to send and when</a:t>
            </a:r>
          </a:p>
          <a:p>
            <a:pPr lvl="1"/>
            <a:r>
              <a:rPr lang="en-US" dirty="0"/>
              <a:t>Dealing with this is tedious for application developers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67493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Reliable transport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971800"/>
            <a:ext cx="3886200" cy="3048000"/>
          </a:xfrm>
          <a:solidFill>
            <a:schemeClr val="tx1">
              <a:lumMod val="20000"/>
              <a:lumOff val="80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</a:rPr>
              <a:t>@Sender</a:t>
            </a:r>
          </a:p>
          <a:p>
            <a:pPr lvl="1"/>
            <a:r>
              <a:rPr lang="en-US" dirty="0">
                <a:solidFill>
                  <a:schemeClr val="accent2"/>
                </a:solidFill>
              </a:rPr>
              <a:t>Send packets</a:t>
            </a:r>
          </a:p>
          <a:p>
            <a:pPr lvl="1"/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724400" y="2971800"/>
            <a:ext cx="3886200" cy="3048000"/>
          </a:xfrm>
          <a:solidFill>
            <a:schemeClr val="tx1">
              <a:lumMod val="20000"/>
              <a:lumOff val="80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</a:rPr>
              <a:t>@Receiver</a:t>
            </a:r>
          </a:p>
          <a:p>
            <a:pPr lvl="1"/>
            <a:r>
              <a:rPr lang="en-US" dirty="0">
                <a:solidFill>
                  <a:schemeClr val="accent2"/>
                </a:solidFill>
              </a:rPr>
              <a:t>Wait for packets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685800" y="1600200"/>
            <a:ext cx="7924800" cy="7620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257175" indent="-2571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charset="0"/>
              <a:buChar char="l"/>
              <a:defRPr sz="2100">
                <a:solidFill>
                  <a:schemeClr val="accent2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557213" indent="-214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ZapfDingbats" charset="0"/>
              <a:buChar char="u"/>
              <a:defRPr sz="1800">
                <a:solidFill>
                  <a:schemeClr val="accent2"/>
                </a:solidFill>
                <a:latin typeface="+mn-lt"/>
                <a:ea typeface="ＭＳ Ｐゴシック" charset="-128"/>
              </a:defRPr>
            </a:lvl2pPr>
            <a:lvl3pPr marL="8572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1500">
                <a:solidFill>
                  <a:schemeClr val="accent2"/>
                </a:solidFill>
                <a:latin typeface="+mn-lt"/>
                <a:ea typeface="ＭＳ Ｐゴシック" charset="-128"/>
              </a:defRPr>
            </a:lvl3pPr>
            <a:lvl4pPr marL="12001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charset="0"/>
              <a:buChar char="n"/>
              <a:defRPr sz="1350">
                <a:solidFill>
                  <a:schemeClr val="accent2"/>
                </a:solidFill>
                <a:latin typeface="+mn-lt"/>
                <a:ea typeface="ＭＳ Ｐゴシック" charset="-128"/>
              </a:defRPr>
            </a:lvl4pPr>
            <a:lvl5pPr marL="15430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charset="0"/>
              <a:buChar char="l"/>
              <a:defRPr sz="1350">
                <a:solidFill>
                  <a:schemeClr val="accent2"/>
                </a:solidFill>
                <a:latin typeface="+mn-lt"/>
                <a:ea typeface="ＭＳ Ｐゴシック" charset="-128"/>
              </a:defRPr>
            </a:lvl5pPr>
            <a:lvl6pPr marL="18859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350">
                <a:solidFill>
                  <a:schemeClr val="accent2"/>
                </a:solidFill>
                <a:latin typeface="+mn-lt"/>
              </a:defRPr>
            </a:lvl6pPr>
            <a:lvl7pPr marL="22288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350">
                <a:solidFill>
                  <a:schemeClr val="accent2"/>
                </a:solidFill>
                <a:latin typeface="+mn-lt"/>
              </a:defRPr>
            </a:lvl7pPr>
            <a:lvl8pPr marL="25717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350">
                <a:solidFill>
                  <a:schemeClr val="accent2"/>
                </a:solidFill>
                <a:latin typeface="+mn-lt"/>
              </a:defRPr>
            </a:lvl8pPr>
            <a:lvl9pPr marL="29146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350">
                <a:solidFill>
                  <a:schemeClr val="accent2"/>
                </a:solidFill>
                <a:latin typeface="+mn-lt"/>
              </a:defRPr>
            </a:lvl9pPr>
          </a:lstStyle>
          <a:p>
            <a:r>
              <a:rPr lang="en-US" sz="2800" b="0" kern="0" dirty="0"/>
              <a:t>In a perfect world, reliable transport is easy</a:t>
            </a:r>
          </a:p>
        </p:txBody>
      </p:sp>
    </p:spTree>
    <p:extLst>
      <p:ext uri="{BB962C8B-B14F-4D97-AF65-F5344CB8AC3E}">
        <p14:creationId xmlns:p14="http://schemas.microsoft.com/office/powerpoint/2010/main" val="10187396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Reliable transport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a perfect world, reliable transport is easy</a:t>
            </a:r>
          </a:p>
          <a:p>
            <a:r>
              <a:rPr lang="en-US" dirty="0"/>
              <a:t>All the bad things best-effort can do…</a:t>
            </a:r>
          </a:p>
          <a:p>
            <a:pPr lvl="1"/>
            <a:r>
              <a:rPr lang="en-US" dirty="0"/>
              <a:t>A packet is corrupted (bit errors)</a:t>
            </a:r>
          </a:p>
          <a:p>
            <a:pPr lvl="1"/>
            <a:r>
              <a:rPr lang="en-US" dirty="0"/>
              <a:t>A packet is lost (</a:t>
            </a:r>
            <a:r>
              <a:rPr lang="en-US" i="1" dirty="0">
                <a:solidFill>
                  <a:srgbClr val="000090"/>
                </a:solidFill>
              </a:rPr>
              <a:t>why?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 packet is delayed (</a:t>
            </a:r>
            <a:r>
              <a:rPr lang="en-US" i="1" dirty="0">
                <a:solidFill>
                  <a:srgbClr val="000090"/>
                </a:solidFill>
              </a:rPr>
              <a:t>why?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Packets are reordered (</a:t>
            </a:r>
            <a:r>
              <a:rPr lang="en-US" i="1" dirty="0">
                <a:solidFill>
                  <a:srgbClr val="000090"/>
                </a:solidFill>
              </a:rPr>
              <a:t>why?</a:t>
            </a:r>
            <a:r>
              <a:rPr lang="en-US" dirty="0">
                <a:solidFill>
                  <a:srgbClr val="000090"/>
                </a:solidFill>
              </a:rPr>
              <a:t>)</a:t>
            </a:r>
            <a:endParaRPr lang="en-US" dirty="0"/>
          </a:p>
          <a:p>
            <a:pPr lvl="1"/>
            <a:r>
              <a:rPr lang="en-US" dirty="0"/>
              <a:t>A packet is duplicated (</a:t>
            </a:r>
            <a:r>
              <a:rPr lang="en-US" i="1" dirty="0">
                <a:solidFill>
                  <a:srgbClr val="000090"/>
                </a:solidFill>
              </a:rPr>
              <a:t>why?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96758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Dealing with packet corruption</a:t>
            </a:r>
          </a:p>
        </p:txBody>
      </p:sp>
      <p:sp>
        <p:nvSpPr>
          <p:cNvPr id="1127427" name="Line 3"/>
          <p:cNvSpPr>
            <a:spLocks noChangeShapeType="1"/>
          </p:cNvSpPr>
          <p:nvPr/>
        </p:nvSpPr>
        <p:spPr bwMode="auto">
          <a:xfrm>
            <a:off x="4800600" y="5638800"/>
            <a:ext cx="0" cy="1219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28" name="Text Box 4"/>
          <p:cNvSpPr txBox="1">
            <a:spLocks noChangeArrowheads="1"/>
          </p:cNvSpPr>
          <p:nvPr/>
        </p:nvSpPr>
        <p:spPr bwMode="auto">
          <a:xfrm>
            <a:off x="3962400" y="6172200"/>
            <a:ext cx="857154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b="0" dirty="0">
                <a:latin typeface="+mn-lt"/>
              </a:rPr>
              <a:t>Time</a:t>
            </a:r>
          </a:p>
        </p:txBody>
      </p:sp>
      <p:sp>
        <p:nvSpPr>
          <p:cNvPr id="1127430" name="Line 6"/>
          <p:cNvSpPr>
            <a:spLocks noChangeShapeType="1"/>
          </p:cNvSpPr>
          <p:nvPr/>
        </p:nvSpPr>
        <p:spPr bwMode="auto">
          <a:xfrm flipH="1">
            <a:off x="1981200" y="2124075"/>
            <a:ext cx="30163" cy="36353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1" name="Line 7"/>
          <p:cNvSpPr>
            <a:spLocks noChangeShapeType="1"/>
          </p:cNvSpPr>
          <p:nvPr/>
        </p:nvSpPr>
        <p:spPr bwMode="auto">
          <a:xfrm flipH="1">
            <a:off x="7362825" y="2124075"/>
            <a:ext cx="3175" cy="37576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2" name="Line 8"/>
          <p:cNvSpPr>
            <a:spLocks noChangeShapeType="1"/>
          </p:cNvSpPr>
          <p:nvPr/>
        </p:nvSpPr>
        <p:spPr bwMode="auto">
          <a:xfrm>
            <a:off x="2011363" y="2276475"/>
            <a:ext cx="5367337" cy="533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3" name="Line 9"/>
          <p:cNvSpPr>
            <a:spLocks noChangeShapeType="1"/>
          </p:cNvSpPr>
          <p:nvPr/>
        </p:nvSpPr>
        <p:spPr bwMode="auto">
          <a:xfrm flipH="1">
            <a:off x="2011363" y="2886075"/>
            <a:ext cx="5367337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127435" name="Text Box 11"/>
          <p:cNvSpPr txBox="1">
            <a:spLocks noChangeArrowheads="1"/>
          </p:cNvSpPr>
          <p:nvPr/>
        </p:nvSpPr>
        <p:spPr bwMode="auto">
          <a:xfrm>
            <a:off x="1415595" y="5865174"/>
            <a:ext cx="1228048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>
                <a:latin typeface="+mn-lt"/>
              </a:rPr>
              <a:t>Sender</a:t>
            </a:r>
          </a:p>
        </p:txBody>
      </p:sp>
      <p:sp>
        <p:nvSpPr>
          <p:cNvPr id="1127436" name="Text Box 12"/>
          <p:cNvSpPr txBox="1">
            <a:spLocks noChangeArrowheads="1"/>
          </p:cNvSpPr>
          <p:nvPr/>
        </p:nvSpPr>
        <p:spPr bwMode="auto">
          <a:xfrm>
            <a:off x="6755801" y="5865174"/>
            <a:ext cx="1468048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dirty="0">
                <a:latin typeface="+mn-lt"/>
              </a:rPr>
              <a:t>Receiver</a:t>
            </a:r>
          </a:p>
        </p:txBody>
      </p:sp>
      <p:sp>
        <p:nvSpPr>
          <p:cNvPr id="1127441" name="Line 17"/>
          <p:cNvSpPr>
            <a:spLocks noChangeShapeType="1"/>
          </p:cNvSpPr>
          <p:nvPr/>
        </p:nvSpPr>
        <p:spPr bwMode="auto">
          <a:xfrm>
            <a:off x="2011363" y="3495675"/>
            <a:ext cx="5367337" cy="533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44" name="Text Box 20"/>
          <p:cNvSpPr txBox="1">
            <a:spLocks noChangeArrowheads="1"/>
          </p:cNvSpPr>
          <p:nvPr/>
        </p:nvSpPr>
        <p:spPr bwMode="auto">
          <a:xfrm>
            <a:off x="1539877" y="1981200"/>
            <a:ext cx="331788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Tahoma" charset="0"/>
              </a:rPr>
              <a:t>1</a:t>
            </a:r>
          </a:p>
        </p:txBody>
      </p:sp>
      <p:sp>
        <p:nvSpPr>
          <p:cNvPr id="1127447" name="Text Box 23"/>
          <p:cNvSpPr txBox="1">
            <a:spLocks noChangeArrowheads="1"/>
          </p:cNvSpPr>
          <p:nvPr/>
        </p:nvSpPr>
        <p:spPr bwMode="auto">
          <a:xfrm>
            <a:off x="1516329" y="3190875"/>
            <a:ext cx="361686" cy="452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>
                <a:latin typeface="Tahoma" charset="0"/>
              </a:rPr>
              <a:t>2</a:t>
            </a:r>
          </a:p>
        </p:txBody>
      </p:sp>
      <p:sp>
        <p:nvSpPr>
          <p:cNvPr id="1127468" name="Line 44"/>
          <p:cNvSpPr>
            <a:spLocks noChangeShapeType="1"/>
          </p:cNvSpPr>
          <p:nvPr/>
        </p:nvSpPr>
        <p:spPr bwMode="auto">
          <a:xfrm flipH="1">
            <a:off x="1997075" y="4114800"/>
            <a:ext cx="5367338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74" name="Line 50"/>
          <p:cNvSpPr>
            <a:spLocks noChangeShapeType="1"/>
          </p:cNvSpPr>
          <p:nvPr/>
        </p:nvSpPr>
        <p:spPr bwMode="auto">
          <a:xfrm>
            <a:off x="1997075" y="4724400"/>
            <a:ext cx="5367338" cy="533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" name="Text Box 23"/>
          <p:cNvSpPr txBox="1">
            <a:spLocks noChangeArrowheads="1"/>
          </p:cNvSpPr>
          <p:nvPr/>
        </p:nvSpPr>
        <p:spPr bwMode="auto">
          <a:xfrm>
            <a:off x="1543314" y="4500809"/>
            <a:ext cx="361686" cy="452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>
                <a:latin typeface="Tahoma" charset="0"/>
              </a:rPr>
              <a:t>2</a:t>
            </a:r>
          </a:p>
        </p:txBody>
      </p:sp>
      <p:sp>
        <p:nvSpPr>
          <p:cNvPr id="2" name="Rectangle 1"/>
          <p:cNvSpPr/>
          <p:nvPr/>
        </p:nvSpPr>
        <p:spPr>
          <a:xfrm>
            <a:off x="7393200" y="2590800"/>
            <a:ext cx="607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8000"/>
                </a:solidFill>
                <a:latin typeface="Wingdings"/>
                <a:ea typeface="Wingdings"/>
                <a:cs typeface="Wingdings"/>
              </a:rPr>
              <a:t></a:t>
            </a:r>
            <a:endParaRPr lang="en-US" dirty="0">
              <a:solidFill>
                <a:srgbClr val="008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359056" y="3867090"/>
            <a:ext cx="56574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FF0000"/>
                </a:solidFill>
                <a:latin typeface="Wingdings"/>
                <a:ea typeface="Wingdings"/>
                <a:cs typeface="Wingdings"/>
              </a:rPr>
              <a:t>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0" y="2819400"/>
            <a:ext cx="6464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924081" y="4019490"/>
            <a:ext cx="8003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nack</a:t>
            </a:r>
          </a:p>
        </p:txBody>
      </p:sp>
    </p:spTree>
    <p:extLst>
      <p:ext uri="{BB962C8B-B14F-4D97-AF65-F5344CB8AC3E}">
        <p14:creationId xmlns:p14="http://schemas.microsoft.com/office/powerpoint/2010/main" val="1724312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432" grpId="0" animBg="1"/>
      <p:bldP spid="1127433" grpId="0" animBg="1"/>
      <p:bldP spid="1127441" grpId="0" animBg="1"/>
      <p:bldP spid="1127447" grpId="0"/>
      <p:bldP spid="1127468" grpId="0" animBg="1"/>
      <p:bldP spid="1127474" grpId="0" animBg="1"/>
      <p:bldP spid="51" grpId="0"/>
      <p:bldP spid="2" grpId="0"/>
      <p:bldP spid="3" grpId="0"/>
      <p:bldP spid="4" grpId="0"/>
      <p:bldP spid="5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Dealing with packet corruption </a:t>
            </a:r>
          </a:p>
        </p:txBody>
      </p:sp>
      <p:sp>
        <p:nvSpPr>
          <p:cNvPr id="1127427" name="Line 3"/>
          <p:cNvSpPr>
            <a:spLocks noChangeShapeType="1"/>
          </p:cNvSpPr>
          <p:nvPr/>
        </p:nvSpPr>
        <p:spPr bwMode="auto">
          <a:xfrm>
            <a:off x="4800600" y="5638800"/>
            <a:ext cx="0" cy="1219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28" name="Text Box 4"/>
          <p:cNvSpPr txBox="1">
            <a:spLocks noChangeArrowheads="1"/>
          </p:cNvSpPr>
          <p:nvPr/>
        </p:nvSpPr>
        <p:spPr bwMode="auto">
          <a:xfrm>
            <a:off x="3962400" y="6172200"/>
            <a:ext cx="857154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b="0" dirty="0">
                <a:latin typeface="+mn-lt"/>
              </a:rPr>
              <a:t>Time</a:t>
            </a:r>
          </a:p>
        </p:txBody>
      </p:sp>
      <p:sp>
        <p:nvSpPr>
          <p:cNvPr id="1127430" name="Line 6"/>
          <p:cNvSpPr>
            <a:spLocks noChangeShapeType="1"/>
          </p:cNvSpPr>
          <p:nvPr/>
        </p:nvSpPr>
        <p:spPr bwMode="auto">
          <a:xfrm flipH="1">
            <a:off x="1981200" y="2124075"/>
            <a:ext cx="30163" cy="36353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1" name="Line 7"/>
          <p:cNvSpPr>
            <a:spLocks noChangeShapeType="1"/>
          </p:cNvSpPr>
          <p:nvPr/>
        </p:nvSpPr>
        <p:spPr bwMode="auto">
          <a:xfrm flipH="1">
            <a:off x="7362825" y="2124075"/>
            <a:ext cx="3175" cy="37576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2" name="Line 8"/>
          <p:cNvSpPr>
            <a:spLocks noChangeShapeType="1"/>
          </p:cNvSpPr>
          <p:nvPr/>
        </p:nvSpPr>
        <p:spPr bwMode="auto">
          <a:xfrm>
            <a:off x="2011363" y="2276475"/>
            <a:ext cx="5367337" cy="533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3" name="Line 9"/>
          <p:cNvSpPr>
            <a:spLocks noChangeShapeType="1"/>
          </p:cNvSpPr>
          <p:nvPr/>
        </p:nvSpPr>
        <p:spPr bwMode="auto">
          <a:xfrm flipH="1">
            <a:off x="2011363" y="2886075"/>
            <a:ext cx="5367337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127435" name="Text Box 11"/>
          <p:cNvSpPr txBox="1">
            <a:spLocks noChangeArrowheads="1"/>
          </p:cNvSpPr>
          <p:nvPr/>
        </p:nvSpPr>
        <p:spPr bwMode="auto">
          <a:xfrm>
            <a:off x="1415595" y="5865174"/>
            <a:ext cx="1228048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>
                <a:latin typeface="+mn-lt"/>
              </a:rPr>
              <a:t>Sender</a:t>
            </a:r>
          </a:p>
        </p:txBody>
      </p:sp>
      <p:sp>
        <p:nvSpPr>
          <p:cNvPr id="1127436" name="Text Box 12"/>
          <p:cNvSpPr txBox="1">
            <a:spLocks noChangeArrowheads="1"/>
          </p:cNvSpPr>
          <p:nvPr/>
        </p:nvSpPr>
        <p:spPr bwMode="auto">
          <a:xfrm>
            <a:off x="6755801" y="5865174"/>
            <a:ext cx="1468048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dirty="0">
                <a:latin typeface="+mn-lt"/>
              </a:rPr>
              <a:t>Receiver</a:t>
            </a:r>
          </a:p>
        </p:txBody>
      </p:sp>
      <p:sp>
        <p:nvSpPr>
          <p:cNvPr id="1127441" name="Line 17"/>
          <p:cNvSpPr>
            <a:spLocks noChangeShapeType="1"/>
          </p:cNvSpPr>
          <p:nvPr/>
        </p:nvSpPr>
        <p:spPr bwMode="auto">
          <a:xfrm>
            <a:off x="2011363" y="3495675"/>
            <a:ext cx="5367337" cy="533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44" name="Text Box 20"/>
          <p:cNvSpPr txBox="1">
            <a:spLocks noChangeArrowheads="1"/>
          </p:cNvSpPr>
          <p:nvPr/>
        </p:nvSpPr>
        <p:spPr bwMode="auto">
          <a:xfrm>
            <a:off x="1539877" y="1981200"/>
            <a:ext cx="331788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Tahoma" charset="0"/>
              </a:rPr>
              <a:t>1</a:t>
            </a:r>
          </a:p>
        </p:txBody>
      </p:sp>
      <p:sp>
        <p:nvSpPr>
          <p:cNvPr id="1127468" name="Line 44"/>
          <p:cNvSpPr>
            <a:spLocks noChangeShapeType="1"/>
          </p:cNvSpPr>
          <p:nvPr/>
        </p:nvSpPr>
        <p:spPr bwMode="auto">
          <a:xfrm flipH="1">
            <a:off x="1997075" y="4114800"/>
            <a:ext cx="5367338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74" name="Line 50"/>
          <p:cNvSpPr>
            <a:spLocks noChangeShapeType="1"/>
          </p:cNvSpPr>
          <p:nvPr/>
        </p:nvSpPr>
        <p:spPr bwMode="auto">
          <a:xfrm>
            <a:off x="1997075" y="4724400"/>
            <a:ext cx="5367338" cy="533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" name="Text Box 23"/>
          <p:cNvSpPr txBox="1">
            <a:spLocks noChangeArrowheads="1"/>
          </p:cNvSpPr>
          <p:nvPr/>
        </p:nvSpPr>
        <p:spPr bwMode="auto">
          <a:xfrm>
            <a:off x="1543314" y="3276600"/>
            <a:ext cx="361686" cy="452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>
                <a:latin typeface="Tahoma" charset="0"/>
              </a:rPr>
              <a:t>1</a:t>
            </a:r>
          </a:p>
        </p:txBody>
      </p:sp>
      <p:sp>
        <p:nvSpPr>
          <p:cNvPr id="2" name="Rectangle 1"/>
          <p:cNvSpPr/>
          <p:nvPr/>
        </p:nvSpPr>
        <p:spPr>
          <a:xfrm>
            <a:off x="7393200" y="2590800"/>
            <a:ext cx="607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8000"/>
                </a:solidFill>
                <a:latin typeface="Wingdings"/>
                <a:ea typeface="Wingdings"/>
                <a:cs typeface="Wingdings"/>
              </a:rPr>
              <a:t></a:t>
            </a:r>
            <a:endParaRPr lang="en-US" dirty="0">
              <a:solidFill>
                <a:srgbClr val="008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447800" y="3124200"/>
            <a:ext cx="56574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FF0000"/>
                </a:solidFill>
                <a:latin typeface="Wingdings"/>
                <a:ea typeface="Wingdings"/>
                <a:cs typeface="Wingdings"/>
              </a:rPr>
              <a:t>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 rot="21205946">
            <a:off x="3669751" y="2819400"/>
            <a:ext cx="1108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ack</a:t>
            </a:r>
            <a:r>
              <a:rPr lang="en-US" dirty="0"/>
              <a:t>(1)</a:t>
            </a:r>
          </a:p>
        </p:txBody>
      </p:sp>
      <p:sp>
        <p:nvSpPr>
          <p:cNvPr id="55" name="TextBox 54"/>
          <p:cNvSpPr txBox="1"/>
          <p:nvPr/>
        </p:nvSpPr>
        <p:spPr>
          <a:xfrm rot="21258713">
            <a:off x="3903300" y="4016332"/>
            <a:ext cx="1108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ack</a:t>
            </a:r>
            <a:r>
              <a:rPr lang="en-US" dirty="0"/>
              <a:t>(1)</a:t>
            </a:r>
          </a:p>
        </p:txBody>
      </p:sp>
      <p:sp>
        <p:nvSpPr>
          <p:cNvPr id="5" name="Rounded Rectangle 4"/>
          <p:cNvSpPr/>
          <p:nvPr/>
        </p:nvSpPr>
        <p:spPr bwMode="auto">
          <a:xfrm>
            <a:off x="685800" y="5943600"/>
            <a:ext cx="8229600" cy="685800"/>
          </a:xfrm>
          <a:prstGeom prst="roundRect">
            <a:avLst/>
          </a:prstGeom>
          <a:solidFill>
            <a:srgbClr val="D3A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What</a:t>
            </a:r>
            <a:r>
              <a:rPr kumimoji="0" lang="en-US" sz="28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 if the ACK/NACK is corrupted?</a:t>
            </a:r>
            <a:endParaRPr kumimoji="0" lang="en-US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7848600" y="3505200"/>
            <a:ext cx="1371600" cy="990600"/>
            <a:chOff x="7848600" y="3505200"/>
            <a:chExt cx="1371600" cy="990600"/>
          </a:xfrm>
        </p:grpSpPr>
        <p:sp>
          <p:nvSpPr>
            <p:cNvPr id="6" name="Cloud Callout 5"/>
            <p:cNvSpPr/>
            <p:nvPr/>
          </p:nvSpPr>
          <p:spPr bwMode="auto">
            <a:xfrm>
              <a:off x="7848600" y="3505200"/>
              <a:ext cx="1371600" cy="990600"/>
            </a:xfrm>
            <a:prstGeom prst="cloudCallout">
              <a:avLst>
                <a:gd name="adj1" fmla="val -81417"/>
                <a:gd name="adj2" fmla="val 4947"/>
              </a:avLst>
            </a:prstGeom>
            <a:solidFill>
              <a:schemeClr val="accent1"/>
            </a:solidFill>
            <a:ln w="9525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24" name="Text Box 20"/>
            <p:cNvSpPr txBox="1">
              <a:spLocks noChangeArrowheads="1"/>
            </p:cNvSpPr>
            <p:nvPr/>
          </p:nvSpPr>
          <p:spPr bwMode="auto">
            <a:xfrm flipH="1">
              <a:off x="7848600" y="3615698"/>
              <a:ext cx="1252533" cy="5753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 sz="1600" b="0" dirty="0">
                  <a:latin typeface="+mn-lt"/>
                </a:rPr>
                <a:t>Packet </a:t>
              </a:r>
              <a:br>
                <a:rPr lang="en-US" sz="1600" b="0" dirty="0">
                  <a:latin typeface="+mn-lt"/>
                </a:rPr>
              </a:br>
              <a:r>
                <a:rPr lang="en-US" sz="1600" b="0" dirty="0">
                  <a:latin typeface="+mn-lt"/>
                </a:rPr>
                <a:t>#1 or #2?</a:t>
              </a:r>
            </a:p>
          </p:txBody>
        </p:sp>
      </p:grpSp>
      <p:sp>
        <p:nvSpPr>
          <p:cNvPr id="25" name="Text Box 23"/>
          <p:cNvSpPr txBox="1">
            <a:spLocks noChangeArrowheads="1"/>
          </p:cNvSpPr>
          <p:nvPr/>
        </p:nvSpPr>
        <p:spPr bwMode="auto">
          <a:xfrm>
            <a:off x="1524000" y="4424609"/>
            <a:ext cx="361686" cy="452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>
                <a:latin typeface="Tahoma" charset="0"/>
              </a:rPr>
              <a:t>2</a:t>
            </a:r>
          </a:p>
        </p:txBody>
      </p:sp>
      <p:sp>
        <p:nvSpPr>
          <p:cNvPr id="26" name="Text Box 23"/>
          <p:cNvSpPr txBox="1">
            <a:spLocks noChangeArrowheads="1"/>
          </p:cNvSpPr>
          <p:nvPr/>
        </p:nvSpPr>
        <p:spPr bwMode="auto">
          <a:xfrm rot="460268">
            <a:off x="4669553" y="4686350"/>
            <a:ext cx="595712" cy="359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 dirty="0">
                <a:latin typeface="Tahoma" charset="0"/>
              </a:rPr>
              <a:t>P(2)</a:t>
            </a:r>
          </a:p>
        </p:txBody>
      </p:sp>
      <p:sp>
        <p:nvSpPr>
          <p:cNvPr id="27" name="Text Box 23"/>
          <p:cNvSpPr txBox="1">
            <a:spLocks noChangeArrowheads="1"/>
          </p:cNvSpPr>
          <p:nvPr/>
        </p:nvSpPr>
        <p:spPr bwMode="auto">
          <a:xfrm rot="488362">
            <a:off x="4715813" y="3469359"/>
            <a:ext cx="595712" cy="359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 dirty="0">
                <a:latin typeface="Tahoma" charset="0"/>
              </a:rPr>
              <a:t>P(1)</a:t>
            </a:r>
          </a:p>
        </p:txBody>
      </p:sp>
      <p:sp>
        <p:nvSpPr>
          <p:cNvPr id="28" name="Text Box 23"/>
          <p:cNvSpPr txBox="1">
            <a:spLocks noChangeArrowheads="1"/>
          </p:cNvSpPr>
          <p:nvPr/>
        </p:nvSpPr>
        <p:spPr bwMode="auto">
          <a:xfrm rot="500287">
            <a:off x="4747344" y="2189650"/>
            <a:ext cx="595712" cy="359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 dirty="0">
                <a:latin typeface="Tahoma" charset="0"/>
              </a:rPr>
              <a:t>P(1)</a:t>
            </a:r>
          </a:p>
        </p:txBody>
      </p:sp>
      <p:sp>
        <p:nvSpPr>
          <p:cNvPr id="29" name="Rounded Rectangle 28"/>
          <p:cNvSpPr/>
          <p:nvPr/>
        </p:nvSpPr>
        <p:spPr bwMode="auto">
          <a:xfrm>
            <a:off x="685800" y="5943600"/>
            <a:ext cx="8229600" cy="685800"/>
          </a:xfrm>
          <a:prstGeom prst="roundRect">
            <a:avLst/>
          </a:prstGeom>
          <a:solidFill>
            <a:srgbClr val="D3A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Data and ACK</a:t>
            </a:r>
            <a:r>
              <a:rPr kumimoji="0" lang="en-US" sz="28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 packets carry </a:t>
            </a:r>
            <a:r>
              <a:rPr kumimoji="0" lang="en-US" sz="2800" b="0" i="0" u="sng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sequence numbers</a:t>
            </a:r>
            <a:endParaRPr kumimoji="0" lang="en-US" sz="2800" b="0" i="0" u="sng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3312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441" grpId="0" animBg="1"/>
      <p:bldP spid="1127468" grpId="0" animBg="1"/>
      <p:bldP spid="1127474" grpId="0" animBg="1"/>
      <p:bldP spid="51" grpId="0"/>
      <p:bldP spid="3" grpId="0"/>
      <p:bldP spid="4" grpId="0"/>
      <p:bldP spid="55" grpId="0"/>
      <p:bldP spid="5" grpId="0" animBg="1"/>
      <p:bldP spid="25" grpId="0"/>
      <p:bldP spid="26" grpId="0"/>
      <p:bldP spid="27" grpId="0"/>
      <p:bldP spid="28" grpId="0"/>
      <p:bldP spid="2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Dealing with packet loss</a:t>
            </a:r>
            <a:endParaRPr lang="en-US" dirty="0"/>
          </a:p>
        </p:txBody>
      </p:sp>
      <p:sp>
        <p:nvSpPr>
          <p:cNvPr id="1127427" name="Line 3"/>
          <p:cNvSpPr>
            <a:spLocks noChangeShapeType="1"/>
          </p:cNvSpPr>
          <p:nvPr/>
        </p:nvSpPr>
        <p:spPr bwMode="auto">
          <a:xfrm>
            <a:off x="4800600" y="5638800"/>
            <a:ext cx="0" cy="1219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28" name="Text Box 4"/>
          <p:cNvSpPr txBox="1">
            <a:spLocks noChangeArrowheads="1"/>
          </p:cNvSpPr>
          <p:nvPr/>
        </p:nvSpPr>
        <p:spPr bwMode="auto">
          <a:xfrm>
            <a:off x="3962400" y="6172200"/>
            <a:ext cx="857154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b="0" dirty="0">
                <a:latin typeface="+mn-lt"/>
              </a:rPr>
              <a:t>Time</a:t>
            </a:r>
          </a:p>
        </p:txBody>
      </p:sp>
      <p:sp>
        <p:nvSpPr>
          <p:cNvPr id="1127430" name="Line 6"/>
          <p:cNvSpPr>
            <a:spLocks noChangeShapeType="1"/>
          </p:cNvSpPr>
          <p:nvPr/>
        </p:nvSpPr>
        <p:spPr bwMode="auto">
          <a:xfrm flipH="1">
            <a:off x="1981200" y="2124075"/>
            <a:ext cx="30163" cy="36353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1" name="Line 7"/>
          <p:cNvSpPr>
            <a:spLocks noChangeShapeType="1"/>
          </p:cNvSpPr>
          <p:nvPr/>
        </p:nvSpPr>
        <p:spPr bwMode="auto">
          <a:xfrm flipH="1">
            <a:off x="7362825" y="2124075"/>
            <a:ext cx="3175" cy="37576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2" name="Line 8"/>
          <p:cNvSpPr>
            <a:spLocks noChangeShapeType="1"/>
          </p:cNvSpPr>
          <p:nvPr/>
        </p:nvSpPr>
        <p:spPr bwMode="auto">
          <a:xfrm>
            <a:off x="2011363" y="2276475"/>
            <a:ext cx="3398837" cy="3143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5" name="Text Box 11"/>
          <p:cNvSpPr txBox="1">
            <a:spLocks noChangeArrowheads="1"/>
          </p:cNvSpPr>
          <p:nvPr/>
        </p:nvSpPr>
        <p:spPr bwMode="auto">
          <a:xfrm>
            <a:off x="1415595" y="5865174"/>
            <a:ext cx="1228048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dirty="0">
                <a:latin typeface="+mn-lt"/>
              </a:rPr>
              <a:t>Sender</a:t>
            </a:r>
          </a:p>
        </p:txBody>
      </p:sp>
      <p:sp>
        <p:nvSpPr>
          <p:cNvPr id="1127436" name="Text Box 12"/>
          <p:cNvSpPr txBox="1">
            <a:spLocks noChangeArrowheads="1"/>
          </p:cNvSpPr>
          <p:nvPr/>
        </p:nvSpPr>
        <p:spPr bwMode="auto">
          <a:xfrm>
            <a:off x="6755801" y="5865174"/>
            <a:ext cx="1468048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dirty="0">
                <a:latin typeface="+mn-lt"/>
              </a:rPr>
              <a:t>Receiver</a:t>
            </a:r>
          </a:p>
        </p:txBody>
      </p:sp>
      <p:sp>
        <p:nvSpPr>
          <p:cNvPr id="1127441" name="Line 17"/>
          <p:cNvSpPr>
            <a:spLocks noChangeShapeType="1"/>
          </p:cNvSpPr>
          <p:nvPr/>
        </p:nvSpPr>
        <p:spPr bwMode="auto">
          <a:xfrm>
            <a:off x="2011363" y="3810000"/>
            <a:ext cx="5367337" cy="533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44" name="Text Box 20"/>
          <p:cNvSpPr txBox="1">
            <a:spLocks noChangeArrowheads="1"/>
          </p:cNvSpPr>
          <p:nvPr/>
        </p:nvSpPr>
        <p:spPr bwMode="auto">
          <a:xfrm>
            <a:off x="1649412" y="1905000"/>
            <a:ext cx="331788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>
                <a:latin typeface="Tahoma" charset="0"/>
              </a:rPr>
              <a:t>1</a:t>
            </a:r>
          </a:p>
        </p:txBody>
      </p:sp>
      <p:sp>
        <p:nvSpPr>
          <p:cNvPr id="1127468" name="Line 44"/>
          <p:cNvSpPr>
            <a:spLocks noChangeShapeType="1"/>
          </p:cNvSpPr>
          <p:nvPr/>
        </p:nvSpPr>
        <p:spPr bwMode="auto">
          <a:xfrm flipH="1">
            <a:off x="1997075" y="4419600"/>
            <a:ext cx="5367338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" name="Text Box 23"/>
          <p:cNvSpPr txBox="1">
            <a:spLocks noChangeArrowheads="1"/>
          </p:cNvSpPr>
          <p:nvPr/>
        </p:nvSpPr>
        <p:spPr bwMode="auto">
          <a:xfrm>
            <a:off x="1619514" y="3434009"/>
            <a:ext cx="361686" cy="452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>
                <a:latin typeface="Tahoma" charset="0"/>
              </a:rP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5377856" y="2362200"/>
            <a:ext cx="56574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FF0000"/>
                </a:solidFill>
                <a:latin typeface="Wingdings"/>
                <a:ea typeface="Wingdings"/>
                <a:cs typeface="Wingdings"/>
              </a:rPr>
              <a:t>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 rot="21258713">
            <a:off x="3903300" y="4321132"/>
            <a:ext cx="1108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ack</a:t>
            </a:r>
            <a:r>
              <a:rPr lang="en-US" dirty="0"/>
              <a:t>(1)</a:t>
            </a:r>
          </a:p>
        </p:txBody>
      </p:sp>
      <p:sp>
        <p:nvSpPr>
          <p:cNvPr id="27" name="Text Box 23"/>
          <p:cNvSpPr txBox="1">
            <a:spLocks noChangeArrowheads="1"/>
          </p:cNvSpPr>
          <p:nvPr/>
        </p:nvSpPr>
        <p:spPr bwMode="auto">
          <a:xfrm rot="488362">
            <a:off x="4715813" y="3774159"/>
            <a:ext cx="595712" cy="359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 dirty="0">
                <a:latin typeface="Tahoma" charset="0"/>
              </a:rPr>
              <a:t>P(1)</a:t>
            </a:r>
          </a:p>
        </p:txBody>
      </p:sp>
      <p:sp>
        <p:nvSpPr>
          <p:cNvPr id="28" name="Text Box 23"/>
          <p:cNvSpPr txBox="1">
            <a:spLocks noChangeArrowheads="1"/>
          </p:cNvSpPr>
          <p:nvPr/>
        </p:nvSpPr>
        <p:spPr bwMode="auto">
          <a:xfrm rot="500287">
            <a:off x="4747344" y="2189650"/>
            <a:ext cx="595712" cy="359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 dirty="0">
                <a:latin typeface="Tahoma" charset="0"/>
              </a:rPr>
              <a:t>P(1)</a:t>
            </a:r>
          </a:p>
        </p:txBody>
      </p:sp>
      <p:sp>
        <p:nvSpPr>
          <p:cNvPr id="29" name="Rounded Rectangle 28"/>
          <p:cNvSpPr/>
          <p:nvPr/>
        </p:nvSpPr>
        <p:spPr bwMode="auto">
          <a:xfrm>
            <a:off x="457200" y="5943600"/>
            <a:ext cx="8534400" cy="838200"/>
          </a:xfrm>
          <a:prstGeom prst="roundRect">
            <a:avLst/>
          </a:prstGeom>
          <a:solidFill>
            <a:srgbClr val="D3A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sng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+mn-lt"/>
              </a:rPr>
              <a:t>Timer-driven</a:t>
            </a:r>
            <a:r>
              <a:rPr kumimoji="0" lang="en-US" sz="2400" b="0" i="0" u="sng" strike="noStrike" cap="none" normalizeH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+mn-lt"/>
              </a:rPr>
              <a:t> loss detection</a:t>
            </a:r>
            <a:br>
              <a:rPr kumimoji="0" lang="en-US" sz="2400" b="0" i="0" u="sng" strike="noStrike" cap="none" normalizeH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+mn-lt"/>
              </a:rPr>
            </a:b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+mn-lt"/>
              </a:rPr>
              <a:t>Set timer</a:t>
            </a:r>
            <a:r>
              <a:rPr kumimoji="0" lang="en-US" sz="2400" b="0" i="0" u="none" strike="noStrike" cap="none" normalizeH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+mn-lt"/>
              </a:rPr>
              <a:t> when packet is sent; retransmit </a:t>
            </a:r>
            <a:r>
              <a:rPr lang="en-US" sz="2400" b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on timeout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+mn-lt"/>
            </a:endParaRPr>
          </a:p>
        </p:txBody>
      </p:sp>
      <p:grpSp>
        <p:nvGrpSpPr>
          <p:cNvPr id="30" name="Group 61"/>
          <p:cNvGrpSpPr>
            <a:grpSpLocks/>
          </p:cNvGrpSpPr>
          <p:nvPr/>
        </p:nvGrpSpPr>
        <p:grpSpPr bwMode="auto">
          <a:xfrm>
            <a:off x="-60325" y="2286000"/>
            <a:ext cx="2009775" cy="1524000"/>
            <a:chOff x="-38" y="1968"/>
            <a:chExt cx="1266" cy="1200"/>
          </a:xfrm>
        </p:grpSpPr>
        <p:sp>
          <p:nvSpPr>
            <p:cNvPr id="31" name="Line 62"/>
            <p:cNvSpPr>
              <a:spLocks noChangeShapeType="1"/>
            </p:cNvSpPr>
            <p:nvPr/>
          </p:nvSpPr>
          <p:spPr bwMode="auto">
            <a:xfrm flipH="1">
              <a:off x="399" y="1968"/>
              <a:ext cx="8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" name="Line 63"/>
            <p:cNvSpPr>
              <a:spLocks noChangeShapeType="1"/>
            </p:cNvSpPr>
            <p:nvPr/>
          </p:nvSpPr>
          <p:spPr bwMode="auto">
            <a:xfrm flipH="1">
              <a:off x="399" y="3168"/>
              <a:ext cx="8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3" name="Line 64"/>
            <p:cNvSpPr>
              <a:spLocks noChangeShapeType="1"/>
            </p:cNvSpPr>
            <p:nvPr/>
          </p:nvSpPr>
          <p:spPr bwMode="auto">
            <a:xfrm>
              <a:off x="720" y="1968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4" name="Text Box 65"/>
            <p:cNvSpPr txBox="1">
              <a:spLocks noChangeArrowheads="1"/>
            </p:cNvSpPr>
            <p:nvPr/>
          </p:nvSpPr>
          <p:spPr bwMode="auto">
            <a:xfrm>
              <a:off x="-38" y="2160"/>
              <a:ext cx="745" cy="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2000" b="0" dirty="0">
                  <a:solidFill>
                    <a:srgbClr val="FF0000"/>
                  </a:solidFill>
                  <a:latin typeface="Tahoma" charset="0"/>
                </a:rPr>
                <a:t>Timeout</a:t>
              </a:r>
            </a:p>
            <a:p>
              <a:pPr eaLnBrk="1" hangingPunct="1"/>
              <a:endParaRPr lang="en-US" sz="2000" b="0" dirty="0">
                <a:solidFill>
                  <a:srgbClr val="FF0000"/>
                </a:solidFill>
                <a:latin typeface="Tahoma" charset="0"/>
              </a:endParaRPr>
            </a:p>
          </p:txBody>
        </p:sp>
      </p:grpSp>
      <p:sp>
        <p:nvSpPr>
          <p:cNvPr id="35" name="Line 17"/>
          <p:cNvSpPr>
            <a:spLocks noChangeShapeType="1"/>
          </p:cNvSpPr>
          <p:nvPr/>
        </p:nvSpPr>
        <p:spPr bwMode="auto">
          <a:xfrm>
            <a:off x="2057401" y="5029200"/>
            <a:ext cx="5257800" cy="533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" name="Text Box 23"/>
          <p:cNvSpPr txBox="1">
            <a:spLocks noChangeArrowheads="1"/>
          </p:cNvSpPr>
          <p:nvPr/>
        </p:nvSpPr>
        <p:spPr bwMode="auto">
          <a:xfrm rot="488362">
            <a:off x="4761850" y="4993359"/>
            <a:ext cx="595712" cy="359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 dirty="0">
                <a:latin typeface="Tahoma" charset="0"/>
              </a:rPr>
              <a:t>P(2)</a:t>
            </a:r>
          </a:p>
        </p:txBody>
      </p:sp>
    </p:spTree>
    <p:extLst>
      <p:ext uri="{BB962C8B-B14F-4D97-AF65-F5344CB8AC3E}">
        <p14:creationId xmlns:p14="http://schemas.microsoft.com/office/powerpoint/2010/main" val="2125414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441" grpId="0" animBg="1"/>
      <p:bldP spid="1127468" grpId="0" animBg="1"/>
      <p:bldP spid="51" grpId="0"/>
      <p:bldP spid="55" grpId="0"/>
      <p:bldP spid="27" grpId="0"/>
      <p:bldP spid="29" grpId="0" animBg="1"/>
      <p:bldP spid="35" grpId="0" animBg="1"/>
      <p:bldP spid="3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Dealing with packet loss (of ack)</a:t>
            </a:r>
          </a:p>
        </p:txBody>
      </p:sp>
      <p:sp>
        <p:nvSpPr>
          <p:cNvPr id="1127427" name="Line 3"/>
          <p:cNvSpPr>
            <a:spLocks noChangeShapeType="1"/>
          </p:cNvSpPr>
          <p:nvPr/>
        </p:nvSpPr>
        <p:spPr bwMode="auto">
          <a:xfrm>
            <a:off x="4800600" y="5638800"/>
            <a:ext cx="0" cy="1219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28" name="Text Box 4"/>
          <p:cNvSpPr txBox="1">
            <a:spLocks noChangeArrowheads="1"/>
          </p:cNvSpPr>
          <p:nvPr/>
        </p:nvSpPr>
        <p:spPr bwMode="auto">
          <a:xfrm>
            <a:off x="3962400" y="6172200"/>
            <a:ext cx="857154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b="0" dirty="0">
                <a:latin typeface="+mn-lt"/>
              </a:rPr>
              <a:t>Time</a:t>
            </a:r>
          </a:p>
        </p:txBody>
      </p:sp>
      <p:sp>
        <p:nvSpPr>
          <p:cNvPr id="1127430" name="Line 6"/>
          <p:cNvSpPr>
            <a:spLocks noChangeShapeType="1"/>
          </p:cNvSpPr>
          <p:nvPr/>
        </p:nvSpPr>
        <p:spPr bwMode="auto">
          <a:xfrm flipH="1">
            <a:off x="1981200" y="2124075"/>
            <a:ext cx="30163" cy="36353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1" name="Line 7"/>
          <p:cNvSpPr>
            <a:spLocks noChangeShapeType="1"/>
          </p:cNvSpPr>
          <p:nvPr/>
        </p:nvSpPr>
        <p:spPr bwMode="auto">
          <a:xfrm flipH="1">
            <a:off x="7362825" y="2124075"/>
            <a:ext cx="3175" cy="37576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2" name="Line 8"/>
          <p:cNvSpPr>
            <a:spLocks noChangeShapeType="1"/>
          </p:cNvSpPr>
          <p:nvPr/>
        </p:nvSpPr>
        <p:spPr bwMode="auto">
          <a:xfrm>
            <a:off x="2011363" y="2276475"/>
            <a:ext cx="5303837" cy="46672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5" name="Text Box 11"/>
          <p:cNvSpPr txBox="1">
            <a:spLocks noChangeArrowheads="1"/>
          </p:cNvSpPr>
          <p:nvPr/>
        </p:nvSpPr>
        <p:spPr bwMode="auto">
          <a:xfrm>
            <a:off x="1415595" y="5865174"/>
            <a:ext cx="1228048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dirty="0">
                <a:latin typeface="+mn-lt"/>
              </a:rPr>
              <a:t>Sender</a:t>
            </a:r>
          </a:p>
        </p:txBody>
      </p:sp>
      <p:sp>
        <p:nvSpPr>
          <p:cNvPr id="1127436" name="Text Box 12"/>
          <p:cNvSpPr txBox="1">
            <a:spLocks noChangeArrowheads="1"/>
          </p:cNvSpPr>
          <p:nvPr/>
        </p:nvSpPr>
        <p:spPr bwMode="auto">
          <a:xfrm>
            <a:off x="6755801" y="5865174"/>
            <a:ext cx="1468048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dirty="0">
                <a:latin typeface="+mn-lt"/>
              </a:rPr>
              <a:t>Receiver</a:t>
            </a:r>
          </a:p>
        </p:txBody>
      </p:sp>
      <p:sp>
        <p:nvSpPr>
          <p:cNvPr id="1127441" name="Line 17"/>
          <p:cNvSpPr>
            <a:spLocks noChangeShapeType="1"/>
          </p:cNvSpPr>
          <p:nvPr/>
        </p:nvSpPr>
        <p:spPr bwMode="auto">
          <a:xfrm>
            <a:off x="2011363" y="3810000"/>
            <a:ext cx="5367337" cy="533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44" name="Text Box 20"/>
          <p:cNvSpPr txBox="1">
            <a:spLocks noChangeArrowheads="1"/>
          </p:cNvSpPr>
          <p:nvPr/>
        </p:nvSpPr>
        <p:spPr bwMode="auto">
          <a:xfrm>
            <a:off x="1649412" y="1905000"/>
            <a:ext cx="331788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>
                <a:latin typeface="Tahoma" charset="0"/>
              </a:rPr>
              <a:t>1</a:t>
            </a:r>
          </a:p>
        </p:txBody>
      </p:sp>
      <p:sp>
        <p:nvSpPr>
          <p:cNvPr id="1127468" name="Line 44"/>
          <p:cNvSpPr>
            <a:spLocks noChangeShapeType="1"/>
          </p:cNvSpPr>
          <p:nvPr/>
        </p:nvSpPr>
        <p:spPr bwMode="auto">
          <a:xfrm flipH="1">
            <a:off x="1997075" y="4419600"/>
            <a:ext cx="5367338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" name="Text Box 23"/>
          <p:cNvSpPr txBox="1">
            <a:spLocks noChangeArrowheads="1"/>
          </p:cNvSpPr>
          <p:nvPr/>
        </p:nvSpPr>
        <p:spPr bwMode="auto">
          <a:xfrm>
            <a:off x="1619514" y="3434009"/>
            <a:ext cx="361686" cy="452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>
                <a:latin typeface="Tahoma" charset="0"/>
              </a:rP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4419600" y="2876490"/>
            <a:ext cx="56574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FF0000"/>
                </a:solidFill>
                <a:latin typeface="Wingdings"/>
                <a:ea typeface="Wingdings"/>
                <a:cs typeface="Wingdings"/>
              </a:rPr>
              <a:t>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 rot="21258713">
            <a:off x="3903300" y="4321132"/>
            <a:ext cx="1108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ack</a:t>
            </a:r>
            <a:r>
              <a:rPr lang="en-US" dirty="0"/>
              <a:t>(1)</a:t>
            </a:r>
          </a:p>
        </p:txBody>
      </p:sp>
      <p:sp>
        <p:nvSpPr>
          <p:cNvPr id="27" name="Text Box 23"/>
          <p:cNvSpPr txBox="1">
            <a:spLocks noChangeArrowheads="1"/>
          </p:cNvSpPr>
          <p:nvPr/>
        </p:nvSpPr>
        <p:spPr bwMode="auto">
          <a:xfrm rot="488362">
            <a:off x="4715813" y="3774159"/>
            <a:ext cx="595712" cy="359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 dirty="0">
                <a:latin typeface="Tahoma" charset="0"/>
              </a:rPr>
              <a:t>P(1)</a:t>
            </a:r>
          </a:p>
        </p:txBody>
      </p:sp>
      <p:sp>
        <p:nvSpPr>
          <p:cNvPr id="28" name="Text Box 23"/>
          <p:cNvSpPr txBox="1">
            <a:spLocks noChangeArrowheads="1"/>
          </p:cNvSpPr>
          <p:nvPr/>
        </p:nvSpPr>
        <p:spPr bwMode="auto">
          <a:xfrm rot="500287">
            <a:off x="4747344" y="2189650"/>
            <a:ext cx="595712" cy="359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 dirty="0">
                <a:latin typeface="Tahoma" charset="0"/>
              </a:rPr>
              <a:t>P(1)</a:t>
            </a:r>
          </a:p>
        </p:txBody>
      </p:sp>
      <p:grpSp>
        <p:nvGrpSpPr>
          <p:cNvPr id="30" name="Group 61"/>
          <p:cNvGrpSpPr>
            <a:grpSpLocks/>
          </p:cNvGrpSpPr>
          <p:nvPr/>
        </p:nvGrpSpPr>
        <p:grpSpPr bwMode="auto">
          <a:xfrm>
            <a:off x="-60325" y="2286000"/>
            <a:ext cx="2009775" cy="1524000"/>
            <a:chOff x="-38" y="1968"/>
            <a:chExt cx="1266" cy="1200"/>
          </a:xfrm>
        </p:grpSpPr>
        <p:sp>
          <p:nvSpPr>
            <p:cNvPr id="31" name="Line 62"/>
            <p:cNvSpPr>
              <a:spLocks noChangeShapeType="1"/>
            </p:cNvSpPr>
            <p:nvPr/>
          </p:nvSpPr>
          <p:spPr bwMode="auto">
            <a:xfrm flipH="1">
              <a:off x="399" y="1968"/>
              <a:ext cx="8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" name="Line 63"/>
            <p:cNvSpPr>
              <a:spLocks noChangeShapeType="1"/>
            </p:cNvSpPr>
            <p:nvPr/>
          </p:nvSpPr>
          <p:spPr bwMode="auto">
            <a:xfrm flipH="1">
              <a:off x="399" y="3168"/>
              <a:ext cx="8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3" name="Line 64"/>
            <p:cNvSpPr>
              <a:spLocks noChangeShapeType="1"/>
            </p:cNvSpPr>
            <p:nvPr/>
          </p:nvSpPr>
          <p:spPr bwMode="auto">
            <a:xfrm>
              <a:off x="720" y="1968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4" name="Text Box 65"/>
            <p:cNvSpPr txBox="1">
              <a:spLocks noChangeArrowheads="1"/>
            </p:cNvSpPr>
            <p:nvPr/>
          </p:nvSpPr>
          <p:spPr bwMode="auto">
            <a:xfrm>
              <a:off x="-38" y="2160"/>
              <a:ext cx="745" cy="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2000" b="0" dirty="0">
                  <a:solidFill>
                    <a:srgbClr val="FF0000"/>
                  </a:solidFill>
                  <a:latin typeface="Tahoma" charset="0"/>
                </a:rPr>
                <a:t>Timeout</a:t>
              </a:r>
            </a:p>
            <a:p>
              <a:pPr eaLnBrk="1" hangingPunct="1"/>
              <a:endParaRPr lang="en-US" sz="2000" b="0" dirty="0">
                <a:solidFill>
                  <a:srgbClr val="FF0000"/>
                </a:solidFill>
                <a:latin typeface="Tahoma" charset="0"/>
              </a:endParaRPr>
            </a:p>
          </p:txBody>
        </p:sp>
      </p:grpSp>
      <p:sp>
        <p:nvSpPr>
          <p:cNvPr id="35" name="Line 17"/>
          <p:cNvSpPr>
            <a:spLocks noChangeShapeType="1"/>
          </p:cNvSpPr>
          <p:nvPr/>
        </p:nvSpPr>
        <p:spPr bwMode="auto">
          <a:xfrm>
            <a:off x="2057401" y="5029200"/>
            <a:ext cx="5257800" cy="533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" name="Text Box 23"/>
          <p:cNvSpPr txBox="1">
            <a:spLocks noChangeArrowheads="1"/>
          </p:cNvSpPr>
          <p:nvPr/>
        </p:nvSpPr>
        <p:spPr bwMode="auto">
          <a:xfrm rot="488362">
            <a:off x="4761850" y="4993359"/>
            <a:ext cx="595712" cy="359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 dirty="0">
                <a:latin typeface="Tahoma" charset="0"/>
              </a:rPr>
              <a:t>P(2)</a:t>
            </a:r>
          </a:p>
        </p:txBody>
      </p:sp>
      <p:sp>
        <p:nvSpPr>
          <p:cNvPr id="37" name="Line 44"/>
          <p:cNvSpPr>
            <a:spLocks noChangeShapeType="1"/>
          </p:cNvSpPr>
          <p:nvPr/>
        </p:nvSpPr>
        <p:spPr bwMode="auto">
          <a:xfrm flipH="1">
            <a:off x="4953000" y="2819400"/>
            <a:ext cx="2362200" cy="2286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Oval Callout 1"/>
          <p:cNvSpPr/>
          <p:nvPr/>
        </p:nvSpPr>
        <p:spPr bwMode="auto">
          <a:xfrm>
            <a:off x="7620000" y="4111752"/>
            <a:ext cx="1295400" cy="612648"/>
          </a:xfrm>
          <a:prstGeom prst="wedgeEllipseCallout">
            <a:avLst>
              <a:gd name="adj1" fmla="val -66727"/>
              <a:gd name="adj2" fmla="val -19092"/>
            </a:avLst>
          </a:prstGeom>
          <a:solidFill>
            <a:schemeClr val="accent2">
              <a:lumMod val="10000"/>
              <a:lumOff val="90000"/>
            </a:schemeClr>
          </a:solidFill>
          <a:ln w="9525" cap="flat" cmpd="sng" algn="ctr">
            <a:solidFill>
              <a:schemeClr val="accent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duplicate!</a:t>
            </a:r>
          </a:p>
        </p:txBody>
      </p:sp>
    </p:spTree>
    <p:extLst>
      <p:ext uri="{BB962C8B-B14F-4D97-AF65-F5344CB8AC3E}">
        <p14:creationId xmlns:p14="http://schemas.microsoft.com/office/powerpoint/2010/main" val="591391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441" grpId="0" animBg="1"/>
      <p:bldP spid="1127468" grpId="0" animBg="1"/>
      <p:bldP spid="51" grpId="0"/>
      <p:bldP spid="55" grpId="0"/>
      <p:bldP spid="27" grpId="0"/>
      <p:bldP spid="35" grpId="0" animBg="1"/>
      <p:bldP spid="36" grpId="0"/>
      <p:bldP spid="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Dealing with delay</a:t>
            </a:r>
          </a:p>
        </p:txBody>
      </p:sp>
      <p:sp>
        <p:nvSpPr>
          <p:cNvPr id="1127427" name="Line 3"/>
          <p:cNvSpPr>
            <a:spLocks noChangeShapeType="1"/>
          </p:cNvSpPr>
          <p:nvPr/>
        </p:nvSpPr>
        <p:spPr bwMode="auto">
          <a:xfrm>
            <a:off x="4800600" y="5638800"/>
            <a:ext cx="0" cy="1219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28" name="Text Box 4"/>
          <p:cNvSpPr txBox="1">
            <a:spLocks noChangeArrowheads="1"/>
          </p:cNvSpPr>
          <p:nvPr/>
        </p:nvSpPr>
        <p:spPr bwMode="auto">
          <a:xfrm>
            <a:off x="3962400" y="6172200"/>
            <a:ext cx="857154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b="0" dirty="0">
                <a:latin typeface="+mn-lt"/>
              </a:rPr>
              <a:t>Time</a:t>
            </a:r>
          </a:p>
        </p:txBody>
      </p:sp>
      <p:sp>
        <p:nvSpPr>
          <p:cNvPr id="1127430" name="Line 6"/>
          <p:cNvSpPr>
            <a:spLocks noChangeShapeType="1"/>
          </p:cNvSpPr>
          <p:nvPr/>
        </p:nvSpPr>
        <p:spPr bwMode="auto">
          <a:xfrm flipH="1">
            <a:off x="1981200" y="2124075"/>
            <a:ext cx="30163" cy="36353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1" name="Line 7"/>
          <p:cNvSpPr>
            <a:spLocks noChangeShapeType="1"/>
          </p:cNvSpPr>
          <p:nvPr/>
        </p:nvSpPr>
        <p:spPr bwMode="auto">
          <a:xfrm flipH="1">
            <a:off x="7362825" y="2124075"/>
            <a:ext cx="3175" cy="37576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2" name="Line 8"/>
          <p:cNvSpPr>
            <a:spLocks noChangeShapeType="1"/>
          </p:cNvSpPr>
          <p:nvPr/>
        </p:nvSpPr>
        <p:spPr bwMode="auto">
          <a:xfrm>
            <a:off x="2011363" y="2276475"/>
            <a:ext cx="5303837" cy="138112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5" name="Text Box 11"/>
          <p:cNvSpPr txBox="1">
            <a:spLocks noChangeArrowheads="1"/>
          </p:cNvSpPr>
          <p:nvPr/>
        </p:nvSpPr>
        <p:spPr bwMode="auto">
          <a:xfrm>
            <a:off x="1415595" y="5865174"/>
            <a:ext cx="1228048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dirty="0">
                <a:latin typeface="+mn-lt"/>
              </a:rPr>
              <a:t>Sender</a:t>
            </a:r>
          </a:p>
        </p:txBody>
      </p:sp>
      <p:sp>
        <p:nvSpPr>
          <p:cNvPr id="1127436" name="Text Box 12"/>
          <p:cNvSpPr txBox="1">
            <a:spLocks noChangeArrowheads="1"/>
          </p:cNvSpPr>
          <p:nvPr/>
        </p:nvSpPr>
        <p:spPr bwMode="auto">
          <a:xfrm>
            <a:off x="6755801" y="5865174"/>
            <a:ext cx="1468048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dirty="0">
                <a:latin typeface="+mn-lt"/>
              </a:rPr>
              <a:t>Receiver</a:t>
            </a:r>
          </a:p>
        </p:txBody>
      </p:sp>
      <p:sp>
        <p:nvSpPr>
          <p:cNvPr id="1127441" name="Line 17"/>
          <p:cNvSpPr>
            <a:spLocks noChangeShapeType="1"/>
          </p:cNvSpPr>
          <p:nvPr/>
        </p:nvSpPr>
        <p:spPr bwMode="auto">
          <a:xfrm>
            <a:off x="2011363" y="3810000"/>
            <a:ext cx="5367337" cy="533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44" name="Text Box 20"/>
          <p:cNvSpPr txBox="1">
            <a:spLocks noChangeArrowheads="1"/>
          </p:cNvSpPr>
          <p:nvPr/>
        </p:nvSpPr>
        <p:spPr bwMode="auto">
          <a:xfrm>
            <a:off x="1649412" y="1905000"/>
            <a:ext cx="331788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>
                <a:latin typeface="Tahoma" charset="0"/>
              </a:rPr>
              <a:t>1</a:t>
            </a:r>
          </a:p>
        </p:txBody>
      </p:sp>
      <p:sp>
        <p:nvSpPr>
          <p:cNvPr id="1127468" name="Line 44"/>
          <p:cNvSpPr>
            <a:spLocks noChangeShapeType="1"/>
          </p:cNvSpPr>
          <p:nvPr/>
        </p:nvSpPr>
        <p:spPr bwMode="auto">
          <a:xfrm flipH="1">
            <a:off x="1997075" y="4419600"/>
            <a:ext cx="5367338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82" name="Text Box 58"/>
          <p:cNvSpPr txBox="1">
            <a:spLocks noChangeArrowheads="1"/>
          </p:cNvSpPr>
          <p:nvPr/>
        </p:nvSpPr>
        <p:spPr bwMode="auto">
          <a:xfrm>
            <a:off x="725488" y="4191000"/>
            <a:ext cx="265112" cy="1184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2400" b="1"/>
              <a:t>.</a:t>
            </a:r>
          </a:p>
          <a:p>
            <a:r>
              <a:rPr lang="en-US" sz="2400" b="1"/>
              <a:t>.</a:t>
            </a:r>
          </a:p>
          <a:p>
            <a:r>
              <a:rPr lang="en-US" sz="2400" b="1"/>
              <a:t>.</a:t>
            </a:r>
          </a:p>
        </p:txBody>
      </p:sp>
      <p:sp>
        <p:nvSpPr>
          <p:cNvPr id="51" name="Text Box 23"/>
          <p:cNvSpPr txBox="1">
            <a:spLocks noChangeArrowheads="1"/>
          </p:cNvSpPr>
          <p:nvPr/>
        </p:nvSpPr>
        <p:spPr bwMode="auto">
          <a:xfrm>
            <a:off x="1619514" y="3434009"/>
            <a:ext cx="361686" cy="452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>
                <a:latin typeface="Tahoma" charset="0"/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 rot="21258713">
            <a:off x="3293700" y="4473532"/>
            <a:ext cx="1108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ack</a:t>
            </a:r>
            <a:r>
              <a:rPr lang="en-US" dirty="0"/>
              <a:t>(1)</a:t>
            </a:r>
          </a:p>
        </p:txBody>
      </p:sp>
      <p:sp>
        <p:nvSpPr>
          <p:cNvPr id="27" name="Text Box 23"/>
          <p:cNvSpPr txBox="1">
            <a:spLocks noChangeArrowheads="1"/>
          </p:cNvSpPr>
          <p:nvPr/>
        </p:nvSpPr>
        <p:spPr bwMode="auto">
          <a:xfrm rot="488362">
            <a:off x="2689475" y="3562183"/>
            <a:ext cx="595712" cy="359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 dirty="0">
                <a:latin typeface="Tahoma" charset="0"/>
              </a:rPr>
              <a:t>P(1)</a:t>
            </a:r>
          </a:p>
        </p:txBody>
      </p:sp>
      <p:sp>
        <p:nvSpPr>
          <p:cNvPr id="28" name="Text Box 23"/>
          <p:cNvSpPr txBox="1">
            <a:spLocks noChangeArrowheads="1"/>
          </p:cNvSpPr>
          <p:nvPr/>
        </p:nvSpPr>
        <p:spPr bwMode="auto">
          <a:xfrm rot="500287">
            <a:off x="4747344" y="2189650"/>
            <a:ext cx="595712" cy="359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 dirty="0">
                <a:latin typeface="Tahoma" charset="0"/>
              </a:rPr>
              <a:t>P(1)</a:t>
            </a:r>
          </a:p>
        </p:txBody>
      </p:sp>
      <p:sp>
        <p:nvSpPr>
          <p:cNvPr id="29" name="Rounded Rectangle 28"/>
          <p:cNvSpPr/>
          <p:nvPr/>
        </p:nvSpPr>
        <p:spPr bwMode="auto">
          <a:xfrm>
            <a:off x="419100" y="5943600"/>
            <a:ext cx="8305800" cy="685800"/>
          </a:xfrm>
          <a:prstGeom prst="roundRect">
            <a:avLst/>
          </a:prstGeom>
          <a:solidFill>
            <a:srgbClr val="D3A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+mn-lt"/>
              </a:rPr>
              <a:t>Timer-driven retransmission </a:t>
            </a: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+mn-lt"/>
              </a:rPr>
              <a:t>can</a:t>
            </a:r>
            <a:r>
              <a:rPr kumimoji="0" lang="en-US" sz="2800" b="0" i="0" u="none" strike="noStrike" cap="none" normalizeH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+mn-lt"/>
              </a:rPr>
              <a:t> lead to </a:t>
            </a:r>
            <a:r>
              <a:rPr kumimoji="0" lang="en-US" sz="2800" b="0" i="0" u="sng" strike="noStrike" cap="none" normalizeH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+mn-lt"/>
              </a:rPr>
              <a:t>duplicates</a:t>
            </a:r>
            <a:r>
              <a:rPr kumimoji="0" lang="en-US" sz="2800" b="0" i="0" u="none" strike="noStrike" cap="none" normalizeH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+mn-lt"/>
                <a:sym typeface="Wingdings"/>
              </a:rPr>
              <a:t> </a:t>
            </a:r>
            <a:r>
              <a:rPr lang="en-US" sz="2800" b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 </a:t>
            </a:r>
            <a:endParaRPr kumimoji="0" lang="en-US" sz="2800" b="0" i="0" u="none" strike="noStrike" cap="none" normalizeH="0" baseline="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+mn-lt"/>
            </a:endParaRPr>
          </a:p>
        </p:txBody>
      </p:sp>
      <p:grpSp>
        <p:nvGrpSpPr>
          <p:cNvPr id="30" name="Group 61"/>
          <p:cNvGrpSpPr>
            <a:grpSpLocks/>
          </p:cNvGrpSpPr>
          <p:nvPr/>
        </p:nvGrpSpPr>
        <p:grpSpPr bwMode="auto">
          <a:xfrm>
            <a:off x="-60325" y="2286000"/>
            <a:ext cx="2009775" cy="1524000"/>
            <a:chOff x="-38" y="1968"/>
            <a:chExt cx="1266" cy="1200"/>
          </a:xfrm>
        </p:grpSpPr>
        <p:sp>
          <p:nvSpPr>
            <p:cNvPr id="31" name="Line 62"/>
            <p:cNvSpPr>
              <a:spLocks noChangeShapeType="1"/>
            </p:cNvSpPr>
            <p:nvPr/>
          </p:nvSpPr>
          <p:spPr bwMode="auto">
            <a:xfrm flipH="1">
              <a:off x="399" y="1968"/>
              <a:ext cx="8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" name="Line 63"/>
            <p:cNvSpPr>
              <a:spLocks noChangeShapeType="1"/>
            </p:cNvSpPr>
            <p:nvPr/>
          </p:nvSpPr>
          <p:spPr bwMode="auto">
            <a:xfrm flipH="1">
              <a:off x="399" y="3168"/>
              <a:ext cx="8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3" name="Line 64"/>
            <p:cNvSpPr>
              <a:spLocks noChangeShapeType="1"/>
            </p:cNvSpPr>
            <p:nvPr/>
          </p:nvSpPr>
          <p:spPr bwMode="auto">
            <a:xfrm>
              <a:off x="720" y="1968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4" name="Text Box 65"/>
            <p:cNvSpPr txBox="1">
              <a:spLocks noChangeArrowheads="1"/>
            </p:cNvSpPr>
            <p:nvPr/>
          </p:nvSpPr>
          <p:spPr bwMode="auto">
            <a:xfrm>
              <a:off x="-38" y="2160"/>
              <a:ext cx="745" cy="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2000" b="0" dirty="0">
                  <a:solidFill>
                    <a:srgbClr val="FF0000"/>
                  </a:solidFill>
                  <a:latin typeface="Tahoma" charset="0"/>
                </a:rPr>
                <a:t>Timeout</a:t>
              </a:r>
            </a:p>
            <a:p>
              <a:pPr eaLnBrk="1" hangingPunct="1"/>
              <a:endParaRPr lang="en-US" sz="2000" b="0" dirty="0">
                <a:solidFill>
                  <a:srgbClr val="FF0000"/>
                </a:solidFill>
                <a:latin typeface="Tahoma" charset="0"/>
              </a:endParaRPr>
            </a:p>
          </p:txBody>
        </p:sp>
      </p:grpSp>
      <p:sp>
        <p:nvSpPr>
          <p:cNvPr id="35" name="Line 17"/>
          <p:cNvSpPr>
            <a:spLocks noChangeShapeType="1"/>
          </p:cNvSpPr>
          <p:nvPr/>
        </p:nvSpPr>
        <p:spPr bwMode="auto">
          <a:xfrm>
            <a:off x="2057401" y="4267200"/>
            <a:ext cx="5257800" cy="533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" name="Text Box 23"/>
          <p:cNvSpPr txBox="1">
            <a:spLocks noChangeArrowheads="1"/>
          </p:cNvSpPr>
          <p:nvPr/>
        </p:nvSpPr>
        <p:spPr bwMode="auto">
          <a:xfrm rot="488362">
            <a:off x="4761850" y="4231359"/>
            <a:ext cx="595712" cy="359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 dirty="0">
                <a:latin typeface="Tahoma" charset="0"/>
              </a:rPr>
              <a:t>P(2)</a:t>
            </a:r>
          </a:p>
        </p:txBody>
      </p:sp>
      <p:sp>
        <p:nvSpPr>
          <p:cNvPr id="37" name="Line 44"/>
          <p:cNvSpPr>
            <a:spLocks noChangeShapeType="1"/>
          </p:cNvSpPr>
          <p:nvPr/>
        </p:nvSpPr>
        <p:spPr bwMode="auto">
          <a:xfrm flipH="1">
            <a:off x="1981200" y="3657600"/>
            <a:ext cx="5334000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Oval Callout 1"/>
          <p:cNvSpPr/>
          <p:nvPr/>
        </p:nvSpPr>
        <p:spPr bwMode="auto">
          <a:xfrm>
            <a:off x="7620000" y="4114800"/>
            <a:ext cx="1295400" cy="612648"/>
          </a:xfrm>
          <a:prstGeom prst="wedgeEllipseCallout">
            <a:avLst>
              <a:gd name="adj1" fmla="val -66727"/>
              <a:gd name="adj2" fmla="val -19092"/>
            </a:avLst>
          </a:prstGeom>
          <a:solidFill>
            <a:schemeClr val="accent2">
              <a:lumMod val="10000"/>
              <a:lumOff val="90000"/>
            </a:schemeClr>
          </a:solidFill>
          <a:ln w="9525" cap="flat" cmpd="sng" algn="ctr">
            <a:solidFill>
              <a:schemeClr val="accent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duplicate!</a:t>
            </a:r>
          </a:p>
        </p:txBody>
      </p:sp>
      <p:sp>
        <p:nvSpPr>
          <p:cNvPr id="38" name="TextBox 37"/>
          <p:cNvSpPr txBox="1"/>
          <p:nvPr/>
        </p:nvSpPr>
        <p:spPr>
          <a:xfrm rot="21258713">
            <a:off x="5123154" y="3432158"/>
            <a:ext cx="1108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ack</a:t>
            </a:r>
            <a:r>
              <a:rPr lang="en-US" dirty="0"/>
              <a:t>(1)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4281D25-F023-6ED8-420E-E37BC9EF17DF}"/>
                  </a:ext>
                </a:extLst>
              </p14:cNvPr>
              <p14:cNvContentPartPr/>
              <p14:nvPr/>
            </p14:nvContentPartPr>
            <p14:xfrm>
              <a:off x="2031840" y="2320920"/>
              <a:ext cx="1171440" cy="17082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4281D25-F023-6ED8-420E-E37BC9EF17D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22480" y="2311560"/>
                <a:ext cx="1190160" cy="1726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56470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441" grpId="0" animBg="1"/>
      <p:bldP spid="1127468" grpId="0" animBg="1"/>
      <p:bldP spid="51" grpId="0"/>
      <p:bldP spid="55" grpId="0"/>
      <p:bldP spid="27" grpId="0"/>
      <p:bldP spid="29" grpId="0" animBg="1"/>
      <p:bldP spid="35" grpId="0" animBg="1"/>
      <p:bldP spid="36" grpId="0"/>
      <p:bldP spid="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a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Checksums (to detect bit errors) </a:t>
            </a:r>
          </a:p>
          <a:p>
            <a:r>
              <a:rPr lang="en-US" dirty="0"/>
              <a:t>Timers (to detect loss)</a:t>
            </a:r>
          </a:p>
          <a:p>
            <a:r>
              <a:rPr lang="en-US" dirty="0"/>
              <a:t>Acknowledgements (positive or negative)</a:t>
            </a:r>
          </a:p>
          <a:p>
            <a:r>
              <a:rPr lang="en-US" dirty="0"/>
              <a:t>Sequence numbers (to deal with duplicates)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0075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a reliable transport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858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Solution: “Stop and Wait”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5029200"/>
            <a:ext cx="8077200" cy="990600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dirty="0">
                <a:solidFill>
                  <a:srgbClr val="0000FF"/>
                </a:solidFill>
              </a:rPr>
              <a:t>correct</a:t>
            </a:r>
            <a:r>
              <a:rPr lang="en-US" dirty="0"/>
              <a:t> reliable transport protocol, but an </a:t>
            </a:r>
            <a:r>
              <a:rPr lang="en-US" dirty="0">
                <a:solidFill>
                  <a:srgbClr val="0000FF"/>
                </a:solidFill>
              </a:rPr>
              <a:t>extremely inefficient </a:t>
            </a:r>
            <a:r>
              <a:rPr lang="en-US" dirty="0"/>
              <a:t>one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381000" y="1828801"/>
            <a:ext cx="4038600" cy="25146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charset="0"/>
              <a:buChar char="l"/>
              <a:defRPr sz="28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0"/>
              <a:buChar char="l"/>
              <a:defRPr sz="2400">
                <a:solidFill>
                  <a:schemeClr val="tx1"/>
                </a:solidFill>
                <a:latin typeface="+mn-lt"/>
                <a:ea typeface="ＭＳ Ｐゴシック" charset="-128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charset="0"/>
              <a:buChar char="l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charset="0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0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>
              <a:buFont typeface="Wingdings" charset="0"/>
              <a:buNone/>
            </a:pPr>
            <a:r>
              <a:rPr lang="en-US" sz="2400" b="0" dirty="0">
                <a:solidFill>
                  <a:srgbClr val="0000FF"/>
                </a:solidFill>
              </a:rPr>
              <a:t>@Sender</a:t>
            </a:r>
          </a:p>
          <a:p>
            <a:pPr lvl="1"/>
            <a:r>
              <a:rPr lang="en-US" sz="1800" b="0" dirty="0">
                <a:solidFill>
                  <a:schemeClr val="accent2"/>
                </a:solidFill>
              </a:rPr>
              <a:t>Send packet(</a:t>
            </a:r>
            <a:r>
              <a:rPr lang="en-US" sz="1800" b="0" dirty="0" err="1">
                <a:solidFill>
                  <a:schemeClr val="accent2"/>
                </a:solidFill>
              </a:rPr>
              <a:t>i</a:t>
            </a:r>
            <a:r>
              <a:rPr lang="en-US" sz="1800" b="0" dirty="0">
                <a:solidFill>
                  <a:schemeClr val="accent2"/>
                </a:solidFill>
              </a:rPr>
              <a:t>); (re)set timer; wait for ack</a:t>
            </a:r>
          </a:p>
          <a:p>
            <a:pPr lvl="1"/>
            <a:r>
              <a:rPr lang="en-US" sz="1800" b="0" dirty="0">
                <a:solidFill>
                  <a:schemeClr val="accent2"/>
                </a:solidFill>
              </a:rPr>
              <a:t>If (ACK) </a:t>
            </a:r>
          </a:p>
          <a:p>
            <a:pPr lvl="2"/>
            <a:r>
              <a:rPr lang="en-US" altLang="zh-CN" sz="1800" b="0" dirty="0">
                <a:solidFill>
                  <a:schemeClr val="accent2"/>
                </a:solidFill>
              </a:rPr>
              <a:t>i</a:t>
            </a:r>
            <a:r>
              <a:rPr lang="en-US" sz="1800" b="0" dirty="0">
                <a:solidFill>
                  <a:schemeClr val="accent2"/>
                </a:solidFill>
              </a:rPr>
              <a:t>++; repeat</a:t>
            </a:r>
          </a:p>
          <a:p>
            <a:pPr lvl="1"/>
            <a:r>
              <a:rPr lang="en-US" sz="1800" b="0" dirty="0">
                <a:solidFill>
                  <a:schemeClr val="accent2"/>
                </a:solidFill>
              </a:rPr>
              <a:t>If (NACK or TIMEOUT)</a:t>
            </a:r>
          </a:p>
          <a:p>
            <a:pPr lvl="2"/>
            <a:r>
              <a:rPr lang="en-US" sz="1800" b="0" dirty="0">
                <a:solidFill>
                  <a:schemeClr val="accent2"/>
                </a:solidFill>
              </a:rPr>
              <a:t>repeat</a:t>
            </a:r>
          </a:p>
        </p:txBody>
      </p:sp>
      <p:sp>
        <p:nvSpPr>
          <p:cNvPr id="5" name="Content Placeholder 4"/>
          <p:cNvSpPr txBox="1">
            <a:spLocks/>
          </p:cNvSpPr>
          <p:nvPr/>
        </p:nvSpPr>
        <p:spPr>
          <a:xfrm>
            <a:off x="4648200" y="1828801"/>
            <a:ext cx="4114800" cy="25146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charset="0"/>
              <a:buChar char="l"/>
              <a:defRPr sz="28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0"/>
              <a:buChar char="l"/>
              <a:defRPr sz="2400">
                <a:solidFill>
                  <a:schemeClr val="tx1"/>
                </a:solidFill>
                <a:latin typeface="+mn-lt"/>
                <a:ea typeface="ＭＳ Ｐゴシック" charset="-128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charset="0"/>
              <a:buChar char="l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charset="0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0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>
              <a:buFont typeface="Wingdings" charset="0"/>
              <a:buNone/>
            </a:pPr>
            <a:r>
              <a:rPr lang="en-US" sz="2400" b="0" dirty="0">
                <a:solidFill>
                  <a:srgbClr val="0000FF"/>
                </a:solidFill>
              </a:rPr>
              <a:t>@Receiver</a:t>
            </a:r>
          </a:p>
          <a:p>
            <a:pPr lvl="1"/>
            <a:r>
              <a:rPr lang="en-US" sz="1800" b="0" dirty="0">
                <a:solidFill>
                  <a:schemeClr val="accent2"/>
                </a:solidFill>
              </a:rPr>
              <a:t>Wait for packet</a:t>
            </a:r>
          </a:p>
          <a:p>
            <a:pPr lvl="1"/>
            <a:r>
              <a:rPr lang="en-US" sz="1800" b="0" dirty="0">
                <a:solidFill>
                  <a:schemeClr val="accent2"/>
                </a:solidFill>
              </a:rPr>
              <a:t>If packet is OK, send ACK</a:t>
            </a:r>
          </a:p>
          <a:p>
            <a:pPr lvl="1"/>
            <a:r>
              <a:rPr lang="en-US" sz="1800" b="0" dirty="0">
                <a:solidFill>
                  <a:schemeClr val="accent2"/>
                </a:solidFill>
              </a:rPr>
              <a:t>Else, send NACK</a:t>
            </a:r>
          </a:p>
          <a:p>
            <a:pPr lvl="1"/>
            <a:r>
              <a:rPr lang="en-US" sz="1800" b="0" dirty="0">
                <a:solidFill>
                  <a:schemeClr val="accent2"/>
                </a:solidFill>
              </a:rPr>
              <a:t>Repeat</a:t>
            </a:r>
          </a:p>
        </p:txBody>
      </p:sp>
    </p:spTree>
    <p:extLst>
      <p:ext uri="{BB962C8B-B14F-4D97-AF65-F5344CB8AC3E}">
        <p14:creationId xmlns:p14="http://schemas.microsoft.com/office/powerpoint/2010/main" val="1505137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Stop &amp; Wait is inefficient </a:t>
            </a:r>
          </a:p>
        </p:txBody>
      </p:sp>
      <p:sp>
        <p:nvSpPr>
          <p:cNvPr id="1123331" name="Line 3"/>
          <p:cNvSpPr>
            <a:spLocks noChangeShapeType="1"/>
          </p:cNvSpPr>
          <p:nvPr/>
        </p:nvSpPr>
        <p:spPr bwMode="auto">
          <a:xfrm>
            <a:off x="2303463" y="1905000"/>
            <a:ext cx="0" cy="396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23332" name="Line 4"/>
          <p:cNvSpPr>
            <a:spLocks noChangeShapeType="1"/>
          </p:cNvSpPr>
          <p:nvPr/>
        </p:nvSpPr>
        <p:spPr bwMode="auto">
          <a:xfrm>
            <a:off x="6265863" y="19050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23333" name="Line 5"/>
          <p:cNvSpPr>
            <a:spLocks noChangeShapeType="1"/>
          </p:cNvSpPr>
          <p:nvPr/>
        </p:nvSpPr>
        <p:spPr bwMode="auto">
          <a:xfrm flipH="1">
            <a:off x="2303463" y="3505200"/>
            <a:ext cx="3962400" cy="1219200"/>
          </a:xfrm>
          <a:prstGeom prst="line">
            <a:avLst/>
          </a:prstGeom>
          <a:noFill/>
          <a:ln w="38100">
            <a:solidFill>
              <a:srgbClr val="D3A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23334" name="Freeform 6"/>
          <p:cNvSpPr>
            <a:spLocks/>
          </p:cNvSpPr>
          <p:nvPr/>
        </p:nvSpPr>
        <p:spPr bwMode="auto">
          <a:xfrm>
            <a:off x="2303463" y="1981200"/>
            <a:ext cx="3962400" cy="1524000"/>
          </a:xfrm>
          <a:custGeom>
            <a:avLst/>
            <a:gdLst>
              <a:gd name="T0" fmla="*/ 0 w 2496"/>
              <a:gd name="T1" fmla="*/ 0 h 960"/>
              <a:gd name="T2" fmla="*/ 2496 w 2496"/>
              <a:gd name="T3" fmla="*/ 768 h 960"/>
              <a:gd name="T4" fmla="*/ 2496 w 2496"/>
              <a:gd name="T5" fmla="*/ 960 h 960"/>
              <a:gd name="T6" fmla="*/ 0 w 2496"/>
              <a:gd name="T7" fmla="*/ 192 h 960"/>
              <a:gd name="T8" fmla="*/ 0 w 2496"/>
              <a:gd name="T9" fmla="*/ 0 h 9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96" h="960">
                <a:moveTo>
                  <a:pt x="0" y="0"/>
                </a:moveTo>
                <a:lnTo>
                  <a:pt x="2496" y="768"/>
                </a:lnTo>
                <a:lnTo>
                  <a:pt x="2496" y="960"/>
                </a:lnTo>
                <a:lnTo>
                  <a:pt x="0" y="192"/>
                </a:lnTo>
                <a:lnTo>
                  <a:pt x="0" y="0"/>
                </a:lnTo>
                <a:close/>
              </a:path>
            </a:pathLst>
          </a:custGeom>
          <a:solidFill>
            <a:srgbClr val="D3A6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23335" name="Text Box 7"/>
          <p:cNvSpPr txBox="1">
            <a:spLocks noChangeArrowheads="1"/>
          </p:cNvSpPr>
          <p:nvPr/>
        </p:nvSpPr>
        <p:spPr bwMode="auto">
          <a:xfrm>
            <a:off x="3598863" y="3783013"/>
            <a:ext cx="710429" cy="4000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9" tIns="45714" rIns="91429" bIns="45714">
            <a:spAutoFit/>
          </a:bodyPr>
          <a:lstStyle/>
          <a:p>
            <a:pPr eaLnBrk="1" hangingPunct="1"/>
            <a:r>
              <a:rPr lang="en-US" sz="2000" dirty="0">
                <a:latin typeface="Tahoma" charset="0"/>
              </a:rPr>
              <a:t>ACK</a:t>
            </a:r>
          </a:p>
        </p:txBody>
      </p:sp>
      <p:sp>
        <p:nvSpPr>
          <p:cNvPr id="1123336" name="Text Box 8"/>
          <p:cNvSpPr txBox="1">
            <a:spLocks noChangeArrowheads="1"/>
          </p:cNvSpPr>
          <p:nvPr/>
        </p:nvSpPr>
        <p:spPr bwMode="auto">
          <a:xfrm>
            <a:off x="3903663" y="2030413"/>
            <a:ext cx="809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9" tIns="45714" rIns="91429" bIns="45714">
            <a:spAutoFit/>
          </a:bodyPr>
          <a:lstStyle/>
          <a:p>
            <a:pPr eaLnBrk="1" hangingPunct="1"/>
            <a:r>
              <a:rPr lang="en-US" sz="2000">
                <a:latin typeface="Tahoma" charset="0"/>
              </a:rPr>
              <a:t>DATA</a:t>
            </a:r>
          </a:p>
        </p:txBody>
      </p:sp>
      <p:sp>
        <p:nvSpPr>
          <p:cNvPr id="1123337" name="Freeform 9"/>
          <p:cNvSpPr>
            <a:spLocks/>
          </p:cNvSpPr>
          <p:nvPr/>
        </p:nvSpPr>
        <p:spPr bwMode="auto">
          <a:xfrm>
            <a:off x="2303463" y="4724400"/>
            <a:ext cx="3962400" cy="1524000"/>
          </a:xfrm>
          <a:custGeom>
            <a:avLst/>
            <a:gdLst>
              <a:gd name="T0" fmla="*/ 0 w 2496"/>
              <a:gd name="T1" fmla="*/ 0 h 960"/>
              <a:gd name="T2" fmla="*/ 2496 w 2496"/>
              <a:gd name="T3" fmla="*/ 768 h 960"/>
              <a:gd name="T4" fmla="*/ 2496 w 2496"/>
              <a:gd name="T5" fmla="*/ 960 h 960"/>
              <a:gd name="T6" fmla="*/ 0 w 2496"/>
              <a:gd name="T7" fmla="*/ 192 h 960"/>
              <a:gd name="T8" fmla="*/ 0 w 2496"/>
              <a:gd name="T9" fmla="*/ 0 h 9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96" h="960">
                <a:moveTo>
                  <a:pt x="0" y="0"/>
                </a:moveTo>
                <a:lnTo>
                  <a:pt x="2496" y="768"/>
                </a:lnTo>
                <a:lnTo>
                  <a:pt x="2496" y="960"/>
                </a:lnTo>
                <a:lnTo>
                  <a:pt x="0" y="192"/>
                </a:lnTo>
                <a:lnTo>
                  <a:pt x="0" y="0"/>
                </a:lnTo>
                <a:close/>
              </a:path>
            </a:pathLst>
          </a:custGeom>
          <a:solidFill>
            <a:srgbClr val="D3A6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23339" name="Text Box 11"/>
          <p:cNvSpPr txBox="1">
            <a:spLocks noChangeArrowheads="1"/>
          </p:cNvSpPr>
          <p:nvPr/>
        </p:nvSpPr>
        <p:spPr bwMode="auto">
          <a:xfrm>
            <a:off x="1981200" y="6324600"/>
            <a:ext cx="965200" cy="3968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9" tIns="45714" rIns="91429" bIns="45714">
            <a:spAutoFit/>
          </a:bodyPr>
          <a:lstStyle/>
          <a:p>
            <a:pPr eaLnBrk="1" hangingPunct="1"/>
            <a:r>
              <a:rPr lang="en-US" sz="2000" dirty="0">
                <a:latin typeface="Tahoma" charset="0"/>
              </a:rPr>
              <a:t>Sender</a:t>
            </a:r>
          </a:p>
        </p:txBody>
      </p:sp>
      <p:sp>
        <p:nvSpPr>
          <p:cNvPr id="1123340" name="Text Box 12"/>
          <p:cNvSpPr txBox="1">
            <a:spLocks noChangeArrowheads="1"/>
          </p:cNvSpPr>
          <p:nvPr/>
        </p:nvSpPr>
        <p:spPr bwMode="auto">
          <a:xfrm>
            <a:off x="5791200" y="6308725"/>
            <a:ext cx="1136650" cy="3968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9" tIns="45714" rIns="91429" bIns="45714">
            <a:spAutoFit/>
          </a:bodyPr>
          <a:lstStyle/>
          <a:p>
            <a:pPr eaLnBrk="1" hangingPunct="1"/>
            <a:r>
              <a:rPr lang="en-US" sz="2000">
                <a:latin typeface="Tahoma" charset="0"/>
              </a:rPr>
              <a:t>Receiver</a:t>
            </a:r>
          </a:p>
        </p:txBody>
      </p:sp>
      <p:sp>
        <p:nvSpPr>
          <p:cNvPr id="1123341" name="Line 13"/>
          <p:cNvSpPr>
            <a:spLocks noChangeShapeType="1"/>
          </p:cNvSpPr>
          <p:nvPr/>
        </p:nvSpPr>
        <p:spPr bwMode="auto">
          <a:xfrm flipH="1">
            <a:off x="1389063" y="4724400"/>
            <a:ext cx="914400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23342" name="Line 14"/>
          <p:cNvSpPr>
            <a:spLocks noChangeShapeType="1"/>
          </p:cNvSpPr>
          <p:nvPr/>
        </p:nvSpPr>
        <p:spPr bwMode="auto">
          <a:xfrm>
            <a:off x="1846263" y="2317750"/>
            <a:ext cx="0" cy="240665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 type="arrow" w="med" len="med"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23343" name="Text Box 15"/>
          <p:cNvSpPr txBox="1">
            <a:spLocks noChangeArrowheads="1"/>
          </p:cNvSpPr>
          <p:nvPr/>
        </p:nvSpPr>
        <p:spPr bwMode="auto">
          <a:xfrm>
            <a:off x="1181100" y="3392488"/>
            <a:ext cx="636588" cy="3968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9" tIns="45714" rIns="91429" bIns="45714">
            <a:spAutoFit/>
          </a:bodyPr>
          <a:lstStyle/>
          <a:p>
            <a:pPr eaLnBrk="1" hangingPunct="1"/>
            <a:r>
              <a:rPr lang="en-US" sz="2000">
                <a:latin typeface="Tahoma" charset="0"/>
              </a:rPr>
              <a:t>RTT</a:t>
            </a:r>
          </a:p>
        </p:txBody>
      </p:sp>
      <p:sp>
        <p:nvSpPr>
          <p:cNvPr id="1123345" name="Text Box 17"/>
          <p:cNvSpPr txBox="1">
            <a:spLocks noChangeArrowheads="1"/>
          </p:cNvSpPr>
          <p:nvPr/>
        </p:nvSpPr>
        <p:spPr bwMode="auto">
          <a:xfrm>
            <a:off x="4946649" y="4083336"/>
            <a:ext cx="3962401" cy="698412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</p:spPr>
        <p:txBody>
          <a:bodyPr wrap="squar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2000" b="0" dirty="0">
                <a:solidFill>
                  <a:srgbClr val="0000FF"/>
                </a:solidFill>
                <a:latin typeface="+mn-lt"/>
              </a:rPr>
              <a:t>If (TRANS &lt;&lt; RTT) then</a:t>
            </a:r>
          </a:p>
          <a:p>
            <a:pPr algn="l" eaLnBrk="1" hangingPunct="1"/>
            <a:r>
              <a:rPr lang="en-US" sz="2000" b="0" dirty="0">
                <a:solidFill>
                  <a:srgbClr val="0000FF"/>
                </a:solidFill>
                <a:latin typeface="+mn-lt"/>
              </a:rPr>
              <a:t>	Throughput ~ DATA/RTT</a:t>
            </a:r>
          </a:p>
        </p:txBody>
      </p:sp>
      <p:sp>
        <p:nvSpPr>
          <p:cNvPr id="1123346" name="Line 18"/>
          <p:cNvSpPr>
            <a:spLocks noChangeShapeType="1"/>
          </p:cNvSpPr>
          <p:nvPr/>
        </p:nvSpPr>
        <p:spPr bwMode="auto">
          <a:xfrm flipH="1">
            <a:off x="1250950" y="2317750"/>
            <a:ext cx="1038225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23347" name="Line 19"/>
          <p:cNvSpPr>
            <a:spLocks noChangeShapeType="1"/>
          </p:cNvSpPr>
          <p:nvPr/>
        </p:nvSpPr>
        <p:spPr bwMode="auto">
          <a:xfrm flipH="1">
            <a:off x="1181100" y="1981200"/>
            <a:ext cx="1108075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23348" name="Line 20"/>
          <p:cNvSpPr>
            <a:spLocks noChangeShapeType="1"/>
          </p:cNvSpPr>
          <p:nvPr/>
        </p:nvSpPr>
        <p:spPr bwMode="auto">
          <a:xfrm>
            <a:off x="2151063" y="1981200"/>
            <a:ext cx="0" cy="3365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arrow" w="med" len="med"/>
            <a:tailEnd type="arrow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23349" name="Text Box 21"/>
          <p:cNvSpPr txBox="1">
            <a:spLocks noChangeArrowheads="1"/>
          </p:cNvSpPr>
          <p:nvPr/>
        </p:nvSpPr>
        <p:spPr bwMode="auto">
          <a:xfrm>
            <a:off x="1042988" y="1963738"/>
            <a:ext cx="952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9" tIns="45714" rIns="91429" bIns="45714">
            <a:spAutoFit/>
          </a:bodyPr>
          <a:lstStyle/>
          <a:p>
            <a:pPr eaLnBrk="1" hangingPunct="1"/>
            <a:r>
              <a:rPr lang="en-US" sz="2000">
                <a:latin typeface="Tahoma" charset="0"/>
              </a:rPr>
              <a:t>TRANS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43DD97E-3FCE-5305-A386-C247010AE825}"/>
                  </a:ext>
                </a:extLst>
              </p14:cNvPr>
              <p14:cNvContentPartPr/>
              <p14:nvPr/>
            </p14:nvContentPartPr>
            <p14:xfrm>
              <a:off x="2292120" y="2384280"/>
              <a:ext cx="1351080" cy="19296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43DD97E-3FCE-5305-A386-C247010AE82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82760" y="2374920"/>
                <a:ext cx="1369800" cy="1948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34386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334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Orders of magnitude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Transmission time for 10Gbps link:</a:t>
            </a:r>
          </a:p>
          <a:p>
            <a:pPr lvl="1"/>
            <a:r>
              <a:rPr lang="en-US" dirty="0"/>
              <a:t>~ microsecond for 1500</a:t>
            </a:r>
            <a:r>
              <a:rPr lang="en-US" altLang="zh-CN" dirty="0"/>
              <a:t>-</a:t>
            </a:r>
            <a:r>
              <a:rPr lang="en-US" dirty="0"/>
              <a:t>byte packet</a:t>
            </a:r>
          </a:p>
          <a:p>
            <a:pPr lvl="1"/>
            <a:endParaRPr lang="en-US" dirty="0"/>
          </a:p>
          <a:p>
            <a:r>
              <a:rPr lang="en-US" dirty="0"/>
              <a:t>RTT:</a:t>
            </a:r>
          </a:p>
          <a:p>
            <a:pPr lvl="1"/>
            <a:r>
              <a:rPr lang="en-US" dirty="0"/>
              <a:t>1,000 kilometers ~ O(10) milliseconds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6440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design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Which packets can sender send?</a:t>
            </a:r>
          </a:p>
          <a:p>
            <a:r>
              <a:rPr lang="en-US" dirty="0"/>
              <a:t>How does receiver ack packets?</a:t>
            </a:r>
          </a:p>
          <a:p>
            <a:r>
              <a:rPr lang="en-US" dirty="0"/>
              <a:t>Which packets does sender resend?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4537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Sliding window</a:t>
            </a:r>
          </a:p>
        </p:txBody>
      </p:sp>
      <p:sp>
        <p:nvSpPr>
          <p:cNvPr id="1124355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00200"/>
            <a:ext cx="8001000" cy="4419600"/>
          </a:xfrm>
        </p:spPr>
        <p:txBody>
          <a:bodyPr/>
          <a:lstStyle/>
          <a:p>
            <a:r>
              <a:rPr lang="en-US" dirty="0"/>
              <a:t>Window = set of adjacent sequence numbers</a:t>
            </a:r>
          </a:p>
          <a:p>
            <a:pPr lvl="1"/>
            <a:r>
              <a:rPr lang="en-US" dirty="0"/>
              <a:t>The size of the set is the window size </a:t>
            </a:r>
            <a:r>
              <a:rPr lang="en-US" dirty="0">
                <a:solidFill>
                  <a:srgbClr val="0000FF"/>
                </a:solidFill>
              </a:rPr>
              <a:t>n</a:t>
            </a:r>
          </a:p>
          <a:p>
            <a:r>
              <a:rPr lang="en-US" dirty="0"/>
              <a:t>General idea: send up to n packets at a time </a:t>
            </a:r>
          </a:p>
          <a:p>
            <a:pPr lvl="1"/>
            <a:r>
              <a:rPr lang="en-US" dirty="0"/>
              <a:t>Sender can send packets in its window</a:t>
            </a:r>
          </a:p>
          <a:p>
            <a:pPr lvl="1"/>
            <a:r>
              <a:rPr lang="en-US" dirty="0"/>
              <a:t>Receiver can accept packets in its window</a:t>
            </a:r>
          </a:p>
          <a:p>
            <a:pPr lvl="1"/>
            <a:r>
              <a:rPr lang="en-US" dirty="0"/>
              <a:t>Th</a:t>
            </a:r>
            <a:r>
              <a:rPr lang="en-US" altLang="zh-CN" dirty="0"/>
              <a:t>e</a:t>
            </a:r>
            <a:r>
              <a:rPr lang="zh-CN" altLang="en-US" dirty="0"/>
              <a:t> </a:t>
            </a:r>
            <a:r>
              <a:rPr lang="en-US" altLang="zh-CN" dirty="0"/>
              <a:t>w</a:t>
            </a:r>
            <a:r>
              <a:rPr lang="en-US" dirty="0"/>
              <a:t>indow “slides” on successful reception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dirty="0"/>
              <a:t>acknowledgement</a:t>
            </a:r>
          </a:p>
          <a:p>
            <a:pPr lvl="1"/>
            <a:r>
              <a:rPr lang="en-US" dirty="0"/>
              <a:t>Window contains all packets that might still be in transit</a:t>
            </a:r>
          </a:p>
          <a:p>
            <a:r>
              <a:rPr lang="en-US" dirty="0"/>
              <a:t>“</a:t>
            </a:r>
            <a:r>
              <a:rPr lang="en-US" altLang="zh-CN" dirty="0">
                <a:solidFill>
                  <a:srgbClr val="0000FF"/>
                </a:solidFill>
              </a:rPr>
              <a:t>P</a:t>
            </a:r>
            <a:r>
              <a:rPr lang="en-US" dirty="0">
                <a:solidFill>
                  <a:srgbClr val="0000FF"/>
                </a:solidFill>
              </a:rPr>
              <a:t>ackets in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rgbClr val="0000FF"/>
                </a:solidFill>
              </a:rPr>
              <a:t>flight</a:t>
            </a:r>
            <a:r>
              <a:rPr lang="en-US" dirty="0"/>
              <a:t>”</a:t>
            </a:r>
            <a:r>
              <a:rPr lang="zh-CN" altLang="en-US" dirty="0"/>
              <a:t> </a:t>
            </a:r>
            <a:r>
              <a:rPr lang="en-US" altLang="zh-CN" dirty="0"/>
              <a:t>or</a:t>
            </a:r>
            <a:r>
              <a:rPr lang="zh-CN" altLang="en-US" dirty="0"/>
              <a:t> </a:t>
            </a:r>
            <a:r>
              <a:rPr lang="en-US" altLang="zh-CN" dirty="0"/>
              <a:t>“</a:t>
            </a:r>
            <a:r>
              <a:rPr lang="en-US" altLang="zh-CN" dirty="0">
                <a:solidFill>
                  <a:srgbClr val="0000FF"/>
                </a:solidFill>
              </a:rPr>
              <a:t>in-flight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packets</a:t>
            </a:r>
            <a:r>
              <a:rPr lang="en-US" altLang="zh-CN" dirty="0"/>
              <a:t>”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9129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3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4355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Sliding window</a:t>
            </a:r>
          </a:p>
        </p:txBody>
      </p:sp>
      <p:sp>
        <p:nvSpPr>
          <p:cNvPr id="11243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Let A be the </a:t>
            </a:r>
            <a:r>
              <a:rPr lang="en-US" sz="2400" dirty="0">
                <a:solidFill>
                  <a:srgbClr val="0000FF"/>
                </a:solidFill>
              </a:rPr>
              <a:t>last </a:t>
            </a:r>
            <a:r>
              <a:rPr lang="en-US" sz="2400" dirty="0" err="1">
                <a:solidFill>
                  <a:srgbClr val="0000FF"/>
                </a:solidFill>
              </a:rPr>
              <a:t>ack’d</a:t>
            </a:r>
            <a:r>
              <a:rPr lang="en-US" sz="2400" dirty="0">
                <a:solidFill>
                  <a:srgbClr val="0000FF"/>
                </a:solidFill>
              </a:rPr>
              <a:t> packet of sender </a:t>
            </a:r>
            <a:r>
              <a:rPr lang="en-US" sz="2400" u="sng" dirty="0">
                <a:solidFill>
                  <a:srgbClr val="0000FF"/>
                </a:solidFill>
              </a:rPr>
              <a:t>without gap</a:t>
            </a:r>
            <a:r>
              <a:rPr lang="en-US" sz="2400" dirty="0"/>
              <a:t>; then window of sender = {A+1, A+2, …, </a:t>
            </a:r>
            <a:r>
              <a:rPr lang="en-US" sz="2400" dirty="0" err="1"/>
              <a:t>A+n</a:t>
            </a:r>
            <a:r>
              <a:rPr lang="en-US" sz="2400" dirty="0"/>
              <a:t>}</a:t>
            </a:r>
            <a:br>
              <a:rPr lang="en-US" sz="2400" dirty="0"/>
            </a:b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2400" dirty="0"/>
          </a:p>
          <a:p>
            <a:r>
              <a:rPr lang="en-US" sz="2400" dirty="0"/>
              <a:t>Let B be the </a:t>
            </a:r>
            <a:r>
              <a:rPr lang="en-US" sz="2400" dirty="0">
                <a:solidFill>
                  <a:srgbClr val="0000FF"/>
                </a:solidFill>
              </a:rPr>
              <a:t>last received packet </a:t>
            </a:r>
            <a:r>
              <a:rPr lang="en-US" sz="2400" u="sng" dirty="0">
                <a:solidFill>
                  <a:srgbClr val="0000FF"/>
                </a:solidFill>
              </a:rPr>
              <a:t>without gap</a:t>
            </a:r>
            <a:r>
              <a:rPr lang="en-US" sz="2400" u="sng" dirty="0"/>
              <a:t> </a:t>
            </a:r>
            <a:r>
              <a:rPr lang="en-US" sz="2400" dirty="0"/>
              <a:t>by receiver, then window of receiver = {B+1,…, </a:t>
            </a:r>
            <a:r>
              <a:rPr lang="en-US" sz="2400" dirty="0" err="1"/>
              <a:t>B+n</a:t>
            </a:r>
            <a:r>
              <a:rPr lang="en-US" sz="2400" dirty="0"/>
              <a:t>}</a:t>
            </a:r>
            <a:br>
              <a:rPr lang="en-US" sz="2400" dirty="0"/>
            </a:br>
            <a:endParaRPr lang="en-US" sz="24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3" name="Rectangle 32"/>
          <p:cNvSpPr/>
          <p:nvPr/>
        </p:nvSpPr>
        <p:spPr bwMode="auto">
          <a:xfrm>
            <a:off x="914400" y="6172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4" name="Rectangle 33"/>
          <p:cNvSpPr/>
          <p:nvPr/>
        </p:nvSpPr>
        <p:spPr bwMode="auto">
          <a:xfrm>
            <a:off x="1143000" y="6172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5" name="Rectangle 34"/>
          <p:cNvSpPr/>
          <p:nvPr/>
        </p:nvSpPr>
        <p:spPr bwMode="auto">
          <a:xfrm>
            <a:off x="1371600" y="6172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6" name="Rectangle 35"/>
          <p:cNvSpPr/>
          <p:nvPr/>
        </p:nvSpPr>
        <p:spPr bwMode="auto">
          <a:xfrm>
            <a:off x="1600200" y="6172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7" name="Rectangle 36"/>
          <p:cNvSpPr/>
          <p:nvPr/>
        </p:nvSpPr>
        <p:spPr bwMode="auto">
          <a:xfrm>
            <a:off x="1828800" y="6172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8" name="Rectangle 37"/>
          <p:cNvSpPr/>
          <p:nvPr/>
        </p:nvSpPr>
        <p:spPr bwMode="auto">
          <a:xfrm>
            <a:off x="2057400" y="6172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9" name="Rectangle 38"/>
          <p:cNvSpPr/>
          <p:nvPr/>
        </p:nvSpPr>
        <p:spPr bwMode="auto">
          <a:xfrm>
            <a:off x="2286000" y="6172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0" name="Rectangle 39"/>
          <p:cNvSpPr/>
          <p:nvPr/>
        </p:nvSpPr>
        <p:spPr bwMode="auto">
          <a:xfrm>
            <a:off x="2514600" y="6172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1" name="Rectangle 40"/>
          <p:cNvSpPr/>
          <p:nvPr/>
        </p:nvSpPr>
        <p:spPr bwMode="auto">
          <a:xfrm>
            <a:off x="2743200" y="6172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2" name="Rectangle 41"/>
          <p:cNvSpPr/>
          <p:nvPr/>
        </p:nvSpPr>
        <p:spPr bwMode="auto">
          <a:xfrm>
            <a:off x="2971800" y="6172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3" name="Rectangle 42"/>
          <p:cNvSpPr/>
          <p:nvPr/>
        </p:nvSpPr>
        <p:spPr bwMode="auto">
          <a:xfrm>
            <a:off x="3200400" y="6172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4" name="Rectangle 43"/>
          <p:cNvSpPr/>
          <p:nvPr/>
        </p:nvSpPr>
        <p:spPr bwMode="auto">
          <a:xfrm>
            <a:off x="3429000" y="6172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5" name="Rectangle 44"/>
          <p:cNvSpPr/>
          <p:nvPr/>
        </p:nvSpPr>
        <p:spPr bwMode="auto">
          <a:xfrm>
            <a:off x="3657600" y="6172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6" name="Rectangle 45"/>
          <p:cNvSpPr/>
          <p:nvPr/>
        </p:nvSpPr>
        <p:spPr bwMode="auto">
          <a:xfrm>
            <a:off x="3886200" y="6172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7" name="Rectangle 46"/>
          <p:cNvSpPr/>
          <p:nvPr/>
        </p:nvSpPr>
        <p:spPr bwMode="auto">
          <a:xfrm>
            <a:off x="4114800" y="6172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8" name="Rectangle 47"/>
          <p:cNvSpPr/>
          <p:nvPr/>
        </p:nvSpPr>
        <p:spPr bwMode="auto">
          <a:xfrm>
            <a:off x="4343400" y="617220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9" name="Rectangle 48"/>
          <p:cNvSpPr/>
          <p:nvPr/>
        </p:nvSpPr>
        <p:spPr bwMode="auto">
          <a:xfrm>
            <a:off x="4572000" y="617220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0" name="Rectangle 49"/>
          <p:cNvSpPr/>
          <p:nvPr/>
        </p:nvSpPr>
        <p:spPr bwMode="auto">
          <a:xfrm>
            <a:off x="4800600" y="617220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1" name="Left Brace 50"/>
          <p:cNvSpPr/>
          <p:nvPr/>
        </p:nvSpPr>
        <p:spPr bwMode="auto">
          <a:xfrm rot="5400000">
            <a:off x="3086100" y="4838700"/>
            <a:ext cx="381000" cy="1981200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124200" y="5257800"/>
            <a:ext cx="3385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947421" y="5467290"/>
            <a:ext cx="3385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cxnSp>
        <p:nvCxnSpPr>
          <p:cNvPr id="54" name="Straight Arrow Connector 53"/>
          <p:cNvCxnSpPr/>
          <p:nvPr/>
        </p:nvCxnSpPr>
        <p:spPr bwMode="auto">
          <a:xfrm>
            <a:off x="2116711" y="5867400"/>
            <a:ext cx="16889" cy="3048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5" name="Rectangle 54"/>
          <p:cNvSpPr/>
          <p:nvPr/>
        </p:nvSpPr>
        <p:spPr bwMode="auto">
          <a:xfrm>
            <a:off x="6437335" y="52578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613455" y="5238690"/>
            <a:ext cx="2301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latin typeface="+mn-lt"/>
              </a:rPr>
              <a:t>Received and </a:t>
            </a:r>
            <a:r>
              <a:rPr lang="en-US" sz="1800" b="0" dirty="0" err="1">
                <a:latin typeface="+mn-lt"/>
              </a:rPr>
              <a:t>ACK’d</a:t>
            </a:r>
            <a:endParaRPr lang="en-US" sz="1800" b="0" dirty="0">
              <a:latin typeface="+mn-lt"/>
            </a:endParaRPr>
          </a:p>
        </p:txBody>
      </p:sp>
      <p:sp>
        <p:nvSpPr>
          <p:cNvPr id="59" name="Rectangle 58"/>
          <p:cNvSpPr/>
          <p:nvPr/>
        </p:nvSpPr>
        <p:spPr bwMode="auto">
          <a:xfrm>
            <a:off x="6431647" y="57150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629400" y="5602069"/>
            <a:ext cx="21096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800" b="0" dirty="0">
                <a:latin typeface="+mn-lt"/>
              </a:rPr>
              <a:t>Acceptable but not</a:t>
            </a:r>
            <a:br>
              <a:rPr lang="en-US" sz="1800" b="0" dirty="0">
                <a:latin typeface="+mn-lt"/>
              </a:rPr>
            </a:br>
            <a:r>
              <a:rPr lang="en-US" sz="1800" b="0" dirty="0">
                <a:latin typeface="+mn-lt"/>
              </a:rPr>
              <a:t>yet received</a:t>
            </a:r>
          </a:p>
        </p:txBody>
      </p:sp>
      <p:sp>
        <p:nvSpPr>
          <p:cNvPr id="61" name="Rectangle 60"/>
          <p:cNvSpPr/>
          <p:nvPr/>
        </p:nvSpPr>
        <p:spPr bwMode="auto">
          <a:xfrm>
            <a:off x="6444470" y="624840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576471" y="6260068"/>
            <a:ext cx="2186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latin typeface="+mn-lt"/>
              </a:rPr>
              <a:t>Cannot be received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783795" y="2495490"/>
            <a:ext cx="7994334" cy="1653064"/>
            <a:chOff x="783795" y="2495490"/>
            <a:chExt cx="7994334" cy="1653064"/>
          </a:xfrm>
        </p:grpSpPr>
        <p:sp>
          <p:nvSpPr>
            <p:cNvPr id="2" name="Rectangle 1"/>
            <p:cNvSpPr/>
            <p:nvPr/>
          </p:nvSpPr>
          <p:spPr bwMode="auto">
            <a:xfrm>
              <a:off x="914400" y="3429000"/>
              <a:ext cx="152400" cy="381000"/>
            </a:xfrm>
            <a:prstGeom prst="rect">
              <a:avLst/>
            </a:prstGeom>
            <a:solidFill>
              <a:srgbClr val="008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6" name="Rectangle 5"/>
            <p:cNvSpPr/>
            <p:nvPr/>
          </p:nvSpPr>
          <p:spPr bwMode="auto">
            <a:xfrm>
              <a:off x="1143000" y="3429000"/>
              <a:ext cx="152400" cy="381000"/>
            </a:xfrm>
            <a:prstGeom prst="rect">
              <a:avLst/>
            </a:prstGeom>
            <a:solidFill>
              <a:srgbClr val="008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1371600" y="3429000"/>
              <a:ext cx="152400" cy="381000"/>
            </a:xfrm>
            <a:prstGeom prst="rect">
              <a:avLst/>
            </a:prstGeom>
            <a:solidFill>
              <a:srgbClr val="008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8" name="Rectangle 7"/>
            <p:cNvSpPr/>
            <p:nvPr/>
          </p:nvSpPr>
          <p:spPr bwMode="auto">
            <a:xfrm>
              <a:off x="1600200" y="3429000"/>
              <a:ext cx="152400" cy="381000"/>
            </a:xfrm>
            <a:prstGeom prst="rect">
              <a:avLst/>
            </a:prstGeom>
            <a:solidFill>
              <a:srgbClr val="008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9" name="Rectangle 8"/>
            <p:cNvSpPr/>
            <p:nvPr/>
          </p:nvSpPr>
          <p:spPr bwMode="auto">
            <a:xfrm>
              <a:off x="1828800" y="3429000"/>
              <a:ext cx="152400" cy="381000"/>
            </a:xfrm>
            <a:prstGeom prst="rect">
              <a:avLst/>
            </a:prstGeom>
            <a:solidFill>
              <a:srgbClr val="CCFFC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0" name="Rectangle 9"/>
            <p:cNvSpPr/>
            <p:nvPr/>
          </p:nvSpPr>
          <p:spPr bwMode="auto">
            <a:xfrm>
              <a:off x="2057400" y="3429000"/>
              <a:ext cx="152400" cy="381000"/>
            </a:xfrm>
            <a:prstGeom prst="rect">
              <a:avLst/>
            </a:prstGeom>
            <a:solidFill>
              <a:srgbClr val="CCFFC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1" name="Rectangle 10"/>
            <p:cNvSpPr/>
            <p:nvPr/>
          </p:nvSpPr>
          <p:spPr bwMode="auto">
            <a:xfrm>
              <a:off x="2286000" y="3429000"/>
              <a:ext cx="152400" cy="381000"/>
            </a:xfrm>
            <a:prstGeom prst="rect">
              <a:avLst/>
            </a:prstGeom>
            <a:solidFill>
              <a:srgbClr val="008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2" name="Rectangle 11"/>
            <p:cNvSpPr/>
            <p:nvPr/>
          </p:nvSpPr>
          <p:spPr bwMode="auto">
            <a:xfrm>
              <a:off x="2514600" y="3429000"/>
              <a:ext cx="152400" cy="381000"/>
            </a:xfrm>
            <a:prstGeom prst="rect">
              <a:avLst/>
            </a:prstGeom>
            <a:solidFill>
              <a:srgbClr val="008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3" name="Rectangle 12"/>
            <p:cNvSpPr/>
            <p:nvPr/>
          </p:nvSpPr>
          <p:spPr bwMode="auto">
            <a:xfrm>
              <a:off x="2743200" y="3429000"/>
              <a:ext cx="152400" cy="381000"/>
            </a:xfrm>
            <a:prstGeom prst="rect">
              <a:avLst/>
            </a:prstGeom>
            <a:solidFill>
              <a:srgbClr val="CCFFC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4" name="Rectangle 13"/>
            <p:cNvSpPr/>
            <p:nvPr/>
          </p:nvSpPr>
          <p:spPr bwMode="auto">
            <a:xfrm>
              <a:off x="2971800" y="3429000"/>
              <a:ext cx="152400" cy="381000"/>
            </a:xfrm>
            <a:prstGeom prst="rect">
              <a:avLst/>
            </a:prstGeom>
            <a:solidFill>
              <a:srgbClr val="CCFFC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5" name="Rectangle 14"/>
            <p:cNvSpPr/>
            <p:nvPr/>
          </p:nvSpPr>
          <p:spPr bwMode="auto">
            <a:xfrm>
              <a:off x="3200400" y="3429000"/>
              <a:ext cx="152400" cy="381000"/>
            </a:xfrm>
            <a:prstGeom prst="rect">
              <a:avLst/>
            </a:prstGeom>
            <a:solidFill>
              <a:srgbClr val="008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6" name="Rectangle 15"/>
            <p:cNvSpPr/>
            <p:nvPr/>
          </p:nvSpPr>
          <p:spPr bwMode="auto">
            <a:xfrm>
              <a:off x="3429000" y="3429000"/>
              <a:ext cx="152400" cy="381000"/>
            </a:xfrm>
            <a:prstGeom prst="rect">
              <a:avLst/>
            </a:prstGeom>
            <a:solidFill>
              <a:srgbClr val="CCFFC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7" name="Rectangle 16"/>
            <p:cNvSpPr/>
            <p:nvPr/>
          </p:nvSpPr>
          <p:spPr bwMode="auto">
            <a:xfrm>
              <a:off x="3657600" y="3429000"/>
              <a:ext cx="152400" cy="381000"/>
            </a:xfrm>
            <a:prstGeom prst="rect">
              <a:avLst/>
            </a:prstGeom>
            <a:solidFill>
              <a:srgbClr val="CCFFC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8" name="Rectangle 17"/>
            <p:cNvSpPr/>
            <p:nvPr/>
          </p:nvSpPr>
          <p:spPr bwMode="auto">
            <a:xfrm>
              <a:off x="3886200" y="3429000"/>
              <a:ext cx="152400" cy="381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9" name="Rectangle 18"/>
            <p:cNvSpPr/>
            <p:nvPr/>
          </p:nvSpPr>
          <p:spPr bwMode="auto">
            <a:xfrm>
              <a:off x="4114800" y="3429000"/>
              <a:ext cx="152400" cy="381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20" name="Rectangle 19"/>
            <p:cNvSpPr/>
            <p:nvPr/>
          </p:nvSpPr>
          <p:spPr bwMode="auto">
            <a:xfrm>
              <a:off x="4343400" y="3429000"/>
              <a:ext cx="152400" cy="381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21" name="Rectangle 20"/>
            <p:cNvSpPr/>
            <p:nvPr/>
          </p:nvSpPr>
          <p:spPr bwMode="auto">
            <a:xfrm>
              <a:off x="4572000" y="3429000"/>
              <a:ext cx="152400" cy="381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22" name="Rectangle 21"/>
            <p:cNvSpPr/>
            <p:nvPr/>
          </p:nvSpPr>
          <p:spPr bwMode="auto">
            <a:xfrm>
              <a:off x="4800600" y="3429000"/>
              <a:ext cx="152400" cy="381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3" name="Left Brace 2"/>
            <p:cNvSpPr/>
            <p:nvPr/>
          </p:nvSpPr>
          <p:spPr bwMode="auto">
            <a:xfrm rot="5400000">
              <a:off x="2628900" y="2095500"/>
              <a:ext cx="381000" cy="1981200"/>
            </a:xfrm>
            <a:prstGeom prst="leftBrac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2667000" y="2495490"/>
              <a:ext cx="33857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</a:t>
              </a:r>
            </a:p>
          </p:txBody>
        </p:sp>
        <p:sp>
          <p:nvSpPr>
            <p:cNvPr id="24" name="Rectangle 23"/>
            <p:cNvSpPr/>
            <p:nvPr/>
          </p:nvSpPr>
          <p:spPr bwMode="auto">
            <a:xfrm>
              <a:off x="6437335" y="2590800"/>
              <a:ext cx="152400" cy="381000"/>
            </a:xfrm>
            <a:prstGeom prst="rect">
              <a:avLst/>
            </a:prstGeom>
            <a:solidFill>
              <a:srgbClr val="008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490221" y="2724090"/>
              <a:ext cx="33857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cxnSp>
          <p:nvCxnSpPr>
            <p:cNvPr id="23" name="Straight Arrow Connector 22"/>
            <p:cNvCxnSpPr>
              <a:stCxn id="25" idx="2"/>
              <a:endCxn id="8" idx="0"/>
            </p:cNvCxnSpPr>
            <p:nvPr/>
          </p:nvCxnSpPr>
          <p:spPr bwMode="auto">
            <a:xfrm>
              <a:off x="1659511" y="3124200"/>
              <a:ext cx="16889" cy="30480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26" name="TextBox 25"/>
            <p:cNvSpPr txBox="1"/>
            <p:nvPr/>
          </p:nvSpPr>
          <p:spPr>
            <a:xfrm>
              <a:off x="6629400" y="2571690"/>
              <a:ext cx="16858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0" dirty="0">
                  <a:latin typeface="+mn-lt"/>
                </a:rPr>
                <a:t>Already </a:t>
              </a:r>
              <a:r>
                <a:rPr lang="en-US" sz="1800" b="0" dirty="0" err="1">
                  <a:latin typeface="+mn-lt"/>
                </a:rPr>
                <a:t>ACK’d</a:t>
              </a:r>
              <a:endParaRPr lang="en-US" sz="1800" b="0" dirty="0">
                <a:latin typeface="+mn-lt"/>
              </a:endParaRPr>
            </a:p>
          </p:txBody>
        </p:sp>
        <p:sp>
          <p:nvSpPr>
            <p:cNvPr id="29" name="Rectangle 28"/>
            <p:cNvSpPr/>
            <p:nvPr/>
          </p:nvSpPr>
          <p:spPr bwMode="auto">
            <a:xfrm>
              <a:off x="6437335" y="3067110"/>
              <a:ext cx="152400" cy="381000"/>
            </a:xfrm>
            <a:prstGeom prst="rect">
              <a:avLst/>
            </a:prstGeom>
            <a:solidFill>
              <a:srgbClr val="CCFFC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642884" y="3048000"/>
              <a:ext cx="21352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0" dirty="0">
                  <a:latin typeface="+mn-lt"/>
                </a:rPr>
                <a:t>Sent but not </a:t>
              </a:r>
              <a:r>
                <a:rPr lang="en-US" sz="1800" b="0" dirty="0" err="1">
                  <a:latin typeface="+mn-lt"/>
                </a:rPr>
                <a:t>ACK’d</a:t>
              </a:r>
              <a:endParaRPr lang="en-US" sz="1800" b="0" dirty="0">
                <a:latin typeface="+mn-lt"/>
              </a:endParaRPr>
            </a:p>
          </p:txBody>
        </p:sp>
        <p:sp>
          <p:nvSpPr>
            <p:cNvPr id="31" name="Rectangle 30"/>
            <p:cNvSpPr/>
            <p:nvPr/>
          </p:nvSpPr>
          <p:spPr bwMode="auto">
            <a:xfrm>
              <a:off x="6453911" y="3581400"/>
              <a:ext cx="152400" cy="381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641105" y="3593068"/>
              <a:ext cx="17503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0" dirty="0">
                  <a:latin typeface="+mn-lt"/>
                </a:rPr>
                <a:t>Cannot be sent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783795" y="3810000"/>
              <a:ext cx="264520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600" b="0" i="1" dirty="0">
                  <a:solidFill>
                    <a:srgbClr val="000090"/>
                  </a:solidFill>
                  <a:latin typeface="+mn-lt"/>
                </a:rPr>
                <a:t>sequence number </a:t>
              </a:r>
              <a:r>
                <a:rPr lang="en-US" sz="1600" b="0" i="1" dirty="0">
                  <a:solidFill>
                    <a:srgbClr val="000090"/>
                  </a:solidFill>
                  <a:latin typeface="+mn-lt"/>
                  <a:sym typeface="Wingdings"/>
                </a:rPr>
                <a:t></a:t>
              </a:r>
              <a:endParaRPr lang="en-US" sz="1600" b="0" i="1" dirty="0">
                <a:solidFill>
                  <a:srgbClr val="000090"/>
                </a:solidFill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28087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/>
      <p:bldP spid="53" grpId="0"/>
      <p:bldP spid="55" grpId="0" animBg="1"/>
      <p:bldP spid="56" grpId="0"/>
      <p:bldP spid="59" grpId="0" animBg="1"/>
      <p:bldP spid="60" grpId="0"/>
      <p:bldP spid="61" grpId="0" animBg="1"/>
      <p:bldP spid="6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Throughput of sliding window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window size is n, then throughput is roughly</a:t>
            </a:r>
          </a:p>
          <a:p>
            <a:pPr lvl="1"/>
            <a:r>
              <a:rPr lang="en-US" dirty="0"/>
              <a:t>MIN(n*DATA/RTT, Link Bandwidth)</a:t>
            </a:r>
          </a:p>
          <a:p>
            <a:r>
              <a:rPr lang="en-US" dirty="0"/>
              <a:t>Compare to Stop and Wait: Data/RTT</a:t>
            </a:r>
          </a:p>
          <a:p>
            <a:endParaRPr lang="en-US" dirty="0"/>
          </a:p>
          <a:p>
            <a:r>
              <a:rPr lang="en-US" dirty="0">
                <a:solidFill>
                  <a:srgbClr val="0000FF"/>
                </a:solidFill>
              </a:rPr>
              <a:t>What happens when n gets too large?</a:t>
            </a:r>
          </a:p>
        </p:txBody>
      </p:sp>
    </p:spTree>
    <p:extLst>
      <p:ext uri="{BB962C8B-B14F-4D97-AF65-F5344CB8AC3E}">
        <p14:creationId xmlns:p14="http://schemas.microsoft.com/office/powerpoint/2010/main" val="423093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Acknowledgements w/ sliding window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common options</a:t>
            </a:r>
          </a:p>
          <a:p>
            <a:pPr lvl="1"/>
            <a:r>
              <a:rPr lang="en-US" dirty="0"/>
              <a:t>Cumulative ACKs: ACK carries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next in-order </a:t>
            </a:r>
            <a:r>
              <a:rPr lang="en-US" dirty="0"/>
              <a:t>sequence number that the receiver expects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2337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Cumulative acknowledgements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At receiver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 bwMode="auto">
          <a:xfrm>
            <a:off x="685800" y="321951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914400" y="321951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1143000" y="321951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1371600" y="321951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1600200" y="321951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1828800" y="321951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2057400" y="321951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2286000" y="321951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2514600" y="321951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2743200" y="321951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2971800" y="321951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3200400" y="321951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3429000" y="321951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3657600" y="321951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3886200" y="321951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4114800" y="321951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4343400" y="321951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2" name="Rectangle 21"/>
          <p:cNvSpPr/>
          <p:nvPr/>
        </p:nvSpPr>
        <p:spPr bwMode="auto">
          <a:xfrm>
            <a:off x="4572000" y="321951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3" name="Left Brace 22"/>
          <p:cNvSpPr/>
          <p:nvPr/>
        </p:nvSpPr>
        <p:spPr bwMode="auto">
          <a:xfrm rot="5400000">
            <a:off x="2857500" y="1886010"/>
            <a:ext cx="381000" cy="1981200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895600" y="2305110"/>
            <a:ext cx="3385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18821" y="2514600"/>
            <a:ext cx="3385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cxnSp>
        <p:nvCxnSpPr>
          <p:cNvPr id="26" name="Straight Arrow Connector 25"/>
          <p:cNvCxnSpPr/>
          <p:nvPr/>
        </p:nvCxnSpPr>
        <p:spPr bwMode="auto">
          <a:xfrm>
            <a:off x="1888111" y="2914710"/>
            <a:ext cx="16889" cy="3048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7" name="Rectangle 26"/>
          <p:cNvSpPr/>
          <p:nvPr/>
        </p:nvSpPr>
        <p:spPr bwMode="auto">
          <a:xfrm>
            <a:off x="6208735" y="230511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384855" y="2286000"/>
            <a:ext cx="2301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latin typeface="+mn-lt"/>
              </a:rPr>
              <a:t>Received and </a:t>
            </a:r>
            <a:r>
              <a:rPr lang="en-US" sz="1800" b="0" dirty="0" err="1">
                <a:latin typeface="+mn-lt"/>
              </a:rPr>
              <a:t>ACK’d</a:t>
            </a:r>
            <a:endParaRPr lang="en-US" sz="1800" b="0" dirty="0">
              <a:latin typeface="+mn-lt"/>
            </a:endParaRPr>
          </a:p>
        </p:txBody>
      </p:sp>
      <p:sp>
        <p:nvSpPr>
          <p:cNvPr id="29" name="Rectangle 28"/>
          <p:cNvSpPr/>
          <p:nvPr/>
        </p:nvSpPr>
        <p:spPr bwMode="auto">
          <a:xfrm>
            <a:off x="6203047" y="276231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00800" y="2649379"/>
            <a:ext cx="21096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800" b="0" dirty="0">
                <a:latin typeface="+mn-lt"/>
              </a:rPr>
              <a:t>Acceptable but not</a:t>
            </a:r>
            <a:br>
              <a:rPr lang="en-US" sz="1800" b="0" dirty="0">
                <a:latin typeface="+mn-lt"/>
              </a:rPr>
            </a:br>
            <a:r>
              <a:rPr lang="en-US" sz="1800" b="0" dirty="0">
                <a:latin typeface="+mn-lt"/>
              </a:rPr>
              <a:t>yet received</a:t>
            </a:r>
          </a:p>
        </p:txBody>
      </p:sp>
      <p:sp>
        <p:nvSpPr>
          <p:cNvPr id="31" name="Rectangle 30"/>
          <p:cNvSpPr/>
          <p:nvPr/>
        </p:nvSpPr>
        <p:spPr bwMode="auto">
          <a:xfrm>
            <a:off x="6215870" y="329571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347871" y="3307378"/>
            <a:ext cx="2186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latin typeface="+mn-lt"/>
              </a:rPr>
              <a:t>Cannot be received</a:t>
            </a:r>
          </a:p>
        </p:txBody>
      </p:sp>
      <p:sp>
        <p:nvSpPr>
          <p:cNvPr id="33" name="Content Placeholder 1"/>
          <p:cNvSpPr txBox="1">
            <a:spLocks/>
          </p:cNvSpPr>
          <p:nvPr/>
        </p:nvSpPr>
        <p:spPr bwMode="auto">
          <a:xfrm>
            <a:off x="457200" y="4081463"/>
            <a:ext cx="8229600" cy="566737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charset="0"/>
              <a:buChar char="l"/>
              <a:defRPr sz="28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0"/>
              <a:buChar char="l"/>
              <a:defRPr sz="2400">
                <a:solidFill>
                  <a:schemeClr val="tx1"/>
                </a:solidFill>
                <a:latin typeface="+mn-lt"/>
                <a:ea typeface="ＭＳ Ｐゴシック" charset="-128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charset="0"/>
              <a:buChar char="l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charset="0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0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>
              <a:buClr>
                <a:schemeClr val="tx1"/>
              </a:buClr>
            </a:pPr>
            <a:r>
              <a:rPr lang="en-US" b="0" dirty="0">
                <a:solidFill>
                  <a:schemeClr val="accent2"/>
                </a:solidFill>
              </a:rPr>
              <a:t>After receiving B+1, B+2</a:t>
            </a:r>
          </a:p>
        </p:txBody>
      </p:sp>
      <p:sp>
        <p:nvSpPr>
          <p:cNvPr id="34" name="Rectangle 33"/>
          <p:cNvSpPr/>
          <p:nvPr/>
        </p:nvSpPr>
        <p:spPr bwMode="auto">
          <a:xfrm>
            <a:off x="762000" y="5410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5" name="Rectangle 34"/>
          <p:cNvSpPr/>
          <p:nvPr/>
        </p:nvSpPr>
        <p:spPr bwMode="auto">
          <a:xfrm>
            <a:off x="990600" y="5410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6" name="Rectangle 35"/>
          <p:cNvSpPr/>
          <p:nvPr/>
        </p:nvSpPr>
        <p:spPr bwMode="auto">
          <a:xfrm>
            <a:off x="1219200" y="5410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7" name="Rectangle 36"/>
          <p:cNvSpPr/>
          <p:nvPr/>
        </p:nvSpPr>
        <p:spPr bwMode="auto">
          <a:xfrm>
            <a:off x="1447800" y="5410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8" name="Rectangle 37"/>
          <p:cNvSpPr/>
          <p:nvPr/>
        </p:nvSpPr>
        <p:spPr bwMode="auto">
          <a:xfrm>
            <a:off x="1676400" y="5410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9" name="Rectangle 38"/>
          <p:cNvSpPr/>
          <p:nvPr/>
        </p:nvSpPr>
        <p:spPr bwMode="auto">
          <a:xfrm>
            <a:off x="1905000" y="5410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0" name="Rectangle 39"/>
          <p:cNvSpPr/>
          <p:nvPr/>
        </p:nvSpPr>
        <p:spPr bwMode="auto">
          <a:xfrm>
            <a:off x="2133600" y="5410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1" name="Rectangle 40"/>
          <p:cNvSpPr/>
          <p:nvPr/>
        </p:nvSpPr>
        <p:spPr bwMode="auto">
          <a:xfrm>
            <a:off x="2362200" y="5410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2" name="Rectangle 41"/>
          <p:cNvSpPr/>
          <p:nvPr/>
        </p:nvSpPr>
        <p:spPr bwMode="auto">
          <a:xfrm>
            <a:off x="2590800" y="5410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3" name="Rectangle 42"/>
          <p:cNvSpPr/>
          <p:nvPr/>
        </p:nvSpPr>
        <p:spPr bwMode="auto">
          <a:xfrm>
            <a:off x="2819400" y="5410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4" name="Rectangle 43"/>
          <p:cNvSpPr/>
          <p:nvPr/>
        </p:nvSpPr>
        <p:spPr bwMode="auto">
          <a:xfrm>
            <a:off x="3048000" y="5410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5" name="Rectangle 44"/>
          <p:cNvSpPr/>
          <p:nvPr/>
        </p:nvSpPr>
        <p:spPr bwMode="auto">
          <a:xfrm>
            <a:off x="3276600" y="5410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6" name="Rectangle 45"/>
          <p:cNvSpPr/>
          <p:nvPr/>
        </p:nvSpPr>
        <p:spPr bwMode="auto">
          <a:xfrm>
            <a:off x="3505200" y="5410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7" name="Rectangle 46"/>
          <p:cNvSpPr/>
          <p:nvPr/>
        </p:nvSpPr>
        <p:spPr bwMode="auto">
          <a:xfrm>
            <a:off x="3733800" y="5410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8" name="Rectangle 47"/>
          <p:cNvSpPr/>
          <p:nvPr/>
        </p:nvSpPr>
        <p:spPr bwMode="auto">
          <a:xfrm>
            <a:off x="3962400" y="5410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9" name="Rectangle 48"/>
          <p:cNvSpPr/>
          <p:nvPr/>
        </p:nvSpPr>
        <p:spPr bwMode="auto">
          <a:xfrm>
            <a:off x="4191000" y="5410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0" name="Rectangle 49"/>
          <p:cNvSpPr/>
          <p:nvPr/>
        </p:nvSpPr>
        <p:spPr bwMode="auto">
          <a:xfrm>
            <a:off x="4419600" y="5410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1" name="Rectangle 50"/>
          <p:cNvSpPr/>
          <p:nvPr/>
        </p:nvSpPr>
        <p:spPr bwMode="auto">
          <a:xfrm>
            <a:off x="4648200" y="541020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2" name="Left Brace 51"/>
          <p:cNvSpPr/>
          <p:nvPr/>
        </p:nvSpPr>
        <p:spPr bwMode="auto">
          <a:xfrm rot="5400000">
            <a:off x="3390900" y="4229100"/>
            <a:ext cx="381000" cy="1981200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429000" y="4629090"/>
            <a:ext cx="3385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27228" y="4705290"/>
            <a:ext cx="1415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B</a:t>
            </a:r>
            <a:r>
              <a:rPr lang="en-US" baseline="-25000" dirty="0" err="1"/>
              <a:t>new</a:t>
            </a:r>
            <a:r>
              <a:rPr lang="en-US" dirty="0"/>
              <a:t>= B+2</a:t>
            </a:r>
          </a:p>
        </p:txBody>
      </p:sp>
      <p:cxnSp>
        <p:nvCxnSpPr>
          <p:cNvPr id="57" name="Straight Arrow Connector 56"/>
          <p:cNvCxnSpPr/>
          <p:nvPr/>
        </p:nvCxnSpPr>
        <p:spPr bwMode="auto">
          <a:xfrm>
            <a:off x="2421511" y="5105400"/>
            <a:ext cx="16889" cy="3048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8" name="Content Placeholder 1"/>
          <p:cNvSpPr txBox="1">
            <a:spLocks/>
          </p:cNvSpPr>
          <p:nvPr/>
        </p:nvSpPr>
        <p:spPr bwMode="auto">
          <a:xfrm>
            <a:off x="457200" y="6062663"/>
            <a:ext cx="8229600" cy="566737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charset="0"/>
              <a:buChar char="l"/>
              <a:defRPr sz="28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0"/>
              <a:buChar char="l"/>
              <a:defRPr sz="2400">
                <a:solidFill>
                  <a:schemeClr val="tx1"/>
                </a:solidFill>
                <a:latin typeface="+mn-lt"/>
                <a:ea typeface="ＭＳ Ｐゴシック" charset="-128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charset="0"/>
              <a:buChar char="l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charset="0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0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>
              <a:buClr>
                <a:schemeClr val="tx1"/>
              </a:buClr>
            </a:pPr>
            <a:r>
              <a:rPr lang="en-US" b="0" dirty="0">
                <a:solidFill>
                  <a:schemeClr val="accent2"/>
                </a:solidFill>
              </a:rPr>
              <a:t>Receiver sends ACK(B+3) = ACK(B</a:t>
            </a:r>
            <a:r>
              <a:rPr lang="en-US" b="0" baseline="-25000" dirty="0">
                <a:solidFill>
                  <a:schemeClr val="accent2"/>
                </a:solidFill>
              </a:rPr>
              <a:t>new</a:t>
            </a:r>
            <a:r>
              <a:rPr lang="en-US" b="0" dirty="0">
                <a:solidFill>
                  <a:schemeClr val="accent2"/>
                </a:solidFill>
              </a:rPr>
              <a:t>+1)</a:t>
            </a:r>
          </a:p>
        </p:txBody>
      </p:sp>
    </p:spTree>
    <p:extLst>
      <p:ext uri="{BB962C8B-B14F-4D97-AF65-F5344CB8AC3E}">
        <p14:creationId xmlns:p14="http://schemas.microsoft.com/office/powerpoint/2010/main" val="472560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/>
      <p:bldP spid="56" grpId="0"/>
      <p:bldP spid="5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Cumulative acknowledgements (cont’d)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At receiver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 bwMode="auto">
          <a:xfrm>
            <a:off x="685800" y="321951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914400" y="321951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1143000" y="321951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1371600" y="321951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1600200" y="321951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1828800" y="321951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2057400" y="321951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2286000" y="321951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2514600" y="321951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2743200" y="321951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2971800" y="321951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3200400" y="321951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3429000" y="321951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3657600" y="321951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3886200" y="321951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4114800" y="321951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4343400" y="321951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2" name="Rectangle 21"/>
          <p:cNvSpPr/>
          <p:nvPr/>
        </p:nvSpPr>
        <p:spPr bwMode="auto">
          <a:xfrm>
            <a:off x="4572000" y="321951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3" name="Left Brace 22"/>
          <p:cNvSpPr/>
          <p:nvPr/>
        </p:nvSpPr>
        <p:spPr bwMode="auto">
          <a:xfrm rot="5400000">
            <a:off x="2857500" y="1886010"/>
            <a:ext cx="381000" cy="1981200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895600" y="2305110"/>
            <a:ext cx="3385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18821" y="2514600"/>
            <a:ext cx="3385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cxnSp>
        <p:nvCxnSpPr>
          <p:cNvPr id="26" name="Straight Arrow Connector 25"/>
          <p:cNvCxnSpPr/>
          <p:nvPr/>
        </p:nvCxnSpPr>
        <p:spPr bwMode="auto">
          <a:xfrm>
            <a:off x="1888111" y="2914710"/>
            <a:ext cx="16889" cy="3048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7" name="Rectangle 26"/>
          <p:cNvSpPr/>
          <p:nvPr/>
        </p:nvSpPr>
        <p:spPr bwMode="auto">
          <a:xfrm>
            <a:off x="6208735" y="230511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384855" y="2286000"/>
            <a:ext cx="2301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latin typeface="+mn-lt"/>
              </a:rPr>
              <a:t>Received and </a:t>
            </a:r>
            <a:r>
              <a:rPr lang="en-US" sz="1800" b="0" dirty="0" err="1">
                <a:latin typeface="+mn-lt"/>
              </a:rPr>
              <a:t>ACK’d</a:t>
            </a:r>
            <a:endParaRPr lang="en-US" sz="1800" b="0" dirty="0">
              <a:latin typeface="+mn-lt"/>
            </a:endParaRPr>
          </a:p>
        </p:txBody>
      </p:sp>
      <p:sp>
        <p:nvSpPr>
          <p:cNvPr id="29" name="Rectangle 28"/>
          <p:cNvSpPr/>
          <p:nvPr/>
        </p:nvSpPr>
        <p:spPr bwMode="auto">
          <a:xfrm>
            <a:off x="6203047" y="276231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00800" y="2649379"/>
            <a:ext cx="21096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800" b="0" dirty="0">
                <a:latin typeface="+mn-lt"/>
              </a:rPr>
              <a:t>Acceptable but not</a:t>
            </a:r>
            <a:br>
              <a:rPr lang="en-US" sz="1800" b="0" dirty="0">
                <a:latin typeface="+mn-lt"/>
              </a:rPr>
            </a:br>
            <a:r>
              <a:rPr lang="en-US" sz="1800" b="0" dirty="0">
                <a:latin typeface="+mn-lt"/>
              </a:rPr>
              <a:t>yet received</a:t>
            </a:r>
          </a:p>
        </p:txBody>
      </p:sp>
      <p:sp>
        <p:nvSpPr>
          <p:cNvPr id="31" name="Rectangle 30"/>
          <p:cNvSpPr/>
          <p:nvPr/>
        </p:nvSpPr>
        <p:spPr bwMode="auto">
          <a:xfrm>
            <a:off x="6215870" y="329571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347871" y="3307378"/>
            <a:ext cx="2186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latin typeface="+mn-lt"/>
              </a:rPr>
              <a:t>Cannot be received</a:t>
            </a:r>
          </a:p>
        </p:txBody>
      </p:sp>
      <p:sp>
        <p:nvSpPr>
          <p:cNvPr id="33" name="Content Placeholder 1"/>
          <p:cNvSpPr txBox="1">
            <a:spLocks/>
          </p:cNvSpPr>
          <p:nvPr/>
        </p:nvSpPr>
        <p:spPr bwMode="auto">
          <a:xfrm>
            <a:off x="457200" y="4081463"/>
            <a:ext cx="8229600" cy="566737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charset="0"/>
              <a:buChar char="l"/>
              <a:defRPr sz="28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0"/>
              <a:buChar char="l"/>
              <a:defRPr sz="2400">
                <a:solidFill>
                  <a:schemeClr val="tx1"/>
                </a:solidFill>
                <a:latin typeface="+mn-lt"/>
                <a:ea typeface="ＭＳ Ｐゴシック" charset="-128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charset="0"/>
              <a:buChar char="l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charset="0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0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>
              <a:buClr>
                <a:schemeClr val="tx1"/>
              </a:buClr>
            </a:pPr>
            <a:r>
              <a:rPr lang="en-US" b="0" dirty="0">
                <a:solidFill>
                  <a:schemeClr val="accent2"/>
                </a:solidFill>
              </a:rPr>
              <a:t>After receiving B+4, B+5</a:t>
            </a:r>
          </a:p>
        </p:txBody>
      </p:sp>
      <p:sp>
        <p:nvSpPr>
          <p:cNvPr id="34" name="Rectangle 33"/>
          <p:cNvSpPr/>
          <p:nvPr/>
        </p:nvSpPr>
        <p:spPr bwMode="auto">
          <a:xfrm>
            <a:off x="762000" y="5410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5" name="Rectangle 34"/>
          <p:cNvSpPr/>
          <p:nvPr/>
        </p:nvSpPr>
        <p:spPr bwMode="auto">
          <a:xfrm>
            <a:off x="990600" y="5410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6" name="Rectangle 35"/>
          <p:cNvSpPr/>
          <p:nvPr/>
        </p:nvSpPr>
        <p:spPr bwMode="auto">
          <a:xfrm>
            <a:off x="1219200" y="5410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7" name="Rectangle 36"/>
          <p:cNvSpPr/>
          <p:nvPr/>
        </p:nvSpPr>
        <p:spPr bwMode="auto">
          <a:xfrm>
            <a:off x="1447800" y="5410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8" name="Rectangle 37"/>
          <p:cNvSpPr/>
          <p:nvPr/>
        </p:nvSpPr>
        <p:spPr bwMode="auto">
          <a:xfrm>
            <a:off x="1676400" y="5410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9" name="Rectangle 38"/>
          <p:cNvSpPr/>
          <p:nvPr/>
        </p:nvSpPr>
        <p:spPr bwMode="auto">
          <a:xfrm>
            <a:off x="1905000" y="5410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0" name="Rectangle 39"/>
          <p:cNvSpPr/>
          <p:nvPr/>
        </p:nvSpPr>
        <p:spPr bwMode="auto">
          <a:xfrm>
            <a:off x="2133600" y="5410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1" name="Rectangle 40"/>
          <p:cNvSpPr/>
          <p:nvPr/>
        </p:nvSpPr>
        <p:spPr bwMode="auto">
          <a:xfrm>
            <a:off x="2362200" y="5410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2" name="Rectangle 41"/>
          <p:cNvSpPr/>
          <p:nvPr/>
        </p:nvSpPr>
        <p:spPr bwMode="auto">
          <a:xfrm>
            <a:off x="2590800" y="5410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3" name="Rectangle 42"/>
          <p:cNvSpPr/>
          <p:nvPr/>
        </p:nvSpPr>
        <p:spPr bwMode="auto">
          <a:xfrm>
            <a:off x="2819400" y="5410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4" name="Rectangle 43"/>
          <p:cNvSpPr/>
          <p:nvPr/>
        </p:nvSpPr>
        <p:spPr bwMode="auto">
          <a:xfrm>
            <a:off x="3048000" y="5410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5" name="Rectangle 44"/>
          <p:cNvSpPr/>
          <p:nvPr/>
        </p:nvSpPr>
        <p:spPr bwMode="auto">
          <a:xfrm>
            <a:off x="3276600" y="5410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6" name="Rectangle 45"/>
          <p:cNvSpPr/>
          <p:nvPr/>
        </p:nvSpPr>
        <p:spPr bwMode="auto">
          <a:xfrm>
            <a:off x="3505200" y="5410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7" name="Rectangle 46"/>
          <p:cNvSpPr/>
          <p:nvPr/>
        </p:nvSpPr>
        <p:spPr bwMode="auto">
          <a:xfrm>
            <a:off x="3733800" y="5410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8" name="Rectangle 47"/>
          <p:cNvSpPr/>
          <p:nvPr/>
        </p:nvSpPr>
        <p:spPr bwMode="auto">
          <a:xfrm>
            <a:off x="3962400" y="5410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9" name="Rectangle 48"/>
          <p:cNvSpPr/>
          <p:nvPr/>
        </p:nvSpPr>
        <p:spPr bwMode="auto">
          <a:xfrm>
            <a:off x="4191000" y="541020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0" name="Rectangle 49"/>
          <p:cNvSpPr/>
          <p:nvPr/>
        </p:nvSpPr>
        <p:spPr bwMode="auto">
          <a:xfrm>
            <a:off x="4419600" y="541020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1" name="Rectangle 50"/>
          <p:cNvSpPr/>
          <p:nvPr/>
        </p:nvSpPr>
        <p:spPr bwMode="auto">
          <a:xfrm>
            <a:off x="4648200" y="541020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2" name="Left Brace 51"/>
          <p:cNvSpPr/>
          <p:nvPr/>
        </p:nvSpPr>
        <p:spPr bwMode="auto">
          <a:xfrm rot="5400000">
            <a:off x="2933700" y="4152900"/>
            <a:ext cx="381000" cy="1981200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971800" y="4629090"/>
            <a:ext cx="3385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752600" y="4705290"/>
            <a:ext cx="3385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  <a:endParaRPr lang="en-US" baseline="-25000" dirty="0"/>
          </a:p>
        </p:txBody>
      </p:sp>
      <p:cxnSp>
        <p:nvCxnSpPr>
          <p:cNvPr id="57" name="Straight Arrow Connector 56"/>
          <p:cNvCxnSpPr/>
          <p:nvPr/>
        </p:nvCxnSpPr>
        <p:spPr bwMode="auto">
          <a:xfrm>
            <a:off x="1964311" y="5105400"/>
            <a:ext cx="16889" cy="3048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8" name="Content Placeholder 1"/>
          <p:cNvSpPr txBox="1">
            <a:spLocks/>
          </p:cNvSpPr>
          <p:nvPr/>
        </p:nvSpPr>
        <p:spPr bwMode="auto">
          <a:xfrm>
            <a:off x="457200" y="6062663"/>
            <a:ext cx="8229600" cy="566737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charset="0"/>
              <a:buChar char="l"/>
              <a:defRPr sz="28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0"/>
              <a:buChar char="l"/>
              <a:defRPr sz="2400">
                <a:solidFill>
                  <a:schemeClr val="tx1"/>
                </a:solidFill>
                <a:latin typeface="+mn-lt"/>
                <a:ea typeface="ＭＳ Ｐゴシック" charset="-128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charset="0"/>
              <a:buChar char="l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charset="0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0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>
              <a:buClr>
                <a:schemeClr val="tx1"/>
              </a:buClr>
            </a:pPr>
            <a:r>
              <a:rPr lang="en-US" b="0" dirty="0"/>
              <a:t>Receiver sends </a:t>
            </a:r>
            <a:r>
              <a:rPr lang="en-US" b="0" dirty="0">
                <a:solidFill>
                  <a:srgbClr val="0000FF"/>
                </a:solidFill>
              </a:rPr>
              <a:t>ACK(B+1)</a:t>
            </a:r>
          </a:p>
        </p:txBody>
      </p:sp>
    </p:spTree>
    <p:extLst>
      <p:ext uri="{BB962C8B-B14F-4D97-AF65-F5344CB8AC3E}">
        <p14:creationId xmlns:p14="http://schemas.microsoft.com/office/powerpoint/2010/main" val="925494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/>
      <p:bldP spid="56" grpId="0"/>
      <p:bldP spid="5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Acknowledgements w/ sliding window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common options</a:t>
            </a:r>
          </a:p>
          <a:p>
            <a:pPr lvl="1"/>
            <a:r>
              <a:rPr lang="en-US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Cumulative ACKs: ACK carries next in-order sequence number the receiver expects</a:t>
            </a:r>
          </a:p>
          <a:p>
            <a:pPr lvl="1"/>
            <a:r>
              <a:rPr lang="en-US" dirty="0"/>
              <a:t>Selective ACKs: ACK individually acknowledges correctly received packets</a:t>
            </a:r>
          </a:p>
          <a:p>
            <a:pPr lvl="1"/>
            <a:endParaRPr lang="en-US" dirty="0"/>
          </a:p>
          <a:p>
            <a:r>
              <a:rPr lang="en-US" dirty="0"/>
              <a:t>Selective ACKs offer more precise information but require more complicated book-keeping</a:t>
            </a:r>
          </a:p>
          <a:p>
            <a:pPr lvl="1"/>
            <a:r>
              <a:rPr lang="en-US" altLang="zh-CN" dirty="0"/>
              <a:t>Skipping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details…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8678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Sliding window protocols</a:t>
            </a:r>
          </a:p>
        </p:txBody>
      </p:sp>
      <p:sp>
        <p:nvSpPr>
          <p:cNvPr id="11243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Resending packets: two canonical approaches</a:t>
            </a:r>
          </a:p>
          <a:p>
            <a:pPr lvl="1"/>
            <a:r>
              <a:rPr lang="en-US" dirty="0"/>
              <a:t>Go-Back-N</a:t>
            </a:r>
          </a:p>
          <a:p>
            <a:pPr lvl="1"/>
            <a:r>
              <a:rPr lang="en-US" dirty="0"/>
              <a:t>Selective Repeat</a:t>
            </a:r>
          </a:p>
          <a:p>
            <a:r>
              <a:rPr lang="en-US" dirty="0"/>
              <a:t>Many variants that differ in implementation details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9271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Go-Back-N</a:t>
            </a:r>
          </a:p>
        </p:txBody>
      </p:sp>
      <p:sp>
        <p:nvSpPr>
          <p:cNvPr id="11253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Sender transmits up to n unacknowledged packets</a:t>
            </a:r>
          </a:p>
          <a:p>
            <a:r>
              <a:rPr lang="en-US" dirty="0"/>
              <a:t>Receiver only accepts packets in order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Discards</a:t>
            </a:r>
            <a:r>
              <a:rPr lang="en-US" dirty="0"/>
              <a:t> out-of-order packets (i.e., packets other than B+1)</a:t>
            </a:r>
          </a:p>
          <a:p>
            <a:r>
              <a:rPr lang="en-US" dirty="0"/>
              <a:t>Receiver uses cumulative acknowledgements</a:t>
            </a:r>
          </a:p>
          <a:p>
            <a:pPr lvl="1"/>
            <a:r>
              <a:rPr lang="en-US" dirty="0"/>
              <a:t>i.e., sequence# in ACK = </a:t>
            </a:r>
            <a:r>
              <a:rPr lang="en-US" dirty="0">
                <a:solidFill>
                  <a:srgbClr val="FF0000"/>
                </a:solidFill>
              </a:rPr>
              <a:t>next expected </a:t>
            </a:r>
            <a:r>
              <a:rPr lang="en-US" dirty="0"/>
              <a:t>in-order sequence# </a:t>
            </a:r>
          </a:p>
          <a:p>
            <a:r>
              <a:rPr lang="en-US" dirty="0"/>
              <a:t>Sender sets timer for 1st outstanding ack (A+1)</a:t>
            </a:r>
          </a:p>
          <a:p>
            <a:r>
              <a:rPr lang="en-US" dirty="0"/>
              <a:t>If timeout, retransmit A+1, … , </a:t>
            </a:r>
            <a:r>
              <a:rPr lang="en-US" dirty="0" err="1"/>
              <a:t>A+n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1976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5379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Sliding window with GBN</a:t>
            </a:r>
          </a:p>
        </p:txBody>
      </p:sp>
      <p:sp>
        <p:nvSpPr>
          <p:cNvPr id="11243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Let A be the last </a:t>
            </a:r>
            <a:r>
              <a:rPr lang="en-US" sz="2400" dirty="0" err="1"/>
              <a:t>ack’d</a:t>
            </a:r>
            <a:r>
              <a:rPr lang="en-US" sz="2400" dirty="0"/>
              <a:t> packet of sender without gap; then window of sender = {A+1, A+2, …, </a:t>
            </a:r>
            <a:r>
              <a:rPr lang="en-US" sz="2400" dirty="0" err="1"/>
              <a:t>A+n</a:t>
            </a:r>
            <a:r>
              <a:rPr lang="en-US" sz="2400" dirty="0"/>
              <a:t>}</a:t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2400" dirty="0"/>
              <a:t>Let B be the last received packet without gap by receiver, then window of receiver = {B+1,…, </a:t>
            </a:r>
            <a:r>
              <a:rPr lang="en-US" sz="2400" dirty="0" err="1"/>
              <a:t>B+n</a:t>
            </a:r>
            <a:r>
              <a:rPr lang="en-US" sz="2400" dirty="0"/>
              <a:t>}</a:t>
            </a:r>
            <a:br>
              <a:rPr lang="en-US" sz="2400" dirty="0"/>
            </a:br>
            <a:endParaRPr lang="en-US" sz="24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Rectangle 1"/>
          <p:cNvSpPr/>
          <p:nvPr/>
        </p:nvSpPr>
        <p:spPr bwMode="auto">
          <a:xfrm>
            <a:off x="914400" y="34290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1143000" y="34290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1371600" y="34290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1600200" y="34290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1828800" y="3429000"/>
            <a:ext cx="152400" cy="381000"/>
          </a:xfrm>
          <a:prstGeom prst="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2057400" y="3429000"/>
            <a:ext cx="152400" cy="381000"/>
          </a:xfrm>
          <a:prstGeom prst="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2286000" y="3429000"/>
            <a:ext cx="152400" cy="381000"/>
          </a:xfrm>
          <a:prstGeom prst="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2514600" y="3429000"/>
            <a:ext cx="152400" cy="381000"/>
          </a:xfrm>
          <a:prstGeom prst="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2743200" y="3429000"/>
            <a:ext cx="152400" cy="381000"/>
          </a:xfrm>
          <a:prstGeom prst="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2971800" y="3429000"/>
            <a:ext cx="152400" cy="381000"/>
          </a:xfrm>
          <a:prstGeom prst="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3200400" y="3429000"/>
            <a:ext cx="152400" cy="381000"/>
          </a:xfrm>
          <a:prstGeom prst="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3429000" y="3429000"/>
            <a:ext cx="152400" cy="381000"/>
          </a:xfrm>
          <a:prstGeom prst="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3657600" y="3429000"/>
            <a:ext cx="152400" cy="381000"/>
          </a:xfrm>
          <a:prstGeom prst="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3886200" y="342900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4114800" y="342900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4343400" y="342900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4572000" y="342900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2" name="Rectangle 21"/>
          <p:cNvSpPr/>
          <p:nvPr/>
        </p:nvSpPr>
        <p:spPr bwMode="auto">
          <a:xfrm>
            <a:off x="4800600" y="342900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" name="Left Brace 2"/>
          <p:cNvSpPr/>
          <p:nvPr/>
        </p:nvSpPr>
        <p:spPr bwMode="auto">
          <a:xfrm rot="5400000">
            <a:off x="2628900" y="2095500"/>
            <a:ext cx="381000" cy="1981200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667000" y="2495490"/>
            <a:ext cx="3385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24" name="Rectangle 23"/>
          <p:cNvSpPr/>
          <p:nvPr/>
        </p:nvSpPr>
        <p:spPr bwMode="auto">
          <a:xfrm>
            <a:off x="6437335" y="25908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490221" y="2724090"/>
            <a:ext cx="3385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cxnSp>
        <p:nvCxnSpPr>
          <p:cNvPr id="23" name="Straight Arrow Connector 22"/>
          <p:cNvCxnSpPr>
            <a:stCxn id="25" idx="2"/>
            <a:endCxn id="8" idx="0"/>
          </p:cNvCxnSpPr>
          <p:nvPr/>
        </p:nvCxnSpPr>
        <p:spPr bwMode="auto">
          <a:xfrm>
            <a:off x="1659511" y="3124200"/>
            <a:ext cx="16889" cy="3048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6629400" y="2571690"/>
            <a:ext cx="1685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latin typeface="+mn-lt"/>
              </a:rPr>
              <a:t>Already </a:t>
            </a:r>
            <a:r>
              <a:rPr lang="en-US" sz="1800" b="0" dirty="0" err="1">
                <a:latin typeface="+mn-lt"/>
              </a:rPr>
              <a:t>ACK’d</a:t>
            </a:r>
            <a:endParaRPr lang="en-US" sz="1800" b="0" dirty="0">
              <a:latin typeface="+mn-lt"/>
            </a:endParaRPr>
          </a:p>
        </p:txBody>
      </p:sp>
      <p:sp>
        <p:nvSpPr>
          <p:cNvPr id="29" name="Rectangle 28"/>
          <p:cNvSpPr/>
          <p:nvPr/>
        </p:nvSpPr>
        <p:spPr bwMode="auto">
          <a:xfrm>
            <a:off x="6437335" y="3067110"/>
            <a:ext cx="152400" cy="381000"/>
          </a:xfrm>
          <a:prstGeom prst="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642884" y="3048000"/>
            <a:ext cx="2135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latin typeface="+mn-lt"/>
              </a:rPr>
              <a:t>Sent but not </a:t>
            </a:r>
            <a:r>
              <a:rPr lang="en-US" sz="1800" b="0" dirty="0" err="1">
                <a:latin typeface="+mn-lt"/>
              </a:rPr>
              <a:t>ACK’d</a:t>
            </a:r>
            <a:endParaRPr lang="en-US" sz="1800" b="0" dirty="0">
              <a:latin typeface="+mn-lt"/>
            </a:endParaRPr>
          </a:p>
        </p:txBody>
      </p:sp>
      <p:sp>
        <p:nvSpPr>
          <p:cNvPr id="31" name="Rectangle 30"/>
          <p:cNvSpPr/>
          <p:nvPr/>
        </p:nvSpPr>
        <p:spPr bwMode="auto">
          <a:xfrm>
            <a:off x="6453911" y="358140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641105" y="3593068"/>
            <a:ext cx="17503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latin typeface="+mn-lt"/>
              </a:rPr>
              <a:t>Cannot be sent</a:t>
            </a:r>
          </a:p>
        </p:txBody>
      </p:sp>
      <p:sp>
        <p:nvSpPr>
          <p:cNvPr id="33" name="Rectangle 32"/>
          <p:cNvSpPr/>
          <p:nvPr/>
        </p:nvSpPr>
        <p:spPr bwMode="auto">
          <a:xfrm>
            <a:off x="914400" y="6172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4" name="Rectangle 33"/>
          <p:cNvSpPr/>
          <p:nvPr/>
        </p:nvSpPr>
        <p:spPr bwMode="auto">
          <a:xfrm>
            <a:off x="1143000" y="6172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5" name="Rectangle 34"/>
          <p:cNvSpPr/>
          <p:nvPr/>
        </p:nvSpPr>
        <p:spPr bwMode="auto">
          <a:xfrm>
            <a:off x="1371600" y="6172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6" name="Rectangle 35"/>
          <p:cNvSpPr/>
          <p:nvPr/>
        </p:nvSpPr>
        <p:spPr bwMode="auto">
          <a:xfrm>
            <a:off x="1600200" y="6172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7" name="Rectangle 36"/>
          <p:cNvSpPr/>
          <p:nvPr/>
        </p:nvSpPr>
        <p:spPr bwMode="auto">
          <a:xfrm>
            <a:off x="1828800" y="6172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8" name="Rectangle 37"/>
          <p:cNvSpPr/>
          <p:nvPr/>
        </p:nvSpPr>
        <p:spPr bwMode="auto">
          <a:xfrm>
            <a:off x="2057400" y="61722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9" name="Rectangle 38"/>
          <p:cNvSpPr/>
          <p:nvPr/>
        </p:nvSpPr>
        <p:spPr bwMode="auto">
          <a:xfrm>
            <a:off x="2286000" y="6172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0" name="Rectangle 39"/>
          <p:cNvSpPr/>
          <p:nvPr/>
        </p:nvSpPr>
        <p:spPr bwMode="auto">
          <a:xfrm>
            <a:off x="2514600" y="6172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1" name="Rectangle 40"/>
          <p:cNvSpPr/>
          <p:nvPr/>
        </p:nvSpPr>
        <p:spPr bwMode="auto">
          <a:xfrm>
            <a:off x="2743200" y="6172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2" name="Rectangle 41"/>
          <p:cNvSpPr/>
          <p:nvPr/>
        </p:nvSpPr>
        <p:spPr bwMode="auto">
          <a:xfrm>
            <a:off x="2971800" y="6172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3" name="Rectangle 42"/>
          <p:cNvSpPr/>
          <p:nvPr/>
        </p:nvSpPr>
        <p:spPr bwMode="auto">
          <a:xfrm>
            <a:off x="3200400" y="6172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4" name="Rectangle 43"/>
          <p:cNvSpPr/>
          <p:nvPr/>
        </p:nvSpPr>
        <p:spPr bwMode="auto">
          <a:xfrm>
            <a:off x="3429000" y="6172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5" name="Rectangle 44"/>
          <p:cNvSpPr/>
          <p:nvPr/>
        </p:nvSpPr>
        <p:spPr bwMode="auto">
          <a:xfrm>
            <a:off x="3657600" y="6172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6" name="Rectangle 45"/>
          <p:cNvSpPr/>
          <p:nvPr/>
        </p:nvSpPr>
        <p:spPr bwMode="auto">
          <a:xfrm>
            <a:off x="3886200" y="6172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7" name="Rectangle 46"/>
          <p:cNvSpPr/>
          <p:nvPr/>
        </p:nvSpPr>
        <p:spPr bwMode="auto">
          <a:xfrm>
            <a:off x="4114800" y="61722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8" name="Rectangle 47"/>
          <p:cNvSpPr/>
          <p:nvPr/>
        </p:nvSpPr>
        <p:spPr bwMode="auto">
          <a:xfrm>
            <a:off x="4343400" y="617220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9" name="Rectangle 48"/>
          <p:cNvSpPr/>
          <p:nvPr/>
        </p:nvSpPr>
        <p:spPr bwMode="auto">
          <a:xfrm>
            <a:off x="4572000" y="617220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0" name="Rectangle 49"/>
          <p:cNvSpPr/>
          <p:nvPr/>
        </p:nvSpPr>
        <p:spPr bwMode="auto">
          <a:xfrm>
            <a:off x="4800600" y="617220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1" name="Left Brace 50"/>
          <p:cNvSpPr/>
          <p:nvPr/>
        </p:nvSpPr>
        <p:spPr bwMode="auto">
          <a:xfrm rot="5400000">
            <a:off x="3086100" y="4838700"/>
            <a:ext cx="381000" cy="1981200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124200" y="5257800"/>
            <a:ext cx="3385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947421" y="5467290"/>
            <a:ext cx="3385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cxnSp>
        <p:nvCxnSpPr>
          <p:cNvPr id="54" name="Straight Arrow Connector 53"/>
          <p:cNvCxnSpPr/>
          <p:nvPr/>
        </p:nvCxnSpPr>
        <p:spPr bwMode="auto">
          <a:xfrm>
            <a:off x="2116711" y="5867400"/>
            <a:ext cx="16889" cy="3048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5" name="Rectangle 54"/>
          <p:cNvSpPr/>
          <p:nvPr/>
        </p:nvSpPr>
        <p:spPr bwMode="auto">
          <a:xfrm>
            <a:off x="6437335" y="5257800"/>
            <a:ext cx="152400" cy="381000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613455" y="5238690"/>
            <a:ext cx="2301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latin typeface="+mn-lt"/>
              </a:rPr>
              <a:t>Received and </a:t>
            </a:r>
            <a:r>
              <a:rPr lang="en-US" sz="1800" b="0" dirty="0" err="1">
                <a:latin typeface="+mn-lt"/>
              </a:rPr>
              <a:t>ACK’d</a:t>
            </a:r>
            <a:endParaRPr lang="en-US" sz="1800" b="0" dirty="0">
              <a:latin typeface="+mn-lt"/>
            </a:endParaRPr>
          </a:p>
        </p:txBody>
      </p:sp>
      <p:sp>
        <p:nvSpPr>
          <p:cNvPr id="59" name="Rectangle 58"/>
          <p:cNvSpPr/>
          <p:nvPr/>
        </p:nvSpPr>
        <p:spPr bwMode="auto">
          <a:xfrm>
            <a:off x="6431647" y="5715000"/>
            <a:ext cx="1524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629400" y="5602069"/>
            <a:ext cx="21096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800" b="0" dirty="0">
                <a:latin typeface="+mn-lt"/>
              </a:rPr>
              <a:t>Acceptable but not</a:t>
            </a:r>
            <a:br>
              <a:rPr lang="en-US" sz="1800" b="0" dirty="0">
                <a:latin typeface="+mn-lt"/>
              </a:rPr>
            </a:br>
            <a:r>
              <a:rPr lang="en-US" sz="1800" b="0" dirty="0">
                <a:latin typeface="+mn-lt"/>
              </a:rPr>
              <a:t>yet received</a:t>
            </a:r>
          </a:p>
        </p:txBody>
      </p:sp>
      <p:sp>
        <p:nvSpPr>
          <p:cNvPr id="61" name="Rectangle 60"/>
          <p:cNvSpPr/>
          <p:nvPr/>
        </p:nvSpPr>
        <p:spPr bwMode="auto">
          <a:xfrm>
            <a:off x="6444470" y="6248400"/>
            <a:ext cx="1524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576471" y="6260068"/>
            <a:ext cx="2186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latin typeface="+mn-lt"/>
              </a:rPr>
              <a:t>Cannot be received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3795" y="3810000"/>
            <a:ext cx="2645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b="0" i="1" dirty="0">
                <a:solidFill>
                  <a:srgbClr val="000090"/>
                </a:solidFill>
                <a:latin typeface="+mn-lt"/>
              </a:rPr>
              <a:t>sequence number </a:t>
            </a:r>
            <a:r>
              <a:rPr lang="en-US" sz="1600" b="0" i="1" dirty="0">
                <a:solidFill>
                  <a:srgbClr val="000090"/>
                </a:solidFill>
                <a:latin typeface="+mn-lt"/>
                <a:sym typeface="Wingdings"/>
              </a:rPr>
              <a:t></a:t>
            </a:r>
            <a:endParaRPr lang="en-US" sz="1600" b="0" i="1" dirty="0">
              <a:solidFill>
                <a:srgbClr val="00009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176280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GBN example w/o errors</a:t>
            </a:r>
          </a:p>
        </p:txBody>
      </p:sp>
      <p:sp>
        <p:nvSpPr>
          <p:cNvPr id="1127427" name="Line 3"/>
          <p:cNvSpPr>
            <a:spLocks noChangeShapeType="1"/>
          </p:cNvSpPr>
          <p:nvPr/>
        </p:nvSpPr>
        <p:spPr bwMode="auto">
          <a:xfrm>
            <a:off x="4433840" y="5638800"/>
            <a:ext cx="0" cy="1219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28" name="Text Box 4"/>
          <p:cNvSpPr txBox="1">
            <a:spLocks noChangeArrowheads="1"/>
          </p:cNvSpPr>
          <p:nvPr/>
        </p:nvSpPr>
        <p:spPr bwMode="auto">
          <a:xfrm>
            <a:off x="4419600" y="6144574"/>
            <a:ext cx="857154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b="0">
                <a:latin typeface="+mn-lt"/>
              </a:rPr>
              <a:t>Time</a:t>
            </a:r>
          </a:p>
        </p:txBody>
      </p:sp>
      <p:sp>
        <p:nvSpPr>
          <p:cNvPr id="1127429" name="Text Box 5"/>
          <p:cNvSpPr txBox="1">
            <a:spLocks noChangeArrowheads="1"/>
          </p:cNvSpPr>
          <p:nvPr/>
        </p:nvSpPr>
        <p:spPr bwMode="auto">
          <a:xfrm>
            <a:off x="2987675" y="1524000"/>
            <a:ext cx="3560763" cy="466725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9" tIns="45714" rIns="91429" bIns="45714">
            <a:spAutoFit/>
          </a:bodyPr>
          <a:lstStyle/>
          <a:p>
            <a:pPr eaLnBrk="1" hangingPunct="1"/>
            <a:r>
              <a:rPr lang="en-US" sz="2400" b="0" dirty="0">
                <a:solidFill>
                  <a:srgbClr val="0000FF"/>
                </a:solidFill>
                <a:latin typeface="+mn-lt"/>
              </a:rPr>
              <a:t>Window size = 3 packets</a:t>
            </a:r>
          </a:p>
        </p:txBody>
      </p:sp>
      <p:sp>
        <p:nvSpPr>
          <p:cNvPr id="1127430" name="Line 6"/>
          <p:cNvSpPr>
            <a:spLocks noChangeShapeType="1"/>
          </p:cNvSpPr>
          <p:nvPr/>
        </p:nvSpPr>
        <p:spPr bwMode="auto">
          <a:xfrm flipH="1">
            <a:off x="1981200" y="2124075"/>
            <a:ext cx="30163" cy="36353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31" name="Line 7"/>
          <p:cNvSpPr>
            <a:spLocks noChangeShapeType="1"/>
          </p:cNvSpPr>
          <p:nvPr/>
        </p:nvSpPr>
        <p:spPr bwMode="auto">
          <a:xfrm flipH="1">
            <a:off x="7362825" y="2124075"/>
            <a:ext cx="3175" cy="37576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32" name="Line 8"/>
          <p:cNvSpPr>
            <a:spLocks noChangeShapeType="1"/>
          </p:cNvSpPr>
          <p:nvPr/>
        </p:nvSpPr>
        <p:spPr bwMode="auto">
          <a:xfrm>
            <a:off x="2011363" y="2276475"/>
            <a:ext cx="5367337" cy="533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33" name="Line 9"/>
          <p:cNvSpPr>
            <a:spLocks noChangeShapeType="1"/>
          </p:cNvSpPr>
          <p:nvPr/>
        </p:nvSpPr>
        <p:spPr bwMode="auto">
          <a:xfrm flipH="1">
            <a:off x="2011363" y="2886075"/>
            <a:ext cx="5367337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35" name="Text Box 11"/>
          <p:cNvSpPr txBox="1">
            <a:spLocks noChangeArrowheads="1"/>
          </p:cNvSpPr>
          <p:nvPr/>
        </p:nvSpPr>
        <p:spPr bwMode="auto">
          <a:xfrm>
            <a:off x="1441068" y="5865174"/>
            <a:ext cx="1177103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b="0">
                <a:latin typeface="+mn-lt"/>
              </a:rPr>
              <a:t>Sender</a:t>
            </a:r>
          </a:p>
        </p:txBody>
      </p:sp>
      <p:sp>
        <p:nvSpPr>
          <p:cNvPr id="1127436" name="Text Box 12"/>
          <p:cNvSpPr txBox="1">
            <a:spLocks noChangeArrowheads="1"/>
          </p:cNvSpPr>
          <p:nvPr/>
        </p:nvSpPr>
        <p:spPr bwMode="auto">
          <a:xfrm>
            <a:off x="6788362" y="5865174"/>
            <a:ext cx="1402926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b="0">
                <a:latin typeface="+mn-lt"/>
              </a:rPr>
              <a:t>Receiver</a:t>
            </a:r>
          </a:p>
        </p:txBody>
      </p:sp>
      <p:sp>
        <p:nvSpPr>
          <p:cNvPr id="1127437" name="Line 13"/>
          <p:cNvSpPr>
            <a:spLocks noChangeShapeType="1"/>
          </p:cNvSpPr>
          <p:nvPr/>
        </p:nvSpPr>
        <p:spPr bwMode="auto">
          <a:xfrm>
            <a:off x="2011363" y="2581275"/>
            <a:ext cx="5367337" cy="533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38" name="Line 14"/>
          <p:cNvSpPr>
            <a:spLocks noChangeShapeType="1"/>
          </p:cNvSpPr>
          <p:nvPr/>
        </p:nvSpPr>
        <p:spPr bwMode="auto">
          <a:xfrm>
            <a:off x="2011363" y="2886075"/>
            <a:ext cx="5367337" cy="533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39" name="Line 15"/>
          <p:cNvSpPr>
            <a:spLocks noChangeShapeType="1"/>
          </p:cNvSpPr>
          <p:nvPr/>
        </p:nvSpPr>
        <p:spPr bwMode="auto">
          <a:xfrm flipH="1">
            <a:off x="2011363" y="3190875"/>
            <a:ext cx="5367337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41" name="Line 17"/>
          <p:cNvSpPr>
            <a:spLocks noChangeShapeType="1"/>
          </p:cNvSpPr>
          <p:nvPr/>
        </p:nvSpPr>
        <p:spPr bwMode="auto">
          <a:xfrm>
            <a:off x="2011363" y="3495675"/>
            <a:ext cx="5367337" cy="533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66" name="Line 42"/>
          <p:cNvSpPr>
            <a:spLocks noChangeShapeType="1"/>
          </p:cNvSpPr>
          <p:nvPr/>
        </p:nvSpPr>
        <p:spPr bwMode="auto">
          <a:xfrm flipH="1">
            <a:off x="1997075" y="3505200"/>
            <a:ext cx="5367338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grpSp>
        <p:nvGrpSpPr>
          <p:cNvPr id="1127488" name="Group 64"/>
          <p:cNvGrpSpPr>
            <a:grpSpLocks/>
          </p:cNvGrpSpPr>
          <p:nvPr/>
        </p:nvGrpSpPr>
        <p:grpSpPr bwMode="auto">
          <a:xfrm>
            <a:off x="681038" y="1946277"/>
            <a:ext cx="1190626" cy="487363"/>
            <a:chOff x="429" y="1226"/>
            <a:chExt cx="750" cy="307"/>
          </a:xfrm>
        </p:grpSpPr>
        <p:sp>
          <p:nvSpPr>
            <p:cNvPr id="1127444" name="Text Box 20"/>
            <p:cNvSpPr txBox="1">
              <a:spLocks noChangeArrowheads="1"/>
            </p:cNvSpPr>
            <p:nvPr/>
          </p:nvSpPr>
          <p:spPr bwMode="auto">
            <a:xfrm>
              <a:off x="967" y="1248"/>
              <a:ext cx="21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b="0">
                  <a:latin typeface="+mn-lt"/>
                </a:rPr>
                <a:t>1</a:t>
              </a:r>
            </a:p>
          </p:txBody>
        </p:sp>
        <p:sp>
          <p:nvSpPr>
            <p:cNvPr id="1127476" name="Text Box 52"/>
            <p:cNvSpPr txBox="1">
              <a:spLocks noChangeArrowheads="1"/>
            </p:cNvSpPr>
            <p:nvPr/>
          </p:nvSpPr>
          <p:spPr bwMode="auto">
            <a:xfrm>
              <a:off x="429" y="1226"/>
              <a:ext cx="352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400" b="0">
                  <a:latin typeface="+mn-lt"/>
                </a:rPr>
                <a:t>{1}</a:t>
              </a:r>
            </a:p>
          </p:txBody>
        </p:sp>
      </p:grpSp>
      <p:grpSp>
        <p:nvGrpSpPr>
          <p:cNvPr id="1127489" name="Group 65"/>
          <p:cNvGrpSpPr>
            <a:grpSpLocks/>
          </p:cNvGrpSpPr>
          <p:nvPr/>
        </p:nvGrpSpPr>
        <p:grpSpPr bwMode="auto">
          <a:xfrm>
            <a:off x="338138" y="2289177"/>
            <a:ext cx="1539876" cy="481013"/>
            <a:chOff x="213" y="1442"/>
            <a:chExt cx="970" cy="303"/>
          </a:xfrm>
        </p:grpSpPr>
        <p:sp>
          <p:nvSpPr>
            <p:cNvPr id="1127445" name="Text Box 21"/>
            <p:cNvSpPr txBox="1">
              <a:spLocks noChangeArrowheads="1"/>
            </p:cNvSpPr>
            <p:nvPr/>
          </p:nvSpPr>
          <p:spPr bwMode="auto">
            <a:xfrm>
              <a:off x="971" y="1460"/>
              <a:ext cx="21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b="0">
                  <a:latin typeface="+mn-lt"/>
                </a:rPr>
                <a:t>2</a:t>
              </a:r>
            </a:p>
          </p:txBody>
        </p:sp>
        <p:sp>
          <p:nvSpPr>
            <p:cNvPr id="1127477" name="Text Box 53"/>
            <p:cNvSpPr txBox="1">
              <a:spLocks noChangeArrowheads="1"/>
            </p:cNvSpPr>
            <p:nvPr/>
          </p:nvSpPr>
          <p:spPr bwMode="auto">
            <a:xfrm>
              <a:off x="213" y="1442"/>
              <a:ext cx="589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400" b="0">
                  <a:latin typeface="+mn-lt"/>
                </a:rPr>
                <a:t>{1, 2}</a:t>
              </a:r>
            </a:p>
          </p:txBody>
        </p:sp>
      </p:grpSp>
      <p:grpSp>
        <p:nvGrpSpPr>
          <p:cNvPr id="1127492" name="Group 68"/>
          <p:cNvGrpSpPr>
            <a:grpSpLocks/>
          </p:cNvGrpSpPr>
          <p:nvPr/>
        </p:nvGrpSpPr>
        <p:grpSpPr bwMode="auto">
          <a:xfrm>
            <a:off x="104775" y="2670178"/>
            <a:ext cx="1773238" cy="461963"/>
            <a:chOff x="66" y="1682"/>
            <a:chExt cx="1117" cy="291"/>
          </a:xfrm>
        </p:grpSpPr>
        <p:sp>
          <p:nvSpPr>
            <p:cNvPr id="1127446" name="Text Box 22"/>
            <p:cNvSpPr txBox="1">
              <a:spLocks noChangeArrowheads="1"/>
            </p:cNvSpPr>
            <p:nvPr/>
          </p:nvSpPr>
          <p:spPr bwMode="auto">
            <a:xfrm>
              <a:off x="971" y="1688"/>
              <a:ext cx="21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b="0">
                  <a:latin typeface="+mn-lt"/>
                </a:rPr>
                <a:t>3</a:t>
              </a:r>
            </a:p>
          </p:txBody>
        </p:sp>
        <p:sp>
          <p:nvSpPr>
            <p:cNvPr id="1127478" name="Text Box 54"/>
            <p:cNvSpPr txBox="1">
              <a:spLocks noChangeArrowheads="1"/>
            </p:cNvSpPr>
            <p:nvPr/>
          </p:nvSpPr>
          <p:spPr bwMode="auto">
            <a:xfrm>
              <a:off x="66" y="1682"/>
              <a:ext cx="805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400" b="0">
                  <a:latin typeface="+mn-lt"/>
                </a:rPr>
                <a:t>{1, 2, 3}</a:t>
              </a:r>
            </a:p>
          </p:txBody>
        </p:sp>
      </p:grpSp>
      <p:grpSp>
        <p:nvGrpSpPr>
          <p:cNvPr id="1127494" name="Group 70"/>
          <p:cNvGrpSpPr>
            <a:grpSpLocks/>
          </p:cNvGrpSpPr>
          <p:nvPr/>
        </p:nvGrpSpPr>
        <p:grpSpPr bwMode="auto">
          <a:xfrm>
            <a:off x="104775" y="3124203"/>
            <a:ext cx="1773238" cy="519113"/>
            <a:chOff x="66" y="1968"/>
            <a:chExt cx="1117" cy="327"/>
          </a:xfrm>
        </p:grpSpPr>
        <p:sp>
          <p:nvSpPr>
            <p:cNvPr id="1127447" name="Text Box 23"/>
            <p:cNvSpPr txBox="1">
              <a:spLocks noChangeArrowheads="1"/>
            </p:cNvSpPr>
            <p:nvPr/>
          </p:nvSpPr>
          <p:spPr bwMode="auto">
            <a:xfrm>
              <a:off x="971" y="2010"/>
              <a:ext cx="21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b="0">
                  <a:latin typeface="+mn-lt"/>
                </a:rPr>
                <a:t>4</a:t>
              </a:r>
            </a:p>
          </p:txBody>
        </p:sp>
        <p:sp>
          <p:nvSpPr>
            <p:cNvPr id="1127479" name="Text Box 55"/>
            <p:cNvSpPr txBox="1">
              <a:spLocks noChangeArrowheads="1"/>
            </p:cNvSpPr>
            <p:nvPr/>
          </p:nvSpPr>
          <p:spPr bwMode="auto">
            <a:xfrm>
              <a:off x="66" y="1968"/>
              <a:ext cx="805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400" b="0">
                  <a:latin typeface="+mn-lt"/>
                </a:rPr>
                <a:t>{2, 3, 4}</a:t>
              </a:r>
            </a:p>
          </p:txBody>
        </p:sp>
      </p:grpSp>
      <p:grpSp>
        <p:nvGrpSpPr>
          <p:cNvPr id="1127495" name="Group 71"/>
          <p:cNvGrpSpPr>
            <a:grpSpLocks/>
          </p:cNvGrpSpPr>
          <p:nvPr/>
        </p:nvGrpSpPr>
        <p:grpSpPr bwMode="auto">
          <a:xfrm>
            <a:off x="104775" y="3505204"/>
            <a:ext cx="1773238" cy="474663"/>
            <a:chOff x="66" y="2208"/>
            <a:chExt cx="1117" cy="299"/>
          </a:xfrm>
        </p:grpSpPr>
        <p:sp>
          <p:nvSpPr>
            <p:cNvPr id="1127448" name="Text Box 24"/>
            <p:cNvSpPr txBox="1">
              <a:spLocks noChangeArrowheads="1"/>
            </p:cNvSpPr>
            <p:nvPr/>
          </p:nvSpPr>
          <p:spPr bwMode="auto">
            <a:xfrm>
              <a:off x="971" y="2222"/>
              <a:ext cx="21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b="0">
                  <a:latin typeface="+mn-lt"/>
                </a:rPr>
                <a:t>5</a:t>
              </a:r>
            </a:p>
          </p:txBody>
        </p:sp>
        <p:sp>
          <p:nvSpPr>
            <p:cNvPr id="1127480" name="Text Box 56"/>
            <p:cNvSpPr txBox="1">
              <a:spLocks noChangeArrowheads="1"/>
            </p:cNvSpPr>
            <p:nvPr/>
          </p:nvSpPr>
          <p:spPr bwMode="auto">
            <a:xfrm>
              <a:off x="66" y="2208"/>
              <a:ext cx="805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400" b="0" dirty="0">
                  <a:latin typeface="+mn-lt"/>
                </a:rPr>
                <a:t>{3, 4, 5}</a:t>
              </a:r>
            </a:p>
          </p:txBody>
        </p:sp>
      </p:grpSp>
      <p:sp>
        <p:nvSpPr>
          <p:cNvPr id="1127483" name="Text Box 59"/>
          <p:cNvSpPr txBox="1">
            <a:spLocks noChangeArrowheads="1"/>
          </p:cNvSpPr>
          <p:nvPr/>
        </p:nvSpPr>
        <p:spPr bwMode="auto">
          <a:xfrm>
            <a:off x="6350" y="1524000"/>
            <a:ext cx="2085975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2000" b="0" dirty="0">
                <a:latin typeface="+mn-lt"/>
              </a:rPr>
              <a:t>Sender Window</a:t>
            </a:r>
          </a:p>
        </p:txBody>
      </p:sp>
      <p:sp>
        <p:nvSpPr>
          <p:cNvPr id="1127484" name="Text Box 60"/>
          <p:cNvSpPr txBox="1">
            <a:spLocks noChangeArrowheads="1"/>
          </p:cNvSpPr>
          <p:nvPr/>
        </p:nvSpPr>
        <p:spPr bwMode="auto">
          <a:xfrm>
            <a:off x="6705600" y="1600200"/>
            <a:ext cx="2282825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2000" b="0" dirty="0">
                <a:latin typeface="+mn-lt"/>
              </a:rPr>
              <a:t>Receiver Window</a:t>
            </a:r>
          </a:p>
        </p:txBody>
      </p:sp>
      <p:sp>
        <p:nvSpPr>
          <p:cNvPr id="1127468" name="Line 44"/>
          <p:cNvSpPr>
            <a:spLocks noChangeShapeType="1"/>
          </p:cNvSpPr>
          <p:nvPr/>
        </p:nvSpPr>
        <p:spPr bwMode="auto">
          <a:xfrm flipH="1">
            <a:off x="1997075" y="4114800"/>
            <a:ext cx="5367338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69" name="Line 45"/>
          <p:cNvSpPr>
            <a:spLocks noChangeShapeType="1"/>
          </p:cNvSpPr>
          <p:nvPr/>
        </p:nvSpPr>
        <p:spPr bwMode="auto">
          <a:xfrm>
            <a:off x="1997075" y="3810000"/>
            <a:ext cx="5367338" cy="533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70" name="Line 46"/>
          <p:cNvSpPr>
            <a:spLocks noChangeShapeType="1"/>
          </p:cNvSpPr>
          <p:nvPr/>
        </p:nvSpPr>
        <p:spPr bwMode="auto">
          <a:xfrm>
            <a:off x="1997075" y="4114800"/>
            <a:ext cx="5367338" cy="533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grpSp>
        <p:nvGrpSpPr>
          <p:cNvPr id="1127497" name="Group 73"/>
          <p:cNvGrpSpPr>
            <a:grpSpLocks/>
          </p:cNvGrpSpPr>
          <p:nvPr/>
        </p:nvGrpSpPr>
        <p:grpSpPr bwMode="auto">
          <a:xfrm>
            <a:off x="1997075" y="4419600"/>
            <a:ext cx="5367338" cy="1143000"/>
            <a:chOff x="1258" y="2784"/>
            <a:chExt cx="3381" cy="720"/>
          </a:xfrm>
        </p:grpSpPr>
        <p:sp>
          <p:nvSpPr>
            <p:cNvPr id="1127472" name="Line 48"/>
            <p:cNvSpPr>
              <a:spLocks noChangeShapeType="1"/>
            </p:cNvSpPr>
            <p:nvPr/>
          </p:nvSpPr>
          <p:spPr bwMode="auto">
            <a:xfrm flipH="1">
              <a:off x="1258" y="2784"/>
              <a:ext cx="3381" cy="336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127473" name="Line 49"/>
            <p:cNvSpPr>
              <a:spLocks noChangeShapeType="1"/>
            </p:cNvSpPr>
            <p:nvPr/>
          </p:nvSpPr>
          <p:spPr bwMode="auto">
            <a:xfrm flipH="1">
              <a:off x="1258" y="2976"/>
              <a:ext cx="3381" cy="336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127474" name="Line 50"/>
            <p:cNvSpPr>
              <a:spLocks noChangeShapeType="1"/>
            </p:cNvSpPr>
            <p:nvPr/>
          </p:nvSpPr>
          <p:spPr bwMode="auto">
            <a:xfrm>
              <a:off x="1258" y="2976"/>
              <a:ext cx="3381" cy="33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b="0">
                <a:latin typeface="+mn-lt"/>
              </a:endParaRPr>
            </a:p>
          </p:txBody>
        </p:sp>
        <p:sp>
          <p:nvSpPr>
            <p:cNvPr id="1127475" name="Line 51"/>
            <p:cNvSpPr>
              <a:spLocks noChangeShapeType="1"/>
            </p:cNvSpPr>
            <p:nvPr/>
          </p:nvSpPr>
          <p:spPr bwMode="auto">
            <a:xfrm>
              <a:off x="1258" y="3168"/>
              <a:ext cx="3381" cy="33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b="0">
                <a:latin typeface="+mn-lt"/>
              </a:endParaRPr>
            </a:p>
          </p:txBody>
        </p:sp>
      </p:grpSp>
      <p:grpSp>
        <p:nvGrpSpPr>
          <p:cNvPr id="1127496" name="Group 72"/>
          <p:cNvGrpSpPr>
            <a:grpSpLocks/>
          </p:cNvGrpSpPr>
          <p:nvPr/>
        </p:nvGrpSpPr>
        <p:grpSpPr bwMode="auto">
          <a:xfrm>
            <a:off x="104775" y="3889379"/>
            <a:ext cx="1766888" cy="458788"/>
            <a:chOff x="66" y="2450"/>
            <a:chExt cx="1113" cy="289"/>
          </a:xfrm>
        </p:grpSpPr>
        <p:sp>
          <p:nvSpPr>
            <p:cNvPr id="1127471" name="Text Box 47"/>
            <p:cNvSpPr txBox="1">
              <a:spLocks noChangeArrowheads="1"/>
            </p:cNvSpPr>
            <p:nvPr/>
          </p:nvSpPr>
          <p:spPr bwMode="auto">
            <a:xfrm>
              <a:off x="967" y="2454"/>
              <a:ext cx="21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b="0">
                  <a:latin typeface="+mn-lt"/>
                </a:rPr>
                <a:t>6</a:t>
              </a:r>
            </a:p>
          </p:txBody>
        </p:sp>
        <p:sp>
          <p:nvSpPr>
            <p:cNvPr id="1127481" name="Text Box 57"/>
            <p:cNvSpPr txBox="1">
              <a:spLocks noChangeArrowheads="1"/>
            </p:cNvSpPr>
            <p:nvPr/>
          </p:nvSpPr>
          <p:spPr bwMode="auto">
            <a:xfrm>
              <a:off x="66" y="2450"/>
              <a:ext cx="805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400" b="0">
                  <a:latin typeface="+mn-lt"/>
                </a:rPr>
                <a:t>{4, 5, 6}</a:t>
              </a:r>
            </a:p>
          </p:txBody>
        </p:sp>
      </p:grpSp>
      <p:sp>
        <p:nvSpPr>
          <p:cNvPr id="1127482" name="Text Box 58"/>
          <p:cNvSpPr txBox="1">
            <a:spLocks noChangeArrowheads="1"/>
          </p:cNvSpPr>
          <p:nvPr/>
        </p:nvSpPr>
        <p:spPr bwMode="auto">
          <a:xfrm>
            <a:off x="722346" y="4191000"/>
            <a:ext cx="268254" cy="1197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2400" b="0">
                <a:latin typeface="+mn-lt"/>
              </a:rPr>
              <a:t>.</a:t>
            </a:r>
          </a:p>
          <a:p>
            <a:r>
              <a:rPr lang="en-US" sz="2400" b="0">
                <a:latin typeface="+mn-lt"/>
              </a:rPr>
              <a:t>.</a:t>
            </a:r>
          </a:p>
          <a:p>
            <a:r>
              <a:rPr lang="en-US" sz="2400" b="0">
                <a:latin typeface="+mn-lt"/>
              </a:rPr>
              <a:t>.</a:t>
            </a:r>
          </a:p>
        </p:txBody>
      </p:sp>
      <p:sp>
        <p:nvSpPr>
          <p:cNvPr id="1127486" name="Text Box 62"/>
          <p:cNvSpPr txBox="1">
            <a:spLocks noChangeArrowheads="1"/>
          </p:cNvSpPr>
          <p:nvPr/>
        </p:nvSpPr>
        <p:spPr bwMode="auto">
          <a:xfrm>
            <a:off x="7693059" y="3657600"/>
            <a:ext cx="268254" cy="1197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2400" b="0">
                <a:latin typeface="+mn-lt"/>
              </a:rPr>
              <a:t>.</a:t>
            </a:r>
          </a:p>
          <a:p>
            <a:r>
              <a:rPr lang="en-US" sz="2400" b="0">
                <a:latin typeface="+mn-lt"/>
              </a:rPr>
              <a:t>.</a:t>
            </a:r>
          </a:p>
          <a:p>
            <a:r>
              <a:rPr lang="en-US" sz="2400" b="0">
                <a:latin typeface="+mn-lt"/>
              </a:rPr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B3E4F9A-602A-9543-D29B-EFE3784B4C8A}"/>
                  </a:ext>
                </a:extLst>
              </p14:cNvPr>
              <p14:cNvContentPartPr/>
              <p14:nvPr/>
            </p14:nvContentPartPr>
            <p14:xfrm>
              <a:off x="5129640" y="2110680"/>
              <a:ext cx="1381680" cy="10526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B3E4F9A-602A-9543-D29B-EFE3784B4C8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20280" y="2101320"/>
                <a:ext cx="1400400" cy="1071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10772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432" grpId="0" animBg="1"/>
      <p:bldP spid="1127433" grpId="0" animBg="1"/>
      <p:bldP spid="1127437" grpId="0" animBg="1"/>
      <p:bldP spid="1127438" grpId="0" animBg="1"/>
      <p:bldP spid="1127439" grpId="0" animBg="1"/>
      <p:bldP spid="1127441" grpId="0" animBg="1"/>
      <p:bldP spid="1127466" grpId="0" animBg="1"/>
      <p:bldP spid="1127468" grpId="0" animBg="1"/>
      <p:bldP spid="1127469" grpId="0" animBg="1"/>
      <p:bldP spid="1127470" grpId="0" animBg="1"/>
      <p:bldP spid="1127482" grpId="0"/>
      <p:bldP spid="112748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GBN example with errors</a:t>
            </a:r>
          </a:p>
        </p:txBody>
      </p:sp>
      <p:sp>
        <p:nvSpPr>
          <p:cNvPr id="1127427" name="Line 3"/>
          <p:cNvSpPr>
            <a:spLocks noChangeShapeType="1"/>
          </p:cNvSpPr>
          <p:nvPr/>
        </p:nvSpPr>
        <p:spPr bwMode="auto">
          <a:xfrm>
            <a:off x="4433840" y="5638800"/>
            <a:ext cx="0" cy="1219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28" name="Text Box 4"/>
          <p:cNvSpPr txBox="1">
            <a:spLocks noChangeArrowheads="1"/>
          </p:cNvSpPr>
          <p:nvPr/>
        </p:nvSpPr>
        <p:spPr bwMode="auto">
          <a:xfrm>
            <a:off x="4419600" y="6144574"/>
            <a:ext cx="857154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b="0">
                <a:latin typeface="+mn-lt"/>
              </a:rPr>
              <a:t>Time</a:t>
            </a:r>
          </a:p>
        </p:txBody>
      </p:sp>
      <p:sp>
        <p:nvSpPr>
          <p:cNvPr id="1127429" name="Text Box 5"/>
          <p:cNvSpPr txBox="1">
            <a:spLocks noChangeArrowheads="1"/>
          </p:cNvSpPr>
          <p:nvPr/>
        </p:nvSpPr>
        <p:spPr bwMode="auto">
          <a:xfrm>
            <a:off x="2987675" y="1524000"/>
            <a:ext cx="3560763" cy="466725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9" tIns="45714" rIns="91429" bIns="45714">
            <a:spAutoFit/>
          </a:bodyPr>
          <a:lstStyle/>
          <a:p>
            <a:pPr eaLnBrk="1" hangingPunct="1"/>
            <a:r>
              <a:rPr lang="en-US" sz="2400" b="0" dirty="0">
                <a:solidFill>
                  <a:srgbClr val="0000FF"/>
                </a:solidFill>
                <a:latin typeface="+mn-lt"/>
              </a:rPr>
              <a:t>Window size = 3 packets</a:t>
            </a:r>
          </a:p>
        </p:txBody>
      </p:sp>
      <p:sp>
        <p:nvSpPr>
          <p:cNvPr id="1127430" name="Line 6"/>
          <p:cNvSpPr>
            <a:spLocks noChangeShapeType="1"/>
          </p:cNvSpPr>
          <p:nvPr/>
        </p:nvSpPr>
        <p:spPr bwMode="auto">
          <a:xfrm flipH="1">
            <a:off x="1981200" y="2124075"/>
            <a:ext cx="30163" cy="36353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31" name="Line 7"/>
          <p:cNvSpPr>
            <a:spLocks noChangeShapeType="1"/>
          </p:cNvSpPr>
          <p:nvPr/>
        </p:nvSpPr>
        <p:spPr bwMode="auto">
          <a:xfrm flipH="1">
            <a:off x="7362825" y="2124075"/>
            <a:ext cx="3175" cy="37576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35" name="Text Box 11"/>
          <p:cNvSpPr txBox="1">
            <a:spLocks noChangeArrowheads="1"/>
          </p:cNvSpPr>
          <p:nvPr/>
        </p:nvSpPr>
        <p:spPr bwMode="auto">
          <a:xfrm>
            <a:off x="1441068" y="5865174"/>
            <a:ext cx="1177103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b="0">
                <a:latin typeface="+mn-lt"/>
              </a:rPr>
              <a:t>Sender</a:t>
            </a:r>
          </a:p>
        </p:txBody>
      </p:sp>
      <p:sp>
        <p:nvSpPr>
          <p:cNvPr id="1127436" name="Text Box 12"/>
          <p:cNvSpPr txBox="1">
            <a:spLocks noChangeArrowheads="1"/>
          </p:cNvSpPr>
          <p:nvPr/>
        </p:nvSpPr>
        <p:spPr bwMode="auto">
          <a:xfrm>
            <a:off x="6788362" y="5865174"/>
            <a:ext cx="1402926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b="0">
                <a:latin typeface="+mn-lt"/>
              </a:rPr>
              <a:t>Receiver</a:t>
            </a:r>
          </a:p>
        </p:txBody>
      </p:sp>
      <p:sp>
        <p:nvSpPr>
          <p:cNvPr id="1127483" name="Text Box 59"/>
          <p:cNvSpPr txBox="1">
            <a:spLocks noChangeArrowheads="1"/>
          </p:cNvSpPr>
          <p:nvPr/>
        </p:nvSpPr>
        <p:spPr bwMode="auto">
          <a:xfrm>
            <a:off x="6350" y="1524000"/>
            <a:ext cx="2085975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2000" b="0" dirty="0">
                <a:latin typeface="+mn-lt"/>
              </a:rPr>
              <a:t>Sender Window</a:t>
            </a:r>
          </a:p>
        </p:txBody>
      </p:sp>
      <p:sp>
        <p:nvSpPr>
          <p:cNvPr id="1127484" name="Text Box 60"/>
          <p:cNvSpPr txBox="1">
            <a:spLocks noChangeArrowheads="1"/>
          </p:cNvSpPr>
          <p:nvPr/>
        </p:nvSpPr>
        <p:spPr bwMode="auto">
          <a:xfrm>
            <a:off x="6705600" y="1600200"/>
            <a:ext cx="2282825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2000" b="0" dirty="0">
                <a:latin typeface="+mn-lt"/>
              </a:rPr>
              <a:t>Receiver Window</a:t>
            </a:r>
          </a:p>
        </p:txBody>
      </p:sp>
      <p:grpSp>
        <p:nvGrpSpPr>
          <p:cNvPr id="47" name="Group 57"/>
          <p:cNvGrpSpPr>
            <a:grpSpLocks/>
          </p:cNvGrpSpPr>
          <p:nvPr/>
        </p:nvGrpSpPr>
        <p:grpSpPr bwMode="auto">
          <a:xfrm>
            <a:off x="1547812" y="1905000"/>
            <a:ext cx="5843588" cy="2057400"/>
            <a:chOff x="915" y="1024"/>
            <a:chExt cx="3681" cy="1296"/>
          </a:xfrm>
        </p:grpSpPr>
        <p:sp>
          <p:nvSpPr>
            <p:cNvPr id="48" name="Line 8"/>
            <p:cNvSpPr>
              <a:spLocks noChangeShapeType="1"/>
            </p:cNvSpPr>
            <p:nvPr/>
          </p:nvSpPr>
          <p:spPr bwMode="auto">
            <a:xfrm>
              <a:off x="1215" y="1210"/>
              <a:ext cx="3381" cy="33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49" name="Line 9"/>
            <p:cNvSpPr>
              <a:spLocks noChangeShapeType="1"/>
            </p:cNvSpPr>
            <p:nvPr/>
          </p:nvSpPr>
          <p:spPr bwMode="auto">
            <a:xfrm flipH="1">
              <a:off x="1215" y="1594"/>
              <a:ext cx="3381" cy="336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50" name="Line 10"/>
            <p:cNvSpPr>
              <a:spLocks noChangeShapeType="1"/>
            </p:cNvSpPr>
            <p:nvPr/>
          </p:nvSpPr>
          <p:spPr bwMode="auto">
            <a:xfrm>
              <a:off x="1215" y="1984"/>
              <a:ext cx="2295" cy="24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51" name="Line 13"/>
            <p:cNvSpPr>
              <a:spLocks noChangeShapeType="1"/>
            </p:cNvSpPr>
            <p:nvPr/>
          </p:nvSpPr>
          <p:spPr bwMode="auto">
            <a:xfrm>
              <a:off x="1215" y="1402"/>
              <a:ext cx="3381" cy="33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52" name="Line 14"/>
            <p:cNvSpPr>
              <a:spLocks noChangeShapeType="1"/>
            </p:cNvSpPr>
            <p:nvPr/>
          </p:nvSpPr>
          <p:spPr bwMode="auto">
            <a:xfrm>
              <a:off x="1215" y="1594"/>
              <a:ext cx="3381" cy="33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53" name="Line 15"/>
            <p:cNvSpPr>
              <a:spLocks noChangeShapeType="1"/>
            </p:cNvSpPr>
            <p:nvPr/>
          </p:nvSpPr>
          <p:spPr bwMode="auto">
            <a:xfrm flipH="1">
              <a:off x="1215" y="1786"/>
              <a:ext cx="3381" cy="336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54" name="Line 16"/>
            <p:cNvSpPr>
              <a:spLocks noChangeShapeType="1"/>
            </p:cNvSpPr>
            <p:nvPr/>
          </p:nvSpPr>
          <p:spPr bwMode="auto">
            <a:xfrm flipH="1">
              <a:off x="1215" y="1978"/>
              <a:ext cx="3381" cy="336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55" name="Text Box 20"/>
            <p:cNvSpPr txBox="1">
              <a:spLocks noChangeArrowheads="1"/>
            </p:cNvSpPr>
            <p:nvPr/>
          </p:nvSpPr>
          <p:spPr bwMode="auto">
            <a:xfrm>
              <a:off x="915" y="1024"/>
              <a:ext cx="21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+mn-lt"/>
                </a:rPr>
                <a:t>1</a:t>
              </a:r>
            </a:p>
          </p:txBody>
        </p:sp>
        <p:sp>
          <p:nvSpPr>
            <p:cNvPr id="56" name="Text Box 21"/>
            <p:cNvSpPr txBox="1">
              <a:spLocks noChangeArrowheads="1"/>
            </p:cNvSpPr>
            <p:nvPr/>
          </p:nvSpPr>
          <p:spPr bwMode="auto">
            <a:xfrm>
              <a:off x="919" y="1236"/>
              <a:ext cx="21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+mn-lt"/>
                </a:rPr>
                <a:t>2</a:t>
              </a:r>
            </a:p>
          </p:txBody>
        </p:sp>
        <p:sp>
          <p:nvSpPr>
            <p:cNvPr id="57" name="Text Box 22"/>
            <p:cNvSpPr txBox="1">
              <a:spLocks noChangeArrowheads="1"/>
            </p:cNvSpPr>
            <p:nvPr/>
          </p:nvSpPr>
          <p:spPr bwMode="auto">
            <a:xfrm>
              <a:off x="919" y="1464"/>
              <a:ext cx="21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+mn-lt"/>
                </a:rPr>
                <a:t>3</a:t>
              </a:r>
            </a:p>
          </p:txBody>
        </p:sp>
        <p:sp>
          <p:nvSpPr>
            <p:cNvPr id="58" name="Text Box 23"/>
            <p:cNvSpPr txBox="1">
              <a:spLocks noChangeArrowheads="1"/>
            </p:cNvSpPr>
            <p:nvPr/>
          </p:nvSpPr>
          <p:spPr bwMode="auto">
            <a:xfrm>
              <a:off x="919" y="1744"/>
              <a:ext cx="21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+mn-lt"/>
                </a:rPr>
                <a:t>4</a:t>
              </a:r>
            </a:p>
          </p:txBody>
        </p:sp>
        <p:sp>
          <p:nvSpPr>
            <p:cNvPr id="59" name="Text Box 24"/>
            <p:cNvSpPr txBox="1">
              <a:spLocks noChangeArrowheads="1"/>
            </p:cNvSpPr>
            <p:nvPr/>
          </p:nvSpPr>
          <p:spPr bwMode="auto">
            <a:xfrm>
              <a:off x="919" y="1998"/>
              <a:ext cx="21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+mn-lt"/>
                </a:rPr>
                <a:t>5</a:t>
              </a:r>
            </a:p>
          </p:txBody>
        </p:sp>
        <p:sp>
          <p:nvSpPr>
            <p:cNvPr id="60" name="Line 40"/>
            <p:cNvSpPr>
              <a:spLocks noChangeShapeType="1"/>
            </p:cNvSpPr>
            <p:nvPr/>
          </p:nvSpPr>
          <p:spPr bwMode="auto">
            <a:xfrm>
              <a:off x="3462" y="2128"/>
              <a:ext cx="96" cy="19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1" name="Line 41"/>
            <p:cNvSpPr>
              <a:spLocks noChangeShapeType="1"/>
            </p:cNvSpPr>
            <p:nvPr/>
          </p:nvSpPr>
          <p:spPr bwMode="auto">
            <a:xfrm flipH="1">
              <a:off x="3462" y="2128"/>
              <a:ext cx="96" cy="19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62" name="Group 61"/>
          <p:cNvGrpSpPr>
            <a:grpSpLocks/>
          </p:cNvGrpSpPr>
          <p:nvPr/>
        </p:nvGrpSpPr>
        <p:grpSpPr bwMode="auto">
          <a:xfrm>
            <a:off x="-87313" y="3429000"/>
            <a:ext cx="2036763" cy="1374136"/>
            <a:chOff x="-55" y="1968"/>
            <a:chExt cx="1283" cy="1200"/>
          </a:xfrm>
        </p:grpSpPr>
        <p:sp>
          <p:nvSpPr>
            <p:cNvPr id="63" name="Line 62"/>
            <p:cNvSpPr>
              <a:spLocks noChangeShapeType="1"/>
            </p:cNvSpPr>
            <p:nvPr/>
          </p:nvSpPr>
          <p:spPr bwMode="auto">
            <a:xfrm flipH="1">
              <a:off x="399" y="1968"/>
              <a:ext cx="8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4" name="Line 63"/>
            <p:cNvSpPr>
              <a:spLocks noChangeShapeType="1"/>
            </p:cNvSpPr>
            <p:nvPr/>
          </p:nvSpPr>
          <p:spPr bwMode="auto">
            <a:xfrm flipH="1">
              <a:off x="399" y="3168"/>
              <a:ext cx="8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5" name="Line 64"/>
            <p:cNvSpPr>
              <a:spLocks noChangeShapeType="1"/>
            </p:cNvSpPr>
            <p:nvPr/>
          </p:nvSpPr>
          <p:spPr bwMode="auto">
            <a:xfrm>
              <a:off x="720" y="1968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6" name="Text Box 65"/>
            <p:cNvSpPr txBox="1">
              <a:spLocks noChangeArrowheads="1"/>
            </p:cNvSpPr>
            <p:nvPr/>
          </p:nvSpPr>
          <p:spPr bwMode="auto">
            <a:xfrm>
              <a:off x="-55" y="2160"/>
              <a:ext cx="762" cy="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2000">
                  <a:solidFill>
                    <a:srgbClr val="FF0000"/>
                  </a:solidFill>
                  <a:latin typeface="+mn-lt"/>
                </a:rPr>
                <a:t>Timeout</a:t>
              </a:r>
            </a:p>
            <a:p>
              <a:pPr eaLnBrk="1" hangingPunct="1"/>
              <a:r>
                <a:rPr lang="en-US" sz="2000">
                  <a:solidFill>
                    <a:srgbClr val="FF0000"/>
                  </a:solidFill>
                  <a:latin typeface="+mn-lt"/>
                </a:rPr>
                <a:t>Packet 4</a:t>
              </a:r>
            </a:p>
          </p:txBody>
        </p:sp>
      </p:grpSp>
      <p:grpSp>
        <p:nvGrpSpPr>
          <p:cNvPr id="67" name="Group 58"/>
          <p:cNvGrpSpPr>
            <a:grpSpLocks/>
          </p:cNvGrpSpPr>
          <p:nvPr/>
        </p:nvGrpSpPr>
        <p:grpSpPr bwMode="auto">
          <a:xfrm>
            <a:off x="1554162" y="3733800"/>
            <a:ext cx="5837238" cy="828675"/>
            <a:chOff x="919" y="2176"/>
            <a:chExt cx="3677" cy="522"/>
          </a:xfrm>
        </p:grpSpPr>
        <p:sp>
          <p:nvSpPr>
            <p:cNvPr id="68" name="Line 17"/>
            <p:cNvSpPr>
              <a:spLocks noChangeShapeType="1"/>
            </p:cNvSpPr>
            <p:nvPr/>
          </p:nvSpPr>
          <p:spPr bwMode="auto">
            <a:xfrm>
              <a:off x="1215" y="2176"/>
              <a:ext cx="3381" cy="33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9" name="Line 18"/>
            <p:cNvSpPr>
              <a:spLocks noChangeShapeType="1"/>
            </p:cNvSpPr>
            <p:nvPr/>
          </p:nvSpPr>
          <p:spPr bwMode="auto">
            <a:xfrm>
              <a:off x="1215" y="2362"/>
              <a:ext cx="3381" cy="33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70" name="Text Box 25"/>
            <p:cNvSpPr txBox="1">
              <a:spLocks noChangeArrowheads="1"/>
            </p:cNvSpPr>
            <p:nvPr/>
          </p:nvSpPr>
          <p:spPr bwMode="auto">
            <a:xfrm>
              <a:off x="919" y="2184"/>
              <a:ext cx="21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+mn-lt"/>
                </a:rPr>
                <a:t>6</a:t>
              </a:r>
            </a:p>
          </p:txBody>
        </p:sp>
      </p:grpSp>
      <p:grpSp>
        <p:nvGrpSpPr>
          <p:cNvPr id="71" name="Group 70"/>
          <p:cNvGrpSpPr/>
          <p:nvPr/>
        </p:nvGrpSpPr>
        <p:grpSpPr>
          <a:xfrm>
            <a:off x="1714499" y="4727575"/>
            <a:ext cx="5648326" cy="1031875"/>
            <a:chOff x="1633537" y="4810125"/>
            <a:chExt cx="5648326" cy="1031875"/>
          </a:xfrm>
        </p:grpSpPr>
        <p:sp>
          <p:nvSpPr>
            <p:cNvPr id="72" name="Text Box 67"/>
            <p:cNvSpPr txBox="1">
              <a:spLocks noChangeArrowheads="1"/>
            </p:cNvSpPr>
            <p:nvPr/>
          </p:nvSpPr>
          <p:spPr bwMode="auto">
            <a:xfrm>
              <a:off x="1633537" y="4810125"/>
              <a:ext cx="336550" cy="452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+mn-lt"/>
                </a:rPr>
                <a:t>4</a:t>
              </a:r>
            </a:p>
          </p:txBody>
        </p:sp>
        <p:sp>
          <p:nvSpPr>
            <p:cNvPr id="73" name="Text Box 68"/>
            <p:cNvSpPr txBox="1">
              <a:spLocks noChangeArrowheads="1"/>
            </p:cNvSpPr>
            <p:nvPr/>
          </p:nvSpPr>
          <p:spPr bwMode="auto">
            <a:xfrm>
              <a:off x="1633537" y="5038725"/>
              <a:ext cx="336550" cy="452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+mn-lt"/>
                </a:rPr>
                <a:t>5</a:t>
              </a:r>
            </a:p>
          </p:txBody>
        </p:sp>
        <p:sp>
          <p:nvSpPr>
            <p:cNvPr id="74" name="Text Box 69"/>
            <p:cNvSpPr txBox="1">
              <a:spLocks noChangeArrowheads="1"/>
            </p:cNvSpPr>
            <p:nvPr/>
          </p:nvSpPr>
          <p:spPr bwMode="auto">
            <a:xfrm>
              <a:off x="1633537" y="5267325"/>
              <a:ext cx="336550" cy="452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+mn-lt"/>
                </a:rPr>
                <a:t>6</a:t>
              </a:r>
            </a:p>
          </p:txBody>
        </p:sp>
        <p:sp>
          <p:nvSpPr>
            <p:cNvPr id="75" name="Line 70"/>
            <p:cNvSpPr>
              <a:spLocks noChangeShapeType="1"/>
            </p:cNvSpPr>
            <p:nvPr/>
          </p:nvSpPr>
          <p:spPr bwMode="auto">
            <a:xfrm>
              <a:off x="1914525" y="5029200"/>
              <a:ext cx="5367338" cy="5334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76" name="Line 71"/>
            <p:cNvSpPr>
              <a:spLocks noChangeShapeType="1"/>
            </p:cNvSpPr>
            <p:nvPr/>
          </p:nvSpPr>
          <p:spPr bwMode="auto">
            <a:xfrm>
              <a:off x="1914525" y="5156200"/>
              <a:ext cx="5367338" cy="5334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77" name="Line 72"/>
            <p:cNvSpPr>
              <a:spLocks noChangeShapeType="1"/>
            </p:cNvSpPr>
            <p:nvPr/>
          </p:nvSpPr>
          <p:spPr bwMode="auto">
            <a:xfrm>
              <a:off x="1914525" y="5308600"/>
              <a:ext cx="5367338" cy="5334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7369325" y="4096393"/>
            <a:ext cx="9364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Discard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78774" y="4381500"/>
            <a:ext cx="9364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Discard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C6BFB48-1FEE-EFA0-C9D0-7280E347BEA0}"/>
                  </a:ext>
                </a:extLst>
              </p14:cNvPr>
              <p14:cNvContentPartPr/>
              <p14:nvPr/>
            </p14:nvContentPartPr>
            <p14:xfrm>
              <a:off x="291240" y="3014280"/>
              <a:ext cx="1338480" cy="5263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C6BFB48-1FEE-EFA0-C9D0-7280E347BEA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1880" y="3004920"/>
                <a:ext cx="1357200" cy="545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66495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8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Selective Repeat (SR)</a:t>
            </a:r>
          </a:p>
        </p:txBody>
      </p:sp>
      <p:sp>
        <p:nvSpPr>
          <p:cNvPr id="11284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Sender: transmit up to n unacknowledged packets</a:t>
            </a:r>
          </a:p>
          <a:p>
            <a:r>
              <a:rPr lang="en-US" dirty="0"/>
              <a:t>Assume packet k is lost, k+1 is not</a:t>
            </a:r>
          </a:p>
          <a:p>
            <a:pPr lvl="1"/>
            <a:r>
              <a:rPr lang="en-US" dirty="0"/>
              <a:t>Receiver: indicates packet k+1 correctly received</a:t>
            </a:r>
          </a:p>
          <a:p>
            <a:pPr lvl="1"/>
            <a:r>
              <a:rPr lang="en-US" dirty="0"/>
              <a:t>Sender: retransmit only packet k on timeout</a:t>
            </a:r>
          </a:p>
          <a:p>
            <a:r>
              <a:rPr lang="en-US" dirty="0"/>
              <a:t>Efficient in retransmissions but complex book-keeping</a:t>
            </a:r>
          </a:p>
          <a:p>
            <a:pPr lvl="1"/>
            <a:r>
              <a:rPr lang="en-US" dirty="0"/>
              <a:t>Need a timer per packet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890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8451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SR example with errors</a:t>
            </a:r>
          </a:p>
        </p:txBody>
      </p:sp>
      <p:sp>
        <p:nvSpPr>
          <p:cNvPr id="1127429" name="Text Box 5"/>
          <p:cNvSpPr txBox="1">
            <a:spLocks noChangeArrowheads="1"/>
          </p:cNvSpPr>
          <p:nvPr/>
        </p:nvSpPr>
        <p:spPr bwMode="auto">
          <a:xfrm>
            <a:off x="2987675" y="1524000"/>
            <a:ext cx="3560763" cy="466725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9" tIns="45714" rIns="91429" bIns="45714">
            <a:spAutoFit/>
          </a:bodyPr>
          <a:lstStyle/>
          <a:p>
            <a:pPr eaLnBrk="1" hangingPunct="1"/>
            <a:r>
              <a:rPr lang="en-US" sz="2400" b="0" dirty="0">
                <a:solidFill>
                  <a:srgbClr val="0000FF"/>
                </a:solidFill>
                <a:latin typeface="+mn-lt"/>
              </a:rPr>
              <a:t>Window size = 3 packets</a:t>
            </a:r>
          </a:p>
        </p:txBody>
      </p:sp>
      <p:sp>
        <p:nvSpPr>
          <p:cNvPr id="1127430" name="Line 6"/>
          <p:cNvSpPr>
            <a:spLocks noChangeShapeType="1"/>
          </p:cNvSpPr>
          <p:nvPr/>
        </p:nvSpPr>
        <p:spPr bwMode="auto">
          <a:xfrm flipH="1">
            <a:off x="1981200" y="2124075"/>
            <a:ext cx="30163" cy="36353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31" name="Line 7"/>
          <p:cNvSpPr>
            <a:spLocks noChangeShapeType="1"/>
          </p:cNvSpPr>
          <p:nvPr/>
        </p:nvSpPr>
        <p:spPr bwMode="auto">
          <a:xfrm flipH="1">
            <a:off x="7362825" y="2124075"/>
            <a:ext cx="3175" cy="37576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32" name="Line 8"/>
          <p:cNvSpPr>
            <a:spLocks noChangeShapeType="1"/>
          </p:cNvSpPr>
          <p:nvPr/>
        </p:nvSpPr>
        <p:spPr bwMode="auto">
          <a:xfrm>
            <a:off x="2011363" y="2276475"/>
            <a:ext cx="5367337" cy="533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33" name="Line 9"/>
          <p:cNvSpPr>
            <a:spLocks noChangeShapeType="1"/>
          </p:cNvSpPr>
          <p:nvPr/>
        </p:nvSpPr>
        <p:spPr bwMode="auto">
          <a:xfrm flipH="1">
            <a:off x="2011363" y="2886075"/>
            <a:ext cx="5367337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37" name="Line 13"/>
          <p:cNvSpPr>
            <a:spLocks noChangeShapeType="1"/>
          </p:cNvSpPr>
          <p:nvPr/>
        </p:nvSpPr>
        <p:spPr bwMode="auto">
          <a:xfrm>
            <a:off x="2011363" y="2581275"/>
            <a:ext cx="5367337" cy="533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38" name="Line 14"/>
          <p:cNvSpPr>
            <a:spLocks noChangeShapeType="1"/>
          </p:cNvSpPr>
          <p:nvPr/>
        </p:nvSpPr>
        <p:spPr bwMode="auto">
          <a:xfrm>
            <a:off x="2011363" y="2886075"/>
            <a:ext cx="5367337" cy="533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39" name="Line 15"/>
          <p:cNvSpPr>
            <a:spLocks noChangeShapeType="1"/>
          </p:cNvSpPr>
          <p:nvPr/>
        </p:nvSpPr>
        <p:spPr bwMode="auto">
          <a:xfrm flipH="1">
            <a:off x="2011363" y="3190875"/>
            <a:ext cx="5367337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41" name="Line 17"/>
          <p:cNvSpPr>
            <a:spLocks noChangeShapeType="1"/>
          </p:cNvSpPr>
          <p:nvPr/>
        </p:nvSpPr>
        <p:spPr bwMode="auto">
          <a:xfrm>
            <a:off x="2011363" y="3495675"/>
            <a:ext cx="3856037" cy="429574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66" name="Line 42"/>
          <p:cNvSpPr>
            <a:spLocks noChangeShapeType="1"/>
          </p:cNvSpPr>
          <p:nvPr/>
        </p:nvSpPr>
        <p:spPr bwMode="auto">
          <a:xfrm flipH="1">
            <a:off x="1997075" y="3505200"/>
            <a:ext cx="5367338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grpSp>
        <p:nvGrpSpPr>
          <p:cNvPr id="1127488" name="Group 64"/>
          <p:cNvGrpSpPr>
            <a:grpSpLocks/>
          </p:cNvGrpSpPr>
          <p:nvPr/>
        </p:nvGrpSpPr>
        <p:grpSpPr bwMode="auto">
          <a:xfrm>
            <a:off x="681038" y="1946277"/>
            <a:ext cx="1190626" cy="487363"/>
            <a:chOff x="429" y="1226"/>
            <a:chExt cx="750" cy="307"/>
          </a:xfrm>
        </p:grpSpPr>
        <p:sp>
          <p:nvSpPr>
            <p:cNvPr id="1127444" name="Text Box 20"/>
            <p:cNvSpPr txBox="1">
              <a:spLocks noChangeArrowheads="1"/>
            </p:cNvSpPr>
            <p:nvPr/>
          </p:nvSpPr>
          <p:spPr bwMode="auto">
            <a:xfrm>
              <a:off x="967" y="1248"/>
              <a:ext cx="21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b="0">
                  <a:latin typeface="+mn-lt"/>
                </a:rPr>
                <a:t>1</a:t>
              </a:r>
            </a:p>
          </p:txBody>
        </p:sp>
        <p:sp>
          <p:nvSpPr>
            <p:cNvPr id="1127476" name="Text Box 52"/>
            <p:cNvSpPr txBox="1">
              <a:spLocks noChangeArrowheads="1"/>
            </p:cNvSpPr>
            <p:nvPr/>
          </p:nvSpPr>
          <p:spPr bwMode="auto">
            <a:xfrm>
              <a:off x="429" y="1226"/>
              <a:ext cx="352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400" b="0">
                  <a:latin typeface="+mn-lt"/>
                </a:rPr>
                <a:t>{1}</a:t>
              </a:r>
            </a:p>
          </p:txBody>
        </p:sp>
      </p:grpSp>
      <p:grpSp>
        <p:nvGrpSpPr>
          <p:cNvPr id="1127489" name="Group 65"/>
          <p:cNvGrpSpPr>
            <a:grpSpLocks/>
          </p:cNvGrpSpPr>
          <p:nvPr/>
        </p:nvGrpSpPr>
        <p:grpSpPr bwMode="auto">
          <a:xfrm>
            <a:off x="338138" y="2289177"/>
            <a:ext cx="1539876" cy="481013"/>
            <a:chOff x="213" y="1442"/>
            <a:chExt cx="970" cy="303"/>
          </a:xfrm>
        </p:grpSpPr>
        <p:sp>
          <p:nvSpPr>
            <p:cNvPr id="1127445" name="Text Box 21"/>
            <p:cNvSpPr txBox="1">
              <a:spLocks noChangeArrowheads="1"/>
            </p:cNvSpPr>
            <p:nvPr/>
          </p:nvSpPr>
          <p:spPr bwMode="auto">
            <a:xfrm>
              <a:off x="971" y="1460"/>
              <a:ext cx="21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b="0">
                  <a:latin typeface="+mn-lt"/>
                </a:rPr>
                <a:t>2</a:t>
              </a:r>
            </a:p>
          </p:txBody>
        </p:sp>
        <p:sp>
          <p:nvSpPr>
            <p:cNvPr id="1127477" name="Text Box 53"/>
            <p:cNvSpPr txBox="1">
              <a:spLocks noChangeArrowheads="1"/>
            </p:cNvSpPr>
            <p:nvPr/>
          </p:nvSpPr>
          <p:spPr bwMode="auto">
            <a:xfrm>
              <a:off x="213" y="1442"/>
              <a:ext cx="589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400" b="0">
                  <a:latin typeface="+mn-lt"/>
                </a:rPr>
                <a:t>{1, 2}</a:t>
              </a:r>
            </a:p>
          </p:txBody>
        </p:sp>
      </p:grpSp>
      <p:grpSp>
        <p:nvGrpSpPr>
          <p:cNvPr id="1127492" name="Group 68"/>
          <p:cNvGrpSpPr>
            <a:grpSpLocks/>
          </p:cNvGrpSpPr>
          <p:nvPr/>
        </p:nvGrpSpPr>
        <p:grpSpPr bwMode="auto">
          <a:xfrm>
            <a:off x="104775" y="2670178"/>
            <a:ext cx="1773238" cy="461963"/>
            <a:chOff x="66" y="1682"/>
            <a:chExt cx="1117" cy="291"/>
          </a:xfrm>
        </p:grpSpPr>
        <p:sp>
          <p:nvSpPr>
            <p:cNvPr id="1127446" name="Text Box 22"/>
            <p:cNvSpPr txBox="1">
              <a:spLocks noChangeArrowheads="1"/>
            </p:cNvSpPr>
            <p:nvPr/>
          </p:nvSpPr>
          <p:spPr bwMode="auto">
            <a:xfrm>
              <a:off x="971" y="1688"/>
              <a:ext cx="21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b="0">
                  <a:latin typeface="+mn-lt"/>
                </a:rPr>
                <a:t>3</a:t>
              </a:r>
            </a:p>
          </p:txBody>
        </p:sp>
        <p:sp>
          <p:nvSpPr>
            <p:cNvPr id="1127478" name="Text Box 54"/>
            <p:cNvSpPr txBox="1">
              <a:spLocks noChangeArrowheads="1"/>
            </p:cNvSpPr>
            <p:nvPr/>
          </p:nvSpPr>
          <p:spPr bwMode="auto">
            <a:xfrm>
              <a:off x="66" y="1682"/>
              <a:ext cx="805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400" b="0">
                  <a:latin typeface="+mn-lt"/>
                </a:rPr>
                <a:t>{1, 2, 3}</a:t>
              </a:r>
            </a:p>
          </p:txBody>
        </p:sp>
      </p:grpSp>
      <p:grpSp>
        <p:nvGrpSpPr>
          <p:cNvPr id="1127494" name="Group 70"/>
          <p:cNvGrpSpPr>
            <a:grpSpLocks/>
          </p:cNvGrpSpPr>
          <p:nvPr/>
        </p:nvGrpSpPr>
        <p:grpSpPr bwMode="auto">
          <a:xfrm>
            <a:off x="104775" y="3124203"/>
            <a:ext cx="1773238" cy="519113"/>
            <a:chOff x="66" y="1968"/>
            <a:chExt cx="1117" cy="327"/>
          </a:xfrm>
        </p:grpSpPr>
        <p:sp>
          <p:nvSpPr>
            <p:cNvPr id="1127447" name="Text Box 23"/>
            <p:cNvSpPr txBox="1">
              <a:spLocks noChangeArrowheads="1"/>
            </p:cNvSpPr>
            <p:nvPr/>
          </p:nvSpPr>
          <p:spPr bwMode="auto">
            <a:xfrm>
              <a:off x="971" y="2010"/>
              <a:ext cx="21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b="0">
                  <a:latin typeface="+mn-lt"/>
                </a:rPr>
                <a:t>4</a:t>
              </a:r>
            </a:p>
          </p:txBody>
        </p:sp>
        <p:sp>
          <p:nvSpPr>
            <p:cNvPr id="1127479" name="Text Box 55"/>
            <p:cNvSpPr txBox="1">
              <a:spLocks noChangeArrowheads="1"/>
            </p:cNvSpPr>
            <p:nvPr/>
          </p:nvSpPr>
          <p:spPr bwMode="auto">
            <a:xfrm>
              <a:off x="66" y="1968"/>
              <a:ext cx="805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400" b="0">
                  <a:latin typeface="+mn-lt"/>
                </a:rPr>
                <a:t>{2, 3, 4}</a:t>
              </a:r>
            </a:p>
          </p:txBody>
        </p:sp>
      </p:grpSp>
      <p:grpSp>
        <p:nvGrpSpPr>
          <p:cNvPr id="1127495" name="Group 71"/>
          <p:cNvGrpSpPr>
            <a:grpSpLocks/>
          </p:cNvGrpSpPr>
          <p:nvPr/>
        </p:nvGrpSpPr>
        <p:grpSpPr bwMode="auto">
          <a:xfrm>
            <a:off x="104775" y="3505204"/>
            <a:ext cx="1773238" cy="474663"/>
            <a:chOff x="66" y="2208"/>
            <a:chExt cx="1117" cy="299"/>
          </a:xfrm>
        </p:grpSpPr>
        <p:sp>
          <p:nvSpPr>
            <p:cNvPr id="1127448" name="Text Box 24"/>
            <p:cNvSpPr txBox="1">
              <a:spLocks noChangeArrowheads="1"/>
            </p:cNvSpPr>
            <p:nvPr/>
          </p:nvSpPr>
          <p:spPr bwMode="auto">
            <a:xfrm>
              <a:off x="971" y="2222"/>
              <a:ext cx="21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b="0">
                  <a:latin typeface="+mn-lt"/>
                </a:rPr>
                <a:t>5</a:t>
              </a:r>
            </a:p>
          </p:txBody>
        </p:sp>
        <p:sp>
          <p:nvSpPr>
            <p:cNvPr id="1127480" name="Text Box 56"/>
            <p:cNvSpPr txBox="1">
              <a:spLocks noChangeArrowheads="1"/>
            </p:cNvSpPr>
            <p:nvPr/>
          </p:nvSpPr>
          <p:spPr bwMode="auto">
            <a:xfrm>
              <a:off x="66" y="2208"/>
              <a:ext cx="805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400" b="0" dirty="0">
                  <a:latin typeface="+mn-lt"/>
                </a:rPr>
                <a:t>{3, 4, 5}</a:t>
              </a:r>
            </a:p>
          </p:txBody>
        </p:sp>
      </p:grpSp>
      <p:sp>
        <p:nvSpPr>
          <p:cNvPr id="1127483" name="Text Box 59"/>
          <p:cNvSpPr txBox="1">
            <a:spLocks noChangeArrowheads="1"/>
          </p:cNvSpPr>
          <p:nvPr/>
        </p:nvSpPr>
        <p:spPr bwMode="auto">
          <a:xfrm>
            <a:off x="6350" y="1524000"/>
            <a:ext cx="2085975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2000" b="0" dirty="0">
                <a:latin typeface="+mn-lt"/>
              </a:rPr>
              <a:t>Sender Window</a:t>
            </a:r>
          </a:p>
        </p:txBody>
      </p:sp>
      <p:sp>
        <p:nvSpPr>
          <p:cNvPr id="1127484" name="Text Box 60"/>
          <p:cNvSpPr txBox="1">
            <a:spLocks noChangeArrowheads="1"/>
          </p:cNvSpPr>
          <p:nvPr/>
        </p:nvSpPr>
        <p:spPr bwMode="auto">
          <a:xfrm>
            <a:off x="6705600" y="1600200"/>
            <a:ext cx="2282825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2000" b="0" dirty="0">
                <a:latin typeface="+mn-lt"/>
              </a:rPr>
              <a:t>Receiver Window</a:t>
            </a:r>
          </a:p>
        </p:txBody>
      </p:sp>
      <p:sp>
        <p:nvSpPr>
          <p:cNvPr id="1127468" name="Line 44"/>
          <p:cNvSpPr>
            <a:spLocks noChangeShapeType="1"/>
          </p:cNvSpPr>
          <p:nvPr/>
        </p:nvSpPr>
        <p:spPr bwMode="auto">
          <a:xfrm flipH="1">
            <a:off x="1983456" y="5600882"/>
            <a:ext cx="5367338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69" name="Line 45"/>
          <p:cNvSpPr>
            <a:spLocks noChangeShapeType="1"/>
          </p:cNvSpPr>
          <p:nvPr/>
        </p:nvSpPr>
        <p:spPr bwMode="auto">
          <a:xfrm>
            <a:off x="1997075" y="3810000"/>
            <a:ext cx="5367338" cy="533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70" name="Line 46"/>
          <p:cNvSpPr>
            <a:spLocks noChangeShapeType="1"/>
          </p:cNvSpPr>
          <p:nvPr/>
        </p:nvSpPr>
        <p:spPr bwMode="auto">
          <a:xfrm>
            <a:off x="1997075" y="4114800"/>
            <a:ext cx="5367338" cy="533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72" name="Line 48"/>
          <p:cNvSpPr>
            <a:spLocks noChangeShapeType="1"/>
          </p:cNvSpPr>
          <p:nvPr/>
        </p:nvSpPr>
        <p:spPr bwMode="auto">
          <a:xfrm flipH="1">
            <a:off x="1997075" y="4419600"/>
            <a:ext cx="5367338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73" name="Line 49"/>
          <p:cNvSpPr>
            <a:spLocks noChangeShapeType="1"/>
          </p:cNvSpPr>
          <p:nvPr/>
        </p:nvSpPr>
        <p:spPr bwMode="auto">
          <a:xfrm flipH="1">
            <a:off x="1997075" y="4724400"/>
            <a:ext cx="5367338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1127474" name="Line 50"/>
          <p:cNvSpPr>
            <a:spLocks noChangeShapeType="1"/>
          </p:cNvSpPr>
          <p:nvPr/>
        </p:nvSpPr>
        <p:spPr bwMode="auto">
          <a:xfrm>
            <a:off x="1997075" y="5029200"/>
            <a:ext cx="5367338" cy="533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grpSp>
        <p:nvGrpSpPr>
          <p:cNvPr id="1127496" name="Group 72"/>
          <p:cNvGrpSpPr>
            <a:grpSpLocks/>
          </p:cNvGrpSpPr>
          <p:nvPr/>
        </p:nvGrpSpPr>
        <p:grpSpPr bwMode="auto">
          <a:xfrm>
            <a:off x="104775" y="3889379"/>
            <a:ext cx="1766888" cy="458788"/>
            <a:chOff x="66" y="2450"/>
            <a:chExt cx="1113" cy="289"/>
          </a:xfrm>
        </p:grpSpPr>
        <p:sp>
          <p:nvSpPr>
            <p:cNvPr id="1127471" name="Text Box 47"/>
            <p:cNvSpPr txBox="1">
              <a:spLocks noChangeArrowheads="1"/>
            </p:cNvSpPr>
            <p:nvPr/>
          </p:nvSpPr>
          <p:spPr bwMode="auto">
            <a:xfrm>
              <a:off x="967" y="2454"/>
              <a:ext cx="21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b="0">
                  <a:latin typeface="+mn-lt"/>
                </a:rPr>
                <a:t>6</a:t>
              </a:r>
            </a:p>
          </p:txBody>
        </p:sp>
        <p:sp>
          <p:nvSpPr>
            <p:cNvPr id="1127481" name="Text Box 57"/>
            <p:cNvSpPr txBox="1">
              <a:spLocks noChangeArrowheads="1"/>
            </p:cNvSpPr>
            <p:nvPr/>
          </p:nvSpPr>
          <p:spPr bwMode="auto">
            <a:xfrm>
              <a:off x="66" y="2450"/>
              <a:ext cx="805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400" b="0">
                  <a:latin typeface="+mn-lt"/>
                </a:rPr>
                <a:t>{4, 5, 6}</a:t>
              </a:r>
            </a:p>
          </p:txBody>
        </p:sp>
      </p:grpSp>
      <p:sp>
        <p:nvSpPr>
          <p:cNvPr id="47" name="Line 33"/>
          <p:cNvSpPr>
            <a:spLocks noChangeShapeType="1"/>
          </p:cNvSpPr>
          <p:nvPr/>
        </p:nvSpPr>
        <p:spPr bwMode="auto">
          <a:xfrm>
            <a:off x="5867400" y="3810000"/>
            <a:ext cx="152400" cy="304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b="0">
              <a:latin typeface="+mn-lt"/>
            </a:endParaRPr>
          </a:p>
        </p:txBody>
      </p:sp>
      <p:sp>
        <p:nvSpPr>
          <p:cNvPr id="48" name="Line 34"/>
          <p:cNvSpPr>
            <a:spLocks noChangeShapeType="1"/>
          </p:cNvSpPr>
          <p:nvPr/>
        </p:nvSpPr>
        <p:spPr bwMode="auto">
          <a:xfrm flipH="1">
            <a:off x="5867400" y="3810000"/>
            <a:ext cx="152400" cy="304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b="0">
              <a:latin typeface="+mn-lt"/>
            </a:endParaRPr>
          </a:p>
        </p:txBody>
      </p:sp>
      <p:sp>
        <p:nvSpPr>
          <p:cNvPr id="49" name="Text Box 32"/>
          <p:cNvSpPr txBox="1">
            <a:spLocks noChangeArrowheads="1"/>
          </p:cNvSpPr>
          <p:nvPr/>
        </p:nvSpPr>
        <p:spPr bwMode="auto">
          <a:xfrm rot="21254809">
            <a:off x="4173983" y="4385319"/>
            <a:ext cx="93529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b="0" dirty="0">
                <a:solidFill>
                  <a:srgbClr val="FF0000"/>
                </a:solidFill>
                <a:latin typeface="+mn-lt"/>
              </a:rPr>
              <a:t>ACK=5</a:t>
            </a:r>
          </a:p>
        </p:txBody>
      </p:sp>
      <p:sp>
        <p:nvSpPr>
          <p:cNvPr id="50" name="Text Box 32"/>
          <p:cNvSpPr txBox="1">
            <a:spLocks noChangeArrowheads="1"/>
          </p:cNvSpPr>
          <p:nvPr/>
        </p:nvSpPr>
        <p:spPr bwMode="auto">
          <a:xfrm rot="21254809">
            <a:off x="4173983" y="4694149"/>
            <a:ext cx="93529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b="0" dirty="0">
                <a:solidFill>
                  <a:srgbClr val="FF0000"/>
                </a:solidFill>
                <a:latin typeface="+mn-lt"/>
              </a:rPr>
              <a:t>ACK=6</a:t>
            </a:r>
          </a:p>
        </p:txBody>
      </p:sp>
      <p:grpSp>
        <p:nvGrpSpPr>
          <p:cNvPr id="51" name="Group 72"/>
          <p:cNvGrpSpPr>
            <a:grpSpLocks/>
          </p:cNvGrpSpPr>
          <p:nvPr/>
        </p:nvGrpSpPr>
        <p:grpSpPr bwMode="auto">
          <a:xfrm>
            <a:off x="101984" y="4693126"/>
            <a:ext cx="1595438" cy="458788"/>
            <a:chOff x="66" y="2450"/>
            <a:chExt cx="1005" cy="289"/>
          </a:xfrm>
        </p:grpSpPr>
        <p:sp>
          <p:nvSpPr>
            <p:cNvPr id="52" name="Text Box 47"/>
            <p:cNvSpPr txBox="1">
              <a:spLocks noChangeArrowheads="1"/>
            </p:cNvSpPr>
            <p:nvPr/>
          </p:nvSpPr>
          <p:spPr bwMode="auto">
            <a:xfrm>
              <a:off x="967" y="2454"/>
              <a:ext cx="104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endParaRPr lang="en-US" b="0" dirty="0">
                <a:latin typeface="+mn-lt"/>
              </a:endParaRPr>
            </a:p>
          </p:txBody>
        </p:sp>
        <p:sp>
          <p:nvSpPr>
            <p:cNvPr id="53" name="Text Box 57"/>
            <p:cNvSpPr txBox="1">
              <a:spLocks noChangeArrowheads="1"/>
            </p:cNvSpPr>
            <p:nvPr/>
          </p:nvSpPr>
          <p:spPr bwMode="auto">
            <a:xfrm>
              <a:off x="66" y="2450"/>
              <a:ext cx="805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400" b="0" dirty="0">
                  <a:latin typeface="+mn-lt"/>
                </a:rPr>
                <a:t>{4, 5, 6}</a:t>
              </a:r>
            </a:p>
          </p:txBody>
        </p:sp>
      </p:grpSp>
      <p:grpSp>
        <p:nvGrpSpPr>
          <p:cNvPr id="54" name="Group 72"/>
          <p:cNvGrpSpPr>
            <a:grpSpLocks/>
          </p:cNvGrpSpPr>
          <p:nvPr/>
        </p:nvGrpSpPr>
        <p:grpSpPr bwMode="auto">
          <a:xfrm>
            <a:off x="98531" y="5061427"/>
            <a:ext cx="1595438" cy="458788"/>
            <a:chOff x="66" y="2450"/>
            <a:chExt cx="1005" cy="289"/>
          </a:xfrm>
        </p:grpSpPr>
        <p:sp>
          <p:nvSpPr>
            <p:cNvPr id="55" name="Text Box 47"/>
            <p:cNvSpPr txBox="1">
              <a:spLocks noChangeArrowheads="1"/>
            </p:cNvSpPr>
            <p:nvPr/>
          </p:nvSpPr>
          <p:spPr bwMode="auto">
            <a:xfrm>
              <a:off x="967" y="2454"/>
              <a:ext cx="104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endParaRPr lang="en-US" b="0" dirty="0">
                <a:latin typeface="+mn-lt"/>
              </a:endParaRPr>
            </a:p>
          </p:txBody>
        </p:sp>
        <p:sp>
          <p:nvSpPr>
            <p:cNvPr id="56" name="Text Box 57"/>
            <p:cNvSpPr txBox="1">
              <a:spLocks noChangeArrowheads="1"/>
            </p:cNvSpPr>
            <p:nvPr/>
          </p:nvSpPr>
          <p:spPr bwMode="auto">
            <a:xfrm>
              <a:off x="66" y="2450"/>
              <a:ext cx="805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400" b="0" dirty="0">
                  <a:latin typeface="+mn-lt"/>
                </a:rPr>
                <a:t>{4, 5, 6}</a:t>
              </a:r>
            </a:p>
          </p:txBody>
        </p:sp>
      </p:grpSp>
      <p:grpSp>
        <p:nvGrpSpPr>
          <p:cNvPr id="57" name="Group 61"/>
          <p:cNvGrpSpPr>
            <a:grpSpLocks/>
          </p:cNvGrpSpPr>
          <p:nvPr/>
        </p:nvGrpSpPr>
        <p:grpSpPr bwMode="auto">
          <a:xfrm>
            <a:off x="180975" y="3581400"/>
            <a:ext cx="1800225" cy="1172051"/>
            <a:chOff x="94" y="1968"/>
            <a:chExt cx="1134" cy="1200"/>
          </a:xfrm>
        </p:grpSpPr>
        <p:sp>
          <p:nvSpPr>
            <p:cNvPr id="58" name="Line 62"/>
            <p:cNvSpPr>
              <a:spLocks noChangeShapeType="1"/>
            </p:cNvSpPr>
            <p:nvPr/>
          </p:nvSpPr>
          <p:spPr bwMode="auto">
            <a:xfrm flipH="1">
              <a:off x="399" y="1968"/>
              <a:ext cx="829" cy="0"/>
            </a:xfrm>
            <a:prstGeom prst="line">
              <a:avLst/>
            </a:prstGeom>
            <a:noFill/>
            <a:ln w="38100" cmpd="sng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59" name="Line 63"/>
            <p:cNvSpPr>
              <a:spLocks noChangeShapeType="1"/>
            </p:cNvSpPr>
            <p:nvPr/>
          </p:nvSpPr>
          <p:spPr bwMode="auto">
            <a:xfrm flipH="1">
              <a:off x="399" y="3168"/>
              <a:ext cx="829" cy="0"/>
            </a:xfrm>
            <a:prstGeom prst="line">
              <a:avLst/>
            </a:prstGeom>
            <a:noFill/>
            <a:ln w="38100" cmpd="sng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0" name="Line 64"/>
            <p:cNvSpPr>
              <a:spLocks noChangeShapeType="1"/>
            </p:cNvSpPr>
            <p:nvPr/>
          </p:nvSpPr>
          <p:spPr bwMode="auto">
            <a:xfrm>
              <a:off x="940" y="1968"/>
              <a:ext cx="0" cy="1200"/>
            </a:xfrm>
            <a:prstGeom prst="line">
              <a:avLst/>
            </a:prstGeom>
            <a:noFill/>
            <a:ln w="38100" cmpd="sng">
              <a:solidFill>
                <a:srgbClr val="FF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1" name="Text Box 65"/>
            <p:cNvSpPr txBox="1">
              <a:spLocks noChangeArrowheads="1"/>
            </p:cNvSpPr>
            <p:nvPr/>
          </p:nvSpPr>
          <p:spPr bwMode="auto">
            <a:xfrm>
              <a:off x="94" y="2241"/>
              <a:ext cx="798" cy="5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2000" dirty="0">
                  <a:solidFill>
                    <a:srgbClr val="FF0000"/>
                  </a:solidFill>
                  <a:latin typeface="+mn-lt"/>
                </a:rPr>
                <a:t>Timeout</a:t>
              </a:r>
            </a:p>
            <a:p>
              <a:pPr eaLnBrk="1" hangingPunct="1"/>
              <a:r>
                <a:rPr lang="en-US" sz="2000" dirty="0">
                  <a:solidFill>
                    <a:srgbClr val="FF0000"/>
                  </a:solidFill>
                  <a:latin typeface="+mn-lt"/>
                </a:rPr>
                <a:t>Packet 4</a:t>
              </a:r>
            </a:p>
          </p:txBody>
        </p:sp>
      </p:grpSp>
      <p:sp>
        <p:nvSpPr>
          <p:cNvPr id="62" name="Text Box 21"/>
          <p:cNvSpPr txBox="1">
            <a:spLocks noChangeArrowheads="1"/>
          </p:cNvSpPr>
          <p:nvPr/>
        </p:nvSpPr>
        <p:spPr bwMode="auto">
          <a:xfrm>
            <a:off x="1532322" y="4776125"/>
            <a:ext cx="336550" cy="452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b="0" dirty="0">
                <a:latin typeface="+mn-lt"/>
              </a:rPr>
              <a:t>4</a:t>
            </a:r>
          </a:p>
        </p:txBody>
      </p:sp>
      <p:sp>
        <p:nvSpPr>
          <p:cNvPr id="63" name="Text Box 32"/>
          <p:cNvSpPr txBox="1">
            <a:spLocks noChangeArrowheads="1"/>
          </p:cNvSpPr>
          <p:nvPr/>
        </p:nvSpPr>
        <p:spPr bwMode="auto">
          <a:xfrm rot="21254809">
            <a:off x="4160364" y="5566601"/>
            <a:ext cx="93529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b="0" dirty="0">
                <a:solidFill>
                  <a:srgbClr val="FF0000"/>
                </a:solidFill>
                <a:latin typeface="+mn-lt"/>
              </a:rPr>
              <a:t>ACK=4</a:t>
            </a:r>
          </a:p>
        </p:txBody>
      </p:sp>
      <p:sp>
        <p:nvSpPr>
          <p:cNvPr id="64" name="Text Box 26"/>
          <p:cNvSpPr txBox="1">
            <a:spLocks noChangeArrowheads="1"/>
          </p:cNvSpPr>
          <p:nvPr/>
        </p:nvSpPr>
        <p:spPr bwMode="auto">
          <a:xfrm>
            <a:off x="1524000" y="5948609"/>
            <a:ext cx="336889" cy="452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b="0">
                <a:latin typeface="+mn-lt"/>
              </a:rPr>
              <a:t>7</a:t>
            </a:r>
          </a:p>
        </p:txBody>
      </p:sp>
      <p:sp>
        <p:nvSpPr>
          <p:cNvPr id="65" name="Line 45"/>
          <p:cNvSpPr>
            <a:spLocks noChangeShapeType="1"/>
          </p:cNvSpPr>
          <p:nvPr/>
        </p:nvSpPr>
        <p:spPr bwMode="auto">
          <a:xfrm>
            <a:off x="2057400" y="6248400"/>
            <a:ext cx="3048000" cy="304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0">
              <a:latin typeface="+mn-lt"/>
            </a:endParaRPr>
          </a:p>
        </p:txBody>
      </p:sp>
      <p:sp>
        <p:nvSpPr>
          <p:cNvPr id="66" name="Text Box 46"/>
          <p:cNvSpPr txBox="1">
            <a:spLocks noChangeArrowheads="1"/>
          </p:cNvSpPr>
          <p:nvPr/>
        </p:nvSpPr>
        <p:spPr bwMode="auto">
          <a:xfrm>
            <a:off x="98064" y="5907247"/>
            <a:ext cx="1243881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2400" b="0" dirty="0">
                <a:latin typeface="+mn-lt"/>
              </a:rPr>
              <a:t>{7, 8, 9}</a:t>
            </a:r>
          </a:p>
        </p:txBody>
      </p:sp>
      <p:sp>
        <p:nvSpPr>
          <p:cNvPr id="67" name="Text Box 10"/>
          <p:cNvSpPr txBox="1">
            <a:spLocks noChangeArrowheads="1"/>
          </p:cNvSpPr>
          <p:nvPr/>
        </p:nvSpPr>
        <p:spPr bwMode="auto">
          <a:xfrm>
            <a:off x="1233105" y="6400800"/>
            <a:ext cx="1177103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b="0" dirty="0">
                <a:latin typeface="+mn-lt"/>
              </a:rPr>
              <a:t>Sender</a:t>
            </a:r>
          </a:p>
        </p:txBody>
      </p:sp>
      <p:sp>
        <p:nvSpPr>
          <p:cNvPr id="68" name="Text Box 11"/>
          <p:cNvSpPr txBox="1">
            <a:spLocks noChangeArrowheads="1"/>
          </p:cNvSpPr>
          <p:nvPr/>
        </p:nvSpPr>
        <p:spPr bwMode="auto">
          <a:xfrm>
            <a:off x="6585162" y="6400800"/>
            <a:ext cx="1402926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b="0" dirty="0">
                <a:latin typeface="+mn-lt"/>
              </a:rPr>
              <a:t>Receiver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69325" y="4233446"/>
            <a:ext cx="10278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Buffered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66000" y="4552063"/>
            <a:ext cx="10278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Buffered</a:t>
            </a:r>
          </a:p>
        </p:txBody>
      </p:sp>
    </p:spTree>
    <p:extLst>
      <p:ext uri="{BB962C8B-B14F-4D97-AF65-F5344CB8AC3E}">
        <p14:creationId xmlns:p14="http://schemas.microsoft.com/office/powerpoint/2010/main" val="883541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468" grpId="0" animBg="1"/>
      <p:bldP spid="1127469" grpId="0" animBg="1"/>
      <p:bldP spid="1127470" grpId="0" animBg="1"/>
      <p:bldP spid="1127472" grpId="0" animBg="1"/>
      <p:bldP spid="1127472" grpId="1" animBg="1"/>
      <p:bldP spid="1127473" grpId="0" animBg="1"/>
      <p:bldP spid="1127473" grpId="1" animBg="1"/>
      <p:bldP spid="1127474" grpId="0" animBg="1"/>
      <p:bldP spid="49" grpId="0"/>
      <p:bldP spid="50" grpId="0"/>
      <p:bldP spid="62" grpId="0"/>
      <p:bldP spid="63" grpId="0"/>
      <p:bldP spid="64" grpId="0"/>
      <p:bldP spid="65" grpId="0" animBg="1"/>
      <p:bldP spid="66" grpId="0"/>
      <p:bldP spid="69" grpId="0"/>
      <p:bldP spid="70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GBN vs. Selective Repeat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would GBN be better?</a:t>
            </a:r>
          </a:p>
          <a:p>
            <a:pPr lvl="1"/>
            <a:r>
              <a:rPr lang="en-US" dirty="0"/>
              <a:t>When error rate is low; wastes bandwidth otherwise</a:t>
            </a:r>
          </a:p>
          <a:p>
            <a:endParaRPr lang="en-US" dirty="0"/>
          </a:p>
          <a:p>
            <a:r>
              <a:rPr lang="en-US" dirty="0"/>
              <a:t>When would SR be better?</a:t>
            </a:r>
          </a:p>
          <a:p>
            <a:pPr lvl="1"/>
            <a:r>
              <a:rPr lang="en-US" dirty="0"/>
              <a:t>When error rate is high; otherwise, too complex</a:t>
            </a:r>
          </a:p>
        </p:txBody>
      </p:sp>
    </p:spTree>
    <p:extLst>
      <p:ext uri="{BB962C8B-B14F-4D97-AF65-F5344CB8AC3E}">
        <p14:creationId xmlns:p14="http://schemas.microsoft.com/office/powerpoint/2010/main" val="2084914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Observations</a:t>
            </a:r>
          </a:p>
        </p:txBody>
      </p:sp>
      <p:sp>
        <p:nvSpPr>
          <p:cNvPr id="11304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a large-enough </a:t>
            </a:r>
            <a:r>
              <a:rPr lang="en-US" dirty="0">
                <a:solidFill>
                  <a:srgbClr val="0000FF"/>
                </a:solidFill>
              </a:rPr>
              <a:t>window</a:t>
            </a:r>
            <a:r>
              <a:rPr lang="en-US" dirty="0"/>
              <a:t>, it is possible to fully utilize a link with sliding windows</a:t>
            </a:r>
          </a:p>
          <a:p>
            <a:r>
              <a:rPr lang="en-US" dirty="0"/>
              <a:t>Sender has to </a:t>
            </a:r>
            <a:r>
              <a:rPr lang="en-US" dirty="0">
                <a:solidFill>
                  <a:srgbClr val="0000FF"/>
                </a:solidFill>
              </a:rPr>
              <a:t>buffer</a:t>
            </a:r>
            <a:r>
              <a:rPr lang="en-US" dirty="0"/>
              <a:t> all unacknowledged packets, because they may require retransmission</a:t>
            </a:r>
          </a:p>
          <a:p>
            <a:r>
              <a:rPr lang="en-US" dirty="0"/>
              <a:t>Receiver may be able to accept out-of-order packets, but only up to its </a:t>
            </a:r>
            <a:r>
              <a:rPr lang="en-US" dirty="0">
                <a:solidFill>
                  <a:srgbClr val="0000FF"/>
                </a:solidFill>
              </a:rPr>
              <a:t>buffer</a:t>
            </a:r>
            <a:r>
              <a:rPr lang="en-US" dirty="0"/>
              <a:t> limits</a:t>
            </a:r>
          </a:p>
          <a:p>
            <a:r>
              <a:rPr lang="en-US" dirty="0"/>
              <a:t>Implementation complexity depends on protocol details (GBN vs. SR)</a:t>
            </a:r>
          </a:p>
        </p:txBody>
      </p:sp>
    </p:spTree>
    <p:extLst>
      <p:ext uri="{BB962C8B-B14F-4D97-AF65-F5344CB8AC3E}">
        <p14:creationId xmlns:p14="http://schemas.microsoft.com/office/powerpoint/2010/main" val="6724091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a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Checksums (for error detection) </a:t>
            </a:r>
          </a:p>
          <a:p>
            <a:r>
              <a:rPr lang="en-US" dirty="0"/>
              <a:t>Timers (for loss detection) </a:t>
            </a:r>
          </a:p>
          <a:p>
            <a:r>
              <a:rPr lang="en-US" dirty="0"/>
              <a:t>Acknowledgments </a:t>
            </a:r>
          </a:p>
          <a:p>
            <a:pPr lvl="1"/>
            <a:r>
              <a:rPr lang="en-US" dirty="0"/>
              <a:t>Cumulative </a:t>
            </a:r>
          </a:p>
          <a:p>
            <a:pPr lvl="1"/>
            <a:r>
              <a:rPr lang="en-US" dirty="0"/>
              <a:t>Selective</a:t>
            </a:r>
          </a:p>
          <a:p>
            <a:r>
              <a:rPr lang="en-US" dirty="0"/>
              <a:t>Sequence numbers (duplicates, windows)</a:t>
            </a:r>
          </a:p>
          <a:p>
            <a:r>
              <a:rPr lang="en-US" dirty="0"/>
              <a:t>Sliding windows (for efficiency) </a:t>
            </a:r>
          </a:p>
          <a:p>
            <a:r>
              <a:rPr lang="en-US" dirty="0"/>
              <a:t>Reliability protocols use the above to decide when and what to retransmit or acknowledge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1045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Transport layer allows applications to communicate with each other</a:t>
            </a:r>
          </a:p>
          <a:p>
            <a:r>
              <a:rPr lang="en-US" dirty="0"/>
              <a:t>Provides unreliable and reliable mechanisms</a:t>
            </a:r>
          </a:p>
          <a:p>
            <a:r>
              <a:rPr lang="en-US" dirty="0"/>
              <a:t>Possible to build reliable transport over unreliable medium</a:t>
            </a:r>
          </a:p>
          <a:p>
            <a:endParaRPr lang="en-US" dirty="0"/>
          </a:p>
          <a:p>
            <a:r>
              <a:rPr lang="en-US" dirty="0"/>
              <a:t>Next lecture</a:t>
            </a:r>
          </a:p>
          <a:p>
            <a:pPr lvl="1"/>
            <a:r>
              <a:rPr lang="en-US" dirty="0"/>
              <a:t>TCP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619A8B-2A20-9C78-F098-FA89840A6FD6}"/>
              </a:ext>
            </a:extLst>
          </p:cNvPr>
          <p:cNvSpPr txBox="1"/>
          <p:nvPr/>
        </p:nvSpPr>
        <p:spPr>
          <a:xfrm>
            <a:off x="1905000" y="6096000"/>
            <a:ext cx="533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3"/>
              </a:rPr>
              <a:t>https://github.com/henryhxu/CSCI4430-ESTR4120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38130"/>
      </p:ext>
    </p:extLst>
  </p:cSld>
  <p:clrMapOvr>
    <a:masterClrMapping/>
  </p:clrMapOvr>
</p:sld>
</file>

<file path=ppt/theme/theme1.xml><?xml version="1.0" encoding="utf-8"?>
<a:theme xmlns:a="http://schemas.openxmlformats.org/drawingml/2006/main" name="csci teaching">
  <a:themeElements>
    <a:clrScheme name="">
      <a:dk1>
        <a:srgbClr val="333399"/>
      </a:dk1>
      <a:lt1>
        <a:srgbClr val="FFFFFF"/>
      </a:lt1>
      <a:dk2>
        <a:srgbClr val="CC0000"/>
      </a:dk2>
      <a:lt2>
        <a:srgbClr val="CECECE"/>
      </a:lt2>
      <a:accent1>
        <a:srgbClr val="EBEBEB"/>
      </a:accent1>
      <a:accent2>
        <a:srgbClr val="232323"/>
      </a:accent2>
      <a:accent3>
        <a:srgbClr val="FFFFFF"/>
      </a:accent3>
      <a:accent4>
        <a:srgbClr val="2A2A82"/>
      </a:accent4>
      <a:accent5>
        <a:srgbClr val="F3F3F3"/>
      </a:accent5>
      <a:accent6>
        <a:srgbClr val="1F1F1F"/>
      </a:accent6>
      <a:hlink>
        <a:srgbClr val="9C9C9C"/>
      </a:hlink>
      <a:folHlink>
        <a:srgbClr val="676767"/>
      </a:folHlink>
    </a:clrScheme>
    <a:fontScheme name="dbllineb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bllineb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bllineb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sci teaching" id="{2544B9EB-22C5-894E-8225-D41CCBCFB37A}" vid="{814176C4-F8E2-3E49-9BEB-3A929C7DAC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1490455199</TotalTime>
  <Pages>7</Pages>
  <Words>2152</Words>
  <Application>Microsoft Macintosh PowerPoint</Application>
  <PresentationFormat>On-screen Show (4:3)</PresentationFormat>
  <Paragraphs>481</Paragraphs>
  <Slides>46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9" baseType="lpstr">
      <vt:lpstr>ＭＳ Ｐゴシック</vt:lpstr>
      <vt:lpstr>Arial</vt:lpstr>
      <vt:lpstr>Arial Black</vt:lpstr>
      <vt:lpstr>Calibri</vt:lpstr>
      <vt:lpstr>Comic Sans MS</vt:lpstr>
      <vt:lpstr>Courier New</vt:lpstr>
      <vt:lpstr>Gill Sans</vt:lpstr>
      <vt:lpstr>Helvetica Neue</vt:lpstr>
      <vt:lpstr>Monotype Sorts</vt:lpstr>
      <vt:lpstr>Tahoma</vt:lpstr>
      <vt:lpstr>Times New Roman</vt:lpstr>
      <vt:lpstr>Wingdings</vt:lpstr>
      <vt:lpstr>csci teaching</vt:lpstr>
      <vt:lpstr>CSCI4430 Computer Networks  Lecture 6: Transport Layer – Basics</vt:lpstr>
      <vt:lpstr>Agenda</vt:lpstr>
      <vt:lpstr>Transport layer</vt:lpstr>
      <vt:lpstr>Why a transport layer? </vt:lpstr>
      <vt:lpstr>Role of the transport layer</vt:lpstr>
      <vt:lpstr>Multiplexing &amp; demultiplexing</vt:lpstr>
      <vt:lpstr>Role of the transport layer</vt:lpstr>
      <vt:lpstr>Role of the transport layer</vt:lpstr>
      <vt:lpstr>Role of the transport layer</vt:lpstr>
      <vt:lpstr>Role of the transport layer</vt:lpstr>
      <vt:lpstr>Applications and sockets</vt:lpstr>
      <vt:lpstr>Ports</vt:lpstr>
      <vt:lpstr>UDP: User Datagram Protocol </vt:lpstr>
      <vt:lpstr>UDP (cont’d)</vt:lpstr>
      <vt:lpstr>Beyond UDP… </vt:lpstr>
      <vt:lpstr>Reliable transport</vt:lpstr>
      <vt:lpstr>Reliable transport</vt:lpstr>
      <vt:lpstr>Dealing with packet corruption</vt:lpstr>
      <vt:lpstr>Dealing with packet corruption </vt:lpstr>
      <vt:lpstr>Dealing with packet loss</vt:lpstr>
      <vt:lpstr>Dealing with packet loss (of ack)</vt:lpstr>
      <vt:lpstr>Dealing with delay</vt:lpstr>
      <vt:lpstr>Components of a solution</vt:lpstr>
      <vt:lpstr>Designing a reliable transport</vt:lpstr>
      <vt:lpstr>A Solution: “Stop and Wait”</vt:lpstr>
      <vt:lpstr>Stop &amp; Wait is inefficient </vt:lpstr>
      <vt:lpstr>Orders of magnitude</vt:lpstr>
      <vt:lpstr>Three design decisions</vt:lpstr>
      <vt:lpstr>Sliding window</vt:lpstr>
      <vt:lpstr>Sliding window</vt:lpstr>
      <vt:lpstr>Throughput of sliding window</vt:lpstr>
      <vt:lpstr>Acknowledgements w/ sliding window</vt:lpstr>
      <vt:lpstr>Cumulative acknowledgements</vt:lpstr>
      <vt:lpstr>Cumulative acknowledgements (cont’d)</vt:lpstr>
      <vt:lpstr>Acknowledgements w/ sliding window</vt:lpstr>
      <vt:lpstr>Sliding window protocols</vt:lpstr>
      <vt:lpstr>Go-Back-N</vt:lpstr>
      <vt:lpstr>Sliding window with GBN</vt:lpstr>
      <vt:lpstr>GBN example w/o errors</vt:lpstr>
      <vt:lpstr>GBN example with errors</vt:lpstr>
      <vt:lpstr>Selective Repeat (SR)</vt:lpstr>
      <vt:lpstr>SR example with errors</vt:lpstr>
      <vt:lpstr>GBN vs. Selective Repeat</vt:lpstr>
      <vt:lpstr>Observations</vt:lpstr>
      <vt:lpstr>Components of a solution</vt:lpstr>
      <vt:lpstr>Summary</vt:lpstr>
    </vt:vector>
  </TitlesOfParts>
  <Manager/>
  <Company>UC Riverside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CS153: Lecture 3 - Processes</dc:title>
  <dc:subject/>
  <dc:creator>Harsha V. Madhyastha</dc:creator>
  <cp:keywords/>
  <dc:description/>
  <cp:lastModifiedBy>Hong Xu</cp:lastModifiedBy>
  <cp:revision>1402</cp:revision>
  <cp:lastPrinted>1999-09-08T17:25:07Z</cp:lastPrinted>
  <dcterms:created xsi:type="dcterms:W3CDTF">2014-01-14T18:15:50Z</dcterms:created>
  <dcterms:modified xsi:type="dcterms:W3CDTF">2025-09-28T01:34:20Z</dcterms:modified>
  <cp:category/>
</cp:coreProperties>
</file>
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4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5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56"/>
  </p:notesMasterIdLst>
  <p:handoutMasterIdLst>
    <p:handoutMasterId r:id="rId57"/>
  </p:handoutMasterIdLst>
  <p:sldIdLst>
    <p:sldId id="638" r:id="rId2"/>
    <p:sldId id="487" r:id="rId3"/>
    <p:sldId id="517" r:id="rId4"/>
    <p:sldId id="520" r:id="rId5"/>
    <p:sldId id="522" r:id="rId6"/>
    <p:sldId id="523" r:id="rId7"/>
    <p:sldId id="524" r:id="rId8"/>
    <p:sldId id="519" r:id="rId9"/>
    <p:sldId id="525" r:id="rId10"/>
    <p:sldId id="526" r:id="rId11"/>
    <p:sldId id="527" r:id="rId12"/>
    <p:sldId id="528" r:id="rId13"/>
    <p:sldId id="529" r:id="rId14"/>
    <p:sldId id="518" r:id="rId15"/>
    <p:sldId id="532" r:id="rId16"/>
    <p:sldId id="534" r:id="rId17"/>
    <p:sldId id="530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61" r:id="rId41"/>
    <p:sldId id="557" r:id="rId42"/>
    <p:sldId id="558" r:id="rId43"/>
    <p:sldId id="559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2" r:id="rId54"/>
    <p:sldId id="512" r:id="rId5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0000FF"/>
    <a:srgbClr val="D3A600"/>
    <a:srgbClr val="333399"/>
    <a:srgbClr val="FFCB05"/>
    <a:srgbClr val="FF9900"/>
    <a:srgbClr val="00274C"/>
    <a:srgbClr val="009900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89"/>
    <p:restoredTop sz="97097"/>
  </p:normalViewPr>
  <p:slideViewPr>
    <p:cSldViewPr>
      <p:cViewPr varScale="1">
        <p:scale>
          <a:sx n="127" d="100"/>
          <a:sy n="127" d="100"/>
        </p:scale>
        <p:origin x="21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8.xml"/><Relationship Id="rId2" Type="http://schemas.openxmlformats.org/officeDocument/2006/relationships/slide" Target="slides/slide47.xml"/><Relationship Id="rId1" Type="http://schemas.openxmlformats.org/officeDocument/2006/relationships/slide" Target="slides/slide46.xml"/><Relationship Id="rId6" Type="http://schemas.openxmlformats.org/officeDocument/2006/relationships/slide" Target="slides/slide53.xml"/><Relationship Id="rId5" Type="http://schemas.openxmlformats.org/officeDocument/2006/relationships/slide" Target="slides/slide51.xml"/><Relationship Id="rId4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6T02:46:43.79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22739 9753 8296,'-18'0'0,"2"0"0,4 0 0,1 0 70,-1 0 1,1 2 250,0 1 1,-2-1 98,-2 2 0,6-3 206,-3-1 258,9 0-661,-3 0 0,13-5 33,4-3 1,7-3 91,9-4 1,8-3-77,11-5 0,6 0-188,-22 12 0,1-1 1,0 1-1,1-1-180,2 1 1,1 0-1,0-1 1,1-1 65,2 0 1,0 0-1,0 1 1,0 0-225,4-2 0,0 1 1,-1 1-1,-1 1 172,0 2 0,0-1 0,-2-1 1,-1 1-113,-1 0 0,0 1 0,-4 0 0,0 0-79,25-10 0,-10 5-424,-9-1 1,-3 1 264,0-2 1,-7 4-24,-6-4 1,0 4 315,-7 0 1,0 1-1145,-3-1 1283,-6 1 0,-6 0 0,-6-1 0</inkml:trace>
  <inkml:trace contextRef="#ctx0" brushRef="#br0" timeOffset="1">23287 9045 8496,'5'-23'58,"-4"6"0,10-4 134,-4 6 0,0 0 272,0 4 364,-4 4-694,2 2 0,-12 6 70,-4 3 1,-7 4-294,-8 7 1,-4 4 15,-4 8 1,-9 2-60,-3 5 1,-3 6-91,24-20 0,0 1 0,-2 4 1,-1 0 170,-2 1 0,-1 1 0,-4 3 0,0 1 85,1 1 0,-1 1 0,0 0 0,1 0-23,1-1 1,1 1 0,1-1-1,1 1 145,3-2 0,1-1 0,3-1 1,1-2 74,-12 23 1,10-10 18,9-5 1,7-7 11,4-9 0,4-3 128,4-5 1,4 1-46,7-1 0,4-3 46,7 0 1,0-6-10,4 2 0,5-3-110,3-1 0,6 0-222,2 0 0,-1-1 471,5-3 1,-3-2-713,-1-6 0,4 1 45,4-1 1,-2 0-106,1-3 1,-4 1-230,5-5 1,-5 3-404,5-3 0,-8 5-1811,0-1 2694,-5 2 0,-6 3 0,1 3 0,-2 3 0,-2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6:15:25.640"/>
    </inkml:context>
    <inkml:brush xml:id="br0">
      <inkml:brushProperty name="height" value="0.053" units="cm"/>
      <inkml:brushProperty name="color" value="#FF0000"/>
    </inkml:brush>
  </inkml:definitions>
  <inkml:trace contextRef="#ctx0" brushRef="#br0">20237 8459 7853,'0'-17'0,"0"0"1423,0-1 0,-7 3 144,-5 4 1,5 11-1479,1 11 0,-2 4 70,3 3 0,-1 6-107,6 5 1,-2 11 0,-2 6-1,-2 4 77,2 1 1,-3 3-119,1 3 1,-7 2-148,1 4 1,-3 4-199,-2-4 1,5-3 130,1-3 0,-1-6-13,-5-5 1,6-11 22,-1-12-61,8-12 38,-11-3 0,13-18-203,-4-7 1,6-17 77,6-18 1,-2-7 145,7-10 0,1-2-82,5-3 1,-5-5-179,-1-6 0,1-1 790,5 0 1,-2 13-260,-4 4 1,5 14 742,-5 3 0,5 8-130,1 10 0,2 9 187,4 8 0,-4 7-259,4 10 1,-4 0-220,-2 0 1,6 0-262,0 0 1,8 6 87,-3 0 1,5 5-187,1-5 0,-5 5 3,0-5 1,-3 8-512,3-3 1,-4-1 29,-8 1 0,-2 0-161,-3 7 1,-4-1 214,-8 0 0,-2 2 103,-4 4 1,-6-2-30,-10 8 0,-5-1 70,-8 7 0,-7-1 178,-4 1 0,-1-1-68,1 0 0,-4 1 252,4-1 1,-2-1-51,2-5 0,6-3 358,12-8 1,3-5 388,8-1 338,7-7-210,2 4 0,16-8-391,3 0 1,10 0 142,2 0 1,2 5-256,-2 1 0,-2 6 237,8-7 0,-6 9-263,6-3 1,-3 3-558,3-3 1,4 4-330,-5-3 1,5 3-516,1 2 0,-1-5-1202,-5-1 1,7-5 1023,-1 5 1,-5-7-623,5 2 1,-5-4 325,0-2 1458,-5 0 0,1-8 0,2-1 0</inkml:trace>
  <inkml:trace contextRef="#ctx0" brushRef="#br0" timeOffset="1">20909 8545 7853,'9'-25'842,"-1"6"0,-8-6-296,0 8 0,0 6 202,0-1 0,-2 8-299,-4-1 1,2 3-175,-7 2 0,5 7-141,-5 5 0,5 5 78,-6 6 0,7 4-170,-7 7 1,8 6 51,-1 0 1,1 2-85,-2-2 1,4-3 42,-4 3 1,4 2-42,2-2 0,0 0 39,0-6 0,6-1 106,0-4 1,2-1-12,-3-11 1,-1 3 204,8-15-50,-1 1 0,6-10-87,1-7 1,-1-5-73,0-18 1,0 2 60,0-14 0,1 2-336,-1-2 1,-2-2 97,-3 8 0,3 0-268,-4 6 1,-1-1 36,1 1 1,-5 7-413,6 4 206,-9 4 293,5 2 0,-6 7 134,4 5 0,-4 5-85,3 5 0,3 5 770,-2 7 0,5 6 95,-5 0 0,2 13 419,-3-1 0,3 5-322,3 0 1,-1-4-370,-4 4 0,1-2-21,5 2 1,3-3-177,-3 3 0,3-11-78,2-7 1,0-2 49,1-3 1,-1-8-153,0-3 1,0-6 124,0-6 1,1-11-330,-1-12 1,6-11-1297,0-5 0,0 1 741,-6-2 0,0 0-1349,0-6 1,-1 3 1028,-5 3 1,4 4-666,-3 7 1,-3 9 807,3 3 0,-3 9-737,3 3 1587,-4 7 0,-1-4 0,3 8 0</inkml:trace>
  <inkml:trace contextRef="#ctx0" brushRef="#br0" timeOffset="2">21907 8528 7853,'-18'0'1626,"7"0"-894,-1 0 1011,1 0 1,-6 0-838,0 0 1,7 2-362,4 3 1,-3-1-176,-3 8 1,5-1-345,1 6 0,-2 2-61,2 4 1,-1 4-76,1 8 1,-2 5 40,-3 0 1,-4 8 147,3-3 1,-3-1-502,-2 2 0,0-8 65,-1 2 0,7-5-582,-1-6 1,9-5-169,-3-6 314,4-9 1,2-5 262,0-16 0,0-1 90,0-16 1,8-7 120,3-10 0,4-3 94,3-3 0,-1 0 115,0 1 0,0 1-102,0 4 0,-1 4 377,-5 8 0,4 0-176,-3-1 0,-3 8 1346,3 5-598,-8 2 0,9 9 350,-7-1 1,0 11-369,-6 1 1,5 1 162,1 11 1,2-1-159,-3 7 0,-3 5-299,4-1 0,2 9-88,-3-2 0,9-3-112,-3 3 0,-3 0 63,-2 5 1,1 1-25,-1-1 0,6 6 79,-7 0 0,7-2-20,-6-9 1,1 2 179,-1-9 1,2 1-67,3-5 0,4-3-173,-3-4 0,-3-5 165,3-12 0,-1-5-82,7-12 0,-1-10-189,0-7 1,0-9-278,0-3 0,1-1-472,-1-10 0,0 9-947,0 3 1,-5 1 759,-1 10 0,-1-4-1056,1 9 1,3 5 22,-9 13-1142,9-1 1484,-5 1 318,8 8 0,1 1 516,-1 8 0,-6 0 635,1 0 0,-1 0 0,6 0 0</inkml:trace>
  <inkml:trace contextRef="#ctx0" brushRef="#br0" timeOffset="3">22543 8373 7853,'10'0'3254,"-2"0"-630,-8 0 549,0 0-2396,0 8 0,-6-4-389,0 7 1,0 0-290,6 7 1,-5 1-170,-1 4 1,-2 3 89,3 9 0,1 7-173,-8 4 0,6 3 13,-5 3 0,1 0 94,-1-1 0,-2-1-741,7-4 1,-6-1 312,7-10 0,-1 1-589,6-13 1,-2-2-125,-4-9 326,4-5 1,-5-11 91,7-7 0,0-4-92,0-20 1,0 1 87,0-18 1,0-3 772,0-14 0,-8-7 0,-2-3 0</inkml:trace>
  <inkml:trace contextRef="#ctx0" brushRef="#br0" timeOffset="4">22371 8339 7853,'0'-27'0,"0"8"703,0 7 0,0 1 374,0-6 1,0 5 2141,0 1-1076,8 7 1,1-4-1107,9 8 1,7 0 606,3 0 0,5 0-815,1 0 1,8 8-174,4 3 0,2 7-263,-2 5 1,-4-2-167,-8 7 1,1 1-154,-1 5 1,-1 1-202,-5-1 0,-3 0-13,-8 1 0,-7-1-203,-4 1 0,-6-3-444,-6-3 0,-11 3 307,-12-3 1,-13 3-1044,-10 3 0,-7-1 735,-10 0 1,-2-5-746,-3 0 1,3-8 300,-3 2 0,12-12 1232,11-5 0,1-4 0,14-2 0,9 0 0,10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7T07:46:25.341"/>
    </inkml:context>
    <inkml:brush xml:id="br0">
      <inkml:brushProperty name="height" value="0.053" units="cm"/>
      <inkml:brushProperty name="color" value="#FF0000"/>
    </inkml:brush>
  </inkml:definitions>
  <inkml:trace contextRef="#ctx0" brushRef="#br0">17691 6808 7853,'-18'-34'346,"1"0"1,-2 7 227,-4 4 0,2 6 0,-10 5 0,-5 7 0,-10 3 771,-9 2 1,1 15 0,-3 10 0,3 11-125,3 10 0,-3 7 1,1 9-115,1 6 0,4 7-886,14-1 1,1 3 210,5 3 0,5 2-381,11-7 1,8-3-288,16-9 0,3-11-1046,20-12 0,-3-6 764,14-5 1,0-6-1883,5-12 1,3-5 1167,3-12 0,10-5-749,8-12 0,-3-4 1981,-8-7 0,2-6 0,-2 0 0,3 2 0,1 1 0</inkml:trace>
  <inkml:trace contextRef="#ctx0" brushRef="#br0" timeOffset="1">17983 6998 7853,'-8'-33'424,"-3"4"0,-4-1 1,-3 7-1,1 2 1329,0 2 0,6 4 595,-1 3 1,6-1-57,-5 7-103,7 0-1782,-4 6 1,10 8-508,4 3 1,2 7-56,3 5 1,10-2 197,-4 7 1,4 1-258,-3 5 1,-1 6 206,0 0 0,-2 2-101,-3-1 1,3 1-104,-3 3 1,-3-1 359,3-3 1,-3-5-21,3 4 1,1 2 46,-7-2 0,7-7-143,-1-11-154,3-10 1,8-6 66,0-12 1,-2-11 117,-10-12 1,5-3-264,-5-3 0,2 1 46,-1-1 0,1-7-513,-7-3 1,2 1 238,-3-2 0,-3 2-340,4-2 0,-4-2 273,-2 8 1,0 2 166,0 9 1,0-1 329,0 7 1,-2 6-170,-4 5 165,4 8 0,-5-1-69,7 10 1,7 5 957,5 7 0,3 2 150,2 4 0,1 4 524,-1 7 1,6 1-798,0-1 1,5 0-33,-5 1 1,8-1-294,-2 1 1,-3-9-172,3-3 1,-2-4-364,2-1 0,7-9 139,-7-3 1,7-6-289,-7-6 0,-3-11-287,3-12 0,-8-5-740,2-6 1,-4 3-390,-2-3 0,1 6 306,-1 5 1,-8-1-753,-3 7 1,2 6 88,-3 5-829,1 8 2845,-6-3 0,0 14 0,0 3 0</inkml:trace>
  <inkml:trace contextRef="#ctx0" brushRef="#br0" timeOffset="2">19377 6671 7853,'2'-17'1688,"4"0"0,-4 5 112,3 1 3111,-3 7-3433,-2-4 1,-2 8-386,-3 0 0,3 8-807,-4 3 0,-4 12-61,-1 6 0,1 3-647,-1 3 1,-1 7 329,-5 4 1,-2 5-375,-4 6 1,4-3 363,-4 3 1,4 2-777,2-1 0,-1-7-136,1-5 0,2-9-71,3-3 0,5-13 60,7-10 0,0-9 484,0-2 0,7-11 16,5-18 1,3-1 132,2-16 1,6 2-13,0-2 0,-2-2 84,-9 8 1,3-2 287,-3 2 1,1 4-3,-2-4 1,3 5 138,-8 7 0,5-3 582,-5 8 0,1 0-106,-1 6 790,-4 0-465,6 7 515,-1 3 0,-3 14-694,8 5 1,-8 5 840,1 6 0,3 5-765,-2 13 1,-1 2 341,-5 9 1,6 0-411,0-1 0,2 1-146,-3-1 1,-1 1-191,8 0 1,-7-10-400,7-8 0,-1-2 0,6-9 0,1-7 0,-1-11 0,8-7 0,3-9 0,5-16 0,1-19 0,3-11 0,3-6 0,-4-6-1328,4-5 1,2-3-1490,-2-3 0,-1 6-147,-11 11 1,-3 11 282,-8 12 2681,1 4 0,-9 5 0,-3 8 0,-4 8 0</inkml:trace>
  <inkml:trace contextRef="#ctx0" brushRef="#br0" timeOffset="3">20289 6705 7853,'0'-13'540,"0"-4"1,0 9 0,-2-7 0,-2 3 2883,-1 3 0,-9 5-2427,3-2 1,1 4-298,-1 2 1,1 8-275,-1 3 1,-5 12-436,5 6 0,1 4 3,-1 1 0,1 8 69,-1 4 1,-3 11-423,9 6 0,-7-4 279,6-1 0,-5-3-1065,5 2 1,1-3 403,5 3 0,0-13-561,0-10 0,0-7 613,0-10 1,1-7-515,5-4 1,-2-6 297,7-6 1,1-13-46,5-16 1,-5-8 949,-1-15 0,-1-3 0,1-8 0,-3 8 0,-8 4 0,6-2 0,-1 1 0,1 3 393,-6 9 1,0-2-253,0 8 0,-2 6 2040,-4 5 1,4 8-188,-3-2 1,5 6 86,5 6 1,5 1-565,7 4 1,2 4-818,4-3 1,4 3-448,7 2 1,3 6-29,3-1 0,-2 14-345,8-1 0,-8 4 179,2 1 1,-5 4-367,-6 8 0,-5 1 125,-6 4 1,-9 4-192,-3 7 0,-12 5 2,-5 7 1,-20 0-137,-9 11 1,-15-3-462,-9-2 1,28-34-1,-2 1 654,-2 1 1,0 0 0,1-5 0,1-1-240,1 1 0,-1-1 0,-28 17 28,8-8 0,5-13-663,18-10 1,5-9 562,12-14 1,9-13-1985,3-16 2609,12-7 0,3-9 0,9-1 0</inkml:trace>
  <inkml:trace contextRef="#ctx0" brushRef="#br0" timeOffset="4">20995 6980 7853,'-8'-11'1057,"-4"-1"0,3 3 3146,-3-3 1,9-3-2326,-3 4-715,12 3 0,5-7-500,12 3 1,6-1-275,11 2 0,2-5-1568,4 5 0,2-3 765,-8 3 0,6 3-1629,-6 8 0,6 0 1251,-6 0 1,-2 4-1825,-9 8 1,-6 1 327,-12 16 2288,4-1 0,-13 7 0,6-1 0</inkml:trace>
  <inkml:trace contextRef="#ctx0" brushRef="#br0" timeOffset="5">21149 7187 7853,'-26'0'0,"1"0"2667,8 0 1,5 0 2777,1 0-1860,7 0 1,-2 0-2165,12 0 1,5 0-1410,12 0 0,4 0-12,7 0 0,7-6 0,-1 0 0,8-1-1989,-3 1 1,7 4 253,5-4 1735,-11 4 0,12-5 0,-14-3 0</inkml:trace>
  <inkml:trace contextRef="#ctx0" brushRef="#br0" timeOffset="6">22148 6894 7853,'0'-26'932,"0"-5"1,1 8-1,3 2 1243,2 2 0,7 2-1171,-1 0 1,3 0 77,2-1 1,1 3-464,-1 4 0,2 1-196,4 4 1,-2 4-463,8-3 0,-6 10 90,5 7 0,-5 5-535,6 6 0,-8 4 376,2 7 1,-4 2 226,-2 5 0,-5-3-212,-1 8 0,-1-1-448,1 7 1,-1-6-66,-5 0 0,-3-6-98,4 6 1,-2-8 141,2 2 0,-4-6-209,3-5 546,5-4 0,-1-16 1663,9-3 0,-1-8-1140,0-9 0,2-5-298,4-18 0,-2 2 0,8-14 0,-6-2-5380,5-9 3579,-7-4 1,10-6 190,-8 4 1216,0 3 0,-8 9 394,-3-1 0,1 8-139,-7 4 0,0 6 139,-6 5 0,-2 4 395,-4 8 1,-2 6 95,-3-1 1,-4 8 568,3-1 0,2 3 140,-1 2 1,0 0-188,-7 0 1,1 6-155,0-1 0,0 9-354,-1-3 0,-4 4 549,-1 3 1,-8 1-496,2 4 1,-11 5-497,-6 12 0,-3 6-625,-3 12 1,2-3-892,4 8 0,4-2-1760,8 2 0,1 2 3213,5-8 0,1 3 0,8-7 0,2-1 0,3-5 0</inkml:trace>
  <inkml:trace contextRef="#ctx0" brushRef="#br0" timeOffset="7">16262 8940 7853,'0'-17'226,"-6"-2"0,1-2 0,1-2 0,2 2 1335,2 2 0,2 2-687,4 0 0,3 0-152,8-1 0,3 3 321,2 4 0,0-3-482,6 8 1,3-5-212,9 5 1,-4 1-384,4 5 0,-3 1 124,-3 5 1,1 9-309,-1 8 0,-5 8 227,-1-2 1,-7 5-436,2 6 0,-4-2 47,-1 8 0,-7-6-62,1 6 1,-7-6-192,7 6 0,-8-8 198,1 2 1,-3-5-174,-2-7 0,0-3-176,0-8 105,0 1 1,2-9 235,4-3 1,-2-12-394,7-5 1,1-14 212,5-9 1,0-3 148,0-9 0,1-1 472,-1-11 0,0-3 0,0-8 0</inkml:trace>
  <inkml:trace contextRef="#ctx0" brushRef="#br0" timeOffset="8">16985 8769 7853,'-8'-18'7,"-3"1"0,1-2 41,-1-4 1,7 4 315,-2-4 1,4 4 204,2 2 0,0-6-32,0 0 0,6 0 118,0 6 0,1 2 695,-1 3-498,-4-3 101,6 5 0,-10 8-413,-4 8 1,-3 9-14,-9 8 1,-5 4-380,0 7 0,-9 8-427,-2 4 1,-3 4-758,-9 2 1,0 5 489,-5 0 0,1 6-1714,4-6 1,-2 3 169,8-3 2090,0-11 0,6 11 0,-1-13 0</inkml:trace>
  <inkml:trace contextRef="#ctx0" brushRef="#br0" timeOffset="9">17295 8889 8749,'-10'0'2287,"3"0"-1633,7 0-204,0 0-400,-8 0-77,6 7-202,-6-5 12,8 6 289,0-8-252,-7 0-40,5 0 385,-6 0 0,6 0 194,-4 0 362,5 0-64,-7 0 392,8 0-42,0 0-219,0-8 129,0 6-261,0-5-542,0 7 1,2 0 262,4 0-510,-5-8-191,7 6-312,0-5 49,-6 7-2,5 0 1,-7 2-432,0 3 681,0-3 0,0 8-955,0-5 461,0-3-629,0 14-252,0-14 1714,0 5 0,0-7 0,0 0 0</inkml:trace>
  <inkml:trace contextRef="#ctx0" brushRef="#br0" timeOffset="10">17794 8528 7853,'-8'-17'284,"0"-1"1,-5 1 0,4 0 997,1 0 0,0 2 840,2 3-964,5-3 1000,-7 13-988,8-6-736,0 8 1,0 8-172,0 3 1,0 7-168,0 4 1,-6 7-56,0 11 1,-7 4-274,2 8 0,-5-1-82,-1 1 0,0 0 233,0-1 0,1 6-1219,5 1 0,-2-1 543,7-5 1,0-3-615,6-3 1,0-6-21,0-11 436,0-4 1,8-16 281,3-3 0,4-6 248,3-6 0,-3-9 425,-4-8 0,5-8 0,1 5 0,10-9 0</inkml:trace>
  <inkml:trace contextRef="#ctx0" brushRef="#br0" timeOffset="11">17949 8734 7593,'0'-11'2910,"0"-1"-1227,0 8 973,0-3-1814,0 7 1,-6 7-172,0 5 0,0 3-255,6 2 0,0 1-139,0-1 0,0 0-232,0 0 1,0-5 258,0-1-246,8 0 0,2 1-98,7-1 1,0-7-269,0 2 0,0-10-134,1-2 0,5-13-504,0 2 1,0-6-213,-6 0 0,-2-2 500,-3-3 1,-5-5-48,-7 5 1,0 1 276,0-2 1,-2 10 172,-3 2 0,-5 2-20,-7 9 0,0-6-86,-1 7 1,3 1-680,4 10 638,-5 3 0,14 8 22,-3 1 1,5-3 379,5-4 0,5 5 0,7-5 0,2 2 0,4-1 0,-2 3 0,8-3 0,-6-3 0,6 3 0,-7-3-57,7 3 1,-8 1 16,2-7 0,-2 0 7,2-6 99,-4 0 0,6 0 163,-8 0 2914,0 0-1386,1 0 1293,-9 0-2248,-1-8 0,-8 4 65,0-7-722,0 7 174,-8-4-344,-1 8 0,-3 0 108,1 0 0,7 2-195,-2 4 1,4-2 22,2 7 1,0-5-225,0 5 296,0 1 1,6 5 71,0 0 1,7-5 227,-1-1 0,3-5-67,2 5 0,0-1-139,1 1 0,-7-1 107,0-5 0,1-3-391,5 4 0,-5-4 13,-1-2-319,1 0 1,3-8-458,-4-3 337,-3-4 1,-8-3-5,0 1 1,0 0 231,0 0 0,-2 0-50,-4 0 0,3 1 94,-9 5 0,6-5 238,-5 5 0,5 3-301,-5 3-12,7-5 0,-4 6-225,8-7 129,0 7-69,8-4 53,1 8 259,9 0 0,-7 6 289,1 0 0,-9 0 0,13 1 0,-7 3 0</inkml:trace>
  <inkml:trace contextRef="#ctx0" brushRef="#br0" timeOffset="12">18895 8769 17391,'-9'0'834,"1"0"0,6 5-372,-4 1-246,4 7 0,-5-1 199,7 11 1,0-4-201,0 4 0,0 2-175,0-2 1,7-1 257,5-4 1,3 3-89,2-4 1,6 2-266,0-13 0,8-1 125,-3-5 0,5-3-589,1-9 1,-1-1 290,-4-16 0,1 2-485,-7-1 1,-6-5 172,-5 5 1,-8-3 5,1 2 1,-12 5-424,-10 6 1,-8 3 425,-10 4 0,1 3-334,-1 8 1,1 0 33,0 0 831,7 8 0,-6-7 0,7 7 0</inkml:trace>
  <inkml:trace contextRef="#ctx0" brushRef="#br0" timeOffset="13">19566 8958 7975,'0'-12'4863,"0"1"-6,-7 7-2544,5-4-2191,-6 8-9,8-7-1167,0 5-1599,0-6 2653,8 8 0,1-8 0,8-1 0</inkml:trace>
  <inkml:trace contextRef="#ctx0" brushRef="#br0" timeOffset="14">20186 8975 7975,'9'-27'308,"7"-5"0,-5 3 0,4-4 787,3-1 0,1-8-674,4-4 0,-4 2-554,4-2 0,-6 6 186,-6-6 1,3 8-203,-8-2 1,-1 6 172,-5 5 0,-7 6-358,-5 12 0,-11 3 175,-5 8 1,-5 0-9,-1 0 1,-1 13 398,1 5 0,-6 8 190,-1-3 1,3 8 671,10-2 1,-3 3-453,8 2 0,0-5 352,6 0 0,7-3-407,5 3 1,3 4-88,2-5 1,0-3-30,0-2 0,2-2 94,3 2 1,-1-4-246,8 4 1,-3-4-97,3-2 1,3 0-91,-4 1 1,5-1-156,1 0 1,0-2-563,0-3 1,1 3 411,-1-3 1,0 3-667,0 2 0,0 0 338,1 0 1,-3 2 24,-4 4 0,3-7-67,-9 7 1,1-8 21,-6 8 0,0-4 87,0-2 0,-9 0 148,-9 0 1,-1-1-68,-9-5 0,-1 3 113,-5-9 0,-1 1 173,1-6 1,5 0-102,0 0 0,10-9 262,2-9 0,7-7-65,10-9 0,0-8 68,0-4 0,14-2 306,3 3 0,12-5-191,-1 4 0,5-2-424,1 2 1,6 4 110,1 8 0,8 0-1293,3-1 0,-2 3 87,1 3 1160,1 4 0,-8 8 0,8 0 1</inkml:trace>
  <inkml:trace contextRef="#ctx0" brushRef="#br0" timeOffset="15">15591 9800 7953,'-17'-27'0,"-2"3"394,-4 6 0,9 1 0,-1 0 0,4 2 2201,1 3-1842,6-3 0,-3 11-302,7-7 0,7 7 65,5-2 1,5-2-131,6 3 1,0-1 268,11 6 1,-3-6-224,9 1 0,4-1 206,2 6 1,5 0-198,7 0 0,-3 0-38,8 0 1,6 0-261,6 0 0,9 6 92,2-1 1,6 9-475,-44-9 1,1 1-1,5 1 1,-1-1 268,-1 0 1,0 0 0,5 2 0,2-1-268,1-1 1,1 0 0,-1-2 0,0-1 135,3 1 1,0-2 0,2-1-1,0 0-363,1-1 1,0 0 0,3 0 0,0 0 153,3 0 0,-1 0 1,-4 0-1,0 0-181,2 0 0,0 0 1,-5 0-1,0 0 390,2 0 1,0 0 0,0 0 0,0 0-18,3 0 0,0 0 0,-4 0 1,0 0 117,-2 0 0,0 0 0,-5 0 0,0 0-180,0 0 1,-1 0 0,-2 0 0,-1 0 63,4 0 1,-1 0-1,-7 2 1,-1 2 58,0-1 0,0-1 0,46 4-285,-3-6 1,-2 6-27,-10 0 1,-3-1-145,-8-5 0,-1 0 96,1 0 0,-7 0 486,-5 0 1,-4 0-411,-1 0 1,-6 0 599,0 0 1,-10 0-670,-1 0 0,-9-5 386,-8-1 1,-3-2-1106,-4 2 1228,5 5 1,-14-15-1,5 7 1</inkml:trace>
  <inkml:trace contextRef="#ctx0" brushRef="#br0" timeOffset="16">17295 10247 7987,'-8'-11'1008,"-3"-1"1,-10 8 0,-2-1 0,2 3 736,1 2 0,9 0-723,0 0 0,-1 7-425,-5 5 1,2 3-160,3 2 0,4 0-165,8 1 0,0-1 132,0 0 1,6 6-130,0 0 0,7-6 316,-1-5 0,3-3-200,2 3 1,0 1-376,1-7 0,-1-1 50,0-5 1,0 0 185,1 0 1,-1-7-354,0-5 1,-2-9 131,-3-2 1,-5-5-1141,-7 5 1,0-8 477,0 3 0,0 1-1141,0-2 1,-5 6 549,-1-5 0,-9 9-1011,-3 1 1745,1 1 0,-8 15-922,8-4 1,6 6 1408,-1 6 0,8 11 0,-3 10 0</inkml:trace>
  <inkml:trace contextRef="#ctx0" brushRef="#br0" timeOffset="17">17587 10557 7987,'0'-12'1478,"0"1"0,0 5 356,0-6 1467,0 9-2577,0-13 1,0 13 146,0-9-1962,0 8 875,8-3-1368,1 7 0,1 7 257,-4 5 0,-4 3-352,-2 2 0,0 6 1001,0 0 1,2 6 677,3-6 0,-3 7 0,6-3 0</inkml:trace>
  <inkml:trace contextRef="#ctx0" brushRef="#br0" timeOffset="18">18069 10092 7987,'0'-17'3309,"0"0"-315,0 0 466,0 7-1891,8 3 1,-1 9-828,5 3 1,-4 5-574,-8 7 0,0 10 84,0 7 1,-2 4-784,-4 14 1,-4-4-140,-7 9 1,-2 2-410,-4-1 0,2 6-320,-8-1 1,8-3-3797,-2-3 5031,4-3 1,2-3-1,0 1 1</inkml:trace>
  <inkml:trace contextRef="#ctx0" brushRef="#br0" timeOffset="19">21046 9542 9177,'-17'-17'744,"6"6"0,-1 1 1175,-1 2 1642,5-5-2299,0 11 1,18-7-110,7 3 1,2 4-821,10-4 1,5 4-87,7 2 1,4 0-638,-4 0 1,4-6 304,-4 1 1,6-1-453,-1 6 0,4 0 431,2 0 0,-3 0-2150,-3 0 0,2 6 379,-8-1 1,-2 3 324,-9-2 0,-4 2 1552,-8 3 0,-7 12 0,-3-4 0</inkml:trace>
  <inkml:trace contextRef="#ctx0" brushRef="#br0" timeOffset="20">21098 9938 7934,'-17'0'5094,"-6"0"-1941,0 0-1802,7 0 0,11 2-333,10 3 0,20-3-476,15 4 1,10-4-756,8-2 0,-3 0 212,8 0 0,-2 0-2443,2 0 0,-3 0 471,-9 0 1878,1 0 0,-8 0 0,-2 0 1</inkml:trace>
  <inkml:trace contextRef="#ctx0" brushRef="#br0" timeOffset="21">22698 9456 7934,'0'-23'237,"0"0"1,0-5 0,0 5 0,0 2 886,0 2 0,0-4-572,0 0 0,0 0 216,0 6 0,0 5 238,0 1 1715,0 7-1864,0-4 1,-2 16-158,-3 3 1,3 14-239,-4 10 1,-2 7-14,3 9 1,-9 8-33,3 5 0,-5 2-197,-1 3 0,0 0-788,0 0 0,0-6 479,-1 0 1,3-2-12,4 2 1,-3-10-595,8-7 0,-1-13-2435,1 1 923,4-11 0,-4-6 1169,12-11 1,-2-6-2023,7-6 3059,1-3 0,5-24 0,0-3 0</inkml:trace>
  <inkml:trace contextRef="#ctx0" brushRef="#br0" timeOffset="22">23077 9714 7934,'-23'-15'782,"0"3"1,0 5-1,6 5 248,0-4 0,-1 6-142,1 0 0,2 10 56,3 13-472,-3-4 0,13 6-12,-4-8 1,5 6-59,1 0 0,7 5-17,5-5 1,3 6-116,2-6 1,2 0-169,4-6 1,-2-6 87,8 1 0,-2-8-391,1 1 0,3-3 218,-8-2 1,2-6-208,-2 1 1,-10-9 133,4 3 0,-9-4-585,3-3 0,-7 1 38,2 0 0,-12 0-156,-5 0 0,-6-1-405,-6 1 0,2 0 546,-8 0 0,8 5-739,-2 1 1,4 1 151,2-1 1205,-1-4 0,1 5 0,0-7 0</inkml:trace>
  <inkml:trace contextRef="#ctx0" brushRef="#br0" timeOffset="23">23748 8837 7934,'0'-17'265,"0"-6"0,0 0 0,2 4 668,4 6 0,-4-3 628,3 5-652,-3 3-263,-2 1 1,-2 11-210,-3 7 0,-11 2 237,-7 16 0,-2 5-110,2 7 0,-1 12 83,-5-1 1,-7 11-49,7 0 1,-5-4-71,11-2 1,0 1-154,5-7 1,9 3-157,3-14 0,4-2-425,2-9 1,2-6 239,4-12 1,11 2-266,12-7 0,-2-8-275,1-9 1,-1-10-669,2-2 0,1-8 362,-7 3 0,0-5-306,-6-1 0,1 5 418,-1 0 1,-8 3 302,-3-3 0,-4-2-576,-2 8 585,0 1 1,-10 6-34,-7 5 0,-2 3-218,-10 8 0,6 14 638,-5 3 0,-1 11 0,-5-1 0</inkml:trace>
  <inkml:trace contextRef="#ctx0" brushRef="#br0" timeOffset="24">21597 10866 8529,'-17'-25'186,"7"0"0,6-3 0,12 5 1449,15 4 0,21 9-1481,25 4 1,26 12 0,-35-1 0,3 0 159,8-1 1,3 1-875,9 3 0,2 0 0,6-4 0,2 1 638,-29 0 1,1 1-1,1 0 1,0 0-1,1 1 1,1-1-80,2 2 0,1-1 1,0 1-1,1 1 1,1 0-1,0 0 33,3 2 0,1 1 0,-1-1-1530,-3 1 1,0 0 0,-1-1 1497,0-2 0,-1-1 0,0 2 0,-1 2 0,-1 1 0,-1 0 0,-2-2 0,1-1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7T07:46:26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4715 15457 8240,'-7'-44'0,"-3"7"0,-9 11 0,-2 3 1694,-2 7 1,-10 1-1,-1 9-209,-10 3 1,-8 10-274,-5 10 1,-4 10-37,-8 13 0,0 12-1007,0 11 0,8 10 329,4 1 1,5 6-259,6-5 0,8 3-349,15-9 0,8-4 90,15-14 0,9-5-118,9 0 181,6 0 0,11-2-911,-1-4 1,1-11 21,-1-6 1,8-4-219,4-2 0,4-8 399,1-3 0,1-4 338,0-2 0,1-15-517,4-8 1,5-10 324,7-7 1,-6-4-130,0-7 0,0-3 239,6-3 0,-14 5 283,-3 1 1,-6 1-2,-1 10 0,-8-6 105,-8 6 1,-10 2-35,-2 9 0,-8 4 194,-9 8 866,-7 8 0,-9 1-490,-6 8 1,-3 0 905,2 0 1,2 8 21,-8 3 0,8 6-180,-2 6 0,10-4-453,1 4 1,3-2 173,-3 2 1,4-4-22,8 4 1,8 2-381,4-2 0,3 6-194,2-6 1,8-1-289,4-4 1,9-7-102,2 1 0,8-9 0,-2 3 0,2-6-122,-3-6 0,3-11-778,-8-11 0,1-11-905,-7-1 0,-7-6 286,-4 6 0,-12-6 736,-5 6 0,-12-6-1003,-5 6 1,-14-6 868,-10 6 1,-1 0-891,-10 6 0,2 1 270,-2 5 1537,4 3 0,8 0 0,-1-2 0</inkml:trace>
  <inkml:trace contextRef="#ctx0" brushRef="#br0" timeOffset="1">5834 15715 8240,'-25'-18'435,"6"1"0,-2 0 0,5 0 1569,5 0 0,1 5 2,-1 1 1,-2-1 636,7-5-1997,0 0 1,6 0-1404,0-1 1,6 7 156,0-1 0,7 7-824,-2-7 1218,5 8 0,1-3-155,0 7 1,-5 2 20,-1 3 1,-7 7-171,2 11 1,-4 4 1030,-2 7 0,0 0-350,0 1 1,0 5 635,0 0 0,0 6-320,0-6 1,0 0 149,0-6 1,0-5-105,0 0 0,1-2-181,5 1 1,-2-5-87,7-11 0,-5 1 0,6-7 1,-1-1-195,6-5 0,-5-3 134,-1-9 1,1-1-289,5-16 0,-2 6-49,-3-5 0,1 5-1,-7-6 0,5 0-52,-5-5 1,6 5-253,-7 1 0,7 5 1,-6-6 0,7 6 178,-2-6 1,5 8 287,1-2-187,0 4 1,0 10 533,0 3 0,-5 6-237,-1 6 1,-5 5-407,6 12 0,-9 4-330,3 7 1,-2 6-489,2 1 0,-2-7-826,7-5 0,2-3 937,10 3 1,-3-4-770,2-8 1,5-7 1740,2-5 0,3 5 0,3-1 0</inkml:trace>
  <inkml:trace contextRef="#ctx0" brushRef="#br0" timeOffset="2">6694 15818 8240,'8'-18'0,"-6"-4"937,3-1 0,-1-8-304,2 2 0,-2 1 46,7-7 1,-1 5-201,1-10 1,3-2-351,-9 2 0,7-6 121,-6 6 1,-1-1-261,-5 7 0,0 5-876,0 1 0,-1 12 555,-5-1 0,-6 12-400,-11-1 0,2 6 281,-7 6 0,5 5 620,-6 12 0,6-2-243,-6 8 0,8-1 949,-2 7 1,4-1-472,2 0 1,8 1 1037,3-1 1,4 1-555,2-1 1,2-7-216,4-4 1,3 1-83,8-1 0,-3-2-80,3-9 1,-4 1-8,10-7 0,-9 5-156,-3-5 1,1 2 245,5-2 1,-8-3-6,-3 9 1,2-6 24,-3 5 1,1 6-382,-6 6 0,0 10-191,0 1 0,0 2-23,0 10 0,0 8 98,0 9 0,-6 11-1158,1 6 0,-7 6 309,6 6 1,-7 2-51,8-46 1,-1 1 0,-4 1 0,-1-1-589,-12 43 1,-2-2-73,2-10 1,4-1 549,-4-16 891,4-8 0,9-19 0,1-3 0,-5-7 0,-5-1 0</inkml:trace>
  <inkml:trace contextRef="#ctx0" brushRef="#br0" timeOffset="3">7038 15766 8240,'-17'-8'7826,"9"7"-6776,8-5 0,10-2 225,13 2 1,6-5-588,11 5 0,-2-7 19,8 1 1,-2-3-260,2-2 0,4-6-143,-5 0 1,5-6-40,2 7 1,-8-7-17,-4 6 1,-6-6-562,-5 6 0,-4-5 287,-8 5 1,-7 0-1214,-5 6 1,-5 1 503,-5 5 0,-7-2-478,-11 7 0,-4 0 395,-7 6 1,-8 2 147,-4 4 1,-4 5 726,-1 12 0,1 2-88,4 4 1,-2 3 869,8-3 1,0 3-548,6 3 0,1 5 528,4 0 0,6 2-64,12-2 1,3-2 204,8 8 1,2-6-957,4 6 0,5-10-733,12-1 0,6-1-550,11-5 0,-2-6 703,8-6 0,0-2-459,6-9 1,0 0 375,-1-6 0,3-2-294,3-4 1,-3-6 188,3-10 1,4-5-1,2-8 1,2-7 443,-2-3 0,4-5 0,-6-2 1</inkml:trace>
  <inkml:trace contextRef="#ctx0" brushRef="#br0" timeOffset="4">8088 15525 8240,'-17'-17'886,"0"0"0,7 0-302,4 0 0,4-1-643,2 1 1,0 0-161,0 0 1,2-2-173,4-4 1,4 4-877,7-4 0,0 4 36,0 2 1231,8-1 0,-6 3 0,4 4 0,-11 3 0,-5 10 0,-7 4 0,0 3 311,0 8 1,0 1 234,0-1 0,-7 6 614,-5 0 0,3-1-316,-3-4 0,6-1 239,-5 0 0,5 0 1237,-5 0-1700,-1 1 0,-5-1-16,0 0 0,2 0-185,3 0 1,-3-5 55,3-1 0,-3 1 443,-2 5-751,0 0 0,1 0-289,5 1 0,-3-7 205,9 0 1,-1 1 171,6 5 0,8-5-40,3-1 0,6-5 297,6 5 1,-2-1-269,8 1 0,-6 5 164,6-5 1,-6 2-222,5-1 1,-7 3-422,2-3 0,2 1 113,-2-2 0,0 5-345,-6-5 1,-2-1-217,-3 1 429,3-7 1,-13 6 41,4-5 0,-6-1 55,-6 8 0,-11-1-567,-12 6 0,-5 2-523,-6 4 1,-2 2-851,-4 4 1,-2 3 2095,8-3 0,-8 3 0,4 3 0</inkml:trace>
  <inkml:trace contextRef="#ctx0" brushRef="#br0" timeOffset="5">9052 15388 8240,'-8'-17'1003,"-3"-1"0,1 1 640,-1 0 1,5 2 1033,-6 3-1794,9 5 214,-5 7 0,2 9-438,0 8 1,-5 10-476,5 13 0,-7 6 67,1 11 0,-5 7-490,-6 10 0,4-1 129,-4 7 0,4-2 311,2 2 1,7-5-887,5-12 0,3-6 70,2-11 0,0 0-2759,0-12 1,7-11 1776,5-17 1,5-4-341,6-2 1937,-4-8 0,14-9 0,-7-10 0</inkml:trace>
  <inkml:trace contextRef="#ctx0" brushRef="#br0" timeOffset="6">8690 15835 8240,'-42'0'0,"2"0"4824,0 0-1464,0 0-1866,28 0 0,-1-2-366,19-4 1,5 2 405,12-7 0,6 5-788,11-5 1,-2 1-254,8-1 1,-6-5-231,6 5 0,-2-2-13,2 1 1,-2-1-190,-4 7 0,-4-5-285,5 5 0,-5 0-295,-2 6 0,-5 0 246,0 0 1,-8 0-901,2 0-240,-4 0 927,-2 8 0,-7 1 372,-5 9 1,-3-7-156,-2 0 0,0 1 321,0 5 0,0 0-73,0 0-547,0 1 1,0 1-33,0 4 1,6-4-144,0 4 1,-1 2 218,-5-2 0,0 7 109,0-1 1,0 3-202,0 3 1,0-7 145,0 1 1,0-8-1004,0 2-64,0 4-508,0-8 1322,0-2 1,8-25-15,4-15 0,3-15 737,2-8 0,8-11 0,2-12 0,7-9 0</inkml:trace>
  <inkml:trace contextRef="#ctx0" brushRef="#br0" timeOffset="7">9430 15353 8240,'-23'-11'1003,"0"0"1475,1-1-876,4 3 349,9 1-2424,1 16 1,16-1 377,3 5 1,10 3-550,2-4 0,6 3-387,-6-3 1,7 5-895,-1-5 0,4 4 1925,1 2 0,0 1 0,1-1 0</inkml:trace>
  <inkml:trace contextRef="#ctx0" brushRef="#br0" timeOffset="8">9775 15749 8240,'-27'8'0,"2"7"1569,8 8 0,-1 2-682,1-2 1,0 3-415,0 9 1,0-3 683,-1-3 1,9 3 1149,3-3 0,4 1 459,2-1 0,2-4-1711,4-8 0,9-2-1055,8-3 0,8-4 0,-3-8 0,7-4 0,5-8 0,-4-1 0,4-16 0,3-1 0,-3-10 0,0 3-1701,-6-3 0,-7-2-833,-4 2 0,-4-8 1313,-2 2 0,-7-1-4,-4 1 1,-8 4-1270,-10 7 0,-7 9 392,-15 3 2102,-16 11 0,4 5 0,-13 7 0</inkml:trace>
  <inkml:trace contextRef="#ctx0" brushRef="#br0" timeOffset="9">9964 15697 8240,'25'0'0,"-4"0"0,7 0 0,-7 0 0,2 0 0,-4 6 0,-1 0 0,7 0 9192,-6 1-2520,6-5-4163,-8 6-1343,-8-1-1593,-1-5 396,0 14 1,-6-13-841,3 9 837,-3-1 1,-2 6-1721,0 1 1,0-1 172,0 0 0,0 2-149,0 4 1,0-4 871,0 4 0,-6 2 384,1-2 1,-1 0-639,6-6 723,0 8 1,2-8 431,4 0 0,3-7-118,8-10 0,8-10 32,4-7 0,5-10 102,6-13 1,-3 2 262,3-8 0,2 8 582,-2-2 1,-2 3-449,-9 3 0,2 7 174,-8 4 0,-2 4 213,-10 2 1251,-3 8-1433,-8 1 0,0 10 157,0 4 1,0 5-455,0 12 1,0-2-292,0 8 0,2-6-1725,3 5 0,-1-5 1051,8 6 1,-8-6 600,1 5 0,5 1 0,-1 5 0</inkml:trace>
  <inkml:trace contextRef="#ctx0" brushRef="#br0" timeOffset="10">12907 14872 8240,'-23'-17'0,"0"0"0,-6 7 0,6 4 0,-6 4 0,6 2 0,-5 8 0,5 4 0,-8 11 0,2 5 0,3 5 0,-3 1 0,2 8 0,-1 4 0,-3 4 0,8 1 0,-6 6 0,6 1 0,-1-1 2318,1-5 0,3-1-1163,-2 1 1,2-3-1713,3-3 1,6-9 133,-1-9 0,8-7-337,-1 2 502,3-4 1,4-9-21,3-4 0,7-16-180,11-13 0,9-11-23,9-18 1,6-7 229,-1-4 0,-2-4-153,2-2 0,-8 2 153,2 4 1,-3 4-499,-3 8 0,-7-3 1037,-4-3 1,-6 3-52,-5-3 0,-5 5 1280,-7 7 1,-2 4-389,-3 13 1,-5-1-146,-7 12 1,5-2 623,1 13-500,7 0 1,-4 8-731,8 4 1,0 13-113,0 15 1,8 12-319,4 17 0,-3 4-35,3 19 0,-7-2-309,1-35 1,0 0 0,-3-1 0,0 1 261,2 3 0,1-1 0,-4 0 0,0 0-278,0-2 0,2-1 0,3 44-2,-1-12 1,2-4-74,-3-7 1,-3-15-464,4-9-228,-4-14 1178,-2-14 0,8-17 0,1-9 0</inkml:trace>
  <inkml:trace contextRef="#ctx0" brushRef="#br0" timeOffset="11">12580 15422 8240,'-50'-15'0,"4"4"0,4-3 2794,7 8 0,9 1 1097,3 5 1265,4 0-4540,9 0 1,4 0-1072,12 0 1,6 5-1011,10 1 0,13 0 987,11-6 0,5 0-996,7 0 1,-3 0 844,8 0 1,2-6-3905,10 0 4256,-4-7 1,5 3-1,-7-7 1</inkml:trace>
  <inkml:trace contextRef="#ctx0" brushRef="#br0" timeOffset="12">13320 15543 8240,'-25'-18'3165,"6"7"-2453,-4-1 1,3 7 2996,3-7-1779,0 8-269,7-3-1386,3 7 1,7 2-391,0 3 0,6 5-339,-1 7 1,9 6 356,-3 0 0,3 8 90,-3-3 0,2 7 193,-7 5 1,6-4 449,-7 4 1,7-2-171,-6 3 1,7-11 280,-2 4 0,3-5-163,-3 0 0,5-10 6,-5-8 1,6-9-116,6-2 1,2-11 88,4-18 0,1-7-1411,-7-16 0,8-9 607,-2-8 0,-3 1-2725,3-7 1,-10 12 1454,-2 6 0,1 13-1449,-7 9 1,-3 3 2958,-3 9 0,-1 2 0,-10 10 0,-7 3 0</inkml:trace>
  <inkml:trace contextRef="#ctx0" brushRef="#br0" timeOffset="13">14008 15629 8240,'-17'0'5397,"-1"0"-3862,1 0 0,4 1-710,-4 5 1,3-2 1295,-9 7 0,4 1-1017,2 5 1,2 0-498,3 1 0,-1 4-123,7 1 0,0 2 145,6-2 0,8-4-418,3 4 0,7-4-211,5-2 0,1-1 0,5-5 0,4-3 0,-5-8 0,5 0 0,1 0 0,-5-8 0,0-3 0,-6-12-586,5-6 0,-7-3-809,2-3 0,-6-1-1208,-5-4 1,-4 2-167,-8-8 0,-2 4 1517,-4 2 0,-11 1-586,-12 17 1,-5 4 1076,-7 7 0,5 9 761,-4 2 0,-4 8 0,0 9 0</inkml:trace>
  <inkml:trace contextRef="#ctx0" brushRef="#br0" timeOffset="14">14559 15629 10903,'11'-6'7771,"0"0"-3571,-7 0-802,4 6-2964,-8 0-2341,0 0 0,0 8 1304,0 3 0,0 7-1458,0 5 1,0 3 688,0 9 0,-6-1 358,0 0 1,-1 3 445,1 3 1,4-6-21,-4 1 0,5-3-440,1-9 1,0 0 414,0-6 0,7-7-379,5-5 992,3-18 0,17-14 0,5-17 0</inkml:trace>
  <inkml:trace contextRef="#ctx0" brushRef="#br0" timeOffset="15">14817 15268 8240,'-18'-18'0,"1"1"4840,0 0-393,0 7 877,0 3-4997,7 7 1,4 7-1086,12 5 0,4 3-2478,7 2 1,6 1 3235,0-1 0,7 0 0,-3 0 0</inkml:trace>
  <inkml:trace contextRef="#ctx0" brushRef="#br0" timeOffset="16">15247 15886 8240,'9'-26'563,"7"-1"0,-7 6 0,3-4 574,-1-2 1,-7 6-467,2-2 1,-4-1-90,-2 1 1,-2 0 1,-4 6 0,-5-1 282,-12 1 1,-4 8-307,-8 3 0,1 4-183,0 2 0,-1 0 136,1 0 0,-1 8-74,1 3 1,1 10-409,5 2 0,3 8 88,8-3 1,7-1-11,4 2 0,5-6-109,1 5 0,1-7 61,5 2 1,0-6-224,11-5 1,-4 1 64,10-7 1,4-2-264,2-10 1,3-5-129,3-12 1,7-12-318,4-11 1,5-7 190,7-10 0,-3-15-105,-23 30 1,-1-2 0,1-6 0,-1-3 375,4 0 0,-1-2 0,-6 0 0,-2 0 103,-3 3 1,0 1 0,-4 2 0,0 1 245,-1 5 0,-2 1 0,5-28-92,-3 18 1,-13 14 581,1 16 1,-12 3 432,-5 8 0,1 7 992,-1 4 1,-6 6 20,-6 6 0,-2 6-472,2 10 0,4 7 290,-4 11 1,2 12-1761,-2 11 0,4 8 0,-4 9 0,2 0-364,-2 12 0,6 3 364,8-46 0,0 0 0,0 1 0,1 1 0,2 0 0,1 1 0,0-2 0,2-1 0,-3 43 0,12-4-40,5-19 0,10-4-1676,2-14 0,8-11-1665,-2-11 0,9-6 1823,2-17 0,10-3-916,1-8 0,1-12 447,5-12 2027,5-11 0,-13 0 0,9-12 0,3-7 0,4-6 0</inkml:trace>
  <inkml:trace contextRef="#ctx0" brushRef="#br0" timeOffset="17">16245 15749 8240,'-17'-17'1913,"0"0"1,-1-1-871,1 1 0,0-2 938,0-4 1,0 4-999,-1-4 1,1 4-75,0 2 0,-6 0-591,0-1 1,-2 7-456,2-1 1,2 9 68,-8-3 1,7 6-127,-7 6 1,2 11 229,-2 12 1,3 3 168,3 2 1,4 3-12,-4 3 0,11 2-269,6 4 1,5-4 66,1-8 0,0 2 47,0 4 1,9-11 75,8 0 0,2-8 47,10-4 1,2-2-61,9-3 1,-2-7 159,8-10 0,0-7-198,5-11 0,-1 2 552,-4-7 0,-4 5-214,-7-6 1,-3 2 295,-3-1 1,-4-5-380,-8 5 1,-8 1-338,-3-2 0,2 6-9,-2-5 1,-3 7-322,-8-2 1,1 5 238,-8 7 190,1-4 0,-6 7-1179,-1-3 1,7 3 497,-1 8 0,7 8 61,-7 3 1,8 10 11,-1 2 1,-3 6-11,2-6 1,1 5 139,5-5 0,0 8-27,0-3 1,1-1-69,5 2 1,-2-8 64,8 2 1,-1-4-30,6-2 0,8-5 82,4-1 0,-2-7 563,1 2 0,7-12-33,5-6 1,6-11 21,-6-5 1,0-5 528,-6-1 1,-1-1-405,-4 1 1,-5 5-6,-6 1 0,-3 1 56,-4-2 0,3-1-406,-8 7 0,-1 0 213,-5 6 1,-2 0 163,-3-1-193,3 1-165,-14 8 1,13 1-35,-9 8-156,8 0 1,-3 8-305,7 3 0,5 4 271,1 3 1,6 6-135,-7 5 1,1 4 116,-6 1 0,2 0 121,4 1 1,-4-1-85,3 0 1,-3 1 177,-2-1 1,0-1-108,0-5 77,0 5-413,0-14 347,8-2 1,7-19 412,8-15 1,2-8-176,-2-9 1,-2-1 568,8 1 0,-8-6 128,2 0 0,0 2 472,-6 9 0,4-3 68,-10 3 1,3 4-656,-3 2 1,-3 4 216,-8 2 1,0 5 192,0 1-772,7 7 1,-3-2-305,8 12 0,-7 4 0,7 7 0,-6 8 0,5 3 0,-5 7-865,5 5 0,-5-2-588,6 8 0,-7-8-1694,7 2 0,-6-4-3352,5-1 6499,0-8 0,7 5 0,-1-5 0</inkml:trace>
  <inkml:trace contextRef="#ctx0" brushRef="#br0" timeOffset="18">17931 15646 7921,'-24'-17'509,"4"-1"0,-2 3 0,2 4 1022,3 5 0,0 4-15,0 2 0,-2 2-708,-4 4 0,4 9 171,-4 8 0,4 7-260,1-1 0,1 9 25,0 2 1,7 6-291,5-6 1,5 2-62,5-2 1,13-3-42,10 3 0,12-6-134,6-5 1,12-6-264,5-12 0,4-3 133,1-8 0,7-15-304,0-8 1,3-10-588,-9-7 1,2-6-421,-14-11 0,-4-2-462,-12-4 1,-11-2 851,-18 7 1,-5 3 16,-7 9 1,-9 4 345,-8 8 1,-16 13 367,-13 4 0,-5 11-89,-7 0 1,5 14 1718,-5 9 1,12 2 511,6 10 1,12 1 913,5 10 1,5 4-2443,7 8 0,21 0-293,18-1 0,12-1-3287,12-4 1,13 1-577,4-6 3644,11-9 0,-5-5 0,7-4 0,0 5 0,-2 5 0</inkml:trace>
  <inkml:trace contextRef="#ctx0" brushRef="#br0" timeOffset="19">20719 15113 7906,'-42'-35'834,"-2"5"1,-7 7 0,-3 11 245,-3 9 0,-6 12-850,-12 8 1,10 10 922,-4 13 0,14 8-131,3 15 1,8 4-229,10 19 1,9-10-676,8 10 1,17-13 57,17-4 1,27-8-1684,25-10 1,15-14 1222,-34-22 1,3-2 0,5-2 0,1-3-1074,0-1 0,2-2 0,5-3 0,0-2 310,0-2 0,0-2 1046,-6-6 0,0-1 0,6 5 0,-2-1 0,-6-7 0,-1-1 0,1 1 0,-1-1 0</inkml:trace>
  <inkml:trace contextRef="#ctx0" brushRef="#br0" timeOffset="20">21907 15061 7906,'-25'-49'325,"-4"3"1,-1 6-1,-1 11 2147,2 6 0,-1 4-1162,-11 2 0,-2 7 104,-9 4 0,0 12-771,1 6 1,-1 12-40,0 11 0,3 13 53,3 9 0,0 8-400,11-2 1,7 4-455,16 2 1,7 5 173,10 1 0,22-3-1790,19-9 0,19-6 409,15-11 0,-32-24 0,2-4 84,1-2 0,1-3 0,2-3 0,1-3 717,0-3 1,-1-2-1,-1-3 1,-1-2 602,3 1 0,-1-2 0,-1-2 0,-1-3 0,0 1 0,0-1 0,-1-3 0,1-1 0</inkml:trace>
  <inkml:trace contextRef="#ctx0" brushRef="#br0" timeOffset="21">22905 14717 7906,'-27'-15'0,"4"4"0,4-3 2772,2 8 0,-2-5-623,-4 5 0,-4 2 49,-8 10 0,-1 11-870,-4 12 0,-4 5-703,-8 7 1,6 10-506,1 12 0,4 6-165,-4 5 1,4 1-55,-5 11 1,14-4-160,14-36 1,2 0-1,-7 34-425,0-6 1,9-10-98,3-7 1,7-11-3044,-2-6 1807,12-12 1,4-8 1066,7-9 0,2-9 44,4-2 1,4-15 369,7-14 1,2-11-655,5-6 1,1-11 516,3-6 1,3-6 671,-8-6 0,6-5 0,-25 35 0,-2-2 0,2 0 0,-1-1 0</inkml:trace>
  <inkml:trace contextRef="#ctx0" brushRef="#br0" timeOffset="22">22750 14803 7906,'0'-59'0,"0"7"1133,0 1 1,0 3-467,0 14 1,0-3 4690,0 15-2764,0-1 509,0 13 1,8 18-1618,3 15 1,2 17-1472,-1 11 1,3 14-16,-3 10 0,3 15-244,2 1 1,-8-42-1,-1 0 244,1-1 0,0 1 0,-3 1 0,-1-1-94,6 43 1,-5 0-1455,6-6 0,-7-8 782,7-3 0,-8-12-708,1-6 0,3-13 57,-2-10-1609,0-7 1678,1-17 0,-5-5 113,4-10 1,-4 1-570,-2-8 1,0 7 1921,0-7 0,-8-7 1,-1-8-1</inkml:trace>
  <inkml:trace contextRef="#ctx0" brushRef="#br0" timeOffset="23">22647 15439 7906,'-29'-26'0,"0"3"4915,8 4 0,2 7 287,8 1 531,7 7-5733,-4-4 0,18 8 0,7 0 0,8 0 0,9 0 0,6 0 0,1 0 0,6 6-1824,-1 0 1,10 1 689,1-1 1,8-2 1133,-2 7 0,-4 1 0,1 5 0</inkml:trace>
  <inkml:trace contextRef="#ctx0" brushRef="#br0" timeOffset="24">23645 14786 7841,'-17'-17'2486,"-1"0"0,13 3 6669,10 9-7741,5 14 0,17 20-123,-4 11 1,3 6 0,7 13-1292,-4 10 0,3 7 0,-7 14-967,-11-42 1,1 1 966,-2 3 0,-2 1 0,-5 7 0,-2 1 0,0 0 0,0 0-155,-3-3 0,-2-1 0,-6 0 0,-4-2 155,-17 37-486,9-45 0,-2-2 16,-8-2 0,-2 0 0,1-2 1,-1 0-38,-2-3 1,-3-2-2199,-1-1 0,-2-3 922,-32 20 1,-11-8 1782,7-4 0,-3-10 0,1-5 0,-3-6 0,0-5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1T08:29:50.682"/>
    </inkml:context>
    <inkml:brush xml:id="br0">
      <inkml:brushProperty name="width" value="0.12095" units="cm"/>
      <inkml:brushProperty name="height" value="0.12095" units="cm"/>
      <inkml:brushProperty name="color" value="#FF8000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19987 8805 12034,'0'-7'-28,"0"-1"1,-4 4-205,0-3 0,0 3-225,4-4 1117,0 6-222,5-8-143,2 3 0,4 0-176,0-1 0,2 4 29,2-3 0,-1 4-323,5-1 1,0-1 292,4 2 0,4-3 43,-1 3 1,7 1-259,2-1 0,1 1-2,10 2 0,-3 0-172,7 0 1,2-4-96,1 1 1,8-2 326,-29 3 0,1 0 0,0 1 0,0-1-79,-1-1 1,0-1 0,32 0 83,-3-4 0,-5 4-122,5-3 1,-14 4-78,2-1 1,-8-1 140,1 2 1,-4-6-266,3 1 1,-8 2-153,2-2 509,-9 6 0,6-11 0,-5 5 0,-2 3 0,-1 3 0</inkml:trace>
  <inkml:trace contextRef="#ctx0" brushRef="#br0" timeOffset="1">21505 8154 12452,'-22'-11'-1041,"4"0"0,1 1 1224,6 2 590,5 3 0,1 6 320,5 3 0,1 4-641,3 7 0,2 2-334,5 6 1,1 0 97,-1 0 0,4 4-315,1-1 0,4 6 78,-1-2 0,3 2-90,0-1 0,5 2 188,0-3 0,7 2-677,-4-2 1,6-2 116,-6-5 1,0-1-197,0-3 1,-5 1-228,2-5 0,-7-3 379,-1-5 1,-5-4-649,2 1 1222,-4-3 1,5-1 0,1 0 0</inkml:trace>
  <inkml:trace contextRef="#ctx0" brushRef="#br0" timeOffset="2">22202 8246 15964,'-16'0'37,"-2"0"1,-5-5-296,0-3 1,2 3 594,2 1 0,-3 3 36,3 1 1,-3 5-255,0 3 1,-6 8 110,-3 7 0,-7 2-303,-4 10 0,-2 3-139,21-14 1,0 1 0,-1 1 0,0 0 173,1 3 0,0-1 1,-1 0-1,1 0 53,4-1 1,0 0-1,2 0 1,1 1-565,-10 26 0,8-9 15,6-3 0,7-5 534,9-3 0,1-1 0,5-2 0,2-5 0,2-2 0</inkml:trace>
  <inkml:trace contextRef="#ctx0" brushRef="#br0" timeOffset="3">22271 8680 13269,'-18'-12'-1839,"3"1"1905,7 0 1064,3-1 0,8 5 122,4-1 0,1 5-857,7 0 0,-1 1-519,1 2 0,-2 0 126,2 0 0,2 0-223,-2 0 0,4 0 20,-4 0 0,4 0-199,-4 0 0,1 4 42,-5 0 1,-1 5-714,-2-2 0,-3 7 324,-5 2 1,-1 4 337,-3-1 1,-4-1 652,-7 1 0,1 0-143,-5 4 0,0-1 768,-4 1 0,4-4-38,0 0 0,4-5 560,-4 2 0,5-5 610,-1-3-1143,7 2 0,4-9-440,8 3 1,9-3-464,9-1 0,6 0-2230,7 0 2115,4 0 0,2 0 1,4 0-1</inkml:trace>
  <inkml:trace contextRef="#ctx0" brushRef="#br1" timeOffset="4">20124 13111 8272,'-12'-1'811,"1"-3"0,-1 2 140,1-6 1,5 4 567,2-3 1,5 3-995,7-4 1,11 4-286,15-3 1,5-1-215,7-3 0,6-1-485,5 1 1,5-4-49,-28 7 0,1 0 0,-1 0 1,0 1 295,1 1 1,-1 1 0,0 1 0,0 0-517,1 0 0,-1 0 1,1 1-1,1 0 113,-1 0 0,-2-2 1,28-3 613,-11 4 0,1-4 0,-4 4 0,-7 2 0,-8 1 0,-7 1 0</inkml:trace>
  <inkml:trace contextRef="#ctx0" brushRef="#br1" timeOffset="5">21209 12540 8266,'-12'0'0,"-3"0"4721,0 0-3491,5 0 0,7 0-488,11 0 1,6 5-280,12 3 0,5 3-148,7 4 1,2-1-163,6 5 1,-2 0-229,-2 4 1,3 0-88,-3 0 1,1 1 60,-1 3 1,1 2-273,-5 5 0,0 0 41,-4 1 0,-5-5-627,-2 1 1,-8-6 380,-4 2 1,-2-4-460,-2-4 1,-4 1 198,-3-5 1,-2 0-905,2-3 956,-3-1 786,4 1 0,-10-1 0,-1 0 0</inkml:trace>
  <inkml:trace contextRef="#ctx0" brushRef="#br1" timeOffset="6">21848 12563 8029,'-6'-23'0,"-4"0"0,5 4 1379,-3 0 1,3 5-454,5-1 0,0 6 457,0 2-1423,0 4 0,-4 3 82,0 8 1,-8 3-385,0 4 1,-8 4 301,-3 8 0,-5 7-508,-6 8 0,-4 4 25,0 3 1,16-23 0,1 0 142,-1 2 1,2 1-1,-2 2 1,-1 1-35,0 0 1,1 0 413,1 2 0,1 0 0,0-3 0,1 1 0,1-1 0,1 0 0</inkml:trace>
  <inkml:trace contextRef="#ctx0" brushRef="#br1" timeOffset="7">22236 12826 8091,'0'-23'2019,"0"5"2731,0 3-3634,0 2 0,2 7-574,1 2 0,0 9-488,5 6 0,-2 7-540,2 9 1,-3 7-640,-5 8 0,0 4 874,0 3-6,-5 3 0,2-19 0,-1 1 0,-1 1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3969A29A-D16C-864E-998C-C62256933E1F}" type="slidenum">
              <a:rPr lang="en-US" sz="1300" b="0">
                <a:latin typeface="Times New Roman" charset="0"/>
              </a:rPr>
              <a:pPr eaLnBrk="1" hangingPunct="1"/>
              <a:t>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102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Picture on board</a:t>
            </a:r>
          </a:p>
        </p:txBody>
      </p:sp>
    </p:spTree>
    <p:extLst>
      <p:ext uri="{BB962C8B-B14F-4D97-AF65-F5344CB8AC3E}">
        <p14:creationId xmlns:p14="http://schemas.microsoft.com/office/powerpoint/2010/main" val="1525574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8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4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3CEBFA1-51FF-A24F-867E-EEE6959AA91E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13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26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71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07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409D4B52-1D9A-9D44-9D6F-0F6EA38F68F0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205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64DCC38-56B0-7C45-9622-D4994682E07F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02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AF5948D-D09D-1B40-B686-E4596E3B3EAE}" type="slidenum">
              <a:rPr lang="en-US" sz="1300" b="0">
                <a:latin typeface="Times New Roman" charset="0"/>
              </a:rPr>
              <a:pPr eaLnBrk="1" hangingPunct="1"/>
              <a:t>17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8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53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29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E153740-8C51-4346-BF6D-FBC421DC3D28}" type="slidenum">
              <a:rPr lang="en-US" sz="1300" b="0">
                <a:latin typeface="Times New Roman" charset="0"/>
              </a:rPr>
              <a:pPr eaLnBrk="1" hangingPunct="1"/>
              <a:t>33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67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5DA2B1D-5FDE-A743-891C-2D6157A776A1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68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617E3E7-2B42-714B-934F-5F81F0638D3B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MSS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vs</a:t>
            </a:r>
            <a:r>
              <a:rPr lang="en-US" dirty="0">
                <a:ea typeface="ＭＳ Ｐゴシック" charset="0"/>
                <a:cs typeface="ＭＳ Ｐゴシック" charset="0"/>
              </a:rPr>
              <a:t> MTU??</a:t>
            </a:r>
          </a:p>
        </p:txBody>
      </p:sp>
    </p:spTree>
    <p:extLst>
      <p:ext uri="{BB962C8B-B14F-4D97-AF65-F5344CB8AC3E}">
        <p14:creationId xmlns:p14="http://schemas.microsoft.com/office/powerpoint/2010/main" val="210860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4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2D759AB-56F7-F243-83EF-1DC089F8D502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3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409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39529EA-2A83-C840-9F3E-1C516B952A4F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080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E6B17A8-47EE-4343-97AD-4478B3D87BB1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9068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19D8C0A1-83C6-324A-9F8C-9B8F721BE31F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97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73B7972-42B7-8F4F-9165-E6B81B7CBFF4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76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7B48305-5CDB-0E47-ADEF-D7DA81228169}" type="slidenum">
              <a:rPr lang="en-US" sz="1300" b="0">
                <a:latin typeface="Times New Roman" charset="0"/>
              </a:rPr>
              <a:pPr eaLnBrk="1" hangingPunct="1"/>
              <a:t>52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20E29-FCAE-ED47-BF1F-5C919C5D0249}" type="slidenum">
              <a:rPr lang="en-US"/>
              <a:pPr/>
              <a:t>53</a:t>
            </a:fld>
            <a:endParaRPr lang="en-US"/>
          </a:p>
        </p:txBody>
      </p:sp>
      <p:sp>
        <p:nvSpPr>
          <p:cNvPr id="277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77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7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1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1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9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48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10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21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3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45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99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googleusercontent.com/media/research.google.com/en/pubs/archive/36640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5.xml"/><Relationship Id="rId4" Type="http://schemas.openxmlformats.org/officeDocument/2006/relationships/image" Target="../media/image7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8: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TCP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flow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control,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congestion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control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  <a:p>
            <a:r>
              <a:rPr lang="en-US" dirty="0"/>
              <a:t>TCP congestion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17D19-DF19-7DF4-3389-4EDAD800B9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1287B-798B-CCBC-3341-87E659739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Sliding window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sender and receiver maintain a </a:t>
            </a:r>
            <a:r>
              <a:rPr lang="en-US" dirty="0">
                <a:solidFill>
                  <a:srgbClr val="0000FF"/>
                </a:solidFill>
              </a:rPr>
              <a:t>window </a:t>
            </a:r>
          </a:p>
          <a:p>
            <a:r>
              <a:rPr lang="en-US" dirty="0">
                <a:solidFill>
                  <a:srgbClr val="0000FF"/>
                </a:solidFill>
              </a:rPr>
              <a:t>Left edge</a:t>
            </a:r>
            <a:r>
              <a:rPr lang="en-US" dirty="0"/>
              <a:t> of window:</a:t>
            </a:r>
          </a:p>
          <a:p>
            <a:pPr lvl="1"/>
            <a:r>
              <a:rPr lang="en-US" dirty="0"/>
              <a:t>Sender: beginning of </a:t>
            </a:r>
            <a:r>
              <a:rPr lang="en-US" dirty="0">
                <a:solidFill>
                  <a:srgbClr val="0000FF"/>
                </a:solidFill>
              </a:rPr>
              <a:t>unacknowledged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Receiver: beginning of </a:t>
            </a:r>
            <a:r>
              <a:rPr lang="en-US" dirty="0">
                <a:solidFill>
                  <a:srgbClr val="0000FF"/>
                </a:solidFill>
              </a:rPr>
              <a:t>expected</a:t>
            </a:r>
            <a:r>
              <a:rPr lang="en-US" dirty="0"/>
              <a:t> data</a:t>
            </a:r>
          </a:p>
          <a:p>
            <a:pPr lvl="2"/>
            <a:r>
              <a:rPr lang="en-US" dirty="0"/>
              <a:t>First “gap” in received data</a:t>
            </a:r>
          </a:p>
          <a:p>
            <a:pPr lvl="2"/>
            <a:r>
              <a:rPr lang="en-US" dirty="0"/>
              <a:t>When sender gets ack, knows that receiver’s window has moved</a:t>
            </a:r>
          </a:p>
          <a:p>
            <a:r>
              <a:rPr lang="en-US" dirty="0">
                <a:solidFill>
                  <a:srgbClr val="0000FF"/>
                </a:solidFill>
              </a:rPr>
              <a:t>Right edge</a:t>
            </a:r>
            <a:r>
              <a:rPr lang="en-US" dirty="0"/>
              <a:t>: Left edge + constant</a:t>
            </a:r>
          </a:p>
          <a:p>
            <a:pPr lvl="1"/>
            <a:r>
              <a:rPr lang="en-US" dirty="0"/>
              <a:t>The constant is only limited by buffer size in the transport layer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97B15-9F9E-4E15-BD29-8E0C680C1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1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2" name="Rectangle 12"/>
          <p:cNvSpPr>
            <a:spLocks noChangeArrowheads="1"/>
          </p:cNvSpPr>
          <p:nvPr/>
        </p:nvSpPr>
        <p:spPr bwMode="auto">
          <a:xfrm>
            <a:off x="4322763" y="3748087"/>
            <a:ext cx="958850" cy="4603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81613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381000" y="3559314"/>
            <a:ext cx="16850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Previously</a:t>
            </a:r>
          </a:p>
          <a:p>
            <a:pPr algn="ctr" eaLnBrk="1" hangingPunct="1"/>
            <a:r>
              <a:rPr lang="en-US" b="0" dirty="0" err="1">
                <a:latin typeface="Helvetica" charset="0"/>
              </a:rPr>
              <a:t>ACKed</a:t>
            </a:r>
            <a:r>
              <a:rPr lang="en-US" b="0" dirty="0">
                <a:latin typeface="Helvetica" charset="0"/>
              </a:rPr>
              <a:t> bytes</a:t>
            </a:r>
          </a:p>
        </p:txBody>
      </p:sp>
      <p:sp>
        <p:nvSpPr>
          <p:cNvPr id="50" name="Line 15"/>
          <p:cNvSpPr>
            <a:spLocks noChangeShapeType="1"/>
          </p:cNvSpPr>
          <p:nvPr/>
        </p:nvSpPr>
        <p:spPr bwMode="auto">
          <a:xfrm>
            <a:off x="1905000" y="3886200"/>
            <a:ext cx="6858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3124200"/>
            <a:ext cx="11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A711E-37AB-9C9D-CA93-678A35206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0" grpId="0" animBg="1"/>
      <p:bldP spid="951311" grpId="0" animBg="1"/>
      <p:bldP spid="951312" grpId="0" animBg="1"/>
      <p:bldP spid="951313" grpId="0"/>
      <p:bldP spid="951314" grpId="0"/>
      <p:bldP spid="951324" grpId="0"/>
      <p:bldP spid="49" grpId="0"/>
      <p:bldP spid="50" grpId="0" animBg="1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667000"/>
            <a:ext cx="1066800" cy="10668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422668" y="4038600"/>
            <a:ext cx="17531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Received and </a:t>
            </a:r>
            <a:br>
              <a:rPr lang="en-US" b="0" dirty="0">
                <a:latin typeface="Helvetica" charset="0"/>
              </a:rPr>
            </a:br>
            <a:r>
              <a:rPr lang="en-US" b="0" dirty="0" err="1">
                <a:latin typeface="Helvetica" charset="0"/>
              </a:rPr>
              <a:t>ACKed</a:t>
            </a:r>
            <a:endParaRPr lang="en-US" b="0" dirty="0">
              <a:latin typeface="Helvetica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2133600" y="4038601"/>
            <a:ext cx="990600" cy="2285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1828800" y="4114800"/>
            <a:ext cx="2133600" cy="3810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3986374" y="3257490"/>
            <a:ext cx="11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6324600" y="4191000"/>
            <a:ext cx="2667000" cy="1143000"/>
          </a:xfrm>
          <a:prstGeom prst="wedgeEllipseCallout">
            <a:avLst>
              <a:gd name="adj1" fmla="val -54777"/>
              <a:gd name="adj2" fmla="val -63971"/>
            </a:avLst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solidFill>
                  <a:srgbClr val="0000FF"/>
                </a:solidFill>
                <a:latin typeface="+mn-lt"/>
              </a:rPr>
              <a:t>Sender might overrun </a:t>
            </a:r>
            <a:br>
              <a:rPr lang="en-US" sz="1800" b="0" dirty="0">
                <a:solidFill>
                  <a:srgbClr val="0000FF"/>
                </a:solidFill>
                <a:latin typeface="+mn-lt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</a:rPr>
              <a:t>the receiver’s buffer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C9D698-D577-6408-C266-CED98A31B7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34" grpId="0" animBg="1"/>
      <p:bldP spid="35" grpId="0"/>
      <p:bldP spid="42" grpId="0"/>
      <p:bldP spid="52" grpId="0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Advertised window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is, </a:t>
            </a:r>
            <a:r>
              <a:rPr lang="en-US" dirty="0">
                <a:solidFill>
                  <a:srgbClr val="0070C0"/>
                </a:solidFill>
              </a:rPr>
              <a:t>Flow Control</a:t>
            </a:r>
          </a:p>
          <a:p>
            <a:r>
              <a:rPr lang="en-US" dirty="0"/>
              <a:t>Receiver uses an “Advertised Window” (RWND) to prevent sender from overflowing its window</a:t>
            </a:r>
          </a:p>
          <a:p>
            <a:pPr lvl="1"/>
            <a:r>
              <a:rPr lang="en-US" dirty="0"/>
              <a:t>Receiver indicates value of RWND in ACKs</a:t>
            </a:r>
          </a:p>
          <a:p>
            <a:pPr lvl="1"/>
            <a:r>
              <a:rPr lang="en-US" dirty="0"/>
              <a:t>Sender ensures that the total </a:t>
            </a:r>
            <a:r>
              <a:rPr lang="en-US" dirty="0">
                <a:solidFill>
                  <a:srgbClr val="0000FF"/>
                </a:solidFill>
              </a:rPr>
              <a:t>number of bytes in flight &lt;= RWND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CEC931-2187-EBA5-7F5D-F32F1E4E0D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8" name="Rectangle 13"/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9" name="Text Box 14"/>
          <p:cNvSpPr txBox="1">
            <a:spLocks noChangeArrowheads="1"/>
          </p:cNvSpPr>
          <p:nvPr/>
        </p:nvSpPr>
        <p:spPr bwMode="auto">
          <a:xfrm>
            <a:off x="5838825" y="3349625"/>
            <a:ext cx="232467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Advertised window</a:t>
            </a: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5743575" y="3276600"/>
            <a:ext cx="2486025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977E5C-96AC-A346-A2D3-E772E1CAA95F}"/>
                  </a:ext>
                </a:extLst>
              </p14:cNvPr>
              <p14:cNvContentPartPr/>
              <p14:nvPr/>
            </p14:nvContentPartPr>
            <p14:xfrm>
              <a:off x="8058960" y="3215160"/>
              <a:ext cx="577800" cy="36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977E5C-96AC-A346-A2D3-E772E1CAA9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2760" y="3198960"/>
                <a:ext cx="610200" cy="3945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7C62E-5D2F-51C3-44D4-DD27D5D69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FE52B9-AAD7-1829-21C4-3865DEA59B60}"/>
                  </a:ext>
                </a:extLst>
              </p14:cNvPr>
              <p14:cNvContentPartPr/>
              <p14:nvPr/>
            </p14:nvContentPartPr>
            <p14:xfrm>
              <a:off x="7199280" y="2958480"/>
              <a:ext cx="1071000" cy="39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FE52B9-AAD7-1829-21C4-3865DEA59B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9920" y="2949120"/>
                <a:ext cx="1089720" cy="41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09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819400"/>
            <a:ext cx="425786" cy="9144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986374" y="3257490"/>
            <a:ext cx="18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 (B)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1981200" y="1676400"/>
            <a:ext cx="6019800" cy="1143000"/>
          </a:xfrm>
          <a:prstGeom prst="wedgeEllipseCallout">
            <a:avLst>
              <a:gd name="adj1" fmla="val 12084"/>
              <a:gd name="adj2" fmla="val 106232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latin typeface="+mn-lt"/>
              </a:rPr>
              <a:t>RWND = B - (</a:t>
            </a:r>
            <a:r>
              <a:rPr lang="en-US" sz="1800" b="0" dirty="0" err="1">
                <a:latin typeface="+mn-lt"/>
              </a:rPr>
              <a:t>LastByteReceived</a:t>
            </a:r>
            <a:r>
              <a:rPr lang="en-US" sz="1800" b="0" dirty="0">
                <a:latin typeface="+mn-lt"/>
              </a:rPr>
              <a:t> - </a:t>
            </a:r>
            <a:r>
              <a:rPr lang="en-US" sz="1800" b="0" dirty="0" err="1">
                <a:latin typeface="+mn-lt"/>
              </a:rPr>
              <a:t>LastByteRead</a:t>
            </a:r>
            <a:r>
              <a:rPr lang="en-US" sz="1800" b="0" dirty="0">
                <a:latin typeface="+mn-lt"/>
              </a:rPr>
              <a:t>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FB497F-1D8A-760C-518A-49C2364C16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7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57800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3181290"/>
            <a:ext cx="817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RWND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990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4343400" y="3752088"/>
            <a:ext cx="914400" cy="43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EA23D-A1D1-5DE0-C933-1A7E8A9CC2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0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8" dur="2000" fill="hold"/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10" dur="2000" fill="hold"/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2" grpId="0" animBg="1"/>
      <p:bldP spid="951314" grpId="0"/>
      <p:bldP spid="6" grpId="0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flow control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Sender</a:t>
            </a:r>
            <a:r>
              <a:rPr lang="en-US" dirty="0"/>
              <a:t>: window advances when new data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altLang="ja-JP" dirty="0"/>
          </a:p>
          <a:p>
            <a:r>
              <a:rPr lang="en-US" dirty="0">
                <a:solidFill>
                  <a:srgbClr val="0000FF"/>
                </a:solidFill>
              </a:rPr>
              <a:t>Receiver</a:t>
            </a:r>
            <a:r>
              <a:rPr lang="en-US" dirty="0"/>
              <a:t>: window advances as receiving process consumes data</a:t>
            </a:r>
          </a:p>
          <a:p>
            <a:r>
              <a:rPr lang="en-US" dirty="0"/>
              <a:t>Receiver advertises to the sender where the receiver window currently ends (</a:t>
            </a:r>
            <a:r>
              <a:rPr lang="ja-JP" altLang="en-US" dirty="0"/>
              <a:t>“</a:t>
            </a:r>
            <a:r>
              <a:rPr lang="en-US" altLang="ja-JP" dirty="0" err="1"/>
              <a:t>righthand</a:t>
            </a:r>
            <a:r>
              <a:rPr lang="en-US" altLang="ja-JP" dirty="0"/>
              <a:t> edge</a:t>
            </a:r>
            <a:r>
              <a:rPr lang="ja-JP" altLang="en-US" dirty="0"/>
              <a:t>”</a:t>
            </a:r>
            <a:r>
              <a:rPr lang="en-US" altLang="ja-JP" dirty="0"/>
              <a:t>)</a:t>
            </a:r>
          </a:p>
          <a:p>
            <a:pPr lvl="1"/>
            <a:r>
              <a:rPr lang="en-US" dirty="0"/>
              <a:t>Sender agrees not to exceed this amount</a:t>
            </a:r>
          </a:p>
          <a:p>
            <a:r>
              <a:rPr lang="en-US" dirty="0">
                <a:solidFill>
                  <a:srgbClr val="0000FF"/>
                </a:solidFill>
              </a:rPr>
              <a:t>UDP does not have flow control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can be lost due to buffer overflow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E35967-F439-DF30-2282-BBACBECC4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6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Advertised window limits rate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can send no faster than </a:t>
            </a:r>
            <a:r>
              <a:rPr lang="en-US" dirty="0">
                <a:solidFill>
                  <a:srgbClr val="0000FF"/>
                </a:solidFill>
              </a:rPr>
              <a:t>RWND/RTT</a:t>
            </a:r>
            <a:r>
              <a:rPr lang="en-US" dirty="0"/>
              <a:t> bytes/sec</a:t>
            </a:r>
          </a:p>
          <a:p>
            <a:r>
              <a:rPr lang="en-US" dirty="0"/>
              <a:t>Receiver only advertises more space when it has consumed old arriving data</a:t>
            </a:r>
          </a:p>
          <a:p>
            <a:r>
              <a:rPr lang="en-US" dirty="0">
                <a:solidFill>
                  <a:srgbClr val="0000FF"/>
                </a:solidFill>
              </a:rPr>
              <a:t>What happens when RWND=0?</a:t>
            </a:r>
          </a:p>
          <a:p>
            <a:pPr lvl="1"/>
            <a:r>
              <a:rPr lang="en-US" dirty="0"/>
              <a:t>Sender keeps probing with one data byte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original TCP design, that was the sole protocol mechanism controlling sender’s rate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What’s missing?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9FD29C-1098-97C1-E88C-0DFA2023E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Congestion Control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7FF01E-D0C4-33AE-72B9-FB121FE50F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18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congestion?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two packets arrive at a router </a:t>
            </a:r>
            <a:r>
              <a:rPr lang="en-US" altLang="zh-CN" dirty="0"/>
              <a:t>simultaneously</a:t>
            </a:r>
            <a:endParaRPr lang="en-US" dirty="0"/>
          </a:p>
          <a:p>
            <a:pPr lvl="1"/>
            <a:r>
              <a:rPr lang="en-US" dirty="0"/>
              <a:t>Router will transmit one </a:t>
            </a:r>
            <a:r>
              <a:rPr lang="en-US" altLang="zh-CN" dirty="0"/>
              <a:t>…</a:t>
            </a:r>
            <a:endParaRPr lang="en-US" dirty="0"/>
          </a:p>
          <a:p>
            <a:pPr lvl="1"/>
            <a:r>
              <a:rPr lang="en-US" dirty="0"/>
              <a:t>and buffer the other</a:t>
            </a:r>
          </a:p>
          <a:p>
            <a:r>
              <a:rPr lang="en-US" dirty="0"/>
              <a:t>Internet traffic is </a:t>
            </a:r>
            <a:r>
              <a:rPr lang="en-US" dirty="0">
                <a:solidFill>
                  <a:srgbClr val="D60093"/>
                </a:solidFill>
              </a:rPr>
              <a:t>bursty</a:t>
            </a:r>
          </a:p>
          <a:p>
            <a:pPr lvl="1"/>
            <a:r>
              <a:rPr lang="en-US" dirty="0"/>
              <a:t>Many packets can arrive close in time</a:t>
            </a:r>
          </a:p>
          <a:p>
            <a:pPr lvl="1"/>
            <a:r>
              <a:rPr lang="en-US" dirty="0"/>
              <a:t>Causes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overflow,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en-US" dirty="0"/>
              <a:t> packet drops</a:t>
            </a:r>
          </a:p>
          <a:p>
            <a:pPr lvl="1"/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overflow,</a:t>
            </a:r>
            <a:r>
              <a:rPr lang="zh-CN" altLang="en-US" dirty="0"/>
              <a:t> </a:t>
            </a:r>
            <a:r>
              <a:rPr lang="en-US" altLang="zh-CN" dirty="0"/>
              <a:t>queueing</a:t>
            </a:r>
            <a:r>
              <a:rPr lang="zh-CN" altLang="en-US" dirty="0"/>
              <a:t> </a:t>
            </a:r>
            <a:r>
              <a:rPr lang="en-US" altLang="zh-CN" dirty="0"/>
              <a:t>delay</a:t>
            </a:r>
            <a:r>
              <a:rPr lang="zh-CN" altLang="en-US" dirty="0"/>
              <a:t> </a:t>
            </a:r>
            <a:r>
              <a:rPr lang="en-US" altLang="zh-CN" dirty="0"/>
              <a:t>increases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Root cause</a:t>
            </a:r>
            <a:r>
              <a:rPr lang="en-US" dirty="0"/>
              <a:t>: statistical multiplexing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2C8B94-1478-8DB9-5BF0-91046A252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2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collapse in 1980s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7969"/>
            <a:ext cx="8229600" cy="2389981"/>
          </a:xfrm>
        </p:spPr>
        <p:txBody>
          <a:bodyPr/>
          <a:lstStyle/>
          <a:p>
            <a:r>
              <a:rPr lang="en-US" dirty="0"/>
              <a:t>Sending rate only limited by flow control</a:t>
            </a:r>
          </a:p>
          <a:p>
            <a:pPr lvl="1"/>
            <a:r>
              <a:rPr lang="en-US" dirty="0"/>
              <a:t>Dropped packets </a:t>
            </a:r>
            <a:r>
              <a:rPr lang="en-US" dirty="0">
                <a:sym typeface="Wingdings"/>
              </a:rPr>
              <a:t> s</a:t>
            </a:r>
            <a:r>
              <a:rPr lang="en-US" dirty="0"/>
              <a:t>enders (repeatedly!) retransmit </a:t>
            </a:r>
          </a:p>
          <a:p>
            <a:r>
              <a:rPr lang="en-US" dirty="0"/>
              <a:t>Led to “congestion collapse” in Oct. 1986</a:t>
            </a:r>
          </a:p>
          <a:p>
            <a:pPr lvl="1"/>
            <a:r>
              <a:rPr lang="en-US" dirty="0"/>
              <a:t>Throughput on the NSF network dropped from 32Kbits/s to 40bits/s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69825-D24B-8C4A-F157-D1DDA1DC8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4942F9C-3E98-72E9-C93F-D9C31DEA2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990" y="3505200"/>
            <a:ext cx="248807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782DE6-C8D1-B38A-AFDD-43229F296716}"/>
              </a:ext>
            </a:extLst>
          </p:cNvPr>
          <p:cNvSpPr txBox="1">
            <a:spLocks/>
          </p:cNvSpPr>
          <p:nvPr/>
        </p:nvSpPr>
        <p:spPr bwMode="auto">
          <a:xfrm>
            <a:off x="480646" y="3917950"/>
            <a:ext cx="5279571" cy="238998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Ø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/>
              <a:t>“Fixed” by Van Jacobson’s development of TCP’s congestion control (CC) 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9223A-0516-7151-8B4A-AA164AA52091}"/>
              </a:ext>
            </a:extLst>
          </p:cNvPr>
          <p:cNvSpPr txBox="1"/>
          <p:nvPr/>
        </p:nvSpPr>
        <p:spPr>
          <a:xfrm>
            <a:off x="5638800" y="6442731"/>
            <a:ext cx="2012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/>
              <a:t>Source:</a:t>
            </a:r>
            <a:r>
              <a:rPr lang="zh-CN" altLang="en-US" sz="1400" b="0" dirty="0"/>
              <a:t> </a:t>
            </a:r>
            <a:r>
              <a:rPr lang="en-US" altLang="zh-CN" sz="1400" b="0" dirty="0"/>
              <a:t>Wikipedia</a:t>
            </a: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34560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Jacobson’s fix to TCP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dapt</a:t>
            </a:r>
            <a:r>
              <a:rPr lang="en-US" dirty="0"/>
              <a:t> the window size in response to congestion</a:t>
            </a:r>
          </a:p>
          <a:p>
            <a:r>
              <a:rPr lang="en-US" dirty="0"/>
              <a:t>A pragmatic and effective solution </a:t>
            </a:r>
          </a:p>
          <a:p>
            <a:pPr lvl="1"/>
            <a:r>
              <a:rPr lang="en-US" dirty="0"/>
              <a:t>Required no upgrades to routers or applications!</a:t>
            </a:r>
          </a:p>
          <a:p>
            <a:pPr lvl="1"/>
            <a:r>
              <a:rPr lang="en-US" dirty="0"/>
              <a:t>Patch of a few lines of code to TCP implementations</a:t>
            </a:r>
          </a:p>
          <a:p>
            <a:r>
              <a:rPr lang="en-US" dirty="0"/>
              <a:t>Extensively researched and improved upon</a:t>
            </a:r>
          </a:p>
          <a:p>
            <a:pPr lvl="1"/>
            <a:r>
              <a:rPr lang="en-US" dirty="0"/>
              <a:t>Especially now with datacenters and cloud services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FF1D-AF48-7DD6-740E-689ADDEA2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5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considerations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know the network is congested? </a:t>
            </a:r>
          </a:p>
          <a:p>
            <a:pPr lvl="1"/>
            <a:r>
              <a:rPr lang="en-US" dirty="0"/>
              <a:t>Implicit and/or explicit signals </a:t>
            </a:r>
            <a:r>
              <a:rPr lang="en-US" dirty="0">
                <a:solidFill>
                  <a:srgbClr val="FF0000"/>
                </a:solidFill>
              </a:rPr>
              <a:t>from the network</a:t>
            </a:r>
          </a:p>
          <a:p>
            <a:r>
              <a:rPr lang="en-US" dirty="0"/>
              <a:t>Who takes care of congestion?</a:t>
            </a:r>
          </a:p>
          <a:p>
            <a:pPr lvl="1"/>
            <a:r>
              <a:rPr lang="en-US" dirty="0"/>
              <a:t>End hosts (may receive some help from the network)</a:t>
            </a:r>
          </a:p>
          <a:p>
            <a:r>
              <a:rPr lang="en-US" dirty="0"/>
              <a:t>How do we handle congestion?</a:t>
            </a:r>
          </a:p>
          <a:p>
            <a:pPr lvl="1"/>
            <a:r>
              <a:rPr lang="en-US" dirty="0"/>
              <a:t>Continuous adaptation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39A3D-5ABB-16DD-8923-0102163D9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5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issues to consider</a:t>
            </a:r>
          </a:p>
        </p:txBody>
      </p:sp>
      <p:sp>
        <p:nvSpPr>
          <p:cNvPr id="980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Discovering the available (bottleneck) bandwidth</a:t>
            </a:r>
          </a:p>
          <a:p>
            <a:r>
              <a:rPr lang="en-US" dirty="0"/>
              <a:t>Adjusting to variations in bandwidth</a:t>
            </a:r>
          </a:p>
          <a:p>
            <a:r>
              <a:rPr lang="en-US" dirty="0"/>
              <a:t>Sharing bandwidth between flows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34EF5-D480-B5BE-B939-335B030223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view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Ignore internal structure of router and model it as a single queue for a particular input-output pair</a:t>
            </a:r>
          </a:p>
        </p:txBody>
      </p:sp>
      <p:sp>
        <p:nvSpPr>
          <p:cNvPr id="979980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979981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979982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979986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79972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79973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79974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5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79976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7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8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79979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79983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4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5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DA701-2409-5330-0B0C-28826CBE4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available bandwidth</a:t>
            </a:r>
            <a:endParaRPr lang="en-US" dirty="0"/>
          </a:p>
        </p:txBody>
      </p:sp>
      <p:sp>
        <p:nvSpPr>
          <p:cNvPr id="98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sending rate to match bottleneck bandwidth</a:t>
            </a:r>
          </a:p>
          <a:p>
            <a:pPr lvl="1"/>
            <a:r>
              <a:rPr lang="en-US" dirty="0"/>
              <a:t>Without any prior knowledge</a:t>
            </a:r>
          </a:p>
          <a:p>
            <a:pPr lvl="1"/>
            <a:r>
              <a:rPr lang="en-US" dirty="0"/>
              <a:t>Could be gigabit link, could be a modem</a:t>
            </a:r>
          </a:p>
        </p:txBody>
      </p:sp>
      <p:sp>
        <p:nvSpPr>
          <p:cNvPr id="982032" name="Text Box 16"/>
          <p:cNvSpPr txBox="1">
            <a:spLocks noChangeArrowheads="1"/>
          </p:cNvSpPr>
          <p:nvPr/>
        </p:nvSpPr>
        <p:spPr bwMode="auto">
          <a:xfrm>
            <a:off x="5393169" y="2483411"/>
            <a:ext cx="10838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0" dirty="0">
                <a:solidFill>
                  <a:srgbClr val="FF0000"/>
                </a:solidFill>
                <a:latin typeface="+mn-lt"/>
              </a:rPr>
              <a:t>100 Mbps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21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7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28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9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31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075B5-A77A-418C-5E6B-AF19F54BD6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Adjusting to variations in bandwidth</a:t>
            </a:r>
            <a:endParaRPr lang="en-US" dirty="0"/>
          </a:p>
        </p:txBody>
      </p:sp>
      <p:sp>
        <p:nvSpPr>
          <p:cNvPr id="983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Adjust rate to match instantaneous bandwidth</a:t>
            </a:r>
          </a:p>
          <a:p>
            <a:pPr lvl="1"/>
            <a:r>
              <a:rPr lang="en-US" dirty="0"/>
              <a:t>Assuming you have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rough idea of bandwidth</a:t>
            </a:r>
          </a:p>
        </p:txBody>
      </p:sp>
      <p:grpSp>
        <p:nvGrpSpPr>
          <p:cNvPr id="983044" name="Group 4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83045" name="Group 5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83046" name="Rectangle 6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83047" name="Rectangle 7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48" name="Rectangle 8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83049" name="Line 9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0" name="Line 10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1" name="Text Box 11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83052" name="Text Box 12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83053" name="Line 13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4" name="Line 14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5" name="Line 15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983056" name="Text Box 16"/>
          <p:cNvSpPr txBox="1">
            <a:spLocks noChangeArrowheads="1"/>
          </p:cNvSpPr>
          <p:nvPr/>
        </p:nvSpPr>
        <p:spPr bwMode="auto">
          <a:xfrm>
            <a:off x="5464365" y="2409825"/>
            <a:ext cx="95231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BW(t)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089FF-B904-0D24-514C-03B931368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4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flows and sharing bandwidth</a:t>
            </a:r>
            <a:endParaRPr lang="en-US" dirty="0"/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Issues:</a:t>
            </a:r>
          </a:p>
          <a:p>
            <a:pPr lvl="1"/>
            <a:r>
              <a:rPr lang="en-US" dirty="0"/>
              <a:t>Adjust total sending rate to match bandwidth</a:t>
            </a:r>
          </a:p>
          <a:p>
            <a:pPr lvl="1"/>
            <a:r>
              <a:rPr lang="en-US" dirty="0"/>
              <a:t>Allocation of bandwidth between flows</a:t>
            </a:r>
          </a:p>
        </p:txBody>
      </p:sp>
      <p:sp>
        <p:nvSpPr>
          <p:cNvPr id="984088" name="Rectangle 24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sp>
        <p:nvSpPr>
          <p:cNvPr id="984089" name="Rectangle 25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grpSp>
        <p:nvGrpSpPr>
          <p:cNvPr id="984105" name="Group 41"/>
          <p:cNvGrpSpPr>
            <a:grpSpLocks/>
          </p:cNvGrpSpPr>
          <p:nvPr/>
        </p:nvGrpSpPr>
        <p:grpSpPr bwMode="auto">
          <a:xfrm>
            <a:off x="1600200" y="3733800"/>
            <a:ext cx="6324600" cy="2286000"/>
            <a:chOff x="1152" y="1728"/>
            <a:chExt cx="3984" cy="1440"/>
          </a:xfrm>
        </p:grpSpPr>
        <p:sp>
          <p:nvSpPr>
            <p:cNvPr id="984070" name="Rectangle 6"/>
            <p:cNvSpPr>
              <a:spLocks noChangeArrowheads="1"/>
            </p:cNvSpPr>
            <p:nvPr/>
          </p:nvSpPr>
          <p:spPr bwMode="auto">
            <a:xfrm>
              <a:off x="1152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A2</a:t>
              </a:r>
            </a:p>
          </p:txBody>
        </p:sp>
        <p:sp>
          <p:nvSpPr>
            <p:cNvPr id="984071" name="Rectangle 7"/>
            <p:cNvSpPr>
              <a:spLocks noChangeArrowheads="1"/>
            </p:cNvSpPr>
            <p:nvPr/>
          </p:nvSpPr>
          <p:spPr bwMode="auto">
            <a:xfrm>
              <a:off x="2286" y="2291"/>
              <a:ext cx="1048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2" name="Rectangle 8"/>
            <p:cNvSpPr>
              <a:spLocks noChangeArrowheads="1"/>
            </p:cNvSpPr>
            <p:nvPr/>
          </p:nvSpPr>
          <p:spPr bwMode="auto">
            <a:xfrm>
              <a:off x="4831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B2</a:t>
              </a:r>
            </a:p>
          </p:txBody>
        </p:sp>
        <p:sp>
          <p:nvSpPr>
            <p:cNvPr id="984073" name="Line 9"/>
            <p:cNvSpPr>
              <a:spLocks noChangeShapeType="1"/>
            </p:cNvSpPr>
            <p:nvPr/>
          </p:nvSpPr>
          <p:spPr bwMode="auto">
            <a:xfrm>
              <a:off x="1457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4" name="Line 10"/>
            <p:cNvSpPr>
              <a:spLocks noChangeShapeType="1"/>
            </p:cNvSpPr>
            <p:nvPr/>
          </p:nvSpPr>
          <p:spPr bwMode="auto">
            <a:xfrm>
              <a:off x="3334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5" name="Text Box 11"/>
            <p:cNvSpPr txBox="1">
              <a:spLocks noChangeArrowheads="1"/>
            </p:cNvSpPr>
            <p:nvPr/>
          </p:nvSpPr>
          <p:spPr bwMode="auto">
            <a:xfrm>
              <a:off x="3421" y="2175"/>
              <a:ext cx="105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endParaRPr lang="en-US" b="0">
                <a:latin typeface="Tahoma" charset="0"/>
              </a:endParaRPr>
            </a:p>
          </p:txBody>
        </p:sp>
        <p:sp>
          <p:nvSpPr>
            <p:cNvPr id="984077" name="Line 13"/>
            <p:cNvSpPr>
              <a:spLocks noChangeShapeType="1"/>
            </p:cNvSpPr>
            <p:nvPr/>
          </p:nvSpPr>
          <p:spPr bwMode="auto">
            <a:xfrm>
              <a:off x="3168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8" name="Line 14"/>
            <p:cNvSpPr>
              <a:spLocks noChangeShapeType="1"/>
            </p:cNvSpPr>
            <p:nvPr/>
          </p:nvSpPr>
          <p:spPr bwMode="auto">
            <a:xfrm>
              <a:off x="3024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9" name="Line 15"/>
            <p:cNvSpPr>
              <a:spLocks noChangeShapeType="1"/>
            </p:cNvSpPr>
            <p:nvPr/>
          </p:nvSpPr>
          <p:spPr bwMode="auto">
            <a:xfrm>
              <a:off x="2880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80" name="Text Box 16"/>
            <p:cNvSpPr txBox="1">
              <a:spLocks noChangeArrowheads="1"/>
            </p:cNvSpPr>
            <p:nvPr/>
          </p:nvSpPr>
          <p:spPr bwMode="auto">
            <a:xfrm>
              <a:off x="3347" y="2236"/>
              <a:ext cx="4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b="0" dirty="0">
                  <a:latin typeface="+mn-lt"/>
                </a:rPr>
                <a:t>BW(t)</a:t>
              </a:r>
            </a:p>
          </p:txBody>
        </p:sp>
        <p:sp>
          <p:nvSpPr>
            <p:cNvPr id="984082" name="Rectangle 18"/>
            <p:cNvSpPr>
              <a:spLocks noChangeArrowheads="1"/>
            </p:cNvSpPr>
            <p:nvPr/>
          </p:nvSpPr>
          <p:spPr bwMode="auto">
            <a:xfrm>
              <a:off x="1152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A1</a:t>
              </a:r>
            </a:p>
          </p:txBody>
        </p:sp>
        <p:sp>
          <p:nvSpPr>
            <p:cNvPr id="984083" name="Rectangle 19"/>
            <p:cNvSpPr>
              <a:spLocks noChangeArrowheads="1"/>
            </p:cNvSpPr>
            <p:nvPr/>
          </p:nvSpPr>
          <p:spPr bwMode="auto">
            <a:xfrm>
              <a:off x="1152" y="2819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A3</a:t>
              </a:r>
            </a:p>
          </p:txBody>
        </p:sp>
        <p:sp>
          <p:nvSpPr>
            <p:cNvPr id="984086" name="Rectangle 22"/>
            <p:cNvSpPr>
              <a:spLocks noChangeArrowheads="1"/>
            </p:cNvSpPr>
            <p:nvPr/>
          </p:nvSpPr>
          <p:spPr bwMode="auto">
            <a:xfrm>
              <a:off x="4831" y="2867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B3</a:t>
              </a:r>
            </a:p>
          </p:txBody>
        </p:sp>
        <p:sp>
          <p:nvSpPr>
            <p:cNvPr id="984095" name="Rectangle 31"/>
            <p:cNvSpPr>
              <a:spLocks noChangeArrowheads="1"/>
            </p:cNvSpPr>
            <p:nvPr/>
          </p:nvSpPr>
          <p:spPr bwMode="auto">
            <a:xfrm>
              <a:off x="4831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B1</a:t>
              </a:r>
            </a:p>
          </p:txBody>
        </p:sp>
        <p:sp>
          <p:nvSpPr>
            <p:cNvPr id="984096" name="Line 32"/>
            <p:cNvSpPr>
              <a:spLocks noChangeShapeType="1"/>
            </p:cNvSpPr>
            <p:nvPr/>
          </p:nvSpPr>
          <p:spPr bwMode="auto">
            <a:xfrm>
              <a:off x="1457" y="1824"/>
              <a:ext cx="829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97" name="Line 33"/>
            <p:cNvSpPr>
              <a:spLocks noChangeShapeType="1"/>
            </p:cNvSpPr>
            <p:nvPr/>
          </p:nvSpPr>
          <p:spPr bwMode="auto">
            <a:xfrm flipV="1">
              <a:off x="1457" y="2442"/>
              <a:ext cx="829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1" name="Rectangle 37"/>
            <p:cNvSpPr>
              <a:spLocks noChangeArrowheads="1"/>
            </p:cNvSpPr>
            <p:nvPr/>
          </p:nvSpPr>
          <p:spPr bwMode="auto">
            <a:xfrm>
              <a:off x="4184" y="2304"/>
              <a:ext cx="280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2" name="Line 38"/>
            <p:cNvSpPr>
              <a:spLocks noChangeShapeType="1"/>
            </p:cNvSpPr>
            <p:nvPr/>
          </p:nvSpPr>
          <p:spPr bwMode="auto">
            <a:xfrm flipV="1">
              <a:off x="4464" y="1824"/>
              <a:ext cx="367" cy="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3" name="Line 39"/>
            <p:cNvSpPr>
              <a:spLocks noChangeShapeType="1"/>
            </p:cNvSpPr>
            <p:nvPr/>
          </p:nvSpPr>
          <p:spPr bwMode="auto">
            <a:xfrm>
              <a:off x="4464" y="2442"/>
              <a:ext cx="367" cy="5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4" name="Line 40"/>
            <p:cNvSpPr>
              <a:spLocks noChangeShapeType="1"/>
            </p:cNvSpPr>
            <p:nvPr/>
          </p:nvSpPr>
          <p:spPr bwMode="auto">
            <a:xfrm>
              <a:off x="4464" y="2442"/>
              <a:ext cx="3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A170A-421A-CFB0-4C24-99FFF36A5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3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Reality</a:t>
            </a:r>
          </a:p>
        </p:txBody>
      </p:sp>
      <p:pic>
        <p:nvPicPr>
          <p:cNvPr id="992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81225" y="3149600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5225" y="2746375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1038" y="3957638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1113" y="2276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300" y="4159250"/>
            <a:ext cx="771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9113" y="3419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3113" y="3351213"/>
            <a:ext cx="76993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7" name="Picture 11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2881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8" name="Picture 12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0813" y="4159250"/>
            <a:ext cx="82550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9" name="Picture 13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2925" y="4697413"/>
            <a:ext cx="82550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0" name="Picture 14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05113" y="2141538"/>
            <a:ext cx="82708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1" name="Picture 15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5150" y="4764088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2" name="Picture 16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1375" y="1738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3" name="Picture 17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7413" y="3351213"/>
            <a:ext cx="827087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92274" name="Line 18"/>
          <p:cNvSpPr>
            <a:spLocks noChangeShapeType="1"/>
          </p:cNvSpPr>
          <p:nvPr/>
        </p:nvSpPr>
        <p:spPr bwMode="auto">
          <a:xfrm flipV="1">
            <a:off x="2874963" y="3082925"/>
            <a:ext cx="830262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 flipV="1">
            <a:off x="4397375" y="2544763"/>
            <a:ext cx="831850" cy="2698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6" name="Line 20"/>
          <p:cNvSpPr>
            <a:spLocks noChangeShapeType="1"/>
          </p:cNvSpPr>
          <p:nvPr/>
        </p:nvSpPr>
        <p:spPr bwMode="auto">
          <a:xfrm>
            <a:off x="1905000" y="34194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 flipV="1">
            <a:off x="2043113" y="3554413"/>
            <a:ext cx="346075" cy="6048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8" name="Line 22"/>
          <p:cNvSpPr>
            <a:spLocks noChangeShapeType="1"/>
          </p:cNvSpPr>
          <p:nvPr/>
        </p:nvSpPr>
        <p:spPr bwMode="auto">
          <a:xfrm>
            <a:off x="3567113" y="2679700"/>
            <a:ext cx="207962" cy="1349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2874963" y="3486150"/>
            <a:ext cx="484187" cy="4714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0" name="Line 24"/>
          <p:cNvSpPr>
            <a:spLocks noChangeShapeType="1"/>
          </p:cNvSpPr>
          <p:nvPr/>
        </p:nvSpPr>
        <p:spPr bwMode="auto">
          <a:xfrm flipV="1">
            <a:off x="3843338" y="3756025"/>
            <a:ext cx="554037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1" name="Line 25"/>
          <p:cNvSpPr>
            <a:spLocks noChangeShapeType="1"/>
          </p:cNvSpPr>
          <p:nvPr/>
        </p:nvSpPr>
        <p:spPr bwMode="auto">
          <a:xfrm>
            <a:off x="4329113" y="3082925"/>
            <a:ext cx="276225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2" name="Line 26"/>
          <p:cNvSpPr>
            <a:spLocks noChangeShapeType="1"/>
          </p:cNvSpPr>
          <p:nvPr/>
        </p:nvSpPr>
        <p:spPr bwMode="auto">
          <a:xfrm>
            <a:off x="4951413" y="3486150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3" name="Line 27"/>
          <p:cNvSpPr>
            <a:spLocks noChangeShapeType="1"/>
          </p:cNvSpPr>
          <p:nvPr/>
        </p:nvSpPr>
        <p:spPr bwMode="auto">
          <a:xfrm>
            <a:off x="5713413" y="2613025"/>
            <a:ext cx="415925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4" name="Line 28"/>
          <p:cNvSpPr>
            <a:spLocks noChangeShapeType="1"/>
          </p:cNvSpPr>
          <p:nvPr/>
        </p:nvSpPr>
        <p:spPr bwMode="auto">
          <a:xfrm>
            <a:off x="3983038" y="4225925"/>
            <a:ext cx="830262" cy="666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5" name="Line 29"/>
          <p:cNvSpPr>
            <a:spLocks noChangeShapeType="1"/>
          </p:cNvSpPr>
          <p:nvPr/>
        </p:nvSpPr>
        <p:spPr bwMode="auto">
          <a:xfrm flipV="1">
            <a:off x="5507038" y="3756025"/>
            <a:ext cx="554037" cy="4699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6" name="Line 30"/>
          <p:cNvSpPr>
            <a:spLocks noChangeShapeType="1"/>
          </p:cNvSpPr>
          <p:nvPr/>
        </p:nvSpPr>
        <p:spPr bwMode="auto">
          <a:xfrm>
            <a:off x="4883150" y="3822700"/>
            <a:ext cx="207963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7" name="Line 31"/>
          <p:cNvSpPr>
            <a:spLocks noChangeShapeType="1"/>
          </p:cNvSpPr>
          <p:nvPr/>
        </p:nvSpPr>
        <p:spPr bwMode="auto">
          <a:xfrm flipV="1">
            <a:off x="3567113" y="4360863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8" name="Line 32"/>
          <p:cNvSpPr>
            <a:spLocks noChangeShapeType="1"/>
          </p:cNvSpPr>
          <p:nvPr/>
        </p:nvSpPr>
        <p:spPr bwMode="auto">
          <a:xfrm flipH="1" flipV="1">
            <a:off x="5507038" y="4562475"/>
            <a:ext cx="346075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9" name="Line 33"/>
          <p:cNvSpPr>
            <a:spLocks noChangeShapeType="1"/>
          </p:cNvSpPr>
          <p:nvPr/>
        </p:nvSpPr>
        <p:spPr bwMode="auto">
          <a:xfrm flipH="1" flipV="1">
            <a:off x="6545263" y="3621088"/>
            <a:ext cx="692150" cy="2016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0" name="Freeform 34"/>
          <p:cNvSpPr>
            <a:spLocks/>
          </p:cNvSpPr>
          <p:nvPr/>
        </p:nvSpPr>
        <p:spPr bwMode="auto">
          <a:xfrm>
            <a:off x="2043113" y="3419475"/>
            <a:ext cx="3856037" cy="1512888"/>
          </a:xfrm>
          <a:custGeom>
            <a:avLst/>
            <a:gdLst>
              <a:gd name="T0" fmla="*/ 0 w 2672"/>
              <a:gd name="T1" fmla="*/ 528 h 1080"/>
              <a:gd name="T2" fmla="*/ 240 w 2672"/>
              <a:gd name="T3" fmla="*/ 96 h 1080"/>
              <a:gd name="T4" fmla="*/ 576 w 2672"/>
              <a:gd name="T5" fmla="*/ 48 h 1080"/>
              <a:gd name="T6" fmla="*/ 912 w 2672"/>
              <a:gd name="T7" fmla="*/ 384 h 1080"/>
              <a:gd name="T8" fmla="*/ 1392 w 2672"/>
              <a:gd name="T9" fmla="*/ 576 h 1080"/>
              <a:gd name="T10" fmla="*/ 2160 w 2672"/>
              <a:gd name="T11" fmla="*/ 624 h 1080"/>
              <a:gd name="T12" fmla="*/ 2592 w 2672"/>
              <a:gd name="T13" fmla="*/ 1008 h 1080"/>
              <a:gd name="T14" fmla="*/ 2640 w 2672"/>
              <a:gd name="T15" fmla="*/ 1056 h 1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72" h="1080">
                <a:moveTo>
                  <a:pt x="0" y="528"/>
                </a:moveTo>
                <a:cubicBezTo>
                  <a:pt x="72" y="352"/>
                  <a:pt x="144" y="176"/>
                  <a:pt x="240" y="96"/>
                </a:cubicBezTo>
                <a:cubicBezTo>
                  <a:pt x="336" y="16"/>
                  <a:pt x="464" y="0"/>
                  <a:pt x="576" y="48"/>
                </a:cubicBezTo>
                <a:cubicBezTo>
                  <a:pt x="688" y="96"/>
                  <a:pt x="776" y="296"/>
                  <a:pt x="912" y="384"/>
                </a:cubicBezTo>
                <a:cubicBezTo>
                  <a:pt x="1048" y="472"/>
                  <a:pt x="1184" y="536"/>
                  <a:pt x="1392" y="576"/>
                </a:cubicBezTo>
                <a:cubicBezTo>
                  <a:pt x="1600" y="616"/>
                  <a:pt x="1960" y="552"/>
                  <a:pt x="2160" y="624"/>
                </a:cubicBezTo>
                <a:cubicBezTo>
                  <a:pt x="2360" y="696"/>
                  <a:pt x="2512" y="936"/>
                  <a:pt x="2592" y="1008"/>
                </a:cubicBezTo>
                <a:cubicBezTo>
                  <a:pt x="2672" y="1080"/>
                  <a:pt x="2656" y="1068"/>
                  <a:pt x="2640" y="105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1" name="Freeform 35"/>
          <p:cNvSpPr>
            <a:spLocks/>
          </p:cNvSpPr>
          <p:nvPr/>
        </p:nvSpPr>
        <p:spPr bwMode="auto">
          <a:xfrm>
            <a:off x="1905000" y="3262313"/>
            <a:ext cx="5402263" cy="750887"/>
          </a:xfrm>
          <a:custGeom>
            <a:avLst/>
            <a:gdLst>
              <a:gd name="T0" fmla="*/ 0 w 3744"/>
              <a:gd name="T1" fmla="*/ 112 h 536"/>
              <a:gd name="T2" fmla="*/ 672 w 3744"/>
              <a:gd name="T3" fmla="*/ 64 h 536"/>
              <a:gd name="T4" fmla="*/ 1104 w 3744"/>
              <a:gd name="T5" fmla="*/ 496 h 536"/>
              <a:gd name="T6" fmla="*/ 1680 w 3744"/>
              <a:gd name="T7" fmla="*/ 304 h 536"/>
              <a:gd name="T8" fmla="*/ 1968 w 3744"/>
              <a:gd name="T9" fmla="*/ 160 h 536"/>
              <a:gd name="T10" fmla="*/ 3024 w 3744"/>
              <a:gd name="T11" fmla="*/ 112 h 536"/>
              <a:gd name="T12" fmla="*/ 3744 w 3744"/>
              <a:gd name="T13" fmla="*/ 352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4" h="536">
                <a:moveTo>
                  <a:pt x="0" y="112"/>
                </a:moveTo>
                <a:cubicBezTo>
                  <a:pt x="244" y="56"/>
                  <a:pt x="488" y="0"/>
                  <a:pt x="672" y="64"/>
                </a:cubicBezTo>
                <a:cubicBezTo>
                  <a:pt x="856" y="128"/>
                  <a:pt x="936" y="456"/>
                  <a:pt x="1104" y="496"/>
                </a:cubicBezTo>
                <a:cubicBezTo>
                  <a:pt x="1272" y="536"/>
                  <a:pt x="1536" y="360"/>
                  <a:pt x="1680" y="304"/>
                </a:cubicBezTo>
                <a:cubicBezTo>
                  <a:pt x="1824" y="248"/>
                  <a:pt x="1744" y="192"/>
                  <a:pt x="1968" y="160"/>
                </a:cubicBezTo>
                <a:cubicBezTo>
                  <a:pt x="2192" y="128"/>
                  <a:pt x="2728" y="80"/>
                  <a:pt x="3024" y="112"/>
                </a:cubicBezTo>
                <a:cubicBezTo>
                  <a:pt x="3320" y="144"/>
                  <a:pt x="3532" y="248"/>
                  <a:pt x="3744" y="352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2" name="Freeform 36"/>
          <p:cNvSpPr>
            <a:spLocks/>
          </p:cNvSpPr>
          <p:nvPr/>
        </p:nvSpPr>
        <p:spPr bwMode="auto">
          <a:xfrm>
            <a:off x="3475038" y="2343150"/>
            <a:ext cx="2943225" cy="2352675"/>
          </a:xfrm>
          <a:custGeom>
            <a:avLst/>
            <a:gdLst>
              <a:gd name="T0" fmla="*/ 64 w 2040"/>
              <a:gd name="T1" fmla="*/ 1680 h 1680"/>
              <a:gd name="T2" fmla="*/ 64 w 2040"/>
              <a:gd name="T3" fmla="*/ 1440 h 1680"/>
              <a:gd name="T4" fmla="*/ 208 w 2040"/>
              <a:gd name="T5" fmla="*/ 1392 h 1680"/>
              <a:gd name="T6" fmla="*/ 1312 w 2040"/>
              <a:gd name="T7" fmla="*/ 1440 h 1680"/>
              <a:gd name="T8" fmla="*/ 1984 w 2040"/>
              <a:gd name="T9" fmla="*/ 912 h 1680"/>
              <a:gd name="T10" fmla="*/ 1648 w 2040"/>
              <a:gd name="T11" fmla="*/ 240 h 1680"/>
              <a:gd name="T12" fmla="*/ 1792 w 2040"/>
              <a:gd name="T13" fmla="*/ 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0" h="1680">
                <a:moveTo>
                  <a:pt x="64" y="1680"/>
                </a:moveTo>
                <a:cubicBezTo>
                  <a:pt x="52" y="1584"/>
                  <a:pt x="40" y="1488"/>
                  <a:pt x="64" y="1440"/>
                </a:cubicBezTo>
                <a:cubicBezTo>
                  <a:pt x="88" y="1392"/>
                  <a:pt x="0" y="1392"/>
                  <a:pt x="208" y="1392"/>
                </a:cubicBezTo>
                <a:cubicBezTo>
                  <a:pt x="416" y="1392"/>
                  <a:pt x="1016" y="1520"/>
                  <a:pt x="1312" y="1440"/>
                </a:cubicBezTo>
                <a:cubicBezTo>
                  <a:pt x="1608" y="1360"/>
                  <a:pt x="1928" y="1112"/>
                  <a:pt x="1984" y="912"/>
                </a:cubicBezTo>
                <a:cubicBezTo>
                  <a:pt x="2040" y="712"/>
                  <a:pt x="1680" y="392"/>
                  <a:pt x="1648" y="240"/>
                </a:cubicBezTo>
                <a:cubicBezTo>
                  <a:pt x="1616" y="88"/>
                  <a:pt x="1704" y="44"/>
                  <a:pt x="1792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3" name="Freeform 37"/>
          <p:cNvSpPr>
            <a:spLocks/>
          </p:cNvSpPr>
          <p:nvPr/>
        </p:nvSpPr>
        <p:spPr bwMode="auto">
          <a:xfrm>
            <a:off x="3705225" y="2679700"/>
            <a:ext cx="3671888" cy="941388"/>
          </a:xfrm>
          <a:custGeom>
            <a:avLst/>
            <a:gdLst>
              <a:gd name="T0" fmla="*/ 0 w 2544"/>
              <a:gd name="T1" fmla="*/ 0 h 672"/>
              <a:gd name="T2" fmla="*/ 576 w 2544"/>
              <a:gd name="T3" fmla="*/ 288 h 672"/>
              <a:gd name="T4" fmla="*/ 672 w 2544"/>
              <a:gd name="T5" fmla="*/ 480 h 672"/>
              <a:gd name="T6" fmla="*/ 1680 w 2544"/>
              <a:gd name="T7" fmla="*/ 432 h 672"/>
              <a:gd name="T8" fmla="*/ 2544 w 2544"/>
              <a:gd name="T9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4" h="672">
                <a:moveTo>
                  <a:pt x="0" y="0"/>
                </a:moveTo>
                <a:cubicBezTo>
                  <a:pt x="232" y="104"/>
                  <a:pt x="464" y="208"/>
                  <a:pt x="576" y="288"/>
                </a:cubicBezTo>
                <a:cubicBezTo>
                  <a:pt x="688" y="368"/>
                  <a:pt x="488" y="456"/>
                  <a:pt x="672" y="480"/>
                </a:cubicBezTo>
                <a:cubicBezTo>
                  <a:pt x="856" y="504"/>
                  <a:pt x="1368" y="400"/>
                  <a:pt x="1680" y="432"/>
                </a:cubicBezTo>
                <a:cubicBezTo>
                  <a:pt x="1992" y="464"/>
                  <a:pt x="2268" y="568"/>
                  <a:pt x="2544" y="672"/>
                </a:cubicBezTo>
              </a:path>
            </a:pathLst>
          </a:custGeom>
          <a:noFill/>
          <a:ln w="38100" cap="flat" cmpd="sng">
            <a:solidFill>
              <a:srgbClr val="CC99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6" name="Text Box 40"/>
          <p:cNvSpPr txBox="1">
            <a:spLocks noChangeArrowheads="1"/>
          </p:cNvSpPr>
          <p:nvPr/>
        </p:nvSpPr>
        <p:spPr bwMode="auto">
          <a:xfrm>
            <a:off x="762000" y="5562600"/>
            <a:ext cx="777240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dirty="0">
                <a:latin typeface="+mn-lt"/>
              </a:rPr>
              <a:t>Congestion control is a resource allocation problem involving many flows, many links, and complicated global dynamics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88877" y="35814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4343400"/>
            <a:ext cx="95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600Mbps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4050" y="34290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93261-5202-5B50-1A77-587594E27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90" grpId="0" animBg="1"/>
      <p:bldP spid="992291" grpId="0" animBg="1"/>
      <p:bldP spid="992292" grpId="0" animBg="1"/>
      <p:bldP spid="9922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lvl="1"/>
            <a:r>
              <a:rPr lang="en-US" dirty="0"/>
              <a:t>Many packet drops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077CA-B61F-FE96-AD06-0F0157217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lvl="1"/>
            <a:r>
              <a:rPr lang="en-US" dirty="0"/>
              <a:t>Pre-arrange bandwidth allocations</a:t>
            </a:r>
          </a:p>
          <a:p>
            <a:pPr lvl="1"/>
            <a:r>
              <a:rPr lang="en-US" dirty="0"/>
              <a:t>Requires negotiation before sending packets</a:t>
            </a:r>
          </a:p>
          <a:p>
            <a:pPr lvl="1"/>
            <a:r>
              <a:rPr lang="en-US" dirty="0"/>
              <a:t>Low utilization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58ED1-7AE0-DCFD-D0D6-1565ABAB9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69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lvl="1"/>
            <a:r>
              <a:rPr lang="en-US" dirty="0"/>
              <a:t>Don’t drop packets for the high-bidders</a:t>
            </a:r>
          </a:p>
          <a:p>
            <a:pPr lvl="1"/>
            <a:r>
              <a:rPr lang="en-US" dirty="0"/>
              <a:t>Requires payment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8EFA9-48CF-DCF7-7F85-21BC3D5AA7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2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pPr lvl="1"/>
            <a:r>
              <a:rPr lang="en-US" dirty="0"/>
              <a:t>Hosts </a:t>
            </a:r>
            <a:r>
              <a:rPr lang="en-US" dirty="0">
                <a:solidFill>
                  <a:srgbClr val="0000FF"/>
                </a:solidFill>
              </a:rPr>
              <a:t>infer</a:t>
            </a:r>
            <a:r>
              <a:rPr lang="en-US" dirty="0"/>
              <a:t> level of congestion; </a:t>
            </a:r>
            <a:r>
              <a:rPr lang="en-US" dirty="0">
                <a:solidFill>
                  <a:srgbClr val="0000FF"/>
                </a:solidFill>
              </a:rPr>
              <a:t>adjust </a:t>
            </a:r>
          </a:p>
          <a:p>
            <a:pPr lvl="1"/>
            <a:r>
              <a:rPr lang="en-US" dirty="0"/>
              <a:t>Network </a:t>
            </a:r>
            <a:r>
              <a:rPr lang="en-US" dirty="0">
                <a:solidFill>
                  <a:srgbClr val="0000FF"/>
                </a:solidFill>
              </a:rPr>
              <a:t>reports</a:t>
            </a:r>
            <a:r>
              <a:rPr lang="en-US" dirty="0"/>
              <a:t> congestion level to hosts; hosts </a:t>
            </a:r>
            <a:r>
              <a:rPr lang="en-US" dirty="0">
                <a:solidFill>
                  <a:srgbClr val="0000FF"/>
                </a:solidFill>
              </a:rPr>
              <a:t>adjust</a:t>
            </a:r>
          </a:p>
          <a:p>
            <a:pPr lvl="1"/>
            <a:r>
              <a:rPr lang="en-US" dirty="0"/>
              <a:t>Combinations of the above</a:t>
            </a:r>
          </a:p>
          <a:p>
            <a:pPr lvl="1"/>
            <a:r>
              <a:rPr lang="en-US" dirty="0"/>
              <a:t>Simple to implement but suboptimal, messy dynamics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EDDA8-B4B9-0DA7-9AB4-06100F97C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4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Generality</a:t>
            </a:r>
            <a:r>
              <a:rPr lang="en-US" dirty="0"/>
              <a:t> of dynamic adjustment has proven to be very powerful</a:t>
            </a:r>
          </a:p>
          <a:p>
            <a:pPr lvl="1"/>
            <a:r>
              <a:rPr lang="en-US" dirty="0"/>
              <a:t>Doesn’t presume business model, traffic characteristics, application requirements</a:t>
            </a:r>
          </a:p>
          <a:p>
            <a:pPr lvl="1"/>
            <a:r>
              <a:rPr lang="en-US" dirty="0"/>
              <a:t>But does assume good citizenship!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09DA9-1B1F-ED5E-03AE-C6B668A4C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33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TCP’s approach in a nutshell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TCP connection has a window</a:t>
            </a:r>
          </a:p>
          <a:p>
            <a:pPr lvl="1"/>
            <a:r>
              <a:rPr lang="en-US" dirty="0"/>
              <a:t>Controls number of packets in flight </a:t>
            </a:r>
          </a:p>
          <a:p>
            <a:r>
              <a:rPr lang="en-US" dirty="0"/>
              <a:t>Sending rate ~</a:t>
            </a:r>
            <a:r>
              <a:rPr lang="en-US" dirty="0">
                <a:solidFill>
                  <a:srgbClr val="0000FF"/>
                </a:solidFill>
              </a:rPr>
              <a:t>Window/RTT</a:t>
            </a:r>
          </a:p>
          <a:p>
            <a:r>
              <a:rPr lang="en-US" dirty="0">
                <a:solidFill>
                  <a:srgbClr val="0000FF"/>
                </a:solidFill>
              </a:rPr>
              <a:t>Vary window size to control sending rate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C3C23-3532-F50A-A69E-16D4A331AE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90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to keep in mind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Congestion Window: </a:t>
            </a:r>
            <a:r>
              <a:rPr lang="en-US" dirty="0">
                <a:solidFill>
                  <a:srgbClr val="0000FF"/>
                </a:solidFill>
              </a:rPr>
              <a:t>CWND</a:t>
            </a:r>
          </a:p>
          <a:p>
            <a:pPr lvl="1"/>
            <a:r>
              <a:rPr lang="en-US" dirty="0"/>
              <a:t>Bytes that can be sent without overflowing routers</a:t>
            </a:r>
          </a:p>
          <a:p>
            <a:pPr lvl="1"/>
            <a:r>
              <a:rPr lang="en-US" dirty="0"/>
              <a:t>Computed by sender using congestion control algo.</a:t>
            </a:r>
          </a:p>
          <a:p>
            <a:r>
              <a:rPr lang="en-US" dirty="0"/>
              <a:t>Flow control window: </a:t>
            </a:r>
            <a:r>
              <a:rPr lang="en-US" dirty="0">
                <a:solidFill>
                  <a:srgbClr val="0000FF"/>
                </a:solidFill>
              </a:rPr>
              <a:t>RWND</a:t>
            </a:r>
          </a:p>
          <a:p>
            <a:pPr lvl="1"/>
            <a:r>
              <a:rPr lang="en-US" dirty="0"/>
              <a:t>Bytes that can be sent without overflowing receiver</a:t>
            </a:r>
          </a:p>
          <a:p>
            <a:pPr lvl="1"/>
            <a:r>
              <a:rPr lang="en-US" dirty="0"/>
              <a:t>Determined by the receiver and reported to the sender</a:t>
            </a:r>
          </a:p>
          <a:p>
            <a:r>
              <a:rPr lang="en-US" dirty="0"/>
              <a:t>Sender-side window = </a:t>
            </a:r>
            <a:r>
              <a:rPr lang="en-US" dirty="0">
                <a:solidFill>
                  <a:srgbClr val="0000FF"/>
                </a:solidFill>
              </a:rPr>
              <a:t>min {CWND, RWND}</a:t>
            </a:r>
          </a:p>
          <a:p>
            <a:pPr lvl="1"/>
            <a:r>
              <a:rPr lang="en-US" dirty="0"/>
              <a:t>Assume for this lecture that RWND &gt;&gt; CWND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77183-0AB5-3DE7-0AF2-7FCF59D3F9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lecture talks about CWND in units of MSS </a:t>
            </a:r>
          </a:p>
          <a:p>
            <a:pPr lvl="1"/>
            <a:r>
              <a:rPr lang="en-US" dirty="0"/>
              <a:t>MSS (Maximum Segment Size): the amount of payload data in a TCP packet</a:t>
            </a:r>
          </a:p>
          <a:p>
            <a:pPr lvl="1"/>
            <a:r>
              <a:rPr lang="en-US" dirty="0"/>
              <a:t>This is </a:t>
            </a:r>
            <a:r>
              <a:rPr lang="en-US" i="1" dirty="0"/>
              <a:t>only for the simplicity</a:t>
            </a:r>
            <a:r>
              <a:rPr lang="en-US" dirty="0"/>
              <a:t> of presentation</a:t>
            </a:r>
          </a:p>
          <a:p>
            <a:r>
              <a:rPr lang="en-US" dirty="0">
                <a:solidFill>
                  <a:srgbClr val="0000FF"/>
                </a:solidFill>
              </a:rPr>
              <a:t>Real implementations maintain CWND in bytes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96D3-E442-2D53-FD48-66893B2661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3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basic questions</a:t>
            </a:r>
            <a:endParaRPr lang="en-US" dirty="0"/>
          </a:p>
        </p:txBody>
      </p:sp>
      <p:sp>
        <p:nvSpPr>
          <p:cNvPr id="990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sender detect congestion?</a:t>
            </a:r>
          </a:p>
          <a:p>
            <a:r>
              <a:rPr lang="en-US" dirty="0"/>
              <a:t>How does the sender adjust its sending rate?</a:t>
            </a:r>
          </a:p>
          <a:p>
            <a:pPr lvl="1"/>
            <a:r>
              <a:rPr lang="en-US" dirty="0"/>
              <a:t>To address three issues</a:t>
            </a:r>
          </a:p>
          <a:p>
            <a:pPr lvl="2"/>
            <a:r>
              <a:rPr lang="en-US" dirty="0"/>
              <a:t>Finding available bottleneck bandwidth</a:t>
            </a:r>
          </a:p>
          <a:p>
            <a:pPr lvl="2"/>
            <a:r>
              <a:rPr lang="en-US" dirty="0"/>
              <a:t>Adjusting to bandwidth variations</a:t>
            </a:r>
          </a:p>
          <a:p>
            <a:pPr lvl="2"/>
            <a:r>
              <a:rPr lang="en-US" dirty="0"/>
              <a:t>Sharing bandwidth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B01A0-04C0-BCE6-6103-A1BB02309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congestion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delays </a:t>
            </a:r>
          </a:p>
          <a:p>
            <a:pPr lvl="1"/>
            <a:r>
              <a:rPr lang="en-US" dirty="0"/>
              <a:t>Tricky: noisy signal (delay often varies considerably)</a:t>
            </a:r>
          </a:p>
          <a:p>
            <a:r>
              <a:rPr lang="en-US" dirty="0"/>
              <a:t>Routers tell end hosts when they’re congested</a:t>
            </a:r>
          </a:p>
          <a:p>
            <a:r>
              <a:rPr lang="en-US" dirty="0"/>
              <a:t>Packet loss</a:t>
            </a:r>
          </a:p>
          <a:p>
            <a:pPr lvl="1"/>
            <a:r>
              <a:rPr lang="en-US" dirty="0"/>
              <a:t>Fail-safe signal that TCP already has to detect</a:t>
            </a:r>
          </a:p>
          <a:p>
            <a:pPr lvl="1"/>
            <a:r>
              <a:rPr lang="en-US" dirty="0"/>
              <a:t>Complication: non-congestive loss (e.g., checksum errors)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83B9E-0804-4E61-88CF-30F849595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8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39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losses are the same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ACKs: isolated loss</a:t>
            </a:r>
          </a:p>
          <a:p>
            <a:pPr lvl="1"/>
            <a:r>
              <a:rPr lang="en-US" dirty="0"/>
              <a:t>Still getting ACKs</a:t>
            </a:r>
          </a:p>
          <a:p>
            <a:r>
              <a:rPr lang="en-US" dirty="0"/>
              <a:t>Timeout: much more serious</a:t>
            </a:r>
          </a:p>
          <a:p>
            <a:pPr lvl="1"/>
            <a:r>
              <a:rPr lang="en-US" dirty="0"/>
              <a:t>Not enough </a:t>
            </a:r>
            <a:r>
              <a:rPr lang="en-US" dirty="0" err="1"/>
              <a:t>dupacks</a:t>
            </a:r>
            <a:endParaRPr lang="en-US" dirty="0"/>
          </a:p>
          <a:p>
            <a:pPr lvl="1"/>
            <a:r>
              <a:rPr lang="en-US" dirty="0"/>
              <a:t>Must have suffered several losses</a:t>
            </a:r>
          </a:p>
          <a:p>
            <a:r>
              <a:rPr lang="en-US" dirty="0">
                <a:solidFill>
                  <a:srgbClr val="0000FF"/>
                </a:solidFill>
              </a:rPr>
              <a:t>Will adjust rate differently for each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2FC46-D575-2A73-67CC-46F85B8E90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8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adjustment</a:t>
            </a:r>
          </a:p>
        </p:txBody>
      </p:sp>
      <p:sp>
        <p:nvSpPr>
          <p:cNvPr id="991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structure</a:t>
            </a:r>
          </a:p>
          <a:p>
            <a:pPr lvl="1"/>
            <a:r>
              <a:rPr lang="en-US" dirty="0"/>
              <a:t>Upon receipt of ACK (of new data): </a:t>
            </a:r>
            <a:r>
              <a:rPr lang="en-US" dirty="0">
                <a:solidFill>
                  <a:srgbClr val="0000FF"/>
                </a:solidFill>
              </a:rPr>
              <a:t>increase rate</a:t>
            </a:r>
          </a:p>
          <a:p>
            <a:pPr lvl="1"/>
            <a:r>
              <a:rPr lang="en-US" dirty="0"/>
              <a:t>Upon detection of loss: </a:t>
            </a:r>
            <a:r>
              <a:rPr lang="en-US" dirty="0">
                <a:solidFill>
                  <a:srgbClr val="0000FF"/>
                </a:solidFill>
              </a:rPr>
              <a:t>decrease rate</a:t>
            </a:r>
          </a:p>
          <a:p>
            <a:r>
              <a:rPr lang="en-US" dirty="0"/>
              <a:t>How we increase/decrease the rate depends on the phase of congestion control we’re in: </a:t>
            </a:r>
          </a:p>
          <a:p>
            <a:pPr lvl="1"/>
            <a:r>
              <a:rPr lang="en-US" dirty="0"/>
              <a:t>Discovering available bottleneck bandwidth vs.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C748C-6747-1795-9A63-3A2E7D4BE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03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discovery with “Slow Start”</a:t>
            </a:r>
          </a:p>
        </p:txBody>
      </p:sp>
      <p:sp>
        <p:nvSpPr>
          <p:cNvPr id="109571" name="Subtitle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estimate available bandwidth </a:t>
            </a:r>
          </a:p>
          <a:p>
            <a:pPr lvl="1"/>
            <a:r>
              <a:rPr lang="en-US" dirty="0"/>
              <a:t>Start slow (for </a:t>
            </a:r>
            <a:r>
              <a:rPr lang="en-US" dirty="0">
                <a:solidFill>
                  <a:srgbClr val="0000FF"/>
                </a:solidFill>
              </a:rPr>
              <a:t>safety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Ramp up quickly (for </a:t>
            </a:r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) </a:t>
            </a:r>
          </a:p>
          <a:p>
            <a:r>
              <a:rPr lang="en-US" dirty="0"/>
              <a:t>Consider</a:t>
            </a:r>
          </a:p>
          <a:p>
            <a:pPr lvl="1"/>
            <a:r>
              <a:rPr lang="en-US" dirty="0"/>
              <a:t>RTT = 100ms, MSS=1000bytes</a:t>
            </a:r>
          </a:p>
          <a:p>
            <a:pPr lvl="1"/>
            <a:r>
              <a:rPr lang="en-US" dirty="0"/>
              <a:t>Window size to fill 1Mbps of BW = 12.5 packets</a:t>
            </a:r>
          </a:p>
          <a:p>
            <a:pPr lvl="1"/>
            <a:r>
              <a:rPr lang="en-US" dirty="0"/>
              <a:t>Window size to fill 1Gbps = 12,500 packets</a:t>
            </a:r>
          </a:p>
          <a:p>
            <a:pPr lvl="1"/>
            <a:r>
              <a:rPr lang="en-US" dirty="0"/>
              <a:t>Either is possible! 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91DDD-D2DC-7E3D-7E0D-E84652F2A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E64333-3688-5E62-2226-C3D565B94687}"/>
                  </a:ext>
                </a:extLst>
              </p14:cNvPr>
              <p14:cNvContentPartPr/>
              <p14:nvPr/>
            </p14:nvContentPartPr>
            <p14:xfrm>
              <a:off x="5569560" y="2364480"/>
              <a:ext cx="3161520" cy="160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E64333-3688-5E62-2226-C3D565B946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0200" y="2355120"/>
                <a:ext cx="3180240" cy="16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96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Slow Start phase</a:t>
            </a:r>
            <a:endParaRPr lang="en-US" dirty="0"/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starts at a slow rate, but </a:t>
            </a:r>
            <a:r>
              <a:rPr lang="en-US" dirty="0">
                <a:solidFill>
                  <a:srgbClr val="0000FF"/>
                </a:solidFill>
              </a:rPr>
              <a:t>increases exponentially </a:t>
            </a:r>
            <a:r>
              <a:rPr lang="en-US" dirty="0"/>
              <a:t>until first loss</a:t>
            </a:r>
          </a:p>
          <a:p>
            <a:r>
              <a:rPr lang="en-US" dirty="0"/>
              <a:t>Start with a small congestion window</a:t>
            </a:r>
          </a:p>
          <a:p>
            <a:pPr lvl="1"/>
            <a:r>
              <a:rPr lang="en-US" dirty="0"/>
              <a:t>Initially, </a:t>
            </a:r>
            <a:r>
              <a:rPr lang="en-US" dirty="0">
                <a:solidFill>
                  <a:srgbClr val="D60093"/>
                </a:solidFill>
              </a:rPr>
              <a:t>CWND = 1</a:t>
            </a:r>
            <a:r>
              <a:rPr lang="zh-CN" altLang="en-US" dirty="0">
                <a:solidFill>
                  <a:srgbClr val="D60093"/>
                </a:solidFill>
              </a:rPr>
              <a:t>*</a:t>
            </a:r>
            <a:endParaRPr lang="en-US" dirty="0">
              <a:solidFill>
                <a:srgbClr val="D60093"/>
              </a:solidFill>
            </a:endParaRPr>
          </a:p>
          <a:p>
            <a:pPr lvl="1"/>
            <a:r>
              <a:rPr lang="en-US" dirty="0"/>
              <a:t>So, initial sending rate is MSS/RTT</a:t>
            </a:r>
          </a:p>
          <a:p>
            <a:r>
              <a:rPr lang="en-US" dirty="0">
                <a:solidFill>
                  <a:srgbClr val="D60093"/>
                </a:solidFill>
              </a:rPr>
              <a:t>Double</a:t>
            </a:r>
            <a:r>
              <a:rPr lang="en-US" dirty="0"/>
              <a:t> the CWND for each RTT with no loss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1BA54-2B64-B7DB-2502-E572DEDF9761}"/>
              </a:ext>
            </a:extLst>
          </p:cNvPr>
          <p:cNvSpPr txBox="1"/>
          <p:nvPr/>
        </p:nvSpPr>
        <p:spPr>
          <a:xfrm>
            <a:off x="1219200" y="533400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An Argument for Increasing TCP’s Initial Congestion Window</a:t>
            </a:r>
            <a:r>
              <a:rPr lang="zh-CN" altLang="en-US" dirty="0"/>
              <a:t> </a:t>
            </a:r>
            <a:r>
              <a:rPr lang="en-HK" altLang="zh-CN" dirty="0">
                <a:hlinkClick r:id="rId3"/>
              </a:rPr>
              <a:t>https://static.googleusercontent.com/media/research.google.com/en//pubs/archive/36640.pdf</a:t>
            </a:r>
            <a:endParaRPr lang="en-HK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FF74E-8BCB-8DEC-F7CC-34286C8B14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 bwMode="auto">
          <a:xfrm rot="10800000">
            <a:off x="1524000" y="4419600"/>
            <a:ext cx="7391400" cy="1447800"/>
          </a:xfrm>
          <a:prstGeom prst="wedgeRoundRectCallout">
            <a:avLst>
              <a:gd name="adj1" fmla="val 4049"/>
              <a:gd name="adj2" fmla="val 179599"/>
              <a:gd name="adj3" fmla="val 16667"/>
            </a:avLst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400" y="4684693"/>
            <a:ext cx="716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Linear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</a:rPr>
              <a:t>ACK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(CWND+1) 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 exponential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RTT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 (2*CWND)</a:t>
            </a:r>
            <a:endParaRPr lang="en-US" sz="2800" b="0" dirty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7A757-C6BF-683F-41A1-E32CF75AA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239838"/>
          </a:xfrm>
        </p:spPr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992262" name="Line 6"/>
          <p:cNvSpPr>
            <a:spLocks noChangeShapeType="1"/>
          </p:cNvSpPr>
          <p:nvPr/>
        </p:nvSpPr>
        <p:spPr bwMode="auto">
          <a:xfrm>
            <a:off x="16002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4" name="Line 8"/>
          <p:cNvSpPr>
            <a:spLocks noChangeShapeType="1"/>
          </p:cNvSpPr>
          <p:nvPr/>
        </p:nvSpPr>
        <p:spPr bwMode="auto">
          <a:xfrm>
            <a:off x="34290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6" name="Line 10"/>
          <p:cNvSpPr>
            <a:spLocks noChangeShapeType="1"/>
          </p:cNvSpPr>
          <p:nvPr/>
        </p:nvSpPr>
        <p:spPr bwMode="auto">
          <a:xfrm>
            <a:off x="37338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4" name="Rectangle 18"/>
          <p:cNvSpPr>
            <a:spLocks noChangeArrowheads="1"/>
          </p:cNvSpPr>
          <p:nvPr/>
        </p:nvSpPr>
        <p:spPr bwMode="auto">
          <a:xfrm>
            <a:off x="16002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>
            <a:off x="18288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6" name="Rectangle 20"/>
          <p:cNvSpPr>
            <a:spLocks noChangeArrowheads="1"/>
          </p:cNvSpPr>
          <p:nvPr/>
        </p:nvSpPr>
        <p:spPr bwMode="auto">
          <a:xfrm>
            <a:off x="3429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>
            <a:off x="3657600" y="3992563"/>
            <a:ext cx="0" cy="153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8" name="Rectangle 22"/>
          <p:cNvSpPr>
            <a:spLocks noChangeArrowheads="1"/>
          </p:cNvSpPr>
          <p:nvPr/>
        </p:nvSpPr>
        <p:spPr bwMode="auto">
          <a:xfrm>
            <a:off x="3810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40386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98" name="Text Box 42"/>
          <p:cNvSpPr txBox="1">
            <a:spLocks noChangeArrowheads="1"/>
          </p:cNvSpPr>
          <p:nvPr/>
        </p:nvSpPr>
        <p:spPr bwMode="auto">
          <a:xfrm>
            <a:off x="1676400" y="4894263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2438400" y="4219575"/>
            <a:ext cx="990600" cy="1828800"/>
            <a:chOff x="1536" y="2448"/>
            <a:chExt cx="624" cy="1152"/>
          </a:xfrm>
        </p:grpSpPr>
        <p:sp>
          <p:nvSpPr>
            <p:cNvPr id="80972" name="Line 7"/>
            <p:cNvSpPr>
              <a:spLocks noChangeShapeType="1"/>
            </p:cNvSpPr>
            <p:nvPr/>
          </p:nvSpPr>
          <p:spPr bwMode="auto">
            <a:xfrm flipV="1">
              <a:off x="1536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3" name="Text Box 43"/>
            <p:cNvSpPr txBox="1">
              <a:spLocks noChangeArrowheads="1"/>
            </p:cNvSpPr>
            <p:nvPr/>
          </p:nvSpPr>
          <p:spPr bwMode="auto">
            <a:xfrm>
              <a:off x="1664" y="288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sp>
        <p:nvSpPr>
          <p:cNvPr id="992300" name="Text Box 44"/>
          <p:cNvSpPr txBox="1">
            <a:spLocks noChangeArrowheads="1"/>
          </p:cNvSpPr>
          <p:nvPr/>
        </p:nvSpPr>
        <p:spPr bwMode="auto">
          <a:xfrm>
            <a:off x="35052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992301" name="Text Box 45"/>
          <p:cNvSpPr txBox="1">
            <a:spLocks noChangeArrowheads="1"/>
          </p:cNvSpPr>
          <p:nvPr/>
        </p:nvSpPr>
        <p:spPr bwMode="auto">
          <a:xfrm>
            <a:off x="37846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4267200" y="4219575"/>
            <a:ext cx="990600" cy="1828800"/>
            <a:chOff x="2688" y="2448"/>
            <a:chExt cx="624" cy="1152"/>
          </a:xfrm>
        </p:grpSpPr>
        <p:sp>
          <p:nvSpPr>
            <p:cNvPr id="80970" name="Line 9"/>
            <p:cNvSpPr>
              <a:spLocks noChangeShapeType="1"/>
            </p:cNvSpPr>
            <p:nvPr/>
          </p:nvSpPr>
          <p:spPr bwMode="auto">
            <a:xfrm flipV="1">
              <a:off x="2688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1" name="Text Box 46"/>
            <p:cNvSpPr txBox="1">
              <a:spLocks noChangeArrowheads="1"/>
            </p:cNvSpPr>
            <p:nvPr/>
          </p:nvSpPr>
          <p:spPr bwMode="auto">
            <a:xfrm>
              <a:off x="2832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4572000" y="4219575"/>
            <a:ext cx="990600" cy="1828800"/>
            <a:chOff x="2880" y="2448"/>
            <a:chExt cx="624" cy="1152"/>
          </a:xfrm>
        </p:grpSpPr>
        <p:sp>
          <p:nvSpPr>
            <p:cNvPr id="80968" name="Line 11"/>
            <p:cNvSpPr>
              <a:spLocks noChangeShapeType="1"/>
            </p:cNvSpPr>
            <p:nvPr/>
          </p:nvSpPr>
          <p:spPr bwMode="auto">
            <a:xfrm flipV="1">
              <a:off x="2880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9" name="Text Box 47"/>
            <p:cNvSpPr txBox="1">
              <a:spLocks noChangeArrowheads="1"/>
            </p:cNvSpPr>
            <p:nvPr/>
          </p:nvSpPr>
          <p:spPr bwMode="auto">
            <a:xfrm>
              <a:off x="3024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5257800" y="4219575"/>
            <a:ext cx="1143000" cy="1828800"/>
            <a:chOff x="3312" y="2448"/>
            <a:chExt cx="720" cy="1152"/>
          </a:xfrm>
        </p:grpSpPr>
        <p:sp>
          <p:nvSpPr>
            <p:cNvPr id="80964" name="Line 12"/>
            <p:cNvSpPr>
              <a:spLocks noChangeShapeType="1"/>
            </p:cNvSpPr>
            <p:nvPr/>
          </p:nvSpPr>
          <p:spPr bwMode="auto">
            <a:xfrm>
              <a:off x="3312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5" name="Line 14"/>
            <p:cNvSpPr>
              <a:spLocks noChangeShapeType="1"/>
            </p:cNvSpPr>
            <p:nvPr/>
          </p:nvSpPr>
          <p:spPr bwMode="auto">
            <a:xfrm>
              <a:off x="350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6" name="Text Box 48"/>
            <p:cNvSpPr txBox="1">
              <a:spLocks noChangeArrowheads="1"/>
            </p:cNvSpPr>
            <p:nvPr/>
          </p:nvSpPr>
          <p:spPr bwMode="auto">
            <a:xfrm>
              <a:off x="3360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7" name="Text Box 49"/>
            <p:cNvSpPr txBox="1">
              <a:spLocks noChangeArrowheads="1"/>
            </p:cNvSpPr>
            <p:nvPr/>
          </p:nvSpPr>
          <p:spPr bwMode="auto">
            <a:xfrm>
              <a:off x="353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200" y="3914775"/>
            <a:ext cx="7772400" cy="2290465"/>
            <a:chOff x="457200" y="3914775"/>
            <a:chExt cx="7772400" cy="2290465"/>
          </a:xfrm>
        </p:grpSpPr>
        <p:sp>
          <p:nvSpPr>
            <p:cNvPr id="80900" name="Line 4"/>
            <p:cNvSpPr>
              <a:spLocks noChangeShapeType="1"/>
            </p:cNvSpPr>
            <p:nvPr/>
          </p:nvSpPr>
          <p:spPr bwMode="auto">
            <a:xfrm>
              <a:off x="1371600" y="4219575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01" name="Line 5"/>
            <p:cNvSpPr>
              <a:spLocks noChangeShapeType="1"/>
            </p:cNvSpPr>
            <p:nvPr/>
          </p:nvSpPr>
          <p:spPr bwMode="auto">
            <a:xfrm>
              <a:off x="1295400" y="6048375"/>
              <a:ext cx="6934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18" name="Text Box 54"/>
            <p:cNvSpPr txBox="1">
              <a:spLocks noChangeArrowheads="1"/>
            </p:cNvSpPr>
            <p:nvPr/>
          </p:nvSpPr>
          <p:spPr bwMode="auto">
            <a:xfrm>
              <a:off x="609600" y="3914775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Src</a:t>
              </a:r>
            </a:p>
          </p:txBody>
        </p:sp>
        <p:sp>
          <p:nvSpPr>
            <p:cNvPr id="80919" name="Text Box 55"/>
            <p:cNvSpPr txBox="1">
              <a:spLocks noChangeArrowheads="1"/>
            </p:cNvSpPr>
            <p:nvPr/>
          </p:nvSpPr>
          <p:spPr bwMode="auto">
            <a:xfrm>
              <a:off x="457200" y="5743575"/>
              <a:ext cx="8178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Dest</a:t>
              </a:r>
              <a:endParaRPr lang="en-US" sz="2400" b="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5943600" y="4219575"/>
            <a:ext cx="1219200" cy="1828800"/>
            <a:chOff x="3744" y="2448"/>
            <a:chExt cx="768" cy="1152"/>
          </a:xfrm>
        </p:grpSpPr>
        <p:sp>
          <p:nvSpPr>
            <p:cNvPr id="80960" name="Line 16"/>
            <p:cNvSpPr>
              <a:spLocks noChangeShapeType="1"/>
            </p:cNvSpPr>
            <p:nvPr/>
          </p:nvSpPr>
          <p:spPr bwMode="auto">
            <a:xfrm>
              <a:off x="374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1" name="Text Box 52"/>
            <p:cNvSpPr txBox="1">
              <a:spLocks noChangeArrowheads="1"/>
            </p:cNvSpPr>
            <p:nvPr/>
          </p:nvSpPr>
          <p:spPr bwMode="auto">
            <a:xfrm>
              <a:off x="377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2" name="Line 56"/>
            <p:cNvSpPr>
              <a:spLocks noChangeShapeType="1"/>
            </p:cNvSpPr>
            <p:nvPr/>
          </p:nvSpPr>
          <p:spPr bwMode="auto">
            <a:xfrm>
              <a:off x="398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3" name="Text Box 57"/>
            <p:cNvSpPr txBox="1">
              <a:spLocks noChangeArrowheads="1"/>
            </p:cNvSpPr>
            <p:nvPr/>
          </p:nvSpPr>
          <p:spPr bwMode="auto">
            <a:xfrm>
              <a:off x="4016" y="281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sp>
        <p:nvSpPr>
          <p:cNvPr id="992318" name="Text Box 62"/>
          <p:cNvSpPr txBox="1">
            <a:spLocks noChangeArrowheads="1"/>
          </p:cNvSpPr>
          <p:nvPr/>
        </p:nvSpPr>
        <p:spPr bwMode="auto">
          <a:xfrm>
            <a:off x="1600200" y="36576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992319" name="Text Box 63"/>
          <p:cNvSpPr txBox="1">
            <a:spLocks noChangeArrowheads="1"/>
          </p:cNvSpPr>
          <p:nvPr/>
        </p:nvSpPr>
        <p:spPr bwMode="auto">
          <a:xfrm>
            <a:off x="3657600" y="367030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5715000" y="3683000"/>
            <a:ext cx="990600" cy="460375"/>
            <a:chOff x="3600" y="2110"/>
            <a:chExt cx="624" cy="290"/>
          </a:xfrm>
        </p:grpSpPr>
        <p:sp>
          <p:nvSpPr>
            <p:cNvPr id="80955" name="Rectangle 32"/>
            <p:cNvSpPr>
              <a:spLocks noChangeArrowheads="1"/>
            </p:cNvSpPr>
            <p:nvPr/>
          </p:nvSpPr>
          <p:spPr bwMode="auto">
            <a:xfrm>
              <a:off x="379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6" name="Line 33"/>
            <p:cNvSpPr>
              <a:spLocks noChangeShapeType="1"/>
            </p:cNvSpPr>
            <p:nvPr/>
          </p:nvSpPr>
          <p:spPr bwMode="auto">
            <a:xfrm>
              <a:off x="393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7" name="Rectangle 58"/>
            <p:cNvSpPr>
              <a:spLocks noChangeArrowheads="1"/>
            </p:cNvSpPr>
            <p:nvPr/>
          </p:nvSpPr>
          <p:spPr bwMode="auto">
            <a:xfrm>
              <a:off x="403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8" name="Line 59"/>
            <p:cNvSpPr>
              <a:spLocks noChangeShapeType="1"/>
            </p:cNvSpPr>
            <p:nvPr/>
          </p:nvSpPr>
          <p:spPr bwMode="auto">
            <a:xfrm>
              <a:off x="417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9" name="Text Box 64"/>
            <p:cNvSpPr txBox="1">
              <a:spLocks noChangeArrowheads="1"/>
            </p:cNvSpPr>
            <p:nvPr/>
          </p:nvSpPr>
          <p:spPr bwMode="auto">
            <a:xfrm>
              <a:off x="3600" y="2110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4</a:t>
              </a:r>
            </a:p>
          </p:txBody>
        </p:sp>
      </p:grp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5257800" y="3678238"/>
            <a:ext cx="685800" cy="465137"/>
            <a:chOff x="3312" y="2107"/>
            <a:chExt cx="432" cy="293"/>
          </a:xfrm>
        </p:grpSpPr>
        <p:sp>
          <p:nvSpPr>
            <p:cNvPr id="80949" name="Rectangle 26"/>
            <p:cNvSpPr>
              <a:spLocks noChangeArrowheads="1"/>
            </p:cNvSpPr>
            <p:nvPr/>
          </p:nvSpPr>
          <p:spPr bwMode="auto">
            <a:xfrm>
              <a:off x="355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0" name="Line 27"/>
            <p:cNvSpPr>
              <a:spLocks noChangeShapeType="1"/>
            </p:cNvSpPr>
            <p:nvPr/>
          </p:nvSpPr>
          <p:spPr bwMode="auto">
            <a:xfrm>
              <a:off x="369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grpSp>
          <p:nvGrpSpPr>
            <p:cNvPr id="80951" name="Group 69"/>
            <p:cNvGrpSpPr>
              <a:grpSpLocks/>
            </p:cNvGrpSpPr>
            <p:nvPr/>
          </p:nvGrpSpPr>
          <p:grpSpPr bwMode="auto">
            <a:xfrm>
              <a:off x="3312" y="2107"/>
              <a:ext cx="262" cy="293"/>
              <a:chOff x="3312" y="2107"/>
              <a:chExt cx="262" cy="293"/>
            </a:xfrm>
          </p:grpSpPr>
          <p:sp>
            <p:nvSpPr>
              <p:cNvPr id="80952" name="Rectangle 24"/>
              <p:cNvSpPr>
                <a:spLocks noChangeArrowheads="1"/>
              </p:cNvSpPr>
              <p:nvPr/>
            </p:nvSpPr>
            <p:spPr bwMode="auto">
              <a:xfrm>
                <a:off x="3312" y="2304"/>
                <a:ext cx="192" cy="9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3" name="Line 25"/>
              <p:cNvSpPr>
                <a:spLocks noChangeShapeType="1"/>
              </p:cNvSpPr>
              <p:nvPr/>
            </p:nvSpPr>
            <p:spPr bwMode="auto">
              <a:xfrm flipH="1">
                <a:off x="3456" y="230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4" name="Text Box 66"/>
              <p:cNvSpPr txBox="1">
                <a:spLocks noChangeArrowheads="1"/>
              </p:cNvSpPr>
              <p:nvPr/>
            </p:nvSpPr>
            <p:spPr bwMode="auto">
              <a:xfrm>
                <a:off x="3360" y="2107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9pPr>
              </a:lstStyle>
              <a:p>
                <a:pPr algn="l"/>
                <a:r>
                  <a:rPr lang="en-US" b="0">
                    <a:solidFill>
                      <a:srgbClr val="000099"/>
                    </a:solidFill>
                    <a:latin typeface="Arial" charset="0"/>
                    <a:ea typeface="Arial" charset="0"/>
                    <a:cs typeface="Arial" charset="0"/>
                  </a:rPr>
                  <a:t>3</a:t>
                </a:r>
              </a:p>
            </p:txBody>
          </p:sp>
        </p:grpSp>
      </p:grpSp>
      <p:sp>
        <p:nvSpPr>
          <p:cNvPr id="992331" name="Oval 75"/>
          <p:cNvSpPr>
            <a:spLocks noChangeArrowheads="1"/>
          </p:cNvSpPr>
          <p:nvPr/>
        </p:nvSpPr>
        <p:spPr bwMode="auto">
          <a:xfrm>
            <a:off x="3733800" y="3914775"/>
            <a:ext cx="2286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6096000" y="3686175"/>
            <a:ext cx="2473325" cy="2362200"/>
            <a:chOff x="3840" y="2112"/>
            <a:chExt cx="1558" cy="1488"/>
          </a:xfrm>
        </p:grpSpPr>
        <p:sp>
          <p:nvSpPr>
            <p:cNvPr id="80928" name="Line 77"/>
            <p:cNvSpPr>
              <a:spLocks noChangeShapeType="1"/>
            </p:cNvSpPr>
            <p:nvPr/>
          </p:nvSpPr>
          <p:spPr bwMode="auto">
            <a:xfrm flipV="1">
              <a:off x="3840" y="2450"/>
              <a:ext cx="623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29" name="Line 78"/>
            <p:cNvSpPr>
              <a:spLocks noChangeShapeType="1"/>
            </p:cNvSpPr>
            <p:nvPr/>
          </p:nvSpPr>
          <p:spPr bwMode="auto">
            <a:xfrm flipV="1">
              <a:off x="403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0" name="Line 79"/>
            <p:cNvSpPr>
              <a:spLocks noChangeShapeType="1"/>
            </p:cNvSpPr>
            <p:nvPr/>
          </p:nvSpPr>
          <p:spPr bwMode="auto">
            <a:xfrm flipV="1">
              <a:off x="427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1" name="Rectangle 80"/>
            <p:cNvSpPr>
              <a:spLocks noChangeArrowheads="1"/>
            </p:cNvSpPr>
            <p:nvPr/>
          </p:nvSpPr>
          <p:spPr bwMode="auto">
            <a:xfrm>
              <a:off x="446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2" name="Line 81"/>
            <p:cNvSpPr>
              <a:spLocks noChangeShapeType="1"/>
            </p:cNvSpPr>
            <p:nvPr/>
          </p:nvSpPr>
          <p:spPr bwMode="auto">
            <a:xfrm>
              <a:off x="4608" y="2305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3" name="Rectangle 82"/>
            <p:cNvSpPr>
              <a:spLocks noChangeArrowheads="1"/>
            </p:cNvSpPr>
            <p:nvPr/>
          </p:nvSpPr>
          <p:spPr bwMode="auto">
            <a:xfrm>
              <a:off x="470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4" name="Line 83"/>
            <p:cNvSpPr>
              <a:spLocks noChangeShapeType="1"/>
            </p:cNvSpPr>
            <p:nvPr/>
          </p:nvSpPr>
          <p:spPr bwMode="auto">
            <a:xfrm>
              <a:off x="4848" y="2305"/>
              <a:ext cx="0" cy="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5" name="Rectangle 84"/>
            <p:cNvSpPr>
              <a:spLocks noChangeArrowheads="1"/>
            </p:cNvSpPr>
            <p:nvPr/>
          </p:nvSpPr>
          <p:spPr bwMode="auto">
            <a:xfrm>
              <a:off x="494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6" name="Line 85"/>
            <p:cNvSpPr>
              <a:spLocks noChangeShapeType="1"/>
            </p:cNvSpPr>
            <p:nvPr/>
          </p:nvSpPr>
          <p:spPr bwMode="auto">
            <a:xfrm>
              <a:off x="508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7" name="Rectangle 86"/>
            <p:cNvSpPr>
              <a:spLocks noChangeArrowheads="1"/>
            </p:cNvSpPr>
            <p:nvPr/>
          </p:nvSpPr>
          <p:spPr bwMode="auto">
            <a:xfrm>
              <a:off x="518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8" name="Line 87"/>
            <p:cNvSpPr>
              <a:spLocks noChangeShapeType="1"/>
            </p:cNvSpPr>
            <p:nvPr/>
          </p:nvSpPr>
          <p:spPr bwMode="auto">
            <a:xfrm>
              <a:off x="532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9" name="Line 88"/>
            <p:cNvSpPr>
              <a:spLocks noChangeShapeType="1"/>
            </p:cNvSpPr>
            <p:nvPr/>
          </p:nvSpPr>
          <p:spPr bwMode="auto">
            <a:xfrm>
              <a:off x="4464" y="2496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0" name="Line 89"/>
            <p:cNvSpPr>
              <a:spLocks noChangeShapeType="1"/>
            </p:cNvSpPr>
            <p:nvPr/>
          </p:nvSpPr>
          <p:spPr bwMode="auto">
            <a:xfrm>
              <a:off x="465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1" name="Line 90"/>
            <p:cNvSpPr>
              <a:spLocks noChangeShapeType="1"/>
            </p:cNvSpPr>
            <p:nvPr/>
          </p:nvSpPr>
          <p:spPr bwMode="auto">
            <a:xfrm>
              <a:off x="489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2" name="Line 91"/>
            <p:cNvSpPr>
              <a:spLocks noChangeShapeType="1"/>
            </p:cNvSpPr>
            <p:nvPr/>
          </p:nvSpPr>
          <p:spPr bwMode="auto">
            <a:xfrm>
              <a:off x="5088" y="2448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3" name="Text Box 92"/>
            <p:cNvSpPr txBox="1">
              <a:spLocks noChangeArrowheads="1"/>
            </p:cNvSpPr>
            <p:nvPr/>
          </p:nvSpPr>
          <p:spPr bwMode="auto">
            <a:xfrm>
              <a:off x="384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4" name="Text Box 93"/>
            <p:cNvSpPr txBox="1">
              <a:spLocks noChangeArrowheads="1"/>
            </p:cNvSpPr>
            <p:nvPr/>
          </p:nvSpPr>
          <p:spPr bwMode="auto">
            <a:xfrm>
              <a:off x="4062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5" name="Text Box 94"/>
            <p:cNvSpPr txBox="1">
              <a:spLocks noChangeArrowheads="1"/>
            </p:cNvSpPr>
            <p:nvPr/>
          </p:nvSpPr>
          <p:spPr bwMode="auto">
            <a:xfrm>
              <a:off x="432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6" name="Line 95"/>
            <p:cNvSpPr>
              <a:spLocks noChangeShapeType="1"/>
            </p:cNvSpPr>
            <p:nvPr/>
          </p:nvSpPr>
          <p:spPr bwMode="auto">
            <a:xfrm flipV="1">
              <a:off x="451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7" name="Text Box 96"/>
            <p:cNvSpPr txBox="1">
              <a:spLocks noChangeArrowheads="1"/>
            </p:cNvSpPr>
            <p:nvPr/>
          </p:nvSpPr>
          <p:spPr bwMode="auto">
            <a:xfrm>
              <a:off x="456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8" name="Text Box 97"/>
            <p:cNvSpPr txBox="1">
              <a:spLocks noChangeArrowheads="1"/>
            </p:cNvSpPr>
            <p:nvPr/>
          </p:nvSpPr>
          <p:spPr bwMode="auto">
            <a:xfrm>
              <a:off x="5184" y="2112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8</a:t>
              </a:r>
            </a:p>
          </p:txBody>
        </p:sp>
      </p:grpSp>
      <p:sp>
        <p:nvSpPr>
          <p:cNvPr id="992354" name="Oval 98"/>
          <p:cNvSpPr>
            <a:spLocks noChangeArrowheads="1"/>
          </p:cNvSpPr>
          <p:nvPr/>
        </p:nvSpPr>
        <p:spPr bwMode="auto">
          <a:xfrm>
            <a:off x="5029200" y="3914775"/>
            <a:ext cx="1905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0032295-4FAC-C1DE-6CB8-3CE5F8AAA5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2" grpId="0" animBg="1"/>
      <p:bldP spid="992264" grpId="0" animBg="1"/>
      <p:bldP spid="992266" grpId="0" animBg="1"/>
      <p:bldP spid="992274" grpId="0" animBg="1"/>
      <p:bldP spid="992275" grpId="0" animBg="1"/>
      <p:bldP spid="992276" grpId="0" animBg="1"/>
      <p:bldP spid="992277" grpId="0" animBg="1"/>
      <p:bldP spid="992278" grpId="0" animBg="1"/>
      <p:bldP spid="992279" grpId="0" animBg="1"/>
      <p:bldP spid="992298" grpId="0"/>
      <p:bldP spid="992300" grpId="0"/>
      <p:bldP spid="992301" grpId="0"/>
      <p:bldP spid="992318" grpId="0"/>
      <p:bldP spid="992319" grpId="0"/>
      <p:bldP spid="992331" grpId="0" animBg="1"/>
      <p:bldP spid="99235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Slow Start stop?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 Start gives an estimate of available bandwidth</a:t>
            </a:r>
          </a:p>
          <a:p>
            <a:pPr lvl="1"/>
            <a:r>
              <a:rPr lang="en-US" dirty="0"/>
              <a:t>At some point, there will be loss</a:t>
            </a:r>
          </a:p>
          <a:p>
            <a:r>
              <a:rPr lang="en-US" dirty="0"/>
              <a:t>Introduce a “slow start threshold” (</a:t>
            </a:r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Initialized to a large value</a:t>
            </a:r>
          </a:p>
          <a:p>
            <a:r>
              <a:rPr lang="en-US" dirty="0"/>
              <a:t>If CWND &gt; </a:t>
            </a:r>
            <a:r>
              <a:rPr lang="en-US" dirty="0" err="1"/>
              <a:t>ssthresh</a:t>
            </a:r>
            <a:r>
              <a:rPr lang="en-US" dirty="0"/>
              <a:t>, stop Slow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1C57D-B665-F51B-0566-972671409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3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to varying bandwidth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CWND &gt;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Stop rapid growth and focus on maintenance</a:t>
            </a:r>
          </a:p>
          <a:p>
            <a:r>
              <a:rPr lang="en-US" dirty="0"/>
              <a:t>Now, want to track variations in this available bandwidth, oscillating around its current value</a:t>
            </a:r>
          </a:p>
          <a:p>
            <a:pPr lvl="1"/>
            <a:r>
              <a:rPr lang="en-US" dirty="0"/>
              <a:t>Repeated probing (rate increase) and backoff (decrease)</a:t>
            </a:r>
          </a:p>
          <a:p>
            <a:r>
              <a:rPr lang="en-US" dirty="0"/>
              <a:t>TCP uses: “Additive Increase Multiplicative Decrease” (AIMD)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8E6601-0821-C770-1BAC-7B9556D2AD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A37092-A74E-B818-EAB0-B4F8E1BEFDA7}"/>
                  </a:ext>
                </a:extLst>
              </p14:cNvPr>
              <p14:cNvContentPartPr/>
              <p14:nvPr/>
            </p14:nvContentPartPr>
            <p14:xfrm>
              <a:off x="1387800" y="5208120"/>
              <a:ext cx="7211880" cy="101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A37092-A74E-B818-EAB0-B4F8E1BEFD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8440" y="5198760"/>
                <a:ext cx="7230600" cy="10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20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Additive increase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For each ACK, CWND = CWND+ 1/CWND</a:t>
            </a:r>
          </a:p>
          <a:p>
            <a:pPr lvl="1"/>
            <a:r>
              <a:rPr lang="en-US" dirty="0">
                <a:sym typeface="Math3" pitchFamily="2" charset="2"/>
              </a:rPr>
              <a:t>CWND is increased by one only if all segments in a CWND have been acknowledged </a:t>
            </a:r>
            <a:endParaRPr lang="en-US" dirty="0"/>
          </a:p>
          <a:p>
            <a:r>
              <a:rPr lang="en-US" dirty="0"/>
              <a:t>Multiplicative decrease</a:t>
            </a:r>
          </a:p>
          <a:p>
            <a:pPr lvl="1"/>
            <a:r>
              <a:rPr lang="en-US" dirty="0"/>
              <a:t>On packet loss, divide </a:t>
            </a:r>
            <a:r>
              <a:rPr lang="en-US" dirty="0" err="1"/>
              <a:t>ssthresh</a:t>
            </a:r>
            <a:r>
              <a:rPr lang="en-US" dirty="0"/>
              <a:t> in </a:t>
            </a:r>
            <a:r>
              <a:rPr lang="en-US" dirty="0">
                <a:solidFill>
                  <a:srgbClr val="0000FF"/>
                </a:solidFill>
              </a:rPr>
              <a:t>half</a:t>
            </a:r>
            <a:r>
              <a:rPr lang="en-US" dirty="0"/>
              <a:t> and slow start</a:t>
            </a:r>
          </a:p>
          <a:p>
            <a:pPr lvl="2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2"/>
            <a:r>
              <a:rPr lang="en-US" dirty="0"/>
              <a:t>CWND = 1</a:t>
            </a:r>
          </a:p>
          <a:p>
            <a:pPr lvl="2"/>
            <a:r>
              <a:rPr lang="en-US" dirty="0"/>
              <a:t>Initiate Slow Start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Note that we’re ignoring the “</a:t>
            </a:r>
            <a:r>
              <a:rPr lang="en-US" dirty="0" err="1">
                <a:solidFill>
                  <a:srgbClr val="0000FF"/>
                </a:solidFill>
              </a:rPr>
              <a:t>dupAck</a:t>
            </a:r>
            <a:r>
              <a:rPr lang="en-US" dirty="0">
                <a:solidFill>
                  <a:srgbClr val="0000FF"/>
                </a:solidFill>
              </a:rPr>
              <a:t>” fix for now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CBC70-AE11-2CAC-5FE3-EE5F1FB5F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leads to TCP sawtooth</a:t>
            </a:r>
          </a:p>
        </p:txBody>
      </p:sp>
      <p:sp>
        <p:nvSpPr>
          <p:cNvPr id="84995" name="Freeform 3"/>
          <p:cNvSpPr>
            <a:spLocks/>
          </p:cNvSpPr>
          <p:nvPr/>
        </p:nvSpPr>
        <p:spPr bwMode="auto">
          <a:xfrm>
            <a:off x="914400" y="26193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3447819" y="245298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11257" y="2057697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dirty="0">
                <a:latin typeface="Arial" charset="0"/>
                <a:ea typeface="Arial" charset="0"/>
                <a:cs typeface="Arial" charset="0"/>
              </a:rPr>
              <a:t>Loss</a:t>
            </a:r>
          </a:p>
        </p:txBody>
      </p:sp>
      <p:sp>
        <p:nvSpPr>
          <p:cNvPr id="85003" name="AutoShape 11"/>
          <p:cNvSpPr>
            <a:spLocks noChangeArrowheads="1"/>
          </p:cNvSpPr>
          <p:nvPr/>
        </p:nvSpPr>
        <p:spPr bwMode="auto">
          <a:xfrm>
            <a:off x="1828800" y="5638800"/>
            <a:ext cx="1447800" cy="609600"/>
          </a:xfrm>
          <a:prstGeom prst="wedgeRectCallout">
            <a:avLst>
              <a:gd name="adj1" fmla="val -43968"/>
              <a:gd name="adj2" fmla="val -12344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Exponential</a:t>
            </a:r>
            <a:b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</a:b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“</a:t>
            </a:r>
            <a:r>
              <a:rPr lang="en-US" altLang="ja-JP" sz="1600" b="0">
                <a:solidFill>
                  <a:schemeClr val="bg1"/>
                </a:solidFill>
                <a:ea typeface="Arial" charset="0"/>
                <a:cs typeface="Arial" charset="0"/>
              </a:rPr>
              <a:t>slow start</a:t>
            </a: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”</a:t>
            </a:r>
            <a:endParaRPr lang="en-US" sz="1600" b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7123113" y="551497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t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341313" y="2085975"/>
            <a:ext cx="1278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Window</a:t>
            </a:r>
          </a:p>
        </p:txBody>
      </p:sp>
      <p:sp>
        <p:nvSpPr>
          <p:cNvPr id="85002" name="Freeform 10"/>
          <p:cNvSpPr>
            <a:spLocks/>
          </p:cNvSpPr>
          <p:nvPr/>
        </p:nvSpPr>
        <p:spPr bwMode="auto">
          <a:xfrm>
            <a:off x="914400" y="39909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736853" y="3325177"/>
            <a:ext cx="698496" cy="6657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79CD6233-935E-2E4E-87ED-FE2AEAF5D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8999" y="3325177"/>
            <a:ext cx="6350" cy="20373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07E7129F-3A83-E14F-82EC-21D68CBF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4191000"/>
            <a:ext cx="1447800" cy="609600"/>
          </a:xfrm>
          <a:prstGeom prst="wedgeRectCallout">
            <a:avLst>
              <a:gd name="adj1" fmla="val -63705"/>
              <a:gd name="adj2" fmla="val -9906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Multiplicative Decrease</a:t>
            </a: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AD4AFEFE-849A-264E-A5BC-F88DD060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63" y="2695575"/>
            <a:ext cx="1447800" cy="609600"/>
          </a:xfrm>
          <a:prstGeom prst="wedgeRectCallout">
            <a:avLst>
              <a:gd name="adj1" fmla="val 36558"/>
              <a:gd name="adj2" fmla="val 10906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Additive Increase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25B197-5527-264B-A8FE-BF3F34ABDC8E}"/>
              </a:ext>
            </a:extLst>
          </p:cNvPr>
          <p:cNvGrpSpPr/>
          <p:nvPr/>
        </p:nvGrpSpPr>
        <p:grpSpPr>
          <a:xfrm>
            <a:off x="3428999" y="3362917"/>
            <a:ext cx="2825752" cy="1999657"/>
            <a:chOff x="914400" y="3362917"/>
            <a:chExt cx="2825752" cy="1999657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199AD31-CF64-E941-89F1-1B399AA4A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4343399"/>
              <a:ext cx="1828800" cy="1019175"/>
            </a:xfrm>
            <a:custGeom>
              <a:avLst/>
              <a:gdLst>
                <a:gd name="T0" fmla="*/ 2147483647 w 1152"/>
                <a:gd name="T1" fmla="*/ 0 h 864"/>
                <a:gd name="T2" fmla="*/ 2147483647 w 1152"/>
                <a:gd name="T3" fmla="*/ 2147483647 h 864"/>
                <a:gd name="T4" fmla="*/ 2147483647 w 1152"/>
                <a:gd name="T5" fmla="*/ 2147483647 h 864"/>
                <a:gd name="T6" fmla="*/ 2147483647 w 1152"/>
                <a:gd name="T7" fmla="*/ 2147483647 h 864"/>
                <a:gd name="T8" fmla="*/ 0 w 1152"/>
                <a:gd name="T9" fmla="*/ 2147483647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E9FD253A-9747-D54F-AA39-751E209C6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852" y="3362918"/>
              <a:ext cx="1003300" cy="98047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C87DAE9D-C079-2E42-8CC2-670899A97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7451" y="3362917"/>
              <a:ext cx="6350" cy="199965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29" name="Line 4">
            <a:extLst>
              <a:ext uri="{FF2B5EF4-FFF2-40B4-BE49-F238E27FC236}">
                <a16:creationId xmlns:a16="http://schemas.microsoft.com/office/drawing/2014/main" id="{9D8BF732-2B0E-1644-B965-B66CC057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6179" y="2432029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3D3341-5D01-7D52-8FF0-9AEA3E2C0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5001" grpId="0"/>
      <p:bldP spid="85003" grpId="0" animBg="1"/>
      <p:bldP spid="85002" grpId="0" animBg="1"/>
      <p:bldP spid="85009" grpId="0" animBg="1"/>
      <p:bldP spid="21" grpId="0" animBg="1"/>
      <p:bldP spid="22" grpId="0" animBg="1"/>
      <p:bldP spid="23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AIMD?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three issues</a:t>
            </a:r>
          </a:p>
          <a:p>
            <a:pPr lvl="1"/>
            <a:r>
              <a:rPr lang="en-US" dirty="0"/>
              <a:t>Finding available bottleneck bandwidth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Sharing bandwidth</a:t>
            </a:r>
          </a:p>
          <a:p>
            <a:endParaRPr lang="en-US" dirty="0"/>
          </a:p>
          <a:p>
            <a:r>
              <a:rPr lang="en-US" dirty="0"/>
              <a:t>Two goals for bandwidth sharing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: High utilization of link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Fairness</a:t>
            </a:r>
            <a:r>
              <a:rPr lang="en-US" dirty="0"/>
              <a:t>: Each flow gets equal share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BCB75-E4CC-B341-B611-02FE4F641D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4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AIMD?</a:t>
            </a:r>
            <a:endParaRPr lang="en-US" dirty="0"/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RTT, we can do</a:t>
            </a:r>
          </a:p>
          <a:p>
            <a:pPr lvl="1"/>
            <a:r>
              <a:rPr lang="en-US" dirty="0"/>
              <a:t>Multiplicative increase or decrease: CWND</a:t>
            </a:r>
            <a:r>
              <a:rPr lang="en-US" dirty="0">
                <a:sym typeface="Symbol" charset="0"/>
              </a:rPr>
              <a:t> a*CWND</a:t>
            </a:r>
          </a:p>
          <a:p>
            <a:pPr lvl="1"/>
            <a:r>
              <a:rPr lang="en-US" dirty="0">
                <a:sym typeface="Symbol" charset="0"/>
              </a:rPr>
              <a:t>Additive increase or decrease: </a:t>
            </a:r>
            <a:r>
              <a:rPr lang="en-US" dirty="0"/>
              <a:t>CWND</a:t>
            </a:r>
            <a:r>
              <a:rPr lang="en-US" dirty="0">
                <a:sym typeface="Symbol" charset="0"/>
              </a:rPr>
              <a:t> CWND + b</a:t>
            </a:r>
            <a:endParaRPr lang="en-US" dirty="0"/>
          </a:p>
          <a:p>
            <a:r>
              <a:rPr lang="en-US" dirty="0"/>
              <a:t>Four alternatives:</a:t>
            </a:r>
          </a:p>
          <a:p>
            <a:pPr lvl="1"/>
            <a:r>
              <a:rPr lang="en-US" dirty="0"/>
              <a:t>AIAD: gentle increase, gentle decrease</a:t>
            </a:r>
          </a:p>
          <a:p>
            <a:pPr lvl="1"/>
            <a:r>
              <a:rPr lang="en-US" dirty="0"/>
              <a:t>AIMD: gentle increase, drastic decrease</a:t>
            </a:r>
          </a:p>
          <a:p>
            <a:pPr lvl="1"/>
            <a:r>
              <a:rPr lang="en-US" dirty="0"/>
              <a:t>MIAD: drastic increase, gentle decrease</a:t>
            </a:r>
          </a:p>
          <a:p>
            <a:pPr lvl="1"/>
            <a:r>
              <a:rPr lang="en-US" dirty="0"/>
              <a:t>MIMD: drastic increase and decrease</a:t>
            </a:r>
          </a:p>
          <a:p>
            <a:pPr lvl="1"/>
            <a:endParaRPr lang="en-US" dirty="0"/>
          </a:p>
          <a:p>
            <a:endParaRPr lang="en-US" dirty="0">
              <a:sym typeface="Symbol" charset="0"/>
            </a:endParaRP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1D49C-88AA-C22B-7019-AB3ACB7320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model of congestion control</a:t>
            </a:r>
          </a:p>
        </p:txBody>
      </p:sp>
      <p:sp>
        <p:nvSpPr>
          <p:cNvPr id="129037" name="Rectangle 28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819400" cy="4419600"/>
          </a:xfrm>
        </p:spPr>
        <p:txBody>
          <a:bodyPr/>
          <a:lstStyle/>
          <a:p>
            <a:r>
              <a:rPr lang="en-US" sz="2000" dirty="0"/>
              <a:t>Two users</a:t>
            </a:r>
          </a:p>
          <a:p>
            <a:pPr lvl="1"/>
            <a:r>
              <a:rPr lang="en-US" sz="1800" dirty="0"/>
              <a:t>rates x1 and x2</a:t>
            </a:r>
          </a:p>
          <a:p>
            <a:endParaRPr lang="en-US" sz="2000" dirty="0"/>
          </a:p>
          <a:p>
            <a:r>
              <a:rPr lang="en-US" sz="2000" dirty="0"/>
              <a:t>Congestion when </a:t>
            </a:r>
            <a:br>
              <a:rPr lang="en-US" sz="2000" dirty="0"/>
            </a:br>
            <a:r>
              <a:rPr lang="en-US" sz="2000" dirty="0"/>
              <a:t>x1+x2 &gt; 1</a:t>
            </a:r>
          </a:p>
          <a:p>
            <a:r>
              <a:rPr lang="en-US" sz="2000" dirty="0"/>
              <a:t>Unused capacity when x1+x2 &lt; 1</a:t>
            </a:r>
          </a:p>
          <a:p>
            <a:endParaRPr lang="en-US" sz="2000" dirty="0"/>
          </a:p>
          <a:p>
            <a:r>
              <a:rPr lang="en-US" sz="2000" dirty="0"/>
              <a:t>Fair when x1 =x2</a:t>
            </a:r>
          </a:p>
          <a:p>
            <a:endParaRPr lang="en-US" sz="2000" dirty="0"/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4910638" y="5867400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1’s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1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376989" y="3369928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2’s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2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rgbClr val="008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272531" y="1398989"/>
            <a:ext cx="187146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008000"/>
                </a:solidFill>
                <a:latin typeface="+mn-lt"/>
              </a:rPr>
              <a:t>Fairness line</a:t>
            </a:r>
            <a:br>
              <a:rPr lang="en-US" sz="1600" dirty="0">
                <a:solidFill>
                  <a:srgbClr val="008000"/>
                </a:solidFill>
                <a:latin typeface="+mn-lt"/>
              </a:rPr>
            </a:br>
            <a:r>
              <a:rPr lang="en-US" sz="1600" dirty="0">
                <a:solidFill>
                  <a:srgbClr val="008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1 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=x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)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3935207" y="1398989"/>
            <a:ext cx="1703593" cy="74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Efficiency line</a:t>
            </a:r>
            <a:br>
              <a:rPr lang="en-US" sz="1600" dirty="0">
                <a:solidFill>
                  <a:srgbClr val="FF0000"/>
                </a:solidFill>
                <a:latin typeface="+mn-lt"/>
              </a:rPr>
            </a:br>
            <a:r>
              <a:rPr lang="en-US" sz="16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+x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 = 1)</a:t>
            </a:r>
          </a:p>
          <a:p>
            <a:pPr algn="ctr"/>
            <a:endParaRPr lang="en-US" sz="160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rgbClr val="FC012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BDDFA-D93C-67E1-24D9-7DB1CCF08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58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7" grpId="0" build="p"/>
      <p:bldP spid="129027" grpId="0" animBg="1"/>
      <p:bldP spid="129028" grpId="0"/>
      <p:bldP spid="129029" grpId="0"/>
      <p:bldP spid="129030" grpId="0" animBg="1"/>
      <p:bldP spid="129031" grpId="0"/>
      <p:bldP spid="129032" grpId="0"/>
      <p:bldP spid="129033" grpId="0" animBg="1"/>
      <p:bldP spid="129034" grpId="0" animBg="1"/>
      <p:bldP spid="129035" grpId="0"/>
      <p:bldP spid="129036" grpId="0"/>
      <p:bldP spid="31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133600" y="3290888"/>
            <a:ext cx="3276600" cy="1433512"/>
            <a:chOff x="1344" y="2073"/>
            <a:chExt cx="2064" cy="903"/>
          </a:xfrm>
        </p:grpSpPr>
        <p:sp>
          <p:nvSpPr>
            <p:cNvPr id="129051" name="AutoShape 29"/>
            <p:cNvSpPr>
              <a:spLocks noChangeArrowheads="1"/>
            </p:cNvSpPr>
            <p:nvPr/>
          </p:nvSpPr>
          <p:spPr bwMode="auto">
            <a:xfrm>
              <a:off x="1344" y="2592"/>
              <a:ext cx="1584" cy="384"/>
            </a:xfrm>
            <a:prstGeom prst="wedgeRectCallout">
              <a:avLst>
                <a:gd name="adj1" fmla="val 35856"/>
                <a:gd name="adj2" fmla="val -145315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>
                  <a:latin typeface="Arial" charset="0"/>
                </a:rPr>
                <a:t>Inefficient: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=0.7 </a:t>
              </a:r>
            </a:p>
          </p:txBody>
        </p:sp>
        <p:sp>
          <p:nvSpPr>
            <p:cNvPr id="129052" name="Oval 30"/>
            <p:cNvSpPr>
              <a:spLocks noChangeArrowheads="1"/>
            </p:cNvSpPr>
            <p:nvPr/>
          </p:nvSpPr>
          <p:spPr bwMode="auto">
            <a:xfrm>
              <a:off x="2688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3" name="Text Box 31"/>
            <p:cNvSpPr txBox="1">
              <a:spLocks noChangeArrowheads="1"/>
            </p:cNvSpPr>
            <p:nvPr/>
          </p:nvSpPr>
          <p:spPr bwMode="auto">
            <a:xfrm>
              <a:off x="2759" y="2073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(0.2, 0.5)</a:t>
              </a: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6629400" y="2286000"/>
            <a:ext cx="2514600" cy="1298575"/>
            <a:chOff x="4176" y="1440"/>
            <a:chExt cx="1584" cy="818"/>
          </a:xfrm>
        </p:grpSpPr>
        <p:sp>
          <p:nvSpPr>
            <p:cNvPr id="129048" name="AutoShape 34"/>
            <p:cNvSpPr>
              <a:spLocks noChangeArrowheads="1"/>
            </p:cNvSpPr>
            <p:nvPr/>
          </p:nvSpPr>
          <p:spPr bwMode="auto">
            <a:xfrm>
              <a:off x="4176" y="1440"/>
              <a:ext cx="1584" cy="384"/>
            </a:xfrm>
            <a:prstGeom prst="wedgeRectCallout">
              <a:avLst>
                <a:gd name="adj1" fmla="val -43245"/>
                <a:gd name="adj2" fmla="val 123699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 dirty="0">
                  <a:latin typeface="Arial" charset="0"/>
                </a:rPr>
                <a:t>Congested: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=1.2 </a:t>
              </a:r>
            </a:p>
          </p:txBody>
        </p:sp>
        <p:sp>
          <p:nvSpPr>
            <p:cNvPr id="129049" name="Oval 35"/>
            <p:cNvSpPr>
              <a:spLocks noChangeArrowheads="1"/>
            </p:cNvSpPr>
            <p:nvPr/>
          </p:nvSpPr>
          <p:spPr bwMode="auto">
            <a:xfrm>
              <a:off x="4224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0" name="Text Box 36"/>
            <p:cNvSpPr txBox="1">
              <a:spLocks noChangeArrowheads="1"/>
            </p:cNvSpPr>
            <p:nvPr/>
          </p:nvSpPr>
          <p:spPr bwMode="auto">
            <a:xfrm>
              <a:off x="4295" y="2025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(0.7, 0.5)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419600" y="1600200"/>
            <a:ext cx="2514600" cy="2212975"/>
            <a:chOff x="2784" y="1008"/>
            <a:chExt cx="1584" cy="1394"/>
          </a:xfrm>
        </p:grpSpPr>
        <p:sp>
          <p:nvSpPr>
            <p:cNvPr id="129042" name="Oval 40"/>
            <p:cNvSpPr>
              <a:spLocks noChangeArrowheads="1"/>
            </p:cNvSpPr>
            <p:nvPr/>
          </p:nvSpPr>
          <p:spPr bwMode="auto">
            <a:xfrm>
              <a:off x="3676" y="2227"/>
              <a:ext cx="96" cy="96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3" name="AutoShape 41"/>
            <p:cNvSpPr>
              <a:spLocks noChangeArrowheads="1"/>
            </p:cNvSpPr>
            <p:nvPr/>
          </p:nvSpPr>
          <p:spPr bwMode="auto">
            <a:xfrm>
              <a:off x="2784" y="1008"/>
              <a:ext cx="1584" cy="384"/>
            </a:xfrm>
            <a:prstGeom prst="wedgeRectCallout">
              <a:avLst>
                <a:gd name="adj1" fmla="val 9597"/>
                <a:gd name="adj2" fmla="val 259116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 dirty="0">
                  <a:latin typeface="Arial" charset="0"/>
                </a:rPr>
                <a:t>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Fair</a:t>
              </a:r>
              <a:r>
                <a:rPr lang="en-US" sz="1800" b="0" dirty="0">
                  <a:latin typeface="Arial" charset="0"/>
                </a:rPr>
                <a:t> </a:t>
              </a:r>
            </a:p>
          </p:txBody>
        </p:sp>
        <p:sp>
          <p:nvSpPr>
            <p:cNvPr id="129044" name="Text Box 42"/>
            <p:cNvSpPr txBox="1">
              <a:spLocks noChangeArrowheads="1"/>
            </p:cNvSpPr>
            <p:nvPr/>
          </p:nvSpPr>
          <p:spPr bwMode="auto">
            <a:xfrm>
              <a:off x="3719" y="2169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(0.5, 0.5)</a:t>
              </a:r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4267202" y="3962400"/>
            <a:ext cx="3276601" cy="1447800"/>
            <a:chOff x="2688" y="2496"/>
            <a:chExt cx="2064" cy="912"/>
          </a:xfrm>
        </p:grpSpPr>
        <p:sp>
          <p:nvSpPr>
            <p:cNvPr id="129045" name="AutoShape 37"/>
            <p:cNvSpPr>
              <a:spLocks noChangeArrowheads="1"/>
            </p:cNvSpPr>
            <p:nvPr/>
          </p:nvSpPr>
          <p:spPr bwMode="auto">
            <a:xfrm>
              <a:off x="2688" y="3024"/>
              <a:ext cx="1271" cy="384"/>
            </a:xfrm>
            <a:prstGeom prst="wedgeRectCallout">
              <a:avLst>
                <a:gd name="adj1" fmla="val 69951"/>
                <a:gd name="adj2" fmla="val -96728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>
                  <a:latin typeface="Arial" charset="0"/>
                </a:rPr>
                <a:t>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>
                  <a:latin typeface="Arial" charset="0"/>
                </a:rPr>
                <a:t>Not fair </a:t>
              </a:r>
            </a:p>
          </p:txBody>
        </p:sp>
        <p:sp>
          <p:nvSpPr>
            <p:cNvPr id="129046" name="Oval 38"/>
            <p:cNvSpPr>
              <a:spLocks noChangeArrowheads="1"/>
            </p:cNvSpPr>
            <p:nvPr/>
          </p:nvSpPr>
          <p:spPr bwMode="auto">
            <a:xfrm>
              <a:off x="422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7" name="Text Box 39"/>
            <p:cNvSpPr txBox="1">
              <a:spLocks noChangeArrowheads="1"/>
            </p:cNvSpPr>
            <p:nvPr/>
          </p:nvSpPr>
          <p:spPr bwMode="auto">
            <a:xfrm>
              <a:off x="4103" y="2496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 dirty="0">
                  <a:latin typeface="Times New Roman" charset="0"/>
                </a:rPr>
                <a:t>(0.7, 0.3)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AAB6-8C52-39E1-1C02-FDD4F5FB81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738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AIAD</a:t>
            </a:r>
          </a:p>
        </p:txBody>
      </p:sp>
      <p:sp>
        <p:nvSpPr>
          <p:cNvPr id="2779157" name="Rectangle 21"/>
          <p:cNvSpPr>
            <a:spLocks noGrp="1" noChangeArrowheads="1"/>
          </p:cNvSpPr>
          <p:nvPr>
            <p:ph idx="1"/>
          </p:nvPr>
        </p:nvSpPr>
        <p:spPr>
          <a:xfrm>
            <a:off x="685799" y="1600200"/>
            <a:ext cx="3008613" cy="4419600"/>
          </a:xfrm>
        </p:spPr>
        <p:txBody>
          <a:bodyPr/>
          <a:lstStyle/>
          <a:p>
            <a:r>
              <a:rPr lang="en-US" sz="2400" dirty="0"/>
              <a:t>Increase: x + </a:t>
            </a:r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 - </a:t>
            </a:r>
            <a:r>
              <a:rPr lang="en-US" sz="2400" dirty="0" err="1"/>
              <a:t>a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1075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3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5830587" y="2438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017963" y="2667001"/>
            <a:ext cx="1544638" cy="1235076"/>
            <a:chOff x="1667" y="1680"/>
            <a:chExt cx="973" cy="778"/>
          </a:xfrm>
        </p:grpSpPr>
        <p:sp>
          <p:nvSpPr>
            <p:cNvPr id="131091" name="Text Box 14"/>
            <p:cNvSpPr txBox="1">
              <a:spLocks noChangeArrowheads="1"/>
            </p:cNvSpPr>
            <p:nvPr/>
          </p:nvSpPr>
          <p:spPr bwMode="auto">
            <a:xfrm>
              <a:off x="1667" y="2208"/>
              <a:ext cx="9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,x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1092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1093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848225" y="1447800"/>
            <a:ext cx="1290638" cy="1828800"/>
            <a:chOff x="3054" y="912"/>
            <a:chExt cx="813" cy="1152"/>
          </a:xfrm>
        </p:grpSpPr>
        <p:sp>
          <p:nvSpPr>
            <p:cNvPr id="131088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624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1089" name="Text Box 19"/>
            <p:cNvSpPr txBox="1">
              <a:spLocks noChangeArrowheads="1"/>
            </p:cNvSpPr>
            <p:nvPr/>
          </p:nvSpPr>
          <p:spPr bwMode="auto">
            <a:xfrm>
              <a:off x="3054" y="912"/>
              <a:ext cx="81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))</a:t>
              </a:r>
            </a:p>
          </p:txBody>
        </p:sp>
        <p:sp>
          <p:nvSpPr>
            <p:cNvPr id="131090" name="Oval 20"/>
            <p:cNvSpPr>
              <a:spLocks noChangeArrowheads="1"/>
            </p:cNvSpPr>
            <p:nvPr/>
          </p:nvSpPr>
          <p:spPr bwMode="auto">
            <a:xfrm>
              <a:off x="3744" y="1440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3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FA45A-CA01-B9E9-23CB-5E52E7611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7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9157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AIAD Sharing Dynamics</a:t>
            </a:r>
          </a:p>
        </p:txBody>
      </p:sp>
      <p:graphicFrame>
        <p:nvGraphicFramePr>
          <p:cNvPr id="12494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25553"/>
              </p:ext>
            </p:extLst>
          </p:nvPr>
        </p:nvGraphicFramePr>
        <p:xfrm>
          <a:off x="1879600" y="220345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1249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20345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1974850" y="1636712"/>
            <a:ext cx="484187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3775075" y="1912937"/>
            <a:ext cx="1662112" cy="47783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6753225" y="1636712"/>
            <a:ext cx="485775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>
            <a:off x="245903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5" name="Line 7"/>
          <p:cNvSpPr>
            <a:spLocks noChangeShapeType="1"/>
          </p:cNvSpPr>
          <p:nvPr/>
        </p:nvSpPr>
        <p:spPr bwMode="auto">
          <a:xfrm flipV="1">
            <a:off x="543718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5576887" y="1452562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2687637" y="1363662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1974850" y="2249487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4939" name="Rectangle 11"/>
          <p:cNvSpPr>
            <a:spLocks noChangeArrowheads="1"/>
          </p:cNvSpPr>
          <p:nvPr/>
        </p:nvSpPr>
        <p:spPr bwMode="auto">
          <a:xfrm>
            <a:off x="6753225" y="2249487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 flipV="1">
            <a:off x="245903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1" name="Line 13"/>
          <p:cNvSpPr>
            <a:spLocks noChangeShapeType="1"/>
          </p:cNvSpPr>
          <p:nvPr/>
        </p:nvSpPr>
        <p:spPr bwMode="auto">
          <a:xfrm>
            <a:off x="543718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2687637" y="1828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E3882A-7C99-BA4A-B9D9-4AA5E5EE699C}"/>
                  </a:ext>
                </a:extLst>
              </p14:cNvPr>
              <p14:cNvContentPartPr/>
              <p14:nvPr/>
            </p14:nvContentPartPr>
            <p14:xfrm>
              <a:off x="7191000" y="2919240"/>
              <a:ext cx="900720" cy="182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E3882A-7C99-BA4A-B9D9-4AA5E5EE69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9400" y="2897640"/>
                <a:ext cx="943920" cy="1859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BB03F-DEC1-E034-169C-A9B88A75D3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08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MIMD</a:t>
            </a:r>
          </a:p>
        </p:txBody>
      </p:sp>
      <p:sp>
        <p:nvSpPr>
          <p:cNvPr id="2781206" name="Rectangle 2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3047999" cy="4419600"/>
          </a:xfrm>
        </p:spPr>
        <p:txBody>
          <a:bodyPr/>
          <a:lstStyle/>
          <a:p>
            <a:r>
              <a:rPr lang="en-US" sz="2400" dirty="0"/>
              <a:t>Increase: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3123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6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9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0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4641249" y="17526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810000" y="2286000"/>
            <a:ext cx="1587500" cy="3429000"/>
            <a:chOff x="2400" y="1440"/>
            <a:chExt cx="1000" cy="2160"/>
          </a:xfrm>
        </p:grpSpPr>
        <p:sp>
          <p:nvSpPr>
            <p:cNvPr id="133139" name="Text Box 13"/>
            <p:cNvSpPr txBox="1">
              <a:spLocks noChangeArrowheads="1"/>
            </p:cNvSpPr>
            <p:nvPr/>
          </p:nvSpPr>
          <p:spPr bwMode="auto">
            <a:xfrm>
              <a:off x="2598" y="2208"/>
              <a:ext cx="8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3140" name="Oval 14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41" name="Line 15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42" name="Line 16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953001" y="1981200"/>
            <a:ext cx="1538288" cy="1295400"/>
            <a:chOff x="3120" y="1248"/>
            <a:chExt cx="969" cy="816"/>
          </a:xfrm>
        </p:grpSpPr>
        <p:sp>
          <p:nvSpPr>
            <p:cNvPr id="133136" name="Oval 18"/>
            <p:cNvSpPr>
              <a:spLocks noChangeArrowheads="1"/>
            </p:cNvSpPr>
            <p:nvPr/>
          </p:nvSpPr>
          <p:spPr bwMode="auto">
            <a:xfrm>
              <a:off x="3312" y="1536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37" name="Line 19"/>
            <p:cNvSpPr>
              <a:spLocks noChangeShapeType="1"/>
            </p:cNvSpPr>
            <p:nvPr/>
          </p:nvSpPr>
          <p:spPr bwMode="auto">
            <a:xfrm flipV="1">
              <a:off x="3120" y="1632"/>
              <a:ext cx="19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38" name="Text Box 20"/>
            <p:cNvSpPr txBox="1">
              <a:spLocks noChangeArrowheads="1"/>
            </p:cNvSpPr>
            <p:nvPr/>
          </p:nvSpPr>
          <p:spPr bwMode="auto">
            <a:xfrm>
              <a:off x="3456" y="1248"/>
              <a:ext cx="63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</p:grpSp>
      <p:sp>
        <p:nvSpPr>
          <p:cNvPr id="133134" name="Oval 21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 rot="19175588">
            <a:off x="6973905" y="4250714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 rot="19175588">
            <a:off x="6109454" y="5094895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A2E7C-7E4F-68CD-DB75-15F65924A8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21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1206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00600" y="1398588"/>
            <a:ext cx="2178050" cy="2057400"/>
            <a:chOff x="3024" y="881"/>
            <a:chExt cx="1372" cy="1296"/>
          </a:xfrm>
        </p:grpSpPr>
        <p:sp>
          <p:nvSpPr>
            <p:cNvPr id="135194" name="Freeform 3"/>
            <p:cNvSpPr>
              <a:spLocks/>
            </p:cNvSpPr>
            <p:nvPr/>
          </p:nvSpPr>
          <p:spPr bwMode="auto">
            <a:xfrm>
              <a:off x="3024" y="881"/>
              <a:ext cx="1008" cy="1296"/>
            </a:xfrm>
            <a:custGeom>
              <a:avLst/>
              <a:gdLst>
                <a:gd name="T0" fmla="*/ 0 w 1008"/>
                <a:gd name="T1" fmla="*/ 1248 h 1296"/>
                <a:gd name="T2" fmla="*/ 1008 w 1008"/>
                <a:gd name="T3" fmla="*/ 288 h 1296"/>
                <a:gd name="T4" fmla="*/ 576 w 1008"/>
                <a:gd name="T5" fmla="*/ 0 h 1296"/>
                <a:gd name="T6" fmla="*/ 0 w 1008"/>
                <a:gd name="T7" fmla="*/ 129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296"/>
                <a:gd name="T14" fmla="*/ 1008 w 100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296">
                  <a:moveTo>
                    <a:pt x="0" y="1248"/>
                  </a:moveTo>
                  <a:lnTo>
                    <a:pt x="1008" y="288"/>
                  </a:lnTo>
                  <a:lnTo>
                    <a:pt x="576" y="0"/>
                  </a:lnTo>
                  <a:lnTo>
                    <a:pt x="0" y="1296"/>
                  </a:lnTo>
                </a:path>
              </a:pathLst>
            </a:cu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5" name="Text Box 4"/>
            <p:cNvSpPr txBox="1">
              <a:spLocks noChangeArrowheads="1"/>
            </p:cNvSpPr>
            <p:nvPr/>
          </p:nvSpPr>
          <p:spPr bwMode="auto">
            <a:xfrm>
              <a:off x="3681" y="1248"/>
              <a:ext cx="71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  <p:sp>
          <p:nvSpPr>
            <p:cNvPr id="135196" name="Oval 5"/>
            <p:cNvSpPr>
              <a:spLocks noChangeArrowheads="1"/>
            </p:cNvSpPr>
            <p:nvPr/>
          </p:nvSpPr>
          <p:spPr bwMode="auto">
            <a:xfrm>
              <a:off x="3552" y="163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7" name="Line 6"/>
            <p:cNvSpPr>
              <a:spLocks noChangeShapeType="1"/>
            </p:cNvSpPr>
            <p:nvPr/>
          </p:nvSpPr>
          <p:spPr bwMode="auto">
            <a:xfrm flipH="1">
              <a:off x="3072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</a:p>
        </p:txBody>
      </p:sp>
      <p:sp>
        <p:nvSpPr>
          <p:cNvPr id="2783255" name="Rectangle 2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2995612" cy="4419600"/>
          </a:xfrm>
        </p:spPr>
        <p:txBody>
          <a:bodyPr/>
          <a:lstStyle/>
          <a:p>
            <a:r>
              <a:rPr lang="en-US" sz="2400" dirty="0"/>
              <a:t>Increase: </a:t>
            </a:r>
            <a:r>
              <a:rPr lang="en-US" sz="2400" dirty="0" err="1"/>
              <a:t>x+a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Converges to fairness</a:t>
            </a:r>
          </a:p>
        </p:txBody>
      </p:sp>
      <p:sp>
        <p:nvSpPr>
          <p:cNvPr id="135172" name="Line 8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5" name="Line 11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8" name="Line 14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9" name="Line 15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80" name="Text Box 16"/>
          <p:cNvSpPr txBox="1">
            <a:spLocks noChangeArrowheads="1"/>
          </p:cNvSpPr>
          <p:nvPr/>
        </p:nvSpPr>
        <p:spPr bwMode="auto">
          <a:xfrm>
            <a:off x="4992387" y="1676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810001" y="2286000"/>
            <a:ext cx="1624013" cy="3429000"/>
            <a:chOff x="2400" y="1440"/>
            <a:chExt cx="1023" cy="2160"/>
          </a:xfrm>
        </p:grpSpPr>
        <p:sp>
          <p:nvSpPr>
            <p:cNvPr id="135190" name="Text Box 18"/>
            <p:cNvSpPr txBox="1">
              <a:spLocks noChangeArrowheads="1"/>
            </p:cNvSpPr>
            <p:nvPr/>
          </p:nvSpPr>
          <p:spPr bwMode="auto">
            <a:xfrm>
              <a:off x="2573" y="2208"/>
              <a:ext cx="8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5191" name="Oval 19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2" name="Line 20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3" name="Line 21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82" name="Oval 22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3810000" y="2667000"/>
            <a:ext cx="1905000" cy="3048000"/>
            <a:chOff x="2400" y="1680"/>
            <a:chExt cx="1200" cy="1920"/>
          </a:xfrm>
        </p:grpSpPr>
        <p:sp>
          <p:nvSpPr>
            <p:cNvPr id="135185" name="Line 25"/>
            <p:cNvSpPr>
              <a:spLocks noChangeShapeType="1"/>
            </p:cNvSpPr>
            <p:nvPr/>
          </p:nvSpPr>
          <p:spPr bwMode="auto">
            <a:xfrm flipH="1">
              <a:off x="3408" y="182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6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48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7" name="Line 27"/>
            <p:cNvSpPr>
              <a:spLocks noChangeShapeType="1"/>
            </p:cNvSpPr>
            <p:nvPr/>
          </p:nvSpPr>
          <p:spPr bwMode="auto">
            <a:xfrm flipV="1">
              <a:off x="3264" y="182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8" name="Line 28"/>
            <p:cNvSpPr>
              <a:spLocks noChangeShapeType="1"/>
            </p:cNvSpPr>
            <p:nvPr/>
          </p:nvSpPr>
          <p:spPr bwMode="auto">
            <a:xfrm flipV="1">
              <a:off x="2400" y="2160"/>
              <a:ext cx="86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9" name="Line 29"/>
            <p:cNvSpPr>
              <a:spLocks noChangeShapeType="1"/>
            </p:cNvSpPr>
            <p:nvPr/>
          </p:nvSpPr>
          <p:spPr bwMode="auto">
            <a:xfrm flipV="1">
              <a:off x="2400" y="2112"/>
              <a:ext cx="1008" cy="1488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B1B18-E459-81A1-A3C9-80938E8C96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8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3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3255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 Sharing Dynamics</a:t>
            </a:r>
          </a:p>
        </p:txBody>
      </p:sp>
      <p:graphicFrame>
        <p:nvGraphicFramePr>
          <p:cNvPr id="12289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95846"/>
              </p:ext>
            </p:extLst>
          </p:nvPr>
        </p:nvGraphicFramePr>
        <p:xfrm>
          <a:off x="1879600" y="220345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1228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20345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74850" y="1636713"/>
            <a:ext cx="484187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775075" y="1912938"/>
            <a:ext cx="1662112" cy="4778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0" dirty="0">
                <a:latin typeface="+mn-lt"/>
              </a:rPr>
              <a:t>50 packets/sec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6753225" y="1636713"/>
            <a:ext cx="485775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2886" name="Line 6"/>
          <p:cNvSpPr>
            <a:spLocks noChangeShapeType="1"/>
          </p:cNvSpPr>
          <p:nvPr/>
        </p:nvSpPr>
        <p:spPr bwMode="auto">
          <a:xfrm>
            <a:off x="245903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 flipV="1">
            <a:off x="543718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5576887" y="1452563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2889" name="Text Box 9"/>
          <p:cNvSpPr txBox="1">
            <a:spLocks noChangeArrowheads="1"/>
          </p:cNvSpPr>
          <p:nvPr/>
        </p:nvSpPr>
        <p:spPr bwMode="auto">
          <a:xfrm>
            <a:off x="2763837" y="1447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1974850" y="2249488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2891" name="Rectangle 11"/>
          <p:cNvSpPr>
            <a:spLocks noChangeArrowheads="1"/>
          </p:cNvSpPr>
          <p:nvPr/>
        </p:nvSpPr>
        <p:spPr bwMode="auto">
          <a:xfrm>
            <a:off x="6753225" y="2249488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2892" name="Line 12"/>
          <p:cNvSpPr>
            <a:spLocks noChangeShapeType="1"/>
          </p:cNvSpPr>
          <p:nvPr/>
        </p:nvSpPr>
        <p:spPr bwMode="auto">
          <a:xfrm flipV="1">
            <a:off x="245903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3" name="Line 13"/>
          <p:cNvSpPr>
            <a:spLocks noChangeShapeType="1"/>
          </p:cNvSpPr>
          <p:nvPr/>
        </p:nvSpPr>
        <p:spPr bwMode="auto">
          <a:xfrm>
            <a:off x="543718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2590800" y="3727450"/>
            <a:ext cx="4495800" cy="513747"/>
          </a:xfrm>
          <a:prstGeom prst="rect">
            <a:avLst/>
          </a:prstGeom>
          <a:solidFill>
            <a:srgbClr val="D3A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squar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 b="0">
                <a:latin typeface="Tahoma" charset="0"/>
              </a:rPr>
              <a:t>Rates equalize </a:t>
            </a:r>
            <a:r>
              <a:rPr lang="en-US" sz="2800" b="0">
                <a:latin typeface="Tahoma" charset="0"/>
                <a:sym typeface="Wingdings" charset="0"/>
              </a:rPr>
              <a:t> fair share</a:t>
            </a:r>
            <a:endParaRPr lang="en-US" sz="2800" b="0">
              <a:latin typeface="Tahoma" charset="0"/>
            </a:endParaRP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2736850" y="1844675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E1002-D83E-71BA-C06D-F2ADE92E71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64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MIAD</a:t>
            </a:r>
          </a:p>
        </p:txBody>
      </p:sp>
      <p:sp>
        <p:nvSpPr>
          <p:cNvPr id="2777110" name="Rectangle 22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794000" cy="4419600"/>
          </a:xfrm>
        </p:spPr>
        <p:txBody>
          <a:bodyPr/>
          <a:lstStyle/>
          <a:p>
            <a:r>
              <a:rPr lang="en-US" sz="2000" dirty="0"/>
              <a:t>Increase: x*</a:t>
            </a:r>
            <a:r>
              <a:rPr lang="en-US" sz="2000" dirty="0" err="1"/>
              <a:t>b</a:t>
            </a:r>
            <a:r>
              <a:rPr lang="en-US" sz="2000" baseline="-25000" dirty="0" err="1"/>
              <a:t>I</a:t>
            </a:r>
            <a:endParaRPr lang="en-US" sz="2000" baseline="-25000" dirty="0"/>
          </a:p>
          <a:p>
            <a:r>
              <a:rPr lang="en-US" sz="2000" dirty="0"/>
              <a:t>Decrease: x - </a:t>
            </a:r>
            <a:r>
              <a:rPr lang="en-US" sz="2000" dirty="0" err="1"/>
              <a:t>a</a:t>
            </a:r>
            <a:r>
              <a:rPr lang="en-US" sz="2000" baseline="-25000" dirty="0" err="1"/>
              <a:t>D</a:t>
            </a:r>
            <a:endParaRPr lang="en-US" sz="2000" baseline="-25000" dirty="0"/>
          </a:p>
          <a:p>
            <a:r>
              <a:rPr lang="en-US" sz="2000" dirty="0">
                <a:solidFill>
                  <a:srgbClr val="0000FF"/>
                </a:solidFill>
              </a:rPr>
              <a:t>Does not converge to fairness</a:t>
            </a:r>
          </a:p>
          <a:p>
            <a:r>
              <a:rPr lang="en-US" sz="2000" dirty="0">
                <a:solidFill>
                  <a:srgbClr val="0000FF"/>
                </a:solidFill>
              </a:rPr>
              <a:t>Does not converge to efficiency</a:t>
            </a:r>
          </a:p>
          <a:p>
            <a:endParaRPr lang="en-US" sz="2200" dirty="0">
              <a:solidFill>
                <a:srgbClr val="0000FF"/>
              </a:solidFill>
            </a:endParaRPr>
          </a:p>
          <a:p>
            <a:r>
              <a:rPr lang="en-US" sz="1600" i="1" dirty="0"/>
              <a:t>“Analysis of the Increase and Decrease Algorithms for Congestion Avoidance in Computer Networks”</a:t>
            </a:r>
          </a:p>
          <a:p>
            <a:pPr marL="342900" lvl="1" indent="0">
              <a:buNone/>
            </a:pPr>
            <a:r>
              <a:rPr lang="en-US" sz="1600" i="1" dirty="0"/>
              <a:t>-- Chiu and Jain</a:t>
            </a:r>
            <a:br>
              <a:rPr lang="en-US" sz="800" i="1" dirty="0"/>
            </a:br>
            <a:endParaRPr lang="en-US" sz="800" i="1" dirty="0">
              <a:solidFill>
                <a:srgbClr val="0000FF"/>
              </a:solidFill>
            </a:endParaRPr>
          </a:p>
        </p:txBody>
      </p:sp>
      <p:sp>
        <p:nvSpPr>
          <p:cNvPr id="2777091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4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7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8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9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100" name="Text Box 12"/>
          <p:cNvSpPr txBox="1">
            <a:spLocks noChangeArrowheads="1"/>
          </p:cNvSpPr>
          <p:nvPr/>
        </p:nvSpPr>
        <p:spPr bwMode="auto">
          <a:xfrm>
            <a:off x="5746613" y="2438400"/>
            <a:ext cx="1013099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000" b="0">
                <a:latin typeface="Times New Roman" charset="0"/>
              </a:rPr>
              <a:t>(x</a:t>
            </a:r>
            <a:r>
              <a:rPr lang="en-US" sz="2000" b="0" baseline="-25000">
                <a:latin typeface="Times New Roman" charset="0"/>
              </a:rPr>
              <a:t>1h</a:t>
            </a:r>
            <a:r>
              <a:rPr lang="en-US" sz="2000" b="0">
                <a:latin typeface="Times New Roman" charset="0"/>
              </a:rPr>
              <a:t>,x</a:t>
            </a:r>
            <a:r>
              <a:rPr lang="en-US" sz="2000" b="0" baseline="-25000">
                <a:latin typeface="Times New Roman" charset="0"/>
              </a:rPr>
              <a:t>2h</a:t>
            </a:r>
            <a:r>
              <a:rPr lang="en-US" sz="2000" b="0">
                <a:latin typeface="Times New Roman" charset="0"/>
              </a:rPr>
              <a:t>)</a:t>
            </a:r>
            <a:endParaRPr lang="en-US" sz="2000" b="0" baseline="-25000">
              <a:latin typeface="Times New Roman" charset="0"/>
            </a:endParaRPr>
          </a:p>
        </p:txBody>
      </p:sp>
      <p:grpSp>
        <p:nvGrpSpPr>
          <p:cNvPr id="2777101" name="Group 13"/>
          <p:cNvGrpSpPr>
            <a:grpSpLocks/>
          </p:cNvGrpSpPr>
          <p:nvPr/>
        </p:nvGrpSpPr>
        <p:grpSpPr bwMode="auto">
          <a:xfrm>
            <a:off x="3932239" y="2667001"/>
            <a:ext cx="1657351" cy="1235076"/>
            <a:chOff x="1613" y="1680"/>
            <a:chExt cx="1044" cy="778"/>
          </a:xfrm>
        </p:grpSpPr>
        <p:sp>
          <p:nvSpPr>
            <p:cNvPr id="2777102" name="Text Box 14"/>
            <p:cNvSpPr txBox="1">
              <a:spLocks noChangeArrowheads="1"/>
            </p:cNvSpPr>
            <p:nvPr/>
          </p:nvSpPr>
          <p:spPr bwMode="auto">
            <a:xfrm>
              <a:off x="1613" y="2208"/>
              <a:ext cx="1044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Times New Roman" charset="0"/>
                </a:rPr>
                <a:t>(x</a:t>
              </a:r>
              <a:r>
                <a:rPr lang="en-US" sz="2000" b="0" baseline="-25000" dirty="0">
                  <a:latin typeface="Times New Roman" charset="0"/>
                </a:rPr>
                <a:t>1h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,x</a:t>
              </a:r>
              <a:r>
                <a:rPr lang="en-US" sz="2000" b="0" baseline="-25000" dirty="0">
                  <a:latin typeface="Times New Roman" charset="0"/>
                </a:rPr>
                <a:t>2h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)</a:t>
              </a:r>
              <a:endParaRPr lang="en-US" sz="2000" b="0" baseline="-25000" dirty="0">
                <a:latin typeface="Times New Roman" charset="0"/>
              </a:endParaRPr>
            </a:p>
          </p:txBody>
        </p:sp>
        <p:sp>
          <p:nvSpPr>
            <p:cNvPr id="2777103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4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grpSp>
        <p:nvGrpSpPr>
          <p:cNvPr id="2777105" name="Group 17"/>
          <p:cNvGrpSpPr>
            <a:grpSpLocks/>
          </p:cNvGrpSpPr>
          <p:nvPr/>
        </p:nvGrpSpPr>
        <p:grpSpPr bwMode="auto">
          <a:xfrm>
            <a:off x="3810000" y="1676400"/>
            <a:ext cx="2971800" cy="4038600"/>
            <a:chOff x="2400" y="1056"/>
            <a:chExt cx="1872" cy="2544"/>
          </a:xfrm>
        </p:grpSpPr>
        <p:sp>
          <p:nvSpPr>
            <p:cNvPr id="2777106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7" name="Line 19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8" name="Text Box 20"/>
            <p:cNvSpPr txBox="1">
              <a:spLocks noChangeArrowheads="1"/>
            </p:cNvSpPr>
            <p:nvPr/>
          </p:nvSpPr>
          <p:spPr bwMode="auto">
            <a:xfrm>
              <a:off x="2592" y="1056"/>
              <a:ext cx="1680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>
                  <a:latin typeface="Times New Roman" charset="0"/>
                </a:rPr>
                <a:t>(b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1h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), 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2h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))</a:t>
              </a:r>
            </a:p>
          </p:txBody>
        </p:sp>
        <p:sp>
          <p:nvSpPr>
            <p:cNvPr id="2777109" name="Oval 21"/>
            <p:cNvSpPr>
              <a:spLocks noChangeArrowheads="1"/>
            </p:cNvSpPr>
            <p:nvPr/>
          </p:nvSpPr>
          <p:spPr bwMode="auto">
            <a:xfrm>
              <a:off x="3360" y="13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7FA0E-FEBC-9880-AD89-DA6EEE040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4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7110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 ensures that the sender does not overflow the receiver</a:t>
            </a:r>
          </a:p>
          <a:p>
            <a:r>
              <a:rPr lang="en-US" dirty="0"/>
              <a:t>Congestion control ensures that the sender does not overflow the network</a:t>
            </a:r>
          </a:p>
          <a:p>
            <a:pPr lvl="1"/>
            <a:r>
              <a:rPr lang="en-US" dirty="0"/>
              <a:t>Discover bandwidth</a:t>
            </a:r>
          </a:p>
          <a:p>
            <a:pPr lvl="1"/>
            <a:r>
              <a:rPr lang="en-US" dirty="0"/>
              <a:t>Adjust to conditions</a:t>
            </a:r>
          </a:p>
          <a:p>
            <a:pPr lvl="1"/>
            <a:r>
              <a:rPr lang="en-US" dirty="0"/>
              <a:t>Share bandwidth with others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8DED-AB38-6465-BEF2-2EBC8BF2D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teaching</Template>
  <TotalTime>1490461330</TotalTime>
  <Pages>7</Pages>
  <Words>2235</Words>
  <Application>Microsoft Macintosh PowerPoint</Application>
  <PresentationFormat>On-screen Show (4:3)</PresentationFormat>
  <Paragraphs>555</Paragraphs>
  <Slides>54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9" baseType="lpstr">
      <vt:lpstr>Math3</vt:lpstr>
      <vt:lpstr>ＭＳ Ｐゴシック</vt:lpstr>
      <vt:lpstr>Arial</vt:lpstr>
      <vt:lpstr>Arial Black</vt:lpstr>
      <vt:lpstr>Courier New</vt:lpstr>
      <vt:lpstr>Gill Sans</vt:lpstr>
      <vt:lpstr>Helvetica</vt:lpstr>
      <vt:lpstr>Helvetica Neue</vt:lpstr>
      <vt:lpstr>Monotype Sorts</vt:lpstr>
      <vt:lpstr>Symbol</vt:lpstr>
      <vt:lpstr>Tahoma</vt:lpstr>
      <vt:lpstr>Times New Roman</vt:lpstr>
      <vt:lpstr>Wingdings</vt:lpstr>
      <vt:lpstr>csci teaching</vt:lpstr>
      <vt:lpstr>Worksheet</vt:lpstr>
      <vt:lpstr>CSCI4430 Computer Networks  Lecture 8: Transport Layer –  TCP flow control, congestion control</vt:lpstr>
      <vt:lpstr>Agenda</vt:lpstr>
      <vt:lpstr>TCP Flow Control</vt:lpstr>
      <vt:lpstr>Recap: Sliding window</vt:lpstr>
      <vt:lpstr>Sliding window at sender</vt:lpstr>
      <vt:lpstr>Sliding window at receiver</vt:lpstr>
      <vt:lpstr>Solution: Advertised window</vt:lpstr>
      <vt:lpstr>TCP header</vt:lpstr>
      <vt:lpstr>Sliding window at receiver</vt:lpstr>
      <vt:lpstr>Sliding window at sender</vt:lpstr>
      <vt:lpstr>Sliding window with flow control</vt:lpstr>
      <vt:lpstr>Advertised window limits rate</vt:lpstr>
      <vt:lpstr>TCP Congestion Control</vt:lpstr>
      <vt:lpstr>What is congestion?</vt:lpstr>
      <vt:lpstr>Congestion collapse in 1980s</vt:lpstr>
      <vt:lpstr>Jacobson’s fix to TCP </vt:lpstr>
      <vt:lpstr>Key design considerations</vt:lpstr>
      <vt:lpstr>Three issues to consider</vt:lpstr>
      <vt:lpstr>Abstract view</vt:lpstr>
      <vt:lpstr>Discovering available bandwidth</vt:lpstr>
      <vt:lpstr>Adjusting to variations in bandwidth</vt:lpstr>
      <vt:lpstr>Multiple flows and sharing bandwidth</vt:lpstr>
      <vt:lpstr>Reality</vt:lpstr>
      <vt:lpstr>Possible approaches</vt:lpstr>
      <vt:lpstr>Possible approaches</vt:lpstr>
      <vt:lpstr>Possible approaches</vt:lpstr>
      <vt:lpstr>Possible approaches</vt:lpstr>
      <vt:lpstr>Possible approaches</vt:lpstr>
      <vt:lpstr>TCP’s approach in a nutshell</vt:lpstr>
      <vt:lpstr>Windows to keep in mind</vt:lpstr>
      <vt:lpstr>Note</vt:lpstr>
      <vt:lpstr>Two basic questions</vt:lpstr>
      <vt:lpstr>Detecting congestion</vt:lpstr>
      <vt:lpstr>Not all losses are the same</vt:lpstr>
      <vt:lpstr>Rate adjustment</vt:lpstr>
      <vt:lpstr>Bandwidth discovery with “Slow Start”</vt:lpstr>
      <vt:lpstr>Slow Start phase</vt:lpstr>
      <vt:lpstr>Slow Start in action</vt:lpstr>
      <vt:lpstr>Slow Start in action</vt:lpstr>
      <vt:lpstr>When does Slow Start stop?</vt:lpstr>
      <vt:lpstr>Adjusting to varying bandwidth</vt:lpstr>
      <vt:lpstr>AIMD</vt:lpstr>
      <vt:lpstr>AIMD leads to TCP sawtooth</vt:lpstr>
      <vt:lpstr>Why AIMD?</vt:lpstr>
      <vt:lpstr>Why AIMD?</vt:lpstr>
      <vt:lpstr>Simple model of congestion control</vt:lpstr>
      <vt:lpstr>Example</vt:lpstr>
      <vt:lpstr>AIAD</vt:lpstr>
      <vt:lpstr>AIAD Sharing Dynamics</vt:lpstr>
      <vt:lpstr>MIMD</vt:lpstr>
      <vt:lpstr>AIMD</vt:lpstr>
      <vt:lpstr>AIMD Sharing Dynamics</vt:lpstr>
      <vt:lpstr>MIAD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8: Transport Layer –  TCP flow control, congestion control</dc:title>
  <dc:subject/>
  <dc:creator/>
  <cp:keywords/>
  <dc:description/>
  <cp:lastModifiedBy>Hong Xu</cp:lastModifiedBy>
  <cp:revision>1393</cp:revision>
  <cp:lastPrinted>2023-10-18T06:31:24Z</cp:lastPrinted>
  <dcterms:created xsi:type="dcterms:W3CDTF">2014-01-14T18:15:50Z</dcterms:created>
  <dcterms:modified xsi:type="dcterms:W3CDTF">2025-10-20T02:07:41Z</dcterms:modified>
  <cp:category/>
</cp:coreProperties>
</file>
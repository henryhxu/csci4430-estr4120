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42"/>
  </p:notesMasterIdLst>
  <p:handoutMasterIdLst>
    <p:handoutMasterId r:id="rId43"/>
  </p:handoutMasterIdLst>
  <p:sldIdLst>
    <p:sldId id="648" r:id="rId2"/>
    <p:sldId id="487" r:id="rId3"/>
    <p:sldId id="635" r:id="rId4"/>
    <p:sldId id="634" r:id="rId5"/>
    <p:sldId id="636" r:id="rId6"/>
    <p:sldId id="637" r:id="rId7"/>
    <p:sldId id="599" r:id="rId8"/>
    <p:sldId id="601" r:id="rId9"/>
    <p:sldId id="600" r:id="rId10"/>
    <p:sldId id="602" r:id="rId11"/>
    <p:sldId id="598" r:id="rId12"/>
    <p:sldId id="603" r:id="rId13"/>
    <p:sldId id="604" r:id="rId14"/>
    <p:sldId id="605" r:id="rId15"/>
    <p:sldId id="607" r:id="rId16"/>
    <p:sldId id="608" r:id="rId17"/>
    <p:sldId id="609" r:id="rId18"/>
    <p:sldId id="610" r:id="rId19"/>
    <p:sldId id="611" r:id="rId20"/>
    <p:sldId id="606" r:id="rId21"/>
    <p:sldId id="612" r:id="rId22"/>
    <p:sldId id="616" r:id="rId23"/>
    <p:sldId id="615" r:id="rId24"/>
    <p:sldId id="613" r:id="rId25"/>
    <p:sldId id="618" r:id="rId26"/>
    <p:sldId id="619" r:id="rId27"/>
    <p:sldId id="620" r:id="rId28"/>
    <p:sldId id="621" r:id="rId29"/>
    <p:sldId id="622" r:id="rId30"/>
    <p:sldId id="623" r:id="rId31"/>
    <p:sldId id="624" r:id="rId32"/>
    <p:sldId id="625" r:id="rId33"/>
    <p:sldId id="617" r:id="rId34"/>
    <p:sldId id="627" r:id="rId35"/>
    <p:sldId id="628" r:id="rId36"/>
    <p:sldId id="629" r:id="rId37"/>
    <p:sldId id="626" r:id="rId38"/>
    <p:sldId id="631" r:id="rId39"/>
    <p:sldId id="630" r:id="rId40"/>
    <p:sldId id="597" r:id="rId4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99"/>
    <a:srgbClr val="D3A600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3"/>
    <p:restoredTop sz="96327"/>
  </p:normalViewPr>
  <p:slideViewPr>
    <p:cSldViewPr>
      <p:cViewPr varScale="1">
        <p:scale>
          <a:sx n="128" d="100"/>
          <a:sy n="128" d="100"/>
        </p:scale>
        <p:origin x="160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03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78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8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73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8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hape 26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4754" name="Shape 262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3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70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80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28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39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726E393-C360-5843-A496-63EA60DC7DC8}" type="slidenum">
              <a:rPr lang="en-US" sz="1300" b="0">
                <a:latin typeface="Times New Roman" charset="0"/>
              </a:rPr>
              <a:pPr eaLnBrk="1" hangingPunct="1"/>
              <a:t>17</a:t>
            </a:fld>
            <a:endParaRPr lang="en-US" sz="13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902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2606A353-8C25-8144-93E4-85B5ED34151E}" type="slidenum">
              <a:rPr lang="en-US" sz="1300" b="0">
                <a:latin typeface="Times New Roman" charset="0"/>
              </a:rPr>
              <a:pPr eaLnBrk="1" hangingPunct="1"/>
              <a:t>18</a:t>
            </a:fld>
            <a:endParaRPr lang="en-US" sz="13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295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8B00003-BB43-5244-9F35-114E019D855B}" type="slidenum">
              <a:rPr lang="en-US" sz="1300" b="0">
                <a:latin typeface="Times New Roman" charset="0"/>
              </a:rPr>
              <a:pPr eaLnBrk="1" hangingPunct="1"/>
              <a:t>22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Deepest level most header</a:t>
            </a:r>
          </a:p>
        </p:txBody>
      </p:sp>
    </p:spTree>
    <p:extLst>
      <p:ext uri="{BB962C8B-B14F-4D97-AF65-F5344CB8AC3E}">
        <p14:creationId xmlns:p14="http://schemas.microsoft.com/office/powerpoint/2010/main" val="294567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hape 26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4754" name="Shape 262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3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763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E274BE9-847F-CE4B-BF62-3669DAE04580}" type="slidenum">
              <a:rPr lang="en-US" sz="1300" b="0">
                <a:latin typeface="Times New Roman" charset="0"/>
              </a:rPr>
              <a:pPr eaLnBrk="1" hangingPunct="1"/>
              <a:t>27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Why go up? Why not stay down in the lower levels?</a:t>
            </a:r>
          </a:p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872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0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521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57E223B3-ED0D-0B48-B88B-1C353A074062}" type="slidenum">
              <a:rPr lang="en-US" sz="1300" b="0">
                <a:latin typeface="Times New Roman" charset="0"/>
              </a:rPr>
              <a:pPr eaLnBrk="1" hangingPunct="1"/>
              <a:t>35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0950" y="708025"/>
            <a:ext cx="4814888" cy="3611563"/>
          </a:xfrm>
          <a:solidFill>
            <a:srgbClr val="FFFFFF"/>
          </a:solidFill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564063"/>
            <a:ext cx="5429250" cy="43338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fr-F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8703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hape 292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7826" name="Shape 293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3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9224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07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2" name="Shape 2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584025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1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4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4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1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74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840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707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4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3027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3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2: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Layering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is communication organized?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00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EFE661-8110-8042-A8A8-D6D3BADB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88E8-06F0-A24D-AC56-6148AA0D9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Graphic 7" descr="User">
            <a:extLst>
              <a:ext uri="{FF2B5EF4-FFF2-40B4-BE49-F238E27FC236}">
                <a16:creationId xmlns:a16="http://schemas.microsoft.com/office/drawing/2014/main" id="{2FEA4671-867C-9245-8D65-52D96D9E1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313" y="3074413"/>
            <a:ext cx="914400" cy="9144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4F33372-7F6D-E449-948F-249B8F681EF4}"/>
              </a:ext>
            </a:extLst>
          </p:cNvPr>
          <p:cNvGrpSpPr/>
          <p:nvPr/>
        </p:nvGrpSpPr>
        <p:grpSpPr>
          <a:xfrm>
            <a:off x="1503037" y="2819400"/>
            <a:ext cx="1486304" cy="1522495"/>
            <a:chOff x="4065179" y="2303184"/>
            <a:chExt cx="1486304" cy="1522495"/>
          </a:xfrm>
        </p:grpSpPr>
        <p:pic>
          <p:nvPicPr>
            <p:cNvPr id="10" name="Graphic 9" descr="Internet">
              <a:extLst>
                <a:ext uri="{FF2B5EF4-FFF2-40B4-BE49-F238E27FC236}">
                  <a16:creationId xmlns:a16="http://schemas.microsoft.com/office/drawing/2014/main" id="{CB39A836-F4E0-154A-BF18-F04D91563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79437" y="2454079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688643-4F5A-CA40-B6A8-7646FD1B3B79}"/>
                </a:ext>
              </a:extLst>
            </p:cNvPr>
            <p:cNvSpPr txBox="1"/>
            <p:nvPr/>
          </p:nvSpPr>
          <p:spPr>
            <a:xfrm>
              <a:off x="4065179" y="2303184"/>
              <a:ext cx="1486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http://123.xyz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7DEE84-3265-454B-9C99-1956E556D148}"/>
              </a:ext>
            </a:extLst>
          </p:cNvPr>
          <p:cNvGrpSpPr/>
          <p:nvPr/>
        </p:nvGrpSpPr>
        <p:grpSpPr>
          <a:xfrm>
            <a:off x="6593012" y="2807305"/>
            <a:ext cx="1587294" cy="1294074"/>
            <a:chOff x="6793796" y="1581092"/>
            <a:chExt cx="1587294" cy="1294074"/>
          </a:xfrm>
        </p:grpSpPr>
        <p:pic>
          <p:nvPicPr>
            <p:cNvPr id="13" name="Graphic 12" descr="Server">
              <a:extLst>
                <a:ext uri="{FF2B5EF4-FFF2-40B4-BE49-F238E27FC236}">
                  <a16:creationId xmlns:a16="http://schemas.microsoft.com/office/drawing/2014/main" id="{60FC4740-CAA5-2544-B542-D32851018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41366" y="196076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74337C-0CAA-B440-B613-5A66F034DA22}"/>
                </a:ext>
              </a:extLst>
            </p:cNvPr>
            <p:cNvSpPr txBox="1"/>
            <p:nvPr/>
          </p:nvSpPr>
          <p:spPr>
            <a:xfrm>
              <a:off x="6793796" y="1581092"/>
              <a:ext cx="15872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123.xyz server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744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F7A233D0-A6D5-954C-8192-42C322ACE580}"/>
              </a:ext>
            </a:extLst>
          </p:cNvPr>
          <p:cNvGrpSpPr/>
          <p:nvPr/>
        </p:nvGrpSpPr>
        <p:grpSpPr>
          <a:xfrm>
            <a:off x="5456580" y="2667000"/>
            <a:ext cx="3469728" cy="2794388"/>
            <a:chOff x="5503812" y="3758807"/>
            <a:chExt cx="3469728" cy="2794388"/>
          </a:xfrm>
        </p:grpSpPr>
        <p:sp>
          <p:nvSpPr>
            <p:cNvPr id="61" name="Cloud 60">
              <a:extLst>
                <a:ext uri="{FF2B5EF4-FFF2-40B4-BE49-F238E27FC236}">
                  <a16:creationId xmlns:a16="http://schemas.microsoft.com/office/drawing/2014/main" id="{4613C81F-348B-4341-837A-AE1A8D86ACEA}"/>
                </a:ext>
              </a:extLst>
            </p:cNvPr>
            <p:cNvSpPr/>
            <p:nvPr/>
          </p:nvSpPr>
          <p:spPr bwMode="auto">
            <a:xfrm>
              <a:off x="5503812" y="3758807"/>
              <a:ext cx="3469728" cy="2794388"/>
            </a:xfrm>
            <a:custGeom>
              <a:avLst/>
              <a:gdLst>
                <a:gd name="connsiteX0" fmla="*/ 313239 w 3469728"/>
                <a:gd name="connsiteY0" fmla="*/ 929522 h 2794388"/>
                <a:gd name="connsiteX1" fmla="*/ 451626 w 3469728"/>
                <a:gd name="connsiteY1" fmla="*/ 446778 h 2794388"/>
                <a:gd name="connsiteX2" fmla="*/ 1124850 w 3469728"/>
                <a:gd name="connsiteY2" fmla="*/ 336490 h 2794388"/>
                <a:gd name="connsiteX3" fmla="*/ 1803616 w 3469728"/>
                <a:gd name="connsiteY3" fmla="*/ 221998 h 2794388"/>
                <a:gd name="connsiteX4" fmla="*/ 2068102 w 3469728"/>
                <a:gd name="connsiteY4" fmla="*/ 12936 h 2794388"/>
                <a:gd name="connsiteX5" fmla="*/ 2396120 w 3469728"/>
                <a:gd name="connsiteY5" fmla="*/ 160483 h 2794388"/>
                <a:gd name="connsiteX6" fmla="*/ 2848309 w 3469728"/>
                <a:gd name="connsiteY6" fmla="*/ 44632 h 2794388"/>
                <a:gd name="connsiteX7" fmla="*/ 3077616 w 3469728"/>
                <a:gd name="connsiteY7" fmla="*/ 360683 h 2794388"/>
                <a:gd name="connsiteX8" fmla="*/ 3371900 w 3469728"/>
                <a:gd name="connsiteY8" fmla="*/ 667418 h 2794388"/>
                <a:gd name="connsiteX9" fmla="*/ 3358728 w 3469728"/>
                <a:gd name="connsiteY9" fmla="*/ 1000028 h 2794388"/>
                <a:gd name="connsiteX10" fmla="*/ 3454949 w 3469728"/>
                <a:gd name="connsiteY10" fmla="*/ 1508581 h 2794388"/>
                <a:gd name="connsiteX11" fmla="*/ 3004206 w 3469728"/>
                <a:gd name="connsiteY11" fmla="*/ 1953742 h 2794388"/>
                <a:gd name="connsiteX12" fmla="*/ 2842847 w 3469728"/>
                <a:gd name="connsiteY12" fmla="*/ 2335189 h 2794388"/>
                <a:gd name="connsiteX13" fmla="*/ 2293474 w 3469728"/>
                <a:gd name="connsiteY13" fmla="*/ 2381374 h 2794388"/>
                <a:gd name="connsiteX14" fmla="*/ 1900880 w 3469728"/>
                <a:gd name="connsiteY14" fmla="*/ 2788307 h 2794388"/>
                <a:gd name="connsiteX15" fmla="*/ 1323636 w 3469728"/>
                <a:gd name="connsiteY15" fmla="*/ 2539917 h 2794388"/>
                <a:gd name="connsiteX16" fmla="*/ 466164 w 3469728"/>
                <a:gd name="connsiteY16" fmla="*/ 2294503 h 2794388"/>
                <a:gd name="connsiteX17" fmla="*/ 89152 w 3469728"/>
                <a:gd name="connsiteY17" fmla="*/ 2021403 h 2794388"/>
                <a:gd name="connsiteX18" fmla="*/ 169711 w 3469728"/>
                <a:gd name="connsiteY18" fmla="*/ 1652764 h 2794388"/>
                <a:gd name="connsiteX19" fmla="*/ -402 w 3469728"/>
                <a:gd name="connsiteY19" fmla="*/ 1274551 h 2794388"/>
                <a:gd name="connsiteX20" fmla="*/ 310267 w 3469728"/>
                <a:gd name="connsiteY20" fmla="*/ 938383 h 2794388"/>
                <a:gd name="connsiteX21" fmla="*/ 313239 w 3469728"/>
                <a:gd name="connsiteY21" fmla="*/ 929522 h 2794388"/>
                <a:gd name="connsiteX0" fmla="*/ 376931 w 3469728"/>
                <a:gd name="connsiteY0" fmla="*/ 1693256 h 2794388"/>
                <a:gd name="connsiteX1" fmla="*/ 173486 w 3469728"/>
                <a:gd name="connsiteY1" fmla="*/ 1641702 h 2794388"/>
                <a:gd name="connsiteX2" fmla="*/ 556441 w 3469728"/>
                <a:gd name="connsiteY2" fmla="*/ 2257438 h 2794388"/>
                <a:gd name="connsiteX3" fmla="*/ 467449 w 3469728"/>
                <a:gd name="connsiteY3" fmla="*/ 2282083 h 2794388"/>
                <a:gd name="connsiteX4" fmla="*/ 1323476 w 3469728"/>
                <a:gd name="connsiteY4" fmla="*/ 2528533 h 2794388"/>
                <a:gd name="connsiteX5" fmla="*/ 1269824 w 3469728"/>
                <a:gd name="connsiteY5" fmla="*/ 2415981 h 2794388"/>
                <a:gd name="connsiteX6" fmla="*/ 2315320 w 3469728"/>
                <a:gd name="connsiteY6" fmla="*/ 2247865 h 2794388"/>
                <a:gd name="connsiteX7" fmla="*/ 2293875 w 3469728"/>
                <a:gd name="connsiteY7" fmla="*/ 2371348 h 2794388"/>
                <a:gd name="connsiteX8" fmla="*/ 2741165 w 3469728"/>
                <a:gd name="connsiteY8" fmla="*/ 1484777 h 2794388"/>
                <a:gd name="connsiteX9" fmla="*/ 3002278 w 3469728"/>
                <a:gd name="connsiteY9" fmla="*/ 1946368 h 2794388"/>
                <a:gd name="connsiteX10" fmla="*/ 3357122 w 3469728"/>
                <a:gd name="connsiteY10" fmla="*/ 993172 h 2794388"/>
                <a:gd name="connsiteX11" fmla="*/ 3240822 w 3469728"/>
                <a:gd name="connsiteY11" fmla="*/ 1166268 h 2794388"/>
                <a:gd name="connsiteX12" fmla="*/ 3078098 w 3469728"/>
                <a:gd name="connsiteY12" fmla="*/ 350980 h 2794388"/>
                <a:gd name="connsiteX13" fmla="*/ 3084202 w 3469728"/>
                <a:gd name="connsiteY13" fmla="*/ 432742 h 2794388"/>
                <a:gd name="connsiteX14" fmla="*/ 2335480 w 3469728"/>
                <a:gd name="connsiteY14" fmla="*/ 255634 h 2794388"/>
                <a:gd name="connsiteX15" fmla="*/ 2395076 w 3469728"/>
                <a:gd name="connsiteY15" fmla="*/ 151362 h 2794388"/>
                <a:gd name="connsiteX16" fmla="*/ 1778315 w 3469728"/>
                <a:gd name="connsiteY16" fmla="*/ 305312 h 2794388"/>
                <a:gd name="connsiteX17" fmla="*/ 1807150 w 3469728"/>
                <a:gd name="connsiteY17" fmla="*/ 215400 h 2794388"/>
                <a:gd name="connsiteX18" fmla="*/ 1124448 w 3469728"/>
                <a:gd name="connsiteY18" fmla="*/ 335844 h 2794388"/>
                <a:gd name="connsiteX19" fmla="*/ 1228862 w 3469728"/>
                <a:gd name="connsiteY19" fmla="*/ 423039 h 2794388"/>
                <a:gd name="connsiteX20" fmla="*/ 331471 w 3469728"/>
                <a:gd name="connsiteY20" fmla="*/ 1021310 h 2794388"/>
                <a:gd name="connsiteX21" fmla="*/ 313239 w 3469728"/>
                <a:gd name="connsiteY21" fmla="*/ 929522 h 279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69728" h="2794388" fill="none" extrusionOk="0">
                  <a:moveTo>
                    <a:pt x="313239" y="929522"/>
                  </a:moveTo>
                  <a:cubicBezTo>
                    <a:pt x="272348" y="792424"/>
                    <a:pt x="318671" y="545790"/>
                    <a:pt x="451626" y="446778"/>
                  </a:cubicBezTo>
                  <a:cubicBezTo>
                    <a:pt x="684374" y="259784"/>
                    <a:pt x="903392" y="168041"/>
                    <a:pt x="1124850" y="336490"/>
                  </a:cubicBezTo>
                  <a:cubicBezTo>
                    <a:pt x="1313990" y="93301"/>
                    <a:pt x="1567421" y="8451"/>
                    <a:pt x="1803616" y="221998"/>
                  </a:cubicBezTo>
                  <a:cubicBezTo>
                    <a:pt x="1853829" y="112824"/>
                    <a:pt x="1952655" y="26518"/>
                    <a:pt x="2068102" y="12936"/>
                  </a:cubicBezTo>
                  <a:cubicBezTo>
                    <a:pt x="2218994" y="-25583"/>
                    <a:pt x="2322975" y="43209"/>
                    <a:pt x="2396120" y="160483"/>
                  </a:cubicBezTo>
                  <a:cubicBezTo>
                    <a:pt x="2480209" y="6954"/>
                    <a:pt x="2723604" y="-62087"/>
                    <a:pt x="2848309" y="44632"/>
                  </a:cubicBezTo>
                  <a:cubicBezTo>
                    <a:pt x="2936783" y="119016"/>
                    <a:pt x="3056700" y="225929"/>
                    <a:pt x="3077616" y="360683"/>
                  </a:cubicBezTo>
                  <a:cubicBezTo>
                    <a:pt x="3225190" y="400467"/>
                    <a:pt x="3322990" y="532064"/>
                    <a:pt x="3371900" y="667418"/>
                  </a:cubicBezTo>
                  <a:cubicBezTo>
                    <a:pt x="3407700" y="777240"/>
                    <a:pt x="3392065" y="869011"/>
                    <a:pt x="3358728" y="1000028"/>
                  </a:cubicBezTo>
                  <a:cubicBezTo>
                    <a:pt x="3498961" y="1145772"/>
                    <a:pt x="3528410" y="1366036"/>
                    <a:pt x="3454949" y="1508581"/>
                  </a:cubicBezTo>
                  <a:cubicBezTo>
                    <a:pt x="3448532" y="1788900"/>
                    <a:pt x="3243218" y="1968899"/>
                    <a:pt x="3004206" y="1953742"/>
                  </a:cubicBezTo>
                  <a:cubicBezTo>
                    <a:pt x="3007619" y="2104792"/>
                    <a:pt x="2941128" y="2235229"/>
                    <a:pt x="2842847" y="2335189"/>
                  </a:cubicBezTo>
                  <a:cubicBezTo>
                    <a:pt x="2657672" y="2511484"/>
                    <a:pt x="2507656" y="2508692"/>
                    <a:pt x="2293474" y="2381374"/>
                  </a:cubicBezTo>
                  <a:cubicBezTo>
                    <a:pt x="2257239" y="2563116"/>
                    <a:pt x="2065516" y="2698470"/>
                    <a:pt x="1900880" y="2788307"/>
                  </a:cubicBezTo>
                  <a:cubicBezTo>
                    <a:pt x="1647983" y="2861416"/>
                    <a:pt x="1453686" y="2805401"/>
                    <a:pt x="1323636" y="2539917"/>
                  </a:cubicBezTo>
                  <a:cubicBezTo>
                    <a:pt x="991582" y="2697647"/>
                    <a:pt x="659717" y="2603735"/>
                    <a:pt x="466164" y="2294503"/>
                  </a:cubicBezTo>
                  <a:cubicBezTo>
                    <a:pt x="325597" y="2352232"/>
                    <a:pt x="177805" y="2207844"/>
                    <a:pt x="89152" y="2021403"/>
                  </a:cubicBezTo>
                  <a:cubicBezTo>
                    <a:pt x="27298" y="1901545"/>
                    <a:pt x="84450" y="1727886"/>
                    <a:pt x="169711" y="1652764"/>
                  </a:cubicBezTo>
                  <a:cubicBezTo>
                    <a:pt x="50048" y="1571984"/>
                    <a:pt x="-13969" y="1417475"/>
                    <a:pt x="-402" y="1274551"/>
                  </a:cubicBezTo>
                  <a:cubicBezTo>
                    <a:pt x="-11256" y="1098721"/>
                    <a:pt x="164387" y="931530"/>
                    <a:pt x="310267" y="938383"/>
                  </a:cubicBezTo>
                  <a:cubicBezTo>
                    <a:pt x="311386" y="935286"/>
                    <a:pt x="313055" y="932436"/>
                    <a:pt x="313239" y="929522"/>
                  </a:cubicBezTo>
                  <a:close/>
                </a:path>
                <a:path w="3469728" h="2794388" fill="none" extrusionOk="0">
                  <a:moveTo>
                    <a:pt x="376931" y="1693256"/>
                  </a:moveTo>
                  <a:cubicBezTo>
                    <a:pt x="315394" y="1681218"/>
                    <a:pt x="249298" y="1666409"/>
                    <a:pt x="173486" y="1641702"/>
                  </a:cubicBezTo>
                  <a:moveTo>
                    <a:pt x="556441" y="2257438"/>
                  </a:moveTo>
                  <a:cubicBezTo>
                    <a:pt x="535406" y="2264772"/>
                    <a:pt x="498807" y="2277494"/>
                    <a:pt x="467449" y="2282083"/>
                  </a:cubicBezTo>
                  <a:moveTo>
                    <a:pt x="1323476" y="2528533"/>
                  </a:moveTo>
                  <a:cubicBezTo>
                    <a:pt x="1303318" y="2500479"/>
                    <a:pt x="1289457" y="2450432"/>
                    <a:pt x="1269824" y="2415981"/>
                  </a:cubicBezTo>
                  <a:moveTo>
                    <a:pt x="2315320" y="2247865"/>
                  </a:moveTo>
                  <a:cubicBezTo>
                    <a:pt x="2320217" y="2290210"/>
                    <a:pt x="2304607" y="2326754"/>
                    <a:pt x="2293875" y="2371348"/>
                  </a:cubicBezTo>
                  <a:moveTo>
                    <a:pt x="2741165" y="1484777"/>
                  </a:moveTo>
                  <a:cubicBezTo>
                    <a:pt x="2847465" y="1576680"/>
                    <a:pt x="3033338" y="1786334"/>
                    <a:pt x="3002278" y="1946368"/>
                  </a:cubicBezTo>
                  <a:moveTo>
                    <a:pt x="3357122" y="993172"/>
                  </a:moveTo>
                  <a:cubicBezTo>
                    <a:pt x="3323228" y="1078910"/>
                    <a:pt x="3310275" y="1112500"/>
                    <a:pt x="3240822" y="1166268"/>
                  </a:cubicBezTo>
                  <a:moveTo>
                    <a:pt x="3078098" y="350980"/>
                  </a:moveTo>
                  <a:cubicBezTo>
                    <a:pt x="3082835" y="377184"/>
                    <a:pt x="3088178" y="406893"/>
                    <a:pt x="3084202" y="432742"/>
                  </a:cubicBezTo>
                  <a:moveTo>
                    <a:pt x="2335480" y="255634"/>
                  </a:moveTo>
                  <a:cubicBezTo>
                    <a:pt x="2356375" y="208951"/>
                    <a:pt x="2376407" y="180882"/>
                    <a:pt x="2395076" y="151362"/>
                  </a:cubicBezTo>
                  <a:moveTo>
                    <a:pt x="1778315" y="305312"/>
                  </a:moveTo>
                  <a:cubicBezTo>
                    <a:pt x="1793490" y="275743"/>
                    <a:pt x="1794516" y="247730"/>
                    <a:pt x="1807150" y="215400"/>
                  </a:cubicBezTo>
                  <a:moveTo>
                    <a:pt x="1124448" y="335844"/>
                  </a:moveTo>
                  <a:cubicBezTo>
                    <a:pt x="1161326" y="359777"/>
                    <a:pt x="1198866" y="389369"/>
                    <a:pt x="1228862" y="423039"/>
                  </a:cubicBezTo>
                  <a:moveTo>
                    <a:pt x="331471" y="1021310"/>
                  </a:moveTo>
                  <a:cubicBezTo>
                    <a:pt x="323122" y="988049"/>
                    <a:pt x="320992" y="957807"/>
                    <a:pt x="313239" y="929522"/>
                  </a:cubicBezTo>
                </a:path>
                <a:path w="3469728" h="2794388" stroke="0" extrusionOk="0">
                  <a:moveTo>
                    <a:pt x="313239" y="929522"/>
                  </a:moveTo>
                  <a:cubicBezTo>
                    <a:pt x="286111" y="750724"/>
                    <a:pt x="307415" y="590122"/>
                    <a:pt x="451626" y="446778"/>
                  </a:cubicBezTo>
                  <a:cubicBezTo>
                    <a:pt x="685706" y="253907"/>
                    <a:pt x="857719" y="196648"/>
                    <a:pt x="1124850" y="336490"/>
                  </a:cubicBezTo>
                  <a:cubicBezTo>
                    <a:pt x="1212380" y="104542"/>
                    <a:pt x="1588196" y="63614"/>
                    <a:pt x="1803616" y="221998"/>
                  </a:cubicBezTo>
                  <a:cubicBezTo>
                    <a:pt x="1846238" y="104016"/>
                    <a:pt x="1961796" y="34399"/>
                    <a:pt x="2068102" y="12936"/>
                  </a:cubicBezTo>
                  <a:cubicBezTo>
                    <a:pt x="2199851" y="-5871"/>
                    <a:pt x="2332948" y="21463"/>
                    <a:pt x="2396120" y="160483"/>
                  </a:cubicBezTo>
                  <a:cubicBezTo>
                    <a:pt x="2475630" y="12448"/>
                    <a:pt x="2685230" y="-24582"/>
                    <a:pt x="2848309" y="44632"/>
                  </a:cubicBezTo>
                  <a:cubicBezTo>
                    <a:pt x="2966072" y="79250"/>
                    <a:pt x="3031174" y="252324"/>
                    <a:pt x="3077616" y="360683"/>
                  </a:cubicBezTo>
                  <a:cubicBezTo>
                    <a:pt x="3249736" y="420870"/>
                    <a:pt x="3344046" y="521466"/>
                    <a:pt x="3371900" y="667418"/>
                  </a:cubicBezTo>
                  <a:cubicBezTo>
                    <a:pt x="3381167" y="772559"/>
                    <a:pt x="3425719" y="915746"/>
                    <a:pt x="3358728" y="1000028"/>
                  </a:cubicBezTo>
                  <a:cubicBezTo>
                    <a:pt x="3487196" y="1185005"/>
                    <a:pt x="3497975" y="1358235"/>
                    <a:pt x="3454949" y="1508581"/>
                  </a:cubicBezTo>
                  <a:cubicBezTo>
                    <a:pt x="3435331" y="1796187"/>
                    <a:pt x="3259629" y="1964338"/>
                    <a:pt x="3004206" y="1953742"/>
                  </a:cubicBezTo>
                  <a:cubicBezTo>
                    <a:pt x="3014484" y="2090470"/>
                    <a:pt x="2948751" y="2218469"/>
                    <a:pt x="2842847" y="2335189"/>
                  </a:cubicBezTo>
                  <a:cubicBezTo>
                    <a:pt x="2640018" y="2488663"/>
                    <a:pt x="2454594" y="2491437"/>
                    <a:pt x="2293474" y="2381374"/>
                  </a:cubicBezTo>
                  <a:cubicBezTo>
                    <a:pt x="2220207" y="2582794"/>
                    <a:pt x="2079910" y="2722093"/>
                    <a:pt x="1900880" y="2788307"/>
                  </a:cubicBezTo>
                  <a:cubicBezTo>
                    <a:pt x="1680627" y="2840235"/>
                    <a:pt x="1400061" y="2776415"/>
                    <a:pt x="1323636" y="2539917"/>
                  </a:cubicBezTo>
                  <a:cubicBezTo>
                    <a:pt x="997847" y="2786830"/>
                    <a:pt x="665618" y="2645915"/>
                    <a:pt x="466164" y="2294503"/>
                  </a:cubicBezTo>
                  <a:cubicBezTo>
                    <a:pt x="294848" y="2352534"/>
                    <a:pt x="184042" y="2172900"/>
                    <a:pt x="89152" y="2021403"/>
                  </a:cubicBezTo>
                  <a:cubicBezTo>
                    <a:pt x="34474" y="1923428"/>
                    <a:pt x="58152" y="1752912"/>
                    <a:pt x="169711" y="1652764"/>
                  </a:cubicBezTo>
                  <a:cubicBezTo>
                    <a:pt x="69621" y="1614748"/>
                    <a:pt x="-22008" y="1429339"/>
                    <a:pt x="-402" y="1274551"/>
                  </a:cubicBezTo>
                  <a:cubicBezTo>
                    <a:pt x="20645" y="1088051"/>
                    <a:pt x="141053" y="956350"/>
                    <a:pt x="310267" y="938383"/>
                  </a:cubicBezTo>
                  <a:cubicBezTo>
                    <a:pt x="311317" y="935482"/>
                    <a:pt x="312126" y="932946"/>
                    <a:pt x="313239" y="929522"/>
                  </a:cubicBezTo>
                  <a:close/>
                </a:path>
                <a:path w="3469728" h="2794388" fill="none" stroke="0" extrusionOk="0">
                  <a:moveTo>
                    <a:pt x="376931" y="1693256"/>
                  </a:moveTo>
                  <a:cubicBezTo>
                    <a:pt x="306677" y="1696444"/>
                    <a:pt x="239464" y="1664320"/>
                    <a:pt x="173486" y="1641702"/>
                  </a:cubicBezTo>
                  <a:moveTo>
                    <a:pt x="556441" y="2257438"/>
                  </a:moveTo>
                  <a:cubicBezTo>
                    <a:pt x="526121" y="2278896"/>
                    <a:pt x="495089" y="2275114"/>
                    <a:pt x="467449" y="2282083"/>
                  </a:cubicBezTo>
                  <a:moveTo>
                    <a:pt x="1323476" y="2528533"/>
                  </a:moveTo>
                  <a:cubicBezTo>
                    <a:pt x="1307414" y="2497550"/>
                    <a:pt x="1282836" y="2455840"/>
                    <a:pt x="1269824" y="2415981"/>
                  </a:cubicBezTo>
                  <a:moveTo>
                    <a:pt x="2315320" y="2247865"/>
                  </a:moveTo>
                  <a:cubicBezTo>
                    <a:pt x="2306424" y="2291738"/>
                    <a:pt x="2304863" y="2326347"/>
                    <a:pt x="2293875" y="2371348"/>
                  </a:cubicBezTo>
                  <a:moveTo>
                    <a:pt x="2741165" y="1484777"/>
                  </a:moveTo>
                  <a:cubicBezTo>
                    <a:pt x="2862464" y="1585390"/>
                    <a:pt x="3000815" y="1794268"/>
                    <a:pt x="3002278" y="1946368"/>
                  </a:cubicBezTo>
                  <a:moveTo>
                    <a:pt x="3357122" y="993172"/>
                  </a:moveTo>
                  <a:cubicBezTo>
                    <a:pt x="3325821" y="1055370"/>
                    <a:pt x="3296630" y="1119665"/>
                    <a:pt x="3240822" y="1166268"/>
                  </a:cubicBezTo>
                  <a:moveTo>
                    <a:pt x="3078098" y="350980"/>
                  </a:moveTo>
                  <a:cubicBezTo>
                    <a:pt x="3078031" y="377525"/>
                    <a:pt x="3080737" y="407009"/>
                    <a:pt x="3084202" y="432742"/>
                  </a:cubicBezTo>
                  <a:moveTo>
                    <a:pt x="2335480" y="255634"/>
                  </a:moveTo>
                  <a:cubicBezTo>
                    <a:pt x="2346379" y="212937"/>
                    <a:pt x="2370783" y="181223"/>
                    <a:pt x="2395076" y="151362"/>
                  </a:cubicBezTo>
                  <a:moveTo>
                    <a:pt x="1778315" y="305312"/>
                  </a:moveTo>
                  <a:cubicBezTo>
                    <a:pt x="1780063" y="280578"/>
                    <a:pt x="1791347" y="251093"/>
                    <a:pt x="1807150" y="215400"/>
                  </a:cubicBezTo>
                  <a:moveTo>
                    <a:pt x="1124448" y="335844"/>
                  </a:moveTo>
                  <a:cubicBezTo>
                    <a:pt x="1156263" y="361630"/>
                    <a:pt x="1198465" y="392451"/>
                    <a:pt x="1228862" y="423039"/>
                  </a:cubicBezTo>
                  <a:moveTo>
                    <a:pt x="331471" y="1021310"/>
                  </a:moveTo>
                  <a:cubicBezTo>
                    <a:pt x="317576" y="990320"/>
                    <a:pt x="316874" y="954949"/>
                    <a:pt x="313239" y="929522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F7E29C90-E0D7-9A49-AEB8-47FA643F5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8495" y="5089539"/>
              <a:ext cx="2590805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951C2A6A-16B1-4249-AC65-79613D389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295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F984CE7D-9D76-8346-A1D8-19A56EA12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7697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7FD450B1-87D1-154B-B74F-3C5CC81EA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4499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3308E2D5-D96E-1649-8EB1-D20514535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2307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74C299CC-2B94-F746-9F51-6D29FD3A7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659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85F94E58-58EC-7046-9356-FF91B4B82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9223" y="4204677"/>
              <a:ext cx="573088" cy="50260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5C43ADF2-AA5F-B74F-967D-8DB476D13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98" y="4067818"/>
              <a:ext cx="357188" cy="502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64" name="Text Box 28">
              <a:extLst>
                <a:ext uri="{FF2B5EF4-FFF2-40B4-BE49-F238E27FC236}">
                  <a16:creationId xmlns:a16="http://schemas.microsoft.com/office/drawing/2014/main" id="{50555139-E5B8-314C-9AFE-CF3EBF043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3026" y="3810000"/>
              <a:ext cx="140294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192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.</a:t>
              </a:r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1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6</a:t>
              </a:r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8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.</a:t>
              </a:r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0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.8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ADE4C8F-153C-0C46-906D-6C8C97C3449E}"/>
              </a:ext>
            </a:extLst>
          </p:cNvPr>
          <p:cNvGrpSpPr/>
          <p:nvPr/>
        </p:nvGrpSpPr>
        <p:grpSpPr>
          <a:xfrm>
            <a:off x="333777" y="2590799"/>
            <a:ext cx="3858596" cy="2794394"/>
            <a:chOff x="381009" y="3682606"/>
            <a:chExt cx="3858596" cy="1879993"/>
          </a:xfrm>
        </p:grpSpPr>
        <p:sp>
          <p:nvSpPr>
            <p:cNvPr id="58" name="Cloud 57">
              <a:extLst>
                <a:ext uri="{FF2B5EF4-FFF2-40B4-BE49-F238E27FC236}">
                  <a16:creationId xmlns:a16="http://schemas.microsoft.com/office/drawing/2014/main" id="{21A1DFDA-9339-9346-8226-5C9883E22D64}"/>
                </a:ext>
              </a:extLst>
            </p:cNvPr>
            <p:cNvSpPr/>
            <p:nvPr/>
          </p:nvSpPr>
          <p:spPr bwMode="auto">
            <a:xfrm>
              <a:off x="381009" y="3682606"/>
              <a:ext cx="3858596" cy="1879993"/>
            </a:xfrm>
            <a:custGeom>
              <a:avLst/>
              <a:gdLst>
                <a:gd name="connsiteX0" fmla="*/ 348345 w 3858596"/>
                <a:gd name="connsiteY0" fmla="*/ 625358 h 1879993"/>
                <a:gd name="connsiteX1" fmla="*/ 502242 w 3858596"/>
                <a:gd name="connsiteY1" fmla="*/ 300581 h 1879993"/>
                <a:gd name="connsiteX2" fmla="*/ 1250917 w 3858596"/>
                <a:gd name="connsiteY2" fmla="*/ 226382 h 1879993"/>
                <a:gd name="connsiteX3" fmla="*/ 2005755 w 3858596"/>
                <a:gd name="connsiteY3" fmla="*/ 149354 h 1879993"/>
                <a:gd name="connsiteX4" fmla="*/ 2299883 w 3858596"/>
                <a:gd name="connsiteY4" fmla="*/ 8703 h 1879993"/>
                <a:gd name="connsiteX5" fmla="*/ 2664664 w 3858596"/>
                <a:gd name="connsiteY5" fmla="*/ 107969 h 1879993"/>
                <a:gd name="connsiteX6" fmla="*/ 3167532 w 3858596"/>
                <a:gd name="connsiteY6" fmla="*/ 30027 h 1879993"/>
                <a:gd name="connsiteX7" fmla="*/ 3422538 w 3858596"/>
                <a:gd name="connsiteY7" fmla="*/ 242658 h 1879993"/>
                <a:gd name="connsiteX8" fmla="*/ 3749805 w 3858596"/>
                <a:gd name="connsiteY8" fmla="*/ 449022 h 1879993"/>
                <a:gd name="connsiteX9" fmla="*/ 3735156 w 3858596"/>
                <a:gd name="connsiteY9" fmla="*/ 672793 h 1879993"/>
                <a:gd name="connsiteX10" fmla="*/ 3842161 w 3858596"/>
                <a:gd name="connsiteY10" fmla="*/ 1014935 h 1879993"/>
                <a:gd name="connsiteX11" fmla="*/ 3340901 w 3858596"/>
                <a:gd name="connsiteY11" fmla="*/ 1314428 h 1879993"/>
                <a:gd name="connsiteX12" fmla="*/ 3161458 w 3858596"/>
                <a:gd name="connsiteY12" fmla="*/ 1571056 h 1879993"/>
                <a:gd name="connsiteX13" fmla="*/ 2550514 w 3858596"/>
                <a:gd name="connsiteY13" fmla="*/ 1602128 h 1879993"/>
                <a:gd name="connsiteX14" fmla="*/ 2113921 w 3858596"/>
                <a:gd name="connsiteY14" fmla="*/ 1875902 h 1879993"/>
                <a:gd name="connsiteX15" fmla="*/ 1471982 w 3858596"/>
                <a:gd name="connsiteY15" fmla="*/ 1708791 h 1879993"/>
                <a:gd name="connsiteX16" fmla="*/ 518409 w 3858596"/>
                <a:gd name="connsiteY16" fmla="*/ 1543683 h 1879993"/>
                <a:gd name="connsiteX17" fmla="*/ 99144 w 3858596"/>
                <a:gd name="connsiteY17" fmla="*/ 1359948 h 1879993"/>
                <a:gd name="connsiteX18" fmla="*/ 188731 w 3858596"/>
                <a:gd name="connsiteY18" fmla="*/ 1111937 h 1879993"/>
                <a:gd name="connsiteX19" fmla="*/ -447 w 3858596"/>
                <a:gd name="connsiteY19" fmla="*/ 857485 h 1879993"/>
                <a:gd name="connsiteX20" fmla="*/ 345040 w 3858596"/>
                <a:gd name="connsiteY20" fmla="*/ 631320 h 1879993"/>
                <a:gd name="connsiteX21" fmla="*/ 348345 w 3858596"/>
                <a:gd name="connsiteY21" fmla="*/ 625358 h 1879993"/>
                <a:gd name="connsiteX0" fmla="*/ 419175 w 3858596"/>
                <a:gd name="connsiteY0" fmla="*/ 1139180 h 1879993"/>
                <a:gd name="connsiteX1" fmla="*/ 192929 w 3858596"/>
                <a:gd name="connsiteY1" fmla="*/ 1104495 h 1879993"/>
                <a:gd name="connsiteX2" fmla="*/ 618804 w 3858596"/>
                <a:gd name="connsiteY2" fmla="*/ 1518747 h 1879993"/>
                <a:gd name="connsiteX3" fmla="*/ 519838 w 3858596"/>
                <a:gd name="connsiteY3" fmla="*/ 1535327 h 1879993"/>
                <a:gd name="connsiteX4" fmla="*/ 1471804 w 3858596"/>
                <a:gd name="connsiteY4" fmla="*/ 1701132 h 1879993"/>
                <a:gd name="connsiteX5" fmla="*/ 1412138 w 3858596"/>
                <a:gd name="connsiteY5" fmla="*/ 1625410 h 1879993"/>
                <a:gd name="connsiteX6" fmla="*/ 2574808 w 3858596"/>
                <a:gd name="connsiteY6" fmla="*/ 1512306 h 1879993"/>
                <a:gd name="connsiteX7" fmla="*/ 2550960 w 3858596"/>
                <a:gd name="connsiteY7" fmla="*/ 1595382 h 1879993"/>
                <a:gd name="connsiteX8" fmla="*/ 3048380 w 3858596"/>
                <a:gd name="connsiteY8" fmla="*/ 998920 h 1879993"/>
                <a:gd name="connsiteX9" fmla="*/ 3338757 w 3858596"/>
                <a:gd name="connsiteY9" fmla="*/ 1309467 h 1879993"/>
                <a:gd name="connsiteX10" fmla="*/ 3733370 w 3858596"/>
                <a:gd name="connsiteY10" fmla="*/ 668180 h 1879993"/>
                <a:gd name="connsiteX11" fmla="*/ 3604035 w 3858596"/>
                <a:gd name="connsiteY11" fmla="*/ 784635 h 1879993"/>
                <a:gd name="connsiteX12" fmla="*/ 3423074 w 3858596"/>
                <a:gd name="connsiteY12" fmla="*/ 236130 h 1879993"/>
                <a:gd name="connsiteX13" fmla="*/ 3429863 w 3858596"/>
                <a:gd name="connsiteY13" fmla="*/ 291137 h 1879993"/>
                <a:gd name="connsiteX14" fmla="*/ 2597228 w 3858596"/>
                <a:gd name="connsiteY14" fmla="*/ 171984 h 1879993"/>
                <a:gd name="connsiteX15" fmla="*/ 2663503 w 3858596"/>
                <a:gd name="connsiteY15" fmla="*/ 101832 h 1879993"/>
                <a:gd name="connsiteX16" fmla="*/ 1977619 w 3858596"/>
                <a:gd name="connsiteY16" fmla="*/ 205406 h 1879993"/>
                <a:gd name="connsiteX17" fmla="*/ 2009685 w 3858596"/>
                <a:gd name="connsiteY17" fmla="*/ 144916 h 1879993"/>
                <a:gd name="connsiteX18" fmla="*/ 1250470 w 3858596"/>
                <a:gd name="connsiteY18" fmla="*/ 225947 h 1879993"/>
                <a:gd name="connsiteX19" fmla="*/ 1366586 w 3858596"/>
                <a:gd name="connsiteY19" fmla="*/ 284610 h 1879993"/>
                <a:gd name="connsiteX20" fmla="*/ 368620 w 3858596"/>
                <a:gd name="connsiteY20" fmla="*/ 687111 h 1879993"/>
                <a:gd name="connsiteX21" fmla="*/ 348345 w 3858596"/>
                <a:gd name="connsiteY21" fmla="*/ 625358 h 187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58596" h="1879993" fill="none" extrusionOk="0">
                  <a:moveTo>
                    <a:pt x="348345" y="625358"/>
                  </a:moveTo>
                  <a:cubicBezTo>
                    <a:pt x="315612" y="524411"/>
                    <a:pt x="374266" y="379838"/>
                    <a:pt x="502242" y="300581"/>
                  </a:cubicBezTo>
                  <a:cubicBezTo>
                    <a:pt x="765805" y="184503"/>
                    <a:pt x="1002719" y="61273"/>
                    <a:pt x="1250917" y="226382"/>
                  </a:cubicBezTo>
                  <a:cubicBezTo>
                    <a:pt x="1416799" y="49922"/>
                    <a:pt x="1714361" y="15077"/>
                    <a:pt x="2005755" y="149354"/>
                  </a:cubicBezTo>
                  <a:cubicBezTo>
                    <a:pt x="2059819" y="83187"/>
                    <a:pt x="2167364" y="3002"/>
                    <a:pt x="2299883" y="8703"/>
                  </a:cubicBezTo>
                  <a:cubicBezTo>
                    <a:pt x="2444062" y="-7807"/>
                    <a:pt x="2590101" y="14402"/>
                    <a:pt x="2664664" y="107969"/>
                  </a:cubicBezTo>
                  <a:cubicBezTo>
                    <a:pt x="2771837" y="5384"/>
                    <a:pt x="3006690" y="-34182"/>
                    <a:pt x="3167532" y="30027"/>
                  </a:cubicBezTo>
                  <a:cubicBezTo>
                    <a:pt x="3298229" y="69739"/>
                    <a:pt x="3405388" y="171193"/>
                    <a:pt x="3422538" y="242658"/>
                  </a:cubicBezTo>
                  <a:cubicBezTo>
                    <a:pt x="3582161" y="269549"/>
                    <a:pt x="3691723" y="378232"/>
                    <a:pt x="3749805" y="449022"/>
                  </a:cubicBezTo>
                  <a:cubicBezTo>
                    <a:pt x="3801821" y="526800"/>
                    <a:pt x="3774623" y="581186"/>
                    <a:pt x="3735156" y="672793"/>
                  </a:cubicBezTo>
                  <a:cubicBezTo>
                    <a:pt x="3860749" y="770425"/>
                    <a:pt x="3909518" y="919190"/>
                    <a:pt x="3842161" y="1014935"/>
                  </a:cubicBezTo>
                  <a:cubicBezTo>
                    <a:pt x="3827412" y="1216174"/>
                    <a:pt x="3604168" y="1340154"/>
                    <a:pt x="3340901" y="1314428"/>
                  </a:cubicBezTo>
                  <a:cubicBezTo>
                    <a:pt x="3351478" y="1424697"/>
                    <a:pt x="3265486" y="1494905"/>
                    <a:pt x="3161458" y="1571056"/>
                  </a:cubicBezTo>
                  <a:cubicBezTo>
                    <a:pt x="2957172" y="1701569"/>
                    <a:pt x="2777817" y="1689440"/>
                    <a:pt x="2550514" y="1602128"/>
                  </a:cubicBezTo>
                  <a:cubicBezTo>
                    <a:pt x="2527479" y="1696777"/>
                    <a:pt x="2316313" y="1832158"/>
                    <a:pt x="2113921" y="1875902"/>
                  </a:cubicBezTo>
                  <a:cubicBezTo>
                    <a:pt x="1861576" y="1918230"/>
                    <a:pt x="1615802" y="1900829"/>
                    <a:pt x="1471982" y="1708791"/>
                  </a:cubicBezTo>
                  <a:cubicBezTo>
                    <a:pt x="1125423" y="1823683"/>
                    <a:pt x="758609" y="1714880"/>
                    <a:pt x="518409" y="1543683"/>
                  </a:cubicBezTo>
                  <a:cubicBezTo>
                    <a:pt x="335723" y="1565891"/>
                    <a:pt x="170951" y="1483867"/>
                    <a:pt x="99144" y="1359948"/>
                  </a:cubicBezTo>
                  <a:cubicBezTo>
                    <a:pt x="39048" y="1280510"/>
                    <a:pt x="94394" y="1168577"/>
                    <a:pt x="188731" y="1111937"/>
                  </a:cubicBezTo>
                  <a:cubicBezTo>
                    <a:pt x="55532" y="1057380"/>
                    <a:pt x="-12904" y="941786"/>
                    <a:pt x="-447" y="857485"/>
                  </a:cubicBezTo>
                  <a:cubicBezTo>
                    <a:pt x="-21586" y="740944"/>
                    <a:pt x="184990" y="612237"/>
                    <a:pt x="345040" y="631320"/>
                  </a:cubicBezTo>
                  <a:cubicBezTo>
                    <a:pt x="346602" y="628932"/>
                    <a:pt x="347415" y="627349"/>
                    <a:pt x="348345" y="625358"/>
                  </a:cubicBezTo>
                  <a:close/>
                </a:path>
                <a:path w="3858596" h="1879993" fill="none" extrusionOk="0">
                  <a:moveTo>
                    <a:pt x="419175" y="1139180"/>
                  </a:moveTo>
                  <a:cubicBezTo>
                    <a:pt x="347069" y="1130153"/>
                    <a:pt x="270675" y="1121378"/>
                    <a:pt x="192929" y="1104495"/>
                  </a:cubicBezTo>
                  <a:moveTo>
                    <a:pt x="618804" y="1518747"/>
                  </a:moveTo>
                  <a:cubicBezTo>
                    <a:pt x="591220" y="1524306"/>
                    <a:pt x="557132" y="1529880"/>
                    <a:pt x="519838" y="1535327"/>
                  </a:cubicBezTo>
                  <a:moveTo>
                    <a:pt x="1471804" y="1701132"/>
                  </a:moveTo>
                  <a:cubicBezTo>
                    <a:pt x="1449441" y="1685757"/>
                    <a:pt x="1429269" y="1650764"/>
                    <a:pt x="1412138" y="1625410"/>
                  </a:cubicBezTo>
                  <a:moveTo>
                    <a:pt x="2574808" y="1512306"/>
                  </a:moveTo>
                  <a:cubicBezTo>
                    <a:pt x="2576137" y="1540758"/>
                    <a:pt x="2562765" y="1561859"/>
                    <a:pt x="2550960" y="1595382"/>
                  </a:cubicBezTo>
                  <a:moveTo>
                    <a:pt x="3048380" y="998920"/>
                  </a:moveTo>
                  <a:cubicBezTo>
                    <a:pt x="3208011" y="1058838"/>
                    <a:pt x="3365370" y="1207992"/>
                    <a:pt x="3338757" y="1309467"/>
                  </a:cubicBezTo>
                  <a:moveTo>
                    <a:pt x="3733370" y="668180"/>
                  </a:moveTo>
                  <a:cubicBezTo>
                    <a:pt x="3699164" y="725706"/>
                    <a:pt x="3673862" y="748130"/>
                    <a:pt x="3604035" y="784635"/>
                  </a:cubicBezTo>
                  <a:moveTo>
                    <a:pt x="3423074" y="236130"/>
                  </a:moveTo>
                  <a:cubicBezTo>
                    <a:pt x="3428755" y="252434"/>
                    <a:pt x="3431410" y="273172"/>
                    <a:pt x="3429863" y="291137"/>
                  </a:cubicBezTo>
                  <a:moveTo>
                    <a:pt x="2597228" y="171984"/>
                  </a:moveTo>
                  <a:cubicBezTo>
                    <a:pt x="2616805" y="142381"/>
                    <a:pt x="2639752" y="121847"/>
                    <a:pt x="2663503" y="101832"/>
                  </a:cubicBezTo>
                  <a:moveTo>
                    <a:pt x="1977619" y="205406"/>
                  </a:moveTo>
                  <a:cubicBezTo>
                    <a:pt x="1988009" y="185058"/>
                    <a:pt x="1995611" y="168014"/>
                    <a:pt x="2009685" y="144916"/>
                  </a:cubicBezTo>
                  <a:moveTo>
                    <a:pt x="1250470" y="225947"/>
                  </a:moveTo>
                  <a:cubicBezTo>
                    <a:pt x="1281842" y="238258"/>
                    <a:pt x="1343414" y="261244"/>
                    <a:pt x="1366586" y="284610"/>
                  </a:cubicBezTo>
                  <a:moveTo>
                    <a:pt x="368620" y="687111"/>
                  </a:moveTo>
                  <a:cubicBezTo>
                    <a:pt x="359371" y="664772"/>
                    <a:pt x="356233" y="643679"/>
                    <a:pt x="348345" y="625358"/>
                  </a:cubicBezTo>
                </a:path>
                <a:path w="3858596" h="1879993" stroke="0" extrusionOk="0">
                  <a:moveTo>
                    <a:pt x="348345" y="625358"/>
                  </a:moveTo>
                  <a:cubicBezTo>
                    <a:pt x="291394" y="487095"/>
                    <a:pt x="370991" y="391829"/>
                    <a:pt x="502242" y="300581"/>
                  </a:cubicBezTo>
                  <a:cubicBezTo>
                    <a:pt x="769657" y="177980"/>
                    <a:pt x="988464" y="131855"/>
                    <a:pt x="1250917" y="226382"/>
                  </a:cubicBezTo>
                  <a:cubicBezTo>
                    <a:pt x="1346658" y="91989"/>
                    <a:pt x="1769932" y="49448"/>
                    <a:pt x="2005755" y="149354"/>
                  </a:cubicBezTo>
                  <a:cubicBezTo>
                    <a:pt x="2060028" y="71610"/>
                    <a:pt x="2184237" y="26015"/>
                    <a:pt x="2299883" y="8703"/>
                  </a:cubicBezTo>
                  <a:cubicBezTo>
                    <a:pt x="2451712" y="-3000"/>
                    <a:pt x="2588686" y="13772"/>
                    <a:pt x="2664664" y="107969"/>
                  </a:cubicBezTo>
                  <a:cubicBezTo>
                    <a:pt x="2737080" y="3805"/>
                    <a:pt x="2979748" y="-8213"/>
                    <a:pt x="3167532" y="30027"/>
                  </a:cubicBezTo>
                  <a:cubicBezTo>
                    <a:pt x="3299943" y="57457"/>
                    <a:pt x="3388478" y="159547"/>
                    <a:pt x="3422538" y="242658"/>
                  </a:cubicBezTo>
                  <a:cubicBezTo>
                    <a:pt x="3592324" y="279242"/>
                    <a:pt x="3711647" y="350911"/>
                    <a:pt x="3749805" y="449022"/>
                  </a:cubicBezTo>
                  <a:cubicBezTo>
                    <a:pt x="3772952" y="520171"/>
                    <a:pt x="3787590" y="607310"/>
                    <a:pt x="3735156" y="672793"/>
                  </a:cubicBezTo>
                  <a:cubicBezTo>
                    <a:pt x="3850937" y="774701"/>
                    <a:pt x="3889462" y="919702"/>
                    <a:pt x="3842161" y="1014935"/>
                  </a:cubicBezTo>
                  <a:cubicBezTo>
                    <a:pt x="3803748" y="1206003"/>
                    <a:pt x="3593699" y="1302991"/>
                    <a:pt x="3340901" y="1314428"/>
                  </a:cubicBezTo>
                  <a:cubicBezTo>
                    <a:pt x="3357714" y="1397346"/>
                    <a:pt x="3275384" y="1501399"/>
                    <a:pt x="3161458" y="1571056"/>
                  </a:cubicBezTo>
                  <a:cubicBezTo>
                    <a:pt x="2936177" y="1677775"/>
                    <a:pt x="2732001" y="1674288"/>
                    <a:pt x="2550514" y="1602128"/>
                  </a:cubicBezTo>
                  <a:cubicBezTo>
                    <a:pt x="2454739" y="1736079"/>
                    <a:pt x="2320095" y="1838379"/>
                    <a:pt x="2113921" y="1875902"/>
                  </a:cubicBezTo>
                  <a:cubicBezTo>
                    <a:pt x="1869703" y="1898361"/>
                    <a:pt x="1589123" y="1861890"/>
                    <a:pt x="1471982" y="1708791"/>
                  </a:cubicBezTo>
                  <a:cubicBezTo>
                    <a:pt x="1109282" y="1897591"/>
                    <a:pt x="719527" y="1773417"/>
                    <a:pt x="518409" y="1543683"/>
                  </a:cubicBezTo>
                  <a:cubicBezTo>
                    <a:pt x="328413" y="1586276"/>
                    <a:pt x="157267" y="1477715"/>
                    <a:pt x="99144" y="1359948"/>
                  </a:cubicBezTo>
                  <a:cubicBezTo>
                    <a:pt x="55103" y="1281409"/>
                    <a:pt x="86754" y="1178769"/>
                    <a:pt x="188731" y="1111937"/>
                  </a:cubicBezTo>
                  <a:cubicBezTo>
                    <a:pt x="63010" y="1075137"/>
                    <a:pt x="-22419" y="961673"/>
                    <a:pt x="-447" y="857485"/>
                  </a:cubicBezTo>
                  <a:cubicBezTo>
                    <a:pt x="25862" y="711772"/>
                    <a:pt x="148422" y="642753"/>
                    <a:pt x="345040" y="631320"/>
                  </a:cubicBezTo>
                  <a:cubicBezTo>
                    <a:pt x="346157" y="629357"/>
                    <a:pt x="347059" y="628006"/>
                    <a:pt x="348345" y="625358"/>
                  </a:cubicBezTo>
                  <a:close/>
                </a:path>
                <a:path w="3858596" h="1879993" fill="none" stroke="0" extrusionOk="0">
                  <a:moveTo>
                    <a:pt x="419175" y="1139180"/>
                  </a:moveTo>
                  <a:cubicBezTo>
                    <a:pt x="342547" y="1134252"/>
                    <a:pt x="263237" y="1123742"/>
                    <a:pt x="192929" y="1104495"/>
                  </a:cubicBezTo>
                  <a:moveTo>
                    <a:pt x="618804" y="1518747"/>
                  </a:moveTo>
                  <a:cubicBezTo>
                    <a:pt x="585725" y="1533955"/>
                    <a:pt x="547520" y="1526010"/>
                    <a:pt x="519838" y="1535327"/>
                  </a:cubicBezTo>
                  <a:moveTo>
                    <a:pt x="1471804" y="1701132"/>
                  </a:moveTo>
                  <a:cubicBezTo>
                    <a:pt x="1453903" y="1682159"/>
                    <a:pt x="1426984" y="1652270"/>
                    <a:pt x="1412138" y="1625410"/>
                  </a:cubicBezTo>
                  <a:moveTo>
                    <a:pt x="2574808" y="1512306"/>
                  </a:moveTo>
                  <a:cubicBezTo>
                    <a:pt x="2570255" y="1540837"/>
                    <a:pt x="2563194" y="1563740"/>
                    <a:pt x="2550960" y="1595382"/>
                  </a:cubicBezTo>
                  <a:moveTo>
                    <a:pt x="3048380" y="998920"/>
                  </a:moveTo>
                  <a:cubicBezTo>
                    <a:pt x="3216810" y="1060632"/>
                    <a:pt x="3337915" y="1214597"/>
                    <a:pt x="3338757" y="1309467"/>
                  </a:cubicBezTo>
                  <a:moveTo>
                    <a:pt x="3733370" y="668180"/>
                  </a:moveTo>
                  <a:cubicBezTo>
                    <a:pt x="3694813" y="704740"/>
                    <a:pt x="3675787" y="754375"/>
                    <a:pt x="3604035" y="784635"/>
                  </a:cubicBezTo>
                  <a:moveTo>
                    <a:pt x="3423074" y="236130"/>
                  </a:moveTo>
                  <a:cubicBezTo>
                    <a:pt x="3423502" y="253849"/>
                    <a:pt x="3427285" y="274011"/>
                    <a:pt x="3429863" y="291137"/>
                  </a:cubicBezTo>
                  <a:moveTo>
                    <a:pt x="2597228" y="171984"/>
                  </a:moveTo>
                  <a:cubicBezTo>
                    <a:pt x="2608719" y="140335"/>
                    <a:pt x="2636861" y="116495"/>
                    <a:pt x="2663503" y="101832"/>
                  </a:cubicBezTo>
                  <a:moveTo>
                    <a:pt x="1977619" y="205406"/>
                  </a:moveTo>
                  <a:cubicBezTo>
                    <a:pt x="1980993" y="189519"/>
                    <a:pt x="1993436" y="168773"/>
                    <a:pt x="2009685" y="144916"/>
                  </a:cubicBezTo>
                  <a:moveTo>
                    <a:pt x="1250470" y="225947"/>
                  </a:moveTo>
                  <a:cubicBezTo>
                    <a:pt x="1290670" y="242781"/>
                    <a:pt x="1332928" y="265745"/>
                    <a:pt x="1366586" y="284610"/>
                  </a:cubicBezTo>
                  <a:moveTo>
                    <a:pt x="368620" y="687111"/>
                  </a:moveTo>
                  <a:cubicBezTo>
                    <a:pt x="357025" y="666502"/>
                    <a:pt x="352446" y="641466"/>
                    <a:pt x="348345" y="625358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85AD45D-46B6-294C-897A-B0F9C40D4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517" y="5039332"/>
              <a:ext cx="1146469" cy="269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1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0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.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0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.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0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.*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6F42F6-0DDD-194E-8C63-3AA3B0A4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(Some of) What happens…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2D0CB-FB56-D946-B718-9727AF300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92E7A3F-692B-814D-BD5B-AFAEDD7E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3055" y="3980256"/>
            <a:ext cx="2590805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BD954EF-1590-8E4B-AA54-7F86EDF29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855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CB64F382-2839-034E-A958-5D48EEE3C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2257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201AC7BE-14F4-CF48-A67B-4C2E5D946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9059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86B82BC-92BC-E245-90CD-519EB9AB4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217" y="3386531"/>
            <a:ext cx="573088" cy="338138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</a:rPr>
              <a:t>host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D7F1180-DE4E-0049-AE4B-97BBED168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219" y="3386531"/>
            <a:ext cx="573088" cy="33813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/>
              <a:t>host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5C120B9-9D04-5D4E-8E03-732AB70F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971" y="3386531"/>
            <a:ext cx="615951" cy="338138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accent2"/>
                </a:solidFill>
              </a:rPr>
              <a:t>DNS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0442CCE2-755A-E547-AC01-1867068EB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058" y="3292868"/>
            <a:ext cx="357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600" b="0" dirty="0">
                <a:latin typeface="+mn-lt"/>
              </a:rPr>
              <a:t>...</a:t>
            </a:r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6255765C-F657-3041-8137-C39887BB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861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03130648-77D8-C849-80A0-50F4FA5FD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9321" y="3940568"/>
            <a:ext cx="0" cy="755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F0FFF321-1EEF-B14E-ACC8-FE16D421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664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D9AD64E6-762E-E14E-8A83-BEB8E9AE3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8989" y="3983430"/>
            <a:ext cx="0" cy="715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8BAF9ABF-10D7-AE4A-B06E-69DC2132B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659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E08EAC09-9063-5047-BD71-9CD1F3A5C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462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22371197-E9BB-8C4E-A93F-5632E1F33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9804" y="3059506"/>
            <a:ext cx="12747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latin typeface="+mn-lt"/>
              </a:rPr>
              <a:t>1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.156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5C01E7E3-499C-7F4F-B465-6B78FE6D6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77" y="3059506"/>
            <a:ext cx="11464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solidFill>
                  <a:srgbClr val="FF3300"/>
                </a:solidFill>
                <a:latin typeface="+mn-lt"/>
              </a:rPr>
              <a:t>1</a:t>
            </a:r>
            <a:r>
              <a:rPr lang="en-US" altLang="zh-CN" sz="1800" b="0" dirty="0">
                <a:solidFill>
                  <a:srgbClr val="FF3300"/>
                </a:solidFill>
                <a:latin typeface="+mn-lt"/>
              </a:rPr>
              <a:t>0</a:t>
            </a:r>
            <a:r>
              <a:rPr lang="en-US" sz="1800" b="0" dirty="0">
                <a:solidFill>
                  <a:srgbClr val="FF3300"/>
                </a:solidFill>
                <a:latin typeface="+mn-lt"/>
              </a:rPr>
              <a:t>.</a:t>
            </a:r>
            <a:r>
              <a:rPr lang="en-US" altLang="zh-CN" sz="1800" b="0" dirty="0">
                <a:solidFill>
                  <a:srgbClr val="FF3300"/>
                </a:solidFill>
                <a:latin typeface="+mn-lt"/>
              </a:rPr>
              <a:t>0</a:t>
            </a:r>
            <a:r>
              <a:rPr lang="en-US" sz="1800" b="0" dirty="0">
                <a:solidFill>
                  <a:srgbClr val="FF3300"/>
                </a:solidFill>
                <a:latin typeface="+mn-lt"/>
              </a:rPr>
              <a:t>.</a:t>
            </a:r>
            <a:r>
              <a:rPr lang="en-US" altLang="zh-CN" sz="1800" b="0" dirty="0">
                <a:solidFill>
                  <a:srgbClr val="FF3300"/>
                </a:solidFill>
                <a:latin typeface="+mn-lt"/>
              </a:rPr>
              <a:t>0</a:t>
            </a:r>
            <a:r>
              <a:rPr lang="en-US" sz="1800" b="0" dirty="0">
                <a:solidFill>
                  <a:srgbClr val="FF3300"/>
                </a:solidFill>
                <a:latin typeface="+mn-lt"/>
              </a:rPr>
              <a:t>.48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9412C611-4963-E148-9205-A1736A31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977" y="4313631"/>
            <a:ext cx="10182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latin typeface="+mn-lt"/>
              </a:rPr>
              <a:t>1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.1</a:t>
            </a:r>
          </a:p>
        </p:txBody>
      </p:sp>
      <p:sp>
        <p:nvSpPr>
          <p:cNvPr id="35" name="AutoShape 33">
            <a:extLst>
              <a:ext uri="{FF2B5EF4-FFF2-40B4-BE49-F238E27FC236}">
                <a16:creationId xmlns:a16="http://schemas.microsoft.com/office/drawing/2014/main" id="{0722595B-6149-CA4F-958B-07CD465AA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695" y="4696218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EF4FB82-AF8F-0241-9442-A2536A440A1D}"/>
              </a:ext>
            </a:extLst>
          </p:cNvPr>
          <p:cNvSpPr/>
          <p:nvPr/>
        </p:nvSpPr>
        <p:spPr>
          <a:xfrm>
            <a:off x="1363488" y="3739856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 Box 32">
            <a:extLst>
              <a:ext uri="{FF2B5EF4-FFF2-40B4-BE49-F238E27FC236}">
                <a16:creationId xmlns:a16="http://schemas.microsoft.com/office/drawing/2014/main" id="{DC445311-78B0-718D-609D-43F46935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2622" y="5168746"/>
            <a:ext cx="11293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zh-CN" sz="1800" b="0" dirty="0">
                <a:latin typeface="+mn-lt"/>
              </a:rPr>
              <a:t>52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7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9</a:t>
            </a:r>
            <a:r>
              <a:rPr lang="en-US" sz="1800" b="0" dirty="0">
                <a:latin typeface="+mn-lt"/>
              </a:rPr>
              <a:t>.1</a:t>
            </a:r>
            <a:r>
              <a:rPr lang="en-US" altLang="zh-CN" sz="1800" b="0" dirty="0">
                <a:latin typeface="+mn-lt"/>
              </a:rPr>
              <a:t>1</a:t>
            </a:r>
            <a:endParaRPr lang="en-US" sz="1800" b="0" dirty="0">
              <a:latin typeface="+mn-lt"/>
            </a:endParaRPr>
          </a:p>
        </p:txBody>
      </p:sp>
      <p:sp>
        <p:nvSpPr>
          <p:cNvPr id="4" name="Text Box 32">
            <a:extLst>
              <a:ext uri="{FF2B5EF4-FFF2-40B4-BE49-F238E27FC236}">
                <a16:creationId xmlns:a16="http://schemas.microsoft.com/office/drawing/2014/main" id="{B9184955-92B1-E5C0-448B-E8C780F2A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437" y="5109669"/>
            <a:ext cx="16594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zh-CN" sz="1800" b="0" dirty="0">
                <a:latin typeface="+mn-lt"/>
              </a:rPr>
              <a:t>18.207.84.236</a:t>
            </a:r>
          </a:p>
        </p:txBody>
      </p:sp>
    </p:spTree>
    <p:extLst>
      <p:ext uri="{BB962C8B-B14F-4D97-AF65-F5344CB8AC3E}">
        <p14:creationId xmlns:p14="http://schemas.microsoft.com/office/powerpoint/2010/main" val="189432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/>
      <p:bldP spid="34" grpId="0"/>
      <p:bldP spid="35" grpId="0" animBg="1"/>
      <p:bldP spid="36" grpId="0" animBg="1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808C3F3-AAC9-6E48-B9A8-97405BE6ABB2}"/>
              </a:ext>
            </a:extLst>
          </p:cNvPr>
          <p:cNvSpPr/>
          <p:nvPr/>
        </p:nvSpPr>
        <p:spPr bwMode="auto">
          <a:xfrm>
            <a:off x="7697227" y="206248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2938163-4198-9E43-BECD-168DA8278F1D}"/>
              </a:ext>
            </a:extLst>
          </p:cNvPr>
          <p:cNvSpPr/>
          <p:nvPr/>
        </p:nvSpPr>
        <p:spPr bwMode="auto">
          <a:xfrm>
            <a:off x="7697227" y="205740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7A233D0-A6D5-954C-8192-42C322ACE580}"/>
              </a:ext>
            </a:extLst>
          </p:cNvPr>
          <p:cNvGrpSpPr/>
          <p:nvPr/>
        </p:nvGrpSpPr>
        <p:grpSpPr>
          <a:xfrm>
            <a:off x="5456580" y="2667000"/>
            <a:ext cx="3469728" cy="2794388"/>
            <a:chOff x="5503812" y="3758807"/>
            <a:chExt cx="3469728" cy="2794388"/>
          </a:xfrm>
        </p:grpSpPr>
        <p:sp>
          <p:nvSpPr>
            <p:cNvPr id="61" name="Cloud 60">
              <a:extLst>
                <a:ext uri="{FF2B5EF4-FFF2-40B4-BE49-F238E27FC236}">
                  <a16:creationId xmlns:a16="http://schemas.microsoft.com/office/drawing/2014/main" id="{4613C81F-348B-4341-837A-AE1A8D86ACEA}"/>
                </a:ext>
              </a:extLst>
            </p:cNvPr>
            <p:cNvSpPr/>
            <p:nvPr/>
          </p:nvSpPr>
          <p:spPr bwMode="auto">
            <a:xfrm>
              <a:off x="5503812" y="3758807"/>
              <a:ext cx="3469728" cy="2794388"/>
            </a:xfrm>
            <a:custGeom>
              <a:avLst/>
              <a:gdLst>
                <a:gd name="connsiteX0" fmla="*/ 313239 w 3469728"/>
                <a:gd name="connsiteY0" fmla="*/ 929522 h 2794388"/>
                <a:gd name="connsiteX1" fmla="*/ 451626 w 3469728"/>
                <a:gd name="connsiteY1" fmla="*/ 446778 h 2794388"/>
                <a:gd name="connsiteX2" fmla="*/ 1124850 w 3469728"/>
                <a:gd name="connsiteY2" fmla="*/ 336490 h 2794388"/>
                <a:gd name="connsiteX3" fmla="*/ 1803616 w 3469728"/>
                <a:gd name="connsiteY3" fmla="*/ 221998 h 2794388"/>
                <a:gd name="connsiteX4" fmla="*/ 2068102 w 3469728"/>
                <a:gd name="connsiteY4" fmla="*/ 12936 h 2794388"/>
                <a:gd name="connsiteX5" fmla="*/ 2396120 w 3469728"/>
                <a:gd name="connsiteY5" fmla="*/ 160483 h 2794388"/>
                <a:gd name="connsiteX6" fmla="*/ 2848309 w 3469728"/>
                <a:gd name="connsiteY6" fmla="*/ 44632 h 2794388"/>
                <a:gd name="connsiteX7" fmla="*/ 3077616 w 3469728"/>
                <a:gd name="connsiteY7" fmla="*/ 360683 h 2794388"/>
                <a:gd name="connsiteX8" fmla="*/ 3371900 w 3469728"/>
                <a:gd name="connsiteY8" fmla="*/ 667418 h 2794388"/>
                <a:gd name="connsiteX9" fmla="*/ 3358728 w 3469728"/>
                <a:gd name="connsiteY9" fmla="*/ 1000028 h 2794388"/>
                <a:gd name="connsiteX10" fmla="*/ 3454949 w 3469728"/>
                <a:gd name="connsiteY10" fmla="*/ 1508581 h 2794388"/>
                <a:gd name="connsiteX11" fmla="*/ 3004206 w 3469728"/>
                <a:gd name="connsiteY11" fmla="*/ 1953742 h 2794388"/>
                <a:gd name="connsiteX12" fmla="*/ 2842847 w 3469728"/>
                <a:gd name="connsiteY12" fmla="*/ 2335189 h 2794388"/>
                <a:gd name="connsiteX13" fmla="*/ 2293474 w 3469728"/>
                <a:gd name="connsiteY13" fmla="*/ 2381374 h 2794388"/>
                <a:gd name="connsiteX14" fmla="*/ 1900880 w 3469728"/>
                <a:gd name="connsiteY14" fmla="*/ 2788307 h 2794388"/>
                <a:gd name="connsiteX15" fmla="*/ 1323636 w 3469728"/>
                <a:gd name="connsiteY15" fmla="*/ 2539917 h 2794388"/>
                <a:gd name="connsiteX16" fmla="*/ 466164 w 3469728"/>
                <a:gd name="connsiteY16" fmla="*/ 2294503 h 2794388"/>
                <a:gd name="connsiteX17" fmla="*/ 89152 w 3469728"/>
                <a:gd name="connsiteY17" fmla="*/ 2021403 h 2794388"/>
                <a:gd name="connsiteX18" fmla="*/ 169711 w 3469728"/>
                <a:gd name="connsiteY18" fmla="*/ 1652764 h 2794388"/>
                <a:gd name="connsiteX19" fmla="*/ -402 w 3469728"/>
                <a:gd name="connsiteY19" fmla="*/ 1274551 h 2794388"/>
                <a:gd name="connsiteX20" fmla="*/ 310267 w 3469728"/>
                <a:gd name="connsiteY20" fmla="*/ 938383 h 2794388"/>
                <a:gd name="connsiteX21" fmla="*/ 313239 w 3469728"/>
                <a:gd name="connsiteY21" fmla="*/ 929522 h 2794388"/>
                <a:gd name="connsiteX0" fmla="*/ 376931 w 3469728"/>
                <a:gd name="connsiteY0" fmla="*/ 1693256 h 2794388"/>
                <a:gd name="connsiteX1" fmla="*/ 173486 w 3469728"/>
                <a:gd name="connsiteY1" fmla="*/ 1641702 h 2794388"/>
                <a:gd name="connsiteX2" fmla="*/ 556441 w 3469728"/>
                <a:gd name="connsiteY2" fmla="*/ 2257438 h 2794388"/>
                <a:gd name="connsiteX3" fmla="*/ 467449 w 3469728"/>
                <a:gd name="connsiteY3" fmla="*/ 2282083 h 2794388"/>
                <a:gd name="connsiteX4" fmla="*/ 1323476 w 3469728"/>
                <a:gd name="connsiteY4" fmla="*/ 2528533 h 2794388"/>
                <a:gd name="connsiteX5" fmla="*/ 1269824 w 3469728"/>
                <a:gd name="connsiteY5" fmla="*/ 2415981 h 2794388"/>
                <a:gd name="connsiteX6" fmla="*/ 2315320 w 3469728"/>
                <a:gd name="connsiteY6" fmla="*/ 2247865 h 2794388"/>
                <a:gd name="connsiteX7" fmla="*/ 2293875 w 3469728"/>
                <a:gd name="connsiteY7" fmla="*/ 2371348 h 2794388"/>
                <a:gd name="connsiteX8" fmla="*/ 2741165 w 3469728"/>
                <a:gd name="connsiteY8" fmla="*/ 1484777 h 2794388"/>
                <a:gd name="connsiteX9" fmla="*/ 3002278 w 3469728"/>
                <a:gd name="connsiteY9" fmla="*/ 1946368 h 2794388"/>
                <a:gd name="connsiteX10" fmla="*/ 3357122 w 3469728"/>
                <a:gd name="connsiteY10" fmla="*/ 993172 h 2794388"/>
                <a:gd name="connsiteX11" fmla="*/ 3240822 w 3469728"/>
                <a:gd name="connsiteY11" fmla="*/ 1166268 h 2794388"/>
                <a:gd name="connsiteX12" fmla="*/ 3078098 w 3469728"/>
                <a:gd name="connsiteY12" fmla="*/ 350980 h 2794388"/>
                <a:gd name="connsiteX13" fmla="*/ 3084202 w 3469728"/>
                <a:gd name="connsiteY13" fmla="*/ 432742 h 2794388"/>
                <a:gd name="connsiteX14" fmla="*/ 2335480 w 3469728"/>
                <a:gd name="connsiteY14" fmla="*/ 255634 h 2794388"/>
                <a:gd name="connsiteX15" fmla="*/ 2395076 w 3469728"/>
                <a:gd name="connsiteY15" fmla="*/ 151362 h 2794388"/>
                <a:gd name="connsiteX16" fmla="*/ 1778315 w 3469728"/>
                <a:gd name="connsiteY16" fmla="*/ 305312 h 2794388"/>
                <a:gd name="connsiteX17" fmla="*/ 1807150 w 3469728"/>
                <a:gd name="connsiteY17" fmla="*/ 215400 h 2794388"/>
                <a:gd name="connsiteX18" fmla="*/ 1124448 w 3469728"/>
                <a:gd name="connsiteY18" fmla="*/ 335844 h 2794388"/>
                <a:gd name="connsiteX19" fmla="*/ 1228862 w 3469728"/>
                <a:gd name="connsiteY19" fmla="*/ 423039 h 2794388"/>
                <a:gd name="connsiteX20" fmla="*/ 331471 w 3469728"/>
                <a:gd name="connsiteY20" fmla="*/ 1021310 h 2794388"/>
                <a:gd name="connsiteX21" fmla="*/ 313239 w 3469728"/>
                <a:gd name="connsiteY21" fmla="*/ 929522 h 279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69728" h="2794388" fill="none" extrusionOk="0">
                  <a:moveTo>
                    <a:pt x="313239" y="929522"/>
                  </a:moveTo>
                  <a:cubicBezTo>
                    <a:pt x="272348" y="792424"/>
                    <a:pt x="318671" y="545790"/>
                    <a:pt x="451626" y="446778"/>
                  </a:cubicBezTo>
                  <a:cubicBezTo>
                    <a:pt x="684374" y="259784"/>
                    <a:pt x="903392" y="168041"/>
                    <a:pt x="1124850" y="336490"/>
                  </a:cubicBezTo>
                  <a:cubicBezTo>
                    <a:pt x="1313990" y="93301"/>
                    <a:pt x="1567421" y="8451"/>
                    <a:pt x="1803616" y="221998"/>
                  </a:cubicBezTo>
                  <a:cubicBezTo>
                    <a:pt x="1853829" y="112824"/>
                    <a:pt x="1952655" y="26518"/>
                    <a:pt x="2068102" y="12936"/>
                  </a:cubicBezTo>
                  <a:cubicBezTo>
                    <a:pt x="2218994" y="-25583"/>
                    <a:pt x="2322975" y="43209"/>
                    <a:pt x="2396120" y="160483"/>
                  </a:cubicBezTo>
                  <a:cubicBezTo>
                    <a:pt x="2480209" y="6954"/>
                    <a:pt x="2723604" y="-62087"/>
                    <a:pt x="2848309" y="44632"/>
                  </a:cubicBezTo>
                  <a:cubicBezTo>
                    <a:pt x="2936783" y="119016"/>
                    <a:pt x="3056700" y="225929"/>
                    <a:pt x="3077616" y="360683"/>
                  </a:cubicBezTo>
                  <a:cubicBezTo>
                    <a:pt x="3225190" y="400467"/>
                    <a:pt x="3322990" y="532064"/>
                    <a:pt x="3371900" y="667418"/>
                  </a:cubicBezTo>
                  <a:cubicBezTo>
                    <a:pt x="3407700" y="777240"/>
                    <a:pt x="3392065" y="869011"/>
                    <a:pt x="3358728" y="1000028"/>
                  </a:cubicBezTo>
                  <a:cubicBezTo>
                    <a:pt x="3498961" y="1145772"/>
                    <a:pt x="3528410" y="1366036"/>
                    <a:pt x="3454949" y="1508581"/>
                  </a:cubicBezTo>
                  <a:cubicBezTo>
                    <a:pt x="3448532" y="1788900"/>
                    <a:pt x="3243218" y="1968899"/>
                    <a:pt x="3004206" y="1953742"/>
                  </a:cubicBezTo>
                  <a:cubicBezTo>
                    <a:pt x="3007619" y="2104792"/>
                    <a:pt x="2941128" y="2235229"/>
                    <a:pt x="2842847" y="2335189"/>
                  </a:cubicBezTo>
                  <a:cubicBezTo>
                    <a:pt x="2657672" y="2511484"/>
                    <a:pt x="2507656" y="2508692"/>
                    <a:pt x="2293474" y="2381374"/>
                  </a:cubicBezTo>
                  <a:cubicBezTo>
                    <a:pt x="2257239" y="2563116"/>
                    <a:pt x="2065516" y="2698470"/>
                    <a:pt x="1900880" y="2788307"/>
                  </a:cubicBezTo>
                  <a:cubicBezTo>
                    <a:pt x="1647983" y="2861416"/>
                    <a:pt x="1453686" y="2805401"/>
                    <a:pt x="1323636" y="2539917"/>
                  </a:cubicBezTo>
                  <a:cubicBezTo>
                    <a:pt x="991582" y="2697647"/>
                    <a:pt x="659717" y="2603735"/>
                    <a:pt x="466164" y="2294503"/>
                  </a:cubicBezTo>
                  <a:cubicBezTo>
                    <a:pt x="325597" y="2352232"/>
                    <a:pt x="177805" y="2207844"/>
                    <a:pt x="89152" y="2021403"/>
                  </a:cubicBezTo>
                  <a:cubicBezTo>
                    <a:pt x="27298" y="1901545"/>
                    <a:pt x="84450" y="1727886"/>
                    <a:pt x="169711" y="1652764"/>
                  </a:cubicBezTo>
                  <a:cubicBezTo>
                    <a:pt x="50048" y="1571984"/>
                    <a:pt x="-13969" y="1417475"/>
                    <a:pt x="-402" y="1274551"/>
                  </a:cubicBezTo>
                  <a:cubicBezTo>
                    <a:pt x="-11256" y="1098721"/>
                    <a:pt x="164387" y="931530"/>
                    <a:pt x="310267" y="938383"/>
                  </a:cubicBezTo>
                  <a:cubicBezTo>
                    <a:pt x="311386" y="935286"/>
                    <a:pt x="313055" y="932436"/>
                    <a:pt x="313239" y="929522"/>
                  </a:cubicBezTo>
                  <a:close/>
                </a:path>
                <a:path w="3469728" h="2794388" fill="none" extrusionOk="0">
                  <a:moveTo>
                    <a:pt x="376931" y="1693256"/>
                  </a:moveTo>
                  <a:cubicBezTo>
                    <a:pt x="315394" y="1681218"/>
                    <a:pt x="249298" y="1666409"/>
                    <a:pt x="173486" y="1641702"/>
                  </a:cubicBezTo>
                  <a:moveTo>
                    <a:pt x="556441" y="2257438"/>
                  </a:moveTo>
                  <a:cubicBezTo>
                    <a:pt x="535406" y="2264772"/>
                    <a:pt x="498807" y="2277494"/>
                    <a:pt x="467449" y="2282083"/>
                  </a:cubicBezTo>
                  <a:moveTo>
                    <a:pt x="1323476" y="2528533"/>
                  </a:moveTo>
                  <a:cubicBezTo>
                    <a:pt x="1303318" y="2500479"/>
                    <a:pt x="1289457" y="2450432"/>
                    <a:pt x="1269824" y="2415981"/>
                  </a:cubicBezTo>
                  <a:moveTo>
                    <a:pt x="2315320" y="2247865"/>
                  </a:moveTo>
                  <a:cubicBezTo>
                    <a:pt x="2320217" y="2290210"/>
                    <a:pt x="2304607" y="2326754"/>
                    <a:pt x="2293875" y="2371348"/>
                  </a:cubicBezTo>
                  <a:moveTo>
                    <a:pt x="2741165" y="1484777"/>
                  </a:moveTo>
                  <a:cubicBezTo>
                    <a:pt x="2847465" y="1576680"/>
                    <a:pt x="3033338" y="1786334"/>
                    <a:pt x="3002278" y="1946368"/>
                  </a:cubicBezTo>
                  <a:moveTo>
                    <a:pt x="3357122" y="993172"/>
                  </a:moveTo>
                  <a:cubicBezTo>
                    <a:pt x="3323228" y="1078910"/>
                    <a:pt x="3310275" y="1112500"/>
                    <a:pt x="3240822" y="1166268"/>
                  </a:cubicBezTo>
                  <a:moveTo>
                    <a:pt x="3078098" y="350980"/>
                  </a:moveTo>
                  <a:cubicBezTo>
                    <a:pt x="3082835" y="377184"/>
                    <a:pt x="3088178" y="406893"/>
                    <a:pt x="3084202" y="432742"/>
                  </a:cubicBezTo>
                  <a:moveTo>
                    <a:pt x="2335480" y="255634"/>
                  </a:moveTo>
                  <a:cubicBezTo>
                    <a:pt x="2356375" y="208951"/>
                    <a:pt x="2376407" y="180882"/>
                    <a:pt x="2395076" y="151362"/>
                  </a:cubicBezTo>
                  <a:moveTo>
                    <a:pt x="1778315" y="305312"/>
                  </a:moveTo>
                  <a:cubicBezTo>
                    <a:pt x="1793490" y="275743"/>
                    <a:pt x="1794516" y="247730"/>
                    <a:pt x="1807150" y="215400"/>
                  </a:cubicBezTo>
                  <a:moveTo>
                    <a:pt x="1124448" y="335844"/>
                  </a:moveTo>
                  <a:cubicBezTo>
                    <a:pt x="1161326" y="359777"/>
                    <a:pt x="1198866" y="389369"/>
                    <a:pt x="1228862" y="423039"/>
                  </a:cubicBezTo>
                  <a:moveTo>
                    <a:pt x="331471" y="1021310"/>
                  </a:moveTo>
                  <a:cubicBezTo>
                    <a:pt x="323122" y="988049"/>
                    <a:pt x="320992" y="957807"/>
                    <a:pt x="313239" y="929522"/>
                  </a:cubicBezTo>
                </a:path>
                <a:path w="3469728" h="2794388" stroke="0" extrusionOk="0">
                  <a:moveTo>
                    <a:pt x="313239" y="929522"/>
                  </a:moveTo>
                  <a:cubicBezTo>
                    <a:pt x="286111" y="750724"/>
                    <a:pt x="307415" y="590122"/>
                    <a:pt x="451626" y="446778"/>
                  </a:cubicBezTo>
                  <a:cubicBezTo>
                    <a:pt x="685706" y="253907"/>
                    <a:pt x="857719" y="196648"/>
                    <a:pt x="1124850" y="336490"/>
                  </a:cubicBezTo>
                  <a:cubicBezTo>
                    <a:pt x="1212380" y="104542"/>
                    <a:pt x="1588196" y="63614"/>
                    <a:pt x="1803616" y="221998"/>
                  </a:cubicBezTo>
                  <a:cubicBezTo>
                    <a:pt x="1846238" y="104016"/>
                    <a:pt x="1961796" y="34399"/>
                    <a:pt x="2068102" y="12936"/>
                  </a:cubicBezTo>
                  <a:cubicBezTo>
                    <a:pt x="2199851" y="-5871"/>
                    <a:pt x="2332948" y="21463"/>
                    <a:pt x="2396120" y="160483"/>
                  </a:cubicBezTo>
                  <a:cubicBezTo>
                    <a:pt x="2475630" y="12448"/>
                    <a:pt x="2685230" y="-24582"/>
                    <a:pt x="2848309" y="44632"/>
                  </a:cubicBezTo>
                  <a:cubicBezTo>
                    <a:pt x="2966072" y="79250"/>
                    <a:pt x="3031174" y="252324"/>
                    <a:pt x="3077616" y="360683"/>
                  </a:cubicBezTo>
                  <a:cubicBezTo>
                    <a:pt x="3249736" y="420870"/>
                    <a:pt x="3344046" y="521466"/>
                    <a:pt x="3371900" y="667418"/>
                  </a:cubicBezTo>
                  <a:cubicBezTo>
                    <a:pt x="3381167" y="772559"/>
                    <a:pt x="3425719" y="915746"/>
                    <a:pt x="3358728" y="1000028"/>
                  </a:cubicBezTo>
                  <a:cubicBezTo>
                    <a:pt x="3487196" y="1185005"/>
                    <a:pt x="3497975" y="1358235"/>
                    <a:pt x="3454949" y="1508581"/>
                  </a:cubicBezTo>
                  <a:cubicBezTo>
                    <a:pt x="3435331" y="1796187"/>
                    <a:pt x="3259629" y="1964338"/>
                    <a:pt x="3004206" y="1953742"/>
                  </a:cubicBezTo>
                  <a:cubicBezTo>
                    <a:pt x="3014484" y="2090470"/>
                    <a:pt x="2948751" y="2218469"/>
                    <a:pt x="2842847" y="2335189"/>
                  </a:cubicBezTo>
                  <a:cubicBezTo>
                    <a:pt x="2640018" y="2488663"/>
                    <a:pt x="2454594" y="2491437"/>
                    <a:pt x="2293474" y="2381374"/>
                  </a:cubicBezTo>
                  <a:cubicBezTo>
                    <a:pt x="2220207" y="2582794"/>
                    <a:pt x="2079910" y="2722093"/>
                    <a:pt x="1900880" y="2788307"/>
                  </a:cubicBezTo>
                  <a:cubicBezTo>
                    <a:pt x="1680627" y="2840235"/>
                    <a:pt x="1400061" y="2776415"/>
                    <a:pt x="1323636" y="2539917"/>
                  </a:cubicBezTo>
                  <a:cubicBezTo>
                    <a:pt x="997847" y="2786830"/>
                    <a:pt x="665618" y="2645915"/>
                    <a:pt x="466164" y="2294503"/>
                  </a:cubicBezTo>
                  <a:cubicBezTo>
                    <a:pt x="294848" y="2352534"/>
                    <a:pt x="184042" y="2172900"/>
                    <a:pt x="89152" y="2021403"/>
                  </a:cubicBezTo>
                  <a:cubicBezTo>
                    <a:pt x="34474" y="1923428"/>
                    <a:pt x="58152" y="1752912"/>
                    <a:pt x="169711" y="1652764"/>
                  </a:cubicBezTo>
                  <a:cubicBezTo>
                    <a:pt x="69621" y="1614748"/>
                    <a:pt x="-22008" y="1429339"/>
                    <a:pt x="-402" y="1274551"/>
                  </a:cubicBezTo>
                  <a:cubicBezTo>
                    <a:pt x="20645" y="1088051"/>
                    <a:pt x="141053" y="956350"/>
                    <a:pt x="310267" y="938383"/>
                  </a:cubicBezTo>
                  <a:cubicBezTo>
                    <a:pt x="311317" y="935482"/>
                    <a:pt x="312126" y="932946"/>
                    <a:pt x="313239" y="929522"/>
                  </a:cubicBezTo>
                  <a:close/>
                </a:path>
                <a:path w="3469728" h="2794388" fill="none" stroke="0" extrusionOk="0">
                  <a:moveTo>
                    <a:pt x="376931" y="1693256"/>
                  </a:moveTo>
                  <a:cubicBezTo>
                    <a:pt x="306677" y="1696444"/>
                    <a:pt x="239464" y="1664320"/>
                    <a:pt x="173486" y="1641702"/>
                  </a:cubicBezTo>
                  <a:moveTo>
                    <a:pt x="556441" y="2257438"/>
                  </a:moveTo>
                  <a:cubicBezTo>
                    <a:pt x="526121" y="2278896"/>
                    <a:pt x="495089" y="2275114"/>
                    <a:pt x="467449" y="2282083"/>
                  </a:cubicBezTo>
                  <a:moveTo>
                    <a:pt x="1323476" y="2528533"/>
                  </a:moveTo>
                  <a:cubicBezTo>
                    <a:pt x="1307414" y="2497550"/>
                    <a:pt x="1282836" y="2455840"/>
                    <a:pt x="1269824" y="2415981"/>
                  </a:cubicBezTo>
                  <a:moveTo>
                    <a:pt x="2315320" y="2247865"/>
                  </a:moveTo>
                  <a:cubicBezTo>
                    <a:pt x="2306424" y="2291738"/>
                    <a:pt x="2304863" y="2326347"/>
                    <a:pt x="2293875" y="2371348"/>
                  </a:cubicBezTo>
                  <a:moveTo>
                    <a:pt x="2741165" y="1484777"/>
                  </a:moveTo>
                  <a:cubicBezTo>
                    <a:pt x="2862464" y="1585390"/>
                    <a:pt x="3000815" y="1794268"/>
                    <a:pt x="3002278" y="1946368"/>
                  </a:cubicBezTo>
                  <a:moveTo>
                    <a:pt x="3357122" y="993172"/>
                  </a:moveTo>
                  <a:cubicBezTo>
                    <a:pt x="3325821" y="1055370"/>
                    <a:pt x="3296630" y="1119665"/>
                    <a:pt x="3240822" y="1166268"/>
                  </a:cubicBezTo>
                  <a:moveTo>
                    <a:pt x="3078098" y="350980"/>
                  </a:moveTo>
                  <a:cubicBezTo>
                    <a:pt x="3078031" y="377525"/>
                    <a:pt x="3080737" y="407009"/>
                    <a:pt x="3084202" y="432742"/>
                  </a:cubicBezTo>
                  <a:moveTo>
                    <a:pt x="2335480" y="255634"/>
                  </a:moveTo>
                  <a:cubicBezTo>
                    <a:pt x="2346379" y="212937"/>
                    <a:pt x="2370783" y="181223"/>
                    <a:pt x="2395076" y="151362"/>
                  </a:cubicBezTo>
                  <a:moveTo>
                    <a:pt x="1778315" y="305312"/>
                  </a:moveTo>
                  <a:cubicBezTo>
                    <a:pt x="1780063" y="280578"/>
                    <a:pt x="1791347" y="251093"/>
                    <a:pt x="1807150" y="215400"/>
                  </a:cubicBezTo>
                  <a:moveTo>
                    <a:pt x="1124448" y="335844"/>
                  </a:moveTo>
                  <a:cubicBezTo>
                    <a:pt x="1156263" y="361630"/>
                    <a:pt x="1198465" y="392451"/>
                    <a:pt x="1228862" y="423039"/>
                  </a:cubicBezTo>
                  <a:moveTo>
                    <a:pt x="331471" y="1021310"/>
                  </a:moveTo>
                  <a:cubicBezTo>
                    <a:pt x="317576" y="990320"/>
                    <a:pt x="316874" y="954949"/>
                    <a:pt x="313239" y="929522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F7E29C90-E0D7-9A49-AEB8-47FA643F5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8495" y="5089539"/>
              <a:ext cx="2590805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951C2A6A-16B1-4249-AC65-79613D389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295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F984CE7D-9D76-8346-A1D8-19A56EA12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7697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7FD450B1-87D1-154B-B74F-3C5CC81EA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4499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3308E2D5-D96E-1649-8EB1-D20514535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2307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74C299CC-2B94-F746-9F51-6D29FD3A7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659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85F94E58-58EC-7046-9356-FF91B4B82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9223" y="4204677"/>
              <a:ext cx="573088" cy="50260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5C43ADF2-AA5F-B74F-967D-8DB476D13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98" y="4067818"/>
              <a:ext cx="357188" cy="502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64" name="Text Box 28">
              <a:extLst>
                <a:ext uri="{FF2B5EF4-FFF2-40B4-BE49-F238E27FC236}">
                  <a16:creationId xmlns:a16="http://schemas.microsoft.com/office/drawing/2014/main" id="{50555139-E5B8-314C-9AFE-CF3EBF043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3024" y="3810000"/>
              <a:ext cx="14029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192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.</a:t>
              </a:r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1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6</a:t>
              </a:r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8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.</a:t>
              </a:r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0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.8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ADE4C8F-153C-0C46-906D-6C8C97C3449E}"/>
              </a:ext>
            </a:extLst>
          </p:cNvPr>
          <p:cNvGrpSpPr/>
          <p:nvPr/>
        </p:nvGrpSpPr>
        <p:grpSpPr>
          <a:xfrm>
            <a:off x="333777" y="2590799"/>
            <a:ext cx="3858596" cy="2794394"/>
            <a:chOff x="381009" y="3682606"/>
            <a:chExt cx="3858596" cy="1879993"/>
          </a:xfrm>
        </p:grpSpPr>
        <p:sp>
          <p:nvSpPr>
            <p:cNvPr id="58" name="Cloud 57">
              <a:extLst>
                <a:ext uri="{FF2B5EF4-FFF2-40B4-BE49-F238E27FC236}">
                  <a16:creationId xmlns:a16="http://schemas.microsoft.com/office/drawing/2014/main" id="{21A1DFDA-9339-9346-8226-5C9883E22D64}"/>
                </a:ext>
              </a:extLst>
            </p:cNvPr>
            <p:cNvSpPr/>
            <p:nvPr/>
          </p:nvSpPr>
          <p:spPr bwMode="auto">
            <a:xfrm>
              <a:off x="381009" y="3682606"/>
              <a:ext cx="3858596" cy="1879993"/>
            </a:xfrm>
            <a:custGeom>
              <a:avLst/>
              <a:gdLst>
                <a:gd name="connsiteX0" fmla="*/ 348345 w 3858596"/>
                <a:gd name="connsiteY0" fmla="*/ 625358 h 1879993"/>
                <a:gd name="connsiteX1" fmla="*/ 502242 w 3858596"/>
                <a:gd name="connsiteY1" fmla="*/ 300581 h 1879993"/>
                <a:gd name="connsiteX2" fmla="*/ 1250917 w 3858596"/>
                <a:gd name="connsiteY2" fmla="*/ 226382 h 1879993"/>
                <a:gd name="connsiteX3" fmla="*/ 2005755 w 3858596"/>
                <a:gd name="connsiteY3" fmla="*/ 149354 h 1879993"/>
                <a:gd name="connsiteX4" fmla="*/ 2299883 w 3858596"/>
                <a:gd name="connsiteY4" fmla="*/ 8703 h 1879993"/>
                <a:gd name="connsiteX5" fmla="*/ 2664664 w 3858596"/>
                <a:gd name="connsiteY5" fmla="*/ 107969 h 1879993"/>
                <a:gd name="connsiteX6" fmla="*/ 3167532 w 3858596"/>
                <a:gd name="connsiteY6" fmla="*/ 30027 h 1879993"/>
                <a:gd name="connsiteX7" fmla="*/ 3422538 w 3858596"/>
                <a:gd name="connsiteY7" fmla="*/ 242658 h 1879993"/>
                <a:gd name="connsiteX8" fmla="*/ 3749805 w 3858596"/>
                <a:gd name="connsiteY8" fmla="*/ 449022 h 1879993"/>
                <a:gd name="connsiteX9" fmla="*/ 3735156 w 3858596"/>
                <a:gd name="connsiteY9" fmla="*/ 672793 h 1879993"/>
                <a:gd name="connsiteX10" fmla="*/ 3842161 w 3858596"/>
                <a:gd name="connsiteY10" fmla="*/ 1014935 h 1879993"/>
                <a:gd name="connsiteX11" fmla="*/ 3340901 w 3858596"/>
                <a:gd name="connsiteY11" fmla="*/ 1314428 h 1879993"/>
                <a:gd name="connsiteX12" fmla="*/ 3161458 w 3858596"/>
                <a:gd name="connsiteY12" fmla="*/ 1571056 h 1879993"/>
                <a:gd name="connsiteX13" fmla="*/ 2550514 w 3858596"/>
                <a:gd name="connsiteY13" fmla="*/ 1602128 h 1879993"/>
                <a:gd name="connsiteX14" fmla="*/ 2113921 w 3858596"/>
                <a:gd name="connsiteY14" fmla="*/ 1875902 h 1879993"/>
                <a:gd name="connsiteX15" fmla="*/ 1471982 w 3858596"/>
                <a:gd name="connsiteY15" fmla="*/ 1708791 h 1879993"/>
                <a:gd name="connsiteX16" fmla="*/ 518409 w 3858596"/>
                <a:gd name="connsiteY16" fmla="*/ 1543683 h 1879993"/>
                <a:gd name="connsiteX17" fmla="*/ 99144 w 3858596"/>
                <a:gd name="connsiteY17" fmla="*/ 1359948 h 1879993"/>
                <a:gd name="connsiteX18" fmla="*/ 188731 w 3858596"/>
                <a:gd name="connsiteY18" fmla="*/ 1111937 h 1879993"/>
                <a:gd name="connsiteX19" fmla="*/ -447 w 3858596"/>
                <a:gd name="connsiteY19" fmla="*/ 857485 h 1879993"/>
                <a:gd name="connsiteX20" fmla="*/ 345040 w 3858596"/>
                <a:gd name="connsiteY20" fmla="*/ 631320 h 1879993"/>
                <a:gd name="connsiteX21" fmla="*/ 348345 w 3858596"/>
                <a:gd name="connsiteY21" fmla="*/ 625358 h 1879993"/>
                <a:gd name="connsiteX0" fmla="*/ 419175 w 3858596"/>
                <a:gd name="connsiteY0" fmla="*/ 1139180 h 1879993"/>
                <a:gd name="connsiteX1" fmla="*/ 192929 w 3858596"/>
                <a:gd name="connsiteY1" fmla="*/ 1104495 h 1879993"/>
                <a:gd name="connsiteX2" fmla="*/ 618804 w 3858596"/>
                <a:gd name="connsiteY2" fmla="*/ 1518747 h 1879993"/>
                <a:gd name="connsiteX3" fmla="*/ 519838 w 3858596"/>
                <a:gd name="connsiteY3" fmla="*/ 1535327 h 1879993"/>
                <a:gd name="connsiteX4" fmla="*/ 1471804 w 3858596"/>
                <a:gd name="connsiteY4" fmla="*/ 1701132 h 1879993"/>
                <a:gd name="connsiteX5" fmla="*/ 1412138 w 3858596"/>
                <a:gd name="connsiteY5" fmla="*/ 1625410 h 1879993"/>
                <a:gd name="connsiteX6" fmla="*/ 2574808 w 3858596"/>
                <a:gd name="connsiteY6" fmla="*/ 1512306 h 1879993"/>
                <a:gd name="connsiteX7" fmla="*/ 2550960 w 3858596"/>
                <a:gd name="connsiteY7" fmla="*/ 1595382 h 1879993"/>
                <a:gd name="connsiteX8" fmla="*/ 3048380 w 3858596"/>
                <a:gd name="connsiteY8" fmla="*/ 998920 h 1879993"/>
                <a:gd name="connsiteX9" fmla="*/ 3338757 w 3858596"/>
                <a:gd name="connsiteY9" fmla="*/ 1309467 h 1879993"/>
                <a:gd name="connsiteX10" fmla="*/ 3733370 w 3858596"/>
                <a:gd name="connsiteY10" fmla="*/ 668180 h 1879993"/>
                <a:gd name="connsiteX11" fmla="*/ 3604035 w 3858596"/>
                <a:gd name="connsiteY11" fmla="*/ 784635 h 1879993"/>
                <a:gd name="connsiteX12" fmla="*/ 3423074 w 3858596"/>
                <a:gd name="connsiteY12" fmla="*/ 236130 h 1879993"/>
                <a:gd name="connsiteX13" fmla="*/ 3429863 w 3858596"/>
                <a:gd name="connsiteY13" fmla="*/ 291137 h 1879993"/>
                <a:gd name="connsiteX14" fmla="*/ 2597228 w 3858596"/>
                <a:gd name="connsiteY14" fmla="*/ 171984 h 1879993"/>
                <a:gd name="connsiteX15" fmla="*/ 2663503 w 3858596"/>
                <a:gd name="connsiteY15" fmla="*/ 101832 h 1879993"/>
                <a:gd name="connsiteX16" fmla="*/ 1977619 w 3858596"/>
                <a:gd name="connsiteY16" fmla="*/ 205406 h 1879993"/>
                <a:gd name="connsiteX17" fmla="*/ 2009685 w 3858596"/>
                <a:gd name="connsiteY17" fmla="*/ 144916 h 1879993"/>
                <a:gd name="connsiteX18" fmla="*/ 1250470 w 3858596"/>
                <a:gd name="connsiteY18" fmla="*/ 225947 h 1879993"/>
                <a:gd name="connsiteX19" fmla="*/ 1366586 w 3858596"/>
                <a:gd name="connsiteY19" fmla="*/ 284610 h 1879993"/>
                <a:gd name="connsiteX20" fmla="*/ 368620 w 3858596"/>
                <a:gd name="connsiteY20" fmla="*/ 687111 h 1879993"/>
                <a:gd name="connsiteX21" fmla="*/ 348345 w 3858596"/>
                <a:gd name="connsiteY21" fmla="*/ 625358 h 187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58596" h="1879993" fill="none" extrusionOk="0">
                  <a:moveTo>
                    <a:pt x="348345" y="625358"/>
                  </a:moveTo>
                  <a:cubicBezTo>
                    <a:pt x="315612" y="524411"/>
                    <a:pt x="374266" y="379838"/>
                    <a:pt x="502242" y="300581"/>
                  </a:cubicBezTo>
                  <a:cubicBezTo>
                    <a:pt x="765805" y="184503"/>
                    <a:pt x="1002719" y="61273"/>
                    <a:pt x="1250917" y="226382"/>
                  </a:cubicBezTo>
                  <a:cubicBezTo>
                    <a:pt x="1416799" y="49922"/>
                    <a:pt x="1714361" y="15077"/>
                    <a:pt x="2005755" y="149354"/>
                  </a:cubicBezTo>
                  <a:cubicBezTo>
                    <a:pt x="2059819" y="83187"/>
                    <a:pt x="2167364" y="3002"/>
                    <a:pt x="2299883" y="8703"/>
                  </a:cubicBezTo>
                  <a:cubicBezTo>
                    <a:pt x="2444062" y="-7807"/>
                    <a:pt x="2590101" y="14402"/>
                    <a:pt x="2664664" y="107969"/>
                  </a:cubicBezTo>
                  <a:cubicBezTo>
                    <a:pt x="2771837" y="5384"/>
                    <a:pt x="3006690" y="-34182"/>
                    <a:pt x="3167532" y="30027"/>
                  </a:cubicBezTo>
                  <a:cubicBezTo>
                    <a:pt x="3298229" y="69739"/>
                    <a:pt x="3405388" y="171193"/>
                    <a:pt x="3422538" y="242658"/>
                  </a:cubicBezTo>
                  <a:cubicBezTo>
                    <a:pt x="3582161" y="269549"/>
                    <a:pt x="3691723" y="378232"/>
                    <a:pt x="3749805" y="449022"/>
                  </a:cubicBezTo>
                  <a:cubicBezTo>
                    <a:pt x="3801821" y="526800"/>
                    <a:pt x="3774623" y="581186"/>
                    <a:pt x="3735156" y="672793"/>
                  </a:cubicBezTo>
                  <a:cubicBezTo>
                    <a:pt x="3860749" y="770425"/>
                    <a:pt x="3909518" y="919190"/>
                    <a:pt x="3842161" y="1014935"/>
                  </a:cubicBezTo>
                  <a:cubicBezTo>
                    <a:pt x="3827412" y="1216174"/>
                    <a:pt x="3604168" y="1340154"/>
                    <a:pt x="3340901" y="1314428"/>
                  </a:cubicBezTo>
                  <a:cubicBezTo>
                    <a:pt x="3351478" y="1424697"/>
                    <a:pt x="3265486" y="1494905"/>
                    <a:pt x="3161458" y="1571056"/>
                  </a:cubicBezTo>
                  <a:cubicBezTo>
                    <a:pt x="2957172" y="1701569"/>
                    <a:pt x="2777817" y="1689440"/>
                    <a:pt x="2550514" y="1602128"/>
                  </a:cubicBezTo>
                  <a:cubicBezTo>
                    <a:pt x="2527479" y="1696777"/>
                    <a:pt x="2316313" y="1832158"/>
                    <a:pt x="2113921" y="1875902"/>
                  </a:cubicBezTo>
                  <a:cubicBezTo>
                    <a:pt x="1861576" y="1918230"/>
                    <a:pt x="1615802" y="1900829"/>
                    <a:pt x="1471982" y="1708791"/>
                  </a:cubicBezTo>
                  <a:cubicBezTo>
                    <a:pt x="1125423" y="1823683"/>
                    <a:pt x="758609" y="1714880"/>
                    <a:pt x="518409" y="1543683"/>
                  </a:cubicBezTo>
                  <a:cubicBezTo>
                    <a:pt x="335723" y="1565891"/>
                    <a:pt x="170951" y="1483867"/>
                    <a:pt x="99144" y="1359948"/>
                  </a:cubicBezTo>
                  <a:cubicBezTo>
                    <a:pt x="39048" y="1280510"/>
                    <a:pt x="94394" y="1168577"/>
                    <a:pt x="188731" y="1111937"/>
                  </a:cubicBezTo>
                  <a:cubicBezTo>
                    <a:pt x="55532" y="1057380"/>
                    <a:pt x="-12904" y="941786"/>
                    <a:pt x="-447" y="857485"/>
                  </a:cubicBezTo>
                  <a:cubicBezTo>
                    <a:pt x="-21586" y="740944"/>
                    <a:pt x="184990" y="612237"/>
                    <a:pt x="345040" y="631320"/>
                  </a:cubicBezTo>
                  <a:cubicBezTo>
                    <a:pt x="346602" y="628932"/>
                    <a:pt x="347415" y="627349"/>
                    <a:pt x="348345" y="625358"/>
                  </a:cubicBezTo>
                  <a:close/>
                </a:path>
                <a:path w="3858596" h="1879993" fill="none" extrusionOk="0">
                  <a:moveTo>
                    <a:pt x="419175" y="1139180"/>
                  </a:moveTo>
                  <a:cubicBezTo>
                    <a:pt x="347069" y="1130153"/>
                    <a:pt x="270675" y="1121378"/>
                    <a:pt x="192929" y="1104495"/>
                  </a:cubicBezTo>
                  <a:moveTo>
                    <a:pt x="618804" y="1518747"/>
                  </a:moveTo>
                  <a:cubicBezTo>
                    <a:pt x="591220" y="1524306"/>
                    <a:pt x="557132" y="1529880"/>
                    <a:pt x="519838" y="1535327"/>
                  </a:cubicBezTo>
                  <a:moveTo>
                    <a:pt x="1471804" y="1701132"/>
                  </a:moveTo>
                  <a:cubicBezTo>
                    <a:pt x="1449441" y="1685757"/>
                    <a:pt x="1429269" y="1650764"/>
                    <a:pt x="1412138" y="1625410"/>
                  </a:cubicBezTo>
                  <a:moveTo>
                    <a:pt x="2574808" y="1512306"/>
                  </a:moveTo>
                  <a:cubicBezTo>
                    <a:pt x="2576137" y="1540758"/>
                    <a:pt x="2562765" y="1561859"/>
                    <a:pt x="2550960" y="1595382"/>
                  </a:cubicBezTo>
                  <a:moveTo>
                    <a:pt x="3048380" y="998920"/>
                  </a:moveTo>
                  <a:cubicBezTo>
                    <a:pt x="3208011" y="1058838"/>
                    <a:pt x="3365370" y="1207992"/>
                    <a:pt x="3338757" y="1309467"/>
                  </a:cubicBezTo>
                  <a:moveTo>
                    <a:pt x="3733370" y="668180"/>
                  </a:moveTo>
                  <a:cubicBezTo>
                    <a:pt x="3699164" y="725706"/>
                    <a:pt x="3673862" y="748130"/>
                    <a:pt x="3604035" y="784635"/>
                  </a:cubicBezTo>
                  <a:moveTo>
                    <a:pt x="3423074" y="236130"/>
                  </a:moveTo>
                  <a:cubicBezTo>
                    <a:pt x="3428755" y="252434"/>
                    <a:pt x="3431410" y="273172"/>
                    <a:pt x="3429863" y="291137"/>
                  </a:cubicBezTo>
                  <a:moveTo>
                    <a:pt x="2597228" y="171984"/>
                  </a:moveTo>
                  <a:cubicBezTo>
                    <a:pt x="2616805" y="142381"/>
                    <a:pt x="2639752" y="121847"/>
                    <a:pt x="2663503" y="101832"/>
                  </a:cubicBezTo>
                  <a:moveTo>
                    <a:pt x="1977619" y="205406"/>
                  </a:moveTo>
                  <a:cubicBezTo>
                    <a:pt x="1988009" y="185058"/>
                    <a:pt x="1995611" y="168014"/>
                    <a:pt x="2009685" y="144916"/>
                  </a:cubicBezTo>
                  <a:moveTo>
                    <a:pt x="1250470" y="225947"/>
                  </a:moveTo>
                  <a:cubicBezTo>
                    <a:pt x="1281842" y="238258"/>
                    <a:pt x="1343414" y="261244"/>
                    <a:pt x="1366586" y="284610"/>
                  </a:cubicBezTo>
                  <a:moveTo>
                    <a:pt x="368620" y="687111"/>
                  </a:moveTo>
                  <a:cubicBezTo>
                    <a:pt x="359371" y="664772"/>
                    <a:pt x="356233" y="643679"/>
                    <a:pt x="348345" y="625358"/>
                  </a:cubicBezTo>
                </a:path>
                <a:path w="3858596" h="1879993" stroke="0" extrusionOk="0">
                  <a:moveTo>
                    <a:pt x="348345" y="625358"/>
                  </a:moveTo>
                  <a:cubicBezTo>
                    <a:pt x="291394" y="487095"/>
                    <a:pt x="370991" y="391829"/>
                    <a:pt x="502242" y="300581"/>
                  </a:cubicBezTo>
                  <a:cubicBezTo>
                    <a:pt x="769657" y="177980"/>
                    <a:pt x="988464" y="131855"/>
                    <a:pt x="1250917" y="226382"/>
                  </a:cubicBezTo>
                  <a:cubicBezTo>
                    <a:pt x="1346658" y="91989"/>
                    <a:pt x="1769932" y="49448"/>
                    <a:pt x="2005755" y="149354"/>
                  </a:cubicBezTo>
                  <a:cubicBezTo>
                    <a:pt x="2060028" y="71610"/>
                    <a:pt x="2184237" y="26015"/>
                    <a:pt x="2299883" y="8703"/>
                  </a:cubicBezTo>
                  <a:cubicBezTo>
                    <a:pt x="2451712" y="-3000"/>
                    <a:pt x="2588686" y="13772"/>
                    <a:pt x="2664664" y="107969"/>
                  </a:cubicBezTo>
                  <a:cubicBezTo>
                    <a:pt x="2737080" y="3805"/>
                    <a:pt x="2979748" y="-8213"/>
                    <a:pt x="3167532" y="30027"/>
                  </a:cubicBezTo>
                  <a:cubicBezTo>
                    <a:pt x="3299943" y="57457"/>
                    <a:pt x="3388478" y="159547"/>
                    <a:pt x="3422538" y="242658"/>
                  </a:cubicBezTo>
                  <a:cubicBezTo>
                    <a:pt x="3592324" y="279242"/>
                    <a:pt x="3711647" y="350911"/>
                    <a:pt x="3749805" y="449022"/>
                  </a:cubicBezTo>
                  <a:cubicBezTo>
                    <a:pt x="3772952" y="520171"/>
                    <a:pt x="3787590" y="607310"/>
                    <a:pt x="3735156" y="672793"/>
                  </a:cubicBezTo>
                  <a:cubicBezTo>
                    <a:pt x="3850937" y="774701"/>
                    <a:pt x="3889462" y="919702"/>
                    <a:pt x="3842161" y="1014935"/>
                  </a:cubicBezTo>
                  <a:cubicBezTo>
                    <a:pt x="3803748" y="1206003"/>
                    <a:pt x="3593699" y="1302991"/>
                    <a:pt x="3340901" y="1314428"/>
                  </a:cubicBezTo>
                  <a:cubicBezTo>
                    <a:pt x="3357714" y="1397346"/>
                    <a:pt x="3275384" y="1501399"/>
                    <a:pt x="3161458" y="1571056"/>
                  </a:cubicBezTo>
                  <a:cubicBezTo>
                    <a:pt x="2936177" y="1677775"/>
                    <a:pt x="2732001" y="1674288"/>
                    <a:pt x="2550514" y="1602128"/>
                  </a:cubicBezTo>
                  <a:cubicBezTo>
                    <a:pt x="2454739" y="1736079"/>
                    <a:pt x="2320095" y="1838379"/>
                    <a:pt x="2113921" y="1875902"/>
                  </a:cubicBezTo>
                  <a:cubicBezTo>
                    <a:pt x="1869703" y="1898361"/>
                    <a:pt x="1589123" y="1861890"/>
                    <a:pt x="1471982" y="1708791"/>
                  </a:cubicBezTo>
                  <a:cubicBezTo>
                    <a:pt x="1109282" y="1897591"/>
                    <a:pt x="719527" y="1773417"/>
                    <a:pt x="518409" y="1543683"/>
                  </a:cubicBezTo>
                  <a:cubicBezTo>
                    <a:pt x="328413" y="1586276"/>
                    <a:pt x="157267" y="1477715"/>
                    <a:pt x="99144" y="1359948"/>
                  </a:cubicBezTo>
                  <a:cubicBezTo>
                    <a:pt x="55103" y="1281409"/>
                    <a:pt x="86754" y="1178769"/>
                    <a:pt x="188731" y="1111937"/>
                  </a:cubicBezTo>
                  <a:cubicBezTo>
                    <a:pt x="63010" y="1075137"/>
                    <a:pt x="-22419" y="961673"/>
                    <a:pt x="-447" y="857485"/>
                  </a:cubicBezTo>
                  <a:cubicBezTo>
                    <a:pt x="25862" y="711772"/>
                    <a:pt x="148422" y="642753"/>
                    <a:pt x="345040" y="631320"/>
                  </a:cubicBezTo>
                  <a:cubicBezTo>
                    <a:pt x="346157" y="629357"/>
                    <a:pt x="347059" y="628006"/>
                    <a:pt x="348345" y="625358"/>
                  </a:cubicBezTo>
                  <a:close/>
                </a:path>
                <a:path w="3858596" h="1879993" fill="none" stroke="0" extrusionOk="0">
                  <a:moveTo>
                    <a:pt x="419175" y="1139180"/>
                  </a:moveTo>
                  <a:cubicBezTo>
                    <a:pt x="342547" y="1134252"/>
                    <a:pt x="263237" y="1123742"/>
                    <a:pt x="192929" y="1104495"/>
                  </a:cubicBezTo>
                  <a:moveTo>
                    <a:pt x="618804" y="1518747"/>
                  </a:moveTo>
                  <a:cubicBezTo>
                    <a:pt x="585725" y="1533955"/>
                    <a:pt x="547520" y="1526010"/>
                    <a:pt x="519838" y="1535327"/>
                  </a:cubicBezTo>
                  <a:moveTo>
                    <a:pt x="1471804" y="1701132"/>
                  </a:moveTo>
                  <a:cubicBezTo>
                    <a:pt x="1453903" y="1682159"/>
                    <a:pt x="1426984" y="1652270"/>
                    <a:pt x="1412138" y="1625410"/>
                  </a:cubicBezTo>
                  <a:moveTo>
                    <a:pt x="2574808" y="1512306"/>
                  </a:moveTo>
                  <a:cubicBezTo>
                    <a:pt x="2570255" y="1540837"/>
                    <a:pt x="2563194" y="1563740"/>
                    <a:pt x="2550960" y="1595382"/>
                  </a:cubicBezTo>
                  <a:moveTo>
                    <a:pt x="3048380" y="998920"/>
                  </a:moveTo>
                  <a:cubicBezTo>
                    <a:pt x="3216810" y="1060632"/>
                    <a:pt x="3337915" y="1214597"/>
                    <a:pt x="3338757" y="1309467"/>
                  </a:cubicBezTo>
                  <a:moveTo>
                    <a:pt x="3733370" y="668180"/>
                  </a:moveTo>
                  <a:cubicBezTo>
                    <a:pt x="3694813" y="704740"/>
                    <a:pt x="3675787" y="754375"/>
                    <a:pt x="3604035" y="784635"/>
                  </a:cubicBezTo>
                  <a:moveTo>
                    <a:pt x="3423074" y="236130"/>
                  </a:moveTo>
                  <a:cubicBezTo>
                    <a:pt x="3423502" y="253849"/>
                    <a:pt x="3427285" y="274011"/>
                    <a:pt x="3429863" y="291137"/>
                  </a:cubicBezTo>
                  <a:moveTo>
                    <a:pt x="2597228" y="171984"/>
                  </a:moveTo>
                  <a:cubicBezTo>
                    <a:pt x="2608719" y="140335"/>
                    <a:pt x="2636861" y="116495"/>
                    <a:pt x="2663503" y="101832"/>
                  </a:cubicBezTo>
                  <a:moveTo>
                    <a:pt x="1977619" y="205406"/>
                  </a:moveTo>
                  <a:cubicBezTo>
                    <a:pt x="1980993" y="189519"/>
                    <a:pt x="1993436" y="168773"/>
                    <a:pt x="2009685" y="144916"/>
                  </a:cubicBezTo>
                  <a:moveTo>
                    <a:pt x="1250470" y="225947"/>
                  </a:moveTo>
                  <a:cubicBezTo>
                    <a:pt x="1290670" y="242781"/>
                    <a:pt x="1332928" y="265745"/>
                    <a:pt x="1366586" y="284610"/>
                  </a:cubicBezTo>
                  <a:moveTo>
                    <a:pt x="368620" y="687111"/>
                  </a:moveTo>
                  <a:cubicBezTo>
                    <a:pt x="357025" y="666502"/>
                    <a:pt x="352446" y="641466"/>
                    <a:pt x="348345" y="625358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85AD45D-46B6-294C-897A-B0F9C40D4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517" y="5039332"/>
              <a:ext cx="1146468" cy="269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1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0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.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0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.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0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.*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6F42F6-0DDD-194E-8C63-3AA3B0A4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(More of) What happens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2D0CB-FB56-D946-B718-9727AF300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92E7A3F-692B-814D-BD5B-AFAEDD7E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3055" y="3980256"/>
            <a:ext cx="2590805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BD954EF-1590-8E4B-AA54-7F86EDF29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855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CB64F382-2839-034E-A958-5D48EEE3C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2257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201AC7BE-14F4-CF48-A67B-4C2E5D946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9059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86B82BC-92BC-E245-90CD-519EB9AB4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217" y="3386531"/>
            <a:ext cx="573088" cy="338138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</a:rPr>
              <a:t>host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D7F1180-DE4E-0049-AE4B-97BBED168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219" y="3386531"/>
            <a:ext cx="573088" cy="33813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/>
              <a:t>host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5C120B9-9D04-5D4E-8E03-732AB70F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971" y="3386531"/>
            <a:ext cx="615951" cy="338138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accent2"/>
                </a:solidFill>
              </a:rPr>
              <a:t>DNS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0442CCE2-755A-E547-AC01-1867068EB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058" y="3292868"/>
            <a:ext cx="357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600" b="0" dirty="0">
                <a:latin typeface="+mn-lt"/>
              </a:rPr>
              <a:t>...</a:t>
            </a:r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6255765C-F657-3041-8137-C39887BB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861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03130648-77D8-C849-80A0-50F4FA5FD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9321" y="3940568"/>
            <a:ext cx="0" cy="755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F0FFF321-1EEF-B14E-ACC8-FE16D421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664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D9AD64E6-762E-E14E-8A83-BEB8E9AE3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8989" y="3983430"/>
            <a:ext cx="0" cy="715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8BAF9ABF-10D7-AE4A-B06E-69DC2132B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659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E08EAC09-9063-5047-BD71-9CD1F3A5C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462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22371197-E9BB-8C4E-A93F-5632E1F33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9804" y="3059506"/>
            <a:ext cx="12747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latin typeface="+mn-lt"/>
              </a:rPr>
              <a:t>1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.156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5C01E7E3-499C-7F4F-B465-6B78FE6D6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77" y="3059506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solidFill>
                  <a:srgbClr val="FF3300"/>
                </a:solidFill>
                <a:latin typeface="+mn-lt"/>
              </a:rPr>
              <a:t>1</a:t>
            </a:r>
            <a:r>
              <a:rPr lang="en-US" altLang="zh-CN" sz="1800" b="0" dirty="0">
                <a:solidFill>
                  <a:srgbClr val="FF3300"/>
                </a:solidFill>
                <a:latin typeface="+mn-lt"/>
              </a:rPr>
              <a:t>0</a:t>
            </a:r>
            <a:r>
              <a:rPr lang="en-US" sz="1800" b="0" dirty="0">
                <a:solidFill>
                  <a:srgbClr val="FF3300"/>
                </a:solidFill>
                <a:latin typeface="+mn-lt"/>
              </a:rPr>
              <a:t>.</a:t>
            </a:r>
            <a:r>
              <a:rPr lang="en-US" altLang="zh-CN" sz="1800" b="0" dirty="0">
                <a:solidFill>
                  <a:srgbClr val="FF3300"/>
                </a:solidFill>
                <a:latin typeface="+mn-lt"/>
              </a:rPr>
              <a:t>0</a:t>
            </a:r>
            <a:r>
              <a:rPr lang="en-US" sz="1800" b="0" dirty="0">
                <a:solidFill>
                  <a:srgbClr val="FF3300"/>
                </a:solidFill>
                <a:latin typeface="+mn-lt"/>
              </a:rPr>
              <a:t>.</a:t>
            </a:r>
            <a:r>
              <a:rPr lang="en-US" altLang="zh-CN" sz="1800" b="0" dirty="0">
                <a:solidFill>
                  <a:srgbClr val="FF3300"/>
                </a:solidFill>
                <a:latin typeface="+mn-lt"/>
              </a:rPr>
              <a:t>0</a:t>
            </a:r>
            <a:r>
              <a:rPr lang="en-US" sz="1800" b="0" dirty="0">
                <a:solidFill>
                  <a:srgbClr val="FF3300"/>
                </a:solidFill>
                <a:latin typeface="+mn-lt"/>
              </a:rPr>
              <a:t>.48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9412C611-4963-E148-9205-A1736A31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977" y="4313631"/>
            <a:ext cx="10182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latin typeface="+mn-lt"/>
              </a:rPr>
              <a:t>1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.1</a:t>
            </a:r>
          </a:p>
        </p:txBody>
      </p:sp>
      <p:sp>
        <p:nvSpPr>
          <p:cNvPr id="35" name="AutoShape 33">
            <a:extLst>
              <a:ext uri="{FF2B5EF4-FFF2-40B4-BE49-F238E27FC236}">
                <a16:creationId xmlns:a16="http://schemas.microsoft.com/office/drawing/2014/main" id="{0722595B-6149-CA4F-958B-07CD465AA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695" y="4696218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EF4FB82-AF8F-0241-9442-A2536A440A1D}"/>
              </a:ext>
            </a:extLst>
          </p:cNvPr>
          <p:cNvSpPr/>
          <p:nvPr/>
        </p:nvSpPr>
        <p:spPr>
          <a:xfrm flipH="1">
            <a:off x="1363488" y="3739856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ABC495-69A2-1549-A24F-EED312FB8AF1}"/>
              </a:ext>
            </a:extLst>
          </p:cNvPr>
          <p:cNvSpPr/>
          <p:nvPr/>
        </p:nvSpPr>
        <p:spPr bwMode="auto">
          <a:xfrm>
            <a:off x="7697227" y="167640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46619C-F3D4-E048-8B84-FAB96EDA59D8}"/>
              </a:ext>
            </a:extLst>
          </p:cNvPr>
          <p:cNvSpPr/>
          <p:nvPr/>
        </p:nvSpPr>
        <p:spPr bwMode="auto">
          <a:xfrm>
            <a:off x="7697227" y="186944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857E1D-4E65-B943-BC57-4109740BBB13}"/>
              </a:ext>
            </a:extLst>
          </p:cNvPr>
          <p:cNvSpPr/>
          <p:nvPr/>
        </p:nvSpPr>
        <p:spPr bwMode="auto">
          <a:xfrm>
            <a:off x="7697227" y="225552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Text Box 32">
            <a:extLst>
              <a:ext uri="{FF2B5EF4-FFF2-40B4-BE49-F238E27FC236}">
                <a16:creationId xmlns:a16="http://schemas.microsoft.com/office/drawing/2014/main" id="{238BD1D4-E630-B4F7-7955-627F70E52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2622" y="5168746"/>
            <a:ext cx="11293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zh-CN" sz="1800" b="0" dirty="0">
                <a:latin typeface="+mn-lt"/>
              </a:rPr>
              <a:t>52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7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9</a:t>
            </a:r>
            <a:r>
              <a:rPr lang="en-US" sz="1800" b="0" dirty="0">
                <a:latin typeface="+mn-lt"/>
              </a:rPr>
              <a:t>.1</a:t>
            </a:r>
            <a:r>
              <a:rPr lang="en-US" altLang="zh-CN" sz="1800" b="0" dirty="0">
                <a:latin typeface="+mn-lt"/>
              </a:rPr>
              <a:t>1</a:t>
            </a:r>
            <a:endParaRPr lang="en-US" sz="1800" b="0" dirty="0">
              <a:latin typeface="+mn-lt"/>
            </a:endParaRPr>
          </a:p>
        </p:txBody>
      </p:sp>
      <p:sp>
        <p:nvSpPr>
          <p:cNvPr id="5" name="Text Box 32">
            <a:extLst>
              <a:ext uri="{FF2B5EF4-FFF2-40B4-BE49-F238E27FC236}">
                <a16:creationId xmlns:a16="http://schemas.microsoft.com/office/drawing/2014/main" id="{1F52BE1A-4DBE-E388-B5DA-042A65DF4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437" y="5109669"/>
            <a:ext cx="16594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zh-CN" sz="1800" b="0" dirty="0">
                <a:latin typeface="+mn-lt"/>
              </a:rPr>
              <a:t>18.207.84.236</a:t>
            </a:r>
          </a:p>
        </p:txBody>
      </p:sp>
    </p:spTree>
    <p:extLst>
      <p:ext uri="{BB962C8B-B14F-4D97-AF65-F5344CB8AC3E}">
        <p14:creationId xmlns:p14="http://schemas.microsoft.com/office/powerpoint/2010/main" val="285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11111E-6 L -0.19445 0.43565 C -0.23525 0.5338 -0.29636 0.5868 -0.35955 0.5868 C -0.43212 0.5868 -0.48993 0.5338 -0.53073 0.43565 L -0.725 1.11111E-6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9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3.7037E-7 L -0.1948 0.42292 C -0.23559 0.51829 -0.29653 0.56968 -0.3599 0.56968 C -0.43247 0.56968 -0.49028 0.51829 -0.53108 0.42292 L -0.725 3.7037E-7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0.01667 C -0.00677 1.11111E-6 -0.03021 -0.01597 -0.03837 -0.01597 C -0.09028 -0.01597 -0.14375 0.24051 -0.14375 0.49722 C -0.14375 0.36782 -0.17049 0.24051 -0.19566 0.24051 C -0.2224 0.24051 -0.24757 0.36967 -0.24757 0.49722 C -0.24757 0.43333 -0.26094 0.36782 -0.27431 0.36782 C -0.28768 0.36782 -0.30105 0.43148 -0.30105 0.49722 C -0.30105 0.46435 -0.30764 0.43333 -0.31424 0.43333 C -0.32101 0.43333 -0.32761 0.4662 -0.32761 0.49722 C -0.32761 0.48055 -0.33108 0.46435 -0.33438 0.46435 C -0.33611 0.46435 -0.34098 0.48102 -0.34098 0.49722 C -0.34098 0.48912 -0.34271 0.48055 -0.34445 0.48055 C -0.34445 0.47847 -0.34792 0.48866 -0.34792 0.49722 C -0.34792 0.49282 -0.34792 0.48912 -0.34966 0.48912 C -0.34966 0.49097 -0.35139 0.49329 -0.35139 0.49722 C -0.35139 0.49514 -0.35139 0.49282 -0.35139 0.49097 C -0.35313 0.49097 -0.35313 0.49282 -0.35313 0.49514 C -0.35486 0.49514 -0.35486 0.49329 -0.35486 0.49097 C -0.3566 0.49097 -0.3566 0.49282 -0.3566 0.49514 " pathEditMode="relative" rAng="0" ptsTypes="AAAAAAAAAAAAAAAAAAA">
                                      <p:cBhvr>
                                        <p:cTn id="1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30" y="2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7037E-7 L -0.19462 0.36458 C -0.23559 0.44676 -0.29618 0.4912 -0.35955 0.4912 C -0.4323 0.4912 -0.49011 0.44676 -0.53108 0.36458 L -0.725 3.7037E-7 " pathEditMode="relative" rAng="0" ptsTypes="AAAAA">
                                      <p:cBhvr>
                                        <p:cTn id="2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44444E-6 L -0.19445 0.41042 C -0.23559 0.50278 -0.29636 0.55278 -0.3599 0.55278 C -0.4323 0.55278 -0.49011 0.50278 -0.53108 0.41042 L -0.725 -4.44444E-6 " pathEditMode="relative" rAng="0" ptsTypes="AAAAA">
                                      <p:cBhvr>
                                        <p:cTn id="3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7639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44" grpId="0" animBg="1"/>
      <p:bldP spid="44" grpId="1" animBg="1"/>
      <p:bldP spid="36" grpId="0" animBg="1"/>
      <p:bldP spid="3" grpId="0" animBg="1"/>
      <p:bldP spid="41" grpId="0" animBg="1"/>
      <p:bldP spid="42" grpId="0" animBg="1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EFE661-8110-8042-A8A8-D6D3BADB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get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88E8-06F0-A24D-AC56-6148AA0D9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Graphic 7" descr="User">
            <a:extLst>
              <a:ext uri="{FF2B5EF4-FFF2-40B4-BE49-F238E27FC236}">
                <a16:creationId xmlns:a16="http://schemas.microsoft.com/office/drawing/2014/main" id="{2FEA4671-867C-9245-8D65-52D96D9E1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313" y="3074413"/>
            <a:ext cx="914400" cy="9144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4F33372-7F6D-E449-948F-249B8F681EF4}"/>
              </a:ext>
            </a:extLst>
          </p:cNvPr>
          <p:cNvGrpSpPr/>
          <p:nvPr/>
        </p:nvGrpSpPr>
        <p:grpSpPr>
          <a:xfrm>
            <a:off x="1503037" y="2819400"/>
            <a:ext cx="1486304" cy="1522495"/>
            <a:chOff x="4065179" y="2303184"/>
            <a:chExt cx="1486304" cy="1522495"/>
          </a:xfrm>
        </p:grpSpPr>
        <p:pic>
          <p:nvPicPr>
            <p:cNvPr id="10" name="Graphic 9" descr="Internet">
              <a:extLst>
                <a:ext uri="{FF2B5EF4-FFF2-40B4-BE49-F238E27FC236}">
                  <a16:creationId xmlns:a16="http://schemas.microsoft.com/office/drawing/2014/main" id="{CB39A836-F4E0-154A-BF18-F04D91563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79437" y="2454079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688643-4F5A-CA40-B6A8-7646FD1B3B79}"/>
                </a:ext>
              </a:extLst>
            </p:cNvPr>
            <p:cNvSpPr txBox="1"/>
            <p:nvPr/>
          </p:nvSpPr>
          <p:spPr>
            <a:xfrm>
              <a:off x="4065179" y="2303184"/>
              <a:ext cx="1486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http://123.xyz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7DEE84-3265-454B-9C99-1956E556D148}"/>
              </a:ext>
            </a:extLst>
          </p:cNvPr>
          <p:cNvGrpSpPr/>
          <p:nvPr/>
        </p:nvGrpSpPr>
        <p:grpSpPr>
          <a:xfrm>
            <a:off x="6593012" y="2807305"/>
            <a:ext cx="1587294" cy="1294074"/>
            <a:chOff x="6793796" y="1581092"/>
            <a:chExt cx="1587294" cy="1294074"/>
          </a:xfrm>
        </p:grpSpPr>
        <p:pic>
          <p:nvPicPr>
            <p:cNvPr id="13" name="Graphic 12" descr="Server">
              <a:extLst>
                <a:ext uri="{FF2B5EF4-FFF2-40B4-BE49-F238E27FC236}">
                  <a16:creationId xmlns:a16="http://schemas.microsoft.com/office/drawing/2014/main" id="{60FC4740-CAA5-2544-B542-D32851018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41366" y="196076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74337C-0CAA-B440-B613-5A66F034DA22}"/>
                </a:ext>
              </a:extLst>
            </p:cNvPr>
            <p:cNvSpPr txBox="1"/>
            <p:nvPr/>
          </p:nvSpPr>
          <p:spPr>
            <a:xfrm>
              <a:off x="6793796" y="1581092"/>
              <a:ext cx="15872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123.xyz server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898FD97-E2A7-C844-B4EE-E1BC304EC53D}"/>
              </a:ext>
            </a:extLst>
          </p:cNvPr>
          <p:cNvSpPr/>
          <p:nvPr/>
        </p:nvSpPr>
        <p:spPr bwMode="auto">
          <a:xfrm>
            <a:off x="1983055" y="3220249"/>
            <a:ext cx="640080" cy="73152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87970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559045"/>
            <a:ext cx="7620000" cy="304698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3200" b="0" i="1" dirty="0">
                <a:solidFill>
                  <a:srgbClr val="0000FF"/>
                </a:solidFill>
              </a:rPr>
              <a:t>Dear </a:t>
            </a:r>
            <a:r>
              <a:rPr lang="en-US" altLang="zh-CN" sz="3200" b="0" i="1" dirty="0">
                <a:solidFill>
                  <a:srgbClr val="0000FF"/>
                </a:solidFill>
              </a:rPr>
              <a:t>Jensen</a:t>
            </a:r>
            <a:r>
              <a:rPr lang="en-US" sz="3200" b="0" i="1" dirty="0">
                <a:solidFill>
                  <a:srgbClr val="0000FF"/>
                </a:solidFill>
              </a:rPr>
              <a:t>,</a:t>
            </a:r>
          </a:p>
          <a:p>
            <a:pPr algn="l" eaLnBrk="1" hangingPunct="1"/>
            <a:endParaRPr lang="en-US" sz="3200" b="0" i="1" dirty="0">
              <a:solidFill>
                <a:srgbClr val="0000FF"/>
              </a:solidFill>
            </a:endParaRPr>
          </a:p>
          <a:p>
            <a:pPr algn="l" eaLnBrk="1" hangingPunct="1"/>
            <a:r>
              <a:rPr lang="en-US" altLang="zh-CN" sz="3200" b="0" i="1" dirty="0">
                <a:solidFill>
                  <a:srgbClr val="0000FF"/>
                </a:solidFill>
              </a:rPr>
              <a:t>We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need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to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talk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about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the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pricing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of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your</a:t>
            </a:r>
            <a:r>
              <a:rPr 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GPUs</a:t>
            </a:r>
            <a:r>
              <a:rPr lang="en-US" sz="3200" b="0" i="1" dirty="0">
                <a:solidFill>
                  <a:srgbClr val="0000FF"/>
                </a:solidFill>
              </a:rPr>
              <a:t>.</a:t>
            </a:r>
          </a:p>
          <a:p>
            <a:pPr algn="l" eaLnBrk="1" hangingPunct="1"/>
            <a:endParaRPr lang="en-US" sz="3200" b="0" i="1" dirty="0">
              <a:solidFill>
                <a:srgbClr val="0000FF"/>
              </a:solidFill>
            </a:endParaRPr>
          </a:p>
          <a:p>
            <a:pPr algn="l" eaLnBrk="1" hangingPunct="1"/>
            <a:r>
              <a:rPr lang="en-US" sz="3200" b="0" i="1" dirty="0">
                <a:solidFill>
                  <a:srgbClr val="0000FF"/>
                </a:solidFill>
              </a:rPr>
              <a:t>					--</a:t>
            </a:r>
            <a:r>
              <a:rPr lang="en-US" altLang="zh-CN" sz="3200" b="0" i="1" dirty="0">
                <a:solidFill>
                  <a:srgbClr val="0000FF"/>
                </a:solidFill>
              </a:rPr>
              <a:t>Satya</a:t>
            </a:r>
            <a:endParaRPr lang="en-US" sz="3200" b="0" i="1" dirty="0">
              <a:solidFill>
                <a:srgbClr val="0000FF"/>
              </a:solidFill>
            </a:endParaRPr>
          </a:p>
        </p:txBody>
      </p:sp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Inspiration…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990600"/>
          </a:xfrm>
        </p:spPr>
        <p:txBody>
          <a:bodyPr/>
          <a:lstStyle/>
          <a:p>
            <a:r>
              <a:rPr lang="en-US" dirty="0"/>
              <a:t>CEO A writes letter to CEO B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397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Inspiration…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CEO A writes letter to CEO B</a:t>
            </a:r>
          </a:p>
          <a:p>
            <a:pPr lvl="1"/>
            <a:r>
              <a:rPr lang="en-US" dirty="0"/>
              <a:t>Folds letter and hands it to administrative aide</a:t>
            </a:r>
          </a:p>
          <a:p>
            <a:r>
              <a:rPr lang="en-US" dirty="0"/>
              <a:t>Aide:</a:t>
            </a:r>
          </a:p>
          <a:p>
            <a:pPr lvl="1"/>
            <a:r>
              <a:rPr lang="en-US" dirty="0"/>
              <a:t>Puts letter in envelope with CEO B’s full name</a:t>
            </a:r>
          </a:p>
          <a:p>
            <a:pPr lvl="1"/>
            <a:r>
              <a:rPr lang="en-US" dirty="0"/>
              <a:t>Takes to </a:t>
            </a:r>
            <a:r>
              <a:rPr lang="en-US" altLang="zh-CN" dirty="0"/>
              <a:t>SF</a:t>
            </a:r>
            <a:r>
              <a:rPr lang="zh-CN" altLang="en-US" dirty="0"/>
              <a:t> </a:t>
            </a:r>
            <a:r>
              <a:rPr lang="en-US" altLang="zh-CN" dirty="0"/>
              <a:t>Express</a:t>
            </a:r>
            <a:endParaRPr lang="en-US" dirty="0"/>
          </a:p>
          <a:p>
            <a:r>
              <a:rPr lang="en-US" altLang="zh-CN" dirty="0"/>
              <a:t>SF</a:t>
            </a:r>
            <a:r>
              <a:rPr lang="zh-CN" altLang="en-US" dirty="0"/>
              <a:t> </a:t>
            </a:r>
            <a:r>
              <a:rPr lang="en-US" altLang="zh-CN" dirty="0"/>
              <a:t>Express</a:t>
            </a:r>
            <a:r>
              <a:rPr lang="en-US" dirty="0"/>
              <a:t> Office</a:t>
            </a:r>
          </a:p>
          <a:p>
            <a:pPr lvl="1"/>
            <a:r>
              <a:rPr lang="en-US" dirty="0"/>
              <a:t>Puts letter in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larger envelope</a:t>
            </a:r>
          </a:p>
          <a:p>
            <a:pPr lvl="1"/>
            <a:r>
              <a:rPr lang="en-US" dirty="0"/>
              <a:t>Puts name and street address on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envelope</a:t>
            </a:r>
          </a:p>
          <a:p>
            <a:pPr lvl="1"/>
            <a:r>
              <a:rPr lang="en-US" dirty="0"/>
              <a:t>Puts package on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delivery truck</a:t>
            </a:r>
          </a:p>
          <a:p>
            <a:r>
              <a:rPr lang="en-US" altLang="zh-CN" dirty="0"/>
              <a:t>SF</a:t>
            </a:r>
            <a:r>
              <a:rPr lang="zh-CN" altLang="en-US" dirty="0"/>
              <a:t> </a:t>
            </a:r>
            <a:r>
              <a:rPr lang="en-US" altLang="zh-CN" dirty="0"/>
              <a:t>Express</a:t>
            </a:r>
            <a:r>
              <a:rPr lang="en-US" dirty="0"/>
              <a:t> delivers to th</a:t>
            </a:r>
            <a:r>
              <a:rPr lang="en-US" altLang="zh-CN" dirty="0"/>
              <a:t>e</a:t>
            </a:r>
            <a:r>
              <a:rPr lang="zh-CN" altLang="en-US" dirty="0"/>
              <a:t> </a:t>
            </a:r>
            <a:r>
              <a:rPr lang="en-US" dirty="0"/>
              <a:t>other company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77947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393" y="3352800"/>
            <a:ext cx="9143613" cy="2895600"/>
            <a:chOff x="0" y="2971800"/>
            <a:chExt cx="9144000" cy="2895600"/>
          </a:xfrm>
        </p:grpSpPr>
        <p:sp>
          <p:nvSpPr>
            <p:cNvPr id="16405" name="Rectangle 29"/>
            <p:cNvSpPr>
              <a:spLocks noChangeArrowheads="1"/>
            </p:cNvSpPr>
            <p:nvPr/>
          </p:nvSpPr>
          <p:spPr bwMode="auto">
            <a:xfrm>
              <a:off x="0" y="4953000"/>
              <a:ext cx="9144000" cy="914400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6406" name="Rectangle 25"/>
            <p:cNvSpPr>
              <a:spLocks noChangeArrowheads="1"/>
            </p:cNvSpPr>
            <p:nvPr/>
          </p:nvSpPr>
          <p:spPr bwMode="auto">
            <a:xfrm>
              <a:off x="0" y="3962400"/>
              <a:ext cx="9144000" cy="9144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6407" name="Rectangle 1"/>
            <p:cNvSpPr>
              <a:spLocks noChangeArrowheads="1"/>
            </p:cNvSpPr>
            <p:nvPr/>
          </p:nvSpPr>
          <p:spPr bwMode="auto">
            <a:xfrm>
              <a:off x="0" y="2971800"/>
              <a:ext cx="9144000" cy="914400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490662" y="3581400"/>
            <a:ext cx="850900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868" y="4572000"/>
            <a:ext cx="852488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Aide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5486400"/>
            <a:ext cx="1861387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+mn-lt"/>
              </a:rPr>
              <a:t>SF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Express</a:t>
            </a:r>
            <a:endParaRPr lang="en-US" sz="2400" dirty="0">
              <a:latin typeface="+mn-lt"/>
            </a:endParaRPr>
          </a:p>
        </p:txBody>
      </p:sp>
      <p:cxnSp>
        <p:nvCxnSpPr>
          <p:cNvPr id="10" name="Straight Arrow Connector 9"/>
          <p:cNvCxnSpPr>
            <a:cxnSpLocks noChangeShapeType="1"/>
          </p:cNvCxnSpPr>
          <p:nvPr/>
        </p:nvCxnSpPr>
        <p:spPr bwMode="auto">
          <a:xfrm>
            <a:off x="1916112" y="4043363"/>
            <a:ext cx="0" cy="5286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Arrow Connector 13"/>
          <p:cNvCxnSpPr>
            <a:cxnSpLocks noChangeShapeType="1"/>
          </p:cNvCxnSpPr>
          <p:nvPr/>
        </p:nvCxnSpPr>
        <p:spPr bwMode="auto">
          <a:xfrm flipH="1">
            <a:off x="1911350" y="5029200"/>
            <a:ext cx="9525" cy="52863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6927850" y="3576638"/>
            <a:ext cx="850900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7850" y="4567238"/>
            <a:ext cx="850900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Aide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9263" y="5481638"/>
            <a:ext cx="1861387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altLang="zh-CN" sz="2400" dirty="0"/>
              <a:t>SF</a:t>
            </a:r>
            <a:r>
              <a:rPr lang="zh-CN" altLang="en-US" sz="2400" dirty="0"/>
              <a:t> </a:t>
            </a:r>
            <a:r>
              <a:rPr lang="en-US" altLang="zh-CN" sz="2400" dirty="0"/>
              <a:t>Express</a:t>
            </a:r>
            <a:endParaRPr lang="en-US" sz="2400" dirty="0"/>
          </a:p>
        </p:txBody>
      </p:sp>
      <p:cxnSp>
        <p:nvCxnSpPr>
          <p:cNvPr id="18" name="Straight Arrow Connector 17"/>
          <p:cNvCxnSpPr>
            <a:cxnSpLocks noChangeShapeType="1"/>
          </p:cNvCxnSpPr>
          <p:nvPr/>
        </p:nvCxnSpPr>
        <p:spPr bwMode="auto">
          <a:xfrm>
            <a:off x="7353300" y="4038600"/>
            <a:ext cx="0" cy="52863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arrow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Arrow Connector 18"/>
          <p:cNvCxnSpPr>
            <a:cxnSpLocks noChangeShapeType="1"/>
          </p:cNvCxnSpPr>
          <p:nvPr/>
        </p:nvCxnSpPr>
        <p:spPr bwMode="auto">
          <a:xfrm flipH="1">
            <a:off x="7348538" y="5024438"/>
            <a:ext cx="9525" cy="5286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arrow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Arrow Connector 20"/>
          <p:cNvCxnSpPr>
            <a:cxnSpLocks noChangeShapeType="1"/>
            <a:stCxn id="8" idx="3"/>
            <a:endCxn id="17" idx="1"/>
          </p:cNvCxnSpPr>
          <p:nvPr/>
        </p:nvCxnSpPr>
        <p:spPr bwMode="auto">
          <a:xfrm flipV="1">
            <a:off x="2851987" y="5712467"/>
            <a:ext cx="3947276" cy="4762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4" name="TextBox 23"/>
          <p:cNvSpPr txBox="1"/>
          <p:nvPr/>
        </p:nvSpPr>
        <p:spPr>
          <a:xfrm>
            <a:off x="3048000" y="5486400"/>
            <a:ext cx="3505200" cy="461657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SF-Express</a:t>
            </a:r>
            <a:r>
              <a:rPr lang="en-US" sz="2400" dirty="0">
                <a:solidFill>
                  <a:srgbClr val="0000FF"/>
                </a:solidFill>
                <a:latin typeface="+mn-lt"/>
              </a:rPr>
              <a:t> Envelope</a:t>
            </a:r>
          </a:p>
        </p:txBody>
      </p:sp>
      <p:sp>
        <p:nvSpPr>
          <p:cNvPr id="163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path of the letter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581400" y="3590925"/>
            <a:ext cx="2057400" cy="523875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FF"/>
                </a:solidFill>
                <a:latin typeface="+mn-lt"/>
              </a:rPr>
              <a:t>Letter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1400" y="4495800"/>
            <a:ext cx="2057400" cy="523875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FF"/>
                </a:solidFill>
                <a:latin typeface="+mn-lt"/>
              </a:rPr>
              <a:t>Envelope</a:t>
            </a:r>
          </a:p>
        </p:txBody>
      </p:sp>
    </p:spTree>
    <p:extLst>
      <p:ext uri="{BB962C8B-B14F-4D97-AF65-F5344CB8AC3E}">
        <p14:creationId xmlns:p14="http://schemas.microsoft.com/office/powerpoint/2010/main" val="471671632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393" y="3352800"/>
            <a:ext cx="9143613" cy="2895600"/>
            <a:chOff x="0" y="2971800"/>
            <a:chExt cx="9144000" cy="2895600"/>
          </a:xfrm>
        </p:grpSpPr>
        <p:sp>
          <p:nvSpPr>
            <p:cNvPr id="16405" name="Rectangle 29"/>
            <p:cNvSpPr>
              <a:spLocks noChangeArrowheads="1"/>
            </p:cNvSpPr>
            <p:nvPr/>
          </p:nvSpPr>
          <p:spPr bwMode="auto">
            <a:xfrm>
              <a:off x="0" y="4953000"/>
              <a:ext cx="9144000" cy="914400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6406" name="Rectangle 25"/>
            <p:cNvSpPr>
              <a:spLocks noChangeArrowheads="1"/>
            </p:cNvSpPr>
            <p:nvPr/>
          </p:nvSpPr>
          <p:spPr bwMode="auto">
            <a:xfrm>
              <a:off x="0" y="3962400"/>
              <a:ext cx="9144000" cy="9144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6407" name="Rectangle 1"/>
            <p:cNvSpPr>
              <a:spLocks noChangeArrowheads="1"/>
            </p:cNvSpPr>
            <p:nvPr/>
          </p:nvSpPr>
          <p:spPr bwMode="auto">
            <a:xfrm>
              <a:off x="0" y="2971800"/>
              <a:ext cx="9144000" cy="914400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490662" y="3581400"/>
            <a:ext cx="850900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868" y="4572000"/>
            <a:ext cx="852488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Aide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5486400"/>
            <a:ext cx="2156663" cy="461657"/>
          </a:xfrm>
          <a:prstGeom prst="rect">
            <a:avLst/>
          </a:prstGeom>
          <a:noFill/>
        </p:spPr>
        <p:txBody>
          <a:bodyPr wrap="square" lIns="91430" tIns="45716" rIns="91430" bIns="45716">
            <a:spAutoFit/>
          </a:bodyPr>
          <a:lstStyle/>
          <a:p>
            <a:pPr>
              <a:defRPr/>
            </a:pPr>
            <a:r>
              <a:rPr lang="en-US" altLang="zh-CN" sz="2400" dirty="0"/>
              <a:t>SF</a:t>
            </a:r>
            <a:r>
              <a:rPr lang="zh-CN" altLang="en-US" sz="2400" dirty="0"/>
              <a:t> </a:t>
            </a:r>
            <a:r>
              <a:rPr lang="en-US" altLang="zh-CN" sz="2400" dirty="0"/>
              <a:t>Express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6927850" y="3576638"/>
            <a:ext cx="850900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7850" y="4567238"/>
            <a:ext cx="850900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Aide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9263" y="5481638"/>
            <a:ext cx="1861387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altLang="zh-CN" sz="2400" dirty="0"/>
              <a:t>SF</a:t>
            </a:r>
            <a:r>
              <a:rPr lang="zh-CN" altLang="en-US" sz="2400" dirty="0"/>
              <a:t> </a:t>
            </a:r>
            <a:r>
              <a:rPr lang="en-US" altLang="zh-CN" sz="2400" dirty="0"/>
              <a:t>Express</a:t>
            </a:r>
            <a:endParaRPr lang="en-US" sz="2400" dirty="0"/>
          </a:p>
        </p:txBody>
      </p:sp>
      <p:sp>
        <p:nvSpPr>
          <p:cNvPr id="163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path of the letter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1766888"/>
          </a:xfrm>
        </p:spPr>
        <p:txBody>
          <a:bodyPr/>
          <a:lstStyle/>
          <a:p>
            <a:r>
              <a:rPr lang="en-US" dirty="0"/>
              <a:t>“Peers” in same layer understand each other</a:t>
            </a:r>
          </a:p>
          <a:p>
            <a:pPr lvl="1"/>
            <a:r>
              <a:rPr lang="en-US" dirty="0"/>
              <a:t>No one else needs to</a:t>
            </a:r>
          </a:p>
          <a:p>
            <a:r>
              <a:rPr lang="en-US" dirty="0"/>
              <a:t>Lowest level has most packaging</a:t>
            </a:r>
          </a:p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581400" y="3590925"/>
            <a:ext cx="2057400" cy="523875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FF"/>
                </a:solidFill>
                <a:latin typeface="+mn-lt"/>
              </a:rPr>
              <a:t>Letter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1400" y="4495800"/>
            <a:ext cx="2057400" cy="523875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FF"/>
                </a:solidFill>
                <a:latin typeface="+mn-lt"/>
              </a:rPr>
              <a:t>Envelope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5600" y="3581400"/>
            <a:ext cx="3657600" cy="52387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8000"/>
                </a:solidFill>
                <a:latin typeface="+mn-lt"/>
              </a:rPr>
              <a:t>Semantic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9400" y="4495800"/>
            <a:ext cx="365760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8000"/>
                </a:solidFill>
                <a:latin typeface="+mn-lt"/>
              </a:rPr>
              <a:t>Identity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000" y="5486400"/>
            <a:ext cx="3505200" cy="461963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SF-Express</a:t>
            </a:r>
            <a:r>
              <a:rPr lang="en-US" sz="2400" dirty="0">
                <a:solidFill>
                  <a:srgbClr val="0000FF"/>
                </a:solidFill>
                <a:latin typeface="+mn-lt"/>
              </a:rPr>
              <a:t> Envelope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634DE2-1D3F-D34C-8679-64E49E726B6B}"/>
              </a:ext>
            </a:extLst>
          </p:cNvPr>
          <p:cNvSpPr txBox="1"/>
          <p:nvPr/>
        </p:nvSpPr>
        <p:spPr>
          <a:xfrm>
            <a:off x="2819400" y="5410200"/>
            <a:ext cx="3657600" cy="52387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8000"/>
                </a:solidFill>
                <a:latin typeface="+mn-lt"/>
              </a:rPr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7131254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0" grpId="0"/>
      <p:bldP spid="27" grpId="0" animBg="1"/>
      <p:bldP spid="26" grpId="0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steps</a:t>
            </a:r>
          </a:p>
        </p:txBody>
      </p:sp>
      <p:sp>
        <p:nvSpPr>
          <p:cNvPr id="67586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Decompose</a:t>
            </a:r>
            <a:r>
              <a:rPr lang="en-US" dirty="0"/>
              <a:t> the problem into tasks</a:t>
            </a:r>
          </a:p>
          <a:p>
            <a:r>
              <a:rPr lang="en-US" dirty="0">
                <a:solidFill>
                  <a:srgbClr val="0000FF"/>
                </a:solidFill>
              </a:rPr>
              <a:t>Organize</a:t>
            </a:r>
            <a:r>
              <a:rPr lang="en-US" dirty="0"/>
              <a:t> these tasks</a:t>
            </a:r>
          </a:p>
          <a:p>
            <a:r>
              <a:rPr lang="en-US" dirty="0">
                <a:solidFill>
                  <a:srgbClr val="0000FF"/>
                </a:solidFill>
              </a:rPr>
              <a:t>Assign</a:t>
            </a:r>
            <a:r>
              <a:rPr lang="en-US" dirty="0"/>
              <a:t> tasks to entities (who does what)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5A01CA2-0DEA-164F-A2F3-BDAB2F49714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63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Internet: Decomposition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93" y="3502343"/>
            <a:ext cx="9143613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93" y="2703671"/>
            <a:ext cx="9143613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93" y="1905000"/>
            <a:ext cx="9143613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0" y="4301014"/>
            <a:ext cx="9143613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3" name="Rectangle 29"/>
          <p:cNvSpPr>
            <a:spLocks noChangeArrowheads="1"/>
          </p:cNvSpPr>
          <p:nvPr/>
        </p:nvSpPr>
        <p:spPr bwMode="auto">
          <a:xfrm>
            <a:off x="0" y="5099685"/>
            <a:ext cx="9144000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62000" y="2052943"/>
            <a:ext cx="2029703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181600"/>
            <a:ext cx="3672780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+mn-lt"/>
              </a:rPr>
              <a:t>Physical transfer of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432288"/>
            <a:ext cx="4838164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Best-effort </a:t>
            </a:r>
            <a:r>
              <a:rPr lang="en-US" sz="2400" dirty="0">
                <a:solidFill>
                  <a:srgbClr val="D3A600"/>
                </a:solidFill>
                <a:latin typeface="+mn-lt"/>
              </a:rPr>
              <a:t>local</a:t>
            </a:r>
            <a:r>
              <a:rPr lang="en-US" sz="2400" dirty="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packet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640131"/>
            <a:ext cx="5041745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Best-effort </a:t>
            </a:r>
            <a:r>
              <a:rPr lang="en-US" sz="2400" dirty="0">
                <a:solidFill>
                  <a:srgbClr val="D3A600"/>
                </a:solidFill>
                <a:latin typeface="+mn-lt"/>
              </a:rPr>
              <a:t>global</a:t>
            </a:r>
            <a:r>
              <a:rPr lang="en-US" sz="2400" dirty="0">
                <a:latin typeface="+mn-lt"/>
              </a:rPr>
              <a:t> packet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878180"/>
            <a:ext cx="4730762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Reliable or </a:t>
            </a:r>
            <a:r>
              <a:rPr lang="en-US" sz="2400">
                <a:solidFill>
                  <a:schemeClr val="tx1">
                    <a:lumMod val="75000"/>
                  </a:schemeClr>
                </a:solidFill>
                <a:latin typeface="+mn-lt"/>
              </a:rPr>
              <a:t>unreliable transport</a:t>
            </a:r>
            <a:endParaRPr lang="en-US" sz="2400" dirty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2534354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321097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108848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892040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180335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8" grpId="0"/>
      <p:bldP spid="19" grpId="0"/>
      <p:bldP spid="20" grpId="0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7113587" y="30480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6" name="Rectangle 25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organization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93" y="3502343"/>
            <a:ext cx="6019545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93" y="2703671"/>
            <a:ext cx="6019545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93" y="1905000"/>
            <a:ext cx="6019545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0" y="4301014"/>
            <a:ext cx="6019545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3" name="Rectangle 29"/>
          <p:cNvSpPr>
            <a:spLocks noChangeArrowheads="1"/>
          </p:cNvSpPr>
          <p:nvPr/>
        </p:nvSpPr>
        <p:spPr bwMode="auto">
          <a:xfrm>
            <a:off x="0" y="5099685"/>
            <a:ext cx="6019800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62000" y="2052943"/>
            <a:ext cx="2029703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181600"/>
            <a:ext cx="3672780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+mn-lt"/>
              </a:rPr>
              <a:t>Physical transfer of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432288"/>
            <a:ext cx="4838164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Best-effort </a:t>
            </a:r>
            <a:r>
              <a:rPr lang="en-US" sz="2400" dirty="0">
                <a:solidFill>
                  <a:srgbClr val="D3A600"/>
                </a:solidFill>
                <a:latin typeface="+mn-lt"/>
              </a:rPr>
              <a:t>local</a:t>
            </a:r>
            <a:r>
              <a:rPr lang="en-US" sz="2400" dirty="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packet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640131"/>
            <a:ext cx="5041745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Best-effort </a:t>
            </a:r>
            <a:r>
              <a:rPr lang="en-US" sz="2400" dirty="0">
                <a:solidFill>
                  <a:srgbClr val="D3A600"/>
                </a:solidFill>
                <a:latin typeface="+mn-lt"/>
              </a:rPr>
              <a:t>global</a:t>
            </a:r>
            <a:r>
              <a:rPr lang="en-US" sz="2400" dirty="0">
                <a:latin typeface="+mn-lt"/>
              </a:rPr>
              <a:t> packet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878180"/>
            <a:ext cx="4730762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Reliable or </a:t>
            </a:r>
            <a:r>
              <a:rPr lang="en-US" sz="2400">
                <a:solidFill>
                  <a:schemeClr val="tx1">
                    <a:lumMod val="75000"/>
                  </a:schemeClr>
                </a:solidFill>
                <a:latin typeface="+mn-lt"/>
              </a:rPr>
              <a:t>unreliable transport</a:t>
            </a:r>
            <a:endParaRPr lang="en-US" sz="2400" dirty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2534354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321097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108848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892040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7113587" y="35083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9" name="Rectangle 28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Rectangle 29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7113587" y="39655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32" name="Rectangle 31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Rectangle 32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7113587" y="44211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5" name="Rectangle 34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" name="Rectangle 35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7113587" y="48783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38" name="Rectangle 37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" name="Rectangle 38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602732" y="30535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2732" y="35396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2732" y="39952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2732" y="44524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2732" y="49088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681181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layers</a:t>
            </a:r>
          </a:p>
        </p:txBody>
      </p:sp>
      <p:sp>
        <p:nvSpPr>
          <p:cNvPr id="88" name="Content Placeholder 87"/>
          <p:cNvSpPr>
            <a:spLocks noGrp="1"/>
          </p:cNvSpPr>
          <p:nvPr>
            <p:ph idx="1"/>
          </p:nvPr>
        </p:nvSpPr>
        <p:spPr>
          <a:xfrm>
            <a:off x="685800" y="1600200"/>
            <a:ext cx="5656314" cy="4419600"/>
          </a:xfrm>
        </p:spPr>
        <p:txBody>
          <a:bodyPr/>
          <a:lstStyle/>
          <a:p>
            <a:r>
              <a:rPr lang="en-US" dirty="0"/>
              <a:t>OSI stands for Open Systems Interconnection model</a:t>
            </a:r>
          </a:p>
          <a:p>
            <a:pPr lvl="1"/>
            <a:r>
              <a:rPr lang="en-US" dirty="0"/>
              <a:t>Developed by the ISO</a:t>
            </a:r>
          </a:p>
          <a:p>
            <a:endParaRPr lang="en-US" dirty="0"/>
          </a:p>
          <a:p>
            <a:r>
              <a:rPr lang="en-US" dirty="0"/>
              <a:t>Session and presentation layers are often implemented as part of the application layer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7113587" y="2146997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8" name="Rectangle 7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Rectangle 8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sp>
        <p:nvSpPr>
          <p:cNvPr id="29" name="Rectangle 28"/>
          <p:cNvSpPr>
            <a:spLocks/>
          </p:cNvSpPr>
          <p:nvPr/>
        </p:nvSpPr>
        <p:spPr bwMode="auto">
          <a:xfrm>
            <a:off x="7117085" y="2604641"/>
            <a:ext cx="1649412" cy="431800"/>
          </a:xfrm>
          <a:prstGeom prst="rect">
            <a:avLst/>
          </a:prstGeom>
          <a:solidFill>
            <a:srgbClr val="D3A600"/>
          </a:solidFill>
          <a:ln w="25400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Rectangle 29"/>
          <p:cNvSpPr>
            <a:spLocks/>
          </p:cNvSpPr>
          <p:nvPr/>
        </p:nvSpPr>
        <p:spPr bwMode="auto">
          <a:xfrm>
            <a:off x="7167809" y="2642741"/>
            <a:ext cx="1540967" cy="354013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38100" tIns="38100" rIns="90479" bIns="38100" anchor="ctr">
            <a:spAutoFit/>
          </a:bodyPr>
          <a:lstStyle/>
          <a:p>
            <a:pPr marL="12699" algn="ctr">
              <a:defRPr/>
            </a:pPr>
            <a:r>
              <a:rPr lang="en-US" sz="1800" dirty="0">
                <a:solidFill>
                  <a:schemeClr val="bg1"/>
                </a:solidFill>
                <a:latin typeface="Arial" charset="0"/>
                <a:cs typeface="Arial" charset="0"/>
                <a:sym typeface="Arial" charset="0"/>
              </a:rPr>
              <a:t>Presentation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7113587" y="3059810"/>
            <a:ext cx="1649412" cy="430213"/>
          </a:xfrm>
          <a:prstGeom prst="rect">
            <a:avLst/>
          </a:prstGeom>
          <a:solidFill>
            <a:srgbClr val="D3A600"/>
          </a:solidFill>
          <a:ln w="25400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7370706" y="3097910"/>
            <a:ext cx="1131675" cy="354013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38100" tIns="38100" rIns="90479" bIns="38100" anchor="ctr">
            <a:spAutoFit/>
          </a:bodyPr>
          <a:lstStyle/>
          <a:p>
            <a:pPr marL="12699" algn="ctr">
              <a:defRPr/>
            </a:pPr>
            <a:r>
              <a:rPr lang="en-US" sz="1800">
                <a:solidFill>
                  <a:schemeClr val="bg1"/>
                </a:solidFill>
                <a:latin typeface="Arial" charset="0"/>
                <a:cs typeface="Arial" charset="0"/>
                <a:sym typeface="Arial" charset="0"/>
              </a:rPr>
              <a:t>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2732" y="217823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2732" y="263587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D3A600"/>
                </a:solidFill>
              </a:rPr>
              <a:t>L6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2732" y="309025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D3A600"/>
                </a:solidFill>
              </a:rPr>
              <a:t>L5</a:t>
            </a:r>
          </a:p>
        </p:txBody>
      </p:sp>
      <p:grpSp>
        <p:nvGrpSpPr>
          <p:cNvPr id="72" name="Group 71"/>
          <p:cNvGrpSpPr>
            <a:grpSpLocks/>
          </p:cNvGrpSpPr>
          <p:nvPr/>
        </p:nvGrpSpPr>
        <p:grpSpPr bwMode="auto">
          <a:xfrm>
            <a:off x="7113587" y="35083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3" name="Rectangle 7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4" name="Rectangle 73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75" name="Group 74"/>
          <p:cNvGrpSpPr>
            <a:grpSpLocks/>
          </p:cNvGrpSpPr>
          <p:nvPr/>
        </p:nvGrpSpPr>
        <p:grpSpPr bwMode="auto">
          <a:xfrm>
            <a:off x="7113587" y="39655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76" name="Rectangle 75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7" name="Rectangle 76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78" name="Group 77"/>
          <p:cNvGrpSpPr>
            <a:grpSpLocks/>
          </p:cNvGrpSpPr>
          <p:nvPr/>
        </p:nvGrpSpPr>
        <p:grpSpPr bwMode="auto">
          <a:xfrm>
            <a:off x="7113587" y="44211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9" name="Rectangle 78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0" name="Rectangle 79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81" name="Group 80"/>
          <p:cNvGrpSpPr>
            <a:grpSpLocks/>
          </p:cNvGrpSpPr>
          <p:nvPr/>
        </p:nvGrpSpPr>
        <p:grpSpPr bwMode="auto">
          <a:xfrm>
            <a:off x="7113587" y="48783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82" name="Rectangle 81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3" name="Rectangle 82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6602732" y="35396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02732" y="39952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02732" y="44524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02732" y="49088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1549170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hape 1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Layers</a:t>
            </a:r>
          </a:p>
        </p:txBody>
      </p:sp>
      <p:sp>
        <p:nvSpPr>
          <p:cNvPr id="132" name="Shape 13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Layer: a part of a system with well-defined interfaces to other parts</a:t>
            </a:r>
          </a:p>
          <a:p>
            <a:r>
              <a:rPr lang="en-US" dirty="0"/>
              <a:t>One layer interacts only with layer above and layer below</a:t>
            </a:r>
          </a:p>
          <a:p>
            <a:r>
              <a:rPr lang="en-US" dirty="0"/>
              <a:t>Two layers interact only through the interface between them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5A01CA2-0DEA-164F-A2F3-BDAB2F49714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2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>
            <a:grpSpLocks/>
          </p:cNvGrpSpPr>
          <p:nvPr/>
        </p:nvGrpSpPr>
        <p:grpSpPr bwMode="auto">
          <a:xfrm>
            <a:off x="1272855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52" name="Rectangle 51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" name="Rectangle 52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54" name="Group 53"/>
          <p:cNvGrpSpPr>
            <a:grpSpLocks/>
          </p:cNvGrpSpPr>
          <p:nvPr/>
        </p:nvGrpSpPr>
        <p:grpSpPr bwMode="auto">
          <a:xfrm>
            <a:off x="1272855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55" name="Rectangle 54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Rectangle 55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57" name="Group 56"/>
          <p:cNvGrpSpPr>
            <a:grpSpLocks/>
          </p:cNvGrpSpPr>
          <p:nvPr/>
        </p:nvGrpSpPr>
        <p:grpSpPr bwMode="auto">
          <a:xfrm>
            <a:off x="1272855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58" name="Rectangle 57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60" name="Group 59"/>
          <p:cNvGrpSpPr>
            <a:grpSpLocks/>
          </p:cNvGrpSpPr>
          <p:nvPr/>
        </p:nvGrpSpPr>
        <p:grpSpPr bwMode="auto">
          <a:xfrm>
            <a:off x="1272855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61" name="Rectangle 60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" name="Rectangle 61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63" name="Group 62"/>
          <p:cNvGrpSpPr>
            <a:grpSpLocks/>
          </p:cNvGrpSpPr>
          <p:nvPr/>
        </p:nvGrpSpPr>
        <p:grpSpPr bwMode="auto">
          <a:xfrm>
            <a:off x="1272855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64" name="Rectangle 63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5" name="Rectangle 64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76200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200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200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200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and protocols 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Communication between peer layers on</a:t>
            </a:r>
            <a:br>
              <a:rPr lang="en-US" dirty="0"/>
            </a:br>
            <a:r>
              <a:rPr lang="en-US" dirty="0"/>
              <a:t>different systems is defined by </a:t>
            </a:r>
            <a:r>
              <a:rPr lang="en-US" dirty="0">
                <a:solidFill>
                  <a:srgbClr val="0000FF"/>
                </a:solidFill>
              </a:rPr>
              <a:t>protocols</a:t>
            </a:r>
          </a:p>
          <a:p>
            <a:pPr lvl="1"/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20503" name="Straight Connector 44"/>
          <p:cNvCxnSpPr>
            <a:cxnSpLocks noChangeShapeType="1"/>
          </p:cNvCxnSpPr>
          <p:nvPr/>
        </p:nvCxnSpPr>
        <p:spPr bwMode="auto">
          <a:xfrm>
            <a:off x="2957513" y="25495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504" name="Straight Connector 46"/>
          <p:cNvCxnSpPr>
            <a:cxnSpLocks noChangeShapeType="1"/>
          </p:cNvCxnSpPr>
          <p:nvPr/>
        </p:nvCxnSpPr>
        <p:spPr bwMode="auto">
          <a:xfrm>
            <a:off x="2957513" y="29940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505" name="Straight Connector 47"/>
          <p:cNvCxnSpPr>
            <a:cxnSpLocks noChangeShapeType="1"/>
          </p:cNvCxnSpPr>
          <p:nvPr/>
        </p:nvCxnSpPr>
        <p:spPr bwMode="auto">
          <a:xfrm>
            <a:off x="2957513" y="34512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506" name="Straight Connector 48"/>
          <p:cNvCxnSpPr>
            <a:cxnSpLocks noChangeShapeType="1"/>
          </p:cNvCxnSpPr>
          <p:nvPr/>
        </p:nvCxnSpPr>
        <p:spPr bwMode="auto">
          <a:xfrm>
            <a:off x="2957513" y="3984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507" name="Straight Connector 49"/>
          <p:cNvCxnSpPr>
            <a:cxnSpLocks noChangeShapeType="1"/>
          </p:cNvCxnSpPr>
          <p:nvPr/>
        </p:nvCxnSpPr>
        <p:spPr bwMode="auto">
          <a:xfrm>
            <a:off x="2957513" y="4365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71" name="Group 70"/>
          <p:cNvGrpSpPr>
            <a:grpSpLocks/>
          </p:cNvGrpSpPr>
          <p:nvPr/>
        </p:nvGrpSpPr>
        <p:grpSpPr bwMode="auto">
          <a:xfrm>
            <a:off x="6221732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2" name="Rectangle 71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3" name="Rectangle 72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74" name="Group 73"/>
          <p:cNvGrpSpPr>
            <a:grpSpLocks/>
          </p:cNvGrpSpPr>
          <p:nvPr/>
        </p:nvGrpSpPr>
        <p:grpSpPr bwMode="auto">
          <a:xfrm>
            <a:off x="6221732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5" name="Rectangle 74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6" name="Rectangle 75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77" name="Group 76"/>
          <p:cNvGrpSpPr>
            <a:grpSpLocks/>
          </p:cNvGrpSpPr>
          <p:nvPr/>
        </p:nvGrpSpPr>
        <p:grpSpPr bwMode="auto">
          <a:xfrm>
            <a:off x="6221732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78" name="Rectangle 77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9" name="Rectangle 78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80" name="Group 79"/>
          <p:cNvGrpSpPr>
            <a:grpSpLocks/>
          </p:cNvGrpSpPr>
          <p:nvPr/>
        </p:nvGrpSpPr>
        <p:grpSpPr bwMode="auto">
          <a:xfrm>
            <a:off x="6221732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81" name="Rectangle 80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2" name="Rectangle 81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83" name="Group 82"/>
          <p:cNvGrpSpPr>
            <a:grpSpLocks/>
          </p:cNvGrpSpPr>
          <p:nvPr/>
        </p:nvGrpSpPr>
        <p:grpSpPr bwMode="auto">
          <a:xfrm>
            <a:off x="6221732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84" name="Rectangle 83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5" name="Rectangle 84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808043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8043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8043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8043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8043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1383051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363" y="2255837"/>
            <a:ext cx="34607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6" name="Picture 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738" y="1524000"/>
            <a:ext cx="50800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5022850"/>
            <a:ext cx="50800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9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3349625"/>
            <a:ext cx="50800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10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363" y="4186237"/>
            <a:ext cx="34607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Line 11"/>
          <p:cNvSpPr>
            <a:spLocks noChangeShapeType="1"/>
          </p:cNvSpPr>
          <p:nvPr/>
        </p:nvSpPr>
        <p:spPr bwMode="auto">
          <a:xfrm>
            <a:off x="3843338" y="2057400"/>
            <a:ext cx="1825625" cy="608012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sp>
        <p:nvSpPr>
          <p:cNvPr id="21511" name="Line 12"/>
          <p:cNvSpPr>
            <a:spLocks noChangeShapeType="1"/>
          </p:cNvSpPr>
          <p:nvPr/>
        </p:nvSpPr>
        <p:spPr bwMode="auto">
          <a:xfrm>
            <a:off x="3843338" y="4033837"/>
            <a:ext cx="1825625" cy="609600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sp>
        <p:nvSpPr>
          <p:cNvPr id="21512" name="Line 13"/>
          <p:cNvSpPr>
            <a:spLocks noChangeShapeType="1"/>
          </p:cNvSpPr>
          <p:nvPr/>
        </p:nvSpPr>
        <p:spPr bwMode="auto">
          <a:xfrm flipH="1">
            <a:off x="3843338" y="3046412"/>
            <a:ext cx="1825625" cy="608013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sp>
        <p:nvSpPr>
          <p:cNvPr id="21513" name="Line 14"/>
          <p:cNvSpPr>
            <a:spLocks noChangeShapeType="1"/>
          </p:cNvSpPr>
          <p:nvPr/>
        </p:nvSpPr>
        <p:spPr bwMode="auto">
          <a:xfrm flipH="1">
            <a:off x="3843338" y="4946650"/>
            <a:ext cx="1825625" cy="609600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sp>
        <p:nvSpPr>
          <p:cNvPr id="21514" name="Rectangle 15"/>
          <p:cNvSpPr>
            <a:spLocks/>
          </p:cNvSpPr>
          <p:nvPr/>
        </p:nvSpPr>
        <p:spPr bwMode="auto">
          <a:xfrm>
            <a:off x="3862388" y="1709737"/>
            <a:ext cx="14255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 dirty="0">
                <a:cs typeface="Times New Roman" charset="0"/>
              </a:rPr>
              <a:t>Friendly</a:t>
            </a:r>
            <a:br>
              <a:rPr lang="en-US" dirty="0">
                <a:cs typeface="Times New Roman" charset="0"/>
              </a:rPr>
            </a:br>
            <a:r>
              <a:rPr lang="en-US" dirty="0">
                <a:cs typeface="Times New Roman" charset="0"/>
              </a:rPr>
              <a:t> greeting</a:t>
            </a:r>
          </a:p>
        </p:txBody>
      </p:sp>
      <p:sp>
        <p:nvSpPr>
          <p:cNvPr id="21515" name="Rectangle 17"/>
          <p:cNvSpPr>
            <a:spLocks/>
          </p:cNvSpPr>
          <p:nvPr/>
        </p:nvSpPr>
        <p:spPr bwMode="auto">
          <a:xfrm>
            <a:off x="4169569" y="3965575"/>
            <a:ext cx="81121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>
                <a:cs typeface="Times New Roman" charset="0"/>
              </a:rPr>
              <a:t>Time?</a:t>
            </a:r>
          </a:p>
        </p:txBody>
      </p:sp>
      <p:sp>
        <p:nvSpPr>
          <p:cNvPr id="21516" name="Rectangle 18"/>
          <p:cNvSpPr>
            <a:spLocks/>
          </p:cNvSpPr>
          <p:nvPr/>
        </p:nvSpPr>
        <p:spPr bwMode="auto">
          <a:xfrm>
            <a:off x="4090662" y="4953000"/>
            <a:ext cx="969024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>
                <a:cs typeface="Times New Roman" charset="0"/>
              </a:rPr>
              <a:t>12:10 PM</a:t>
            </a:r>
            <a:endParaRPr lang="en-US" dirty="0">
              <a:cs typeface="Times New Roman" charset="0"/>
            </a:endParaRPr>
          </a:p>
        </p:txBody>
      </p:sp>
      <p:sp>
        <p:nvSpPr>
          <p:cNvPr id="21517" name="Rectangle 21"/>
          <p:cNvSpPr>
            <a:spLocks/>
          </p:cNvSpPr>
          <p:nvPr/>
        </p:nvSpPr>
        <p:spPr bwMode="auto">
          <a:xfrm>
            <a:off x="3648847" y="5486400"/>
            <a:ext cx="1852663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 dirty="0">
                <a:cs typeface="Times New Roman" charset="0"/>
              </a:rPr>
              <a:t>Thanks!</a:t>
            </a:r>
            <a:br>
              <a:rPr lang="en-US" dirty="0">
                <a:cs typeface="Times New Roman" charset="0"/>
              </a:rPr>
            </a:br>
            <a:r>
              <a:rPr lang="en-US" dirty="0">
                <a:cs typeface="Times New Roman" charset="0"/>
              </a:rPr>
              <a:t> Let’s g</a:t>
            </a:r>
            <a:r>
              <a:rPr lang="en-US" altLang="zh-CN" dirty="0">
                <a:cs typeface="Times New Roman" charset="0"/>
              </a:rPr>
              <a:t>o</a:t>
            </a:r>
            <a:r>
              <a:rPr lang="zh-CN" altLang="en-US" dirty="0">
                <a:cs typeface="Times New Roman" charset="0"/>
              </a:rPr>
              <a:t> </a:t>
            </a:r>
            <a:r>
              <a:rPr lang="en-US" altLang="zh-CN" dirty="0">
                <a:cs typeface="Times New Roman" charset="0"/>
              </a:rPr>
              <a:t>for</a:t>
            </a:r>
            <a:r>
              <a:rPr lang="zh-CN" altLang="en-US" dirty="0">
                <a:cs typeface="Times New Roman" charset="0"/>
              </a:rPr>
              <a:t> </a:t>
            </a:r>
            <a:r>
              <a:rPr lang="en-US" altLang="zh-CN" dirty="0">
                <a:cs typeface="Times New Roman" charset="0"/>
              </a:rPr>
              <a:t>lunch</a:t>
            </a:r>
            <a:endParaRPr lang="en-US" dirty="0">
              <a:cs typeface="Times New Roman" charset="0"/>
            </a:endParaRPr>
          </a:p>
        </p:txBody>
      </p:sp>
      <p:sp>
        <p:nvSpPr>
          <p:cNvPr id="21518" name="Rectangle 15"/>
          <p:cNvSpPr>
            <a:spLocks/>
          </p:cNvSpPr>
          <p:nvPr/>
        </p:nvSpPr>
        <p:spPr bwMode="auto">
          <a:xfrm>
            <a:off x="3862388" y="2822575"/>
            <a:ext cx="14255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>
                <a:cs typeface="Times New Roman" charset="0"/>
              </a:rPr>
              <a:t>Friendly</a:t>
            </a:r>
            <a:br>
              <a:rPr lang="en-US">
                <a:cs typeface="Times New Roman" charset="0"/>
              </a:rPr>
            </a:br>
            <a:r>
              <a:rPr lang="en-US">
                <a:cs typeface="Times New Roman" charset="0"/>
              </a:rPr>
              <a:t> greeting</a:t>
            </a:r>
          </a:p>
        </p:txBody>
      </p:sp>
      <p:sp>
        <p:nvSpPr>
          <p:cNvPr id="21519" name="Line 12"/>
          <p:cNvSpPr>
            <a:spLocks noChangeShapeType="1"/>
          </p:cNvSpPr>
          <p:nvPr/>
        </p:nvSpPr>
        <p:spPr bwMode="auto">
          <a:xfrm>
            <a:off x="3775075" y="5794375"/>
            <a:ext cx="1825625" cy="609600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pic>
        <p:nvPicPr>
          <p:cNvPr id="21520" name="Picture 10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5795962"/>
            <a:ext cx="34607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2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Protocol?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" name="Picture 2" descr="A group of flags on poles&#10;&#10;AI-generated content may be incorrect.">
            <a:extLst>
              <a:ext uri="{FF2B5EF4-FFF2-40B4-BE49-F238E27FC236}">
                <a16:creationId xmlns:a16="http://schemas.microsoft.com/office/drawing/2014/main" id="{19EFB82B-52AD-11B3-2408-3860C2E912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621604"/>
            <a:ext cx="7772400" cy="244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04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 animBg="1"/>
      <p:bldP spid="21511" grpId="0" animBg="1"/>
      <p:bldP spid="21512" grpId="0" animBg="1"/>
      <p:bldP spid="21513" grpId="0" animBg="1"/>
      <p:bldP spid="21514" grpId="0"/>
      <p:bldP spid="21515" grpId="0"/>
      <p:bldP spid="21516" grpId="0"/>
      <p:bldP spid="21517" grpId="0"/>
      <p:bldP spid="21518" grpId="0"/>
      <p:bldP spid="215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 bwMode="auto">
          <a:xfrm>
            <a:off x="1597152" y="5171282"/>
            <a:ext cx="6099048" cy="6096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Data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457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Protocol?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agreement between parties (in the same layer) on how to communicate</a:t>
            </a:r>
          </a:p>
          <a:p>
            <a:r>
              <a:rPr lang="en-US" dirty="0"/>
              <a:t>Defines the </a:t>
            </a:r>
            <a:r>
              <a:rPr lang="en-US" dirty="0">
                <a:solidFill>
                  <a:srgbClr val="0000FF"/>
                </a:solidFill>
              </a:rPr>
              <a:t>syntax</a:t>
            </a:r>
            <a:r>
              <a:rPr lang="en-US" dirty="0"/>
              <a:t> of communication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Header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instructions on how to process </a:t>
            </a:r>
            <a:r>
              <a:rPr lang="en-US" altLang="zh-CN" dirty="0">
                <a:solidFill>
                  <a:srgbClr val="0000FF"/>
                </a:solidFill>
              </a:rPr>
              <a:t>packet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Each protocol defines the format of its headers</a:t>
            </a:r>
          </a:p>
          <a:p>
            <a:pPr lvl="2"/>
            <a:r>
              <a:rPr lang="en-US" dirty="0"/>
              <a:t>e.g., “the first 32 bits carry the destination address”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3352800" y="5171282"/>
            <a:ext cx="4343400" cy="6096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Payload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1600200" y="5171282"/>
            <a:ext cx="1752600" cy="6096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Header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254124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Protocol?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agreement between parties on how to communicate</a:t>
            </a:r>
          </a:p>
          <a:p>
            <a:r>
              <a:rPr lang="en-US" dirty="0"/>
              <a:t>Defines the </a:t>
            </a:r>
            <a:r>
              <a:rPr lang="en-US" dirty="0">
                <a:solidFill>
                  <a:srgbClr val="0000FF"/>
                </a:solidFill>
              </a:rPr>
              <a:t>syntax</a:t>
            </a:r>
            <a:r>
              <a:rPr lang="en-US" dirty="0"/>
              <a:t> of communication</a:t>
            </a:r>
          </a:p>
          <a:p>
            <a:r>
              <a:rPr lang="en-US" dirty="0"/>
              <a:t>And </a:t>
            </a:r>
            <a:r>
              <a:rPr lang="en-US" dirty="0">
                <a:solidFill>
                  <a:srgbClr val="0000FF"/>
                </a:solidFill>
              </a:rPr>
              <a:t>semantics</a:t>
            </a:r>
          </a:p>
          <a:p>
            <a:pPr lvl="1"/>
            <a:r>
              <a:rPr lang="en-US" dirty="0"/>
              <a:t>“First a hello, then a request…”</a:t>
            </a:r>
          </a:p>
          <a:p>
            <a:pPr lvl="1"/>
            <a:r>
              <a:rPr lang="en-US" dirty="0"/>
              <a:t>We will study many protocols later in the semester</a:t>
            </a:r>
          </a:p>
          <a:p>
            <a:r>
              <a:rPr lang="en-US" dirty="0"/>
              <a:t>Protocols exist at many levels, hardware, and software</a:t>
            </a:r>
          </a:p>
          <a:p>
            <a:pPr lvl="1"/>
            <a:r>
              <a:rPr lang="en-US" dirty="0"/>
              <a:t>Defined by standards bodies like IETF, IEEE, ITU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089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Protocols at different layers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505200" y="3502343"/>
            <a:ext cx="5638806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505200" y="2703671"/>
            <a:ext cx="5638806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505200" y="1905000"/>
            <a:ext cx="5638806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3504807" y="4301014"/>
            <a:ext cx="5638806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3504956" y="5099685"/>
            <a:ext cx="5639044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371600" y="212542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371600" y="28194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7" name="Rectangle 16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1371600" y="3657600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1371600" y="4419600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3" name="Rectangle 2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Rectangle 23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1371600" y="5208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26" name="Rectangle 25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860745" y="2130981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745" y="28506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745" y="3687246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745" y="44508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745" y="5239028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0052" y="2157991"/>
            <a:ext cx="825867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SMTP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9052" y="2129139"/>
            <a:ext cx="787395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HTTP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3000" y="2858889"/>
            <a:ext cx="6463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9021" y="2857388"/>
            <a:ext cx="6719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UDP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2926" y="3687246"/>
            <a:ext cx="402674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469" y="4484965"/>
            <a:ext cx="6463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4725" y="4488601"/>
            <a:ext cx="723275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FDDI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4400" y="4492569"/>
            <a:ext cx="1120820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Ethernet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0804" y="5283636"/>
            <a:ext cx="80021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PSTN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0076" y="5304528"/>
            <a:ext cx="825867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Radio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82636" y="5304528"/>
            <a:ext cx="9925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Copper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80844" y="5304528"/>
            <a:ext cx="9669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Optical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4692" y="2141634"/>
            <a:ext cx="6463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NTP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9580" y="2135052"/>
            <a:ext cx="6719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DNS</a:t>
            </a:r>
          </a:p>
        </p:txBody>
      </p:sp>
    </p:spTree>
    <p:extLst>
      <p:ext uri="{BB962C8B-B14F-4D97-AF65-F5344CB8AC3E}">
        <p14:creationId xmlns:p14="http://schemas.microsoft.com/office/powerpoint/2010/main" val="986939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network layer protocol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505200" y="3502343"/>
            <a:ext cx="5638806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505200" y="2703671"/>
            <a:ext cx="5638806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505200" y="1905000"/>
            <a:ext cx="5638806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3504807" y="4301014"/>
            <a:ext cx="5638806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3504956" y="5099685"/>
            <a:ext cx="5639044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371600" y="212542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371600" y="28194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7" name="Rectangle 16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1371600" y="3657600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1371600" y="4419600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3" name="Rectangle 2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Rectangle 23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1371600" y="5208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26" name="Rectangle 25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860745" y="2130981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745" y="28506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745" y="3687246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745" y="44508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745" y="5239028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0052" y="2157991"/>
            <a:ext cx="82586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SMTP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9052" y="2129139"/>
            <a:ext cx="787395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HTTP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3000" y="2858889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9021" y="2857388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UDP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2926" y="3687246"/>
            <a:ext cx="402674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469" y="4484965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4725" y="4488601"/>
            <a:ext cx="723275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FDDI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4400" y="4492569"/>
            <a:ext cx="1120820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Ethernet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0804" y="5283636"/>
            <a:ext cx="80021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PSTN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0076" y="5304528"/>
            <a:ext cx="82586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Radio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82636" y="5304528"/>
            <a:ext cx="9925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Copper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80844" y="5304528"/>
            <a:ext cx="9669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Optical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4692" y="2141634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NTP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9580" y="2135052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DNS</a:t>
            </a:r>
          </a:p>
        </p:txBody>
      </p:sp>
    </p:spTree>
    <p:extLst>
      <p:ext uri="{BB962C8B-B14F-4D97-AF65-F5344CB8AC3E}">
        <p14:creationId xmlns:p14="http://schemas.microsoft.com/office/powerpoint/2010/main" val="953333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encapsulation: </a:t>
            </a:r>
            <a:br>
              <a:rPr lang="en-US" dirty="0"/>
            </a:br>
            <a:r>
              <a:rPr lang="en-US" dirty="0"/>
              <a:t>Protocol headers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7690" name="Line 4"/>
          <p:cNvSpPr>
            <a:spLocks noChangeShapeType="1"/>
          </p:cNvSpPr>
          <p:nvPr/>
        </p:nvSpPr>
        <p:spPr bwMode="auto">
          <a:xfrm>
            <a:off x="16002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91" name="Line 5"/>
          <p:cNvSpPr>
            <a:spLocks noChangeShapeType="1"/>
          </p:cNvSpPr>
          <p:nvPr/>
        </p:nvSpPr>
        <p:spPr bwMode="auto">
          <a:xfrm flipV="1">
            <a:off x="73914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93" name="Line 7"/>
          <p:cNvSpPr>
            <a:spLocks noChangeShapeType="1"/>
          </p:cNvSpPr>
          <p:nvPr/>
        </p:nvSpPr>
        <p:spPr bwMode="auto">
          <a:xfrm>
            <a:off x="1600200" y="5562600"/>
            <a:ext cx="57912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3" name="Rectangle 11"/>
          <p:cNvSpPr>
            <a:spLocks noChangeArrowheads="1"/>
          </p:cNvSpPr>
          <p:nvPr/>
        </p:nvSpPr>
        <p:spPr bwMode="auto">
          <a:xfrm rot="10800000">
            <a:off x="27416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4" name="Rectangle 12"/>
          <p:cNvSpPr>
            <a:spLocks noChangeArrowheads="1"/>
          </p:cNvSpPr>
          <p:nvPr/>
        </p:nvSpPr>
        <p:spPr bwMode="auto">
          <a:xfrm rot="10800000">
            <a:off x="25892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5" name="Rectangle 13"/>
          <p:cNvSpPr>
            <a:spLocks noChangeArrowheads="1"/>
          </p:cNvSpPr>
          <p:nvPr/>
        </p:nvSpPr>
        <p:spPr bwMode="auto">
          <a:xfrm>
            <a:off x="914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6" name="Rectangle 14"/>
          <p:cNvSpPr>
            <a:spLocks noChangeArrowheads="1"/>
          </p:cNvSpPr>
          <p:nvPr/>
        </p:nvSpPr>
        <p:spPr bwMode="auto">
          <a:xfrm>
            <a:off x="6629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7" name="Rectangle 15"/>
          <p:cNvSpPr>
            <a:spLocks noChangeArrowheads="1"/>
          </p:cNvSpPr>
          <p:nvPr/>
        </p:nvSpPr>
        <p:spPr bwMode="auto">
          <a:xfrm rot="10800000">
            <a:off x="58658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8" name="Rectangle 16"/>
          <p:cNvSpPr>
            <a:spLocks noChangeArrowheads="1"/>
          </p:cNvSpPr>
          <p:nvPr/>
        </p:nvSpPr>
        <p:spPr bwMode="auto">
          <a:xfrm rot="10800000">
            <a:off x="57134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9" name="Text Box 17"/>
          <p:cNvSpPr txBox="1">
            <a:spLocks noChangeArrowheads="1"/>
          </p:cNvSpPr>
          <p:nvPr/>
        </p:nvSpPr>
        <p:spPr bwMode="auto">
          <a:xfrm>
            <a:off x="3752850" y="3657600"/>
            <a:ext cx="1608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b="0" dirty="0">
                <a:solidFill>
                  <a:srgbClr val="000000"/>
                </a:solidFill>
                <a:latin typeface="Arial" charset="0"/>
              </a:rPr>
              <a:t>TCP header</a:t>
            </a:r>
          </a:p>
        </p:txBody>
      </p:sp>
      <p:sp>
        <p:nvSpPr>
          <p:cNvPr id="27674" name="Rectangle 19"/>
          <p:cNvSpPr>
            <a:spLocks noChangeArrowheads="1"/>
          </p:cNvSpPr>
          <p:nvPr/>
        </p:nvSpPr>
        <p:spPr bwMode="auto">
          <a:xfrm rot="10800000">
            <a:off x="2895600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5" name="Rectangle 20"/>
          <p:cNvSpPr>
            <a:spLocks noChangeArrowheads="1"/>
          </p:cNvSpPr>
          <p:nvPr/>
        </p:nvSpPr>
        <p:spPr bwMode="auto">
          <a:xfrm rot="10800000">
            <a:off x="2667000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6" name="Rectangle 21"/>
          <p:cNvSpPr>
            <a:spLocks noChangeArrowheads="1"/>
          </p:cNvSpPr>
          <p:nvPr/>
        </p:nvSpPr>
        <p:spPr bwMode="auto">
          <a:xfrm rot="10800000">
            <a:off x="2590800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7" name="Rectangle 22"/>
          <p:cNvSpPr>
            <a:spLocks noChangeArrowheads="1"/>
          </p:cNvSpPr>
          <p:nvPr/>
        </p:nvSpPr>
        <p:spPr bwMode="auto">
          <a:xfrm>
            <a:off x="914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8" name="Rectangle 23"/>
          <p:cNvSpPr>
            <a:spLocks noChangeArrowheads="1"/>
          </p:cNvSpPr>
          <p:nvPr/>
        </p:nvSpPr>
        <p:spPr bwMode="auto">
          <a:xfrm>
            <a:off x="6629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9" name="Rectangle 24"/>
          <p:cNvSpPr>
            <a:spLocks noChangeArrowheads="1"/>
          </p:cNvSpPr>
          <p:nvPr/>
        </p:nvSpPr>
        <p:spPr bwMode="auto">
          <a:xfrm rot="10800000">
            <a:off x="5865813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0" name="Rectangle 25"/>
          <p:cNvSpPr>
            <a:spLocks noChangeArrowheads="1"/>
          </p:cNvSpPr>
          <p:nvPr/>
        </p:nvSpPr>
        <p:spPr bwMode="auto">
          <a:xfrm rot="10800000">
            <a:off x="5637213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1" name="Rectangle 26"/>
          <p:cNvSpPr>
            <a:spLocks noChangeArrowheads="1"/>
          </p:cNvSpPr>
          <p:nvPr/>
        </p:nvSpPr>
        <p:spPr bwMode="auto">
          <a:xfrm rot="10800000">
            <a:off x="5561013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2" name="Text Box 27"/>
          <p:cNvSpPr txBox="1">
            <a:spLocks noChangeArrowheads="1"/>
          </p:cNvSpPr>
          <p:nvPr/>
        </p:nvSpPr>
        <p:spPr bwMode="auto">
          <a:xfrm>
            <a:off x="3636962" y="4267200"/>
            <a:ext cx="1620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    IP header</a:t>
            </a:r>
          </a:p>
        </p:txBody>
      </p:sp>
      <p:sp>
        <p:nvSpPr>
          <p:cNvPr id="27663" name="Rectangle 29"/>
          <p:cNvSpPr>
            <a:spLocks noChangeArrowheads="1"/>
          </p:cNvSpPr>
          <p:nvPr/>
        </p:nvSpPr>
        <p:spPr bwMode="auto">
          <a:xfrm rot="10800000">
            <a:off x="3124200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4" name="Rectangle 30"/>
          <p:cNvSpPr>
            <a:spLocks noChangeArrowheads="1"/>
          </p:cNvSpPr>
          <p:nvPr/>
        </p:nvSpPr>
        <p:spPr bwMode="auto">
          <a:xfrm rot="10800000">
            <a:off x="2895600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5" name="Rectangle 31"/>
          <p:cNvSpPr>
            <a:spLocks noChangeArrowheads="1"/>
          </p:cNvSpPr>
          <p:nvPr/>
        </p:nvSpPr>
        <p:spPr bwMode="auto">
          <a:xfrm rot="10800000">
            <a:off x="2667000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6" name="Rectangle 32"/>
          <p:cNvSpPr>
            <a:spLocks noChangeArrowheads="1"/>
          </p:cNvSpPr>
          <p:nvPr/>
        </p:nvSpPr>
        <p:spPr bwMode="auto">
          <a:xfrm rot="10800000">
            <a:off x="2590800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7" name="Rectangle 33"/>
          <p:cNvSpPr>
            <a:spLocks noChangeArrowheads="1"/>
          </p:cNvSpPr>
          <p:nvPr/>
        </p:nvSpPr>
        <p:spPr bwMode="auto">
          <a:xfrm>
            <a:off x="914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8" name="Rectangle 34"/>
          <p:cNvSpPr>
            <a:spLocks noChangeArrowheads="1"/>
          </p:cNvSpPr>
          <p:nvPr/>
        </p:nvSpPr>
        <p:spPr bwMode="auto">
          <a:xfrm>
            <a:off x="6629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9" name="Rectangle 35"/>
          <p:cNvSpPr>
            <a:spLocks noChangeArrowheads="1"/>
          </p:cNvSpPr>
          <p:nvPr/>
        </p:nvSpPr>
        <p:spPr bwMode="auto">
          <a:xfrm rot="10800000">
            <a:off x="5865813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0" name="Rectangle 36"/>
          <p:cNvSpPr>
            <a:spLocks noChangeArrowheads="1"/>
          </p:cNvSpPr>
          <p:nvPr/>
        </p:nvSpPr>
        <p:spPr bwMode="auto">
          <a:xfrm rot="10800000">
            <a:off x="5637213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1" name="Rectangle 37"/>
          <p:cNvSpPr>
            <a:spLocks noChangeArrowheads="1"/>
          </p:cNvSpPr>
          <p:nvPr/>
        </p:nvSpPr>
        <p:spPr bwMode="auto">
          <a:xfrm rot="10800000">
            <a:off x="5408613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2" name="Rectangle 38"/>
          <p:cNvSpPr>
            <a:spLocks noChangeArrowheads="1"/>
          </p:cNvSpPr>
          <p:nvPr/>
        </p:nvSpPr>
        <p:spPr bwMode="auto">
          <a:xfrm rot="10800000">
            <a:off x="5332413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3" name="Text Box 39"/>
          <p:cNvSpPr txBox="1">
            <a:spLocks noChangeArrowheads="1"/>
          </p:cNvSpPr>
          <p:nvPr/>
        </p:nvSpPr>
        <p:spPr bwMode="auto">
          <a:xfrm>
            <a:off x="3980657" y="4724400"/>
            <a:ext cx="1152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Ethernet</a:t>
            </a:r>
          </a:p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header</a:t>
            </a:r>
          </a:p>
        </p:txBody>
      </p:sp>
      <p:sp>
        <p:nvSpPr>
          <p:cNvPr id="27656" name="Rectangle 41"/>
          <p:cNvSpPr>
            <a:spLocks noChangeArrowheads="1"/>
          </p:cNvSpPr>
          <p:nvPr/>
        </p:nvSpPr>
        <p:spPr bwMode="auto">
          <a:xfrm>
            <a:off x="25908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7" name="Rectangle 42"/>
          <p:cNvSpPr>
            <a:spLocks noChangeArrowheads="1"/>
          </p:cNvSpPr>
          <p:nvPr/>
        </p:nvSpPr>
        <p:spPr bwMode="auto">
          <a:xfrm>
            <a:off x="914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8" name="Rectangle 43"/>
          <p:cNvSpPr>
            <a:spLocks noChangeArrowheads="1"/>
          </p:cNvSpPr>
          <p:nvPr/>
        </p:nvSpPr>
        <p:spPr bwMode="auto">
          <a:xfrm>
            <a:off x="6629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9" name="Rectangle 44"/>
          <p:cNvSpPr>
            <a:spLocks noChangeArrowheads="1"/>
          </p:cNvSpPr>
          <p:nvPr/>
        </p:nvSpPr>
        <p:spPr bwMode="auto">
          <a:xfrm>
            <a:off x="57912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0" name="Text Box 45"/>
          <p:cNvSpPr txBox="1">
            <a:spLocks noChangeArrowheads="1"/>
          </p:cNvSpPr>
          <p:nvPr/>
        </p:nvSpPr>
        <p:spPr bwMode="auto">
          <a:xfrm>
            <a:off x="3475038" y="2743200"/>
            <a:ext cx="21637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HTTP</a:t>
            </a:r>
          </a:p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request/response</a:t>
            </a:r>
          </a:p>
        </p:txBody>
      </p:sp>
      <p:sp>
        <p:nvSpPr>
          <p:cNvPr id="27661" name="Text Box 46"/>
          <p:cNvSpPr txBox="1">
            <a:spLocks noChangeArrowheads="1"/>
          </p:cNvSpPr>
          <p:nvPr/>
        </p:nvSpPr>
        <p:spPr bwMode="auto">
          <a:xfrm>
            <a:off x="1066800" y="20574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solidFill>
                  <a:srgbClr val="FF0000"/>
                </a:solidFill>
                <a:latin typeface="Arial" charset="0"/>
              </a:rPr>
              <a:t>User A</a:t>
            </a:r>
          </a:p>
        </p:txBody>
      </p:sp>
      <p:sp>
        <p:nvSpPr>
          <p:cNvPr id="27662" name="Text Box 47"/>
          <p:cNvSpPr txBox="1">
            <a:spLocks noChangeArrowheads="1"/>
          </p:cNvSpPr>
          <p:nvPr/>
        </p:nvSpPr>
        <p:spPr bwMode="auto">
          <a:xfrm>
            <a:off x="6884988" y="2057400"/>
            <a:ext cx="1125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solidFill>
                  <a:srgbClr val="FF0000"/>
                </a:solidFill>
                <a:latin typeface="Arial" charset="0"/>
              </a:rPr>
              <a:t>User B</a:t>
            </a:r>
          </a:p>
        </p:txBody>
      </p:sp>
    </p:spTree>
    <p:extLst>
      <p:ext uri="{BB962C8B-B14F-4D97-AF65-F5344CB8AC3E}">
        <p14:creationId xmlns:p14="http://schemas.microsoft.com/office/powerpoint/2010/main" val="11733585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90" grpId="0" animBg="1"/>
      <p:bldP spid="27691" grpId="0" animBg="1"/>
      <p:bldP spid="27693" grpId="0" animBg="1"/>
      <p:bldP spid="27683" grpId="0" animBg="1"/>
      <p:bldP spid="27684" grpId="0" animBg="1"/>
      <p:bldP spid="27685" grpId="0" animBg="1"/>
      <p:bldP spid="27686" grpId="0" animBg="1"/>
      <p:bldP spid="27687" grpId="0" animBg="1"/>
      <p:bldP spid="27688" grpId="0" animBg="1"/>
      <p:bldP spid="27689" grpId="0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  <p:bldP spid="27682" grpId="0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steps</a:t>
            </a:r>
          </a:p>
        </p:txBody>
      </p:sp>
      <p:sp>
        <p:nvSpPr>
          <p:cNvPr id="67586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Decompose the problem into tasks</a:t>
            </a:r>
          </a:p>
          <a:p>
            <a:r>
              <a:rPr lang="en-US" dirty="0"/>
              <a:t>Organize these tasks</a:t>
            </a:r>
          </a:p>
          <a:p>
            <a:r>
              <a:rPr lang="en-US" dirty="0">
                <a:solidFill>
                  <a:srgbClr val="0000FF"/>
                </a:solidFill>
              </a:rPr>
              <a:t>Assign</a:t>
            </a:r>
            <a:r>
              <a:rPr lang="en-US" dirty="0"/>
              <a:t> tasks to entities (who does what)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5A01CA2-0DEA-164F-A2F3-BDAB2F49714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87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5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gets implemented where?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272855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8" name="Rectangle 7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Rectangle 8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272855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1" name="Rectangle 10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272855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272855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7" name="Rectangle 16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1272855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6200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cxnSp>
        <p:nvCxnSpPr>
          <p:cNvPr id="27" name="Straight Connector 44"/>
          <p:cNvCxnSpPr>
            <a:cxnSpLocks noChangeShapeType="1"/>
          </p:cNvCxnSpPr>
          <p:nvPr/>
        </p:nvCxnSpPr>
        <p:spPr bwMode="auto">
          <a:xfrm>
            <a:off x="2957513" y="25495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Connector 46"/>
          <p:cNvCxnSpPr>
            <a:cxnSpLocks noChangeShapeType="1"/>
          </p:cNvCxnSpPr>
          <p:nvPr/>
        </p:nvCxnSpPr>
        <p:spPr bwMode="auto">
          <a:xfrm>
            <a:off x="2957513" y="29940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Connector 47"/>
          <p:cNvCxnSpPr>
            <a:cxnSpLocks noChangeShapeType="1"/>
          </p:cNvCxnSpPr>
          <p:nvPr/>
        </p:nvCxnSpPr>
        <p:spPr bwMode="auto">
          <a:xfrm>
            <a:off x="2957513" y="34512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48"/>
          <p:cNvCxnSpPr>
            <a:cxnSpLocks noChangeShapeType="1"/>
          </p:cNvCxnSpPr>
          <p:nvPr/>
        </p:nvCxnSpPr>
        <p:spPr bwMode="auto">
          <a:xfrm>
            <a:off x="2957513" y="3984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Connector 49"/>
          <p:cNvCxnSpPr>
            <a:cxnSpLocks noChangeShapeType="1"/>
          </p:cNvCxnSpPr>
          <p:nvPr/>
        </p:nvCxnSpPr>
        <p:spPr bwMode="auto">
          <a:xfrm>
            <a:off x="2957513" y="4365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2" name="Group 31"/>
          <p:cNvGrpSpPr>
            <a:grpSpLocks/>
          </p:cNvGrpSpPr>
          <p:nvPr/>
        </p:nvGrpSpPr>
        <p:grpSpPr bwMode="auto">
          <a:xfrm>
            <a:off x="6221732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3" name="Rectangle 3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Rectangle 33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35" name="Group 34"/>
          <p:cNvGrpSpPr>
            <a:grpSpLocks/>
          </p:cNvGrpSpPr>
          <p:nvPr/>
        </p:nvGrpSpPr>
        <p:grpSpPr bwMode="auto">
          <a:xfrm>
            <a:off x="6221732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6" name="Rectangle 35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" name="Rectangle 36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38" name="Group 37"/>
          <p:cNvGrpSpPr>
            <a:grpSpLocks/>
          </p:cNvGrpSpPr>
          <p:nvPr/>
        </p:nvGrpSpPr>
        <p:grpSpPr bwMode="auto">
          <a:xfrm>
            <a:off x="6221732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39" name="Rectangle 38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Rectangle 39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41" name="Group 40"/>
          <p:cNvGrpSpPr>
            <a:grpSpLocks/>
          </p:cNvGrpSpPr>
          <p:nvPr/>
        </p:nvGrpSpPr>
        <p:grpSpPr bwMode="auto">
          <a:xfrm>
            <a:off x="6221732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42" name="Rectangle 41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Rectangle 42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44" name="Group 43"/>
          <p:cNvGrpSpPr>
            <a:grpSpLocks/>
          </p:cNvGrpSpPr>
          <p:nvPr/>
        </p:nvGrpSpPr>
        <p:grpSpPr bwMode="auto">
          <a:xfrm>
            <a:off x="6221732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45" name="Rectangle 44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Rectangle 45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808043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043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043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8043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043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2030078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gets implemented </a:t>
            </a:r>
            <a:br>
              <a:rPr lang="en-US"/>
            </a:br>
            <a:r>
              <a:rPr lang="en-US"/>
              <a:t>at the end systems?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arrive on wire, must make it up to application</a:t>
            </a:r>
          </a:p>
          <a:p>
            <a:pPr lvl="3"/>
            <a:endParaRPr lang="en-US" dirty="0"/>
          </a:p>
          <a:p>
            <a:r>
              <a:rPr lang="en-US" dirty="0"/>
              <a:t>Therefore, </a:t>
            </a:r>
            <a:r>
              <a:rPr lang="en-US" dirty="0">
                <a:solidFill>
                  <a:srgbClr val="0000FF"/>
                </a:solidFill>
              </a:rPr>
              <a:t>all layers must exist at host!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9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gets implemented in </a:t>
            </a:r>
            <a:br>
              <a:rPr lang="en-US"/>
            </a:br>
            <a:r>
              <a:rPr lang="en-US"/>
              <a:t>the network?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arrive on wire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physical layer (L1)</a:t>
            </a:r>
          </a:p>
          <a:p>
            <a:r>
              <a:rPr lang="en-US" dirty="0"/>
              <a:t>Packets must be delivered across links and </a:t>
            </a:r>
            <a:br>
              <a:rPr lang="en-US" dirty="0"/>
            </a:br>
            <a:r>
              <a:rPr lang="en-US" dirty="0"/>
              <a:t>local networks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datalink layer (L2)</a:t>
            </a:r>
          </a:p>
          <a:p>
            <a:r>
              <a:rPr lang="en-US" dirty="0"/>
              <a:t>Packets must be delivered between networks </a:t>
            </a:r>
            <a:br>
              <a:rPr lang="en-US" dirty="0"/>
            </a:br>
            <a:r>
              <a:rPr lang="en-US" dirty="0"/>
              <a:t>for global delivery </a:t>
            </a:r>
            <a:r>
              <a:rPr lang="en-US" dirty="0">
                <a:sym typeface="Wingdings" charset="0"/>
              </a:rPr>
              <a:t> network layer (L3)</a:t>
            </a:r>
          </a:p>
          <a:p>
            <a:r>
              <a:rPr lang="en-US" dirty="0"/>
              <a:t>The network does not support reliable delivery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Transport layer (and above) not supported</a:t>
            </a:r>
          </a:p>
          <a:p>
            <a:endParaRPr lang="en-US" dirty="0">
              <a:sym typeface="Wingdings" charset="0"/>
            </a:endParaRPr>
          </a:p>
          <a:p>
            <a:endParaRPr lang="en-US" dirty="0">
              <a:sym typeface="Wingdings" charset="0"/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6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Diagram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Lower three layers implemented everywhere</a:t>
            </a:r>
          </a:p>
          <a:p>
            <a:r>
              <a:rPr lang="en-US" dirty="0"/>
              <a:t>Top two layers implemented only at hosts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9700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03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4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05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6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07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9708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9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0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1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2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3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4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15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6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7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8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9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20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9721" name="AutoShape 26"/>
          <p:cNvCxnSpPr>
            <a:cxnSpLocks noChangeShapeType="1"/>
            <a:stCxn id="29705" idx="3"/>
            <a:endCxn id="29719" idx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2" name="AutoShape 27"/>
          <p:cNvCxnSpPr>
            <a:cxnSpLocks noChangeShapeType="1"/>
            <a:stCxn id="29703" idx="3"/>
            <a:endCxn id="29717" idx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3" name="AutoShape 28"/>
          <p:cNvCxnSpPr>
            <a:cxnSpLocks noChangeShapeType="1"/>
            <a:stCxn id="29701" idx="3"/>
            <a:endCxn id="29715" idx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4" name="AutoShape 29"/>
          <p:cNvCxnSpPr>
            <a:cxnSpLocks noChangeShapeType="1"/>
            <a:stCxn id="29719" idx="3"/>
            <a:endCxn id="29713" idx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5" name="AutoShape 30"/>
          <p:cNvCxnSpPr>
            <a:cxnSpLocks noChangeShapeType="1"/>
            <a:stCxn id="29717" idx="3"/>
            <a:endCxn id="29711" idx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6" name="AutoShape 31"/>
          <p:cNvCxnSpPr>
            <a:cxnSpLocks noChangeShapeType="1"/>
            <a:stCxn id="29715" idx="3"/>
            <a:endCxn id="29709" idx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7" name="AutoShape 32"/>
          <p:cNvCxnSpPr>
            <a:cxnSpLocks noChangeShapeType="1"/>
            <a:stCxn id="29699" idx="3"/>
            <a:endCxn id="29707" idx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29728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29732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3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29734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5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29736" name="AutoShape 38"/>
            <p:cNvCxnSpPr>
              <a:cxnSpLocks noChangeShapeType="1"/>
              <a:stCxn id="29732" idx="3"/>
              <a:endCxn id="29735" idx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9729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0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1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162195076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look: End system</a:t>
            </a:r>
          </a:p>
        </p:txBody>
      </p:sp>
      <p:sp>
        <p:nvSpPr>
          <p:cNvPr id="1331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</a:t>
            </a:r>
          </a:p>
          <a:p>
            <a:pPr lvl="1"/>
            <a:r>
              <a:rPr lang="en-US" dirty="0"/>
              <a:t>Web server, browser, mail, game </a:t>
            </a:r>
          </a:p>
          <a:p>
            <a:r>
              <a:rPr lang="en-US" dirty="0"/>
              <a:t>Transport and network layer </a:t>
            </a:r>
          </a:p>
          <a:p>
            <a:pPr lvl="1"/>
            <a:r>
              <a:rPr lang="en-US" dirty="0"/>
              <a:t>Typically part of the operating system</a:t>
            </a:r>
          </a:p>
          <a:p>
            <a:r>
              <a:rPr lang="en-US" dirty="0"/>
              <a:t>Datalink and physical layer</a:t>
            </a:r>
          </a:p>
          <a:p>
            <a:pPr lvl="1"/>
            <a:r>
              <a:rPr lang="en-US" dirty="0"/>
              <a:t>hardware/firmware/drivers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71696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gets implemented in </a:t>
            </a:r>
            <a:br>
              <a:rPr lang="en-US"/>
            </a:br>
            <a:r>
              <a:rPr lang="en-US"/>
              <a:t>the network?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arrive on wire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physical layer (L1)</a:t>
            </a:r>
          </a:p>
          <a:p>
            <a:r>
              <a:rPr lang="en-US" dirty="0"/>
              <a:t>Packets must be delivered across links and </a:t>
            </a:r>
            <a:br>
              <a:rPr lang="en-US" dirty="0"/>
            </a:br>
            <a:r>
              <a:rPr lang="en-US" dirty="0"/>
              <a:t>local networks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datalink layer (L2)</a:t>
            </a:r>
          </a:p>
          <a:p>
            <a:r>
              <a:rPr lang="en-US" dirty="0"/>
              <a:t>Packets must be delivered between networks </a:t>
            </a:r>
            <a:br>
              <a:rPr lang="en-US" dirty="0"/>
            </a:br>
            <a:r>
              <a:rPr lang="en-US" dirty="0"/>
              <a:t>for global delivery </a:t>
            </a:r>
            <a:r>
              <a:rPr lang="en-US" dirty="0">
                <a:sym typeface="Wingdings" charset="0"/>
              </a:rPr>
              <a:t> network layer (L3)</a:t>
            </a:r>
          </a:p>
          <a:p>
            <a:endParaRPr lang="en-US" dirty="0">
              <a:sym typeface="Wingdings" charset="0"/>
            </a:endParaRPr>
          </a:p>
          <a:p>
            <a:r>
              <a:rPr lang="en-US" dirty="0">
                <a:solidFill>
                  <a:srgbClr val="0000FF"/>
                </a:solidFill>
                <a:sym typeface="Wingdings" charset="0"/>
              </a:rPr>
              <a:t>Switches</a:t>
            </a:r>
            <a:r>
              <a:rPr lang="en-US" dirty="0">
                <a:sym typeface="Wingdings" charset="0"/>
              </a:rPr>
              <a:t> implement only physical and datalink layers (L1, L2)</a:t>
            </a:r>
          </a:p>
          <a:p>
            <a:r>
              <a:rPr lang="en-US" dirty="0">
                <a:solidFill>
                  <a:srgbClr val="0000FF"/>
                </a:solidFill>
                <a:sym typeface="Wingdings" charset="0"/>
              </a:rPr>
              <a:t>Routers</a:t>
            </a:r>
            <a:r>
              <a:rPr lang="en-US" dirty="0">
                <a:sym typeface="Wingdings" charset="0"/>
              </a:rPr>
              <a:t> implement the network layer too (L1, L2, L3) 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3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 at the network</a:t>
            </a:r>
          </a:p>
        </p:txBody>
      </p:sp>
      <p:sp>
        <p:nvSpPr>
          <p:cNvPr id="49" name="Shape 38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7521480C-ED20-354C-8D4F-38F03EF2220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3" name="Shape 377"/>
          <p:cNvSpPr/>
          <p:nvPr/>
        </p:nvSpPr>
        <p:spPr bwMode="auto">
          <a:xfrm>
            <a:off x="4270375" y="4340225"/>
            <a:ext cx="2838450" cy="1862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4" name="Shape 378"/>
          <p:cNvSpPr/>
          <p:nvPr/>
        </p:nvSpPr>
        <p:spPr bwMode="auto">
          <a:xfrm>
            <a:off x="1135063" y="2314575"/>
            <a:ext cx="3760787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46" name="Shape 380"/>
          <p:cNvSpPr/>
          <p:nvPr/>
        </p:nvSpPr>
        <p:spPr bwMode="auto">
          <a:xfrm>
            <a:off x="2947988" y="2301875"/>
            <a:ext cx="325437" cy="139065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47" name="Shape 381"/>
          <p:cNvSpPr/>
          <p:nvPr/>
        </p:nvSpPr>
        <p:spPr bwMode="auto">
          <a:xfrm flipH="1" flipV="1">
            <a:off x="5461000" y="5145088"/>
            <a:ext cx="2141538" cy="99695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50" name="Shape 384"/>
          <p:cNvSpPr/>
          <p:nvPr/>
        </p:nvSpPr>
        <p:spPr bwMode="auto">
          <a:xfrm>
            <a:off x="1104900" y="3162300"/>
            <a:ext cx="2073275" cy="49371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3" name="Shape 387"/>
          <p:cNvSpPr/>
          <p:nvPr/>
        </p:nvSpPr>
        <p:spPr bwMode="auto">
          <a:xfrm>
            <a:off x="914400" y="2944813"/>
            <a:ext cx="368300" cy="414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56" name="Shape 390"/>
          <p:cNvSpPr/>
          <p:nvPr/>
        </p:nvSpPr>
        <p:spPr bwMode="auto">
          <a:xfrm>
            <a:off x="1203325" y="2092325"/>
            <a:ext cx="1943100" cy="151447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7" name="Shape 391"/>
          <p:cNvSpPr/>
          <p:nvPr/>
        </p:nvSpPr>
        <p:spPr bwMode="auto">
          <a:xfrm>
            <a:off x="1884363" y="2214563"/>
            <a:ext cx="1293812" cy="1379537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8" name="Shape 392"/>
          <p:cNvSpPr/>
          <p:nvPr/>
        </p:nvSpPr>
        <p:spPr bwMode="auto">
          <a:xfrm>
            <a:off x="1016000" y="1828800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59" name="Shape 393"/>
          <p:cNvSpPr/>
          <p:nvPr/>
        </p:nvSpPr>
        <p:spPr bwMode="auto">
          <a:xfrm>
            <a:off x="1698625" y="1984375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62" name="Shape 396"/>
          <p:cNvSpPr/>
          <p:nvPr/>
        </p:nvSpPr>
        <p:spPr bwMode="auto">
          <a:xfrm flipH="1">
            <a:off x="5440363" y="4283075"/>
            <a:ext cx="1798637" cy="84931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63" name="Shape 397"/>
          <p:cNvSpPr/>
          <p:nvPr/>
        </p:nvSpPr>
        <p:spPr bwMode="auto">
          <a:xfrm>
            <a:off x="5505450" y="5194300"/>
            <a:ext cx="790575" cy="1131888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64" name="Shape 398"/>
          <p:cNvSpPr/>
          <p:nvPr/>
        </p:nvSpPr>
        <p:spPr bwMode="auto">
          <a:xfrm>
            <a:off x="7072313" y="4062413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65" name="Shape 399"/>
          <p:cNvSpPr/>
          <p:nvPr/>
        </p:nvSpPr>
        <p:spPr bwMode="auto">
          <a:xfrm>
            <a:off x="6122988" y="6140450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6" name="Shape 400"/>
          <p:cNvSpPr/>
          <p:nvPr/>
        </p:nvSpPr>
        <p:spPr bwMode="auto">
          <a:xfrm flipH="1" flipV="1">
            <a:off x="5505450" y="5108575"/>
            <a:ext cx="1724025" cy="49212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67" name="Shape 401"/>
          <p:cNvSpPr/>
          <p:nvPr/>
        </p:nvSpPr>
        <p:spPr bwMode="auto">
          <a:xfrm>
            <a:off x="7072313" y="5426075"/>
            <a:ext cx="368300" cy="414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9" name="Shape 403"/>
          <p:cNvSpPr/>
          <p:nvPr/>
        </p:nvSpPr>
        <p:spPr bwMode="auto">
          <a:xfrm>
            <a:off x="7404100" y="5911850"/>
            <a:ext cx="368300" cy="414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70" name="Shape 404"/>
          <p:cNvSpPr/>
          <p:nvPr/>
        </p:nvSpPr>
        <p:spPr bwMode="auto">
          <a:xfrm>
            <a:off x="3167063" y="3667125"/>
            <a:ext cx="2327275" cy="147796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74" name="Shape 408"/>
          <p:cNvSpPr/>
          <p:nvPr/>
        </p:nvSpPr>
        <p:spPr bwMode="auto">
          <a:xfrm>
            <a:off x="4999038" y="4316374"/>
            <a:ext cx="1101264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75" name="Shape 409"/>
          <p:cNvSpPr/>
          <p:nvPr/>
        </p:nvSpPr>
        <p:spPr bwMode="auto">
          <a:xfrm>
            <a:off x="3197225" y="2579649"/>
            <a:ext cx="642805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link</a:t>
            </a:r>
          </a:p>
        </p:txBody>
      </p:sp>
      <p:sp>
        <p:nvSpPr>
          <p:cNvPr id="76" name="Shape 410"/>
          <p:cNvSpPr/>
          <p:nvPr/>
        </p:nvSpPr>
        <p:spPr bwMode="auto">
          <a:xfrm>
            <a:off x="2997200" y="3379788"/>
            <a:ext cx="461963" cy="51593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78" name="Shape 412"/>
          <p:cNvSpPr/>
          <p:nvPr/>
        </p:nvSpPr>
        <p:spPr bwMode="auto">
          <a:xfrm>
            <a:off x="5256213" y="4889500"/>
            <a:ext cx="460375" cy="51593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79" name="Shape 413"/>
          <p:cNvSpPr/>
          <p:nvPr/>
        </p:nvSpPr>
        <p:spPr bwMode="auto">
          <a:xfrm>
            <a:off x="2757488" y="2025650"/>
            <a:ext cx="369887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80" name="Shape 414"/>
          <p:cNvSpPr/>
          <p:nvPr/>
        </p:nvSpPr>
        <p:spPr>
          <a:xfrm>
            <a:off x="3568700" y="8267700"/>
            <a:ext cx="6261100" cy="74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793" tIns="50793" rIns="50793" bIns="50793" anchor="ctr">
            <a:spAutoFit/>
          </a:bodyPr>
          <a:lstStyle>
            <a:lvl1pPr>
              <a:defRPr b="1">
                <a:solidFill>
                  <a:srgbClr val="D4FB7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4200" b="0" kern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Internet Service Provider</a:t>
            </a:r>
          </a:p>
        </p:txBody>
      </p:sp>
    </p:spTree>
    <p:extLst>
      <p:ext uri="{BB962C8B-B14F-4D97-AF65-F5344CB8AC3E}">
        <p14:creationId xmlns:p14="http://schemas.microsoft.com/office/powerpoint/2010/main" val="787237849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 at the network</a:t>
            </a:r>
          </a:p>
        </p:txBody>
      </p:sp>
      <p:sp>
        <p:nvSpPr>
          <p:cNvPr id="49" name="Shape 38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1AC9CF9B-2E61-2745-A65C-A9A1FF7D72A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3" name="Shape 377"/>
          <p:cNvSpPr/>
          <p:nvPr/>
        </p:nvSpPr>
        <p:spPr>
          <a:xfrm>
            <a:off x="4270375" y="4340225"/>
            <a:ext cx="2838450" cy="1862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4" name="Shape 378"/>
          <p:cNvSpPr/>
          <p:nvPr/>
        </p:nvSpPr>
        <p:spPr>
          <a:xfrm>
            <a:off x="1135063" y="2314575"/>
            <a:ext cx="3760787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46" name="Shape 380"/>
          <p:cNvSpPr/>
          <p:nvPr/>
        </p:nvSpPr>
        <p:spPr>
          <a:xfrm>
            <a:off x="2947988" y="2301875"/>
            <a:ext cx="325437" cy="139065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0" name="Shape 384"/>
          <p:cNvSpPr/>
          <p:nvPr/>
        </p:nvSpPr>
        <p:spPr>
          <a:xfrm>
            <a:off x="1104900" y="3162300"/>
            <a:ext cx="2073275" cy="49371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3" name="Shape 387"/>
          <p:cNvSpPr/>
          <p:nvPr/>
        </p:nvSpPr>
        <p:spPr>
          <a:xfrm>
            <a:off x="914400" y="2944813"/>
            <a:ext cx="368300" cy="414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56" name="Shape 390"/>
          <p:cNvSpPr/>
          <p:nvPr/>
        </p:nvSpPr>
        <p:spPr>
          <a:xfrm>
            <a:off x="1203325" y="2092325"/>
            <a:ext cx="1943100" cy="151447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7" name="Shape 391"/>
          <p:cNvSpPr/>
          <p:nvPr/>
        </p:nvSpPr>
        <p:spPr>
          <a:xfrm>
            <a:off x="1884363" y="2214563"/>
            <a:ext cx="1293812" cy="1379537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8" name="Shape 392"/>
          <p:cNvSpPr/>
          <p:nvPr/>
        </p:nvSpPr>
        <p:spPr>
          <a:xfrm>
            <a:off x="1016000" y="1828800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59" name="Shape 393"/>
          <p:cNvSpPr/>
          <p:nvPr/>
        </p:nvSpPr>
        <p:spPr>
          <a:xfrm>
            <a:off x="1698625" y="1984375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70" name="Shape 404"/>
          <p:cNvSpPr/>
          <p:nvPr/>
        </p:nvSpPr>
        <p:spPr>
          <a:xfrm>
            <a:off x="3962400" y="4114800"/>
            <a:ext cx="762000" cy="457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74" name="Shape 408"/>
          <p:cNvSpPr/>
          <p:nvPr/>
        </p:nvSpPr>
        <p:spPr>
          <a:xfrm>
            <a:off x="5486400" y="4571968"/>
            <a:ext cx="1101249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75" name="Shape 409"/>
          <p:cNvSpPr/>
          <p:nvPr/>
        </p:nvSpPr>
        <p:spPr>
          <a:xfrm>
            <a:off x="3197225" y="2579656"/>
            <a:ext cx="642791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link</a:t>
            </a:r>
          </a:p>
        </p:txBody>
      </p:sp>
      <p:grpSp>
        <p:nvGrpSpPr>
          <p:cNvPr id="34831" name="Group 1"/>
          <p:cNvGrpSpPr>
            <a:grpSpLocks/>
          </p:cNvGrpSpPr>
          <p:nvPr/>
        </p:nvGrpSpPr>
        <p:grpSpPr bwMode="auto">
          <a:xfrm>
            <a:off x="5867400" y="4343400"/>
            <a:ext cx="1905000" cy="2209800"/>
            <a:chOff x="5255956" y="4061776"/>
            <a:chExt cx="2516444" cy="2491424"/>
          </a:xfrm>
        </p:grpSpPr>
        <p:sp>
          <p:nvSpPr>
            <p:cNvPr id="47" name="Shape 381"/>
            <p:cNvSpPr/>
            <p:nvPr/>
          </p:nvSpPr>
          <p:spPr>
            <a:xfrm flipH="1" flipV="1">
              <a:off x="5461466" y="5144615"/>
              <a:ext cx="2141075" cy="996927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457130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b="0" kern="0">
                <a:solidFill>
                  <a:sysClr val="windowText" lastClr="000000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2" name="Shape 396"/>
            <p:cNvSpPr/>
            <p:nvPr/>
          </p:nvSpPr>
          <p:spPr>
            <a:xfrm flipH="1">
              <a:off x="5440495" y="4283713"/>
              <a:ext cx="1799257" cy="848373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457130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b="0" kern="0">
                <a:solidFill>
                  <a:sysClr val="windowText" lastClr="000000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3" name="Shape 397"/>
            <p:cNvSpPr/>
            <p:nvPr/>
          </p:nvSpPr>
          <p:spPr>
            <a:xfrm>
              <a:off x="5505504" y="5194730"/>
              <a:ext cx="790582" cy="1131164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457130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b="0" kern="0">
                <a:solidFill>
                  <a:sysClr val="windowText" lastClr="000000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4" name="Shape 398"/>
            <p:cNvSpPr/>
            <p:nvPr/>
          </p:nvSpPr>
          <p:spPr>
            <a:xfrm>
              <a:off x="7071990" y="4061776"/>
              <a:ext cx="369078" cy="413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65" name="Shape 399"/>
            <p:cNvSpPr/>
            <p:nvPr/>
          </p:nvSpPr>
          <p:spPr>
            <a:xfrm>
              <a:off x="6122033" y="6139753"/>
              <a:ext cx="369078" cy="4134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66" name="Shape 400"/>
            <p:cNvSpPr/>
            <p:nvPr/>
          </p:nvSpPr>
          <p:spPr>
            <a:xfrm flipH="1" flipV="1">
              <a:off x="5505504" y="5107029"/>
              <a:ext cx="1723764" cy="493989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457130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b="0" kern="0">
                <a:solidFill>
                  <a:sysClr val="windowText" lastClr="000000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7" name="Shape 401"/>
            <p:cNvSpPr/>
            <p:nvPr/>
          </p:nvSpPr>
          <p:spPr>
            <a:xfrm>
              <a:off x="7071990" y="5425616"/>
              <a:ext cx="369078" cy="413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69" name="Shape 403"/>
            <p:cNvSpPr/>
            <p:nvPr/>
          </p:nvSpPr>
          <p:spPr>
            <a:xfrm>
              <a:off x="7403322" y="5912446"/>
              <a:ext cx="369078" cy="413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78" name="Shape 412"/>
            <p:cNvSpPr/>
            <p:nvPr/>
          </p:nvSpPr>
          <p:spPr>
            <a:xfrm>
              <a:off x="5255956" y="4888671"/>
              <a:ext cx="461348" cy="51725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</p:grpSp>
      <p:sp>
        <p:nvSpPr>
          <p:cNvPr id="79" name="Shape 413"/>
          <p:cNvSpPr/>
          <p:nvPr/>
        </p:nvSpPr>
        <p:spPr>
          <a:xfrm>
            <a:off x="2757488" y="2025650"/>
            <a:ext cx="369887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30" name="Shape 404"/>
          <p:cNvSpPr/>
          <p:nvPr/>
        </p:nvSpPr>
        <p:spPr>
          <a:xfrm flipV="1">
            <a:off x="5334000" y="5334000"/>
            <a:ext cx="609600" cy="76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1" name="Shape 404"/>
          <p:cNvSpPr/>
          <p:nvPr/>
        </p:nvSpPr>
        <p:spPr>
          <a:xfrm>
            <a:off x="5029200" y="4724400"/>
            <a:ext cx="838200" cy="457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80" name="Shape 414"/>
          <p:cNvSpPr/>
          <p:nvPr/>
        </p:nvSpPr>
        <p:spPr>
          <a:xfrm>
            <a:off x="3568700" y="8267700"/>
            <a:ext cx="6261100" cy="74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793" tIns="50793" rIns="50793" bIns="50793" anchor="ctr">
            <a:spAutoFit/>
          </a:bodyPr>
          <a:lstStyle>
            <a:lvl1pPr>
              <a:defRPr b="1">
                <a:solidFill>
                  <a:srgbClr val="D4FB7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4200" b="0" kern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Internet Service Provider</a:t>
            </a:r>
          </a:p>
        </p:txBody>
      </p:sp>
      <p:sp>
        <p:nvSpPr>
          <p:cNvPr id="35" name="Shape 404"/>
          <p:cNvSpPr/>
          <p:nvPr/>
        </p:nvSpPr>
        <p:spPr>
          <a:xfrm flipH="1" flipV="1">
            <a:off x="3352800" y="3733800"/>
            <a:ext cx="381000" cy="2286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6" name="Shape 404"/>
          <p:cNvSpPr/>
          <p:nvPr/>
        </p:nvSpPr>
        <p:spPr>
          <a:xfrm flipH="1">
            <a:off x="3200400" y="4191000"/>
            <a:ext cx="685800" cy="5334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7" name="Shape 404"/>
          <p:cNvSpPr/>
          <p:nvPr/>
        </p:nvSpPr>
        <p:spPr>
          <a:xfrm flipH="1" flipV="1">
            <a:off x="4114800" y="4648200"/>
            <a:ext cx="609600" cy="76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8" name="Shape 404"/>
          <p:cNvSpPr/>
          <p:nvPr/>
        </p:nvSpPr>
        <p:spPr>
          <a:xfrm flipV="1">
            <a:off x="4800600" y="4114800"/>
            <a:ext cx="152400" cy="457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3" name="Shape 410"/>
          <p:cNvSpPr/>
          <p:nvPr/>
        </p:nvSpPr>
        <p:spPr>
          <a:xfrm>
            <a:off x="3733800" y="3810000"/>
            <a:ext cx="460375" cy="517525"/>
          </a:xfrm>
          <a:prstGeom prst="roundRect">
            <a:avLst>
              <a:gd name="adj" fmla="val 30000"/>
            </a:avLst>
          </a:pr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660066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32" name="Shape 410"/>
          <p:cNvSpPr/>
          <p:nvPr/>
        </p:nvSpPr>
        <p:spPr>
          <a:xfrm>
            <a:off x="4572000" y="4419600"/>
            <a:ext cx="460375" cy="517525"/>
          </a:xfrm>
          <a:prstGeom prst="roundRect">
            <a:avLst>
              <a:gd name="adj" fmla="val 30000"/>
            </a:avLst>
          </a:pr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660066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39" name="Shape 408"/>
          <p:cNvSpPr/>
          <p:nvPr/>
        </p:nvSpPr>
        <p:spPr>
          <a:xfrm>
            <a:off x="5939722" y="3581335"/>
            <a:ext cx="1223078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lang="en-US" sz="2800" b="0" kern="0" dirty="0">
                <a:solidFill>
                  <a:srgbClr val="D3A600"/>
                </a:solidFill>
                <a:latin typeface="Arial" charset="0"/>
                <a:ea typeface="Arial" charset="0"/>
                <a:cs typeface="Arial" charset="0"/>
              </a:rPr>
              <a:t>routers</a:t>
            </a:r>
            <a:endParaRPr sz="2800" b="0" kern="0" dirty="0">
              <a:solidFill>
                <a:srgbClr val="D3A600"/>
              </a:solidFill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34843" name="Straight Arrow Connector 4"/>
          <p:cNvCxnSpPr>
            <a:cxnSpLocks noChangeShapeType="1"/>
            <a:stCxn id="39" idx="1"/>
            <a:endCxn id="33" idx="3"/>
          </p:cNvCxnSpPr>
          <p:nvPr/>
        </p:nvCxnSpPr>
        <p:spPr bwMode="auto">
          <a:xfrm flipH="1">
            <a:off x="4194175" y="3848068"/>
            <a:ext cx="1745547" cy="220695"/>
          </a:xfrm>
          <a:prstGeom prst="straightConnector1">
            <a:avLst/>
          </a:prstGeom>
          <a:noFill/>
          <a:ln w="28575">
            <a:solidFill>
              <a:srgbClr val="D3A600"/>
            </a:solidFill>
            <a:prstDash val="sysDash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844" name="Straight Arrow Connector 41"/>
          <p:cNvCxnSpPr>
            <a:cxnSpLocks noChangeShapeType="1"/>
            <a:stCxn id="39" idx="1"/>
            <a:endCxn id="31" idx="0"/>
          </p:cNvCxnSpPr>
          <p:nvPr/>
        </p:nvCxnSpPr>
        <p:spPr bwMode="auto">
          <a:xfrm flipH="1">
            <a:off x="5029200" y="3848068"/>
            <a:ext cx="910522" cy="876332"/>
          </a:xfrm>
          <a:prstGeom prst="straightConnector1">
            <a:avLst/>
          </a:prstGeom>
          <a:noFill/>
          <a:ln w="28575">
            <a:solidFill>
              <a:srgbClr val="D3A600"/>
            </a:solidFill>
            <a:prstDash val="sysDash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8" name="Shape 408"/>
          <p:cNvSpPr/>
          <p:nvPr/>
        </p:nvSpPr>
        <p:spPr>
          <a:xfrm>
            <a:off x="1905000" y="3657568"/>
            <a:ext cx="1101249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51" name="Shape 410"/>
          <p:cNvSpPr/>
          <p:nvPr/>
        </p:nvSpPr>
        <p:spPr bwMode="auto">
          <a:xfrm>
            <a:off x="2997200" y="3379788"/>
            <a:ext cx="461963" cy="51593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778976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Switches vs. Routers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Switches do what routers do but </a:t>
            </a:r>
            <a:r>
              <a:rPr lang="en-US" dirty="0">
                <a:solidFill>
                  <a:srgbClr val="0000FF"/>
                </a:solidFill>
              </a:rPr>
              <a:t>don’t participate in global delivery</a:t>
            </a:r>
            <a:r>
              <a:rPr lang="en-US" dirty="0"/>
              <a:t>, just local delivery</a:t>
            </a:r>
          </a:p>
          <a:p>
            <a:pPr lvl="1"/>
            <a:r>
              <a:rPr lang="en-US" dirty="0"/>
              <a:t>Switches only need to support L1, L2</a:t>
            </a:r>
          </a:p>
          <a:p>
            <a:pPr lvl="1"/>
            <a:r>
              <a:rPr lang="en-US" dirty="0"/>
              <a:t>Routers support L1-L3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Won’t focus on the router/switch distinction</a:t>
            </a:r>
          </a:p>
          <a:p>
            <a:pPr lvl="1"/>
            <a:r>
              <a:rPr lang="en-US" dirty="0"/>
              <a:t>Almost all boxes support network layer these days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87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communication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layer interact</a:t>
            </a:r>
            <a:r>
              <a:rPr lang="en-US" altLang="zh-CN" dirty="0"/>
              <a:t>s</a:t>
            </a:r>
            <a:r>
              <a:rPr lang="en-US" dirty="0"/>
              <a:t> with its peers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corresponding layer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40" name="AutoShape 38"/>
            <p:cNvCxnSpPr>
              <a:cxnSpLocks noChangeShapeType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546006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communication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goes down to physical network</a:t>
            </a:r>
          </a:p>
          <a:p>
            <a:r>
              <a:rPr lang="en-US" dirty="0"/>
              <a:t>Then up to relevant layer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40" name="AutoShape 38"/>
            <p:cNvCxnSpPr>
              <a:cxnSpLocks noChangeShapeType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58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54"/>
          <p:cNvSpPr>
            <a:spLocks noChangeArrowheads="1"/>
          </p:cNvSpPr>
          <p:nvPr/>
        </p:nvSpPr>
        <p:spPr bwMode="auto">
          <a:xfrm>
            <a:off x="4765675" y="4267200"/>
            <a:ext cx="2522538" cy="2162175"/>
          </a:xfrm>
          <a:prstGeom prst="rect">
            <a:avLst/>
          </a:prstGeom>
          <a:solidFill>
            <a:srgbClr val="E6E6E6"/>
          </a:solidFill>
          <a:ln w="254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9436" name="Rectangle 53"/>
          <p:cNvSpPr>
            <a:spLocks noChangeArrowheads="1"/>
          </p:cNvSpPr>
          <p:nvPr/>
        </p:nvSpPr>
        <p:spPr bwMode="auto">
          <a:xfrm>
            <a:off x="2133600" y="4267200"/>
            <a:ext cx="2522538" cy="21621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pPr>
              <a:defRPr/>
            </a:pPr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protocol-centric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70193-71F9-334D-9136-A5F4AF37B5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682625" y="2058988"/>
            <a:ext cx="914400" cy="58261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692150" y="3251200"/>
            <a:ext cx="914400" cy="582613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6" name="Text Box 5"/>
          <p:cNvSpPr txBox="1">
            <a:spLocks noChangeArrowheads="1"/>
          </p:cNvSpPr>
          <p:nvPr/>
        </p:nvSpPr>
        <p:spPr bwMode="auto">
          <a:xfrm>
            <a:off x="795338" y="2159000"/>
            <a:ext cx="787375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 dirty="0">
                <a:latin typeface="Arial" charset="0"/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46087" name="Text Box 6"/>
          <p:cNvSpPr txBox="1">
            <a:spLocks noChangeArrowheads="1"/>
          </p:cNvSpPr>
          <p:nvPr/>
        </p:nvSpPr>
        <p:spPr bwMode="auto">
          <a:xfrm>
            <a:off x="879475" y="3349625"/>
            <a:ext cx="646311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TCP</a:t>
            </a:r>
          </a:p>
        </p:txBody>
      </p:sp>
      <p:grpSp>
        <p:nvGrpSpPr>
          <p:cNvPr id="46088" name="Group 7"/>
          <p:cNvGrpSpPr>
            <a:grpSpLocks/>
          </p:cNvGrpSpPr>
          <p:nvPr/>
        </p:nvGrpSpPr>
        <p:grpSpPr bwMode="auto">
          <a:xfrm>
            <a:off x="677863" y="4438650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9" name="Rectangle 8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50" name="Text Box 9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sp>
        <p:nvSpPr>
          <p:cNvPr id="46089" name="Rectangle 10"/>
          <p:cNvSpPr>
            <a:spLocks noChangeArrowheads="1"/>
          </p:cNvSpPr>
          <p:nvPr/>
        </p:nvSpPr>
        <p:spPr bwMode="auto">
          <a:xfrm>
            <a:off x="658813" y="5649119"/>
            <a:ext cx="906462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090" name="Text Box 11"/>
          <p:cNvSpPr txBox="1">
            <a:spLocks noChangeArrowheads="1"/>
          </p:cNvSpPr>
          <p:nvPr/>
        </p:nvSpPr>
        <p:spPr bwMode="auto">
          <a:xfrm>
            <a:off x="722475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Ethernet</a:t>
            </a:r>
          </a:p>
          <a:p>
            <a:pPr algn="ctr">
              <a:lnSpc>
                <a:spcPct val="90000"/>
              </a:lnSpc>
            </a:pPr>
            <a:r>
              <a:rPr lang="en-US" sz="1600" b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091" name="Line 12"/>
          <p:cNvSpPr>
            <a:spLocks noChangeShapeType="1"/>
          </p:cNvSpPr>
          <p:nvPr/>
        </p:nvSpPr>
        <p:spPr bwMode="auto">
          <a:xfrm>
            <a:off x="1136650" y="26336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2" name="Line 13"/>
          <p:cNvSpPr>
            <a:spLocks noChangeShapeType="1"/>
          </p:cNvSpPr>
          <p:nvPr/>
        </p:nvSpPr>
        <p:spPr bwMode="auto">
          <a:xfrm>
            <a:off x="1136650" y="38401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3" name="Line 14"/>
          <p:cNvSpPr>
            <a:spLocks noChangeShapeType="1"/>
          </p:cNvSpPr>
          <p:nvPr/>
        </p:nvSpPr>
        <p:spPr bwMode="auto">
          <a:xfrm>
            <a:off x="1136650" y="5032375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4" name="Rectangle 15"/>
          <p:cNvSpPr>
            <a:spLocks noChangeArrowheads="1"/>
          </p:cNvSpPr>
          <p:nvPr/>
        </p:nvSpPr>
        <p:spPr bwMode="auto">
          <a:xfrm>
            <a:off x="527050" y="1857375"/>
            <a:ext cx="1303338" cy="4848225"/>
          </a:xfrm>
          <a:prstGeom prst="rect">
            <a:avLst/>
          </a:prstGeom>
          <a:noFill/>
          <a:ln w="19050">
            <a:solidFill>
              <a:srgbClr val="3333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5" name="Rectangle 16"/>
          <p:cNvSpPr>
            <a:spLocks noChangeArrowheads="1"/>
          </p:cNvSpPr>
          <p:nvPr/>
        </p:nvSpPr>
        <p:spPr bwMode="auto">
          <a:xfrm>
            <a:off x="7637463" y="2058988"/>
            <a:ext cx="914400" cy="58261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6" name="Rectangle 17"/>
          <p:cNvSpPr>
            <a:spLocks noChangeArrowheads="1"/>
          </p:cNvSpPr>
          <p:nvPr/>
        </p:nvSpPr>
        <p:spPr bwMode="auto">
          <a:xfrm>
            <a:off x="7646988" y="3251200"/>
            <a:ext cx="914400" cy="582613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7" name="Rectangle 18"/>
          <p:cNvSpPr>
            <a:spLocks noChangeArrowheads="1"/>
          </p:cNvSpPr>
          <p:nvPr/>
        </p:nvSpPr>
        <p:spPr bwMode="auto">
          <a:xfrm>
            <a:off x="7632700" y="4438650"/>
            <a:ext cx="914400" cy="582613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8" name="Rectangle 19"/>
          <p:cNvSpPr>
            <a:spLocks noChangeArrowheads="1"/>
          </p:cNvSpPr>
          <p:nvPr/>
        </p:nvSpPr>
        <p:spPr bwMode="auto">
          <a:xfrm>
            <a:off x="7648575" y="5649119"/>
            <a:ext cx="906463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099" name="Text Box 20"/>
          <p:cNvSpPr txBox="1">
            <a:spLocks noChangeArrowheads="1"/>
          </p:cNvSpPr>
          <p:nvPr/>
        </p:nvSpPr>
        <p:spPr bwMode="auto">
          <a:xfrm>
            <a:off x="7750175" y="2159000"/>
            <a:ext cx="787375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 dirty="0">
                <a:latin typeface="Arial" charset="0"/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46100" name="Text Box 21"/>
          <p:cNvSpPr txBox="1">
            <a:spLocks noChangeArrowheads="1"/>
          </p:cNvSpPr>
          <p:nvPr/>
        </p:nvSpPr>
        <p:spPr bwMode="auto">
          <a:xfrm>
            <a:off x="7834313" y="3349625"/>
            <a:ext cx="646311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TCP</a:t>
            </a:r>
          </a:p>
        </p:txBody>
      </p:sp>
      <p:sp>
        <p:nvSpPr>
          <p:cNvPr id="46101" name="Text Box 22"/>
          <p:cNvSpPr txBox="1">
            <a:spLocks noChangeArrowheads="1"/>
          </p:cNvSpPr>
          <p:nvPr/>
        </p:nvSpPr>
        <p:spPr bwMode="auto">
          <a:xfrm>
            <a:off x="7929563" y="4554538"/>
            <a:ext cx="402654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IP</a:t>
            </a:r>
          </a:p>
        </p:txBody>
      </p:sp>
      <p:sp>
        <p:nvSpPr>
          <p:cNvPr id="46102" name="Text Box 23"/>
          <p:cNvSpPr txBox="1">
            <a:spLocks noChangeArrowheads="1"/>
          </p:cNvSpPr>
          <p:nvPr/>
        </p:nvSpPr>
        <p:spPr bwMode="auto">
          <a:xfrm>
            <a:off x="7728113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Ethernet</a:t>
            </a:r>
          </a:p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103" name="Line 24"/>
          <p:cNvSpPr>
            <a:spLocks noChangeShapeType="1"/>
          </p:cNvSpPr>
          <p:nvPr/>
        </p:nvSpPr>
        <p:spPr bwMode="auto">
          <a:xfrm>
            <a:off x="8091488" y="26336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4" name="Line 25"/>
          <p:cNvSpPr>
            <a:spLocks noChangeShapeType="1"/>
          </p:cNvSpPr>
          <p:nvPr/>
        </p:nvSpPr>
        <p:spPr bwMode="auto">
          <a:xfrm>
            <a:off x="8091488" y="38401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5" name="Line 26"/>
          <p:cNvSpPr>
            <a:spLocks noChangeShapeType="1"/>
          </p:cNvSpPr>
          <p:nvPr/>
        </p:nvSpPr>
        <p:spPr bwMode="auto">
          <a:xfrm>
            <a:off x="8091488" y="5032375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6" name="Rectangle 27"/>
          <p:cNvSpPr>
            <a:spLocks noChangeArrowheads="1"/>
          </p:cNvSpPr>
          <p:nvPr/>
        </p:nvSpPr>
        <p:spPr bwMode="auto">
          <a:xfrm>
            <a:off x="7481888" y="1857375"/>
            <a:ext cx="1303337" cy="4848225"/>
          </a:xfrm>
          <a:prstGeom prst="rect">
            <a:avLst/>
          </a:prstGeom>
          <a:noFill/>
          <a:ln w="19050">
            <a:solidFill>
              <a:srgbClr val="3333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7" name="Line 28"/>
          <p:cNvSpPr>
            <a:spLocks noChangeShapeType="1"/>
          </p:cNvSpPr>
          <p:nvPr/>
        </p:nvSpPr>
        <p:spPr bwMode="auto">
          <a:xfrm>
            <a:off x="1128713" y="6254750"/>
            <a:ext cx="0" cy="373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8" name="Line 29"/>
          <p:cNvSpPr>
            <a:spLocks noChangeShapeType="1"/>
          </p:cNvSpPr>
          <p:nvPr/>
        </p:nvSpPr>
        <p:spPr bwMode="auto">
          <a:xfrm>
            <a:off x="796925" y="6627813"/>
            <a:ext cx="2327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grpSp>
        <p:nvGrpSpPr>
          <p:cNvPr id="46109" name="Group 30"/>
          <p:cNvGrpSpPr>
            <a:grpSpLocks/>
          </p:cNvGrpSpPr>
          <p:nvPr/>
        </p:nvGrpSpPr>
        <p:grpSpPr bwMode="auto">
          <a:xfrm>
            <a:off x="2894013" y="4467225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7" name="Rectangle 31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48" name="Text Box 32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grpSp>
        <p:nvGrpSpPr>
          <p:cNvPr id="46110" name="Group 33"/>
          <p:cNvGrpSpPr>
            <a:grpSpLocks/>
          </p:cNvGrpSpPr>
          <p:nvPr/>
        </p:nvGrpSpPr>
        <p:grpSpPr bwMode="auto">
          <a:xfrm>
            <a:off x="5538788" y="4467225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5" name="Rectangle 34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46" name="Text Box 35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sp>
        <p:nvSpPr>
          <p:cNvPr id="46111" name="Rectangle 36"/>
          <p:cNvSpPr>
            <a:spLocks noChangeArrowheads="1"/>
          </p:cNvSpPr>
          <p:nvPr/>
        </p:nvSpPr>
        <p:spPr bwMode="auto">
          <a:xfrm>
            <a:off x="2295525" y="5649119"/>
            <a:ext cx="906463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112" name="Text Box 37"/>
          <p:cNvSpPr txBox="1">
            <a:spLocks noChangeArrowheads="1"/>
          </p:cNvSpPr>
          <p:nvPr/>
        </p:nvSpPr>
        <p:spPr bwMode="auto">
          <a:xfrm>
            <a:off x="2351250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Ethernet</a:t>
            </a:r>
          </a:p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grpSp>
        <p:nvGrpSpPr>
          <p:cNvPr id="46113" name="Group 38"/>
          <p:cNvGrpSpPr>
            <a:grpSpLocks/>
          </p:cNvGrpSpPr>
          <p:nvPr/>
        </p:nvGrpSpPr>
        <p:grpSpPr bwMode="auto">
          <a:xfrm>
            <a:off x="6126739" y="5649119"/>
            <a:ext cx="1016864" cy="606425"/>
            <a:chOff x="280" y="3421"/>
            <a:chExt cx="646" cy="367"/>
          </a:xfrm>
          <a:solidFill>
            <a:schemeClr val="accent2">
              <a:lumMod val="75000"/>
              <a:lumOff val="25000"/>
            </a:schemeClr>
          </a:solidFill>
        </p:grpSpPr>
        <p:sp>
          <p:nvSpPr>
            <p:cNvPr id="46143" name="Rectangle 39"/>
            <p:cNvSpPr>
              <a:spLocks noChangeArrowheads="1"/>
            </p:cNvSpPr>
            <p:nvPr/>
          </p:nvSpPr>
          <p:spPr bwMode="auto">
            <a:xfrm>
              <a:off x="280" y="3421"/>
              <a:ext cx="64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rIns="0" anchor="ctr"/>
            <a:lstStyle/>
            <a:p>
              <a:pPr algn="ctr"/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46144" name="Text Box 40"/>
            <p:cNvSpPr txBox="1">
              <a:spLocks noChangeArrowheads="1"/>
            </p:cNvSpPr>
            <p:nvPr/>
          </p:nvSpPr>
          <p:spPr bwMode="auto">
            <a:xfrm>
              <a:off x="325" y="3429"/>
              <a:ext cx="565" cy="3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600" b="0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Ethernet</a:t>
              </a:r>
            </a:p>
            <a:p>
              <a:pPr algn="ctr">
                <a:lnSpc>
                  <a:spcPct val="90000"/>
                </a:lnSpc>
              </a:pPr>
              <a:r>
                <a:rPr lang="en-US" sz="1600" b="0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interface</a:t>
              </a:r>
            </a:p>
          </p:txBody>
        </p:sp>
      </p:grpSp>
      <p:sp>
        <p:nvSpPr>
          <p:cNvPr id="46114" name="Line 41"/>
          <p:cNvSpPr>
            <a:spLocks noChangeShapeType="1"/>
          </p:cNvSpPr>
          <p:nvPr/>
        </p:nvSpPr>
        <p:spPr bwMode="auto">
          <a:xfrm flipH="1">
            <a:off x="2733675" y="6283325"/>
            <a:ext cx="1588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15" name="Line 42"/>
          <p:cNvSpPr>
            <a:spLocks noChangeShapeType="1"/>
          </p:cNvSpPr>
          <p:nvPr/>
        </p:nvSpPr>
        <p:spPr bwMode="auto">
          <a:xfrm flipH="1">
            <a:off x="2714625" y="5046663"/>
            <a:ext cx="541338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16" name="Line 43"/>
          <p:cNvSpPr>
            <a:spLocks noChangeShapeType="1"/>
          </p:cNvSpPr>
          <p:nvPr/>
        </p:nvSpPr>
        <p:spPr bwMode="auto">
          <a:xfrm>
            <a:off x="3517900" y="5060950"/>
            <a:ext cx="541338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17" name="Rectangle 44"/>
          <p:cNvSpPr>
            <a:spLocks noChangeArrowheads="1"/>
          </p:cNvSpPr>
          <p:nvPr/>
        </p:nvSpPr>
        <p:spPr bwMode="auto">
          <a:xfrm>
            <a:off x="3603625" y="5649119"/>
            <a:ext cx="906463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118" name="Text Box 45"/>
          <p:cNvSpPr txBox="1">
            <a:spLocks noChangeArrowheads="1"/>
          </p:cNvSpPr>
          <p:nvPr/>
        </p:nvSpPr>
        <p:spPr bwMode="auto">
          <a:xfrm>
            <a:off x="3679988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SONET</a:t>
            </a:r>
          </a:p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119" name="Rectangle 46"/>
          <p:cNvSpPr>
            <a:spLocks noChangeArrowheads="1"/>
          </p:cNvSpPr>
          <p:nvPr/>
        </p:nvSpPr>
        <p:spPr bwMode="auto">
          <a:xfrm>
            <a:off x="4878388" y="5649119"/>
            <a:ext cx="906462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120" name="Text Box 47"/>
          <p:cNvSpPr txBox="1">
            <a:spLocks noChangeArrowheads="1"/>
          </p:cNvSpPr>
          <p:nvPr/>
        </p:nvSpPr>
        <p:spPr bwMode="auto">
          <a:xfrm>
            <a:off x="4946813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SONET</a:t>
            </a:r>
          </a:p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121" name="Line 48"/>
          <p:cNvSpPr>
            <a:spLocks noChangeShapeType="1"/>
          </p:cNvSpPr>
          <p:nvPr/>
        </p:nvSpPr>
        <p:spPr bwMode="auto">
          <a:xfrm flipH="1">
            <a:off x="6669088" y="6243638"/>
            <a:ext cx="0" cy="3603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2" name="Line 49"/>
          <p:cNvSpPr>
            <a:spLocks noChangeShapeType="1"/>
          </p:cNvSpPr>
          <p:nvPr/>
        </p:nvSpPr>
        <p:spPr bwMode="auto">
          <a:xfrm flipH="1">
            <a:off x="6211888" y="6589713"/>
            <a:ext cx="2327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3" name="Line 50"/>
          <p:cNvSpPr>
            <a:spLocks noChangeShapeType="1"/>
          </p:cNvSpPr>
          <p:nvPr/>
        </p:nvSpPr>
        <p:spPr bwMode="auto">
          <a:xfrm>
            <a:off x="8121650" y="6246813"/>
            <a:ext cx="1588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4" name="Line 51"/>
          <p:cNvSpPr>
            <a:spLocks noChangeShapeType="1"/>
          </p:cNvSpPr>
          <p:nvPr/>
        </p:nvSpPr>
        <p:spPr bwMode="auto">
          <a:xfrm flipH="1">
            <a:off x="5291138" y="5073650"/>
            <a:ext cx="541337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5" name="Line 52"/>
          <p:cNvSpPr>
            <a:spLocks noChangeShapeType="1"/>
          </p:cNvSpPr>
          <p:nvPr/>
        </p:nvSpPr>
        <p:spPr bwMode="auto">
          <a:xfrm>
            <a:off x="6108700" y="5073650"/>
            <a:ext cx="527050" cy="595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6" name="Line 55"/>
          <p:cNvSpPr>
            <a:spLocks noChangeShapeType="1"/>
          </p:cNvSpPr>
          <p:nvPr/>
        </p:nvSpPr>
        <p:spPr bwMode="auto">
          <a:xfrm flipH="1">
            <a:off x="4043363" y="6245225"/>
            <a:ext cx="1587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7" name="Line 56"/>
          <p:cNvSpPr>
            <a:spLocks noChangeShapeType="1"/>
          </p:cNvSpPr>
          <p:nvPr/>
        </p:nvSpPr>
        <p:spPr bwMode="auto">
          <a:xfrm flipH="1">
            <a:off x="5303838" y="6257925"/>
            <a:ext cx="1587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8" name="Line 57"/>
          <p:cNvSpPr>
            <a:spLocks noChangeShapeType="1"/>
          </p:cNvSpPr>
          <p:nvPr/>
        </p:nvSpPr>
        <p:spPr bwMode="auto">
          <a:xfrm>
            <a:off x="4060825" y="6589713"/>
            <a:ext cx="12461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9" name="Text Box 58"/>
          <p:cNvSpPr txBox="1">
            <a:spLocks noChangeArrowheads="1"/>
          </p:cNvSpPr>
          <p:nvPr/>
        </p:nvSpPr>
        <p:spPr bwMode="auto">
          <a:xfrm>
            <a:off x="849313" y="1481138"/>
            <a:ext cx="726461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host</a:t>
            </a:r>
          </a:p>
        </p:txBody>
      </p:sp>
      <p:sp>
        <p:nvSpPr>
          <p:cNvPr id="46130" name="Text Box 59"/>
          <p:cNvSpPr txBox="1">
            <a:spLocks noChangeArrowheads="1"/>
          </p:cNvSpPr>
          <p:nvPr/>
        </p:nvSpPr>
        <p:spPr bwMode="auto">
          <a:xfrm>
            <a:off x="7804150" y="1466850"/>
            <a:ext cx="726461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host</a:t>
            </a:r>
          </a:p>
        </p:txBody>
      </p:sp>
      <p:sp>
        <p:nvSpPr>
          <p:cNvPr id="46131" name="Text Box 60"/>
          <p:cNvSpPr txBox="1">
            <a:spLocks noChangeArrowheads="1"/>
          </p:cNvSpPr>
          <p:nvPr/>
        </p:nvSpPr>
        <p:spPr bwMode="auto">
          <a:xfrm>
            <a:off x="2970213" y="3863975"/>
            <a:ext cx="925233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router</a:t>
            </a:r>
          </a:p>
        </p:txBody>
      </p:sp>
      <p:sp>
        <p:nvSpPr>
          <p:cNvPr id="46132" name="Text Box 61"/>
          <p:cNvSpPr txBox="1">
            <a:spLocks noChangeArrowheads="1"/>
          </p:cNvSpPr>
          <p:nvPr/>
        </p:nvSpPr>
        <p:spPr bwMode="auto">
          <a:xfrm>
            <a:off x="5600700" y="3878263"/>
            <a:ext cx="925233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router</a:t>
            </a:r>
          </a:p>
        </p:txBody>
      </p:sp>
      <p:sp>
        <p:nvSpPr>
          <p:cNvPr id="46133" name="Line 62"/>
          <p:cNvSpPr>
            <a:spLocks noChangeShapeType="1"/>
          </p:cNvSpPr>
          <p:nvPr/>
        </p:nvSpPr>
        <p:spPr bwMode="auto">
          <a:xfrm>
            <a:off x="1608138" y="2355850"/>
            <a:ext cx="6040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4" name="Line 63"/>
          <p:cNvSpPr>
            <a:spLocks noChangeShapeType="1"/>
          </p:cNvSpPr>
          <p:nvPr/>
        </p:nvSpPr>
        <p:spPr bwMode="auto">
          <a:xfrm>
            <a:off x="1636713" y="3546475"/>
            <a:ext cx="6040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5" name="Text Box 64"/>
          <p:cNvSpPr txBox="1">
            <a:spLocks noChangeArrowheads="1"/>
          </p:cNvSpPr>
          <p:nvPr/>
        </p:nvSpPr>
        <p:spPr bwMode="auto">
          <a:xfrm>
            <a:off x="3994150" y="1987550"/>
            <a:ext cx="1649277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HTTP message</a:t>
            </a:r>
          </a:p>
        </p:txBody>
      </p:sp>
      <p:sp>
        <p:nvSpPr>
          <p:cNvPr id="46136" name="Text Box 65"/>
          <p:cNvSpPr txBox="1">
            <a:spLocks noChangeArrowheads="1"/>
          </p:cNvSpPr>
          <p:nvPr/>
        </p:nvSpPr>
        <p:spPr bwMode="auto">
          <a:xfrm>
            <a:off x="4092575" y="3192463"/>
            <a:ext cx="1490581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TCP segment</a:t>
            </a:r>
          </a:p>
        </p:txBody>
      </p:sp>
      <p:sp>
        <p:nvSpPr>
          <p:cNvPr id="46137" name="Line 66"/>
          <p:cNvSpPr>
            <a:spLocks noChangeShapeType="1"/>
          </p:cNvSpPr>
          <p:nvPr/>
        </p:nvSpPr>
        <p:spPr bwMode="auto">
          <a:xfrm flipV="1">
            <a:off x="1609725" y="4751388"/>
            <a:ext cx="13017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8" name="Line 67"/>
          <p:cNvSpPr>
            <a:spLocks noChangeShapeType="1"/>
          </p:cNvSpPr>
          <p:nvPr/>
        </p:nvSpPr>
        <p:spPr bwMode="auto">
          <a:xfrm flipV="1">
            <a:off x="3840163" y="4751388"/>
            <a:ext cx="1693863" cy="142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9" name="Line 68"/>
          <p:cNvSpPr>
            <a:spLocks noChangeShapeType="1"/>
          </p:cNvSpPr>
          <p:nvPr/>
        </p:nvSpPr>
        <p:spPr bwMode="auto">
          <a:xfrm flipV="1">
            <a:off x="6457950" y="4751388"/>
            <a:ext cx="1176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40" name="Text Box 69"/>
          <p:cNvSpPr txBox="1">
            <a:spLocks noChangeArrowheads="1"/>
          </p:cNvSpPr>
          <p:nvPr/>
        </p:nvSpPr>
        <p:spPr bwMode="auto">
          <a:xfrm>
            <a:off x="1765300" y="4343400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46141" name="Text Box 70"/>
          <p:cNvSpPr txBox="1">
            <a:spLocks noChangeArrowheads="1"/>
          </p:cNvSpPr>
          <p:nvPr/>
        </p:nvSpPr>
        <p:spPr bwMode="auto">
          <a:xfrm>
            <a:off x="6553200" y="4371975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46142" name="Text Box 71"/>
          <p:cNvSpPr txBox="1">
            <a:spLocks noChangeArrowheads="1"/>
          </p:cNvSpPr>
          <p:nvPr/>
        </p:nvSpPr>
        <p:spPr bwMode="auto">
          <a:xfrm>
            <a:off x="4189413" y="4357687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</p:spTree>
    <p:extLst>
      <p:ext uri="{BB962C8B-B14F-4D97-AF65-F5344CB8AC3E}">
        <p14:creationId xmlns:p14="http://schemas.microsoft.com/office/powerpoint/2010/main" val="155431010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hape 28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 of layering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Why layers?</a:t>
            </a:r>
          </a:p>
        </p:txBody>
      </p:sp>
      <p:sp>
        <p:nvSpPr>
          <p:cNvPr id="290" name="Shape 29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Reduce complexity</a:t>
            </a:r>
          </a:p>
          <a:p>
            <a:r>
              <a:rPr lang="en-US" sz="2400" dirty="0"/>
              <a:t>Improve flexibility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800" dirty="0"/>
              <a:t>Why not?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400" dirty="0"/>
              <a:t>Higher overheads</a:t>
            </a:r>
          </a:p>
          <a:p>
            <a:r>
              <a:rPr lang="en-US" sz="2400" dirty="0"/>
              <a:t>Cross-layer information often useful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D11CF967-1287-0948-92AE-55309D196149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44004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290" grpId="0" uiExpand="1" build="p"/>
      <p:bldP spid="10" grpId="0" build="p"/>
      <p:bldP spid="11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is the narrow waist of the layering hourglass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1752401" y="1752600"/>
            <a:ext cx="5639199" cy="4236719"/>
            <a:chOff x="1752401" y="1752600"/>
            <a:chExt cx="5639199" cy="4236719"/>
          </a:xfrm>
        </p:grpSpPr>
        <p:sp>
          <p:nvSpPr>
            <p:cNvPr id="6" name="Rectangle 29"/>
            <p:cNvSpPr>
              <a:spLocks noChangeArrowheads="1"/>
            </p:cNvSpPr>
            <p:nvPr/>
          </p:nvSpPr>
          <p:spPr bwMode="auto">
            <a:xfrm>
              <a:off x="3846924" y="3502343"/>
              <a:ext cx="1729691" cy="737235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7" name="Rectangle 25"/>
            <p:cNvSpPr>
              <a:spLocks noChangeArrowheads="1"/>
            </p:cNvSpPr>
            <p:nvPr/>
          </p:nvSpPr>
          <p:spPr bwMode="auto">
            <a:xfrm>
              <a:off x="2971994" y="2703671"/>
              <a:ext cx="3428806" cy="7372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8" name="Rectangle 1"/>
            <p:cNvSpPr>
              <a:spLocks noChangeArrowheads="1"/>
            </p:cNvSpPr>
            <p:nvPr/>
          </p:nvSpPr>
          <p:spPr bwMode="auto">
            <a:xfrm>
              <a:off x="1752794" y="1905000"/>
              <a:ext cx="5638806" cy="737235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2743199" y="4301014"/>
              <a:ext cx="3657601" cy="737235"/>
            </a:xfrm>
            <a:prstGeom prst="rect">
              <a:avLst/>
            </a:pr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0" name="Rectangle 29"/>
            <p:cNvSpPr>
              <a:spLocks noChangeArrowheads="1"/>
            </p:cNvSpPr>
            <p:nvPr/>
          </p:nvSpPr>
          <p:spPr bwMode="auto">
            <a:xfrm>
              <a:off x="1752550" y="5099685"/>
              <a:ext cx="5639044" cy="737235"/>
            </a:xfrm>
            <a:prstGeom prst="rect">
              <a:avLst/>
            </a:prstGeom>
            <a:solidFill>
              <a:schemeClr val="accent2">
                <a:lumMod val="90000"/>
                <a:lumOff val="1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427646" y="2157991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SMTP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706646" y="2129139"/>
              <a:ext cx="78739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HTTP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594" y="2858889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TCP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76615" y="2857388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UDP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50520" y="3687246"/>
              <a:ext cx="402674" cy="369332"/>
            </a:xfrm>
            <a:prstGeom prst="rect">
              <a:avLst/>
            </a:prstGeom>
            <a:solidFill>
              <a:srgbClr val="D3A600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IP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26063" y="4484965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PPP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82319" y="4488601"/>
              <a:ext cx="72327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FDDI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71994" y="4492569"/>
              <a:ext cx="1120820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Ethernet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18398" y="5283636"/>
              <a:ext cx="80021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PSTN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857670" y="5304528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Radio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630230" y="5304528"/>
              <a:ext cx="9925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Copper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428438" y="5304528"/>
              <a:ext cx="9669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Optical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072286" y="2141634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NTP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47174" y="2135052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DNS</a:t>
              </a:r>
            </a:p>
          </p:txBody>
        </p:sp>
        <p:cxnSp>
          <p:nvCxnSpPr>
            <p:cNvPr id="30" name="Straight Connector 29"/>
            <p:cNvCxnSpPr/>
            <p:nvPr/>
          </p:nvCxnSpPr>
          <p:spPr bwMode="auto">
            <a:xfrm>
              <a:off x="1752401" y="1905000"/>
              <a:ext cx="209452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 bwMode="auto">
            <a:xfrm flipH="1">
              <a:off x="1752401" y="3886200"/>
              <a:ext cx="209452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>
              <a:off x="5526063" y="3886200"/>
              <a:ext cx="186514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 flipH="1">
              <a:off x="5526063" y="1905000"/>
              <a:ext cx="186514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1752401" y="1752600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752401" y="5836919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459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of hourglass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network-layer protocol (IP)</a:t>
            </a:r>
          </a:p>
          <a:p>
            <a:r>
              <a:rPr lang="en-US" dirty="0"/>
              <a:t>Allows arbitrary networks to interoperate</a:t>
            </a:r>
          </a:p>
          <a:p>
            <a:pPr lvl="1"/>
            <a:r>
              <a:rPr lang="en-US" dirty="0"/>
              <a:t>Any network that supports IP can exchange packets</a:t>
            </a:r>
          </a:p>
          <a:p>
            <a:r>
              <a:rPr lang="en-US" dirty="0">
                <a:solidFill>
                  <a:srgbClr val="0000FF"/>
                </a:solidFill>
              </a:rPr>
              <a:t>Decouples</a:t>
            </a:r>
            <a:r>
              <a:rPr lang="en-US" dirty="0"/>
              <a:t> applications from low-level networking technologies</a:t>
            </a:r>
          </a:p>
          <a:p>
            <a:pPr lvl="1"/>
            <a:r>
              <a:rPr lang="en-US" dirty="0"/>
              <a:t>Applications function on all networks</a:t>
            </a:r>
          </a:p>
          <a:p>
            <a:r>
              <a:rPr lang="en-US" dirty="0"/>
              <a:t>Supports simultaneous innovations above and below IP</a:t>
            </a:r>
          </a:p>
          <a:p>
            <a:r>
              <a:rPr lang="en-US" dirty="0"/>
              <a:t>But changing IP itself is hard (e.g., IPv4 </a:t>
            </a:r>
            <a:r>
              <a:rPr lang="en-US" dirty="0">
                <a:sym typeface="Wingdings"/>
              </a:rPr>
              <a:t> IPv6)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9037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Placing network functionality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End-to-end arguments </a:t>
            </a:r>
            <a:r>
              <a:rPr lang="en-US" dirty="0"/>
              <a:t>by </a:t>
            </a:r>
            <a:r>
              <a:rPr lang="en-US" dirty="0" err="1"/>
              <a:t>Saltzer</a:t>
            </a:r>
            <a:r>
              <a:rPr lang="en-US" dirty="0"/>
              <a:t>, Reed, and Clark</a:t>
            </a:r>
          </a:p>
          <a:p>
            <a:pPr lvl="1"/>
            <a:r>
              <a:rPr lang="en-US" dirty="0"/>
              <a:t>Dumb network and smart end systems</a:t>
            </a:r>
          </a:p>
          <a:p>
            <a:pPr lvl="1"/>
            <a:r>
              <a:rPr lang="en-US" dirty="0"/>
              <a:t>Functions that can be </a:t>
            </a:r>
            <a:r>
              <a:rPr lang="en-US" i="1" dirty="0">
                <a:solidFill>
                  <a:srgbClr val="0000FF"/>
                </a:solidFill>
              </a:rPr>
              <a:t>completely</a:t>
            </a:r>
            <a:r>
              <a:rPr lang="en-US" dirty="0"/>
              <a:t> and </a:t>
            </a:r>
            <a:r>
              <a:rPr lang="en-US" i="1" dirty="0">
                <a:solidFill>
                  <a:srgbClr val="0000FF"/>
                </a:solidFill>
              </a:rPr>
              <a:t>correctly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implemented </a:t>
            </a:r>
            <a:r>
              <a:rPr lang="en-US" i="1" dirty="0">
                <a:solidFill>
                  <a:srgbClr val="0000FF"/>
                </a:solidFill>
              </a:rPr>
              <a:t>only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with the knowledge of application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en-US" dirty="0"/>
              <a:t> end host, should not be pushed into the network</a:t>
            </a:r>
          </a:p>
          <a:p>
            <a:pPr lvl="1"/>
            <a:r>
              <a:rPr lang="en-US" dirty="0"/>
              <a:t>Sometimes necessary to break this for performance and policy optimizations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Fate sharing</a:t>
            </a:r>
            <a:r>
              <a:rPr lang="en-US" dirty="0"/>
              <a:t>: fail together or don’t fail at all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64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Summary</a:t>
            </a:r>
          </a:p>
        </p:txBody>
      </p:sp>
      <p:sp>
        <p:nvSpPr>
          <p:cNvPr id="259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Layering is a good way to organize networks</a:t>
            </a:r>
          </a:p>
          <a:p>
            <a:pPr lvl="0"/>
            <a:r>
              <a:rPr lang="en-US" dirty="0"/>
              <a:t>Unified Internet layer decouples applications from networks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allows</a:t>
            </a:r>
            <a:r>
              <a:rPr lang="zh-CN" altLang="en-US" dirty="0"/>
              <a:t> </a:t>
            </a:r>
            <a:r>
              <a:rPr lang="en-US" altLang="zh-CN" dirty="0"/>
              <a:t>technologies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evolve</a:t>
            </a:r>
            <a:r>
              <a:rPr lang="zh-CN" altLang="en-US" dirty="0"/>
              <a:t> </a:t>
            </a:r>
            <a:r>
              <a:rPr lang="en-US" altLang="zh-CN" dirty="0"/>
              <a:t>independently</a:t>
            </a:r>
            <a:endParaRPr lang="en-US" dirty="0"/>
          </a:p>
          <a:p>
            <a:pPr lvl="0"/>
            <a:r>
              <a:rPr lang="en-US" dirty="0"/>
              <a:t>E2E argument encourages us to keep IP simple</a:t>
            </a:r>
          </a:p>
        </p:txBody>
      </p:sp>
      <p:sp>
        <p:nvSpPr>
          <p:cNvPr id="260" name="Shape 260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 lang="en-US" smtClean="0"/>
              <a:pPr lvl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57808"/>
      </p:ext>
    </p:extLst>
  </p:cSld>
  <p:clrMapOvr>
    <a:masterClrMapping/>
  </p:clrMapOvr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2544B9EB-22C5-894E-8225-D41CCBCFB37A}" vid="{814176C4-F8E2-3E49-9BEB-3A929C7DAC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1490459535</TotalTime>
  <Pages>7</Pages>
  <Words>1417</Words>
  <Application>Microsoft Macintosh PowerPoint</Application>
  <PresentationFormat>On-screen Show (4:3)</PresentationFormat>
  <Paragraphs>517</Paragraphs>
  <Slides>40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ＭＳ Ｐゴシック</vt:lpstr>
      <vt:lpstr>Arial</vt:lpstr>
      <vt:lpstr>Arial Black</vt:lpstr>
      <vt:lpstr>Calibri</vt:lpstr>
      <vt:lpstr>Courier New</vt:lpstr>
      <vt:lpstr>Gill Sans</vt:lpstr>
      <vt:lpstr>Helvetica</vt:lpstr>
      <vt:lpstr>Helvetica Neue</vt:lpstr>
      <vt:lpstr>Monotype Sorts</vt:lpstr>
      <vt:lpstr>Times New Roman</vt:lpstr>
      <vt:lpstr>Wingdings</vt:lpstr>
      <vt:lpstr>csci teaching</vt:lpstr>
      <vt:lpstr>CSCI4430 Computer Networks  Lecture 2: Layering</vt:lpstr>
      <vt:lpstr>Agenda</vt:lpstr>
      <vt:lpstr>What we want</vt:lpstr>
      <vt:lpstr>(Some of) What happens…</vt:lpstr>
      <vt:lpstr>(More of) What happens</vt:lpstr>
      <vt:lpstr>What we get</vt:lpstr>
      <vt:lpstr>Inspiration…</vt:lpstr>
      <vt:lpstr>Inspiration…</vt:lpstr>
      <vt:lpstr>The path of the letter</vt:lpstr>
      <vt:lpstr>The path of the letter</vt:lpstr>
      <vt:lpstr>Three steps</vt:lpstr>
      <vt:lpstr>Back to the Internet: Decomposition</vt:lpstr>
      <vt:lpstr>Communication organization</vt:lpstr>
      <vt:lpstr>OSI layers</vt:lpstr>
      <vt:lpstr>Layers</vt:lpstr>
      <vt:lpstr>Layers and protocols </vt:lpstr>
      <vt:lpstr>What is a Protocol?</vt:lpstr>
      <vt:lpstr>What is a Protocol?</vt:lpstr>
      <vt:lpstr>What is a Protocol?</vt:lpstr>
      <vt:lpstr>Protocols at different layers</vt:lpstr>
      <vt:lpstr>ONE network layer protocol</vt:lpstr>
      <vt:lpstr>Layer encapsulation:  Protocol headers</vt:lpstr>
      <vt:lpstr>Three steps</vt:lpstr>
      <vt:lpstr>What gets implemented where?</vt:lpstr>
      <vt:lpstr>What gets implemented  at the end systems?</vt:lpstr>
      <vt:lpstr>What gets implemented in  the network? </vt:lpstr>
      <vt:lpstr>Simple Diagram</vt:lpstr>
      <vt:lpstr>A closer look: End system</vt:lpstr>
      <vt:lpstr>What gets implemented in  the network? </vt:lpstr>
      <vt:lpstr>A closer look at the network</vt:lpstr>
      <vt:lpstr>A closer look at the network</vt:lpstr>
      <vt:lpstr>Switches vs. Routers</vt:lpstr>
      <vt:lpstr>Logical communication</vt:lpstr>
      <vt:lpstr>Physical communication</vt:lpstr>
      <vt:lpstr>A protocol-centric diagram</vt:lpstr>
      <vt:lpstr>Pros and cons of layering</vt:lpstr>
      <vt:lpstr>IP is the narrow waist of the layering hourglass</vt:lpstr>
      <vt:lpstr>Implications of hourglass </vt:lpstr>
      <vt:lpstr>Placing network functionality</vt:lpstr>
      <vt:lpstr>Summary</vt:lpstr>
    </vt:vector>
  </TitlesOfParts>
  <Manager/>
  <Company>CUHK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CSCI4430 Computer Networks  Lecture 2: Layering</dc:title>
  <dc:subject/>
  <dc:creator>Hong Xu</dc:creator>
  <cp:keywords/>
  <dc:description/>
  <cp:lastModifiedBy>Hong Xu</cp:lastModifiedBy>
  <cp:revision>1421</cp:revision>
  <cp:lastPrinted>1999-09-08T17:25:07Z</cp:lastPrinted>
  <dcterms:created xsi:type="dcterms:W3CDTF">2014-01-14T18:15:50Z</dcterms:created>
  <dcterms:modified xsi:type="dcterms:W3CDTF">2025-09-06T08:37:36Z</dcterms:modified>
  <cp:category/>
</cp:coreProperties>
</file>
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74" r:id="rId3"/>
    <p:sldId id="258" r:id="rId4"/>
    <p:sldId id="257" r:id="rId5"/>
    <p:sldId id="276" r:id="rId6"/>
    <p:sldId id="280" r:id="rId7"/>
    <p:sldId id="281" r:id="rId8"/>
    <p:sldId id="277" r:id="rId9"/>
    <p:sldId id="259" r:id="rId10"/>
    <p:sldId id="275" r:id="rId11"/>
    <p:sldId id="278" r:id="rId12"/>
    <p:sldId id="279" r:id="rId13"/>
    <p:sldId id="261" r:id="rId14"/>
    <p:sldId id="260" r:id="rId15"/>
    <p:sldId id="262" r:id="rId16"/>
    <p:sldId id="273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/>
    <p:restoredTop sz="91575" autoAdjust="0"/>
  </p:normalViewPr>
  <p:slideViewPr>
    <p:cSldViewPr snapToGrid="0" snapToObjects="1">
      <p:cViewPr varScale="1">
        <p:scale>
          <a:sx n="49" d="100"/>
          <a:sy n="49" d="100"/>
        </p:scale>
        <p:origin x="72" y="7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0D143A-5D18-4912-9473-1905C04CDE60}" type="datetimeFigureOut">
              <a:rPr lang="en-HK" smtClean="0"/>
              <a:t>1/9/2025</a:t>
            </a:fld>
            <a:endParaRPr lang="en-HK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K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HK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36E016-9EF2-45A3-893F-C118A721FECB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028416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36E016-9EF2-45A3-893F-C118A721FECB}" type="slidenum">
              <a:rPr lang="en-HK" smtClean="0"/>
              <a:t>2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5441546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36E016-9EF2-45A3-893F-C118A721FECB}" type="slidenum">
              <a:rPr lang="en-HK" smtClean="0"/>
              <a:t>7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8134392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eb.eecs.umich.edu/~justincj/teaching/eecs498/FA2020/autograder.html" TargetMode="External"/><Relationship Id="rId5" Type="http://schemas.openxmlformats.org/officeDocument/2006/relationships/image" Target="../media/image8.png"/><Relationship Id="rId4" Type="http://schemas.openxmlformats.org/officeDocument/2006/relationships/hyperlink" Target="http://projgw.cse.cuhk.edu.hk:2913/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5yiMqmsdN9P8O_H_M_DrURkETPwPpxZF/view?usp=sharing" TargetMode="External"/><Relationship Id="rId2" Type="http://schemas.openxmlformats.org/officeDocument/2006/relationships/hyperlink" Target="https://github.com/eecs482/bgreeves-socket-example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ecs482/bgreeves-socket-example" TargetMode="External"/><Relationship Id="rId2" Type="http://schemas.openxmlformats.org/officeDocument/2006/relationships/hyperlink" Target="https://beej.us/guide/bgnet/html/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4430 - FALL 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1</a:t>
            </a:r>
          </a:p>
          <a:p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</a:t>
            </a:r>
            <a:r>
              <a:rPr lang="en-US" sz="2000" b="1" dirty="0"/>
              <a:t>EECS 489 Discussion 1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344" y="371418"/>
            <a:ext cx="11259312" cy="1325563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/>
              <a:t>W</a:t>
            </a:r>
            <a:r>
              <a:rPr lang="en-US" altLang="zh-CN" sz="4000" b="1" dirty="0"/>
              <a:t>elcome to CSCI4430, Computer Networks!</a:t>
            </a:r>
            <a:endParaRPr lang="en-US" sz="4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C96ACA-C0AD-5D03-FC0D-F309616271E5}"/>
              </a:ext>
            </a:extLst>
          </p:cNvPr>
          <p:cNvSpPr txBox="1"/>
          <p:nvPr/>
        </p:nvSpPr>
        <p:spPr>
          <a:xfrm>
            <a:off x="6543855" y="2442649"/>
            <a:ext cx="24470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Piazza</a:t>
            </a:r>
            <a:endParaRPr lang="en-US" sz="2400" dirty="0">
              <a:cs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D01685-344B-7B86-873B-62862760B94C}"/>
              </a:ext>
            </a:extLst>
          </p:cNvPr>
          <p:cNvSpPr txBox="1"/>
          <p:nvPr/>
        </p:nvSpPr>
        <p:spPr>
          <a:xfrm>
            <a:off x="2566338" y="2442649"/>
            <a:ext cx="24470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Course page</a:t>
            </a:r>
            <a:endParaRPr lang="en-US" sz="2400" dirty="0">
              <a:cs typeface="Calibri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B5CFB79-08B2-40CF-B6AD-535D19D7F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8506" y="2857066"/>
            <a:ext cx="2228093" cy="221918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A317355-A271-4D29-A142-5B9435DBBE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7194" y="2891126"/>
            <a:ext cx="2133501" cy="2151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980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Introduction to ASG1.</a:t>
            </a:r>
          </a:p>
          <a:p>
            <a:endParaRPr lang="en-US" sz="3200" dirty="0"/>
          </a:p>
          <a:p>
            <a:r>
              <a:rPr lang="en-US" sz="3200" dirty="0"/>
              <a:t> Introduction to socket programming.</a:t>
            </a:r>
          </a:p>
        </p:txBody>
      </p:sp>
    </p:spTree>
    <p:extLst>
      <p:ext uri="{BB962C8B-B14F-4D97-AF65-F5344CB8AC3E}">
        <p14:creationId xmlns:p14="http://schemas.microsoft.com/office/powerpoint/2010/main" val="44041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/>
              <a:t>Due: </a:t>
            </a:r>
            <a:r>
              <a:rPr lang="en-HK" dirty="0">
                <a:solidFill>
                  <a:srgbClr val="C00000"/>
                </a:solidFill>
              </a:rPr>
              <a:t>11:59:59 p.m., S</a:t>
            </a:r>
            <a:r>
              <a:rPr lang="en-US" altLang="zh-CN" dirty="0">
                <a:solidFill>
                  <a:srgbClr val="C00000"/>
                </a:solidFill>
              </a:rPr>
              <a:t>un</a:t>
            </a:r>
            <a:r>
              <a:rPr lang="en-HK" dirty="0">
                <a:solidFill>
                  <a:srgbClr val="C00000"/>
                </a:solidFill>
              </a:rPr>
              <a:t>, </a:t>
            </a:r>
            <a:r>
              <a:rPr lang="en-HK" b="0" i="0" dirty="0">
                <a:solidFill>
                  <a:srgbClr val="C00000"/>
                </a:solidFill>
                <a:effectLst/>
                <a:latin typeface="-apple-system"/>
              </a:rPr>
              <a:t>Sep</a:t>
            </a:r>
            <a:r>
              <a:rPr lang="en-HK" dirty="0">
                <a:solidFill>
                  <a:srgbClr val="C00000"/>
                </a:solidFill>
              </a:rPr>
              <a:t>. 2</a:t>
            </a:r>
            <a:r>
              <a:rPr lang="en-US" dirty="0">
                <a:solidFill>
                  <a:srgbClr val="C00000"/>
                </a:solidFill>
              </a:rPr>
              <a:t>1st</a:t>
            </a:r>
          </a:p>
          <a:p>
            <a:r>
              <a:rPr lang="en-US" sz="3200" dirty="0"/>
              <a:t>Task: </a:t>
            </a:r>
          </a:p>
          <a:p>
            <a:pPr lvl="1"/>
            <a:r>
              <a:rPr lang="en-US" sz="2800" dirty="0"/>
              <a:t>C</a:t>
            </a:r>
            <a:r>
              <a:rPr lang="en-US" altLang="zh-CN" sz="2800" dirty="0"/>
              <a:t>onduct measurements in Mininet (using standard tools)</a:t>
            </a:r>
            <a:endParaRPr lang="en-US" sz="2800" dirty="0"/>
          </a:p>
          <a:p>
            <a:pPr lvl="1"/>
            <a:r>
              <a:rPr lang="en-US" sz="2800" dirty="0"/>
              <a:t>Write your own iPerf (“iPerfer”) </a:t>
            </a:r>
          </a:p>
          <a:p>
            <a:r>
              <a:rPr lang="en-US" sz="3200" dirty="0"/>
              <a:t>Advice:</a:t>
            </a:r>
          </a:p>
          <a:p>
            <a:pPr lvl="1"/>
            <a:r>
              <a:rPr lang="en-US" sz="2800" dirty="0"/>
              <a:t>Get yourself familiar with the basic socket programming</a:t>
            </a:r>
          </a:p>
          <a:p>
            <a:pPr lvl="1"/>
            <a:r>
              <a:rPr lang="en-US" sz="2800" dirty="0"/>
              <a:t>START EARLY!</a:t>
            </a:r>
            <a:endParaRPr lang="en-US" sz="2800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47847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C12F4B-8A60-4928-8BB3-39F36F1CBC59}"/>
              </a:ext>
            </a:extLst>
          </p:cNvPr>
          <p:cNvSpPr txBox="1"/>
          <p:nvPr/>
        </p:nvSpPr>
        <p:spPr>
          <a:xfrm>
            <a:off x="1112520" y="1498572"/>
            <a:ext cx="987551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400" dirty="0"/>
              <a:t>iperf: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Purpose:</a:t>
            </a:r>
          </a:p>
          <a:p>
            <a:pPr lvl="1"/>
            <a:r>
              <a:rPr lang="en-HK" dirty="0"/>
              <a:t>	A network performance measurement tool to test bandwidth between two endpoints.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How It Works:</a:t>
            </a:r>
          </a:p>
          <a:p>
            <a:pPr lvl="2"/>
            <a:r>
              <a:rPr lang="en-HK" dirty="0"/>
              <a:t>Operates in client-server mode.</a:t>
            </a:r>
          </a:p>
          <a:p>
            <a:pPr lvl="2"/>
            <a:r>
              <a:rPr lang="en-HK" dirty="0"/>
              <a:t>The client generates traffic, and the server measures the received traffic.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Usage:</a:t>
            </a:r>
          </a:p>
          <a:p>
            <a:pPr lvl="2"/>
            <a:r>
              <a:rPr lang="en-HK" dirty="0"/>
              <a:t>Server: iperf -s</a:t>
            </a:r>
          </a:p>
          <a:p>
            <a:pPr lvl="2"/>
            <a:r>
              <a:rPr lang="en-HK" dirty="0"/>
              <a:t>Client: iperf -c &lt;</a:t>
            </a:r>
            <a:r>
              <a:rPr lang="en-HK" dirty="0" err="1"/>
              <a:t>server_ip</a:t>
            </a:r>
            <a:r>
              <a:rPr lang="en-HK" dirty="0"/>
              <a:t>&gt; -t &lt;time&gt;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E071ADA-B045-410C-9CF1-D6C7F4F0ABFF}"/>
              </a:ext>
            </a:extLst>
          </p:cNvPr>
          <p:cNvSpPr txBox="1"/>
          <p:nvPr/>
        </p:nvSpPr>
        <p:spPr>
          <a:xfrm>
            <a:off x="1112520" y="4147561"/>
            <a:ext cx="10142218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400" dirty="0"/>
              <a:t>Ping: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dirty="0"/>
              <a:t>Purpose:</a:t>
            </a:r>
          </a:p>
          <a:p>
            <a:pPr lvl="2"/>
            <a:r>
              <a:rPr lang="en-HK" dirty="0"/>
              <a:t>Measures latency (Round-Trip Time, RTT) between two endpoints.</a:t>
            </a:r>
          </a:p>
          <a:p>
            <a:pPr lvl="2"/>
            <a:r>
              <a:rPr lang="en-HK" dirty="0"/>
              <a:t>Verifies connectivity and diagnoses network issues.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dirty="0"/>
              <a:t>How It Works:</a:t>
            </a:r>
          </a:p>
          <a:p>
            <a:pPr lvl="1"/>
            <a:r>
              <a:rPr lang="en-HK" dirty="0"/>
              <a:t>	Sends ICMP echo requests and waits for replies.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dirty="0"/>
              <a:t>Usage:</a:t>
            </a:r>
          </a:p>
          <a:p>
            <a:pPr lvl="1"/>
            <a:r>
              <a:rPr lang="en-HK" dirty="0"/>
              <a:t>	ping &lt;</a:t>
            </a:r>
            <a:r>
              <a:rPr lang="en-HK" dirty="0" err="1"/>
              <a:t>destination_ip</a:t>
            </a:r>
            <a:r>
              <a:rPr lang="en-HK" dirty="0"/>
              <a:t>&gt; -c &lt;count&gt; (e.g., 20 packets for consistent results).</a:t>
            </a:r>
          </a:p>
        </p:txBody>
      </p:sp>
    </p:spTree>
    <p:extLst>
      <p:ext uri="{BB962C8B-B14F-4D97-AF65-F5344CB8AC3E}">
        <p14:creationId xmlns:p14="http://schemas.microsoft.com/office/powerpoint/2010/main" val="82547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C12F4B-8A60-4928-8BB3-39F36F1CBC59}"/>
              </a:ext>
            </a:extLst>
          </p:cNvPr>
          <p:cNvSpPr txBox="1"/>
          <p:nvPr/>
        </p:nvSpPr>
        <p:spPr>
          <a:xfrm>
            <a:off x="1158242" y="1498572"/>
            <a:ext cx="9875516" cy="2954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400" dirty="0"/>
              <a:t>Mininet: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Purpose:</a:t>
            </a:r>
          </a:p>
          <a:p>
            <a:pPr lvl="1"/>
            <a:r>
              <a:rPr lang="en-HK" dirty="0"/>
              <a:t>	A network emulator for creating and testing virtual networks on a single machine.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How It Works:</a:t>
            </a:r>
          </a:p>
          <a:p>
            <a:pPr lvl="1"/>
            <a:r>
              <a:rPr lang="en-HK" dirty="0"/>
              <a:t>	Simulates hosts, switches, links, and controllers using a lightweight VM.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Usage:</a:t>
            </a:r>
          </a:p>
          <a:p>
            <a:pPr lvl="2"/>
            <a:r>
              <a:rPr lang="en-HK" dirty="0"/>
              <a:t>Start Mininet: </a:t>
            </a:r>
            <a:r>
              <a:rPr lang="en-HK" dirty="0" err="1"/>
              <a:t>sudo</a:t>
            </a:r>
            <a:r>
              <a:rPr lang="en-HK" dirty="0"/>
              <a:t> </a:t>
            </a:r>
            <a:r>
              <a:rPr lang="en-HK" dirty="0" err="1"/>
              <a:t>mn</a:t>
            </a:r>
            <a:endParaRPr lang="en-HK" dirty="0"/>
          </a:p>
          <a:p>
            <a:pPr lvl="2"/>
            <a:r>
              <a:rPr lang="en-HK" dirty="0"/>
              <a:t>Create a topology: Use Python scripts or built-in commands (e.g., </a:t>
            </a:r>
            <a:r>
              <a:rPr lang="en-HK" dirty="0" err="1"/>
              <a:t>sudo</a:t>
            </a:r>
            <a:r>
              <a:rPr lang="en-HK" dirty="0"/>
              <a:t> python &lt;file&gt;.</a:t>
            </a:r>
            <a:r>
              <a:rPr lang="en-HK" dirty="0" err="1"/>
              <a:t>py</a:t>
            </a:r>
            <a:r>
              <a:rPr lang="en-HK" dirty="0"/>
              <a:t>).</a:t>
            </a:r>
          </a:p>
          <a:p>
            <a:pPr lvl="2"/>
            <a:r>
              <a:rPr lang="en-HK" dirty="0"/>
              <a:t>Test connectivity: </a:t>
            </a:r>
            <a:r>
              <a:rPr lang="en-HK" dirty="0" err="1"/>
              <a:t>pingall</a:t>
            </a:r>
            <a:endParaRPr lang="en-HK" dirty="0"/>
          </a:p>
          <a:p>
            <a:pPr lvl="2"/>
            <a:r>
              <a:rPr lang="en-HK" dirty="0"/>
              <a:t>Launch terminals for hosts: </a:t>
            </a:r>
            <a:r>
              <a:rPr lang="en-HK" dirty="0" err="1"/>
              <a:t>xterm</a:t>
            </a:r>
            <a:r>
              <a:rPr lang="en-HK" dirty="0"/>
              <a:t> h1 h2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39D61A5-3FCE-45F5-B6C4-03DF442AF9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8242" y="4801843"/>
            <a:ext cx="10300897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en-US" altLang="en-US" sz="2400" dirty="0"/>
              <a:t>Workflow in Assignment: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Mininet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create and manage virtual network topologies.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ping &amp; </a:t>
            </a:r>
            <a:r>
              <a:rPr kumimoji="0" lang="en-HK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iPerf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measure RTT (latency) </a:t>
            </a:r>
            <a:r>
              <a:rPr lang="en-HK" altLang="en-US" dirty="0">
                <a:latin typeface="Arial" panose="020B0604020202020204" pitchFamily="34" charset="0"/>
              </a:rPr>
              <a:t>and</a:t>
            </a:r>
            <a:r>
              <a:rPr lang="zh-CN" altLang="en-US" dirty="0">
                <a:latin typeface="Arial" panose="020B0604020202020204" pitchFamily="34" charset="0"/>
              </a:rPr>
              <a:t> </a:t>
            </a:r>
            <a:r>
              <a:rPr kumimoji="0" lang="en-HK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network bandwidth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Analyze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network performance under different conditions (e.g., multiplexing, latency effects).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Write</a:t>
            </a:r>
            <a:r>
              <a:rPr lang="en-US" dirty="0"/>
              <a:t> your own iPerf (“iPerfer”) </a:t>
            </a:r>
          </a:p>
        </p:txBody>
      </p:sp>
    </p:spTree>
    <p:extLst>
      <p:ext uri="{BB962C8B-B14F-4D97-AF65-F5344CB8AC3E}">
        <p14:creationId xmlns:p14="http://schemas.microsoft.com/office/powerpoint/2010/main" val="2117576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AC5086C-1AA1-443C-B1CF-A804D0784B3A}"/>
              </a:ext>
            </a:extLst>
          </p:cNvPr>
          <p:cNvSpPr txBox="1"/>
          <p:nvPr/>
        </p:nvSpPr>
        <p:spPr>
          <a:xfrm>
            <a:off x="818745" y="1894097"/>
            <a:ext cx="42201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HK" sz="2400" dirty="0"/>
              <a:t>Running Environment: 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A3665CF-6162-44C7-87DC-EC4241D95D44}"/>
              </a:ext>
            </a:extLst>
          </p:cNvPr>
          <p:cNvSpPr txBox="1"/>
          <p:nvPr/>
        </p:nvSpPr>
        <p:spPr>
          <a:xfrm>
            <a:off x="844685" y="2585747"/>
            <a:ext cx="586091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dirty="0">
                <a:solidFill>
                  <a:srgbClr val="C00000"/>
                </a:solidFill>
              </a:rPr>
              <a:t>For Windows, Linux (amd64), and Intel-based macOS users:</a:t>
            </a:r>
            <a:r>
              <a:rPr lang="en-HK" dirty="0"/>
              <a:t> we provide a VirtualBox VM image (login password:csci4430) which includes running environment for ASG1.</a:t>
            </a:r>
          </a:p>
          <a:p>
            <a:endParaRPr lang="en-HK" dirty="0"/>
          </a:p>
          <a:p>
            <a:r>
              <a:rPr lang="en-HK" dirty="0">
                <a:solidFill>
                  <a:srgbClr val="C00000"/>
                </a:solidFill>
              </a:rPr>
              <a:t>For macOS (Apple Silicon) users: </a:t>
            </a:r>
            <a:r>
              <a:rPr lang="en-HK" dirty="0"/>
              <a:t>please follow the setup instructions in our GitHub repo.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179DBCE-3C28-4810-AA0C-53FC20DF2889}"/>
              </a:ext>
            </a:extLst>
          </p:cNvPr>
          <p:cNvSpPr txBox="1"/>
          <p:nvPr/>
        </p:nvSpPr>
        <p:spPr>
          <a:xfrm>
            <a:off x="844686" y="4650357"/>
            <a:ext cx="498542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dirty="0"/>
              <a:t>All details: </a:t>
            </a:r>
            <a:r>
              <a:rPr lang="en-HK" sz="1600" u="sng" dirty="0"/>
              <a:t>https://github.com/henryhxu/CSCI4430/tree/2025_fall/assignment/assignment-1</a:t>
            </a:r>
            <a:endParaRPr lang="en-HK" u="sng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45E9EDA-F1FB-41B5-B428-F74B55A15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3400" y="3462910"/>
            <a:ext cx="3052472" cy="189774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3EC607A-8387-4C2B-A7A5-732954061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1862" y="2617149"/>
            <a:ext cx="2268517" cy="481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664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BD64A4B-22D3-494B-AC42-6C62E0C1F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90" y="1543858"/>
            <a:ext cx="4991100" cy="4625310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B565529F-A244-4B5A-BC29-CBB2B0E78E3B}"/>
              </a:ext>
            </a:extLst>
          </p:cNvPr>
          <p:cNvSpPr txBox="1"/>
          <p:nvPr/>
        </p:nvSpPr>
        <p:spPr>
          <a:xfrm>
            <a:off x="6256022" y="1360348"/>
            <a:ext cx="1844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400" b="1" dirty="0"/>
              <a:t>A</a:t>
            </a:r>
            <a:r>
              <a:rPr lang="en-US" altLang="zh-CN" sz="2400" b="1" dirty="0"/>
              <a:t>utograder:</a:t>
            </a:r>
            <a:endParaRPr lang="en-HK" sz="2400" b="1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5F0F335C-EBDC-47DC-B41C-ED0C7E00E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5630" y="2059037"/>
            <a:ext cx="2219870" cy="13394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EDA20214-291D-4541-9C70-09BC5B4C2320}"/>
              </a:ext>
            </a:extLst>
          </p:cNvPr>
          <p:cNvSpPr txBox="1"/>
          <p:nvPr/>
        </p:nvSpPr>
        <p:spPr>
          <a:xfrm>
            <a:off x="6042660" y="3698543"/>
            <a:ext cx="5989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dirty="0">
                <a:hlinkClick r:id="rId4"/>
              </a:rPr>
              <a:t>Log in </a:t>
            </a:r>
            <a:r>
              <a:rPr lang="en-HK" sz="1600" dirty="0"/>
              <a:t>with your CUHK link email and </a:t>
            </a:r>
            <a:r>
              <a:rPr lang="en-HK" sz="1600" u="sng" dirty="0"/>
              <a:t>password (will be sent by email </a:t>
            </a:r>
            <a:r>
              <a:rPr lang="en-HK" sz="1600" dirty="0"/>
              <a:t>after add/drop period) to URL </a:t>
            </a:r>
            <a:r>
              <a:rPr lang="en-HK" sz="1600" u="sng" dirty="0"/>
              <a:t>under the connection of CSE VPN.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5D5A1CED-83B2-447A-B8CA-62EE677234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8460" y="4349218"/>
            <a:ext cx="1986780" cy="2005803"/>
          </a:xfrm>
          <a:prstGeom prst="rect">
            <a:avLst/>
          </a:prstGeom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33093442-16A5-4160-AC48-7D8BC2C4567A}"/>
              </a:ext>
            </a:extLst>
          </p:cNvPr>
          <p:cNvCxnSpPr>
            <a:cxnSpLocks/>
          </p:cNvCxnSpPr>
          <p:nvPr/>
        </p:nvCxnSpPr>
        <p:spPr>
          <a:xfrm flipV="1">
            <a:off x="8427720" y="5821680"/>
            <a:ext cx="729070" cy="3762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C0DCC740-320B-4DB4-9D00-AC3289797E05}"/>
              </a:ext>
            </a:extLst>
          </p:cNvPr>
          <p:cNvSpPr txBox="1"/>
          <p:nvPr/>
        </p:nvSpPr>
        <p:spPr>
          <a:xfrm>
            <a:off x="5113020" y="6185744"/>
            <a:ext cx="4495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dirty="0"/>
              <a:t>Please find </a:t>
            </a:r>
            <a:r>
              <a:rPr lang="en-HK" sz="1600" dirty="0">
                <a:hlinkClick r:id="rId6"/>
              </a:rPr>
              <a:t>link</a:t>
            </a:r>
            <a:r>
              <a:rPr lang="en-HK" sz="1600" dirty="0"/>
              <a:t> for general use of the Autograder. 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531BCA26-FE47-45AD-B446-8ED2E8F00833}"/>
              </a:ext>
            </a:extLst>
          </p:cNvPr>
          <p:cNvSpPr txBox="1"/>
          <p:nvPr/>
        </p:nvSpPr>
        <p:spPr>
          <a:xfrm>
            <a:off x="1343978" y="6189840"/>
            <a:ext cx="32740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dirty="0"/>
              <a:t>Example final structure of repository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F761FBD-A1F3-4A38-80D4-C8A75557C9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4689427"/>
            <a:ext cx="2723745" cy="792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811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200" dirty="0"/>
              <a:t>What is a socket?</a:t>
            </a:r>
          </a:p>
          <a:p>
            <a:pPr>
              <a:buFontTx/>
              <a:buChar char="-"/>
            </a:pPr>
            <a:r>
              <a:rPr lang="en-US" sz="3200" dirty="0"/>
              <a:t>Communication endpoint at the end hosts[1].</a:t>
            </a:r>
          </a:p>
          <a:p>
            <a:pPr>
              <a:buFontTx/>
              <a:buChar char="-"/>
            </a:pPr>
            <a:r>
              <a:rPr lang="en-US" sz="3200" dirty="0"/>
              <a:t>Don’t mix network socket up with other “sockets”, i.e. CPU socket.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sz="3200" dirty="0"/>
              <a:t>Why do we use a socket?</a:t>
            </a:r>
          </a:p>
          <a:p>
            <a:pPr marL="0" indent="0">
              <a:buNone/>
            </a:pPr>
            <a:r>
              <a:rPr lang="en-US" sz="3200" dirty="0"/>
              <a:t>- It provides an application programming interface to exchange data between processes on the same or different machines.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A55E2F-1183-7E37-4DAB-FB1727EFF128}"/>
              </a:ext>
            </a:extLst>
          </p:cNvPr>
          <p:cNvSpPr txBox="1"/>
          <p:nvPr/>
        </p:nvSpPr>
        <p:spPr>
          <a:xfrm>
            <a:off x="838200" y="6176963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[1] https://www.rfc-editor.org/rfc/rfc147</a:t>
            </a:r>
          </a:p>
        </p:txBody>
      </p:sp>
    </p:spTree>
    <p:extLst>
      <p:ext uri="{BB962C8B-B14F-4D97-AF65-F5344CB8AC3E}">
        <p14:creationId xmlns:p14="http://schemas.microsoft.com/office/powerpoint/2010/main" val="1573737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70C9852B-1901-4298-9545-9B66CAD35E30}"/>
              </a:ext>
            </a:extLst>
          </p:cNvPr>
          <p:cNvSpPr/>
          <p:nvPr/>
        </p:nvSpPr>
        <p:spPr>
          <a:xfrm>
            <a:off x="2003612" y="3220572"/>
            <a:ext cx="8283388" cy="241371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EAE756E7-3534-4AF0-B9E8-0A53FA4C3E3D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2987019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5478A48-FE2F-49A9-93A4-A0F1C118983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F1718EEB-9F98-49FA-8791-2E03D6752C72}"/>
                </a:ext>
              </a:extLst>
            </p:cNvPr>
            <p:cNvSpPr>
              <a:spLocks/>
            </p:cNvSpPr>
            <p:nvPr/>
          </p:nvSpPr>
          <p:spPr bwMode="auto">
            <a:xfrm>
              <a:off x="240" y="24"/>
              <a:ext cx="463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socket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B44FB3F-B911-4BC5-9130-DB268E3D08D0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2521188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96EDF0-0C92-469A-B888-9C808A177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DD89892-0AA5-4952-A951-F0DC3D832829}"/>
                </a:ext>
              </a:extLst>
            </p:cNvPr>
            <p:cNvSpPr>
              <a:spLocks/>
            </p:cNvSpPr>
            <p:nvPr/>
          </p:nvSpPr>
          <p:spPr bwMode="auto">
            <a:xfrm>
              <a:off x="30" y="24"/>
              <a:ext cx="882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Application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0F56EC3-40DA-4376-B89C-3559B8EFD402}"/>
              </a:ext>
            </a:extLst>
          </p:cNvPr>
          <p:cNvGrpSpPr>
            <a:grpSpLocks/>
          </p:cNvGrpSpPr>
          <p:nvPr/>
        </p:nvGrpSpPr>
        <p:grpSpPr bwMode="auto">
          <a:xfrm>
            <a:off x="2753478" y="2981520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F898E400-F10E-41C2-A585-5247C8EDEA3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7EDBE3B-687A-4121-9205-DDF171293556}"/>
                </a:ext>
              </a:extLst>
            </p:cNvPr>
            <p:cNvSpPr>
              <a:spLocks/>
            </p:cNvSpPr>
            <p:nvPr/>
          </p:nvSpPr>
          <p:spPr bwMode="auto">
            <a:xfrm>
              <a:off x="240" y="24"/>
              <a:ext cx="463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socket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24FB2A3-25F9-4645-A9D8-8B7984E87F9F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3458948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13E8CB2-588C-436D-9682-384DD986446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B4A3143-3F18-4432-ADA1-5B7AFC4DD93F}"/>
                </a:ext>
              </a:extLst>
            </p:cNvPr>
            <p:cNvSpPr>
              <a:spLocks/>
            </p:cNvSpPr>
            <p:nvPr/>
          </p:nvSpPr>
          <p:spPr bwMode="auto">
            <a:xfrm>
              <a:off x="89" y="24"/>
              <a:ext cx="760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Transport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19DC3B97-EC21-4FC5-A4C8-1C6D6D6AAE63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3916148"/>
            <a:ext cx="1649413" cy="428625"/>
            <a:chOff x="0" y="0"/>
            <a:chExt cx="943" cy="270"/>
          </a:xfrm>
          <a:solidFill>
            <a:srgbClr val="0000FF"/>
          </a:solidFill>
          <a:effectLst/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D651010-CCAC-4554-8519-2C559E1480C6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0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E27B870-E4D7-4EF6-9D5A-2CB54B0737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" y="23"/>
              <a:ext cx="663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Network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89264C2-7BB1-4272-BED2-0CAEA7599916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4371761"/>
            <a:ext cx="1649413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A0E9983-D696-41B4-B976-6C0B4699B55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AEFD8D-0C71-40F1-96E0-8EADA7B6961C}"/>
                </a:ext>
              </a:extLst>
            </p:cNvPr>
            <p:cNvSpPr>
              <a:spLocks/>
            </p:cNvSpPr>
            <p:nvPr/>
          </p:nvSpPr>
          <p:spPr bwMode="auto">
            <a:xfrm>
              <a:off x="126" y="24"/>
              <a:ext cx="695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Data link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28602F3-C0ED-432E-9D30-DDDDFDE315E3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4828961"/>
            <a:ext cx="1649413" cy="430212"/>
            <a:chOff x="0" y="0"/>
            <a:chExt cx="943" cy="271"/>
          </a:xfrm>
          <a:solidFill>
            <a:srgbClr val="0000FF"/>
          </a:solidFill>
          <a:effectLst/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267AE64-AB4D-41C5-B481-85F68F2E251A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1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096579C-A034-4968-BE57-76408F01EBF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" y="23"/>
              <a:ext cx="679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Physical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EC87430E-FAD8-455B-88F2-77BF7472E96A}"/>
              </a:ext>
            </a:extLst>
          </p:cNvPr>
          <p:cNvSpPr txBox="1"/>
          <p:nvPr/>
        </p:nvSpPr>
        <p:spPr>
          <a:xfrm>
            <a:off x="2246996" y="2526744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73E866-D81F-4EFB-A024-952AE090546B}"/>
              </a:ext>
            </a:extLst>
          </p:cNvPr>
          <p:cNvSpPr txBox="1"/>
          <p:nvPr/>
        </p:nvSpPr>
        <p:spPr>
          <a:xfrm>
            <a:off x="2246996" y="3490182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C18CB8-5FA6-4376-996C-6E016CE49551}"/>
              </a:ext>
            </a:extLst>
          </p:cNvPr>
          <p:cNvSpPr txBox="1"/>
          <p:nvPr/>
        </p:nvSpPr>
        <p:spPr>
          <a:xfrm>
            <a:off x="2246996" y="3945794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26EC72-38D1-426F-8A35-73C33C4F0C6F}"/>
              </a:ext>
            </a:extLst>
          </p:cNvPr>
          <p:cNvSpPr txBox="1"/>
          <p:nvPr/>
        </p:nvSpPr>
        <p:spPr>
          <a:xfrm>
            <a:off x="2246996" y="4402995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98C70D-41D2-44D6-B494-EF2C63798ADA}"/>
              </a:ext>
            </a:extLst>
          </p:cNvPr>
          <p:cNvSpPr txBox="1"/>
          <p:nvPr/>
        </p:nvSpPr>
        <p:spPr>
          <a:xfrm>
            <a:off x="2246996" y="4859401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L1</a:t>
            </a:r>
          </a:p>
        </p:txBody>
      </p:sp>
      <p:cxnSp>
        <p:nvCxnSpPr>
          <p:cNvPr id="24" name="Straight Connector 44">
            <a:extLst>
              <a:ext uri="{FF2B5EF4-FFF2-40B4-BE49-F238E27FC236}">
                <a16:creationId xmlns:a16="http://schemas.microsoft.com/office/drawing/2014/main" id="{9A0616A5-F08E-414C-801C-A08DB9E2135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2708513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5" name="Straight Connector 46">
            <a:extLst>
              <a:ext uri="{FF2B5EF4-FFF2-40B4-BE49-F238E27FC236}">
                <a16:creationId xmlns:a16="http://schemas.microsoft.com/office/drawing/2014/main" id="{DD8453A4-424B-444F-95DD-D4E0A06B26A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3630398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6" name="Straight Connector 47">
            <a:extLst>
              <a:ext uri="{FF2B5EF4-FFF2-40B4-BE49-F238E27FC236}">
                <a16:creationId xmlns:a16="http://schemas.microsoft.com/office/drawing/2014/main" id="{64E99D29-FD98-4960-8497-950408DE373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4087598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7" name="Straight Connector 48">
            <a:extLst>
              <a:ext uri="{FF2B5EF4-FFF2-40B4-BE49-F238E27FC236}">
                <a16:creationId xmlns:a16="http://schemas.microsoft.com/office/drawing/2014/main" id="{D05CC176-2F6D-4020-A9F2-EF3B522BFA1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4620998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8" name="Straight Connector 49">
            <a:extLst>
              <a:ext uri="{FF2B5EF4-FFF2-40B4-BE49-F238E27FC236}">
                <a16:creationId xmlns:a16="http://schemas.microsoft.com/office/drawing/2014/main" id="{87890218-6332-4256-B4C1-321DA2F273B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5001998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B69BEA1-0BB0-4067-948F-2E81161DAD71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2521188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2826820-2D99-4C72-AF78-34B09C8F394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7AD3824-DB9A-4568-8A66-4ABFA8B8CE53}"/>
                </a:ext>
              </a:extLst>
            </p:cNvPr>
            <p:cNvSpPr>
              <a:spLocks/>
            </p:cNvSpPr>
            <p:nvPr/>
          </p:nvSpPr>
          <p:spPr bwMode="auto">
            <a:xfrm>
              <a:off x="30" y="24"/>
              <a:ext cx="882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Application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B64781F-9039-48BC-8536-E0CE65393279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3458948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014801E-40F5-4E8E-A6B9-B31B3602AE8D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637BFF4-3C2C-497F-9227-D0E8ECFB50FB}"/>
                </a:ext>
              </a:extLst>
            </p:cNvPr>
            <p:cNvSpPr>
              <a:spLocks/>
            </p:cNvSpPr>
            <p:nvPr/>
          </p:nvSpPr>
          <p:spPr bwMode="auto">
            <a:xfrm>
              <a:off x="89" y="24"/>
              <a:ext cx="760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Transport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4C39FBC-00DC-4F2B-AC6A-2080D35C3E80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3916148"/>
            <a:ext cx="1649413" cy="428625"/>
            <a:chOff x="0" y="0"/>
            <a:chExt cx="943" cy="270"/>
          </a:xfrm>
          <a:solidFill>
            <a:srgbClr val="0000FF"/>
          </a:solidFill>
          <a:effectLst/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43D2684-A106-4246-AA5C-27255FDE55F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0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A689236-C6C6-4704-A413-73E1B4FB57F6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" y="23"/>
              <a:ext cx="663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Network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056390B-FCCF-43AC-A8D8-3FA45F1377B4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4371761"/>
            <a:ext cx="1649413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90DC30F-F73D-4751-A7DD-767BB64AEB3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753A03B-1625-468D-B82B-F3996467A27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6" y="24"/>
              <a:ext cx="695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Data link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5AD4C60B-4A0E-415A-9075-E90A221FF9ED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4828961"/>
            <a:ext cx="1649413" cy="430212"/>
            <a:chOff x="0" y="0"/>
            <a:chExt cx="943" cy="271"/>
          </a:xfrm>
          <a:solidFill>
            <a:srgbClr val="0000FF"/>
          </a:solidFill>
          <a:effectLst/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A3B5B15A-E019-4FB3-A2C3-C5360A58F3F9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1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3A973F6-1273-463B-9BFD-583A7D6D4FF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" y="23"/>
              <a:ext cx="679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Physical</a:t>
              </a:r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464D5EFF-AA73-4609-AC80-7D2AD5881C45}"/>
              </a:ext>
            </a:extLst>
          </p:cNvPr>
          <p:cNvSpPr txBox="1"/>
          <p:nvPr/>
        </p:nvSpPr>
        <p:spPr>
          <a:xfrm>
            <a:off x="9565426" y="2526744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A65E828-BD11-4CD0-8D68-353B49B05433}"/>
              </a:ext>
            </a:extLst>
          </p:cNvPr>
          <p:cNvSpPr txBox="1"/>
          <p:nvPr/>
        </p:nvSpPr>
        <p:spPr>
          <a:xfrm>
            <a:off x="9565426" y="3490182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31607C-4A5F-4FD5-97EF-A76A3C222904}"/>
              </a:ext>
            </a:extLst>
          </p:cNvPr>
          <p:cNvSpPr txBox="1"/>
          <p:nvPr/>
        </p:nvSpPr>
        <p:spPr>
          <a:xfrm>
            <a:off x="9565426" y="3945794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F8FE0F3-5EB6-4F5C-AC2A-C6752373F32A}"/>
              </a:ext>
            </a:extLst>
          </p:cNvPr>
          <p:cNvSpPr txBox="1"/>
          <p:nvPr/>
        </p:nvSpPr>
        <p:spPr>
          <a:xfrm>
            <a:off x="9565426" y="4402995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3D1D51D-78C3-4709-ABBB-0F2F737F52FC}"/>
              </a:ext>
            </a:extLst>
          </p:cNvPr>
          <p:cNvSpPr txBox="1"/>
          <p:nvPr/>
        </p:nvSpPr>
        <p:spPr>
          <a:xfrm>
            <a:off x="9565426" y="4859401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L1</a:t>
            </a:r>
          </a:p>
        </p:txBody>
      </p:sp>
      <p:sp>
        <p:nvSpPr>
          <p:cNvPr id="49" name="Title 1">
            <a:extLst>
              <a:ext uri="{FF2B5EF4-FFF2-40B4-BE49-F238E27FC236}">
                <a16:creationId xmlns:a16="http://schemas.microsoft.com/office/drawing/2014/main" id="{1E66C6DF-8B5A-4DCC-B068-39F838B95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b="1" dirty="0"/>
              <a:t>Socket Programming: Intro</a:t>
            </a:r>
          </a:p>
        </p:txBody>
      </p:sp>
      <p:sp>
        <p:nvSpPr>
          <p:cNvPr id="63" name="Title 1">
            <a:extLst>
              <a:ext uri="{FF2B5EF4-FFF2-40B4-BE49-F238E27FC236}">
                <a16:creationId xmlns:a16="http://schemas.microsoft.com/office/drawing/2014/main" id="{ECE89933-058D-4A9E-A95B-D820B56492B2}"/>
              </a:ext>
            </a:extLst>
          </p:cNvPr>
          <p:cNvSpPr txBox="1">
            <a:spLocks/>
          </p:cNvSpPr>
          <p:nvPr/>
        </p:nvSpPr>
        <p:spPr>
          <a:xfrm>
            <a:off x="10287001" y="4065896"/>
            <a:ext cx="1905000" cy="7176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/>
              <a:t>Abstracted away</a:t>
            </a:r>
          </a:p>
        </p:txBody>
      </p:sp>
    </p:spTree>
    <p:extLst>
      <p:ext uri="{BB962C8B-B14F-4D97-AF65-F5344CB8AC3E}">
        <p14:creationId xmlns:p14="http://schemas.microsoft.com/office/powerpoint/2010/main" val="913890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1">
            <a:extLst>
              <a:ext uri="{FF2B5EF4-FFF2-40B4-BE49-F238E27FC236}">
                <a16:creationId xmlns:a16="http://schemas.microsoft.com/office/drawing/2014/main" id="{1E66C6DF-8B5A-4DCC-B068-39F838B95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56523" cy="1325563"/>
          </a:xfrm>
        </p:spPr>
        <p:txBody>
          <a:bodyPr/>
          <a:lstStyle/>
          <a:p>
            <a:r>
              <a:rPr lang="en-US" b="1" dirty="0"/>
              <a:t>Socket Programming: </a:t>
            </a:r>
            <a:r>
              <a:rPr lang="en-HK" b="1" dirty="0"/>
              <a:t>TCP/UDP</a:t>
            </a:r>
            <a:endParaRPr lang="en-US" b="1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B9771295-2051-44AF-8D9B-1185DEDC1F93}"/>
              </a:ext>
            </a:extLst>
          </p:cNvPr>
          <p:cNvSpPr txBox="1"/>
          <p:nvPr/>
        </p:nvSpPr>
        <p:spPr>
          <a:xfrm>
            <a:off x="838198" y="1823933"/>
            <a:ext cx="71704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400" dirty="0"/>
              <a:t>Socket as the Programming Interface for TCP and UDP:</a:t>
            </a: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A977D434-4382-4283-9294-187D0748C0FB}"/>
              </a:ext>
            </a:extLst>
          </p:cNvPr>
          <p:cNvSpPr txBox="1"/>
          <p:nvPr/>
        </p:nvSpPr>
        <p:spPr>
          <a:xfrm>
            <a:off x="838198" y="2436493"/>
            <a:ext cx="11003281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000" dirty="0"/>
              <a:t>TCP and UDP are transport layer protocols responsible for data transmission over the network: </a:t>
            </a:r>
          </a:p>
          <a:p>
            <a:endParaRPr lang="en-HK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sz="2000" dirty="0"/>
              <a:t>TCP (Transmission Control Protocol): Ensures reliable, connection-oriented data transfer.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sz="2000" dirty="0"/>
              <a:t>UDP (User Datagram Protocol): Provides simple, fast, and connectionless data communication. </a:t>
            </a:r>
          </a:p>
          <a:p>
            <a:endParaRPr lang="en-HK" sz="2000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000" dirty="0"/>
              <a:t>Sockets abstract the complexity of TCP and UDP, offering developers an easy way to use these protocols:</a:t>
            </a:r>
          </a:p>
          <a:p>
            <a:endParaRPr lang="en-HK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sz="2000" dirty="0"/>
              <a:t>TCP/UDP functionality (e.g., packet segmentation, error checking) is handled internally by the socket.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sz="2000" dirty="0"/>
              <a:t>Developers do not need to directly manage these protocol details.</a:t>
            </a:r>
          </a:p>
        </p:txBody>
      </p:sp>
    </p:spTree>
    <p:extLst>
      <p:ext uri="{BB962C8B-B14F-4D97-AF65-F5344CB8AC3E}">
        <p14:creationId xmlns:p14="http://schemas.microsoft.com/office/powerpoint/2010/main" val="22143900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11AF92-8AD0-444F-83E3-E11532277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76290" y="1825625"/>
            <a:ext cx="5639420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B591B7-0ED3-894C-A352-8477ED74F3BB}"/>
              </a:ext>
            </a:extLst>
          </p:cNvPr>
          <p:cNvSpPr txBox="1"/>
          <p:nvPr/>
        </p:nvSpPr>
        <p:spPr>
          <a:xfrm>
            <a:off x="1436914" y="3708906"/>
            <a:ext cx="1252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8685D-FCCD-1D48-84F7-D47520F09B5B}"/>
              </a:ext>
            </a:extLst>
          </p:cNvPr>
          <p:cNvSpPr txBox="1"/>
          <p:nvPr/>
        </p:nvSpPr>
        <p:spPr>
          <a:xfrm>
            <a:off x="9688285" y="3708906"/>
            <a:ext cx="1147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Client</a:t>
            </a:r>
          </a:p>
        </p:txBody>
      </p:sp>
    </p:spTree>
    <p:extLst>
      <p:ext uri="{BB962C8B-B14F-4D97-AF65-F5344CB8AC3E}">
        <p14:creationId xmlns:p14="http://schemas.microsoft.com/office/powerpoint/2010/main" val="522421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Client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0803F26-69FA-F141-8053-17ADFC76B8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4267" y="2193925"/>
            <a:ext cx="1955800" cy="3238500"/>
          </a:xfrm>
          <a:prstGeom prst="rect">
            <a:avLst/>
          </a:prstGeom>
        </p:spPr>
      </p:pic>
      <p:graphicFrame>
        <p:nvGraphicFramePr>
          <p:cNvPr id="25" name="Group 4">
            <a:extLst>
              <a:ext uri="{FF2B5EF4-FFF2-40B4-BE49-F238E27FC236}">
                <a16:creationId xmlns:a16="http://schemas.microsoft.com/office/drawing/2014/main" id="{B790D8A6-3FF2-4898-8C0B-11A5983724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1284723"/>
              </p:ext>
            </p:extLst>
          </p:nvPr>
        </p:nvGraphicFramePr>
        <p:xfrm>
          <a:off x="8298873" y="4090988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Text Box 23">
            <a:extLst>
              <a:ext uri="{FF2B5EF4-FFF2-40B4-BE49-F238E27FC236}">
                <a16:creationId xmlns:a16="http://schemas.microsoft.com/office/drawing/2014/main" id="{7A54562F-34E2-483C-B5CF-18BB05D385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89473" y="6553200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  <p:sp>
        <p:nvSpPr>
          <p:cNvPr id="28" name="Text Box 25">
            <a:extLst>
              <a:ext uri="{FF2B5EF4-FFF2-40B4-BE49-F238E27FC236}">
                <a16:creationId xmlns:a16="http://schemas.microsoft.com/office/drawing/2014/main" id="{B349E0B2-B1CC-4E2B-8A05-26F655F0CC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79273" y="173196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29" name="Text Box 26">
            <a:extLst>
              <a:ext uri="{FF2B5EF4-FFF2-40B4-BE49-F238E27FC236}">
                <a16:creationId xmlns:a16="http://schemas.microsoft.com/office/drawing/2014/main" id="{5F967E97-62E0-49CC-9B1F-80CF9AFA46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13073" y="1731963"/>
            <a:ext cx="1322388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connect()</a:t>
            </a:r>
          </a:p>
        </p:txBody>
      </p:sp>
      <p:sp>
        <p:nvSpPr>
          <p:cNvPr id="30" name="Text Box 27">
            <a:extLst>
              <a:ext uri="{FF2B5EF4-FFF2-40B4-BE49-F238E27FC236}">
                <a16:creationId xmlns:a16="http://schemas.microsoft.com/office/drawing/2014/main" id="{36394CA4-56E8-4F71-BF9C-8942D3D99C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45123" y="15795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31" name="Text Box 28">
            <a:extLst>
              <a:ext uri="{FF2B5EF4-FFF2-40B4-BE49-F238E27FC236}">
                <a16:creationId xmlns:a16="http://schemas.microsoft.com/office/drawing/2014/main" id="{4F254A27-E9B8-4605-B129-6E3DCF15A3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97523" y="2193925"/>
            <a:ext cx="1071563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32" name="Line 29">
            <a:extLst>
              <a:ext uri="{FF2B5EF4-FFF2-40B4-BE49-F238E27FC236}">
                <a16:creationId xmlns:a16="http://schemas.microsoft.com/office/drawing/2014/main" id="{EE022D9B-70C9-49F4-867D-EB2F6CE90012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08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Box 30">
            <a:extLst>
              <a:ext uri="{FF2B5EF4-FFF2-40B4-BE49-F238E27FC236}">
                <a16:creationId xmlns:a16="http://schemas.microsoft.com/office/drawing/2014/main" id="{5C981432-1053-4886-994D-96FD62A431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0473" y="17319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34" name="Line 31">
            <a:extLst>
              <a:ext uri="{FF2B5EF4-FFF2-40B4-BE49-F238E27FC236}">
                <a16:creationId xmlns:a16="http://schemas.microsoft.com/office/drawing/2014/main" id="{D03A8788-6318-45CC-ABD4-27871781EA3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34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5" name="Line 32">
            <a:extLst>
              <a:ext uri="{FF2B5EF4-FFF2-40B4-BE49-F238E27FC236}">
                <a16:creationId xmlns:a16="http://schemas.microsoft.com/office/drawing/2014/main" id="{6BC02E92-741B-4076-9CA5-EE3BF3B45AF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137073" y="1746250"/>
            <a:ext cx="83820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" name="Line 33">
            <a:extLst>
              <a:ext uri="{FF2B5EF4-FFF2-40B4-BE49-F238E27FC236}">
                <a16:creationId xmlns:a16="http://schemas.microsoft.com/office/drawing/2014/main" id="{02BCE078-78EF-4D78-8F82-5AFC53B73CCD}"/>
              </a:ext>
            </a:extLst>
          </p:cNvPr>
          <p:cNvSpPr>
            <a:spLocks noChangeShapeType="1"/>
          </p:cNvSpPr>
          <p:nvPr/>
        </p:nvSpPr>
        <p:spPr bwMode="auto">
          <a:xfrm>
            <a:off x="9213273" y="1974850"/>
            <a:ext cx="914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Box 34">
            <a:extLst>
              <a:ext uri="{FF2B5EF4-FFF2-40B4-BE49-F238E27FC236}">
                <a16:creationId xmlns:a16="http://schemas.microsoft.com/office/drawing/2014/main" id="{54855DA5-3B7B-400A-85BC-4B77A3CAA4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03073" y="24272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Client flow chart</a:t>
            </a:r>
          </a:p>
        </p:txBody>
      </p:sp>
      <p:sp>
        <p:nvSpPr>
          <p:cNvPr id="39" name="Text Box 35">
            <a:extLst>
              <a:ext uri="{FF2B5EF4-FFF2-40B4-BE49-F238E27FC236}">
                <a16:creationId xmlns:a16="http://schemas.microsoft.com/office/drawing/2014/main" id="{0BA18B2A-53F2-429B-94D1-4347D91C87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0998" y="3205163"/>
            <a:ext cx="4054475" cy="677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(1).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socket()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Create a socket.</a:t>
            </a:r>
          </a:p>
        </p:txBody>
      </p:sp>
      <p:sp>
        <p:nvSpPr>
          <p:cNvPr id="40" name="Text Box 38">
            <a:extLst>
              <a:ext uri="{FF2B5EF4-FFF2-40B4-BE49-F238E27FC236}">
                <a16:creationId xmlns:a16="http://schemas.microsoft.com/office/drawing/2014/main" id="{4FD705B2-E615-4486-8E51-8D9E89067F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4029075"/>
            <a:ext cx="4054475" cy="116998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(2).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bind() [optional]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Assign the socket a port number.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Skip this step and will have a random port number assigned.</a:t>
            </a:r>
          </a:p>
        </p:txBody>
      </p:sp>
      <p:sp>
        <p:nvSpPr>
          <p:cNvPr id="41" name="Text Box 39">
            <a:extLst>
              <a:ext uri="{FF2B5EF4-FFF2-40B4-BE49-F238E27FC236}">
                <a16:creationId xmlns:a16="http://schemas.microsoft.com/office/drawing/2014/main" id="{425660A0-F0FC-4EAD-8E96-5425A334D0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5327650"/>
            <a:ext cx="4054475" cy="923925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(3).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connect()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Connect to the remote server.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It is a blocking system call.</a:t>
            </a:r>
          </a:p>
        </p:txBody>
      </p:sp>
      <p:sp>
        <p:nvSpPr>
          <p:cNvPr id="42" name="Text Box 40">
            <a:extLst>
              <a:ext uri="{FF2B5EF4-FFF2-40B4-BE49-F238E27FC236}">
                <a16:creationId xmlns:a16="http://schemas.microsoft.com/office/drawing/2014/main" id="{B79A84F8-8051-49DE-BB9D-732F6E45B1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27473" y="3111500"/>
            <a:ext cx="2500313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read()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receive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write()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send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close()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close the socket</a:t>
            </a:r>
          </a:p>
        </p:txBody>
      </p:sp>
    </p:spTree>
    <p:extLst>
      <p:ext uri="{BB962C8B-B14F-4D97-AF65-F5344CB8AC3E}">
        <p14:creationId xmlns:p14="http://schemas.microsoft.com/office/powerpoint/2010/main" val="22790247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Server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1F1B7FF-0FBF-3D45-81DD-BA45BC44D7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44919" y="1555113"/>
            <a:ext cx="1863856" cy="4824100"/>
          </a:xfrm>
          <a:prstGeom prst="rect">
            <a:avLst/>
          </a:prstGeom>
        </p:spPr>
      </p:pic>
      <p:graphicFrame>
        <p:nvGraphicFramePr>
          <p:cNvPr id="6" name="Group 4">
            <a:extLst>
              <a:ext uri="{FF2B5EF4-FFF2-40B4-BE49-F238E27FC236}">
                <a16:creationId xmlns:a16="http://schemas.microsoft.com/office/drawing/2014/main" id="{5EE5234C-2895-47D5-BEE5-B6EAF2F4F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63475"/>
              </p:ext>
            </p:extLst>
          </p:nvPr>
        </p:nvGraphicFramePr>
        <p:xfrm>
          <a:off x="8548688" y="4102101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Box 25">
            <a:extLst>
              <a:ext uri="{FF2B5EF4-FFF2-40B4-BE49-F238E27FC236}">
                <a16:creationId xmlns:a16="http://schemas.microsoft.com/office/drawing/2014/main" id="{70714A64-A22E-499D-A5F9-BAEE59F850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90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9" name="Text Box 26">
            <a:extLst>
              <a:ext uri="{FF2B5EF4-FFF2-40B4-BE49-F238E27FC236}">
                <a16:creationId xmlns:a16="http://schemas.microsoft.com/office/drawing/2014/main" id="{AAB19A18-9873-4911-BFDE-D5B965E362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0" name="Text Box 27">
            <a:extLst>
              <a:ext uri="{FF2B5EF4-FFF2-40B4-BE49-F238E27FC236}">
                <a16:creationId xmlns:a16="http://schemas.microsoft.com/office/drawing/2014/main" id="{CF6365C8-AAD7-4AC0-926D-27E0580F5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99738" y="17621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11" name="Text Box 28">
            <a:extLst>
              <a:ext uri="{FF2B5EF4-FFF2-40B4-BE49-F238E27FC236}">
                <a16:creationId xmlns:a16="http://schemas.microsoft.com/office/drawing/2014/main" id="{8E3C78D9-C6DE-4941-94EF-0B59567E29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52138" y="2371726"/>
            <a:ext cx="1071563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12" name="Line 29">
            <a:extLst>
              <a:ext uri="{FF2B5EF4-FFF2-40B4-BE49-F238E27FC236}">
                <a16:creationId xmlns:a16="http://schemas.microsoft.com/office/drawing/2014/main" id="{0DE6630A-B88D-4468-AE78-131AE81A15AB}"/>
              </a:ext>
            </a:extLst>
          </p:cNvPr>
          <p:cNvSpPr>
            <a:spLocks noChangeShapeType="1"/>
          </p:cNvSpPr>
          <p:nvPr/>
        </p:nvSpPr>
        <p:spPr bwMode="auto">
          <a:xfrm>
            <a:off x="55006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30">
            <a:extLst>
              <a:ext uri="{FF2B5EF4-FFF2-40B4-BE49-F238E27FC236}">
                <a16:creationId xmlns:a16="http://schemas.microsoft.com/office/drawing/2014/main" id="{6E1491DA-84FF-46FE-BA55-02D6CCEFA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0288" y="174307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31">
            <a:extLst>
              <a:ext uri="{FF2B5EF4-FFF2-40B4-BE49-F238E27FC236}">
                <a16:creationId xmlns:a16="http://schemas.microsoft.com/office/drawing/2014/main" id="{74017E5F-A164-46D4-BAF4-B71F5C6CDFFB}"/>
              </a:ext>
            </a:extLst>
          </p:cNvPr>
          <p:cNvSpPr>
            <a:spLocks noChangeShapeType="1"/>
          </p:cNvSpPr>
          <p:nvPr/>
        </p:nvSpPr>
        <p:spPr bwMode="auto">
          <a:xfrm>
            <a:off x="72532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32">
            <a:extLst>
              <a:ext uri="{FF2B5EF4-FFF2-40B4-BE49-F238E27FC236}">
                <a16:creationId xmlns:a16="http://schemas.microsoft.com/office/drawing/2014/main" id="{D4D59AC5-37F2-42FD-86C4-59E687C7042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1985963"/>
            <a:ext cx="1219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Line 33">
            <a:extLst>
              <a:ext uri="{FF2B5EF4-FFF2-40B4-BE49-F238E27FC236}">
                <a16:creationId xmlns:a16="http://schemas.microsoft.com/office/drawing/2014/main" id="{5EAFD17E-38D0-4DFE-971D-79CE4A8F35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2595563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Box 34">
            <a:extLst>
              <a:ext uri="{FF2B5EF4-FFF2-40B4-BE49-F238E27FC236}">
                <a16:creationId xmlns:a16="http://schemas.microsoft.com/office/drawing/2014/main" id="{DC2F8C2D-A59B-4E45-8FA5-FC56637B0D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52888" y="2438401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8" name="Text Box 35">
            <a:extLst>
              <a:ext uri="{FF2B5EF4-FFF2-40B4-BE49-F238E27FC236}">
                <a16:creationId xmlns:a16="http://schemas.microsoft.com/office/drawing/2014/main" id="{76BDD808-3BFD-433E-BDE6-FC23921E96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0813" y="3216276"/>
            <a:ext cx="4054475" cy="4381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(1) &amp; Step(2) [ you know them now. ]</a:t>
            </a:r>
          </a:p>
        </p:txBody>
      </p:sp>
      <p:sp>
        <p:nvSpPr>
          <p:cNvPr id="19" name="Rectangle 36">
            <a:extLst>
              <a:ext uri="{FF2B5EF4-FFF2-40B4-BE49-F238E27FC236}">
                <a16:creationId xmlns:a16="http://schemas.microsoft.com/office/drawing/2014/main" id="{E17C543E-AA26-4EE5-B6E2-E51CDE5722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8688" y="3052763"/>
            <a:ext cx="3505200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" name="Text Box 37">
            <a:extLst>
              <a:ext uri="{FF2B5EF4-FFF2-40B4-BE49-F238E27FC236}">
                <a16:creationId xmlns:a16="http://schemas.microsoft.com/office/drawing/2014/main" id="{BE8C8833-AB35-4972-8EB1-3911354DF2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4040188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>
                <a:latin typeface="Calibri" pitchFamily="34" charset="0"/>
              </a:rPr>
              <a:t>Step (3). </a:t>
            </a:r>
            <a:r>
              <a:rPr lang="en-US" altLang="zh-TW" sz="1600" b="1">
                <a:latin typeface="Calibri" pitchFamily="34" charset="0"/>
              </a:rPr>
              <a:t>listen()</a:t>
            </a:r>
            <a:endParaRPr lang="en-US" altLang="zh-TW" sz="1600">
              <a:latin typeface="Calibri" pitchFamily="34" charset="0"/>
            </a:endParaRPr>
          </a:p>
          <a:p>
            <a:r>
              <a:rPr lang="en-US" altLang="zh-TW" sz="1600">
                <a:latin typeface="Calibri" pitchFamily="34" charset="0"/>
              </a:rPr>
              <a:t>- It sets the port to be listening to incoming connections, for TCP only.</a:t>
            </a:r>
          </a:p>
        </p:txBody>
      </p:sp>
      <p:sp>
        <p:nvSpPr>
          <p:cNvPr id="21" name="Text Box 38">
            <a:extLst>
              <a:ext uri="{FF2B5EF4-FFF2-40B4-BE49-F238E27FC236}">
                <a16:creationId xmlns:a16="http://schemas.microsoft.com/office/drawing/2014/main" id="{B21DE8A7-EBC6-4163-AA06-1C09A09EF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5338763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(4).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- Accept incoming connections.</a:t>
            </a:r>
          </a:p>
          <a:p>
            <a:r>
              <a:rPr lang="en-US" altLang="zh-TW" sz="1600" dirty="0">
                <a:latin typeface="Calibri" pitchFamily="34" charset="0"/>
              </a:rPr>
              <a:t>- A blocking system call.</a:t>
            </a:r>
          </a:p>
        </p:txBody>
      </p:sp>
      <p:sp>
        <p:nvSpPr>
          <p:cNvPr id="22" name="Text Box 39">
            <a:extLst>
              <a:ext uri="{FF2B5EF4-FFF2-40B4-BE49-F238E27FC236}">
                <a16:creationId xmlns:a16="http://schemas.microsoft.com/office/drawing/2014/main" id="{D4F89D13-3D02-4B3F-8DD3-7BA63D5837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23526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23" name="Text Box 40">
            <a:extLst>
              <a:ext uri="{FF2B5EF4-FFF2-40B4-BE49-F238E27FC236}">
                <a16:creationId xmlns:a16="http://schemas.microsoft.com/office/drawing/2014/main" id="{DCAF029B-4F63-43FF-AECF-8F6DF02482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7288" y="3122613"/>
            <a:ext cx="2490788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600" b="1">
                <a:latin typeface="Calibri" pitchFamily="34" charset="0"/>
              </a:rPr>
              <a:t>read()</a:t>
            </a:r>
            <a:r>
              <a:rPr lang="en-US" altLang="zh-TW" sz="1600">
                <a:latin typeface="Calibri" pitchFamily="34" charset="0"/>
              </a:rPr>
              <a:t> – to receive data.</a:t>
            </a:r>
          </a:p>
          <a:p>
            <a:r>
              <a:rPr lang="en-US" altLang="zh-TW" sz="1600" b="1">
                <a:latin typeface="Calibri" pitchFamily="34" charset="0"/>
              </a:rPr>
              <a:t>write()</a:t>
            </a:r>
            <a:r>
              <a:rPr lang="en-US" altLang="zh-TW" sz="1600">
                <a:latin typeface="Calibri" pitchFamily="34" charset="0"/>
              </a:rPr>
              <a:t> – to send data.</a:t>
            </a:r>
          </a:p>
          <a:p>
            <a:r>
              <a:rPr lang="en-US" altLang="zh-TW" sz="1600" b="1">
                <a:latin typeface="Calibri" pitchFamily="34" charset="0"/>
              </a:rPr>
              <a:t>close()</a:t>
            </a:r>
            <a:r>
              <a:rPr lang="en-US" altLang="zh-TW" sz="1600">
                <a:latin typeface="Calibri" pitchFamily="34" charset="0"/>
              </a:rPr>
              <a:t> – to close the socket</a:t>
            </a:r>
          </a:p>
        </p:txBody>
      </p:sp>
      <p:sp>
        <p:nvSpPr>
          <p:cNvPr id="24" name="Line 41">
            <a:extLst>
              <a:ext uri="{FF2B5EF4-FFF2-40B4-BE49-F238E27FC236}">
                <a16:creationId xmlns:a16="http://schemas.microsoft.com/office/drawing/2014/main" id="{5DCD6942-DE13-4EFB-BEEB-67FAF2ED9264}"/>
              </a:ext>
            </a:extLst>
          </p:cNvPr>
          <p:cNvSpPr>
            <a:spLocks noChangeShapeType="1"/>
          </p:cNvSpPr>
          <p:nvPr/>
        </p:nvSpPr>
        <p:spPr bwMode="auto">
          <a:xfrm>
            <a:off x="8472488" y="213836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Box 42">
            <a:extLst>
              <a:ext uri="{FF2B5EF4-FFF2-40B4-BE49-F238E27FC236}">
                <a16:creationId xmlns:a16="http://schemas.microsoft.com/office/drawing/2014/main" id="{512AC3EE-D825-46FE-82E0-FBAB52551D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39288" y="6564313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</p:spTree>
    <p:extLst>
      <p:ext uri="{BB962C8B-B14F-4D97-AF65-F5344CB8AC3E}">
        <p14:creationId xmlns:p14="http://schemas.microsoft.com/office/powerpoint/2010/main" val="26480319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11AF92-8AD0-444F-83E3-E11532277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76290" y="1825625"/>
            <a:ext cx="5639420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B591B7-0ED3-894C-A352-8477ED74F3BB}"/>
              </a:ext>
            </a:extLst>
          </p:cNvPr>
          <p:cNvSpPr txBox="1"/>
          <p:nvPr/>
        </p:nvSpPr>
        <p:spPr>
          <a:xfrm>
            <a:off x="1436914" y="3708906"/>
            <a:ext cx="1252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8685D-FCCD-1D48-84F7-D47520F09B5B}"/>
              </a:ext>
            </a:extLst>
          </p:cNvPr>
          <p:cNvSpPr txBox="1"/>
          <p:nvPr/>
        </p:nvSpPr>
        <p:spPr>
          <a:xfrm>
            <a:off x="9688285" y="3708906"/>
            <a:ext cx="1147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Client</a:t>
            </a:r>
          </a:p>
        </p:txBody>
      </p:sp>
    </p:spTree>
    <p:extLst>
      <p:ext uri="{BB962C8B-B14F-4D97-AF65-F5344CB8AC3E}">
        <p14:creationId xmlns:p14="http://schemas.microsoft.com/office/powerpoint/2010/main" val="29464195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sp>
        <p:nvSpPr>
          <p:cNvPr id="9" name="Text Box 6">
            <a:extLst>
              <a:ext uri="{FF2B5EF4-FFF2-40B4-BE49-F238E27FC236}">
                <a16:creationId xmlns:a16="http://schemas.microsoft.com/office/drawing/2014/main" id="{F6AFE687-0492-4A55-AB34-D24ED6DC8C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37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10" name="Text Box 7">
            <a:extLst>
              <a:ext uri="{FF2B5EF4-FFF2-40B4-BE49-F238E27FC236}">
                <a16:creationId xmlns:a16="http://schemas.microsoft.com/office/drawing/2014/main" id="{34CEA3E1-E825-4190-BA28-33FC42C33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1" name="Text Box 9">
            <a:extLst>
              <a:ext uri="{FF2B5EF4-FFF2-40B4-BE49-F238E27FC236}">
                <a16:creationId xmlns:a16="http://schemas.microsoft.com/office/drawing/2014/main" id="{9EDF3584-74B0-4730-AA57-AAA168C844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0775" y="2271713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E83C4907-AB29-4059-8561-579811A2BB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6353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11">
            <a:extLst>
              <a:ext uri="{FF2B5EF4-FFF2-40B4-BE49-F238E27FC236}">
                <a16:creationId xmlns:a16="http://schemas.microsoft.com/office/drawing/2014/main" id="{244D6EC8-8247-47DF-AB89-82CCA3504F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44975" y="18764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12">
            <a:extLst>
              <a:ext uri="{FF2B5EF4-FFF2-40B4-BE49-F238E27FC236}">
                <a16:creationId xmlns:a16="http://schemas.microsoft.com/office/drawing/2014/main" id="{2C0B79DC-7211-46C9-9B05-933BEAB4A187}"/>
              </a:ext>
            </a:extLst>
          </p:cNvPr>
          <p:cNvSpPr>
            <a:spLocks noChangeShapeType="1"/>
          </p:cNvSpPr>
          <p:nvPr/>
        </p:nvSpPr>
        <p:spPr bwMode="auto">
          <a:xfrm>
            <a:off x="53879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14">
            <a:extLst>
              <a:ext uri="{FF2B5EF4-FFF2-40B4-BE49-F238E27FC236}">
                <a16:creationId xmlns:a16="http://schemas.microsoft.com/office/drawing/2014/main" id="{43E296AB-0EEF-4E91-94A8-7EBF3F9648E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16775" y="2617788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Box 15">
            <a:extLst>
              <a:ext uri="{FF2B5EF4-FFF2-40B4-BE49-F238E27FC236}">
                <a16:creationId xmlns:a16="http://schemas.microsoft.com/office/drawing/2014/main" id="{6BCF302D-B88D-477B-8D98-5019312257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37099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7" name="Text Box 16">
            <a:extLst>
              <a:ext uri="{FF2B5EF4-FFF2-40B4-BE49-F238E27FC236}">
                <a16:creationId xmlns:a16="http://schemas.microsoft.com/office/drawing/2014/main" id="{17F0FCD2-C122-43FA-A96E-A2EF64DB3C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24860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18" name="Line 17">
            <a:extLst>
              <a:ext uri="{FF2B5EF4-FFF2-40B4-BE49-F238E27FC236}">
                <a16:creationId xmlns:a16="http://schemas.microsoft.com/office/drawing/2014/main" id="{4D023969-95A2-468A-A3E0-B675ED6570BA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7175" y="227171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289FA5-0234-4100-9377-F65B26C0F8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latin typeface="Consolas" pitchFamily="49" charset="0"/>
              </a:rPr>
              <a:t>Socket FD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D8A21C-1E7E-4D09-B905-8CE711B8C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4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B94EDB-4E65-4E1D-A28A-5B6B4ED819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15859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E2CC8E-EDB7-4393-86A1-74F25FC28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28051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C9CEC58-E6BE-4C40-8200-5922040D6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6975" y="2008188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4" name="Text Box 23">
            <a:extLst>
              <a:ext uri="{FF2B5EF4-FFF2-40B4-BE49-F238E27FC236}">
                <a16:creationId xmlns:a16="http://schemas.microsoft.com/office/drawing/2014/main" id="{94F98D6C-E4AD-4590-AE5B-B0B3DBE42A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59775" y="3373438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25" name="Line 24">
            <a:extLst>
              <a:ext uri="{FF2B5EF4-FFF2-40B4-BE49-F238E27FC236}">
                <a16:creationId xmlns:a16="http://schemas.microsoft.com/office/drawing/2014/main" id="{670D0AA2-BFA6-4BC7-AE67-50825652B4B7}"/>
              </a:ext>
            </a:extLst>
          </p:cNvPr>
          <p:cNvSpPr>
            <a:spLocks noChangeShapeType="1"/>
          </p:cNvSpPr>
          <p:nvPr/>
        </p:nvSpPr>
        <p:spPr bwMode="auto">
          <a:xfrm>
            <a:off x="7292975" y="2881313"/>
            <a:ext cx="9906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0BC3896-39BA-478F-BF56-19FA3C557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5975" y="3109913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04EEB0F-761A-4404-822C-C1CEB3CD1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7289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C2683EF-7905-4295-8288-A7DF629785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8813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8A9B143-8954-45B1-B481-3D090FB578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30337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 Box 30">
            <a:extLst>
              <a:ext uri="{FF2B5EF4-FFF2-40B4-BE49-F238E27FC236}">
                <a16:creationId xmlns:a16="http://schemas.microsoft.com/office/drawing/2014/main" id="{F0B5B28B-72D4-4E80-87A2-4986B99846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329113"/>
            <a:ext cx="7696200" cy="4302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An interesting thing about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r>
              <a:rPr lang="en-US" altLang="zh-TW" sz="1600" dirty="0">
                <a:latin typeface="Calibri" pitchFamily="34" charset="0"/>
              </a:rPr>
              <a:t> is the creation of a </a:t>
            </a:r>
            <a:r>
              <a:rPr lang="en-US" altLang="zh-TW" sz="1600" b="1" dirty="0">
                <a:solidFill>
                  <a:srgbClr val="FF3300"/>
                </a:solidFill>
                <a:latin typeface="Calibri" pitchFamily="34" charset="0"/>
              </a:rPr>
              <a:t>new file descriptor</a:t>
            </a:r>
            <a:r>
              <a:rPr lang="en-US" altLang="zh-TW" sz="1600" dirty="0">
                <a:latin typeface="Calibri" pitchFamily="34" charset="0"/>
              </a:rPr>
              <a:t>!</a:t>
            </a:r>
          </a:p>
        </p:txBody>
      </p:sp>
      <p:sp>
        <p:nvSpPr>
          <p:cNvPr id="32" name="Text Box 31">
            <a:extLst>
              <a:ext uri="{FF2B5EF4-FFF2-40B4-BE49-F238E27FC236}">
                <a16:creationId xmlns:a16="http://schemas.microsoft.com/office/drawing/2014/main" id="{3BF08CE2-AE43-465C-8504-4E22C3A2FA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Application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Good!  It provides each connection a new handler and we can distinguish every connection!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29ADE9-9816-4B60-9622-82270D1BC9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92975" y="21955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75872B7-6D75-4EF2-A03D-2B66163D87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9575" y="34147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#n</a:t>
            </a:r>
          </a:p>
        </p:txBody>
      </p:sp>
      <p:sp>
        <p:nvSpPr>
          <p:cNvPr id="35" name="Text Box 34">
            <a:extLst>
              <a:ext uri="{FF2B5EF4-FFF2-40B4-BE49-F238E27FC236}">
                <a16:creationId xmlns:a16="http://schemas.microsoft.com/office/drawing/2014/main" id="{72FED377-0EC2-45E9-8638-AA6034CD5C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99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Transport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Well, for TCP, every FD points to </a:t>
            </a:r>
            <a:r>
              <a:rPr lang="en-US" altLang="zh-TW" sz="1600" b="1" dirty="0">
                <a:solidFill>
                  <a:srgbClr val="C00000"/>
                </a:solidFill>
                <a:latin typeface="Calibri" pitchFamily="34" charset="0"/>
              </a:rPr>
              <a:t>a unique TCP control structure</a:t>
            </a:r>
            <a:r>
              <a:rPr lang="en-US" altLang="zh-TW" sz="1600" dirty="0">
                <a:latin typeface="Calibri" pitchFamily="34" charset="0"/>
              </a:rPr>
              <a:t>. It is a necessary for reliable data transfer!</a:t>
            </a:r>
          </a:p>
        </p:txBody>
      </p:sp>
    </p:spTree>
    <p:extLst>
      <p:ext uri="{BB962C8B-B14F-4D97-AF65-F5344CB8AC3E}">
        <p14:creationId xmlns:p14="http://schemas.microsoft.com/office/powerpoint/2010/main" val="22878906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socket()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Create a socket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B148E8-50D7-4542-A495-2257CE9D6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690" y="2919109"/>
            <a:ext cx="9616620" cy="62958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0C166B3-D1B0-6A4E-9334-36DA412495C4}"/>
              </a:ext>
            </a:extLst>
          </p:cNvPr>
          <p:cNvSpPr/>
          <p:nvPr/>
        </p:nvSpPr>
        <p:spPr>
          <a:xfrm>
            <a:off x="838200" y="4200009"/>
            <a:ext cx="763555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socket_fd</a:t>
            </a:r>
            <a:r>
              <a:rPr lang="en-US" sz="2400" dirty="0"/>
              <a:t> = socket(AF_INET, SOCK_STREAM, IPPROTO_TCP);</a:t>
            </a:r>
          </a:p>
        </p:txBody>
      </p:sp>
    </p:spTree>
    <p:extLst>
      <p:ext uri="{BB962C8B-B14F-4D97-AF65-F5344CB8AC3E}">
        <p14:creationId xmlns:p14="http://schemas.microsoft.com/office/powerpoint/2010/main" val="2477746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Programming-Server: bind()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543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500" dirty="0"/>
              <a:t>Bind an address to a socket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3285BD-3165-3D46-A0CB-9A06242E6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74" y="2674261"/>
            <a:ext cx="10541000" cy="8636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B586356-C565-9B40-BF75-839DA7B53FCB}"/>
              </a:ext>
            </a:extLst>
          </p:cNvPr>
          <p:cNvSpPr/>
          <p:nvPr/>
        </p:nvSpPr>
        <p:spPr>
          <a:xfrm>
            <a:off x="838199" y="3889059"/>
            <a:ext cx="7445829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struct </a:t>
            </a:r>
            <a:r>
              <a:rPr lang="en-US" sz="2400" dirty="0" err="1"/>
              <a:t>sockaddr_in</a:t>
            </a:r>
            <a:r>
              <a:rPr lang="en-US" sz="2400" dirty="0"/>
              <a:t> </a:t>
            </a:r>
            <a:r>
              <a:rPr lang="en-US" sz="2400" dirty="0" err="1"/>
              <a:t>addr</a:t>
            </a:r>
            <a:r>
              <a:rPr lang="en-US" sz="2400" dirty="0"/>
              <a:t>; </a:t>
            </a:r>
          </a:p>
          <a:p>
            <a:r>
              <a:rPr lang="en-US" sz="2400" dirty="0" err="1"/>
              <a:t>memset</a:t>
            </a:r>
            <a:r>
              <a:rPr lang="en-US" sz="2400" dirty="0"/>
              <a:t>(&amp;</a:t>
            </a:r>
            <a:r>
              <a:rPr lang="en-US" sz="2400" dirty="0" err="1"/>
              <a:t>addr</a:t>
            </a:r>
            <a:r>
              <a:rPr lang="en-US" sz="2400" dirty="0"/>
              <a:t>, 0,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addr</a:t>
            </a:r>
            <a:r>
              <a:rPr lang="en-US" sz="2400" dirty="0"/>
              <a:t>)); </a:t>
            </a:r>
          </a:p>
          <a:p>
            <a:r>
              <a:rPr lang="en-US" sz="2400" dirty="0" err="1"/>
              <a:t>addr.sin_family</a:t>
            </a:r>
            <a:r>
              <a:rPr lang="en-US" sz="2400" dirty="0"/>
              <a:t> = AF_INET; </a:t>
            </a:r>
            <a:r>
              <a:rPr lang="en-HK" sz="2400" dirty="0"/>
              <a:t>% Address family</a:t>
            </a:r>
            <a:endParaRPr lang="en-US" sz="2400" dirty="0"/>
          </a:p>
          <a:p>
            <a:r>
              <a:rPr lang="en-US" sz="2400" dirty="0" err="1"/>
              <a:t>addr.sin_addr.s_addr</a:t>
            </a:r>
            <a:r>
              <a:rPr lang="en-US" sz="2400" dirty="0"/>
              <a:t> = INADDR_ANY; % 0.0.0.0</a:t>
            </a:r>
          </a:p>
          <a:p>
            <a:r>
              <a:rPr lang="en-US" sz="2400" dirty="0" err="1"/>
              <a:t>addr.sin_port</a:t>
            </a:r>
            <a:r>
              <a:rPr lang="en-US" sz="2400" dirty="0"/>
              <a:t> = </a:t>
            </a:r>
            <a:r>
              <a:rPr lang="en-US" sz="2400" dirty="0" err="1"/>
              <a:t>htons</a:t>
            </a:r>
            <a:r>
              <a:rPr lang="en-US" sz="2400" dirty="0"/>
              <a:t>(port); % Host to network long</a:t>
            </a:r>
          </a:p>
          <a:p>
            <a:r>
              <a:rPr lang="en-US" sz="2400" dirty="0"/>
              <a:t>bind(</a:t>
            </a:r>
            <a:r>
              <a:rPr lang="en-US" sz="2400" dirty="0" err="1"/>
              <a:t>sockfd</a:t>
            </a:r>
            <a:r>
              <a:rPr lang="en-US" sz="2400" dirty="0"/>
              <a:t>, (struct </a:t>
            </a:r>
            <a:r>
              <a:rPr lang="en-US" sz="2400" dirty="0" err="1"/>
              <a:t>sockaddr</a:t>
            </a:r>
            <a:r>
              <a:rPr lang="en-US" sz="2400" dirty="0"/>
              <a:t> *) &amp;</a:t>
            </a:r>
            <a:r>
              <a:rPr lang="en-US" sz="2400" dirty="0" err="1"/>
              <a:t>addr</a:t>
            </a:r>
            <a:r>
              <a:rPr lang="en-US" sz="2400" dirty="0"/>
              <a:t>,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addr</a:t>
            </a:r>
            <a:r>
              <a:rPr lang="en-US" sz="2400" dirty="0"/>
              <a:t>));</a:t>
            </a:r>
          </a:p>
        </p:txBody>
      </p:sp>
    </p:spTree>
    <p:extLst>
      <p:ext uri="{BB962C8B-B14F-4D97-AF65-F5344CB8AC3E}">
        <p14:creationId xmlns:p14="http://schemas.microsoft.com/office/powerpoint/2010/main" val="33550031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Programming-Server: listen()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Listen for connections on a socket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480844-4AD9-7945-A207-E3FE35124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29" y="2844801"/>
            <a:ext cx="7366000" cy="711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B692967-652C-AB4A-9FFE-F0D2464A2DD4}"/>
              </a:ext>
            </a:extLst>
          </p:cNvPr>
          <p:cNvSpPr/>
          <p:nvPr/>
        </p:nvSpPr>
        <p:spPr>
          <a:xfrm>
            <a:off x="838200" y="3953040"/>
            <a:ext cx="238206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/>
              <a:t>listen(</a:t>
            </a:r>
            <a:r>
              <a:rPr lang="en-US" sz="2400" dirty="0" err="1"/>
              <a:t>sockfd</a:t>
            </a:r>
            <a:r>
              <a:rPr lang="en-US" sz="2400" dirty="0"/>
              <a:t>, 10);</a:t>
            </a:r>
          </a:p>
        </p:txBody>
      </p:sp>
    </p:spTree>
    <p:extLst>
      <p:ext uri="{BB962C8B-B14F-4D97-AF65-F5344CB8AC3E}">
        <p14:creationId xmlns:p14="http://schemas.microsoft.com/office/powerpoint/2010/main" val="37815259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Programming-Client: connect()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Initiate a connection on a socket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D5C397-6034-9D41-9BB4-A827A6FAA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157" y="2616200"/>
            <a:ext cx="10337800" cy="8128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65A69BD-EADE-DA43-8E5A-0F49CD1E94FF}"/>
              </a:ext>
            </a:extLst>
          </p:cNvPr>
          <p:cNvSpPr/>
          <p:nvPr/>
        </p:nvSpPr>
        <p:spPr>
          <a:xfrm>
            <a:off x="838200" y="3717658"/>
            <a:ext cx="8850087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en-US" sz="2400" dirty="0"/>
              <a:t>struct </a:t>
            </a:r>
            <a:r>
              <a:rPr lang="en-US" sz="2400" dirty="0" err="1"/>
              <a:t>hostent</a:t>
            </a:r>
            <a:r>
              <a:rPr lang="en-US" sz="2400" dirty="0"/>
              <a:t> *server = </a:t>
            </a:r>
            <a:r>
              <a:rPr lang="en-US" sz="2400" dirty="0" err="1"/>
              <a:t>gethostbyname</a:t>
            </a:r>
            <a:r>
              <a:rPr lang="en-US" sz="2400" dirty="0"/>
              <a:t>(hostname); </a:t>
            </a:r>
          </a:p>
          <a:p>
            <a:pPr hangingPunct="0"/>
            <a:r>
              <a:rPr lang="en-US" sz="2400" dirty="0"/>
              <a:t>struct </a:t>
            </a:r>
            <a:r>
              <a:rPr lang="en-US" sz="2400" dirty="0" err="1"/>
              <a:t>sockaddr_in</a:t>
            </a:r>
            <a:r>
              <a:rPr lang="en-US" sz="2400" dirty="0"/>
              <a:t> </a:t>
            </a:r>
            <a:r>
              <a:rPr lang="en-US" sz="2400" dirty="0" err="1"/>
              <a:t>addr</a:t>
            </a:r>
            <a:r>
              <a:rPr lang="en-US" sz="2400" dirty="0"/>
              <a:t>; </a:t>
            </a:r>
          </a:p>
          <a:p>
            <a:pPr hangingPunct="0"/>
            <a:r>
              <a:rPr lang="en-US" sz="2400" dirty="0" err="1"/>
              <a:t>memset</a:t>
            </a:r>
            <a:r>
              <a:rPr lang="en-US" sz="2400" dirty="0"/>
              <a:t>(&amp;</a:t>
            </a:r>
            <a:r>
              <a:rPr lang="en-US" sz="2400" dirty="0" err="1"/>
              <a:t>addr</a:t>
            </a:r>
            <a:r>
              <a:rPr lang="en-US" sz="2400" dirty="0"/>
              <a:t>, 0,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addr</a:t>
            </a:r>
            <a:r>
              <a:rPr lang="en-US" sz="2400" dirty="0"/>
              <a:t>)); </a:t>
            </a:r>
          </a:p>
          <a:p>
            <a:pPr hangingPunct="0"/>
            <a:r>
              <a:rPr lang="en-US" sz="2400" dirty="0" err="1"/>
              <a:t>addr.sin_family</a:t>
            </a:r>
            <a:r>
              <a:rPr lang="en-US" sz="2400" dirty="0"/>
              <a:t> = AF_INET; </a:t>
            </a:r>
          </a:p>
          <a:p>
            <a:pPr hangingPunct="0"/>
            <a:r>
              <a:rPr lang="en-US" sz="2400" dirty="0" err="1"/>
              <a:t>addr.sin_addr.s_addr</a:t>
            </a:r>
            <a:r>
              <a:rPr lang="en-US" sz="2400" dirty="0"/>
              <a:t> = * (unsigned long *) server-&gt;</a:t>
            </a:r>
            <a:r>
              <a:rPr lang="en-US" sz="2400" dirty="0" err="1"/>
              <a:t>h_addr_list</a:t>
            </a:r>
            <a:r>
              <a:rPr lang="en-US" sz="2400" dirty="0"/>
              <a:t>[0]; </a:t>
            </a:r>
          </a:p>
          <a:p>
            <a:pPr hangingPunct="0"/>
            <a:r>
              <a:rPr lang="en-US" sz="2400" dirty="0" err="1"/>
              <a:t>addr.sin_port</a:t>
            </a:r>
            <a:r>
              <a:rPr lang="en-US" sz="2400" dirty="0"/>
              <a:t> = </a:t>
            </a:r>
            <a:r>
              <a:rPr lang="en-US" sz="2400" dirty="0" err="1"/>
              <a:t>htons</a:t>
            </a:r>
            <a:r>
              <a:rPr lang="en-US" sz="2400" dirty="0"/>
              <a:t>(</a:t>
            </a:r>
            <a:r>
              <a:rPr lang="en-US" sz="2400" dirty="0" err="1"/>
              <a:t>server_port</a:t>
            </a:r>
            <a:r>
              <a:rPr lang="en-US" sz="2400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8630587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Programming-Server: accept()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Accept a connection on a socket</a:t>
            </a:r>
            <a:endParaRPr lang="en-US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5A69BD-EADE-DA43-8E5A-0F49CD1E94FF}"/>
              </a:ext>
            </a:extLst>
          </p:cNvPr>
          <p:cNvSpPr/>
          <p:nvPr/>
        </p:nvSpPr>
        <p:spPr>
          <a:xfrm>
            <a:off x="838200" y="3717658"/>
            <a:ext cx="885008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en-US" sz="2400" dirty="0" err="1"/>
              <a:t>socklen_t</a:t>
            </a:r>
            <a:r>
              <a:rPr lang="en-US" sz="2400" dirty="0"/>
              <a:t> </a:t>
            </a:r>
            <a:r>
              <a:rPr lang="en-US" sz="2400" dirty="0" err="1"/>
              <a:t>addr_len</a:t>
            </a:r>
            <a:r>
              <a:rPr lang="en-US" sz="2400" dirty="0"/>
              <a:t> =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addr</a:t>
            </a:r>
            <a:r>
              <a:rPr lang="en-US" sz="2400" dirty="0"/>
              <a:t>); </a:t>
            </a:r>
          </a:p>
          <a:p>
            <a:pPr hangingPunct="0"/>
            <a:r>
              <a:rPr lang="en-US" sz="2400" dirty="0"/>
              <a:t>int conn = accept(</a:t>
            </a:r>
            <a:r>
              <a:rPr lang="en-US" sz="2400" dirty="0" err="1"/>
              <a:t>sockfd</a:t>
            </a:r>
            <a:r>
              <a:rPr lang="en-US" sz="2400" dirty="0"/>
              <a:t>, (struct </a:t>
            </a:r>
            <a:r>
              <a:rPr lang="en-US" sz="2400" dirty="0" err="1"/>
              <a:t>sockaddr</a:t>
            </a:r>
            <a:r>
              <a:rPr lang="en-US" sz="2400" dirty="0"/>
              <a:t> *) &amp;</a:t>
            </a:r>
            <a:r>
              <a:rPr lang="en-US" sz="2400" dirty="0" err="1"/>
              <a:t>addr</a:t>
            </a:r>
            <a:r>
              <a:rPr lang="en-US" sz="2400" dirty="0"/>
              <a:t>, &amp;</a:t>
            </a:r>
            <a:r>
              <a:rPr lang="en-US" sz="2400" dirty="0" err="1"/>
              <a:t>addr_len</a:t>
            </a:r>
            <a:r>
              <a:rPr lang="en-US" sz="2400" dirty="0"/>
              <a:t>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B8ECFB-DBDD-7147-A6FE-FB32D105F1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173" y="2676298"/>
            <a:ext cx="11339285" cy="740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1561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send()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Send a message on a socket</a:t>
            </a:r>
            <a:endParaRPr lang="en-US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5A69BD-EADE-DA43-8E5A-0F49CD1E94FF}"/>
              </a:ext>
            </a:extLst>
          </p:cNvPr>
          <p:cNvSpPr/>
          <p:nvPr/>
        </p:nvSpPr>
        <p:spPr>
          <a:xfrm>
            <a:off x="838200" y="3717658"/>
            <a:ext cx="885008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en-US" sz="2400" dirty="0"/>
              <a:t>send(</a:t>
            </a:r>
            <a:r>
              <a:rPr lang="en-US" sz="2400" dirty="0" err="1"/>
              <a:t>sockfd</a:t>
            </a:r>
            <a:r>
              <a:rPr lang="en-US" sz="2400" dirty="0"/>
              <a:t>, buffer, MSG_SIZE, MSG_NOSIGNAL);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4675FE-F79E-C645-8EAA-C00F491721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731794"/>
            <a:ext cx="11027229" cy="795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6005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</a:t>
            </a:r>
            <a:r>
              <a:rPr lang="en-US" b="1" dirty="0" err="1"/>
              <a:t>recv</a:t>
            </a:r>
            <a:r>
              <a:rPr lang="en-US" b="1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Receive a message on a socket</a:t>
            </a:r>
            <a:endParaRPr lang="en-US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5A69BD-EADE-DA43-8E5A-0F49CD1E94FF}"/>
              </a:ext>
            </a:extLst>
          </p:cNvPr>
          <p:cNvSpPr/>
          <p:nvPr/>
        </p:nvSpPr>
        <p:spPr>
          <a:xfrm>
            <a:off x="838200" y="3717658"/>
            <a:ext cx="885008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en-US" sz="2400" dirty="0" err="1"/>
              <a:t>byte_recved</a:t>
            </a:r>
            <a:r>
              <a:rPr lang="en-US" sz="2400" dirty="0"/>
              <a:t> = </a:t>
            </a:r>
            <a:r>
              <a:rPr lang="en-US" sz="2400" dirty="0" err="1"/>
              <a:t>recv</a:t>
            </a:r>
            <a:r>
              <a:rPr lang="en-US" sz="2400" dirty="0"/>
              <a:t>(conn, buffer, </a:t>
            </a:r>
            <a:r>
              <a:rPr lang="en-US" sz="2400" dirty="0" err="1"/>
              <a:t>len</a:t>
            </a:r>
            <a:r>
              <a:rPr lang="en-US" sz="2400" dirty="0"/>
              <a:t>, MSG_NOSIGNAL);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27AB7E-88BC-F041-A7B3-C9FD27A79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178" y="2718141"/>
            <a:ext cx="10730593" cy="710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7651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A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98230"/>
          </a:xfrm>
        </p:spPr>
        <p:txBody>
          <a:bodyPr>
            <a:normAutofit fontScale="85000" lnSpcReduction="10000"/>
          </a:bodyPr>
          <a:lstStyle/>
          <a:p>
            <a:r>
              <a:rPr lang="en-HK" dirty="0">
                <a:hlinkClick r:id="rId2"/>
              </a:rPr>
              <a:t>eecs482/</a:t>
            </a:r>
            <a:r>
              <a:rPr lang="en-HK" dirty="0" err="1">
                <a:hlinkClick r:id="rId2"/>
              </a:rPr>
              <a:t>bgreeves</a:t>
            </a:r>
            <a:r>
              <a:rPr lang="en-HK" dirty="0">
                <a:hlinkClick r:id="rId2"/>
              </a:rPr>
              <a:t>-socket-example: Sockets example from discussion</a:t>
            </a:r>
            <a:endParaRPr lang="en-HK" dirty="0"/>
          </a:p>
          <a:p>
            <a:r>
              <a:rPr lang="en-HK" dirty="0"/>
              <a:t>Linux or Mac OS.</a:t>
            </a:r>
          </a:p>
          <a:p>
            <a:r>
              <a:rPr lang="en-HK" dirty="0"/>
              <a:t>A virtual machine is provided </a:t>
            </a:r>
            <a:r>
              <a:rPr lang="en-HK" dirty="0">
                <a:hlinkClick r:id="rId3"/>
              </a:rPr>
              <a:t>here</a:t>
            </a:r>
            <a:r>
              <a:rPr lang="en-HK" dirty="0"/>
              <a:t>. (The password is identical to the username.)</a:t>
            </a:r>
          </a:p>
          <a:p>
            <a:r>
              <a:rPr lang="en-US" altLang="zh-CN" dirty="0"/>
              <a:t>Tip: Manually s</a:t>
            </a:r>
            <a:r>
              <a:rPr lang="en-US" dirty="0"/>
              <a:t>et shared folder between your PC/laptop and VM: </a:t>
            </a:r>
            <a:r>
              <a:rPr lang="en-US" dirty="0" err="1"/>
              <a:t>sudo</a:t>
            </a:r>
            <a:r>
              <a:rPr lang="en-US" dirty="0"/>
              <a:t> mount - t </a:t>
            </a:r>
            <a:r>
              <a:rPr lang="en-US" dirty="0" err="1"/>
              <a:t>vboxsf</a:t>
            </a:r>
            <a:r>
              <a:rPr lang="en-US" dirty="0"/>
              <a:t>   </a:t>
            </a:r>
            <a:r>
              <a:rPr lang="en-US" i="1" u="sng" dirty="0"/>
              <a:t>folder name in VirtualBox App setting</a:t>
            </a:r>
            <a:r>
              <a:rPr lang="en-US" i="1" dirty="0"/>
              <a:t>   </a:t>
            </a:r>
            <a:r>
              <a:rPr lang="en-US" i="1" u="sng" dirty="0"/>
              <a:t>folder name in VM</a:t>
            </a:r>
            <a:endParaRPr lang="en-HK" dirty="0"/>
          </a:p>
          <a:p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18710052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007632"/>
          </a:xfrm>
        </p:spPr>
        <p:txBody>
          <a:bodyPr>
            <a:normAutofit/>
          </a:bodyPr>
          <a:lstStyle/>
          <a:p>
            <a:r>
              <a:rPr lang="en-HK" dirty="0">
                <a:hlinkClick r:id="rId2"/>
              </a:rPr>
              <a:t>Beej's Guide to Network Programming</a:t>
            </a:r>
            <a:endParaRPr lang="en-HK" dirty="0"/>
          </a:p>
          <a:p>
            <a:r>
              <a:rPr lang="en-HK" dirty="0">
                <a:hlinkClick r:id="rId3"/>
              </a:rPr>
              <a:t>eecs482/bgreeves-socket-example: Sockets example from discussion</a:t>
            </a:r>
            <a:endParaRPr lang="en-HK" dirty="0"/>
          </a:p>
          <a:p>
            <a:r>
              <a:rPr lang="en-HK" dirty="0"/>
              <a:t>man is always your good friend</a:t>
            </a:r>
          </a:p>
          <a:p>
            <a:pPr lvl="1"/>
            <a:r>
              <a:rPr lang="en-HK" sz="2800" dirty="0"/>
              <a:t>man socket</a:t>
            </a:r>
            <a:endParaRPr lang="en-HK" dirty="0"/>
          </a:p>
          <a:p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6165644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5350732" y="3136612"/>
            <a:ext cx="14905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2356</TotalTime>
  <Words>1134</Words>
  <Application>Microsoft Office PowerPoint</Application>
  <PresentationFormat>宽屏</PresentationFormat>
  <Paragraphs>235</Paragraphs>
  <Slides>26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6" baseType="lpstr">
      <vt:lpstr>-apple-system</vt:lpstr>
      <vt:lpstr>新細明體</vt:lpstr>
      <vt:lpstr>等线</vt:lpstr>
      <vt:lpstr>等线 Light</vt:lpstr>
      <vt:lpstr>Arial</vt:lpstr>
      <vt:lpstr>Calibri</vt:lpstr>
      <vt:lpstr>Calibri Light</vt:lpstr>
      <vt:lpstr>Consolas</vt:lpstr>
      <vt:lpstr>Wingdings</vt:lpstr>
      <vt:lpstr>Office Theme</vt:lpstr>
      <vt:lpstr>CSCI 4430 - FALL 25</vt:lpstr>
      <vt:lpstr>Welcome to CSCI4430, Computer Networks!</vt:lpstr>
      <vt:lpstr>Outline</vt:lpstr>
      <vt:lpstr>Assignment 1</vt:lpstr>
      <vt:lpstr>Assignment 1</vt:lpstr>
      <vt:lpstr>Assignment 1</vt:lpstr>
      <vt:lpstr>Assignment 1</vt:lpstr>
      <vt:lpstr>Assignment 1</vt:lpstr>
      <vt:lpstr>Socket Programming: Intro</vt:lpstr>
      <vt:lpstr>Socket Programming: Intro</vt:lpstr>
      <vt:lpstr>Socket Programming: TCP/UDP</vt:lpstr>
      <vt:lpstr>Socket Programming: Complete Flow</vt:lpstr>
      <vt:lpstr>Socket Programming: Client Side</vt:lpstr>
      <vt:lpstr>Socket Programming: Server Side</vt:lpstr>
      <vt:lpstr>Socket Programming: Complete Flow</vt:lpstr>
      <vt:lpstr>Socket Programming: Complete Flow</vt:lpstr>
      <vt:lpstr>Socket Programming: socket()</vt:lpstr>
      <vt:lpstr>Socket Programming-Server: bind()</vt:lpstr>
      <vt:lpstr>Socket Programming-Server: listen()</vt:lpstr>
      <vt:lpstr>Socket Programming-Client: connect()</vt:lpstr>
      <vt:lpstr>Socket Programming-Server: accept()</vt:lpstr>
      <vt:lpstr>Socket Programming: send()</vt:lpstr>
      <vt:lpstr>Socket Programming: recv()</vt:lpstr>
      <vt:lpstr>Socket Programming: A Demo</vt:lpstr>
      <vt:lpstr>Socket Programming: Resources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admin</cp:lastModifiedBy>
  <cp:revision>69</cp:revision>
  <dcterms:created xsi:type="dcterms:W3CDTF">2022-01-09T08:27:06Z</dcterms:created>
  <dcterms:modified xsi:type="dcterms:W3CDTF">2025-09-01T16:16:13Z</dcterms:modified>
</cp:coreProperties>
</file>
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83" r:id="rId4"/>
    <p:sldId id="287" r:id="rId5"/>
    <p:sldId id="288" r:id="rId6"/>
    <p:sldId id="580" r:id="rId7"/>
    <p:sldId id="579" r:id="rId8"/>
    <p:sldId id="578" r:id="rId9"/>
    <p:sldId id="577" r:id="rId10"/>
    <p:sldId id="566" r:id="rId11"/>
    <p:sldId id="567" r:id="rId12"/>
    <p:sldId id="565" r:id="rId13"/>
    <p:sldId id="568" r:id="rId14"/>
    <p:sldId id="570" r:id="rId15"/>
    <p:sldId id="571" r:id="rId16"/>
    <p:sldId id="575" r:id="rId17"/>
    <p:sldId id="574" r:id="rId18"/>
    <p:sldId id="576" r:id="rId19"/>
    <p:sldId id="284" r:id="rId20"/>
    <p:sldId id="272" r:id="rId21"/>
    <p:sldId id="562" r:id="rId22"/>
    <p:sldId id="563" r:id="rId23"/>
    <p:sldId id="573" r:id="rId24"/>
    <p:sldId id="57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/>
    <p:restoredTop sz="88575" autoAdjust="0"/>
  </p:normalViewPr>
  <p:slideViewPr>
    <p:cSldViewPr snapToGrid="0" snapToObjects="1">
      <p:cViewPr>
        <p:scale>
          <a:sx n="110" d="100"/>
          <a:sy n="110" d="100"/>
        </p:scale>
        <p:origin x="84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  <pc:picChg chg="add">
          <ac:chgData name="SONG, Qingyu" userId="498998f4-7f18-4549-a740-dcfb6e1e3d22" providerId="ADAL" clId="{0F84402B-494A-D841-9A43-F49E88B6429E}" dt="2022-01-19T14:28:08.480" v="0"/>
          <ac:picMkLst>
            <pc:docMk/>
            <pc:sldMk cId="356419186" sldId="256"/>
            <ac:picMk id="6" creationId="{919BED88-AA1D-3144-ABB6-9C775BCC2765}"/>
          </ac:picMkLst>
        </pc:picChg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  <pc:spChg chg="mod">
          <ac:chgData name="SONG, Qingyu" userId="498998f4-7f18-4549-a740-dcfb6e1e3d22" providerId="ADAL" clId="{0F84402B-494A-D841-9A43-F49E88B6429E}" dt="2022-01-19T14:28:15.459" v="2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  <pc:spChg chg="mod">
          <ac:chgData name="SONG, Qingyu" userId="498998f4-7f18-4549-a740-dcfb6e1e3d22" providerId="ADAL" clId="{0F84402B-494A-D841-9A43-F49E88B6429E}" dt="2022-01-19T14:28:33.707" v="8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  <pc:spChg chg="mod">
          <ac:chgData name="SONG, Qingyu" userId="498998f4-7f18-4549-a740-dcfb6e1e3d22" providerId="ADAL" clId="{0F84402B-494A-D841-9A43-F49E88B6429E}" dt="2022-01-19T14:30:51.589" v="9" actId="20577"/>
          <ac:spMkLst>
            <pc:docMk/>
            <pc:sldMk cId="746100141" sldId="274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2:36.846" v="53" actId="20577"/>
          <ac:spMkLst>
            <pc:docMk/>
            <pc:sldMk cId="746100141" sldId="274"/>
            <ac:spMk id="3" creationId="{8F20472D-613F-3748-9CBD-88055CDB4B08}"/>
          </ac:spMkLst>
        </pc:spChg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  <pc:spChg chg="mod">
          <ac:chgData name="SONG, Qingyu" userId="498998f4-7f18-4549-a740-dcfb6e1e3d22" providerId="ADAL" clId="{0F84402B-494A-D841-9A43-F49E88B6429E}" dt="2022-01-19T14:30:56.113" v="10"/>
          <ac:spMkLst>
            <pc:docMk/>
            <pc:sldMk cId="442365464" sldId="275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3:09.710" v="57" actId="20577"/>
          <ac:spMkLst>
            <pc:docMk/>
            <pc:sldMk cId="442365464" sldId="275"/>
            <ac:spMk id="3" creationId="{8F20472D-613F-3748-9CBD-88055CDB4B08}"/>
          </ac:spMkLst>
        </pc:spChg>
        <pc:spChg chg="mod">
          <ac:chgData name="SONG, Qingyu" userId="498998f4-7f18-4549-a740-dcfb6e1e3d22" providerId="ADAL" clId="{0F84402B-494A-D841-9A43-F49E88B6429E}" dt="2022-01-19T14:52:30.806" v="49" actId="1036"/>
          <ac:spMkLst>
            <pc:docMk/>
            <pc:sldMk cId="442365464" sldId="275"/>
            <ac:spMk id="7" creationId="{B4F2FCAB-565E-4178-BECE-B014B8B03F74}"/>
          </ac:spMkLst>
        </pc:spChg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  <pc:spChg chg="mod">
          <ac:chgData name="SONG, Qingyu" userId="498998f4-7f18-4549-a740-dcfb6e1e3d22" providerId="ADAL" clId="{0F84402B-494A-D841-9A43-F49E88B6429E}" dt="2022-01-19T14:31:04.578" v="12"/>
          <ac:spMkLst>
            <pc:docMk/>
            <pc:sldMk cId="3494430642" sldId="276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  <pc:spChg chg="mod">
          <ac:chgData name="SONG, Qingyu" userId="498998f4-7f18-4549-a740-dcfb6e1e3d22" providerId="ADAL" clId="{0F84402B-494A-D841-9A43-F49E88B6429E}" dt="2022-01-19T14:31:06.498" v="13" actId="20577"/>
          <ac:spMkLst>
            <pc:docMk/>
            <pc:sldMk cId="4278079293" sldId="277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31.128" v="89" actId="20577"/>
          <ac:spMkLst>
            <pc:docMk/>
            <pc:sldMk cId="4278079293" sldId="277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  <pc:spChg chg="mod">
          <ac:chgData name="SONG, Qingyu" userId="498998f4-7f18-4549-a740-dcfb6e1e3d22" providerId="ADAL" clId="{0F84402B-494A-D841-9A43-F49E88B6429E}" dt="2022-01-19T14:31:13.089" v="14"/>
          <ac:spMkLst>
            <pc:docMk/>
            <pc:sldMk cId="3882663473" sldId="278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  <pc:spChg chg="mod">
          <ac:chgData name="SONG, Qingyu" userId="498998f4-7f18-4549-a740-dcfb6e1e3d22" providerId="ADAL" clId="{0F84402B-494A-D841-9A43-F49E88B6429E}" dt="2022-01-19T14:31:16.215" v="15"/>
          <ac:spMkLst>
            <pc:docMk/>
            <pc:sldMk cId="3927078520" sldId="279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45.773" v="90"/>
          <ac:spMkLst>
            <pc:docMk/>
            <pc:sldMk cId="3927078520" sldId="279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  <pc:spChg chg="mod">
          <ac:chgData name="SONG, Qingyu" userId="498998f4-7f18-4549-a740-dcfb6e1e3d22" providerId="ADAL" clId="{0F84402B-494A-D841-9A43-F49E88B6429E}" dt="2022-01-19T14:31:20.046" v="16"/>
          <ac:spMkLst>
            <pc:docMk/>
            <pc:sldMk cId="1261831385" sldId="280"/>
            <ac:spMk id="2" creationId="{45C79BA1-37A3-5741-B0A1-E64646E4283C}"/>
          </ac:spMkLst>
        </pc:spChg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  <pc:spChg chg="mod">
          <ac:chgData name="SONG, Qingyu" userId="498998f4-7f18-4549-a740-dcfb6e1e3d22" providerId="ADAL" clId="{0F84402B-494A-D841-9A43-F49E88B6429E}" dt="2022-01-19T14:55:18" v="62" actId="20577"/>
          <ac:spMkLst>
            <pc:docMk/>
            <pc:sldMk cId="11664182" sldId="281"/>
            <ac:spMk id="3" creationId="{8F20472D-613F-3748-9CBD-88055CDB4B0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5656F-E94E-4266-B808-01646AFF7213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418493-4DB9-4761-89EA-EC89205FC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10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index.html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8159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index.html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996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SegmentGet</a:t>
            </a:r>
            <a:r>
              <a:rPr lang="en-US" dirty="0"/>
              <a:t> index.html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097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5149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629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114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projgw.cse.cuhk.edu.hk:2913/web/course/8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Spring 2</a:t>
            </a:r>
            <a:r>
              <a:rPr lang="en-US" altLang="zh-CN" sz="6600" b="1" dirty="0"/>
              <a:t>5</a:t>
            </a:r>
            <a:endParaRPr lang="en-US" sz="6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</a:t>
            </a:r>
            <a:r>
              <a:rPr lang="en-US" altLang="zh-CN" sz="3600" b="1" dirty="0"/>
              <a:t>6</a:t>
            </a:r>
            <a:endParaRPr lang="en-US" sz="3600" b="1" dirty="0"/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</a:t>
            </a:r>
            <a:r>
              <a:rPr lang="en-US" altLang="zh-CN" sz="2000" b="1" dirty="0"/>
              <a:t>6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</a:t>
            </a:r>
            <a:r>
              <a:rPr lang="en-US" altLang="zh-CN" b="1" dirty="0"/>
              <a:t>2</a:t>
            </a:r>
            <a:r>
              <a:rPr lang="en-US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Due: </a:t>
            </a:r>
            <a:r>
              <a:rPr lang="en-US" altLang="zh-CN" dirty="0">
                <a:solidFill>
                  <a:srgbClr val="FF0000"/>
                </a:solidFill>
              </a:rPr>
              <a:t>Sun,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9</a:t>
            </a:r>
            <a:r>
              <a:rPr lang="en-US" altLang="zh-CN" baseline="30000" dirty="0">
                <a:solidFill>
                  <a:srgbClr val="FF0000"/>
                </a:solidFill>
              </a:rPr>
              <a:t>th</a:t>
            </a:r>
            <a:r>
              <a:rPr lang="en-US" altLang="zh-CN" dirty="0">
                <a:solidFill>
                  <a:srgbClr val="FF0000"/>
                </a:solidFill>
              </a:rPr>
              <a:t> March.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11:59:59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p.m.</a:t>
            </a:r>
          </a:p>
          <a:p>
            <a:r>
              <a:rPr lang="en-US" altLang="zh-CN" dirty="0"/>
              <a:t>Form a group of exactly 2 students</a:t>
            </a:r>
          </a:p>
          <a:p>
            <a:r>
              <a:rPr lang="en-US" altLang="zh-CN" dirty="0"/>
              <a:t>Assignment 2 is a significantly harder project than Assignment 1</a:t>
            </a:r>
          </a:p>
          <a:p>
            <a:r>
              <a:rPr lang="en-US" altLang="zh-CN" dirty="0" err="1"/>
              <a:t>Autograder</a:t>
            </a:r>
            <a:r>
              <a:rPr lang="en-US" altLang="zh-CN" dirty="0"/>
              <a:t> has been released on the </a:t>
            </a:r>
            <a:r>
              <a:rPr lang="en-US" altLang="zh-CN" dirty="0">
                <a:hlinkClick r:id="rId2"/>
              </a:rPr>
              <a:t>website</a:t>
            </a:r>
            <a:endParaRPr lang="en-US" altLang="zh-CN" dirty="0"/>
          </a:p>
          <a:p>
            <a:r>
              <a:rPr lang="en-US" altLang="zh-CN" dirty="0"/>
              <a:t>Bonus part has been released on the </a:t>
            </a:r>
            <a:r>
              <a:rPr lang="en-US" altLang="zh-CN" dirty="0" err="1"/>
              <a:t>github</a:t>
            </a:r>
            <a:r>
              <a:rPr lang="en-US" altLang="zh-CN" dirty="0"/>
              <a:t> repo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84CE60-32E9-A04D-9F48-033E43846BE3}"/>
              </a:ext>
            </a:extLst>
          </p:cNvPr>
          <p:cNvSpPr txBox="1"/>
          <p:nvPr/>
        </p:nvSpPr>
        <p:spPr>
          <a:xfrm>
            <a:off x="1746250" y="4743450"/>
            <a:ext cx="8369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7200" dirty="0"/>
              <a:t>Start</a:t>
            </a:r>
            <a:r>
              <a:rPr kumimoji="1" lang="zh-CN" altLang="en-US" sz="7200" dirty="0"/>
              <a:t> </a:t>
            </a:r>
            <a:r>
              <a:rPr kumimoji="1" lang="en-US" altLang="zh-CN" sz="7200" dirty="0"/>
              <a:t>early!</a:t>
            </a:r>
            <a:endParaRPr kumimoji="1"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5"/>
            <a:ext cx="10515600" cy="1325563"/>
          </a:xfrm>
        </p:spPr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</a:t>
            </a:r>
            <a:r>
              <a:rPr lang="zh-CN" altLang="en-US" b="1" dirty="0"/>
              <a:t> </a:t>
            </a:r>
            <a:r>
              <a:rPr lang="en-US" altLang="zh-CN" b="1" dirty="0"/>
              <a:t>Overview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4059DB9-D35F-9442-A49E-3508B03D845C}"/>
              </a:ext>
            </a:extLst>
          </p:cNvPr>
          <p:cNvSpPr txBox="1"/>
          <p:nvPr/>
        </p:nvSpPr>
        <p:spPr>
          <a:xfrm>
            <a:off x="6044119" y="1534101"/>
            <a:ext cx="487166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Part1:</a:t>
            </a:r>
            <a:r>
              <a:rPr lang="zh-CN" altLang="en-US" sz="2400" b="1" dirty="0"/>
              <a:t> </a:t>
            </a:r>
            <a:r>
              <a:rPr lang="en-US" altLang="zh-CN" sz="2400" b="1" dirty="0" err="1"/>
              <a:t>miProxy</a:t>
            </a:r>
            <a:endParaRPr lang="en-US" altLang="zh-CN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/>
              <a:t>The proxy only forwards messages between the browser and the web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/>
              <a:t>Doesn’t care what are forwarded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/>
              <a:t>Don’t make any assumption on what are forwarded </a:t>
            </a:r>
          </a:p>
          <a:p>
            <a:r>
              <a:rPr lang="en-US" altLang="zh-CN" sz="2400" b="1" dirty="0"/>
              <a:t>Part2: Load balancer </a:t>
            </a:r>
            <a:r>
              <a:rPr lang="en-US" altLang="zh-CN" sz="2400" dirty="0"/>
              <a:t>(DNS server)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Assign appropriate server to the clients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Balance the load of each server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endParaRPr kumimoji="1" lang="zh-CN" altLang="en-US" sz="24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2151008-D279-EEC8-2C6F-7C129986C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557" y="1864842"/>
            <a:ext cx="4823693" cy="343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85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0"/>
            <a:ext cx="11094396" cy="5508253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Tasks for the </a:t>
            </a:r>
            <a:r>
              <a:rPr lang="en-US" b="1" dirty="0" err="1"/>
              <a:t>miProxy</a:t>
            </a:r>
            <a:r>
              <a:rPr lang="en-US" b="1" dirty="0"/>
              <a:t>: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Run as a server on a specified port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Accept connections from clients, including multiple clients simultaneously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Connect to a video server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Forward HTTP requests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from clients 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to the appropriate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video server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Forward HTTP responses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from the video server 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to the appropriate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client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Measure the throughput of each video segment to each client</a:t>
            </a:r>
          </a:p>
          <a:p>
            <a:pPr lvl="1">
              <a:lnSpc>
                <a:spcPct val="120000"/>
              </a:lnSpc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A POST request to 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/on-fragment-received 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with information about a segment that the client has finished receiving.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Capture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video manifest file 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HTTP requests</a:t>
            </a:r>
            <a:r>
              <a:rPr lang="zh-CN" altLang="en-US" b="0" i="0" dirty="0">
                <a:solidFill>
                  <a:srgbClr val="1F2328"/>
                </a:solidFill>
                <a:effectLst/>
                <a:latin typeface="-apple-system"/>
              </a:rPr>
              <a:t> </a:t>
            </a:r>
            <a:r>
              <a:rPr lang="en-US" altLang="zh-CN" b="0" i="0" dirty="0">
                <a:solidFill>
                  <a:srgbClr val="1F2328"/>
                </a:solidFill>
                <a:effectLst/>
                <a:latin typeface="-apple-system"/>
              </a:rPr>
              <a:t>(</a:t>
            </a:r>
            <a:r>
              <a:rPr lang="en-US" altLang="zh-CN" b="0" i="0" dirty="0" err="1">
                <a:solidFill>
                  <a:srgbClr val="1F2328"/>
                </a:solidFill>
                <a:effectLst/>
                <a:latin typeface="-apple-system"/>
              </a:rPr>
              <a:t>mpd</a:t>
            </a:r>
            <a:r>
              <a:rPr lang="en-US" altLang="zh-CN" b="0" i="0" dirty="0">
                <a:solidFill>
                  <a:srgbClr val="1F2328"/>
                </a:solidFill>
                <a:effectLst/>
                <a:latin typeface="-apple-system"/>
              </a:rPr>
              <a:t>)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, returning the no-list manifest file to clients while </a:t>
            </a:r>
            <a:r>
              <a:rPr lang="en-GB" altLang="zh-CN" b="0" i="0" dirty="0" err="1">
                <a:solidFill>
                  <a:srgbClr val="1F2328"/>
                </a:solidFill>
                <a:effectLst/>
                <a:latin typeface="-apple-system"/>
              </a:rPr>
              <a:t>reqeuesting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 the regular manifest file for itself</a:t>
            </a:r>
          </a:p>
          <a:p>
            <a:pPr lvl="1">
              <a:lnSpc>
                <a:spcPct val="120000"/>
              </a:lnSpc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A GET request for a video manifest (.</a:t>
            </a:r>
            <a:r>
              <a:rPr lang="en-GB" altLang="zh-CN" b="0" i="0" dirty="0" err="1">
                <a:solidFill>
                  <a:srgbClr val="1F2328"/>
                </a:solidFill>
                <a:effectLst/>
                <a:latin typeface="-apple-system"/>
              </a:rPr>
              <a:t>mpd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) file.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Capture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video segment HTTP 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requests (m</a:t>
            </a:r>
            <a:r>
              <a:rPr lang="en-US" altLang="zh-CN" b="0" i="0" dirty="0">
                <a:solidFill>
                  <a:srgbClr val="1F2328"/>
                </a:solidFill>
                <a:effectLst/>
                <a:latin typeface="-apple-system"/>
              </a:rPr>
              <a:t>4s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) and modify the request to have the appropriate bitrate</a:t>
            </a:r>
          </a:p>
          <a:p>
            <a:pPr lvl="1">
              <a:lnSpc>
                <a:spcPct val="120000"/>
              </a:lnSpc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A GET request for a 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video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 segment (</a:t>
            </a:r>
            <a:r>
              <a:rPr lang="en-GB" altLang="zh-CN" dirty="0"/>
              <a:t>.m4s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) file</a:t>
            </a:r>
            <a:endParaRPr lang="en-US" dirty="0"/>
          </a:p>
          <a:p>
            <a:pPr lvl="2">
              <a:lnSpc>
                <a:spcPct val="120000"/>
              </a:lnSpc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/>
              <a:t>Assignment</a:t>
            </a:r>
            <a:r>
              <a:rPr lang="zh-CN" altLang="en-US" b="1"/>
              <a:t> </a:t>
            </a:r>
            <a:r>
              <a:rPr lang="en-US" altLang="zh-CN" b="1"/>
              <a:t>2</a:t>
            </a:r>
            <a:r>
              <a:rPr lang="zh-CN" altLang="en-US" b="1"/>
              <a:t> </a:t>
            </a:r>
            <a:r>
              <a:rPr lang="en-US" altLang="zh-CN" b="1"/>
              <a:t>Overview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72878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</a:t>
            </a:r>
            <a:r>
              <a:rPr lang="zh-CN" altLang="en-US" b="1" dirty="0"/>
              <a:t> </a:t>
            </a:r>
            <a:r>
              <a:rPr lang="en-US" altLang="zh-CN" b="1" dirty="0"/>
              <a:t>Overview</a:t>
            </a:r>
            <a:endParaRPr lang="en-US" b="1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41EA909-D4A5-12C8-1F95-46C178406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796" y="1394297"/>
            <a:ext cx="4738991" cy="47891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CN" sz="2000" dirty="0"/>
              <a:t>Pay close attention to these files:</a:t>
            </a:r>
          </a:p>
          <a:p>
            <a:r>
              <a:rPr lang="en-US" altLang="zh-CN" sz="2000" b="1" dirty="0" err="1"/>
              <a:t>vid.mpd</a:t>
            </a:r>
            <a:r>
              <a:rPr lang="en-US" altLang="zh-CN" sz="2000" b="1" dirty="0"/>
              <a:t>: </a:t>
            </a:r>
            <a:r>
              <a:rPr lang="en-GB" altLang="zh-CN" sz="2000" dirty="0"/>
              <a:t>manifest file</a:t>
            </a:r>
          </a:p>
          <a:p>
            <a:pPr lvl="1"/>
            <a:r>
              <a:rPr lang="en-GB" altLang="zh-CN" sz="1600" i="0" dirty="0">
                <a:solidFill>
                  <a:srgbClr val="1F2328"/>
                </a:solidFill>
                <a:effectLst/>
                <a:latin typeface="-apple-system"/>
              </a:rPr>
              <a:t>proxy</a:t>
            </a:r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 should request the </a:t>
            </a:r>
            <a:r>
              <a:rPr lang="en-GB" altLang="zh-CN" sz="1600" b="1" i="0" dirty="0">
                <a:solidFill>
                  <a:srgbClr val="1F2328"/>
                </a:solidFill>
                <a:effectLst/>
                <a:latin typeface="-apple-system"/>
              </a:rPr>
              <a:t>original</a:t>
            </a:r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 </a:t>
            </a:r>
            <a:r>
              <a:rPr lang="en-GB" altLang="zh-CN" sz="1600" dirty="0" err="1"/>
              <a:t>vid.mpd</a:t>
            </a:r>
            <a:br>
              <a:rPr lang="en-GB" altLang="zh-CN" sz="1600" dirty="0"/>
            </a:br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manifest file for itself</a:t>
            </a:r>
          </a:p>
          <a:p>
            <a:pPr lvl="1"/>
            <a:r>
              <a:rPr lang="en-GB" altLang="zh-CN" sz="1600" dirty="0"/>
              <a:t>Then request </a:t>
            </a:r>
            <a:r>
              <a:rPr lang="en-GB" altLang="zh-CN" sz="1600" b="1" dirty="0"/>
              <a:t>vid-no-</a:t>
            </a:r>
            <a:r>
              <a:rPr lang="en-GB" altLang="zh-CN" sz="1600" b="1" dirty="0" err="1"/>
              <a:t>list.mpd</a:t>
            </a:r>
            <a:r>
              <a:rPr lang="en-GB" altLang="zh-CN" sz="1600" b="1" i="0" dirty="0">
                <a:solidFill>
                  <a:srgbClr val="1F2328"/>
                </a:solidFill>
                <a:effectLst/>
                <a:latin typeface="-apple-system"/>
              </a:rPr>
              <a:t> </a:t>
            </a:r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file to forward back to the browser</a:t>
            </a:r>
          </a:p>
          <a:p>
            <a:r>
              <a:rPr lang="en-GB" altLang="zh-CN" sz="2000" b="1" dirty="0"/>
              <a:t>Init.mp4: </a:t>
            </a:r>
            <a:r>
              <a:rPr lang="en-GB" altLang="zh-CN" sz="2000" dirty="0"/>
              <a:t>video </a:t>
            </a:r>
            <a:r>
              <a:rPr lang="en-GB" altLang="zh-CN" sz="2000" dirty="0" err="1"/>
              <a:t>init</a:t>
            </a:r>
            <a:r>
              <a:rPr lang="en-GB" altLang="zh-CN" sz="2000" dirty="0"/>
              <a:t> file</a:t>
            </a:r>
          </a:p>
          <a:p>
            <a:pPr lvl="1"/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Once the client parses the manifest file, it begins </a:t>
            </a:r>
            <a:r>
              <a:rPr lang="en-GB" altLang="zh-CN" sz="1600" b="1" i="0" dirty="0">
                <a:solidFill>
                  <a:srgbClr val="1F2328"/>
                </a:solidFill>
                <a:effectLst/>
                <a:latin typeface="-apple-system"/>
              </a:rPr>
              <a:t>requesting video segment </a:t>
            </a:r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files. </a:t>
            </a:r>
          </a:p>
          <a:p>
            <a:r>
              <a:rPr lang="en-GB" altLang="zh-CN" sz="2000" b="1" dirty="0">
                <a:solidFill>
                  <a:srgbClr val="1F2328"/>
                </a:solidFill>
                <a:latin typeface="-apple-system"/>
              </a:rPr>
              <a:t>v</a:t>
            </a:r>
            <a:r>
              <a:rPr lang="en-GB" altLang="zh-CN" sz="2000" b="1" i="0" dirty="0">
                <a:solidFill>
                  <a:srgbClr val="1F2328"/>
                </a:solidFill>
                <a:effectLst/>
                <a:latin typeface="-apple-system"/>
              </a:rPr>
              <a:t>id-[BITRATE]-seg-[NUMBER].m4s</a:t>
            </a:r>
          </a:p>
          <a:p>
            <a:pPr lvl="1"/>
            <a:r>
              <a:rPr lang="en-GB" altLang="zh-CN" sz="1600" dirty="0">
                <a:solidFill>
                  <a:srgbClr val="1F2328"/>
                </a:solidFill>
                <a:latin typeface="-apple-system"/>
              </a:rPr>
              <a:t>Video segment files begins here.</a:t>
            </a:r>
          </a:p>
          <a:p>
            <a:pPr lvl="1"/>
            <a:r>
              <a:rPr lang="en-GB" altLang="zh-CN" sz="1600" dirty="0">
                <a:solidFill>
                  <a:srgbClr val="1F2328"/>
                </a:solidFill>
                <a:latin typeface="-apple-system"/>
              </a:rPr>
              <a:t>You may see requests for </a:t>
            </a:r>
            <a:r>
              <a:rPr lang="en-GB" altLang="zh-CN" sz="1600" b="1" dirty="0">
                <a:solidFill>
                  <a:srgbClr val="1F2328"/>
                </a:solidFill>
                <a:latin typeface="-apple-system"/>
              </a:rPr>
              <a:t>audio files </a:t>
            </a:r>
            <a:r>
              <a:rPr lang="en-GB" altLang="zh-CN" sz="1600" dirty="0">
                <a:solidFill>
                  <a:srgbClr val="1F2328"/>
                </a:solidFill>
                <a:latin typeface="-apple-system"/>
              </a:rPr>
              <a:t>(also ending with .m4s) and an init.mp4 file. These should not be treated as video segment requests.</a:t>
            </a:r>
          </a:p>
          <a:p>
            <a:pPr lvl="1"/>
            <a:r>
              <a:rPr lang="en-GB" altLang="zh-CN" sz="1600" b="1" dirty="0">
                <a:solidFill>
                  <a:srgbClr val="1F2328"/>
                </a:solidFill>
                <a:latin typeface="-apple-system"/>
              </a:rPr>
              <a:t>Throughput Calculation (see next slide)</a:t>
            </a:r>
          </a:p>
          <a:p>
            <a:r>
              <a:rPr lang="en-GB" altLang="zh-CN" sz="2000" b="1" dirty="0">
                <a:solidFill>
                  <a:srgbClr val="1F2328"/>
                </a:solidFill>
                <a:latin typeface="-apple-system"/>
              </a:rPr>
              <a:t>Other requests:</a:t>
            </a:r>
          </a:p>
          <a:p>
            <a:pPr lvl="1"/>
            <a:r>
              <a:rPr lang="en-GB" altLang="zh-CN" sz="1600" dirty="0">
                <a:solidFill>
                  <a:srgbClr val="1F2328"/>
                </a:solidFill>
                <a:latin typeface="-apple-system"/>
              </a:rPr>
              <a:t>Forward to server and client with no changes</a:t>
            </a:r>
          </a:p>
          <a:p>
            <a:pPr lvl="1"/>
            <a:endParaRPr lang="en-GB" altLang="zh-CN" sz="2000" b="0" i="0" dirty="0">
              <a:solidFill>
                <a:srgbClr val="1F2328"/>
              </a:solidFill>
              <a:effectLst/>
              <a:latin typeface="-apple-system"/>
            </a:endParaRPr>
          </a:p>
          <a:p>
            <a:pPr lvl="1"/>
            <a:endParaRPr lang="zh-CN" altLang="en-US" sz="16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0FE377E-0E77-E10A-2916-FAE06B9F8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787" y="1598579"/>
            <a:ext cx="6631802" cy="412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794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70C115-E87B-55C8-F010-57A85E5E5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</a:t>
            </a:r>
            <a:r>
              <a:rPr lang="en-US" altLang="zh-CN" b="1" dirty="0" err="1"/>
              <a:t>vid.mpd</a:t>
            </a:r>
            <a:endParaRPr kumimoji="1" lang="zh-CN" alt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FBE9BF37-5F83-56D7-8E36-4A3584035D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7655" y="1825625"/>
            <a:ext cx="817669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558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A8ABC9-DFF9-9E32-12BB-1AB53F5E4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vid-no-</a:t>
            </a:r>
            <a:r>
              <a:rPr lang="en-US" altLang="zh-CN" b="1" dirty="0" err="1"/>
              <a:t>list.mpd</a:t>
            </a:r>
            <a:endParaRPr kumimoji="1" lang="zh-CN" alt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61E4E8A0-FCCD-CCDE-6609-66F4A7327E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77939"/>
            <a:ext cx="10515600" cy="3446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570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F89EDF-B202-3E05-59E1-227268A0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visit </a:t>
            </a:r>
            <a:r>
              <a:rPr lang="en-US" altLang="zh-CN" b="1" dirty="0" err="1"/>
              <a:t>videoserver</a:t>
            </a:r>
            <a:endParaRPr kumimoji="1" lang="zh-CN" alt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602FD5B6-3340-98DF-6F9D-008B40BA4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54246" y="1612974"/>
            <a:ext cx="7483508" cy="435133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7A707C4-79EE-216A-C14F-CE0A83F6FE47}"/>
              </a:ext>
            </a:extLst>
          </p:cNvPr>
          <p:cNvSpPr txBox="1"/>
          <p:nvPr/>
        </p:nvSpPr>
        <p:spPr>
          <a:xfrm>
            <a:off x="2385237" y="6211669"/>
            <a:ext cx="7421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Client can adjust the bitrate, changing from 1700 to 1400 bitrate request</a:t>
            </a:r>
          </a:p>
          <a:p>
            <a:pPr algn="ctr"/>
            <a:r>
              <a:rPr kumimoji="1" lang="en-US" altLang="zh-CN" dirty="0"/>
              <a:t>(have original </a:t>
            </a:r>
            <a:r>
              <a:rPr kumimoji="1" lang="en-US" altLang="zh-CN" dirty="0" err="1"/>
              <a:t>vid.mpd</a:t>
            </a:r>
            <a:r>
              <a:rPr kumimoji="1" lang="en-US" altLang="zh-CN" dirty="0"/>
              <a:t>)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66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47C2B-C7EC-CDBE-8BBA-C660E7363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visit </a:t>
            </a:r>
            <a:r>
              <a:rPr lang="en-US" altLang="zh-CN" b="1" dirty="0" err="1"/>
              <a:t>miProxy</a:t>
            </a:r>
            <a:endParaRPr kumimoji="1" lang="zh-CN" alt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1FCC13A-054D-C5CA-A24F-D276560AE0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70427" y="1437900"/>
            <a:ext cx="7701663" cy="435133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ABCD27B-9F01-B471-4418-144794435EDC}"/>
              </a:ext>
            </a:extLst>
          </p:cNvPr>
          <p:cNvSpPr txBox="1"/>
          <p:nvPr/>
        </p:nvSpPr>
        <p:spPr>
          <a:xfrm>
            <a:off x="2650564" y="5989232"/>
            <a:ext cx="7421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Client can not adjust the bitrate, just sending 500 bitrate request</a:t>
            </a:r>
            <a:br>
              <a:rPr kumimoji="1" lang="en-US" altLang="zh-CN" dirty="0"/>
            </a:br>
            <a:r>
              <a:rPr kumimoji="1" lang="en-US" altLang="zh-CN" dirty="0"/>
              <a:t>(just have vid-no-</a:t>
            </a:r>
            <a:r>
              <a:rPr kumimoji="1" lang="en-US" altLang="zh-CN" dirty="0" err="1"/>
              <a:t>list.mpd</a:t>
            </a:r>
            <a:r>
              <a:rPr kumimoji="1" lang="en-US" altLang="zh-CN" dirty="0"/>
              <a:t>)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91139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Throughput Calculation</a:t>
            </a:r>
            <a:endParaRPr lang="en-US" b="1" dirty="0"/>
          </a:p>
        </p:txBody>
      </p:sp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70BF1970-C346-8632-8135-37E1839FA2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70242" y="1093655"/>
            <a:ext cx="6155988" cy="1337536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534D8A2-62C9-8ADD-DD01-6BBF4633422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800028" y="1805351"/>
            <a:ext cx="2904969" cy="547313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0B41395-EE03-D2FB-0296-869A5C28A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0242" y="2414969"/>
            <a:ext cx="6155988" cy="13975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5B92227-9ED1-EA97-9092-3C3796BA02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0242" y="3812544"/>
            <a:ext cx="6155988" cy="1454301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2C940B3-3867-F035-BDF1-747092F8E3BD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988517" y="1460636"/>
            <a:ext cx="2603648" cy="54731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461035E-1485-2719-7490-9718CDFF6A0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180"/>
          <a:stretch/>
        </p:blipFill>
        <p:spPr>
          <a:xfrm>
            <a:off x="2670241" y="5266845"/>
            <a:ext cx="6155987" cy="115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27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2:Workflow Summary</a:t>
            </a:r>
            <a:endParaRPr lang="en-US" b="1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41EA909-D4A5-12C8-1F95-46C178406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984" y="1089497"/>
            <a:ext cx="10406974" cy="2853448"/>
          </a:xfrm>
        </p:spPr>
        <p:txBody>
          <a:bodyPr>
            <a:normAutofit/>
          </a:bodyPr>
          <a:lstStyle/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proxy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 receives a request for a video segment from a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client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Using the currently calculated throughput for that client, the proxy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modifies the request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to request the segment at the appropriate bitrate.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proxy forwards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request to the video server.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video server sends the segment back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to the proxy.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proxy forwards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segment to the client.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Once the client fully receives the segment, it sends a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POST request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to 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/on-fragment-received 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with some throughput-related information.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proxy uses this information to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update the measured throughput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of that client.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137D1150-230D-27DD-B6EC-A138D6D53BAD}"/>
              </a:ext>
            </a:extLst>
          </p:cNvPr>
          <p:cNvSpPr/>
          <p:nvPr/>
        </p:nvSpPr>
        <p:spPr>
          <a:xfrm>
            <a:off x="578796" y="3880255"/>
            <a:ext cx="1968500" cy="254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200" dirty="0"/>
              <a:t>Web</a:t>
            </a:r>
            <a:r>
              <a:rPr kumimoji="1" lang="zh-CN" altLang="en-US" sz="3200" dirty="0"/>
              <a:t> </a:t>
            </a:r>
            <a:endParaRPr kumimoji="1" lang="en-US" altLang="zh-CN" sz="3200" dirty="0"/>
          </a:p>
          <a:p>
            <a:pPr algn="ctr"/>
            <a:r>
              <a:rPr kumimoji="1" lang="en-US" altLang="zh-CN" sz="3200" dirty="0"/>
              <a:t>Server</a:t>
            </a:r>
            <a:endParaRPr kumimoji="1" lang="zh-CN" altLang="en-US" sz="3200" dirty="0"/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B4199156-BF25-AC00-FFD1-6143E7205D99}"/>
              </a:ext>
            </a:extLst>
          </p:cNvPr>
          <p:cNvSpPr/>
          <p:nvPr/>
        </p:nvSpPr>
        <p:spPr>
          <a:xfrm>
            <a:off x="4563421" y="3880255"/>
            <a:ext cx="1968500" cy="254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200" dirty="0" err="1"/>
              <a:t>miProxy</a:t>
            </a:r>
            <a:endParaRPr kumimoji="1" lang="en-US" altLang="zh-CN" sz="3200" dirty="0"/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68C5DB9-DF9A-BB51-FF53-E05FBC1A76CC}"/>
              </a:ext>
            </a:extLst>
          </p:cNvPr>
          <p:cNvSpPr/>
          <p:nvPr/>
        </p:nvSpPr>
        <p:spPr>
          <a:xfrm>
            <a:off x="8548046" y="3880255"/>
            <a:ext cx="1968500" cy="254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sz="3200" dirty="0"/>
              <a:t>Browser</a:t>
            </a:r>
            <a:endParaRPr kumimoji="1" lang="zh-CN" altLang="en-US" sz="3200" dirty="0"/>
          </a:p>
        </p:txBody>
      </p:sp>
      <p:sp>
        <p:nvSpPr>
          <p:cNvPr id="15" name="右箭头 14">
            <a:extLst>
              <a:ext uri="{FF2B5EF4-FFF2-40B4-BE49-F238E27FC236}">
                <a16:creationId xmlns:a16="http://schemas.microsoft.com/office/drawing/2014/main" id="{6E394248-C95A-8361-AFEB-030AD83FEB44}"/>
              </a:ext>
            </a:extLst>
          </p:cNvPr>
          <p:cNvSpPr/>
          <p:nvPr/>
        </p:nvSpPr>
        <p:spPr>
          <a:xfrm>
            <a:off x="2761608" y="5658255"/>
            <a:ext cx="1587500" cy="381000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Response</a:t>
            </a:r>
            <a:endParaRPr kumimoji="1" lang="zh-CN" altLang="en-US" dirty="0"/>
          </a:p>
        </p:txBody>
      </p:sp>
      <p:sp>
        <p:nvSpPr>
          <p:cNvPr id="16" name="右箭头 15">
            <a:extLst>
              <a:ext uri="{FF2B5EF4-FFF2-40B4-BE49-F238E27FC236}">
                <a16:creationId xmlns:a16="http://schemas.microsoft.com/office/drawing/2014/main" id="{F6A74B78-D2B8-DD02-D07F-00CB6B033362}"/>
              </a:ext>
            </a:extLst>
          </p:cNvPr>
          <p:cNvSpPr/>
          <p:nvPr/>
        </p:nvSpPr>
        <p:spPr>
          <a:xfrm>
            <a:off x="6746233" y="5658255"/>
            <a:ext cx="1587500" cy="381000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Response</a:t>
            </a:r>
            <a:endParaRPr kumimoji="1" lang="zh-CN" altLang="en-US" dirty="0"/>
          </a:p>
        </p:txBody>
      </p:sp>
      <p:sp>
        <p:nvSpPr>
          <p:cNvPr id="17" name="左箭头 16">
            <a:extLst>
              <a:ext uri="{FF2B5EF4-FFF2-40B4-BE49-F238E27FC236}">
                <a16:creationId xmlns:a16="http://schemas.microsoft.com/office/drawing/2014/main" id="{D66DA2E7-C74D-3EC8-D444-7CA103A32358}"/>
              </a:ext>
            </a:extLst>
          </p:cNvPr>
          <p:cNvSpPr/>
          <p:nvPr/>
        </p:nvSpPr>
        <p:spPr>
          <a:xfrm>
            <a:off x="2761608" y="4168387"/>
            <a:ext cx="1587500" cy="417512"/>
          </a:xfrm>
          <a:prstGeom prst="leftArrow">
            <a:avLst>
              <a:gd name="adj1" fmla="val 42711"/>
              <a:gd name="adj2" fmla="val 50000"/>
            </a:avLst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Request</a:t>
            </a:r>
            <a:endParaRPr kumimoji="1" lang="zh-CN" altLang="en-US" dirty="0"/>
          </a:p>
        </p:txBody>
      </p:sp>
      <p:sp>
        <p:nvSpPr>
          <p:cNvPr id="18" name="左箭头 17">
            <a:extLst>
              <a:ext uri="{FF2B5EF4-FFF2-40B4-BE49-F238E27FC236}">
                <a16:creationId xmlns:a16="http://schemas.microsoft.com/office/drawing/2014/main" id="{79C07552-A577-47DF-F531-C0FE3E72A2C0}"/>
              </a:ext>
            </a:extLst>
          </p:cNvPr>
          <p:cNvSpPr/>
          <p:nvPr/>
        </p:nvSpPr>
        <p:spPr>
          <a:xfrm>
            <a:off x="6746233" y="4168387"/>
            <a:ext cx="1587500" cy="417512"/>
          </a:xfrm>
          <a:prstGeom prst="leftArrow">
            <a:avLst>
              <a:gd name="adj1" fmla="val 42711"/>
              <a:gd name="adj2" fmla="val 50000"/>
            </a:avLst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Request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38655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614141FC-8189-47F8-821A-FC9A4E91E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062E60F-5CD4-4268-8359-807663468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288350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41248" y="510047"/>
            <a:ext cx="3300984" cy="16459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altLang="zh-CN" sz="2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Assignment 2:</a:t>
            </a:r>
            <a:endParaRPr lang="en-US" sz="2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341EC3-1810-4D33-BA3F-E2D0AA0E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980964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127CDE-2B99-47A8-BB3C-7D1751910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98164" y="1323863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B70FF46F-9C83-6E87-835A-BC4B9B656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144" y="510047"/>
            <a:ext cx="6858000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Testing Guideline</a:t>
            </a:r>
            <a:endParaRPr 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797A697-1D5F-6767-230B-48263F30A8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09" r="18832" b="-2"/>
          <a:stretch/>
        </p:blipFill>
        <p:spPr>
          <a:xfrm>
            <a:off x="557784" y="2606462"/>
            <a:ext cx="3584448" cy="3639312"/>
          </a:xfrm>
          <a:prstGeom prst="rect">
            <a:avLst/>
          </a:prstGeom>
        </p:spPr>
      </p:pic>
      <p:pic>
        <p:nvPicPr>
          <p:cNvPr id="5" name="图片 4" descr="图形用户界面, 应用程序&#10;&#10;描述已自动生成">
            <a:extLst>
              <a:ext uri="{FF2B5EF4-FFF2-40B4-BE49-F238E27FC236}">
                <a16:creationId xmlns:a16="http://schemas.microsoft.com/office/drawing/2014/main" id="{C742198D-A2A6-6B0C-DE48-7891FA6803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3708"/>
          <a:stretch/>
        </p:blipFill>
        <p:spPr>
          <a:xfrm>
            <a:off x="4347599" y="2606462"/>
            <a:ext cx="3584448" cy="3639312"/>
          </a:xfrm>
          <a:prstGeom prst="rect">
            <a:avLst/>
          </a:prstGeom>
        </p:spPr>
      </p:pic>
      <p:pic>
        <p:nvPicPr>
          <p:cNvPr id="2" name="内容占位符 1" descr="图形用户界面, 文本, 应用程序&#10;&#10;描述已自动生成">
            <a:extLst>
              <a:ext uri="{FF2B5EF4-FFF2-40B4-BE49-F238E27FC236}">
                <a16:creationId xmlns:a16="http://schemas.microsoft.com/office/drawing/2014/main" id="{19FAA468-8F90-F55E-2A23-F2FC6366FA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1792" b="-2"/>
          <a:stretch/>
        </p:blipFill>
        <p:spPr>
          <a:xfrm>
            <a:off x="8137415" y="2606462"/>
            <a:ext cx="3584448" cy="363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106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1"/>
            <a:ext cx="10515600" cy="5012042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Tasks for the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LoadBalancer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Implement </a:t>
            </a: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load balancer for video CDN servers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Support two load balancing strategies:</a:t>
            </a:r>
          </a:p>
          <a:p>
            <a:pPr lvl="2"/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Round-Robin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Geographic Distance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Handle communication between </a:t>
            </a:r>
            <a:r>
              <a:rPr lang="en-GB" altLang="zh-CN" b="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miProxy</a:t>
            </a: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and video servers</a:t>
            </a:r>
          </a:p>
          <a:p>
            <a:endParaRPr lang="en-GB" dirty="0">
              <a:solidFill>
                <a:srgbClr val="3333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Components:</a:t>
            </a:r>
          </a:p>
          <a:p>
            <a:pPr lvl="1"/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Balancer Protocol (</a:t>
            </a: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defined in </a:t>
            </a:r>
            <a:r>
              <a:rPr lang="en-GB" altLang="zh-CN" b="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loadBalancerProtocol.h</a:t>
            </a:r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Server configuration files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Network topology information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Load Balancer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36677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1"/>
            <a:ext cx="10515600" cy="5012042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Tasks for the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LoadBalancer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Implement </a:t>
            </a: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load balancer for video CDN servers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Support two load balancing strategies:</a:t>
            </a:r>
          </a:p>
          <a:p>
            <a:pPr lvl="2"/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Round-Robin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Geographic Distance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Handle communication between </a:t>
            </a:r>
            <a:r>
              <a:rPr lang="en-GB" altLang="zh-CN" b="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miProxy</a:t>
            </a: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and video servers</a:t>
            </a:r>
          </a:p>
          <a:p>
            <a:endParaRPr lang="en-GB" dirty="0">
              <a:solidFill>
                <a:srgbClr val="3333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Components:</a:t>
            </a:r>
          </a:p>
          <a:p>
            <a:pPr lvl="1"/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Balancer Protocol (</a:t>
            </a: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defined in </a:t>
            </a:r>
            <a:r>
              <a:rPr lang="en-GB" altLang="zh-CN" b="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loadBalancerProtocol.h</a:t>
            </a:r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Server configuration files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Network topology information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Load Balancer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62068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1"/>
            <a:ext cx="10515600" cy="5012042"/>
          </a:xfrm>
        </p:spPr>
        <p:txBody>
          <a:bodyPr>
            <a:normAutofit/>
          </a:bodyPr>
          <a:lstStyle/>
          <a:p>
            <a:pPr algn="l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Test with provided sample configuration files</a:t>
            </a:r>
          </a:p>
          <a:p>
            <a:pPr algn="l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Verify correct server selection in both modes</a:t>
            </a:r>
          </a:p>
          <a:p>
            <a:pPr algn="l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Test edge cases:</a:t>
            </a:r>
            <a:b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</a:b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- Empty server list</a:t>
            </a:r>
            <a:b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</a:b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- Invalid configurations</a:t>
            </a:r>
            <a:b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</a:b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- Network disconnections</a:t>
            </a:r>
          </a:p>
          <a:p>
            <a:pPr lvl="2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Load Balancer</a:t>
            </a:r>
            <a:r>
              <a:rPr lang="zh-CN" altLang="en-US" b="1" dirty="0"/>
              <a:t> </a:t>
            </a:r>
            <a:r>
              <a:rPr lang="en-US" altLang="zh-CN" b="1" dirty="0"/>
              <a:t>-</a:t>
            </a:r>
            <a:r>
              <a:rPr lang="zh-CN" altLang="en-US" b="1" dirty="0"/>
              <a:t> </a:t>
            </a:r>
            <a:r>
              <a:rPr lang="en-US" altLang="zh-CN" b="1" dirty="0"/>
              <a:t>Testing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97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1"/>
            <a:ext cx="10515600" cy="5012042"/>
          </a:xfrm>
        </p:spPr>
        <p:txBody>
          <a:bodyPr>
            <a:normAutofit/>
          </a:bodyPr>
          <a:lstStyle/>
          <a:p>
            <a:pPr algn="l"/>
            <a:r>
              <a:rPr lang="en-GB" altLang="zh-CN" b="0" i="0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For instance, if your current working directory is the base of the repo, you could run </a:t>
            </a:r>
            <a:r>
              <a:rPr lang="en-GB" altLang="zh-CN" i="1" dirty="0">
                <a:solidFill>
                  <a:srgbClr val="0000FF"/>
                </a:solidFill>
                <a:effectLst/>
              </a:rPr>
              <a:t>bash</a:t>
            </a:r>
            <a:r>
              <a:rPr lang="en-GB" altLang="zh-CN" i="1" dirty="0">
                <a:effectLst/>
              </a:rPr>
              <a:t> </a:t>
            </a:r>
            <a:r>
              <a:rPr lang="en-GB" altLang="zh-CN" i="1" dirty="0">
                <a:solidFill>
                  <a:srgbClr val="0000FF"/>
                </a:solidFill>
                <a:effectLst/>
              </a:rPr>
              <a:t>util/</a:t>
            </a:r>
            <a:r>
              <a:rPr lang="en-GB" altLang="zh-CN" i="1" dirty="0" err="1">
                <a:solidFill>
                  <a:srgbClr val="0000FF"/>
                </a:solidFill>
                <a:effectLst/>
              </a:rPr>
              <a:t>submit.sh</a:t>
            </a:r>
            <a:r>
              <a:rPr lang="en-GB" altLang="zh-CN" i="1" dirty="0">
                <a:solidFill>
                  <a:srgbClr val="0000FF"/>
                </a:solidFill>
                <a:effectLst/>
              </a:rPr>
              <a:t> </a:t>
            </a:r>
            <a:r>
              <a:rPr lang="en-GB" altLang="zh-CN" dirty="0">
                <a:solidFill>
                  <a:srgbClr val="0000FF"/>
                </a:solidFill>
                <a:effectLst/>
              </a:rPr>
              <a:t>.</a:t>
            </a:r>
          </a:p>
          <a:p>
            <a:pPr algn="l"/>
            <a:endParaRPr lang="en-GB" altLang="zh-CN" b="0" i="0" u="none" strike="noStrike" dirty="0">
              <a:solidFill>
                <a:srgbClr val="333333"/>
              </a:solidFill>
              <a:effectLst/>
              <a:latin typeface="Open Sans" panose="020B0606030504020204" pitchFamily="34" charset="0"/>
            </a:endParaRPr>
          </a:p>
          <a:p>
            <a:pPr algn="l"/>
            <a:r>
              <a:rPr lang="en-GB" altLang="zh-CN" b="0" i="0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This will create a file called </a:t>
            </a:r>
            <a:r>
              <a:rPr lang="en-GB" altLang="zh-CN" b="0" i="1" u="none" strike="noStrike" dirty="0" err="1">
                <a:solidFill>
                  <a:srgbClr val="0000FF"/>
                </a:solidFill>
                <a:effectLst/>
                <a:latin typeface="Open Sans" panose="020B0606030504020204" pitchFamily="34" charset="0"/>
              </a:rPr>
              <a:t>submit.tar.gz</a:t>
            </a:r>
            <a:r>
              <a:rPr lang="en-GB" altLang="zh-CN" b="0" i="1" u="none" strike="noStrike" dirty="0">
                <a:solidFill>
                  <a:srgbClr val="0000FF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en-GB" altLang="zh-CN" b="0" i="0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containing the contents of your </a:t>
            </a:r>
            <a:r>
              <a:rPr lang="en-GB" altLang="zh-CN" b="0" i="1" u="none" strike="noStrike" dirty="0" err="1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cpp</a:t>
            </a:r>
            <a:r>
              <a:rPr lang="en-GB" altLang="zh-CN" b="0" i="1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/ </a:t>
            </a:r>
            <a:r>
              <a:rPr lang="en-GB" altLang="zh-CN" b="0" i="0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folder.</a:t>
            </a:r>
          </a:p>
          <a:p>
            <a:pPr algn="l"/>
            <a:endParaRPr lang="en-GB" altLang="zh-CN" dirty="0">
              <a:solidFill>
                <a:srgbClr val="333333"/>
              </a:solidFill>
              <a:latin typeface="Open Sans" panose="020B0606030504020204" pitchFamily="34" charset="0"/>
            </a:endParaRPr>
          </a:p>
          <a:p>
            <a:pPr algn="l"/>
            <a:r>
              <a:rPr lang="en-GB" altLang="zh-CN" b="0" i="0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You can submit your </a:t>
            </a:r>
            <a:r>
              <a:rPr lang="en-GB" altLang="zh-CN" b="0" i="1" u="none" strike="noStrike" dirty="0" err="1">
                <a:solidFill>
                  <a:srgbClr val="0000FF"/>
                </a:solidFill>
                <a:effectLst/>
                <a:latin typeface="Open Sans" panose="020B0606030504020204" pitchFamily="34" charset="0"/>
              </a:rPr>
              <a:t>submit.tar.gz</a:t>
            </a:r>
            <a:r>
              <a:rPr lang="en-GB" altLang="zh-CN" b="0" i="1" u="none" strike="noStrike" dirty="0">
                <a:solidFill>
                  <a:srgbClr val="0000FF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en-GB" altLang="zh-CN" b="0" u="none" strike="noStrike" dirty="0">
                <a:effectLst/>
                <a:latin typeface="Open Sans" panose="020B0606030504020204" pitchFamily="34" charset="0"/>
              </a:rPr>
              <a:t>to our </a:t>
            </a:r>
            <a:r>
              <a:rPr lang="en-GB" altLang="zh-CN" b="0" u="none" strike="noStrike" dirty="0" err="1">
                <a:effectLst/>
                <a:latin typeface="Open Sans" panose="020B0606030504020204" pitchFamily="34" charset="0"/>
              </a:rPr>
              <a:t>autograder</a:t>
            </a:r>
            <a:r>
              <a:rPr lang="en-GB" altLang="zh-CN" b="0" u="none" strike="noStrike" dirty="0">
                <a:effectLst/>
                <a:latin typeface="Open Sans" panose="020B0606030504020204" pitchFamily="34" charset="0"/>
              </a:rPr>
              <a:t> system.</a:t>
            </a:r>
          </a:p>
          <a:p>
            <a:pPr lvl="1"/>
            <a:r>
              <a:rPr lang="en-GB" altLang="zh-CN" b="0" u="none" strike="noStrike" dirty="0">
                <a:effectLst/>
                <a:latin typeface="Open Sans" panose="020B0606030504020204" pitchFamily="34" charset="0"/>
              </a:rPr>
              <a:t>Please do not use </a:t>
            </a:r>
            <a:r>
              <a:rPr lang="en-GB" altLang="zh-CN" b="0" u="none" strike="noStrike" dirty="0" err="1">
                <a:effectLst/>
                <a:latin typeface="Open Sans" panose="020B0606030504020204" pitchFamily="34" charset="0"/>
              </a:rPr>
              <a:t>autograder</a:t>
            </a:r>
            <a:r>
              <a:rPr lang="en-GB" altLang="zh-CN" b="0" u="none" strike="noStrike" dirty="0">
                <a:effectLst/>
                <a:latin typeface="Open Sans" panose="020B0606030504020204" pitchFamily="34" charset="0"/>
              </a:rPr>
              <a:t> as debugging tools.</a:t>
            </a:r>
          </a:p>
          <a:p>
            <a:pPr lvl="1"/>
            <a:r>
              <a:rPr lang="en-GB" altLang="zh-CN" b="0" u="none" strike="noStrike" dirty="0">
                <a:effectLst/>
                <a:latin typeface="Open Sans" panose="020B0606030504020204" pitchFamily="34" charset="0"/>
              </a:rPr>
              <a:t>You only have 5 times to submit each day.</a:t>
            </a:r>
          </a:p>
          <a:p>
            <a:pPr marL="0" indent="0" algn="l">
              <a:buNone/>
            </a:pPr>
            <a:endParaRPr lang="en-US" dirty="0"/>
          </a:p>
          <a:p>
            <a:pPr marL="0" indent="0" algn="l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Submission</a:t>
            </a:r>
            <a:r>
              <a:rPr lang="zh-CN" altLang="en-US" b="1" dirty="0"/>
              <a:t> </a:t>
            </a:r>
            <a:r>
              <a:rPr lang="en-US" altLang="zh-CN" b="1" dirty="0"/>
              <a:t>Instructions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41320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F19465-BBB5-1A7E-0C02-ED68BA731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</a:t>
            </a:r>
            <a:r>
              <a:rPr lang="en-US" altLang="zh-CN" b="1" dirty="0" err="1"/>
              <a:t>Autograder</a:t>
            </a:r>
            <a:endParaRPr kumimoji="1" lang="zh-CN" alt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8D8BBDEB-5454-C618-2A0A-95F2DD2571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53620" y="1631071"/>
            <a:ext cx="688476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070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F19465-BBB5-1A7E-0C02-ED68BA731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Bonus</a:t>
            </a:r>
            <a:r>
              <a:rPr lang="zh-CN" altLang="en-US" b="1" dirty="0"/>
              <a:t> </a:t>
            </a:r>
            <a:r>
              <a:rPr lang="en-US" altLang="zh-CN" b="1" dirty="0"/>
              <a:t>Part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9D8A292-997A-6BF4-2A6F-35B6FC2ED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CN" dirty="0"/>
              <a:t>Current Limitation</a:t>
            </a:r>
          </a:p>
          <a:p>
            <a:pPr lvl="1"/>
            <a:r>
              <a:rPr lang="en-US" altLang="zh-CN" dirty="0"/>
              <a:t>Blocking connection attempts in select() loop cause delays and potential failures</a:t>
            </a:r>
          </a:p>
          <a:p>
            <a:endParaRPr lang="en-US" altLang="zh-CN" dirty="0"/>
          </a:p>
          <a:p>
            <a:r>
              <a:rPr lang="en-US" altLang="zh-CN" dirty="0"/>
              <a:t>Key Improvements</a:t>
            </a:r>
          </a:p>
          <a:p>
            <a:pPr lvl="1"/>
            <a:r>
              <a:rPr lang="en-US" altLang="zh-CN" dirty="0"/>
              <a:t>Non-blocking Sockets</a:t>
            </a:r>
          </a:p>
          <a:p>
            <a:pPr lvl="1"/>
            <a:r>
              <a:rPr lang="en-US" altLang="zh-CN" dirty="0"/>
              <a:t>Async Server Connections</a:t>
            </a:r>
          </a:p>
          <a:p>
            <a:pPr lvl="1"/>
            <a:r>
              <a:rPr lang="en-US" altLang="zh-CN" dirty="0"/>
              <a:t>Resource Optimization</a:t>
            </a:r>
          </a:p>
          <a:p>
            <a:endParaRPr lang="en-US" altLang="zh-CN" dirty="0"/>
          </a:p>
          <a:p>
            <a:r>
              <a:rPr lang="en-US" altLang="zh-CN" dirty="0"/>
              <a:t>Results</a:t>
            </a:r>
          </a:p>
          <a:p>
            <a:pPr lvl="1"/>
            <a:r>
              <a:rPr lang="en-US" altLang="zh-CN" dirty="0"/>
              <a:t>Higher number of simultaneous connections</a:t>
            </a:r>
          </a:p>
          <a:p>
            <a:pPr lvl="1"/>
            <a:r>
              <a:rPr lang="en-US" altLang="zh-CN" dirty="0"/>
              <a:t>Reduced connection delays</a:t>
            </a:r>
          </a:p>
          <a:p>
            <a:pPr lvl="1"/>
            <a:r>
              <a:rPr lang="en-US" altLang="zh-CN" dirty="0"/>
              <a:t>Improved overall proxy performance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49909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5"/>
            <a:ext cx="10515600" cy="1325563"/>
          </a:xfrm>
        </p:spPr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</a:t>
            </a:r>
            <a:r>
              <a:rPr lang="zh-CN" altLang="en-US" b="1" dirty="0"/>
              <a:t> </a:t>
            </a:r>
            <a:r>
              <a:rPr lang="en-US" altLang="zh-CN" b="1" dirty="0"/>
              <a:t>Overview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4059DB9-D35F-9442-A49E-3508B03D845C}"/>
              </a:ext>
            </a:extLst>
          </p:cNvPr>
          <p:cNvSpPr txBox="1"/>
          <p:nvPr/>
        </p:nvSpPr>
        <p:spPr>
          <a:xfrm>
            <a:off x="2203450" y="2390676"/>
            <a:ext cx="72961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7200" b="1" dirty="0"/>
              <a:t>A</a:t>
            </a:r>
            <a:r>
              <a:rPr kumimoji="1" lang="zh-CN" altLang="en-US" sz="7200" b="1" dirty="0"/>
              <a:t> </a:t>
            </a:r>
            <a:r>
              <a:rPr kumimoji="1" lang="en-US" altLang="zh-CN" sz="7200" b="1" dirty="0"/>
              <a:t>Quick</a:t>
            </a:r>
            <a:r>
              <a:rPr kumimoji="1" lang="zh-CN" altLang="en-US" sz="7200" b="1" dirty="0"/>
              <a:t> </a:t>
            </a:r>
            <a:r>
              <a:rPr kumimoji="1" lang="en-US" altLang="zh-CN" sz="7200" b="1" dirty="0"/>
              <a:t>Demo</a:t>
            </a:r>
            <a:endParaRPr kumimoji="1" lang="zh-CN" alt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439838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51400" y="3167390"/>
            <a:ext cx="26035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GBN example with errors</a:t>
            </a:r>
          </a:p>
        </p:txBody>
      </p:sp>
      <p:sp>
        <p:nvSpPr>
          <p:cNvPr id="1127427" name="Line 3"/>
          <p:cNvSpPr>
            <a:spLocks noChangeShapeType="1"/>
          </p:cNvSpPr>
          <p:nvPr/>
        </p:nvSpPr>
        <p:spPr bwMode="auto">
          <a:xfrm>
            <a:off x="5957840" y="5638800"/>
            <a:ext cx="0" cy="1219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28" name="Text Box 4"/>
          <p:cNvSpPr txBox="1">
            <a:spLocks noChangeArrowheads="1"/>
          </p:cNvSpPr>
          <p:nvPr/>
        </p:nvSpPr>
        <p:spPr bwMode="auto">
          <a:xfrm>
            <a:off x="5969674" y="6144575"/>
            <a:ext cx="805006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1429" tIns="45714" rIns="91429" bIns="45714" anchor="ctr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sz="2400"/>
              <a:t>Time</a:t>
            </a:r>
          </a:p>
        </p:txBody>
      </p:sp>
      <p:sp>
        <p:nvSpPr>
          <p:cNvPr id="1127429" name="Text Box 5"/>
          <p:cNvSpPr txBox="1">
            <a:spLocks noChangeArrowheads="1"/>
          </p:cNvSpPr>
          <p:nvPr/>
        </p:nvSpPr>
        <p:spPr bwMode="auto">
          <a:xfrm>
            <a:off x="4511675" y="1524001"/>
            <a:ext cx="3221822" cy="461653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2400" dirty="0">
                <a:solidFill>
                  <a:srgbClr val="0000FF"/>
                </a:solidFill>
              </a:rPr>
              <a:t>Window size = 3 packets</a:t>
            </a:r>
          </a:p>
        </p:txBody>
      </p:sp>
      <p:sp>
        <p:nvSpPr>
          <p:cNvPr id="1127430" name="Line 6"/>
          <p:cNvSpPr>
            <a:spLocks noChangeShapeType="1"/>
          </p:cNvSpPr>
          <p:nvPr/>
        </p:nvSpPr>
        <p:spPr bwMode="auto">
          <a:xfrm flipH="1">
            <a:off x="3505201" y="2124076"/>
            <a:ext cx="30163" cy="36353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1" name="Line 7"/>
          <p:cNvSpPr>
            <a:spLocks noChangeShapeType="1"/>
          </p:cNvSpPr>
          <p:nvPr/>
        </p:nvSpPr>
        <p:spPr bwMode="auto">
          <a:xfrm flipH="1">
            <a:off x="8886826" y="2124076"/>
            <a:ext cx="3175" cy="375761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5" name="Text Box 11"/>
          <p:cNvSpPr txBox="1">
            <a:spLocks noChangeArrowheads="1"/>
          </p:cNvSpPr>
          <p:nvPr/>
        </p:nvSpPr>
        <p:spPr bwMode="auto">
          <a:xfrm>
            <a:off x="3021274" y="5865175"/>
            <a:ext cx="1064693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1429" tIns="45714" rIns="91429" bIns="45714" anchor="ctr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sz="2400"/>
              <a:t>Sender</a:t>
            </a:r>
          </a:p>
        </p:txBody>
      </p:sp>
      <p:sp>
        <p:nvSpPr>
          <p:cNvPr id="1127436" name="Text Box 12"/>
          <p:cNvSpPr txBox="1">
            <a:spLocks noChangeArrowheads="1"/>
          </p:cNvSpPr>
          <p:nvPr/>
        </p:nvSpPr>
        <p:spPr bwMode="auto">
          <a:xfrm>
            <a:off x="8387896" y="5865175"/>
            <a:ext cx="1251859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1429" tIns="45714" rIns="91429" bIns="45714" anchor="ctr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sz="2400"/>
              <a:t>Receiver</a:t>
            </a:r>
          </a:p>
        </p:txBody>
      </p:sp>
      <p:sp>
        <p:nvSpPr>
          <p:cNvPr id="1127483" name="Text Box 59"/>
          <p:cNvSpPr txBox="1">
            <a:spLocks noChangeArrowheads="1"/>
          </p:cNvSpPr>
          <p:nvPr/>
        </p:nvSpPr>
        <p:spPr bwMode="auto">
          <a:xfrm>
            <a:off x="1530350" y="1524001"/>
            <a:ext cx="1847238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dirty="0"/>
              <a:t>Sender Window</a:t>
            </a:r>
          </a:p>
        </p:txBody>
      </p:sp>
      <p:sp>
        <p:nvSpPr>
          <p:cNvPr id="1127484" name="Text Box 60"/>
          <p:cNvSpPr txBox="1">
            <a:spLocks noChangeArrowheads="1"/>
          </p:cNvSpPr>
          <p:nvPr/>
        </p:nvSpPr>
        <p:spPr bwMode="auto">
          <a:xfrm>
            <a:off x="8229601" y="1600201"/>
            <a:ext cx="2003755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dirty="0"/>
              <a:t>Receiver Window</a:t>
            </a:r>
          </a:p>
        </p:txBody>
      </p:sp>
      <p:grpSp>
        <p:nvGrpSpPr>
          <p:cNvPr id="47" name="Group 57"/>
          <p:cNvGrpSpPr>
            <a:grpSpLocks/>
          </p:cNvGrpSpPr>
          <p:nvPr/>
        </p:nvGrpSpPr>
        <p:grpSpPr bwMode="auto">
          <a:xfrm>
            <a:off x="3071812" y="1905000"/>
            <a:ext cx="5843588" cy="2057400"/>
            <a:chOff x="915" y="1024"/>
            <a:chExt cx="3681" cy="1296"/>
          </a:xfrm>
        </p:grpSpPr>
        <p:sp>
          <p:nvSpPr>
            <p:cNvPr id="48" name="Line 8"/>
            <p:cNvSpPr>
              <a:spLocks noChangeShapeType="1"/>
            </p:cNvSpPr>
            <p:nvPr/>
          </p:nvSpPr>
          <p:spPr bwMode="auto">
            <a:xfrm>
              <a:off x="1215" y="1210"/>
              <a:ext cx="3381" cy="336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9" name="Line 9"/>
            <p:cNvSpPr>
              <a:spLocks noChangeShapeType="1"/>
            </p:cNvSpPr>
            <p:nvPr/>
          </p:nvSpPr>
          <p:spPr bwMode="auto">
            <a:xfrm flipH="1">
              <a:off x="1215" y="1594"/>
              <a:ext cx="3381" cy="336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" name="Line 10"/>
            <p:cNvSpPr>
              <a:spLocks noChangeShapeType="1"/>
            </p:cNvSpPr>
            <p:nvPr/>
          </p:nvSpPr>
          <p:spPr bwMode="auto">
            <a:xfrm>
              <a:off x="1215" y="1984"/>
              <a:ext cx="2295" cy="24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Line 13"/>
            <p:cNvSpPr>
              <a:spLocks noChangeShapeType="1"/>
            </p:cNvSpPr>
            <p:nvPr/>
          </p:nvSpPr>
          <p:spPr bwMode="auto">
            <a:xfrm>
              <a:off x="1215" y="1402"/>
              <a:ext cx="3381" cy="33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Line 14"/>
            <p:cNvSpPr>
              <a:spLocks noChangeShapeType="1"/>
            </p:cNvSpPr>
            <p:nvPr/>
          </p:nvSpPr>
          <p:spPr bwMode="auto">
            <a:xfrm>
              <a:off x="1215" y="1594"/>
              <a:ext cx="3381" cy="336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3" name="Line 15"/>
            <p:cNvSpPr>
              <a:spLocks noChangeShapeType="1"/>
            </p:cNvSpPr>
            <p:nvPr/>
          </p:nvSpPr>
          <p:spPr bwMode="auto">
            <a:xfrm flipH="1">
              <a:off x="1215" y="1786"/>
              <a:ext cx="3381" cy="336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Line 16"/>
            <p:cNvSpPr>
              <a:spLocks noChangeShapeType="1"/>
            </p:cNvSpPr>
            <p:nvPr/>
          </p:nvSpPr>
          <p:spPr bwMode="auto">
            <a:xfrm flipH="1">
              <a:off x="1215" y="1978"/>
              <a:ext cx="3381" cy="336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Text Box 20"/>
            <p:cNvSpPr txBox="1">
              <a:spLocks noChangeArrowheads="1"/>
            </p:cNvSpPr>
            <p:nvPr/>
          </p:nvSpPr>
          <p:spPr bwMode="auto">
            <a:xfrm>
              <a:off x="915" y="1024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1</a:t>
              </a:r>
            </a:p>
          </p:txBody>
        </p:sp>
        <p:sp>
          <p:nvSpPr>
            <p:cNvPr id="56" name="Text Box 21"/>
            <p:cNvSpPr txBox="1">
              <a:spLocks noChangeArrowheads="1"/>
            </p:cNvSpPr>
            <p:nvPr/>
          </p:nvSpPr>
          <p:spPr bwMode="auto">
            <a:xfrm>
              <a:off x="919" y="1236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2</a:t>
              </a:r>
            </a:p>
          </p:txBody>
        </p:sp>
        <p:sp>
          <p:nvSpPr>
            <p:cNvPr id="57" name="Text Box 22"/>
            <p:cNvSpPr txBox="1">
              <a:spLocks noChangeArrowheads="1"/>
            </p:cNvSpPr>
            <p:nvPr/>
          </p:nvSpPr>
          <p:spPr bwMode="auto">
            <a:xfrm>
              <a:off x="919" y="1464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3</a:t>
              </a:r>
            </a:p>
          </p:txBody>
        </p:sp>
        <p:sp>
          <p:nvSpPr>
            <p:cNvPr id="58" name="Text Box 23"/>
            <p:cNvSpPr txBox="1">
              <a:spLocks noChangeArrowheads="1"/>
            </p:cNvSpPr>
            <p:nvPr/>
          </p:nvSpPr>
          <p:spPr bwMode="auto">
            <a:xfrm>
              <a:off x="919" y="1744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4</a:t>
              </a:r>
            </a:p>
          </p:txBody>
        </p:sp>
        <p:sp>
          <p:nvSpPr>
            <p:cNvPr id="59" name="Text Box 24"/>
            <p:cNvSpPr txBox="1">
              <a:spLocks noChangeArrowheads="1"/>
            </p:cNvSpPr>
            <p:nvPr/>
          </p:nvSpPr>
          <p:spPr bwMode="auto">
            <a:xfrm>
              <a:off x="919" y="1998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5</a:t>
              </a:r>
            </a:p>
          </p:txBody>
        </p:sp>
        <p:sp>
          <p:nvSpPr>
            <p:cNvPr id="60" name="Line 40"/>
            <p:cNvSpPr>
              <a:spLocks noChangeShapeType="1"/>
            </p:cNvSpPr>
            <p:nvPr/>
          </p:nvSpPr>
          <p:spPr bwMode="auto">
            <a:xfrm>
              <a:off x="3462" y="2128"/>
              <a:ext cx="96" cy="192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endParaRPr lang="en-US"/>
            </a:p>
          </p:txBody>
        </p:sp>
        <p:sp>
          <p:nvSpPr>
            <p:cNvPr id="61" name="Line 41"/>
            <p:cNvSpPr>
              <a:spLocks noChangeShapeType="1"/>
            </p:cNvSpPr>
            <p:nvPr/>
          </p:nvSpPr>
          <p:spPr bwMode="auto">
            <a:xfrm flipH="1">
              <a:off x="3462" y="2128"/>
              <a:ext cx="96" cy="192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endParaRPr lang="en-US"/>
            </a:p>
          </p:txBody>
        </p:sp>
      </p:grpSp>
      <p:grpSp>
        <p:nvGrpSpPr>
          <p:cNvPr id="62" name="Group 61"/>
          <p:cNvGrpSpPr>
            <a:grpSpLocks/>
          </p:cNvGrpSpPr>
          <p:nvPr/>
        </p:nvGrpSpPr>
        <p:grpSpPr bwMode="auto">
          <a:xfrm>
            <a:off x="1436688" y="3429000"/>
            <a:ext cx="2036763" cy="1374136"/>
            <a:chOff x="-55" y="1968"/>
            <a:chExt cx="1283" cy="1200"/>
          </a:xfrm>
        </p:grpSpPr>
        <p:sp>
          <p:nvSpPr>
            <p:cNvPr id="63" name="Line 62"/>
            <p:cNvSpPr>
              <a:spLocks noChangeShapeType="1"/>
            </p:cNvSpPr>
            <p:nvPr/>
          </p:nvSpPr>
          <p:spPr bwMode="auto">
            <a:xfrm flipH="1">
              <a:off x="399" y="1968"/>
              <a:ext cx="8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4" name="Line 63"/>
            <p:cNvSpPr>
              <a:spLocks noChangeShapeType="1"/>
            </p:cNvSpPr>
            <p:nvPr/>
          </p:nvSpPr>
          <p:spPr bwMode="auto">
            <a:xfrm flipH="1">
              <a:off x="399" y="3168"/>
              <a:ext cx="8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5" name="Line 64"/>
            <p:cNvSpPr>
              <a:spLocks noChangeShapeType="1"/>
            </p:cNvSpPr>
            <p:nvPr/>
          </p:nvSpPr>
          <p:spPr bwMode="auto">
            <a:xfrm>
              <a:off x="720" y="1968"/>
              <a:ext cx="0" cy="1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6" name="Text Box 65"/>
            <p:cNvSpPr txBox="1">
              <a:spLocks noChangeArrowheads="1"/>
            </p:cNvSpPr>
            <p:nvPr/>
          </p:nvSpPr>
          <p:spPr bwMode="auto">
            <a:xfrm>
              <a:off x="-55" y="2160"/>
              <a:ext cx="655" cy="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2000">
                  <a:solidFill>
                    <a:srgbClr val="FF0000"/>
                  </a:solidFill>
                  <a:latin typeface="+mn-lt"/>
                </a:rPr>
                <a:t>Timeout</a:t>
              </a:r>
            </a:p>
            <a:p>
              <a:pPr eaLnBrk="1" hangingPunct="1"/>
              <a:r>
                <a:rPr lang="en-US" sz="2000">
                  <a:solidFill>
                    <a:srgbClr val="FF0000"/>
                  </a:solidFill>
                  <a:latin typeface="+mn-lt"/>
                </a:rPr>
                <a:t>Packet 4</a:t>
              </a:r>
            </a:p>
          </p:txBody>
        </p:sp>
      </p:grpSp>
      <p:grpSp>
        <p:nvGrpSpPr>
          <p:cNvPr id="67" name="Group 58"/>
          <p:cNvGrpSpPr>
            <a:grpSpLocks/>
          </p:cNvGrpSpPr>
          <p:nvPr/>
        </p:nvGrpSpPr>
        <p:grpSpPr bwMode="auto">
          <a:xfrm>
            <a:off x="3078162" y="3733801"/>
            <a:ext cx="5837238" cy="828675"/>
            <a:chOff x="919" y="2176"/>
            <a:chExt cx="3677" cy="522"/>
          </a:xfrm>
        </p:grpSpPr>
        <p:sp>
          <p:nvSpPr>
            <p:cNvPr id="68" name="Line 17"/>
            <p:cNvSpPr>
              <a:spLocks noChangeShapeType="1"/>
            </p:cNvSpPr>
            <p:nvPr/>
          </p:nvSpPr>
          <p:spPr bwMode="auto">
            <a:xfrm>
              <a:off x="1215" y="2176"/>
              <a:ext cx="3381" cy="33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9" name="Line 18"/>
            <p:cNvSpPr>
              <a:spLocks noChangeShapeType="1"/>
            </p:cNvSpPr>
            <p:nvPr/>
          </p:nvSpPr>
          <p:spPr bwMode="auto">
            <a:xfrm>
              <a:off x="1215" y="2362"/>
              <a:ext cx="3381" cy="33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0" name="Text Box 25"/>
            <p:cNvSpPr txBox="1">
              <a:spLocks noChangeArrowheads="1"/>
            </p:cNvSpPr>
            <p:nvPr/>
          </p:nvSpPr>
          <p:spPr bwMode="auto">
            <a:xfrm>
              <a:off x="919" y="2184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6</a:t>
              </a:r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3238499" y="4727576"/>
            <a:ext cx="5648326" cy="1031875"/>
            <a:chOff x="1633537" y="4810125"/>
            <a:chExt cx="5648326" cy="1031875"/>
          </a:xfrm>
        </p:grpSpPr>
        <p:sp>
          <p:nvSpPr>
            <p:cNvPr id="72" name="Text Box 67"/>
            <p:cNvSpPr txBox="1">
              <a:spLocks noChangeArrowheads="1"/>
            </p:cNvSpPr>
            <p:nvPr/>
          </p:nvSpPr>
          <p:spPr bwMode="auto">
            <a:xfrm>
              <a:off x="1633537" y="4810125"/>
              <a:ext cx="321210" cy="4521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4</a:t>
              </a:r>
            </a:p>
          </p:txBody>
        </p:sp>
        <p:sp>
          <p:nvSpPr>
            <p:cNvPr id="73" name="Text Box 68"/>
            <p:cNvSpPr txBox="1">
              <a:spLocks noChangeArrowheads="1"/>
            </p:cNvSpPr>
            <p:nvPr/>
          </p:nvSpPr>
          <p:spPr bwMode="auto">
            <a:xfrm>
              <a:off x="1633537" y="5038725"/>
              <a:ext cx="321210" cy="4521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5</a:t>
              </a:r>
            </a:p>
          </p:txBody>
        </p:sp>
        <p:sp>
          <p:nvSpPr>
            <p:cNvPr id="74" name="Text Box 69"/>
            <p:cNvSpPr txBox="1">
              <a:spLocks noChangeArrowheads="1"/>
            </p:cNvSpPr>
            <p:nvPr/>
          </p:nvSpPr>
          <p:spPr bwMode="auto">
            <a:xfrm>
              <a:off x="1633537" y="5267325"/>
              <a:ext cx="321210" cy="4521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6</a:t>
              </a:r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>
              <a:off x="1914525" y="5029200"/>
              <a:ext cx="5367338" cy="53340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>
              <a:off x="1914525" y="5156200"/>
              <a:ext cx="5367338" cy="53340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>
              <a:off x="1914525" y="5308600"/>
              <a:ext cx="5367338" cy="53340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893325" y="4096393"/>
            <a:ext cx="875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Discard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02774" y="4381500"/>
            <a:ext cx="875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Discard</a:t>
            </a:r>
          </a:p>
        </p:txBody>
      </p:sp>
    </p:spTree>
    <p:extLst>
      <p:ext uri="{BB962C8B-B14F-4D97-AF65-F5344CB8AC3E}">
        <p14:creationId xmlns:p14="http://schemas.microsoft.com/office/powerpoint/2010/main" val="1466495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SR example with errors</a:t>
            </a:r>
          </a:p>
        </p:txBody>
      </p:sp>
      <p:sp>
        <p:nvSpPr>
          <p:cNvPr id="1127429" name="Text Box 5"/>
          <p:cNvSpPr txBox="1">
            <a:spLocks noChangeArrowheads="1"/>
          </p:cNvSpPr>
          <p:nvPr/>
        </p:nvSpPr>
        <p:spPr bwMode="auto">
          <a:xfrm>
            <a:off x="4511675" y="1524001"/>
            <a:ext cx="3221822" cy="461653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2400" dirty="0">
                <a:solidFill>
                  <a:srgbClr val="0000FF"/>
                </a:solidFill>
              </a:rPr>
              <a:t>Window size = 3 packets</a:t>
            </a:r>
          </a:p>
        </p:txBody>
      </p:sp>
      <p:sp>
        <p:nvSpPr>
          <p:cNvPr id="1127430" name="Line 6"/>
          <p:cNvSpPr>
            <a:spLocks noChangeShapeType="1"/>
          </p:cNvSpPr>
          <p:nvPr/>
        </p:nvSpPr>
        <p:spPr bwMode="auto">
          <a:xfrm flipH="1">
            <a:off x="3505201" y="2124076"/>
            <a:ext cx="30163" cy="36353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1" name="Line 7"/>
          <p:cNvSpPr>
            <a:spLocks noChangeShapeType="1"/>
          </p:cNvSpPr>
          <p:nvPr/>
        </p:nvSpPr>
        <p:spPr bwMode="auto">
          <a:xfrm flipH="1">
            <a:off x="8886826" y="2124076"/>
            <a:ext cx="3175" cy="375761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2" name="Line 8"/>
          <p:cNvSpPr>
            <a:spLocks noChangeShapeType="1"/>
          </p:cNvSpPr>
          <p:nvPr/>
        </p:nvSpPr>
        <p:spPr bwMode="auto">
          <a:xfrm>
            <a:off x="3535364" y="2276475"/>
            <a:ext cx="5367337" cy="5334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3" name="Line 9"/>
          <p:cNvSpPr>
            <a:spLocks noChangeShapeType="1"/>
          </p:cNvSpPr>
          <p:nvPr/>
        </p:nvSpPr>
        <p:spPr bwMode="auto">
          <a:xfrm flipH="1">
            <a:off x="3535364" y="2886075"/>
            <a:ext cx="5367337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7" name="Line 13"/>
          <p:cNvSpPr>
            <a:spLocks noChangeShapeType="1"/>
          </p:cNvSpPr>
          <p:nvPr/>
        </p:nvSpPr>
        <p:spPr bwMode="auto">
          <a:xfrm>
            <a:off x="3535364" y="2581275"/>
            <a:ext cx="5367337" cy="5334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8" name="Line 14"/>
          <p:cNvSpPr>
            <a:spLocks noChangeShapeType="1"/>
          </p:cNvSpPr>
          <p:nvPr/>
        </p:nvSpPr>
        <p:spPr bwMode="auto">
          <a:xfrm>
            <a:off x="3535364" y="2886075"/>
            <a:ext cx="5367337" cy="5334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9" name="Line 15"/>
          <p:cNvSpPr>
            <a:spLocks noChangeShapeType="1"/>
          </p:cNvSpPr>
          <p:nvPr/>
        </p:nvSpPr>
        <p:spPr bwMode="auto">
          <a:xfrm flipH="1">
            <a:off x="3535364" y="3190875"/>
            <a:ext cx="5367337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41" name="Line 17"/>
          <p:cNvSpPr>
            <a:spLocks noChangeShapeType="1"/>
          </p:cNvSpPr>
          <p:nvPr/>
        </p:nvSpPr>
        <p:spPr bwMode="auto">
          <a:xfrm>
            <a:off x="3535364" y="3495675"/>
            <a:ext cx="3856037" cy="429574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66" name="Line 42"/>
          <p:cNvSpPr>
            <a:spLocks noChangeShapeType="1"/>
          </p:cNvSpPr>
          <p:nvPr/>
        </p:nvSpPr>
        <p:spPr bwMode="auto">
          <a:xfrm flipH="1">
            <a:off x="3521075" y="3505200"/>
            <a:ext cx="5367338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127488" name="Group 64"/>
          <p:cNvGrpSpPr>
            <a:grpSpLocks/>
          </p:cNvGrpSpPr>
          <p:nvPr/>
        </p:nvGrpSpPr>
        <p:grpSpPr bwMode="auto">
          <a:xfrm>
            <a:off x="2205039" y="1946278"/>
            <a:ext cx="1174751" cy="487363"/>
            <a:chOff x="429" y="1226"/>
            <a:chExt cx="740" cy="307"/>
          </a:xfrm>
        </p:grpSpPr>
        <p:sp>
          <p:nvSpPr>
            <p:cNvPr id="1127444" name="Text Box 20"/>
            <p:cNvSpPr txBox="1">
              <a:spLocks noChangeArrowheads="1"/>
            </p:cNvSpPr>
            <p:nvPr/>
          </p:nvSpPr>
          <p:spPr bwMode="auto">
            <a:xfrm>
              <a:off x="967" y="1248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1</a:t>
              </a:r>
            </a:p>
          </p:txBody>
        </p:sp>
        <p:sp>
          <p:nvSpPr>
            <p:cNvPr id="1127476" name="Text Box 52"/>
            <p:cNvSpPr txBox="1">
              <a:spLocks noChangeArrowheads="1"/>
            </p:cNvSpPr>
            <p:nvPr/>
          </p:nvSpPr>
          <p:spPr bwMode="auto">
            <a:xfrm>
              <a:off x="429" y="1226"/>
              <a:ext cx="33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/>
                <a:t>{1}</a:t>
              </a:r>
            </a:p>
          </p:txBody>
        </p:sp>
      </p:grpSp>
      <p:grpSp>
        <p:nvGrpSpPr>
          <p:cNvPr id="1127489" name="Group 65"/>
          <p:cNvGrpSpPr>
            <a:grpSpLocks/>
          </p:cNvGrpSpPr>
          <p:nvPr/>
        </p:nvGrpSpPr>
        <p:grpSpPr bwMode="auto">
          <a:xfrm>
            <a:off x="1862139" y="2289178"/>
            <a:ext cx="1524001" cy="481013"/>
            <a:chOff x="213" y="1442"/>
            <a:chExt cx="960" cy="303"/>
          </a:xfrm>
        </p:grpSpPr>
        <p:sp>
          <p:nvSpPr>
            <p:cNvPr id="1127445" name="Text Box 21"/>
            <p:cNvSpPr txBox="1">
              <a:spLocks noChangeArrowheads="1"/>
            </p:cNvSpPr>
            <p:nvPr/>
          </p:nvSpPr>
          <p:spPr bwMode="auto">
            <a:xfrm>
              <a:off x="971" y="1460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2</a:t>
              </a:r>
            </a:p>
          </p:txBody>
        </p:sp>
        <p:sp>
          <p:nvSpPr>
            <p:cNvPr id="1127477" name="Text Box 53"/>
            <p:cNvSpPr txBox="1">
              <a:spLocks noChangeArrowheads="1"/>
            </p:cNvSpPr>
            <p:nvPr/>
          </p:nvSpPr>
          <p:spPr bwMode="auto">
            <a:xfrm>
              <a:off x="213" y="1442"/>
              <a:ext cx="52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/>
                <a:t>{1, 2}</a:t>
              </a:r>
            </a:p>
          </p:txBody>
        </p:sp>
      </p:grpSp>
      <p:grpSp>
        <p:nvGrpSpPr>
          <p:cNvPr id="1127492" name="Group 68"/>
          <p:cNvGrpSpPr>
            <a:grpSpLocks/>
          </p:cNvGrpSpPr>
          <p:nvPr/>
        </p:nvGrpSpPr>
        <p:grpSpPr bwMode="auto">
          <a:xfrm>
            <a:off x="1628776" y="2670179"/>
            <a:ext cx="1757363" cy="461963"/>
            <a:chOff x="66" y="1682"/>
            <a:chExt cx="1107" cy="291"/>
          </a:xfrm>
        </p:grpSpPr>
        <p:sp>
          <p:nvSpPr>
            <p:cNvPr id="1127446" name="Text Box 22"/>
            <p:cNvSpPr txBox="1">
              <a:spLocks noChangeArrowheads="1"/>
            </p:cNvSpPr>
            <p:nvPr/>
          </p:nvSpPr>
          <p:spPr bwMode="auto">
            <a:xfrm>
              <a:off x="971" y="1688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3</a:t>
              </a:r>
            </a:p>
          </p:txBody>
        </p:sp>
        <p:sp>
          <p:nvSpPr>
            <p:cNvPr id="1127478" name="Text Box 54"/>
            <p:cNvSpPr txBox="1">
              <a:spLocks noChangeArrowheads="1"/>
            </p:cNvSpPr>
            <p:nvPr/>
          </p:nvSpPr>
          <p:spPr bwMode="auto">
            <a:xfrm>
              <a:off x="66" y="1682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/>
                <a:t>{1, 2, 3}</a:t>
              </a:r>
            </a:p>
          </p:txBody>
        </p:sp>
      </p:grpSp>
      <p:grpSp>
        <p:nvGrpSpPr>
          <p:cNvPr id="1127494" name="Group 70"/>
          <p:cNvGrpSpPr>
            <a:grpSpLocks/>
          </p:cNvGrpSpPr>
          <p:nvPr/>
        </p:nvGrpSpPr>
        <p:grpSpPr bwMode="auto">
          <a:xfrm>
            <a:off x="1628776" y="3124204"/>
            <a:ext cx="1757363" cy="519113"/>
            <a:chOff x="66" y="1968"/>
            <a:chExt cx="1107" cy="327"/>
          </a:xfrm>
        </p:grpSpPr>
        <p:sp>
          <p:nvSpPr>
            <p:cNvPr id="1127447" name="Text Box 23"/>
            <p:cNvSpPr txBox="1">
              <a:spLocks noChangeArrowheads="1"/>
            </p:cNvSpPr>
            <p:nvPr/>
          </p:nvSpPr>
          <p:spPr bwMode="auto">
            <a:xfrm>
              <a:off x="971" y="2010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4</a:t>
              </a:r>
            </a:p>
          </p:txBody>
        </p:sp>
        <p:sp>
          <p:nvSpPr>
            <p:cNvPr id="1127479" name="Text Box 55"/>
            <p:cNvSpPr txBox="1">
              <a:spLocks noChangeArrowheads="1"/>
            </p:cNvSpPr>
            <p:nvPr/>
          </p:nvSpPr>
          <p:spPr bwMode="auto">
            <a:xfrm>
              <a:off x="66" y="1968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/>
                <a:t>{2, 3, 4}</a:t>
              </a:r>
            </a:p>
          </p:txBody>
        </p:sp>
      </p:grpSp>
      <p:grpSp>
        <p:nvGrpSpPr>
          <p:cNvPr id="1127495" name="Group 71"/>
          <p:cNvGrpSpPr>
            <a:grpSpLocks/>
          </p:cNvGrpSpPr>
          <p:nvPr/>
        </p:nvGrpSpPr>
        <p:grpSpPr bwMode="auto">
          <a:xfrm>
            <a:off x="1628776" y="3505205"/>
            <a:ext cx="1757363" cy="474663"/>
            <a:chOff x="66" y="2208"/>
            <a:chExt cx="1107" cy="299"/>
          </a:xfrm>
        </p:grpSpPr>
        <p:sp>
          <p:nvSpPr>
            <p:cNvPr id="1127448" name="Text Box 24"/>
            <p:cNvSpPr txBox="1">
              <a:spLocks noChangeArrowheads="1"/>
            </p:cNvSpPr>
            <p:nvPr/>
          </p:nvSpPr>
          <p:spPr bwMode="auto">
            <a:xfrm>
              <a:off x="971" y="2222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5</a:t>
              </a:r>
            </a:p>
          </p:txBody>
        </p:sp>
        <p:sp>
          <p:nvSpPr>
            <p:cNvPr id="1127480" name="Text Box 56"/>
            <p:cNvSpPr txBox="1">
              <a:spLocks noChangeArrowheads="1"/>
            </p:cNvSpPr>
            <p:nvPr/>
          </p:nvSpPr>
          <p:spPr bwMode="auto">
            <a:xfrm>
              <a:off x="66" y="2208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 dirty="0"/>
                <a:t>{3, 4, 5}</a:t>
              </a:r>
            </a:p>
          </p:txBody>
        </p:sp>
      </p:grpSp>
      <p:sp>
        <p:nvSpPr>
          <p:cNvPr id="1127483" name="Text Box 59"/>
          <p:cNvSpPr txBox="1">
            <a:spLocks noChangeArrowheads="1"/>
          </p:cNvSpPr>
          <p:nvPr/>
        </p:nvSpPr>
        <p:spPr bwMode="auto">
          <a:xfrm>
            <a:off x="1530350" y="1524001"/>
            <a:ext cx="1847238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dirty="0"/>
              <a:t>Sender Window</a:t>
            </a:r>
          </a:p>
        </p:txBody>
      </p:sp>
      <p:sp>
        <p:nvSpPr>
          <p:cNvPr id="1127484" name="Text Box 60"/>
          <p:cNvSpPr txBox="1">
            <a:spLocks noChangeArrowheads="1"/>
          </p:cNvSpPr>
          <p:nvPr/>
        </p:nvSpPr>
        <p:spPr bwMode="auto">
          <a:xfrm>
            <a:off x="8229601" y="1600201"/>
            <a:ext cx="2003755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dirty="0"/>
              <a:t>Receiver Window</a:t>
            </a:r>
          </a:p>
        </p:txBody>
      </p:sp>
      <p:sp>
        <p:nvSpPr>
          <p:cNvPr id="1127468" name="Line 44"/>
          <p:cNvSpPr>
            <a:spLocks noChangeShapeType="1"/>
          </p:cNvSpPr>
          <p:nvPr/>
        </p:nvSpPr>
        <p:spPr bwMode="auto">
          <a:xfrm flipH="1">
            <a:off x="3507456" y="5600882"/>
            <a:ext cx="5367338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69" name="Line 45"/>
          <p:cNvSpPr>
            <a:spLocks noChangeShapeType="1"/>
          </p:cNvSpPr>
          <p:nvPr/>
        </p:nvSpPr>
        <p:spPr bwMode="auto">
          <a:xfrm>
            <a:off x="3521075" y="3810000"/>
            <a:ext cx="5367338" cy="53340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70" name="Line 46"/>
          <p:cNvSpPr>
            <a:spLocks noChangeShapeType="1"/>
          </p:cNvSpPr>
          <p:nvPr/>
        </p:nvSpPr>
        <p:spPr bwMode="auto">
          <a:xfrm>
            <a:off x="3521075" y="4114800"/>
            <a:ext cx="5367338" cy="5334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72" name="Line 48"/>
          <p:cNvSpPr>
            <a:spLocks noChangeShapeType="1"/>
          </p:cNvSpPr>
          <p:nvPr/>
        </p:nvSpPr>
        <p:spPr bwMode="auto">
          <a:xfrm flipH="1">
            <a:off x="3521075" y="4419600"/>
            <a:ext cx="5367338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73" name="Line 49"/>
          <p:cNvSpPr>
            <a:spLocks noChangeShapeType="1"/>
          </p:cNvSpPr>
          <p:nvPr/>
        </p:nvSpPr>
        <p:spPr bwMode="auto">
          <a:xfrm flipH="1">
            <a:off x="3521075" y="4724400"/>
            <a:ext cx="5367338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74" name="Line 50"/>
          <p:cNvSpPr>
            <a:spLocks noChangeShapeType="1"/>
          </p:cNvSpPr>
          <p:nvPr/>
        </p:nvSpPr>
        <p:spPr bwMode="auto">
          <a:xfrm>
            <a:off x="3521075" y="5029200"/>
            <a:ext cx="5367338" cy="53340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127496" name="Group 72"/>
          <p:cNvGrpSpPr>
            <a:grpSpLocks/>
          </p:cNvGrpSpPr>
          <p:nvPr/>
        </p:nvGrpSpPr>
        <p:grpSpPr bwMode="auto">
          <a:xfrm>
            <a:off x="1628776" y="3889379"/>
            <a:ext cx="1751013" cy="458788"/>
            <a:chOff x="66" y="2450"/>
            <a:chExt cx="1103" cy="289"/>
          </a:xfrm>
        </p:grpSpPr>
        <p:sp>
          <p:nvSpPr>
            <p:cNvPr id="1127471" name="Text Box 47"/>
            <p:cNvSpPr txBox="1">
              <a:spLocks noChangeArrowheads="1"/>
            </p:cNvSpPr>
            <p:nvPr/>
          </p:nvSpPr>
          <p:spPr bwMode="auto">
            <a:xfrm>
              <a:off x="967" y="2454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6</a:t>
              </a:r>
            </a:p>
          </p:txBody>
        </p:sp>
        <p:sp>
          <p:nvSpPr>
            <p:cNvPr id="1127481" name="Text Box 57"/>
            <p:cNvSpPr txBox="1">
              <a:spLocks noChangeArrowheads="1"/>
            </p:cNvSpPr>
            <p:nvPr/>
          </p:nvSpPr>
          <p:spPr bwMode="auto">
            <a:xfrm>
              <a:off x="66" y="2450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/>
                <a:t>{4, 5, 6}</a:t>
              </a:r>
            </a:p>
          </p:txBody>
        </p:sp>
      </p:grpSp>
      <p:sp>
        <p:nvSpPr>
          <p:cNvPr id="47" name="Line 33"/>
          <p:cNvSpPr>
            <a:spLocks noChangeShapeType="1"/>
          </p:cNvSpPr>
          <p:nvPr/>
        </p:nvSpPr>
        <p:spPr bwMode="auto">
          <a:xfrm>
            <a:off x="7391400" y="3810000"/>
            <a:ext cx="1524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48" name="Line 34"/>
          <p:cNvSpPr>
            <a:spLocks noChangeShapeType="1"/>
          </p:cNvSpPr>
          <p:nvPr/>
        </p:nvSpPr>
        <p:spPr bwMode="auto">
          <a:xfrm flipH="1">
            <a:off x="7391400" y="3810000"/>
            <a:ext cx="1524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49" name="Text Box 32"/>
          <p:cNvSpPr txBox="1">
            <a:spLocks noChangeArrowheads="1"/>
          </p:cNvSpPr>
          <p:nvPr/>
        </p:nvSpPr>
        <p:spPr bwMode="auto">
          <a:xfrm rot="21254809">
            <a:off x="5769561" y="4385319"/>
            <a:ext cx="79214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99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ACK=5</a:t>
            </a:r>
          </a:p>
        </p:txBody>
      </p:sp>
      <p:sp>
        <p:nvSpPr>
          <p:cNvPr id="50" name="Text Box 32"/>
          <p:cNvSpPr txBox="1">
            <a:spLocks noChangeArrowheads="1"/>
          </p:cNvSpPr>
          <p:nvPr/>
        </p:nvSpPr>
        <p:spPr bwMode="auto">
          <a:xfrm rot="21254809">
            <a:off x="5769561" y="4694149"/>
            <a:ext cx="79214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99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ACK=6</a:t>
            </a:r>
          </a:p>
        </p:txBody>
      </p:sp>
      <p:grpSp>
        <p:nvGrpSpPr>
          <p:cNvPr id="51" name="Group 72"/>
          <p:cNvGrpSpPr>
            <a:grpSpLocks/>
          </p:cNvGrpSpPr>
          <p:nvPr/>
        </p:nvGrpSpPr>
        <p:grpSpPr bwMode="auto">
          <a:xfrm>
            <a:off x="1625984" y="4693126"/>
            <a:ext cx="1595438" cy="458788"/>
            <a:chOff x="66" y="2450"/>
            <a:chExt cx="1005" cy="289"/>
          </a:xfrm>
        </p:grpSpPr>
        <p:sp>
          <p:nvSpPr>
            <p:cNvPr id="52" name="Text Box 47"/>
            <p:cNvSpPr txBox="1">
              <a:spLocks noChangeArrowheads="1"/>
            </p:cNvSpPr>
            <p:nvPr/>
          </p:nvSpPr>
          <p:spPr bwMode="auto">
            <a:xfrm>
              <a:off x="967" y="2454"/>
              <a:ext cx="104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endParaRPr lang="en-US" dirty="0">
                <a:latin typeface="+mn-lt"/>
              </a:endParaRPr>
            </a:p>
          </p:txBody>
        </p:sp>
        <p:sp>
          <p:nvSpPr>
            <p:cNvPr id="53" name="Text Box 57"/>
            <p:cNvSpPr txBox="1">
              <a:spLocks noChangeArrowheads="1"/>
            </p:cNvSpPr>
            <p:nvPr/>
          </p:nvSpPr>
          <p:spPr bwMode="auto">
            <a:xfrm>
              <a:off x="66" y="2450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 dirty="0"/>
                <a:t>{4, 5, 6}</a:t>
              </a:r>
            </a:p>
          </p:txBody>
        </p:sp>
      </p:grpSp>
      <p:grpSp>
        <p:nvGrpSpPr>
          <p:cNvPr id="54" name="Group 72"/>
          <p:cNvGrpSpPr>
            <a:grpSpLocks/>
          </p:cNvGrpSpPr>
          <p:nvPr/>
        </p:nvGrpSpPr>
        <p:grpSpPr bwMode="auto">
          <a:xfrm>
            <a:off x="1622531" y="5061427"/>
            <a:ext cx="1595438" cy="458788"/>
            <a:chOff x="66" y="2450"/>
            <a:chExt cx="1005" cy="289"/>
          </a:xfrm>
        </p:grpSpPr>
        <p:sp>
          <p:nvSpPr>
            <p:cNvPr id="55" name="Text Box 47"/>
            <p:cNvSpPr txBox="1">
              <a:spLocks noChangeArrowheads="1"/>
            </p:cNvSpPr>
            <p:nvPr/>
          </p:nvSpPr>
          <p:spPr bwMode="auto">
            <a:xfrm>
              <a:off x="967" y="2454"/>
              <a:ext cx="104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endParaRPr lang="en-US" dirty="0">
                <a:latin typeface="+mn-lt"/>
              </a:endParaRPr>
            </a:p>
          </p:txBody>
        </p:sp>
        <p:sp>
          <p:nvSpPr>
            <p:cNvPr id="56" name="Text Box 57"/>
            <p:cNvSpPr txBox="1">
              <a:spLocks noChangeArrowheads="1"/>
            </p:cNvSpPr>
            <p:nvPr/>
          </p:nvSpPr>
          <p:spPr bwMode="auto">
            <a:xfrm>
              <a:off x="66" y="2450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 dirty="0"/>
                <a:t>{4, 5, 6}</a:t>
              </a:r>
            </a:p>
          </p:txBody>
        </p:sp>
      </p:grpSp>
      <p:grpSp>
        <p:nvGrpSpPr>
          <p:cNvPr id="57" name="Group 61"/>
          <p:cNvGrpSpPr>
            <a:grpSpLocks/>
          </p:cNvGrpSpPr>
          <p:nvPr/>
        </p:nvGrpSpPr>
        <p:grpSpPr bwMode="auto">
          <a:xfrm>
            <a:off x="1704976" y="3581401"/>
            <a:ext cx="1800225" cy="1172051"/>
            <a:chOff x="94" y="1968"/>
            <a:chExt cx="1134" cy="1200"/>
          </a:xfrm>
        </p:grpSpPr>
        <p:sp>
          <p:nvSpPr>
            <p:cNvPr id="58" name="Line 62"/>
            <p:cNvSpPr>
              <a:spLocks noChangeShapeType="1"/>
            </p:cNvSpPr>
            <p:nvPr/>
          </p:nvSpPr>
          <p:spPr bwMode="auto">
            <a:xfrm flipH="1">
              <a:off x="399" y="1968"/>
              <a:ext cx="829" cy="0"/>
            </a:xfrm>
            <a:prstGeom prst="line">
              <a:avLst/>
            </a:prstGeom>
            <a:noFill/>
            <a:ln w="38100" cmpd="sng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9" name="Line 63"/>
            <p:cNvSpPr>
              <a:spLocks noChangeShapeType="1"/>
            </p:cNvSpPr>
            <p:nvPr/>
          </p:nvSpPr>
          <p:spPr bwMode="auto">
            <a:xfrm flipH="1">
              <a:off x="399" y="3168"/>
              <a:ext cx="829" cy="0"/>
            </a:xfrm>
            <a:prstGeom prst="line">
              <a:avLst/>
            </a:prstGeom>
            <a:noFill/>
            <a:ln w="38100" cmpd="sng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0" name="Line 64"/>
            <p:cNvSpPr>
              <a:spLocks noChangeShapeType="1"/>
            </p:cNvSpPr>
            <p:nvPr/>
          </p:nvSpPr>
          <p:spPr bwMode="auto">
            <a:xfrm>
              <a:off x="940" y="1968"/>
              <a:ext cx="0" cy="1200"/>
            </a:xfrm>
            <a:prstGeom prst="line">
              <a:avLst/>
            </a:prstGeom>
            <a:noFill/>
            <a:ln w="38100" cmpd="sng">
              <a:solidFill>
                <a:srgbClr val="FF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1" name="Text Box 65"/>
            <p:cNvSpPr txBox="1">
              <a:spLocks noChangeArrowheads="1"/>
            </p:cNvSpPr>
            <p:nvPr/>
          </p:nvSpPr>
          <p:spPr bwMode="auto">
            <a:xfrm>
              <a:off x="94" y="2241"/>
              <a:ext cx="798" cy="7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2000" dirty="0">
                  <a:solidFill>
                    <a:srgbClr val="FF0000"/>
                  </a:solidFill>
                  <a:latin typeface="+mn-lt"/>
                </a:rPr>
                <a:t>Timeout</a:t>
              </a:r>
            </a:p>
            <a:p>
              <a:pPr eaLnBrk="1" hangingPunct="1"/>
              <a:r>
                <a:rPr lang="en-US" sz="2000" dirty="0">
                  <a:solidFill>
                    <a:srgbClr val="FF0000"/>
                  </a:solidFill>
                  <a:latin typeface="+mn-lt"/>
                </a:rPr>
                <a:t>Packet 4</a:t>
              </a:r>
            </a:p>
          </p:txBody>
        </p:sp>
      </p:grpSp>
      <p:sp>
        <p:nvSpPr>
          <p:cNvPr id="62" name="Text Box 21"/>
          <p:cNvSpPr txBox="1">
            <a:spLocks noChangeArrowheads="1"/>
          </p:cNvSpPr>
          <p:nvPr/>
        </p:nvSpPr>
        <p:spPr bwMode="auto">
          <a:xfrm>
            <a:off x="3056322" y="4776126"/>
            <a:ext cx="321210" cy="452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82058" tIns="41029" rIns="82058" bIns="41029">
            <a:spAutoFit/>
          </a:bodyPr>
          <a:lstStyle>
            <a:lvl1pPr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1pPr>
            <a:lvl2pPr marL="409575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820738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230313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1641475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0986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5558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0130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4702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r>
              <a:rPr lang="en-US" dirty="0">
                <a:latin typeface="+mn-lt"/>
              </a:rPr>
              <a:t>4</a:t>
            </a:r>
          </a:p>
        </p:txBody>
      </p:sp>
      <p:sp>
        <p:nvSpPr>
          <p:cNvPr id="63" name="Text Box 32"/>
          <p:cNvSpPr txBox="1">
            <a:spLocks noChangeArrowheads="1"/>
          </p:cNvSpPr>
          <p:nvPr/>
        </p:nvSpPr>
        <p:spPr bwMode="auto">
          <a:xfrm rot="21254809">
            <a:off x="5755942" y="5566601"/>
            <a:ext cx="79214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99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ACK=4</a:t>
            </a:r>
          </a:p>
        </p:txBody>
      </p:sp>
      <p:sp>
        <p:nvSpPr>
          <p:cNvPr id="64" name="Text Box 26"/>
          <p:cNvSpPr txBox="1">
            <a:spLocks noChangeArrowheads="1"/>
          </p:cNvSpPr>
          <p:nvPr/>
        </p:nvSpPr>
        <p:spPr bwMode="auto">
          <a:xfrm>
            <a:off x="3048000" y="5948610"/>
            <a:ext cx="321210" cy="452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82058" tIns="41029" rIns="82058" bIns="41029">
            <a:spAutoFit/>
          </a:bodyPr>
          <a:lstStyle>
            <a:lvl1pPr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1pPr>
            <a:lvl2pPr marL="409575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820738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230313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1641475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0986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5558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0130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4702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r>
              <a:rPr lang="en-US">
                <a:latin typeface="+mn-lt"/>
              </a:rPr>
              <a:t>7</a:t>
            </a:r>
          </a:p>
        </p:txBody>
      </p:sp>
      <p:sp>
        <p:nvSpPr>
          <p:cNvPr id="65" name="Line 45"/>
          <p:cNvSpPr>
            <a:spLocks noChangeShapeType="1"/>
          </p:cNvSpPr>
          <p:nvPr/>
        </p:nvSpPr>
        <p:spPr bwMode="auto">
          <a:xfrm>
            <a:off x="3581400" y="6248400"/>
            <a:ext cx="3048000" cy="3048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 Box 46"/>
          <p:cNvSpPr txBox="1">
            <a:spLocks noChangeArrowheads="1"/>
          </p:cNvSpPr>
          <p:nvPr/>
        </p:nvSpPr>
        <p:spPr bwMode="auto">
          <a:xfrm>
            <a:off x="1622065" y="5907247"/>
            <a:ext cx="1133325" cy="45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400" dirty="0"/>
              <a:t>{7, 8, 9}</a:t>
            </a:r>
          </a:p>
        </p:txBody>
      </p:sp>
      <p:sp>
        <p:nvSpPr>
          <p:cNvPr id="67" name="Text Box 10"/>
          <p:cNvSpPr txBox="1">
            <a:spLocks noChangeArrowheads="1"/>
          </p:cNvSpPr>
          <p:nvPr/>
        </p:nvSpPr>
        <p:spPr bwMode="auto">
          <a:xfrm>
            <a:off x="2813311" y="6400801"/>
            <a:ext cx="1064693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1429" tIns="45714" rIns="91429" bIns="45714" anchor="ctr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sz="2400" dirty="0"/>
              <a:t>Sender</a:t>
            </a:r>
          </a:p>
        </p:txBody>
      </p:sp>
      <p:sp>
        <p:nvSpPr>
          <p:cNvPr id="68" name="Text Box 11"/>
          <p:cNvSpPr txBox="1">
            <a:spLocks noChangeArrowheads="1"/>
          </p:cNvSpPr>
          <p:nvPr/>
        </p:nvSpPr>
        <p:spPr bwMode="auto">
          <a:xfrm>
            <a:off x="8184696" y="6400801"/>
            <a:ext cx="1251859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1429" tIns="45714" rIns="91429" bIns="45714" anchor="ctr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sz="2400" dirty="0"/>
              <a:t>Receiver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93326" y="4233446"/>
            <a:ext cx="99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Buffered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90001" y="4552063"/>
            <a:ext cx="99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Buffered</a:t>
            </a:r>
          </a:p>
        </p:txBody>
      </p:sp>
    </p:spTree>
    <p:extLst>
      <p:ext uri="{BB962C8B-B14F-4D97-AF65-F5344CB8AC3E}">
        <p14:creationId xmlns:p14="http://schemas.microsoft.com/office/powerpoint/2010/main" val="88354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468" grpId="0" animBg="1"/>
      <p:bldP spid="1127469" grpId="0" animBg="1"/>
      <p:bldP spid="1127470" grpId="0" animBg="1"/>
      <p:bldP spid="1127472" grpId="0" animBg="1"/>
      <p:bldP spid="1127472" grpId="1" animBg="1"/>
      <p:bldP spid="1127473" grpId="0" animBg="1"/>
      <p:bldP spid="1127473" grpId="1" animBg="1"/>
      <p:bldP spid="1127474" grpId="0" animBg="1"/>
      <p:bldP spid="49" grpId="0"/>
      <p:bldP spid="50" grpId="0"/>
      <p:bldP spid="62" grpId="0"/>
      <p:bldP spid="63" grpId="0"/>
      <p:bldP spid="64" grpId="0"/>
      <p:bldP spid="65" grpId="0" animBg="1"/>
      <p:bldP spid="66" grpId="0"/>
      <p:bldP spid="69" grpId="0"/>
      <p:bldP spid="7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1"/>
            <a:ext cx="10515600" cy="5012042"/>
          </a:xfrm>
        </p:spPr>
        <p:txBody>
          <a:bodyPr>
            <a:normAutofit/>
          </a:bodyPr>
          <a:lstStyle/>
          <a:p>
            <a:pPr algn="l"/>
            <a:r>
              <a:rPr lang="en-GB" altLang="zh-CN" dirty="0"/>
              <a:t>TCP is a transport layer protocol on top of IP</a:t>
            </a:r>
          </a:p>
          <a:p>
            <a:pPr lvl="1"/>
            <a:r>
              <a:rPr lang="en-GB" altLang="zh-CN" dirty="0"/>
              <a:t>It provides a reliable, ordered, and error-checked byte stream abstraction</a:t>
            </a:r>
          </a:p>
          <a:p>
            <a:r>
              <a:rPr lang="en-GB" altLang="zh-CN" dirty="0"/>
              <a:t>TCP headers look like the following</a:t>
            </a:r>
            <a:r>
              <a:rPr lang="en-US" altLang="zh-CN" dirty="0"/>
              <a:t>:</a:t>
            </a:r>
            <a:endParaRPr lang="en-GB" altLang="zh-CN" b="0" i="0" dirty="0">
              <a:solidFill>
                <a:srgbClr val="333333"/>
              </a:solidFill>
              <a:effectLst/>
              <a:latin typeface="Arial" panose="020B0604020202020204" pitchFamily="34" charset="0"/>
            </a:endParaRPr>
          </a:p>
          <a:p>
            <a:pPr lvl="2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TCP: Overview</a:t>
            </a:r>
            <a:endParaRPr lang="en-US" b="1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E9AA9C4-9EA4-E7E2-3352-19E65C3C6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966843"/>
            <a:ext cx="7772400" cy="314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8924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2EB615-7686-AE1A-FD7F-131B6241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CN" b="1" dirty="0"/>
              <a:t>TCP: Overview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5D30E2-659E-77E4-7578-541027375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altLang="zh-CN" dirty="0"/>
              <a:t>Reliable</a:t>
            </a:r>
          </a:p>
          <a:p>
            <a:pPr lvl="1"/>
            <a:r>
              <a:rPr lang="en-GB" altLang="zh-CN" dirty="0"/>
              <a:t>TCP attempts to resend lost packets; provides a “lossless” view to the application</a:t>
            </a:r>
          </a:p>
          <a:p>
            <a:r>
              <a:rPr lang="en-GB" altLang="zh-CN" dirty="0"/>
              <a:t>Ordered </a:t>
            </a:r>
          </a:p>
          <a:p>
            <a:pPr lvl="1"/>
            <a:r>
              <a:rPr lang="en-GB" altLang="zh-CN" dirty="0"/>
              <a:t>TCP guarantees that the receiver application reads the data in the same order that it was sent</a:t>
            </a:r>
          </a:p>
          <a:p>
            <a:r>
              <a:rPr lang="en-GB" altLang="zh-CN" dirty="0"/>
              <a:t>Error-checked </a:t>
            </a:r>
          </a:p>
          <a:p>
            <a:pPr lvl="1"/>
            <a:r>
              <a:rPr lang="en-GB" altLang="zh-CN" dirty="0"/>
              <a:t>TCP provides a checksum to detect errors in the received data</a:t>
            </a:r>
          </a:p>
          <a:p>
            <a:r>
              <a:rPr lang="en-GB" altLang="zh-CN" dirty="0"/>
              <a:t>Byte stream </a:t>
            </a:r>
          </a:p>
          <a:p>
            <a:pPr lvl="1"/>
            <a:r>
              <a:rPr lang="en-GB" altLang="zh-CN" dirty="0"/>
              <a:t>TCP provides the view of a “stream of bytes” rather than discrete packets to the application 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03276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2454</TotalTime>
  <Words>1096</Words>
  <Application>Microsoft Macintosh PowerPoint</Application>
  <PresentationFormat>宽屏</PresentationFormat>
  <Paragraphs>197</Paragraphs>
  <Slides>24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0" baseType="lpstr">
      <vt:lpstr>-apple-system</vt:lpstr>
      <vt:lpstr>Arial</vt:lpstr>
      <vt:lpstr>Calibri</vt:lpstr>
      <vt:lpstr>Calibri Light</vt:lpstr>
      <vt:lpstr>Open Sans</vt:lpstr>
      <vt:lpstr>Office Theme</vt:lpstr>
      <vt:lpstr>CSCI 4430 - Spring 25</vt:lpstr>
      <vt:lpstr>Assignment 2 </vt:lpstr>
      <vt:lpstr>Assignment 2 Overview</vt:lpstr>
      <vt:lpstr>PowerPoint 演示文稿</vt:lpstr>
      <vt:lpstr>PowerPoint 演示文稿</vt:lpstr>
      <vt:lpstr>Assignment 2: vid.mpd</vt:lpstr>
      <vt:lpstr>Assignment 2: vid-no-list.mpd</vt:lpstr>
      <vt:lpstr>Assignment 2: visit videoserver</vt:lpstr>
      <vt:lpstr>Assignment 2: visit miProxy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Assignment 2: Autograder</vt:lpstr>
      <vt:lpstr>Assignment 2: Bonus Part</vt:lpstr>
      <vt:lpstr>Assignment 2 Overview</vt:lpstr>
      <vt:lpstr>PowerPoint 演示文稿</vt:lpstr>
      <vt:lpstr>GBN example with errors</vt:lpstr>
      <vt:lpstr>SR example with errors</vt:lpstr>
      <vt:lpstr>PowerPoint 演示文稿</vt:lpstr>
      <vt:lpstr>TCP: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YANG, Yitao</cp:lastModifiedBy>
  <cp:revision>404</cp:revision>
  <dcterms:created xsi:type="dcterms:W3CDTF">2022-01-09T08:27:06Z</dcterms:created>
  <dcterms:modified xsi:type="dcterms:W3CDTF">2025-02-19T06:19:56Z</dcterms:modified>
</cp:coreProperties>
</file>
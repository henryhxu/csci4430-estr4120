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83" r:id="rId4"/>
    <p:sldId id="287" r:id="rId5"/>
    <p:sldId id="288" r:id="rId6"/>
    <p:sldId id="580" r:id="rId7"/>
    <p:sldId id="579" r:id="rId8"/>
    <p:sldId id="578" r:id="rId9"/>
    <p:sldId id="577" r:id="rId10"/>
    <p:sldId id="566" r:id="rId11"/>
    <p:sldId id="567" r:id="rId12"/>
    <p:sldId id="565" r:id="rId13"/>
    <p:sldId id="568" r:id="rId14"/>
    <p:sldId id="571" r:id="rId15"/>
    <p:sldId id="575" r:id="rId16"/>
    <p:sldId id="574" r:id="rId17"/>
    <p:sldId id="576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05"/>
    <p:restoredTop sz="80952" autoAdjust="0"/>
  </p:normalViewPr>
  <p:slideViewPr>
    <p:cSldViewPr snapToGrid="0" snapToObjects="1">
      <p:cViewPr varScale="1">
        <p:scale>
          <a:sx n="102" d="100"/>
          <a:sy n="102" d="100"/>
        </p:scale>
        <p:origin x="96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NG, Yicheng" userId="63ae093e-9cad-467c-bb2d-e823331db8b5" providerId="ADAL" clId="{AAA59CE4-1EA7-5F43-B56F-38B983E33237}"/>
    <pc:docChg chg="delSld modSld">
      <pc:chgData name="FENG, Yicheng" userId="63ae093e-9cad-467c-bb2d-e823331db8b5" providerId="ADAL" clId="{AAA59CE4-1EA7-5F43-B56F-38B983E33237}" dt="2025-10-15T12:44:09.274" v="20" actId="2696"/>
      <pc:docMkLst>
        <pc:docMk/>
      </pc:docMkLst>
      <pc:sldChg chg="modNotesTx">
        <pc:chgData name="FENG, Yicheng" userId="63ae093e-9cad-467c-bb2d-e823331db8b5" providerId="ADAL" clId="{AAA59CE4-1EA7-5F43-B56F-38B983E33237}" dt="2025-10-15T12:43:31.515" v="0" actId="20577"/>
        <pc:sldMkLst>
          <pc:docMk/>
          <pc:sldMk cId="1947847713" sldId="257"/>
        </pc:sldMkLst>
      </pc:sldChg>
      <pc:sldChg chg="modNotesTx">
        <pc:chgData name="FENG, Yicheng" userId="63ae093e-9cad-467c-bb2d-e823331db8b5" providerId="ADAL" clId="{AAA59CE4-1EA7-5F43-B56F-38B983E33237}" dt="2025-10-15T12:43:33.150" v="1" actId="20577"/>
        <pc:sldMkLst>
          <pc:docMk/>
          <pc:sldMk cId="410585368" sldId="283"/>
        </pc:sldMkLst>
      </pc:sldChg>
      <pc:sldChg chg="del">
        <pc:chgData name="FENG, Yicheng" userId="63ae093e-9cad-467c-bb2d-e823331db8b5" providerId="ADAL" clId="{AAA59CE4-1EA7-5F43-B56F-38B983E33237}" dt="2025-10-15T12:44:06.667" v="16" actId="2696"/>
        <pc:sldMkLst>
          <pc:docMk/>
          <pc:sldMk cId="439838560" sldId="284"/>
        </pc:sldMkLst>
      </pc:sldChg>
      <pc:sldChg chg="modNotesTx">
        <pc:chgData name="FENG, Yicheng" userId="63ae093e-9cad-467c-bb2d-e823331db8b5" providerId="ADAL" clId="{AAA59CE4-1EA7-5F43-B56F-38B983E33237}" dt="2025-10-15T12:43:34.514" v="2" actId="20577"/>
        <pc:sldMkLst>
          <pc:docMk/>
          <pc:sldMk cId="3372878051" sldId="287"/>
        </pc:sldMkLst>
      </pc:sldChg>
      <pc:sldChg chg="modNotesTx">
        <pc:chgData name="FENG, Yicheng" userId="63ae093e-9cad-467c-bb2d-e823331db8b5" providerId="ADAL" clId="{AAA59CE4-1EA7-5F43-B56F-38B983E33237}" dt="2025-10-15T12:43:36.337" v="3" actId="20577"/>
        <pc:sldMkLst>
          <pc:docMk/>
          <pc:sldMk cId="1010794069" sldId="288"/>
        </pc:sldMkLst>
      </pc:sldChg>
      <pc:sldChg chg="del">
        <pc:chgData name="FENG, Yicheng" userId="63ae093e-9cad-467c-bb2d-e823331db8b5" providerId="ADAL" clId="{AAA59CE4-1EA7-5F43-B56F-38B983E33237}" dt="2025-10-15T12:44:09.266" v="17" actId="2696"/>
        <pc:sldMkLst>
          <pc:docMk/>
          <pc:sldMk cId="1466495584" sldId="562"/>
        </pc:sldMkLst>
      </pc:sldChg>
      <pc:sldChg chg="del">
        <pc:chgData name="FENG, Yicheng" userId="63ae093e-9cad-467c-bb2d-e823331db8b5" providerId="ADAL" clId="{AAA59CE4-1EA7-5F43-B56F-38B983E33237}" dt="2025-10-15T12:44:09.272" v="19" actId="2696"/>
        <pc:sldMkLst>
          <pc:docMk/>
          <pc:sldMk cId="883541772" sldId="563"/>
        </pc:sldMkLst>
      </pc:sldChg>
      <pc:sldChg chg="modNotesTx">
        <pc:chgData name="FENG, Yicheng" userId="63ae093e-9cad-467c-bb2d-e823331db8b5" providerId="ADAL" clId="{AAA59CE4-1EA7-5F43-B56F-38B983E33237}" dt="2025-10-15T12:43:50.561" v="10" actId="20577"/>
        <pc:sldMkLst>
          <pc:docMk/>
          <pc:sldMk cId="2472106063" sldId="565"/>
        </pc:sldMkLst>
      </pc:sldChg>
      <pc:sldChg chg="modNotesTx">
        <pc:chgData name="FENG, Yicheng" userId="63ae093e-9cad-467c-bb2d-e823331db8b5" providerId="ADAL" clId="{AAA59CE4-1EA7-5F43-B56F-38B983E33237}" dt="2025-10-15T12:43:46.600" v="8" actId="20577"/>
        <pc:sldMkLst>
          <pc:docMk/>
          <pc:sldMk cId="3337276131" sldId="566"/>
        </pc:sldMkLst>
      </pc:sldChg>
      <pc:sldChg chg="modNotesTx">
        <pc:chgData name="FENG, Yicheng" userId="63ae093e-9cad-467c-bb2d-e823331db8b5" providerId="ADAL" clId="{AAA59CE4-1EA7-5F43-B56F-38B983E33237}" dt="2025-10-15T12:43:48.069" v="9" actId="20577"/>
        <pc:sldMkLst>
          <pc:docMk/>
          <pc:sldMk cId="1238655045" sldId="567"/>
        </pc:sldMkLst>
      </pc:sldChg>
      <pc:sldChg chg="modNotesTx">
        <pc:chgData name="FENG, Yicheng" userId="63ae093e-9cad-467c-bb2d-e823331db8b5" providerId="ADAL" clId="{AAA59CE4-1EA7-5F43-B56F-38B983E33237}" dt="2025-10-15T12:43:51.961" v="11" actId="20577"/>
        <pc:sldMkLst>
          <pc:docMk/>
          <pc:sldMk cId="836677138" sldId="568"/>
        </pc:sldMkLst>
      </pc:sldChg>
      <pc:sldChg chg="modNotesTx">
        <pc:chgData name="FENG, Yicheng" userId="63ae093e-9cad-467c-bb2d-e823331db8b5" providerId="ADAL" clId="{AAA59CE4-1EA7-5F43-B56F-38B983E33237}" dt="2025-10-15T12:43:54.181" v="12" actId="20577"/>
        <pc:sldMkLst>
          <pc:docMk/>
          <pc:sldMk cId="18797915" sldId="571"/>
        </pc:sldMkLst>
      </pc:sldChg>
      <pc:sldChg chg="del">
        <pc:chgData name="FENG, Yicheng" userId="63ae093e-9cad-467c-bb2d-e823331db8b5" providerId="ADAL" clId="{AAA59CE4-1EA7-5F43-B56F-38B983E33237}" dt="2025-10-15T12:44:09.267" v="18" actId="2696"/>
        <pc:sldMkLst>
          <pc:docMk/>
          <pc:sldMk cId="3303276258" sldId="572"/>
        </pc:sldMkLst>
      </pc:sldChg>
      <pc:sldChg chg="del">
        <pc:chgData name="FENG, Yicheng" userId="63ae093e-9cad-467c-bb2d-e823331db8b5" providerId="ADAL" clId="{AAA59CE4-1EA7-5F43-B56F-38B983E33237}" dt="2025-10-15T12:44:09.274" v="20" actId="2696"/>
        <pc:sldMkLst>
          <pc:docMk/>
          <pc:sldMk cId="896892445" sldId="573"/>
        </pc:sldMkLst>
      </pc:sldChg>
      <pc:sldChg chg="modNotesTx">
        <pc:chgData name="FENG, Yicheng" userId="63ae093e-9cad-467c-bb2d-e823331db8b5" providerId="ADAL" clId="{AAA59CE4-1EA7-5F43-B56F-38B983E33237}" dt="2025-10-15T12:44:00.544" v="14" actId="20577"/>
        <pc:sldMkLst>
          <pc:docMk/>
          <pc:sldMk cId="446070139" sldId="574"/>
        </pc:sldMkLst>
      </pc:sldChg>
      <pc:sldChg chg="modNotesTx">
        <pc:chgData name="FENG, Yicheng" userId="63ae093e-9cad-467c-bb2d-e823331db8b5" providerId="ADAL" clId="{AAA59CE4-1EA7-5F43-B56F-38B983E33237}" dt="2025-10-15T12:43:55.563" v="13" actId="20577"/>
        <pc:sldMkLst>
          <pc:docMk/>
          <pc:sldMk cId="1941320429" sldId="575"/>
        </pc:sldMkLst>
      </pc:sldChg>
      <pc:sldChg chg="modNotesTx">
        <pc:chgData name="FENG, Yicheng" userId="63ae093e-9cad-467c-bb2d-e823331db8b5" providerId="ADAL" clId="{AAA59CE4-1EA7-5F43-B56F-38B983E33237}" dt="2025-10-15T12:44:03.013" v="15" actId="20577"/>
        <pc:sldMkLst>
          <pc:docMk/>
          <pc:sldMk cId="2394990995" sldId="576"/>
        </pc:sldMkLst>
      </pc:sldChg>
      <pc:sldChg chg="modNotesTx">
        <pc:chgData name="FENG, Yicheng" userId="63ae093e-9cad-467c-bb2d-e823331db8b5" providerId="ADAL" clId="{AAA59CE4-1EA7-5F43-B56F-38B983E33237}" dt="2025-10-15T12:43:43.678" v="7" actId="20577"/>
        <pc:sldMkLst>
          <pc:docMk/>
          <pc:sldMk cId="1391139954" sldId="577"/>
        </pc:sldMkLst>
      </pc:sldChg>
      <pc:sldChg chg="modNotesTx">
        <pc:chgData name="FENG, Yicheng" userId="63ae093e-9cad-467c-bb2d-e823331db8b5" providerId="ADAL" clId="{AAA59CE4-1EA7-5F43-B56F-38B983E33237}" dt="2025-10-15T12:43:42.225" v="6" actId="20577"/>
        <pc:sldMkLst>
          <pc:docMk/>
          <pc:sldMk cId="1309066747" sldId="578"/>
        </pc:sldMkLst>
      </pc:sldChg>
      <pc:sldChg chg="modNotesTx">
        <pc:chgData name="FENG, Yicheng" userId="63ae093e-9cad-467c-bb2d-e823331db8b5" providerId="ADAL" clId="{AAA59CE4-1EA7-5F43-B56F-38B983E33237}" dt="2025-10-15T12:43:40.010" v="5" actId="20577"/>
        <pc:sldMkLst>
          <pc:docMk/>
          <pc:sldMk cId="640570130" sldId="579"/>
        </pc:sldMkLst>
      </pc:sldChg>
      <pc:sldChg chg="modNotesTx">
        <pc:chgData name="FENG, Yicheng" userId="63ae093e-9cad-467c-bb2d-e823331db8b5" providerId="ADAL" clId="{AAA59CE4-1EA7-5F43-B56F-38B983E33237}" dt="2025-10-15T12:43:38.470" v="4" actId="20577"/>
        <pc:sldMkLst>
          <pc:docMk/>
          <pc:sldMk cId="3921558078" sldId="58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5656F-E94E-4266-B808-01646AFF7213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418493-4DB9-4761-89EA-EC89205FC1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7106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848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8972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6849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8159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93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5949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1204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8313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996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endParaRPr lang="en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5097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9965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992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5149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629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42301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418493-4DB9-4761-89EA-EC89205FC14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915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10/15/25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projgw.cse.cuhk.edu.hk:2913/web/course/8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Fall 2</a:t>
            </a:r>
            <a:r>
              <a:rPr lang="en-US" altLang="zh-CN" sz="6600" b="1" dirty="0"/>
              <a:t>5</a:t>
            </a:r>
            <a:endParaRPr lang="en-US" sz="66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</a:t>
            </a:r>
            <a:r>
              <a:rPr lang="en-US" altLang="zh-CN" sz="3600" b="1" dirty="0"/>
              <a:t>6</a:t>
            </a:r>
            <a:endParaRPr lang="en-US" sz="3600" b="1" dirty="0"/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</a:t>
            </a:r>
            <a:r>
              <a:rPr lang="en-US" altLang="zh-CN" sz="2000" b="1" dirty="0"/>
              <a:t>6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</a:t>
            </a:r>
            <a:r>
              <a:rPr lang="en-US" altLang="zh-CN" b="1" dirty="0"/>
              <a:t>2</a:t>
            </a:r>
            <a:r>
              <a:rPr lang="en-US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Due: </a:t>
            </a:r>
            <a:r>
              <a:rPr lang="en" altLang="zh-CN" dirty="0">
                <a:solidFill>
                  <a:srgbClr val="FF0000"/>
                </a:solidFill>
              </a:rPr>
              <a:t>Oct 26th, 2025 @ 11:59 PM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en-US" altLang="zh-CN" dirty="0"/>
              <a:t>Form a group of exactly 2 students</a:t>
            </a:r>
          </a:p>
          <a:p>
            <a:r>
              <a:rPr lang="en-US" altLang="zh-CN" dirty="0"/>
              <a:t>Assignment 2 is a significantly harder project than Assignment 1</a:t>
            </a:r>
          </a:p>
          <a:p>
            <a:r>
              <a:rPr lang="en-US" altLang="zh-CN" dirty="0" err="1"/>
              <a:t>Autograder</a:t>
            </a:r>
            <a:r>
              <a:rPr lang="en-US" altLang="zh-CN" dirty="0"/>
              <a:t> has been released on the </a:t>
            </a:r>
            <a:r>
              <a:rPr lang="en-US" altLang="zh-CN" dirty="0">
                <a:hlinkClick r:id="rId3"/>
              </a:rPr>
              <a:t>website</a:t>
            </a:r>
            <a:endParaRPr lang="en-US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84CE60-32E9-A04D-9F48-033E43846BE3}"/>
              </a:ext>
            </a:extLst>
          </p:cNvPr>
          <p:cNvSpPr txBox="1"/>
          <p:nvPr/>
        </p:nvSpPr>
        <p:spPr>
          <a:xfrm>
            <a:off x="1746250" y="4743450"/>
            <a:ext cx="8369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7200" dirty="0"/>
              <a:t>Start</a:t>
            </a:r>
            <a:r>
              <a:rPr kumimoji="1" lang="zh-CN" altLang="en-US" sz="7200" dirty="0"/>
              <a:t> </a:t>
            </a:r>
            <a:r>
              <a:rPr kumimoji="1" lang="en-US" altLang="zh-CN" sz="7200" dirty="0"/>
              <a:t>early!</a:t>
            </a:r>
            <a:endParaRPr kumimoji="1"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25"/>
            <a:ext cx="10515600" cy="1325563"/>
          </a:xfrm>
        </p:spPr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</a:t>
            </a:r>
            <a:r>
              <a:rPr lang="zh-CN" altLang="en-US" b="1" dirty="0"/>
              <a:t> </a:t>
            </a:r>
            <a:r>
              <a:rPr lang="en-US" altLang="zh-CN" b="1" dirty="0"/>
              <a:t>Overview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4059DB9-D35F-9442-A49E-3508B03D845C}"/>
              </a:ext>
            </a:extLst>
          </p:cNvPr>
          <p:cNvSpPr txBox="1"/>
          <p:nvPr/>
        </p:nvSpPr>
        <p:spPr>
          <a:xfrm>
            <a:off x="6044119" y="1534101"/>
            <a:ext cx="487166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/>
              <a:t>Part1:</a:t>
            </a:r>
            <a:r>
              <a:rPr lang="zh-CN" altLang="en-US" sz="2400" b="1" dirty="0"/>
              <a:t> </a:t>
            </a:r>
            <a:r>
              <a:rPr lang="en-US" altLang="zh-CN" sz="2400" b="1" dirty="0" err="1"/>
              <a:t>miProxy</a:t>
            </a:r>
            <a:endParaRPr lang="en-US" altLang="zh-CN" sz="2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/>
              <a:t>The proxy only forwards messages between the browser and the web server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/>
              <a:t>Doesn’t care what are forwarded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sz="2400" dirty="0"/>
              <a:t>Don’t make any assumption on what are forwarded </a:t>
            </a:r>
          </a:p>
          <a:p>
            <a:r>
              <a:rPr lang="en-US" altLang="zh-CN" sz="2400" b="1" dirty="0"/>
              <a:t>Part2: Load balancer </a:t>
            </a:r>
            <a:r>
              <a:rPr lang="en-US" altLang="zh-CN" sz="2400" dirty="0"/>
              <a:t>(DNS server)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Assign appropriate server to the clients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sz="2400" dirty="0"/>
              <a:t>Balance the load of each server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endParaRPr kumimoji="1" lang="zh-CN" altLang="en-US" sz="24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2151008-D279-EEC8-2C6F-7C129986C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557" y="1864842"/>
            <a:ext cx="4823693" cy="343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85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0"/>
            <a:ext cx="11094396" cy="5508253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/>
              <a:t>Tasks for the </a:t>
            </a:r>
            <a:r>
              <a:rPr lang="en-US" b="1" dirty="0" err="1"/>
              <a:t>miProxy</a:t>
            </a:r>
            <a:r>
              <a:rPr lang="en-US" b="1" dirty="0"/>
              <a:t>: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Run as a server on a specified port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Accept connections from clients, including multiple clients simultaneously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Connect to a video server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Forward HTTP requests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from clients 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to the appropriate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video server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Forward HTTP responses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from the video server 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to the appropriate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client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Measure the throughput of each video segment to each client</a:t>
            </a:r>
          </a:p>
          <a:p>
            <a:pPr lvl="1">
              <a:lnSpc>
                <a:spcPct val="120000"/>
              </a:lnSpc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A POST request to 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/on-fragment-received 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with information about a segment that the client has finished receiving.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Capture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video manifest file 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HTTP requests</a:t>
            </a:r>
            <a:r>
              <a:rPr lang="zh-CN" altLang="en-US" b="0" i="0" dirty="0">
                <a:solidFill>
                  <a:srgbClr val="1F2328"/>
                </a:solidFill>
                <a:effectLst/>
                <a:latin typeface="-apple-system"/>
              </a:rPr>
              <a:t> </a:t>
            </a:r>
            <a:r>
              <a:rPr lang="en-US" altLang="zh-CN" b="0" i="0" dirty="0">
                <a:solidFill>
                  <a:srgbClr val="1F2328"/>
                </a:solidFill>
                <a:effectLst/>
                <a:latin typeface="-apple-system"/>
              </a:rPr>
              <a:t>(</a:t>
            </a:r>
            <a:r>
              <a:rPr lang="en-US" altLang="zh-CN" b="0" i="0" dirty="0" err="1">
                <a:solidFill>
                  <a:srgbClr val="1F2328"/>
                </a:solidFill>
                <a:effectLst/>
                <a:latin typeface="-apple-system"/>
              </a:rPr>
              <a:t>mpd</a:t>
            </a:r>
            <a:r>
              <a:rPr lang="en-US" altLang="zh-CN" b="0" i="0" dirty="0">
                <a:solidFill>
                  <a:srgbClr val="1F2328"/>
                </a:solidFill>
                <a:effectLst/>
                <a:latin typeface="-apple-system"/>
              </a:rPr>
              <a:t>)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, returning the no-list manifest file to clients while </a:t>
            </a:r>
            <a:r>
              <a:rPr lang="en-GB" altLang="zh-CN" b="0" i="0" dirty="0" err="1">
                <a:solidFill>
                  <a:srgbClr val="1F2328"/>
                </a:solidFill>
                <a:effectLst/>
                <a:latin typeface="-apple-system"/>
              </a:rPr>
              <a:t>reqeuesting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 the regular manifest file for itself</a:t>
            </a:r>
          </a:p>
          <a:p>
            <a:pPr lvl="1">
              <a:lnSpc>
                <a:spcPct val="120000"/>
              </a:lnSpc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A GET request for a video manifest (.</a:t>
            </a:r>
            <a:r>
              <a:rPr lang="en-GB" altLang="zh-CN" b="0" i="0" dirty="0" err="1">
                <a:solidFill>
                  <a:srgbClr val="1F2328"/>
                </a:solidFill>
                <a:effectLst/>
                <a:latin typeface="-apple-system"/>
              </a:rPr>
              <a:t>mpd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) file.</a:t>
            </a:r>
          </a:p>
          <a:p>
            <a:pPr algn="l">
              <a:lnSpc>
                <a:spcPct val="120000"/>
              </a:lnSpc>
              <a:buFont typeface="+mj-lt"/>
              <a:buAutoNum type="arabicPeriod"/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Capture 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video segment HTTP 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requests (m</a:t>
            </a:r>
            <a:r>
              <a:rPr lang="en-US" altLang="zh-CN" b="0" i="0" dirty="0">
                <a:solidFill>
                  <a:srgbClr val="1F2328"/>
                </a:solidFill>
                <a:effectLst/>
                <a:latin typeface="-apple-system"/>
              </a:rPr>
              <a:t>4s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) and modify the request to have the appropriate bitrate</a:t>
            </a:r>
          </a:p>
          <a:p>
            <a:pPr lvl="1">
              <a:lnSpc>
                <a:spcPct val="120000"/>
              </a:lnSpc>
            </a:pP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A GET request for a </a:t>
            </a:r>
            <a:r>
              <a:rPr lang="en-GB" altLang="zh-CN" b="1" i="0" dirty="0">
                <a:solidFill>
                  <a:srgbClr val="1F2328"/>
                </a:solidFill>
                <a:effectLst/>
                <a:latin typeface="-apple-system"/>
              </a:rPr>
              <a:t>video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 segment (</a:t>
            </a:r>
            <a:r>
              <a:rPr lang="en-GB" altLang="zh-CN" dirty="0"/>
              <a:t>.m4s</a:t>
            </a:r>
            <a:r>
              <a:rPr lang="en-GB" altLang="zh-CN" b="0" i="0" dirty="0">
                <a:solidFill>
                  <a:srgbClr val="1F2328"/>
                </a:solidFill>
                <a:effectLst/>
                <a:latin typeface="-apple-system"/>
              </a:rPr>
              <a:t>) file</a:t>
            </a:r>
            <a:endParaRPr lang="en-US" dirty="0"/>
          </a:p>
          <a:p>
            <a:pPr lvl="2">
              <a:lnSpc>
                <a:spcPct val="120000"/>
              </a:lnSpc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/>
              <a:t>Assignment</a:t>
            </a:r>
            <a:r>
              <a:rPr lang="zh-CN" altLang="en-US" b="1"/>
              <a:t> </a:t>
            </a:r>
            <a:r>
              <a:rPr lang="en-US" altLang="zh-CN" b="1"/>
              <a:t>2</a:t>
            </a:r>
            <a:r>
              <a:rPr lang="zh-CN" altLang="en-US" b="1"/>
              <a:t> </a:t>
            </a:r>
            <a:r>
              <a:rPr lang="en-US" altLang="zh-CN" b="1"/>
              <a:t>Overview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3728780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</a:t>
            </a:r>
            <a:r>
              <a:rPr lang="zh-CN" altLang="en-US" b="1" dirty="0"/>
              <a:t> </a:t>
            </a:r>
            <a:r>
              <a:rPr lang="en-US" altLang="zh-CN" b="1" dirty="0"/>
              <a:t>Overview</a:t>
            </a:r>
            <a:endParaRPr lang="en-US" b="1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41EA909-D4A5-12C8-1F95-46C178406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8796" y="1394297"/>
            <a:ext cx="4738991" cy="47891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zh-CN" sz="2000" dirty="0"/>
              <a:t>Pay close attention to these files:</a:t>
            </a:r>
          </a:p>
          <a:p>
            <a:r>
              <a:rPr lang="en-US" altLang="zh-CN" sz="2000" b="1" dirty="0" err="1"/>
              <a:t>vid.mpd</a:t>
            </a:r>
            <a:r>
              <a:rPr lang="en-US" altLang="zh-CN" sz="2000" b="1" dirty="0"/>
              <a:t>: </a:t>
            </a:r>
            <a:r>
              <a:rPr lang="en-GB" altLang="zh-CN" sz="2000" dirty="0"/>
              <a:t>manifest file</a:t>
            </a:r>
          </a:p>
          <a:p>
            <a:pPr lvl="1"/>
            <a:r>
              <a:rPr lang="en-GB" altLang="zh-CN" sz="1600" i="0" dirty="0">
                <a:solidFill>
                  <a:srgbClr val="1F2328"/>
                </a:solidFill>
                <a:effectLst/>
                <a:latin typeface="-apple-system"/>
              </a:rPr>
              <a:t>proxy</a:t>
            </a: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 should request the </a:t>
            </a:r>
            <a:r>
              <a:rPr lang="en-GB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original</a:t>
            </a: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 </a:t>
            </a:r>
            <a:r>
              <a:rPr lang="en-GB" altLang="zh-CN" sz="1600" dirty="0" err="1"/>
              <a:t>vid.mpd</a:t>
            </a:r>
            <a:br>
              <a:rPr lang="en-GB" altLang="zh-CN" sz="1600" dirty="0"/>
            </a:b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manifest file for itself</a:t>
            </a:r>
          </a:p>
          <a:p>
            <a:pPr lvl="1"/>
            <a:r>
              <a:rPr lang="en-GB" altLang="zh-CN" sz="1600" dirty="0"/>
              <a:t>Then request </a:t>
            </a:r>
            <a:r>
              <a:rPr lang="en-GB" altLang="zh-CN" sz="1600" b="1" dirty="0"/>
              <a:t>vid-no-</a:t>
            </a:r>
            <a:r>
              <a:rPr lang="en-GB" altLang="zh-CN" sz="1600" b="1" dirty="0" err="1"/>
              <a:t>list.mpd</a:t>
            </a:r>
            <a:r>
              <a:rPr lang="en-GB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 </a:t>
            </a: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file to forward back to the browser</a:t>
            </a:r>
          </a:p>
          <a:p>
            <a:r>
              <a:rPr lang="en-GB" altLang="zh-CN" sz="2000" b="1" dirty="0"/>
              <a:t>Init.mp4: </a:t>
            </a:r>
            <a:r>
              <a:rPr lang="en-GB" altLang="zh-CN" sz="2000" dirty="0"/>
              <a:t>video </a:t>
            </a:r>
            <a:r>
              <a:rPr lang="en-GB" altLang="zh-CN" sz="2000" dirty="0" err="1"/>
              <a:t>init</a:t>
            </a:r>
            <a:r>
              <a:rPr lang="en-GB" altLang="zh-CN" sz="2000" dirty="0"/>
              <a:t> file</a:t>
            </a:r>
          </a:p>
          <a:p>
            <a:pPr lvl="1"/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Once the client parses the manifest file, it begins </a:t>
            </a:r>
            <a:r>
              <a:rPr lang="en-GB" altLang="zh-CN" sz="1600" b="1" i="0" dirty="0">
                <a:solidFill>
                  <a:srgbClr val="1F2328"/>
                </a:solidFill>
                <a:effectLst/>
                <a:latin typeface="-apple-system"/>
              </a:rPr>
              <a:t>requesting video segment </a:t>
            </a:r>
            <a:r>
              <a:rPr lang="en-GB" altLang="zh-CN" sz="1600" b="0" i="0" dirty="0">
                <a:solidFill>
                  <a:srgbClr val="1F2328"/>
                </a:solidFill>
                <a:effectLst/>
                <a:latin typeface="-apple-system"/>
              </a:rPr>
              <a:t>files. </a:t>
            </a:r>
          </a:p>
          <a:p>
            <a:r>
              <a:rPr lang="en-GB" altLang="zh-CN" sz="2000" b="1" dirty="0">
                <a:solidFill>
                  <a:srgbClr val="1F2328"/>
                </a:solidFill>
                <a:latin typeface="-apple-system"/>
              </a:rPr>
              <a:t>v</a:t>
            </a:r>
            <a:r>
              <a:rPr lang="en-GB" altLang="zh-CN" sz="2000" b="1" i="0" dirty="0">
                <a:solidFill>
                  <a:srgbClr val="1F2328"/>
                </a:solidFill>
                <a:effectLst/>
                <a:latin typeface="-apple-system"/>
              </a:rPr>
              <a:t>id-[BITRATE]-seg-[NUMBER].m4s</a:t>
            </a:r>
          </a:p>
          <a:p>
            <a:pPr lvl="1"/>
            <a:r>
              <a:rPr lang="en-GB" altLang="zh-CN" sz="1600" dirty="0">
                <a:solidFill>
                  <a:srgbClr val="1F2328"/>
                </a:solidFill>
                <a:latin typeface="-apple-system"/>
              </a:rPr>
              <a:t>Video segment files begins here.</a:t>
            </a:r>
          </a:p>
          <a:p>
            <a:pPr lvl="1"/>
            <a:r>
              <a:rPr lang="en-GB" altLang="zh-CN" sz="1600" dirty="0">
                <a:solidFill>
                  <a:srgbClr val="1F2328"/>
                </a:solidFill>
                <a:latin typeface="-apple-system"/>
              </a:rPr>
              <a:t>You may see requests for </a:t>
            </a:r>
            <a:r>
              <a:rPr lang="en-GB" altLang="zh-CN" sz="1600" b="1" dirty="0">
                <a:solidFill>
                  <a:srgbClr val="1F2328"/>
                </a:solidFill>
                <a:latin typeface="-apple-system"/>
              </a:rPr>
              <a:t>audio files </a:t>
            </a:r>
            <a:r>
              <a:rPr lang="en-GB" altLang="zh-CN" sz="1600" dirty="0">
                <a:solidFill>
                  <a:srgbClr val="1F2328"/>
                </a:solidFill>
                <a:latin typeface="-apple-system"/>
              </a:rPr>
              <a:t>(also ending with .m4s) and an init.mp4 file. These should not be treated as video segment requests.</a:t>
            </a:r>
          </a:p>
          <a:p>
            <a:pPr lvl="1"/>
            <a:r>
              <a:rPr lang="en-GB" altLang="zh-CN" sz="1600" b="1" dirty="0">
                <a:solidFill>
                  <a:srgbClr val="1F2328"/>
                </a:solidFill>
                <a:latin typeface="-apple-system"/>
              </a:rPr>
              <a:t>Throughput Calculation (see next slide)</a:t>
            </a:r>
          </a:p>
          <a:p>
            <a:r>
              <a:rPr lang="en-GB" altLang="zh-CN" sz="2000" b="1" dirty="0">
                <a:solidFill>
                  <a:srgbClr val="1F2328"/>
                </a:solidFill>
                <a:latin typeface="-apple-system"/>
              </a:rPr>
              <a:t>Other requests:</a:t>
            </a:r>
          </a:p>
          <a:p>
            <a:pPr lvl="1"/>
            <a:r>
              <a:rPr lang="en-GB" altLang="zh-CN" sz="1600" dirty="0">
                <a:solidFill>
                  <a:srgbClr val="1F2328"/>
                </a:solidFill>
                <a:latin typeface="-apple-system"/>
              </a:rPr>
              <a:t>Forward to server and client with no changes</a:t>
            </a:r>
          </a:p>
          <a:p>
            <a:pPr lvl="1"/>
            <a:endParaRPr lang="en-GB" altLang="zh-CN" sz="2000" b="0" i="0" dirty="0">
              <a:solidFill>
                <a:srgbClr val="1F2328"/>
              </a:solidFill>
              <a:effectLst/>
              <a:latin typeface="-apple-system"/>
            </a:endParaRPr>
          </a:p>
          <a:p>
            <a:pPr lvl="1"/>
            <a:endParaRPr lang="zh-CN" altLang="en-US" sz="16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0FE377E-0E77-E10A-2916-FAE06B9F8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787" y="1598579"/>
            <a:ext cx="6631802" cy="412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794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370C115-E87B-55C8-F010-57A85E5E5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</a:t>
            </a:r>
            <a:r>
              <a:rPr lang="en-US" altLang="zh-CN" b="1" dirty="0" err="1"/>
              <a:t>vid.mpd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FBE9BF37-5F83-56D7-8E36-4A3584035D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007655" y="1825625"/>
            <a:ext cx="817669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58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A8ABC9-DFF9-9E32-12BB-1AB53F5E4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vid-no-</a:t>
            </a:r>
            <a:r>
              <a:rPr lang="en-US" altLang="zh-CN" b="1" dirty="0" err="1"/>
              <a:t>list.mpd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61E4E8A0-FCCD-CCDE-6609-66F4A7327E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38200" y="2277939"/>
            <a:ext cx="10515600" cy="3446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570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F89EDF-B202-3E05-59E1-227268A0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visit </a:t>
            </a:r>
            <a:r>
              <a:rPr lang="en-US" altLang="zh-CN" b="1" dirty="0" err="1"/>
              <a:t>videoserver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602FD5B6-3340-98DF-6F9D-008B40BA45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54246" y="1612974"/>
            <a:ext cx="7483508" cy="435133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7A707C4-79EE-216A-C14F-CE0A83F6FE47}"/>
              </a:ext>
            </a:extLst>
          </p:cNvPr>
          <p:cNvSpPr txBox="1"/>
          <p:nvPr/>
        </p:nvSpPr>
        <p:spPr>
          <a:xfrm>
            <a:off x="2385237" y="6211669"/>
            <a:ext cx="7421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Client can adjust the bitrate, changing from 1700 to 1400 bitrate request</a:t>
            </a:r>
          </a:p>
          <a:p>
            <a:pPr algn="ctr"/>
            <a:r>
              <a:rPr kumimoji="1" lang="en-US" altLang="zh-CN" dirty="0"/>
              <a:t>(have original </a:t>
            </a:r>
            <a:r>
              <a:rPr kumimoji="1" lang="en-US" altLang="zh-CN" dirty="0" err="1"/>
              <a:t>vid.mpd</a:t>
            </a:r>
            <a:r>
              <a:rPr kumimoji="1" lang="en-US" altLang="zh-CN" dirty="0"/>
              <a:t>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66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47C2B-C7EC-CDBE-8BBA-C660E7363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visit </a:t>
            </a:r>
            <a:r>
              <a:rPr lang="en-US" altLang="zh-CN" b="1" dirty="0" err="1"/>
              <a:t>miProxy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51FCC13A-054D-C5CA-A24F-D276560AE04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370427" y="1437900"/>
            <a:ext cx="7701663" cy="435133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ABCD27B-9F01-B471-4418-144794435EDC}"/>
              </a:ext>
            </a:extLst>
          </p:cNvPr>
          <p:cNvSpPr txBox="1"/>
          <p:nvPr/>
        </p:nvSpPr>
        <p:spPr>
          <a:xfrm>
            <a:off x="2650564" y="5989232"/>
            <a:ext cx="74215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dirty="0"/>
              <a:t>Client can not adjust the bitrate, just sending 500 bitrate request</a:t>
            </a:r>
            <a:br>
              <a:rPr kumimoji="1" lang="en-US" altLang="zh-CN" dirty="0"/>
            </a:br>
            <a:r>
              <a:rPr kumimoji="1" lang="en-US" altLang="zh-CN" dirty="0"/>
              <a:t>(just have vid-no-</a:t>
            </a:r>
            <a:r>
              <a:rPr kumimoji="1" lang="en-US" altLang="zh-CN" dirty="0" err="1"/>
              <a:t>list.mpd</a:t>
            </a:r>
            <a:r>
              <a:rPr kumimoji="1" lang="en-US" altLang="zh-CN" dirty="0"/>
              <a:t>)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91139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Throughput Calculation</a:t>
            </a:r>
            <a:endParaRPr lang="en-US" b="1" dirty="0"/>
          </a:p>
        </p:txBody>
      </p:sp>
      <p:pic>
        <p:nvPicPr>
          <p:cNvPr id="9" name="内容占位符 8">
            <a:extLst>
              <a:ext uri="{FF2B5EF4-FFF2-40B4-BE49-F238E27FC236}">
                <a16:creationId xmlns:a16="http://schemas.microsoft.com/office/drawing/2014/main" id="{70BF1970-C346-8632-8135-37E1839FA2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70242" y="1093655"/>
            <a:ext cx="6155988" cy="1337536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534D8A2-62C9-8ADD-DD01-6BBF4633422A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800028" y="1805351"/>
            <a:ext cx="2904969" cy="547313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90B41395-EE03-D2FB-0296-869A5C28A6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0242" y="2414969"/>
            <a:ext cx="6155988" cy="13975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5B92227-9ED1-EA97-9092-3C3796BA02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0242" y="3812544"/>
            <a:ext cx="6155988" cy="1454301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2C940B3-3867-F035-BDF1-747092F8E3BD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988517" y="1460636"/>
            <a:ext cx="2603648" cy="547313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461035E-1485-2719-7490-9718CDFF6A0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r="1180"/>
          <a:stretch/>
        </p:blipFill>
        <p:spPr>
          <a:xfrm>
            <a:off x="2670241" y="5266845"/>
            <a:ext cx="6155987" cy="1159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2761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2:Workflow Summary</a:t>
            </a:r>
            <a:endParaRPr lang="en-US" b="1" dirty="0"/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41EA909-D4A5-12C8-1F95-46C1784060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984" y="1089497"/>
            <a:ext cx="10406974" cy="2853448"/>
          </a:xfrm>
        </p:spPr>
        <p:txBody>
          <a:bodyPr>
            <a:normAutofit/>
          </a:bodyPr>
          <a:lstStyle/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proxy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 receives a request for a video segment from a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client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Using the currently calculated throughput for that client, the proxy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modifies the request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to request the segment at the appropriate bitrate.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proxy forwards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request to the video server.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video server sends the segment back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to the proxy.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proxy forwards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segment to the client.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Once the client fully receives the segment, it sends a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POST request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to 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/on-fragment-received 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with some throughput-related information.</a:t>
            </a:r>
          </a:p>
          <a:p>
            <a:pPr algn="l">
              <a:lnSpc>
                <a:spcPts val="1600"/>
              </a:lnSpc>
              <a:buFont typeface="+mj-lt"/>
              <a:buAutoNum type="arabicPeriod"/>
            </a:pP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The proxy uses this information to </a:t>
            </a:r>
            <a:r>
              <a:rPr lang="en-GB" altLang="zh-CN" sz="1800" b="1" i="0" dirty="0">
                <a:solidFill>
                  <a:srgbClr val="1F2328"/>
                </a:solidFill>
                <a:effectLst/>
                <a:latin typeface="-apple-system"/>
              </a:rPr>
              <a:t>update the measured throughput </a:t>
            </a:r>
            <a:r>
              <a:rPr lang="en-GB" altLang="zh-CN" sz="1800" b="0" i="0" dirty="0">
                <a:solidFill>
                  <a:srgbClr val="1F2328"/>
                </a:solidFill>
                <a:effectLst/>
                <a:latin typeface="-apple-system"/>
              </a:rPr>
              <a:t>of that client.</a:t>
            </a: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137D1150-230D-27DD-B6EC-A138D6D53BAD}"/>
              </a:ext>
            </a:extLst>
          </p:cNvPr>
          <p:cNvSpPr/>
          <p:nvPr/>
        </p:nvSpPr>
        <p:spPr>
          <a:xfrm>
            <a:off x="578796" y="3880255"/>
            <a:ext cx="1968500" cy="254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200" dirty="0"/>
              <a:t>Web</a:t>
            </a:r>
            <a:r>
              <a:rPr kumimoji="1" lang="zh-CN" altLang="en-US" sz="3200" dirty="0"/>
              <a:t> </a:t>
            </a:r>
            <a:endParaRPr kumimoji="1" lang="en-US" altLang="zh-CN" sz="3200" dirty="0"/>
          </a:p>
          <a:p>
            <a:pPr algn="ctr"/>
            <a:r>
              <a:rPr kumimoji="1" lang="en-US" altLang="zh-CN" sz="3200" dirty="0"/>
              <a:t>Server</a:t>
            </a:r>
            <a:endParaRPr kumimoji="1" lang="zh-CN" altLang="en-US" sz="3200" dirty="0"/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B4199156-BF25-AC00-FFD1-6143E7205D99}"/>
              </a:ext>
            </a:extLst>
          </p:cNvPr>
          <p:cNvSpPr/>
          <p:nvPr/>
        </p:nvSpPr>
        <p:spPr>
          <a:xfrm>
            <a:off x="4563421" y="3880255"/>
            <a:ext cx="1968500" cy="254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3200" dirty="0" err="1"/>
              <a:t>miProxy</a:t>
            </a:r>
            <a:endParaRPr kumimoji="1" lang="en-US" altLang="zh-CN" sz="3200" dirty="0"/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168C5DB9-DF9A-BB51-FF53-E05FBC1A76CC}"/>
              </a:ext>
            </a:extLst>
          </p:cNvPr>
          <p:cNvSpPr/>
          <p:nvPr/>
        </p:nvSpPr>
        <p:spPr>
          <a:xfrm>
            <a:off x="8548046" y="3880255"/>
            <a:ext cx="1968500" cy="254000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CN" sz="3200" dirty="0"/>
              <a:t>Browser</a:t>
            </a:r>
            <a:endParaRPr kumimoji="1" lang="zh-CN" altLang="en-US" sz="3200" dirty="0"/>
          </a:p>
        </p:txBody>
      </p:sp>
      <p:sp>
        <p:nvSpPr>
          <p:cNvPr id="15" name="右箭头 14">
            <a:extLst>
              <a:ext uri="{FF2B5EF4-FFF2-40B4-BE49-F238E27FC236}">
                <a16:creationId xmlns:a16="http://schemas.microsoft.com/office/drawing/2014/main" id="{6E394248-C95A-8361-AFEB-030AD83FEB44}"/>
              </a:ext>
            </a:extLst>
          </p:cNvPr>
          <p:cNvSpPr/>
          <p:nvPr/>
        </p:nvSpPr>
        <p:spPr>
          <a:xfrm>
            <a:off x="2761608" y="5658255"/>
            <a:ext cx="1587500" cy="381000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Response</a:t>
            </a:r>
            <a:endParaRPr kumimoji="1" lang="zh-CN" altLang="en-US" dirty="0"/>
          </a:p>
        </p:txBody>
      </p:sp>
      <p:sp>
        <p:nvSpPr>
          <p:cNvPr id="16" name="右箭头 15">
            <a:extLst>
              <a:ext uri="{FF2B5EF4-FFF2-40B4-BE49-F238E27FC236}">
                <a16:creationId xmlns:a16="http://schemas.microsoft.com/office/drawing/2014/main" id="{F6A74B78-D2B8-DD02-D07F-00CB6B033362}"/>
              </a:ext>
            </a:extLst>
          </p:cNvPr>
          <p:cNvSpPr/>
          <p:nvPr/>
        </p:nvSpPr>
        <p:spPr>
          <a:xfrm>
            <a:off x="6746233" y="5658255"/>
            <a:ext cx="1587500" cy="38100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Response</a:t>
            </a:r>
            <a:endParaRPr kumimoji="1" lang="zh-CN" altLang="en-US" dirty="0"/>
          </a:p>
        </p:txBody>
      </p:sp>
      <p:sp>
        <p:nvSpPr>
          <p:cNvPr id="17" name="左箭头 16">
            <a:extLst>
              <a:ext uri="{FF2B5EF4-FFF2-40B4-BE49-F238E27FC236}">
                <a16:creationId xmlns:a16="http://schemas.microsoft.com/office/drawing/2014/main" id="{D66DA2E7-C74D-3EC8-D444-7CA103A32358}"/>
              </a:ext>
            </a:extLst>
          </p:cNvPr>
          <p:cNvSpPr/>
          <p:nvPr/>
        </p:nvSpPr>
        <p:spPr>
          <a:xfrm>
            <a:off x="2761608" y="4168387"/>
            <a:ext cx="1587500" cy="417512"/>
          </a:xfrm>
          <a:prstGeom prst="leftArrow">
            <a:avLst>
              <a:gd name="adj1" fmla="val 42711"/>
              <a:gd name="adj2" fmla="val 50000"/>
            </a:avLst>
          </a:prstGeom>
          <a:ln/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Request</a:t>
            </a:r>
            <a:endParaRPr kumimoji="1" lang="zh-CN" altLang="en-US" dirty="0"/>
          </a:p>
        </p:txBody>
      </p:sp>
      <p:sp>
        <p:nvSpPr>
          <p:cNvPr id="18" name="左箭头 17">
            <a:extLst>
              <a:ext uri="{FF2B5EF4-FFF2-40B4-BE49-F238E27FC236}">
                <a16:creationId xmlns:a16="http://schemas.microsoft.com/office/drawing/2014/main" id="{79C07552-A577-47DF-F531-C0FE3E72A2C0}"/>
              </a:ext>
            </a:extLst>
          </p:cNvPr>
          <p:cNvSpPr/>
          <p:nvPr/>
        </p:nvSpPr>
        <p:spPr>
          <a:xfrm>
            <a:off x="6746233" y="4168387"/>
            <a:ext cx="1587500" cy="417512"/>
          </a:xfrm>
          <a:prstGeom prst="leftArrow">
            <a:avLst>
              <a:gd name="adj1" fmla="val 42711"/>
              <a:gd name="adj2" fmla="val 50000"/>
            </a:avLst>
          </a:prstGeom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Request</a:t>
            </a:r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386550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614141FC-8189-47F8-821A-FC9A4E91E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C062E60F-5CD4-4268-8359-807663468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416" y="288350"/>
            <a:ext cx="11167447" cy="2089317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41248" y="510047"/>
            <a:ext cx="3300984" cy="16459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altLang="zh-CN" sz="28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Assignment 2:</a:t>
            </a:r>
            <a:endParaRPr lang="en-US" sz="28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341EC3-1810-4D33-BA3F-E2D0AA0EC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0408" y="980964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127CDE-2B99-47A8-BB3C-7D17519105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98164" y="1323863"/>
            <a:ext cx="14630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B70FF46F-9C83-6E87-835A-BC4B9B656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144" y="510047"/>
            <a:ext cx="6858000" cy="16459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Testing Guideline</a:t>
            </a:r>
            <a:endParaRPr lang="en-US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797A697-1D5F-6767-230B-48263F30A8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609" r="18832" b="-2"/>
          <a:stretch/>
        </p:blipFill>
        <p:spPr>
          <a:xfrm>
            <a:off x="557784" y="2606462"/>
            <a:ext cx="3584448" cy="3639312"/>
          </a:xfrm>
          <a:prstGeom prst="rect">
            <a:avLst/>
          </a:prstGeom>
        </p:spPr>
      </p:pic>
      <p:pic>
        <p:nvPicPr>
          <p:cNvPr id="5" name="图片 4" descr="图形用户界面, 应用程序&#10;&#10;描述已自动生成">
            <a:extLst>
              <a:ext uri="{FF2B5EF4-FFF2-40B4-BE49-F238E27FC236}">
                <a16:creationId xmlns:a16="http://schemas.microsoft.com/office/drawing/2014/main" id="{C742198D-A2A6-6B0C-DE48-7891FA6803B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3708"/>
          <a:stretch/>
        </p:blipFill>
        <p:spPr>
          <a:xfrm>
            <a:off x="4347599" y="2606462"/>
            <a:ext cx="3584448" cy="3639312"/>
          </a:xfrm>
          <a:prstGeom prst="rect">
            <a:avLst/>
          </a:prstGeom>
        </p:spPr>
      </p:pic>
      <p:pic>
        <p:nvPicPr>
          <p:cNvPr id="2" name="内容占位符 1" descr="图形用户界面, 文本, 应用程序&#10;&#10;描述已自动生成">
            <a:extLst>
              <a:ext uri="{FF2B5EF4-FFF2-40B4-BE49-F238E27FC236}">
                <a16:creationId xmlns:a16="http://schemas.microsoft.com/office/drawing/2014/main" id="{19FAA468-8F90-F55E-2A23-F2FC6366FA0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31792" b="-2"/>
          <a:stretch/>
        </p:blipFill>
        <p:spPr>
          <a:xfrm>
            <a:off x="8137415" y="2606462"/>
            <a:ext cx="3584448" cy="363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106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1"/>
            <a:ext cx="10515600" cy="5012042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Tasks for the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LoadBalancer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Implement </a:t>
            </a: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load balancer for video CDN servers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Support two load balancing strategies:</a:t>
            </a:r>
          </a:p>
          <a:p>
            <a:pPr lvl="2"/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Round-Robin</a:t>
            </a:r>
          </a:p>
          <a:p>
            <a:pPr lvl="2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Geographic Distance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Handle communication between </a:t>
            </a:r>
            <a:r>
              <a:rPr lang="en-GB" altLang="zh-CN" b="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miProxy</a:t>
            </a: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and video servers</a:t>
            </a:r>
          </a:p>
          <a:p>
            <a:endParaRPr lang="en-GB" dirty="0">
              <a:solidFill>
                <a:srgbClr val="3333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Key Components:</a:t>
            </a:r>
          </a:p>
          <a:p>
            <a:pPr lvl="1"/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Load Balancer Protocol (</a:t>
            </a: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defined in </a:t>
            </a:r>
            <a:r>
              <a:rPr lang="en-GB" altLang="zh-CN" b="0" i="0" dirty="0" err="1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loadBalancerProtocol.h</a:t>
            </a:r>
            <a:r>
              <a:rPr lang="en-GB" dirty="0">
                <a:solidFill>
                  <a:srgbClr val="3333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Server configuration files</a:t>
            </a:r>
          </a:p>
          <a:p>
            <a:pPr lvl="1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Network topology information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Load Balancer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36677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1"/>
            <a:ext cx="10515600" cy="5012042"/>
          </a:xfrm>
        </p:spPr>
        <p:txBody>
          <a:bodyPr>
            <a:normAutofit/>
          </a:bodyPr>
          <a:lstStyle/>
          <a:p>
            <a:pPr algn="l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Test with provided sample configuration files</a:t>
            </a:r>
          </a:p>
          <a:p>
            <a:pPr algn="l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Verify correct server selection in both modes</a:t>
            </a:r>
          </a:p>
          <a:p>
            <a:pPr algn="l"/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Test edge cases:</a:t>
            </a:r>
            <a:b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</a:b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- Empty server list</a:t>
            </a:r>
            <a:b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</a:b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- Invalid configurations</a:t>
            </a:r>
            <a:b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</a:br>
            <a:r>
              <a:rPr lang="en-GB" altLang="zh-CN" b="0" i="0" dirty="0">
                <a:solidFill>
                  <a:srgbClr val="333333"/>
                </a:solidFill>
                <a:effectLst/>
                <a:latin typeface="Arial" panose="020B0604020202020204" pitchFamily="34" charset="0"/>
              </a:rPr>
              <a:t>- Network disconnections</a:t>
            </a:r>
          </a:p>
          <a:p>
            <a:pPr lvl="2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Load Balancer</a:t>
            </a:r>
            <a:r>
              <a:rPr lang="zh-CN" altLang="en-US" b="1" dirty="0"/>
              <a:t> </a:t>
            </a:r>
            <a:r>
              <a:rPr lang="en-US" altLang="zh-CN" b="1" dirty="0"/>
              <a:t>-</a:t>
            </a:r>
            <a:r>
              <a:rPr lang="zh-CN" altLang="en-US" b="1" dirty="0"/>
              <a:t> </a:t>
            </a:r>
            <a:r>
              <a:rPr lang="en-US" altLang="zh-CN" b="1" dirty="0"/>
              <a:t>Testing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797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1EAC9B-1E0E-449A-BBE0-39C121CF0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1"/>
            <a:ext cx="10515600" cy="5012042"/>
          </a:xfrm>
        </p:spPr>
        <p:txBody>
          <a:bodyPr>
            <a:normAutofit/>
          </a:bodyPr>
          <a:lstStyle/>
          <a:p>
            <a:pPr algn="l"/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For instance, if your current working directory is the base of the repo, you could run </a:t>
            </a:r>
            <a:r>
              <a:rPr lang="en-GB" altLang="zh-CN" i="1" dirty="0">
                <a:solidFill>
                  <a:srgbClr val="0000FF"/>
                </a:solidFill>
                <a:effectLst/>
              </a:rPr>
              <a:t>bash</a:t>
            </a:r>
            <a:r>
              <a:rPr lang="en-GB" altLang="zh-CN" i="1" dirty="0">
                <a:effectLst/>
              </a:rPr>
              <a:t> </a:t>
            </a:r>
            <a:r>
              <a:rPr lang="en-GB" altLang="zh-CN" i="1" dirty="0">
                <a:solidFill>
                  <a:srgbClr val="0000FF"/>
                </a:solidFill>
                <a:effectLst/>
              </a:rPr>
              <a:t>util/</a:t>
            </a:r>
            <a:r>
              <a:rPr lang="en-GB" altLang="zh-CN" i="1" dirty="0" err="1">
                <a:solidFill>
                  <a:srgbClr val="0000FF"/>
                </a:solidFill>
                <a:effectLst/>
              </a:rPr>
              <a:t>submit.sh</a:t>
            </a:r>
            <a:r>
              <a:rPr lang="en-GB" altLang="zh-CN" i="1" dirty="0">
                <a:solidFill>
                  <a:srgbClr val="0000FF"/>
                </a:solidFill>
                <a:effectLst/>
              </a:rPr>
              <a:t> </a:t>
            </a:r>
            <a:r>
              <a:rPr lang="en-GB" altLang="zh-CN" dirty="0">
                <a:solidFill>
                  <a:srgbClr val="0000FF"/>
                </a:solidFill>
                <a:effectLst/>
              </a:rPr>
              <a:t>.</a:t>
            </a:r>
          </a:p>
          <a:p>
            <a:pPr algn="l"/>
            <a:endParaRPr lang="en-GB" altLang="zh-CN" b="0" i="0" u="none" strike="noStrike" dirty="0">
              <a:solidFill>
                <a:srgbClr val="333333"/>
              </a:solidFill>
              <a:effectLst/>
              <a:latin typeface="Open Sans" panose="020B0606030504020204" pitchFamily="34" charset="0"/>
            </a:endParaRPr>
          </a:p>
          <a:p>
            <a:pPr algn="l"/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This will create a file called </a:t>
            </a:r>
            <a:r>
              <a:rPr lang="en-GB" altLang="zh-CN" b="0" i="1" u="none" strike="noStrike" dirty="0" err="1">
                <a:solidFill>
                  <a:srgbClr val="0000FF"/>
                </a:solidFill>
                <a:effectLst/>
                <a:latin typeface="Open Sans" panose="020B0606030504020204" pitchFamily="34" charset="0"/>
              </a:rPr>
              <a:t>submit.tar.gz</a:t>
            </a:r>
            <a:r>
              <a:rPr lang="en-GB" altLang="zh-CN" b="0" i="1" u="none" strike="noStrike" dirty="0">
                <a:solidFill>
                  <a:srgbClr val="0000FF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containing the contents of your </a:t>
            </a:r>
            <a:r>
              <a:rPr lang="en-GB" altLang="zh-CN" b="0" i="1" u="none" strike="noStrike" dirty="0" err="1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cpp</a:t>
            </a:r>
            <a:r>
              <a:rPr lang="en-GB" altLang="zh-CN" b="0" i="1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/ </a:t>
            </a:r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folder.</a:t>
            </a:r>
          </a:p>
          <a:p>
            <a:pPr algn="l"/>
            <a:endParaRPr lang="en-GB" altLang="zh-CN" dirty="0">
              <a:solidFill>
                <a:srgbClr val="333333"/>
              </a:solidFill>
              <a:latin typeface="Open Sans" panose="020B0606030504020204" pitchFamily="34" charset="0"/>
            </a:endParaRPr>
          </a:p>
          <a:p>
            <a:pPr algn="l"/>
            <a:r>
              <a:rPr lang="en-GB" altLang="zh-CN" b="0" i="0" u="none" strike="noStrike" dirty="0">
                <a:solidFill>
                  <a:srgbClr val="333333"/>
                </a:solidFill>
                <a:effectLst/>
                <a:latin typeface="Open Sans" panose="020B0606030504020204" pitchFamily="34" charset="0"/>
              </a:rPr>
              <a:t>You can submit your </a:t>
            </a:r>
            <a:r>
              <a:rPr lang="en-GB" altLang="zh-CN" b="0" i="1" u="none" strike="noStrike" dirty="0" err="1">
                <a:solidFill>
                  <a:srgbClr val="0000FF"/>
                </a:solidFill>
                <a:effectLst/>
                <a:latin typeface="Open Sans" panose="020B0606030504020204" pitchFamily="34" charset="0"/>
              </a:rPr>
              <a:t>submit.tar.gz</a:t>
            </a:r>
            <a:r>
              <a:rPr lang="en-GB" altLang="zh-CN" b="0" i="1" u="none" strike="noStrike" dirty="0">
                <a:solidFill>
                  <a:srgbClr val="0000FF"/>
                </a:solidFill>
                <a:effectLst/>
                <a:latin typeface="Open Sans" panose="020B0606030504020204" pitchFamily="34" charset="0"/>
              </a:rPr>
              <a:t> </a:t>
            </a:r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to our </a:t>
            </a:r>
            <a:r>
              <a:rPr lang="en-GB" altLang="zh-CN" b="0" u="none" strike="noStrike" dirty="0" err="1">
                <a:effectLst/>
                <a:latin typeface="Open Sans" panose="020B0606030504020204" pitchFamily="34" charset="0"/>
              </a:rPr>
              <a:t>autograder</a:t>
            </a:r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 system.</a:t>
            </a:r>
          </a:p>
          <a:p>
            <a:pPr lvl="1"/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Please do not use </a:t>
            </a:r>
            <a:r>
              <a:rPr lang="en-GB" altLang="zh-CN" b="0" u="none" strike="noStrike" dirty="0" err="1">
                <a:effectLst/>
                <a:latin typeface="Open Sans" panose="020B0606030504020204" pitchFamily="34" charset="0"/>
              </a:rPr>
              <a:t>autograder</a:t>
            </a:r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 as debugging tools.</a:t>
            </a:r>
          </a:p>
          <a:p>
            <a:pPr lvl="1"/>
            <a:r>
              <a:rPr lang="en-GB" altLang="zh-CN" b="0" u="none" strike="noStrike" dirty="0">
                <a:effectLst/>
                <a:latin typeface="Open Sans" panose="020B0606030504020204" pitchFamily="34" charset="0"/>
              </a:rPr>
              <a:t>You only have 5 times to submit each day.</a:t>
            </a:r>
          </a:p>
          <a:p>
            <a:pPr marL="0" indent="0" algn="l">
              <a:buNone/>
            </a:pPr>
            <a:endParaRPr lang="en-US" dirty="0"/>
          </a:p>
          <a:p>
            <a:pPr marL="0" indent="0" algn="l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B275A-D66E-4975-8FDC-5A0DFCA59A03}"/>
              </a:ext>
            </a:extLst>
          </p:cNvPr>
          <p:cNvSpPr txBox="1">
            <a:spLocks/>
          </p:cNvSpPr>
          <p:nvPr/>
        </p:nvSpPr>
        <p:spPr>
          <a:xfrm>
            <a:off x="838200" y="9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Submission</a:t>
            </a:r>
            <a:r>
              <a:rPr lang="zh-CN" altLang="en-US" b="1" dirty="0"/>
              <a:t> </a:t>
            </a:r>
            <a:r>
              <a:rPr lang="en-US" altLang="zh-CN" b="1" dirty="0"/>
              <a:t>Instructions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941320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F19465-BBB5-1A7E-0C02-ED68BA731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</a:t>
            </a:r>
            <a:r>
              <a:rPr lang="en-US" altLang="zh-CN" b="1" dirty="0" err="1"/>
              <a:t>Autograder</a:t>
            </a:r>
            <a:endParaRPr kumimoji="1" lang="zh-CN" altLang="en-US" dirty="0"/>
          </a:p>
        </p:txBody>
      </p:sp>
      <p:pic>
        <p:nvPicPr>
          <p:cNvPr id="4" name="内容占位符 3">
            <a:extLst>
              <a:ext uri="{FF2B5EF4-FFF2-40B4-BE49-F238E27FC236}">
                <a16:creationId xmlns:a16="http://schemas.microsoft.com/office/drawing/2014/main" id="{8D8BBDEB-5454-C618-2A0A-95F2DD2571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53620" y="1631071"/>
            <a:ext cx="688476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0701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5F19465-BBB5-1A7E-0C02-ED68BA731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Assignment</a:t>
            </a:r>
            <a:r>
              <a:rPr lang="zh-CN" altLang="en-US" b="1" dirty="0"/>
              <a:t> </a:t>
            </a:r>
            <a:r>
              <a:rPr lang="en-US" altLang="zh-CN" b="1" dirty="0"/>
              <a:t>2: Bonus</a:t>
            </a:r>
            <a:r>
              <a:rPr lang="zh-CN" altLang="en-US" b="1" dirty="0"/>
              <a:t> </a:t>
            </a:r>
            <a:r>
              <a:rPr lang="en-US" altLang="zh-CN" b="1" dirty="0"/>
              <a:t>Part</a:t>
            </a:r>
            <a:endParaRPr kumimoji="1" lang="zh-CN" altLang="en-US" dirty="0"/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9D8A292-997A-6BF4-2A6F-35B6FC2ED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altLang="zh-CN" dirty="0"/>
              <a:t>Current Limitation</a:t>
            </a:r>
          </a:p>
          <a:p>
            <a:pPr lvl="1"/>
            <a:r>
              <a:rPr lang="en-US" altLang="zh-CN" dirty="0"/>
              <a:t>Blocking connection attempts in select() loop cause delays and potential failures</a:t>
            </a:r>
          </a:p>
          <a:p>
            <a:endParaRPr lang="en-US" altLang="zh-CN" dirty="0"/>
          </a:p>
          <a:p>
            <a:r>
              <a:rPr lang="en-US" altLang="zh-CN" dirty="0"/>
              <a:t>Key Improvements</a:t>
            </a:r>
          </a:p>
          <a:p>
            <a:pPr lvl="1"/>
            <a:r>
              <a:rPr lang="en-US" altLang="zh-CN" dirty="0"/>
              <a:t>Non-blocking Sockets</a:t>
            </a:r>
          </a:p>
          <a:p>
            <a:pPr lvl="1"/>
            <a:r>
              <a:rPr lang="en-US" altLang="zh-CN" dirty="0"/>
              <a:t>Async Server Connections</a:t>
            </a:r>
          </a:p>
          <a:p>
            <a:pPr lvl="1"/>
            <a:r>
              <a:rPr lang="en-US" altLang="zh-CN" dirty="0"/>
              <a:t>Resource Optimization</a:t>
            </a:r>
          </a:p>
          <a:p>
            <a:endParaRPr lang="en-US" altLang="zh-CN" dirty="0"/>
          </a:p>
          <a:p>
            <a:r>
              <a:rPr lang="en-US" altLang="zh-CN" dirty="0"/>
              <a:t>Results</a:t>
            </a:r>
          </a:p>
          <a:p>
            <a:pPr lvl="1"/>
            <a:r>
              <a:rPr lang="en-US" altLang="zh-CN" dirty="0"/>
              <a:t>Higher number of simultaneous connections</a:t>
            </a:r>
          </a:p>
          <a:p>
            <a:pPr lvl="1"/>
            <a:r>
              <a:rPr lang="en-US" altLang="zh-CN" dirty="0"/>
              <a:t>Reduced connection delays</a:t>
            </a:r>
          </a:p>
          <a:p>
            <a:pPr lvl="1"/>
            <a:r>
              <a:rPr lang="en-US" altLang="zh-CN" dirty="0"/>
              <a:t>Improved overall proxy performance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949909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51400" y="3167390"/>
            <a:ext cx="26035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2796</TotalTime>
  <Words>797</Words>
  <Application>Microsoft Macintosh PowerPoint</Application>
  <PresentationFormat>宽屏</PresentationFormat>
  <Paragraphs>126</Paragraphs>
  <Slides>18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4" baseType="lpstr">
      <vt:lpstr>-apple-system</vt:lpstr>
      <vt:lpstr>Open Sans</vt:lpstr>
      <vt:lpstr>Arial</vt:lpstr>
      <vt:lpstr>Calibri</vt:lpstr>
      <vt:lpstr>Calibri Light</vt:lpstr>
      <vt:lpstr>Office Theme</vt:lpstr>
      <vt:lpstr>CSCI 4430 - Fall 25</vt:lpstr>
      <vt:lpstr>Assignment 2 </vt:lpstr>
      <vt:lpstr>Assignment 2 Overview</vt:lpstr>
      <vt:lpstr>PowerPoint 演示文稿</vt:lpstr>
      <vt:lpstr>PowerPoint 演示文稿</vt:lpstr>
      <vt:lpstr>Assignment 2: vid.mpd</vt:lpstr>
      <vt:lpstr>Assignment 2: vid-no-list.mpd</vt:lpstr>
      <vt:lpstr>Assignment 2: visit videoserver</vt:lpstr>
      <vt:lpstr>Assignment 2: visit miProxy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Assignment 2: Autograder</vt:lpstr>
      <vt:lpstr>Assignment 2: Bonus Part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Yicheng Feng</cp:lastModifiedBy>
  <cp:revision>408</cp:revision>
  <dcterms:created xsi:type="dcterms:W3CDTF">2022-01-09T08:27:06Z</dcterms:created>
  <dcterms:modified xsi:type="dcterms:W3CDTF">2025-10-15T12:44:10Z</dcterms:modified>
</cp:coreProperties>
</file>
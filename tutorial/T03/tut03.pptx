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96" r:id="rId2"/>
    <p:sldId id="297" r:id="rId3"/>
    <p:sldId id="298" r:id="rId4"/>
    <p:sldId id="258" r:id="rId5"/>
    <p:sldId id="259" r:id="rId6"/>
    <p:sldId id="294" r:id="rId7"/>
    <p:sldId id="282" r:id="rId8"/>
    <p:sldId id="293" r:id="rId9"/>
    <p:sldId id="274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1" r:id="rId18"/>
    <p:sldId id="295" r:id="rId19"/>
    <p:sldId id="290" r:id="rId20"/>
    <p:sldId id="27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170F1-21E7-4E48-8F6E-684554C3F2E3}" v="3" dt="2022-01-26T14:34:32.4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26" autoAdjust="0"/>
    <p:restoredTop sz="79604" autoAdjust="0"/>
  </p:normalViewPr>
  <p:slideViewPr>
    <p:cSldViewPr snapToGrid="0" snapToObjects="1">
      <p:cViewPr varScale="1">
        <p:scale>
          <a:sx n="91" d="100"/>
          <a:sy n="91" d="100"/>
        </p:scale>
        <p:origin x="56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AAF170F1-21E7-4E48-8F6E-684554C3F2E3}"/>
    <pc:docChg chg="undo custSel addSld modSld">
      <pc:chgData name="SONG, Qingyu" userId="498998f4-7f18-4549-a740-dcfb6e1e3d22" providerId="ADAL" clId="{AAF170F1-21E7-4E48-8F6E-684554C3F2E3}" dt="2022-01-27T04:23:00.186" v="232" actId="20577"/>
      <pc:docMkLst>
        <pc:docMk/>
      </pc:docMkLst>
      <pc:sldChg chg="modSp mod">
        <pc:chgData name="SONG, Qingyu" userId="498998f4-7f18-4549-a740-dcfb6e1e3d22" providerId="ADAL" clId="{AAF170F1-21E7-4E48-8F6E-684554C3F2E3}" dt="2022-01-27T04:23:00.186" v="232" actId="20577"/>
        <pc:sldMkLst>
          <pc:docMk/>
          <pc:sldMk cId="1947847713" sldId="257"/>
        </pc:sldMkLst>
        <pc:spChg chg="mod">
          <ac:chgData name="SONG, Qingyu" userId="498998f4-7f18-4549-a740-dcfb6e1e3d22" providerId="ADAL" clId="{AAF170F1-21E7-4E48-8F6E-684554C3F2E3}" dt="2022-01-27T04:23:00.186" v="232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delSp modSp add mod delAnim">
        <pc:chgData name="SONG, Qingyu" userId="498998f4-7f18-4549-a740-dcfb6e1e3d22" providerId="ADAL" clId="{AAF170F1-21E7-4E48-8F6E-684554C3F2E3}" dt="2022-01-26T14:36:38.363" v="217" actId="12"/>
        <pc:sldMkLst>
          <pc:docMk/>
          <pc:sldMk cId="3156497293" sldId="290"/>
        </pc:sldMkLst>
        <pc:spChg chg="mod">
          <ac:chgData name="SONG, Qingyu" userId="498998f4-7f18-4549-a740-dcfb6e1e3d22" providerId="ADAL" clId="{AAF170F1-21E7-4E48-8F6E-684554C3F2E3}" dt="2022-01-26T14:33:51.858" v="10" actId="20577"/>
          <ac:spMkLst>
            <pc:docMk/>
            <pc:sldMk cId="3156497293" sldId="290"/>
            <ac:spMk id="2" creationId="{45C79BA1-37A3-5741-B0A1-E64646E4283C}"/>
          </ac:spMkLst>
        </pc:spChg>
        <pc:spChg chg="mod">
          <ac:chgData name="SONG, Qingyu" userId="498998f4-7f18-4549-a740-dcfb6e1e3d22" providerId="ADAL" clId="{AAF170F1-21E7-4E48-8F6E-684554C3F2E3}" dt="2022-01-26T14:36:38.363" v="217" actId="12"/>
          <ac:spMkLst>
            <pc:docMk/>
            <pc:sldMk cId="3156497293" sldId="290"/>
            <ac:spMk id="3" creationId="{8F20472D-613F-3748-9CBD-88055CDB4B08}"/>
          </ac:spMkLst>
        </pc:spChg>
        <pc:spChg chg="del">
          <ac:chgData name="SONG, Qingyu" userId="498998f4-7f18-4549-a740-dcfb6e1e3d22" providerId="ADAL" clId="{AAF170F1-21E7-4E48-8F6E-684554C3F2E3}" dt="2022-01-26T14:36:29.279" v="212" actId="478"/>
          <ac:spMkLst>
            <pc:docMk/>
            <pc:sldMk cId="3156497293" sldId="290"/>
            <ac:spMk id="5" creationId="{E3DFB35E-000B-487E-B98E-ED33C98C7DB6}"/>
          </ac:spMkLst>
        </pc:spChg>
        <pc:spChg chg="del">
          <ac:chgData name="SONG, Qingyu" userId="498998f4-7f18-4549-a740-dcfb6e1e3d22" providerId="ADAL" clId="{AAF170F1-21E7-4E48-8F6E-684554C3F2E3}" dt="2022-01-26T14:36:31.511" v="214" actId="478"/>
          <ac:spMkLst>
            <pc:docMk/>
            <pc:sldMk cId="3156497293" sldId="290"/>
            <ac:spMk id="6" creationId="{285253AC-173F-4086-BE54-ED6380CAD181}"/>
          </ac:spMkLst>
        </pc:spChg>
        <pc:spChg chg="del">
          <ac:chgData name="SONG, Qingyu" userId="498998f4-7f18-4549-a740-dcfb6e1e3d22" providerId="ADAL" clId="{AAF170F1-21E7-4E48-8F6E-684554C3F2E3}" dt="2022-01-26T14:36:26.556" v="210" actId="478"/>
          <ac:spMkLst>
            <pc:docMk/>
            <pc:sldMk cId="3156497293" sldId="290"/>
            <ac:spMk id="7" creationId="{B4F2FCAB-565E-4178-BECE-B014B8B03F74}"/>
          </ac:spMkLst>
        </pc:spChg>
        <pc:spChg chg="del">
          <ac:chgData name="SONG, Qingyu" userId="498998f4-7f18-4549-a740-dcfb6e1e3d22" providerId="ADAL" clId="{AAF170F1-21E7-4E48-8F6E-684554C3F2E3}" dt="2022-01-26T14:36:28.260" v="211" actId="478"/>
          <ac:spMkLst>
            <pc:docMk/>
            <pc:sldMk cId="3156497293" sldId="290"/>
            <ac:spMk id="8" creationId="{1DB67F5A-D374-4267-88D2-A0A1F1E1E092}"/>
          </ac:spMkLst>
        </pc:spChg>
        <pc:spChg chg="del">
          <ac:chgData name="SONG, Qingyu" userId="498998f4-7f18-4549-a740-dcfb6e1e3d22" providerId="ADAL" clId="{AAF170F1-21E7-4E48-8F6E-684554C3F2E3}" dt="2022-01-26T14:36:30.521" v="213" actId="478"/>
          <ac:spMkLst>
            <pc:docMk/>
            <pc:sldMk cId="3156497293" sldId="290"/>
            <ac:spMk id="9" creationId="{90593623-DC96-4C38-A12C-AD824F962C7C}"/>
          </ac:spMkLst>
        </pc:spChg>
        <pc:spChg chg="del">
          <ac:chgData name="SONG, Qingyu" userId="498998f4-7f18-4549-a740-dcfb6e1e3d22" providerId="ADAL" clId="{AAF170F1-21E7-4E48-8F6E-684554C3F2E3}" dt="2022-01-26T14:36:33.288" v="215" actId="478"/>
          <ac:spMkLst>
            <pc:docMk/>
            <pc:sldMk cId="3156497293" sldId="290"/>
            <ac:spMk id="10" creationId="{5F7CC234-D458-4F4D-AC1A-5318789C1632}"/>
          </ac:spMkLst>
        </pc:sp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  <pc:picChg chg="add">
          <ac:chgData name="SONG, Qingyu" userId="498998f4-7f18-4549-a740-dcfb6e1e3d22" providerId="ADAL" clId="{0F84402B-494A-D841-9A43-F49E88B6429E}" dt="2022-01-19T14:28:08.480" v="0"/>
          <ac:picMkLst>
            <pc:docMk/>
            <pc:sldMk cId="356419186" sldId="256"/>
            <ac:picMk id="6" creationId="{919BED88-AA1D-3144-ABB6-9C775BCC2765}"/>
          </ac:picMkLst>
        </pc:picChg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  <pc:spChg chg="mod">
          <ac:chgData name="SONG, Qingyu" userId="498998f4-7f18-4549-a740-dcfb6e1e3d22" providerId="ADAL" clId="{0F84402B-494A-D841-9A43-F49E88B6429E}" dt="2022-01-19T14:28:15.459" v="2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  <pc:spChg chg="mod">
          <ac:chgData name="SONG, Qingyu" userId="498998f4-7f18-4549-a740-dcfb6e1e3d22" providerId="ADAL" clId="{0F84402B-494A-D841-9A43-F49E88B6429E}" dt="2022-01-19T14:28:33.707" v="8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  <pc:spChg chg="mod">
          <ac:chgData name="SONG, Qingyu" userId="498998f4-7f18-4549-a740-dcfb6e1e3d22" providerId="ADAL" clId="{0F84402B-494A-D841-9A43-F49E88B6429E}" dt="2022-01-19T14:30:51.589" v="9" actId="20577"/>
          <ac:spMkLst>
            <pc:docMk/>
            <pc:sldMk cId="746100141" sldId="274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2:36.846" v="53" actId="20577"/>
          <ac:spMkLst>
            <pc:docMk/>
            <pc:sldMk cId="746100141" sldId="274"/>
            <ac:spMk id="3" creationId="{8F20472D-613F-3748-9CBD-88055CDB4B08}"/>
          </ac:spMkLst>
        </pc:spChg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  <pc:spChg chg="mod">
          <ac:chgData name="SONG, Qingyu" userId="498998f4-7f18-4549-a740-dcfb6e1e3d22" providerId="ADAL" clId="{0F84402B-494A-D841-9A43-F49E88B6429E}" dt="2022-01-19T14:30:56.113" v="10"/>
          <ac:spMkLst>
            <pc:docMk/>
            <pc:sldMk cId="442365464" sldId="275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3:09.710" v="57" actId="20577"/>
          <ac:spMkLst>
            <pc:docMk/>
            <pc:sldMk cId="442365464" sldId="275"/>
            <ac:spMk id="3" creationId="{8F20472D-613F-3748-9CBD-88055CDB4B08}"/>
          </ac:spMkLst>
        </pc:spChg>
        <pc:spChg chg="mod">
          <ac:chgData name="SONG, Qingyu" userId="498998f4-7f18-4549-a740-dcfb6e1e3d22" providerId="ADAL" clId="{0F84402B-494A-D841-9A43-F49E88B6429E}" dt="2022-01-19T14:52:30.806" v="49" actId="1036"/>
          <ac:spMkLst>
            <pc:docMk/>
            <pc:sldMk cId="442365464" sldId="275"/>
            <ac:spMk id="7" creationId="{B4F2FCAB-565E-4178-BECE-B014B8B03F74}"/>
          </ac:spMkLst>
        </pc:spChg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  <pc:spChg chg="mod">
          <ac:chgData name="SONG, Qingyu" userId="498998f4-7f18-4549-a740-dcfb6e1e3d22" providerId="ADAL" clId="{0F84402B-494A-D841-9A43-F49E88B6429E}" dt="2022-01-19T14:31:04.578" v="12"/>
          <ac:spMkLst>
            <pc:docMk/>
            <pc:sldMk cId="3494430642" sldId="276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  <pc:spChg chg="mod">
          <ac:chgData name="SONG, Qingyu" userId="498998f4-7f18-4549-a740-dcfb6e1e3d22" providerId="ADAL" clId="{0F84402B-494A-D841-9A43-F49E88B6429E}" dt="2022-01-19T14:31:06.498" v="13" actId="20577"/>
          <ac:spMkLst>
            <pc:docMk/>
            <pc:sldMk cId="4278079293" sldId="277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31.128" v="89" actId="20577"/>
          <ac:spMkLst>
            <pc:docMk/>
            <pc:sldMk cId="4278079293" sldId="277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  <pc:spChg chg="mod">
          <ac:chgData name="SONG, Qingyu" userId="498998f4-7f18-4549-a740-dcfb6e1e3d22" providerId="ADAL" clId="{0F84402B-494A-D841-9A43-F49E88B6429E}" dt="2022-01-19T14:31:13.089" v="14"/>
          <ac:spMkLst>
            <pc:docMk/>
            <pc:sldMk cId="3882663473" sldId="278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  <pc:spChg chg="mod">
          <ac:chgData name="SONG, Qingyu" userId="498998f4-7f18-4549-a740-dcfb6e1e3d22" providerId="ADAL" clId="{0F84402B-494A-D841-9A43-F49E88B6429E}" dt="2022-01-19T14:31:16.215" v="15"/>
          <ac:spMkLst>
            <pc:docMk/>
            <pc:sldMk cId="3927078520" sldId="279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45.773" v="90"/>
          <ac:spMkLst>
            <pc:docMk/>
            <pc:sldMk cId="3927078520" sldId="279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  <pc:spChg chg="mod">
          <ac:chgData name="SONG, Qingyu" userId="498998f4-7f18-4549-a740-dcfb6e1e3d22" providerId="ADAL" clId="{0F84402B-494A-D841-9A43-F49E88B6429E}" dt="2022-01-19T14:31:20.046" v="16"/>
          <ac:spMkLst>
            <pc:docMk/>
            <pc:sldMk cId="1261831385" sldId="280"/>
            <ac:spMk id="2" creationId="{45C79BA1-37A3-5741-B0A1-E64646E4283C}"/>
          </ac:spMkLst>
        </pc:spChg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  <pc:spChg chg="mod">
          <ac:chgData name="SONG, Qingyu" userId="498998f4-7f18-4549-a740-dcfb6e1e3d22" providerId="ADAL" clId="{0F84402B-494A-D841-9A43-F49E88B6429E}" dt="2022-01-19T14:55:18" v="62" actId="20577"/>
          <ac:spMkLst>
            <pc:docMk/>
            <pc:sldMk cId="11664182" sldId="281"/>
            <ac:spMk id="3" creationId="{8F20472D-613F-3748-9CBD-88055CDB4B0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C180A1-1F0C-4A71-B8A3-AA47FCAE6790}" type="datetimeFigureOut">
              <a:rPr lang="en-HK" smtClean="0"/>
              <a:t>14/9/2025</a:t>
            </a:fld>
            <a:endParaRPr lang="en-H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3D3AD6-25BE-408D-BED6-106C0DD989BD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373202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090965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714970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719950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0975578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5379864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147048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14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59591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15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1040873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TTP_pipelining" TargetMode="External"/><Relationship Id="rId4" Type="http://schemas.openxmlformats.org/officeDocument/2006/relationships/hyperlink" Target="https://en.wikipedia.org/wiki/HTTP_persistent_connection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odejs/http-parser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</a:t>
            </a:r>
            <a:r>
              <a:rPr lang="en-US" sz="6600" b="1" dirty="0" smtClean="0"/>
              <a:t>FALL 25</a:t>
            </a:r>
            <a:endParaRPr lang="en-US" sz="6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3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3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684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594" y="149951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Due: </a:t>
            </a:r>
            <a:r>
              <a:rPr lang="en-HK" sz="3200" dirty="0">
                <a:solidFill>
                  <a:srgbClr val="FF0000"/>
                </a:solidFill>
              </a:rPr>
              <a:t>11:59:59 p.m., S</a:t>
            </a:r>
            <a:r>
              <a:rPr lang="en-US" altLang="zh-CN" sz="3200" dirty="0">
                <a:solidFill>
                  <a:srgbClr val="FF0000"/>
                </a:solidFill>
              </a:rPr>
              <a:t>un</a:t>
            </a:r>
            <a:r>
              <a:rPr lang="en-HK" sz="3200" dirty="0">
                <a:solidFill>
                  <a:srgbClr val="FF0000"/>
                </a:solidFill>
              </a:rPr>
              <a:t>, S</a:t>
            </a:r>
            <a:r>
              <a:rPr lang="en-US" altLang="zh-CN" sz="3200" dirty="0">
                <a:solidFill>
                  <a:srgbClr val="FF0000"/>
                </a:solidFill>
              </a:rPr>
              <a:t>ep</a:t>
            </a:r>
            <a:r>
              <a:rPr lang="en-HK" sz="3200" dirty="0">
                <a:solidFill>
                  <a:srgbClr val="FF0000"/>
                </a:solidFill>
              </a:rPr>
              <a:t>. 21</a:t>
            </a:r>
            <a:r>
              <a:rPr lang="en-US" altLang="zh-CN" sz="3200" dirty="0" err="1">
                <a:solidFill>
                  <a:srgbClr val="FF0000"/>
                </a:solidFill>
              </a:rPr>
              <a:t>st</a:t>
            </a:r>
            <a:endParaRPr lang="en-US" sz="3200" dirty="0">
              <a:solidFill>
                <a:srgbClr val="FF0000"/>
              </a:solidFill>
            </a:endParaRPr>
          </a:p>
          <a:p>
            <a:endParaRPr lang="en-US" sz="3200" dirty="0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148393-6CCB-44FE-80D6-264EBD55C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88" y="2358734"/>
            <a:ext cx="6070917" cy="292620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8500EE3-5D69-464B-86C6-810B4B529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11" y="2140242"/>
            <a:ext cx="4828567" cy="390243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6A98220-9D71-40C9-AF25-67464820F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4632" y="2871239"/>
            <a:ext cx="2300262" cy="95919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F1D3F1C2-C0E3-4976-93C2-29E5E2E3E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1464" y="3911301"/>
            <a:ext cx="1542081" cy="10700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3EC4E7F-4158-448B-991A-F95A51025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041" y="3299031"/>
            <a:ext cx="1542081" cy="25912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E9A1B174-3DA2-4036-B5CF-D675C31532A0}"/>
              </a:ext>
            </a:extLst>
          </p:cNvPr>
          <p:cNvSpPr/>
          <p:nvPr/>
        </p:nvSpPr>
        <p:spPr>
          <a:xfrm>
            <a:off x="4962059" y="2660191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E4DFA63-AADE-47E2-8269-BD7E2ADF5265}"/>
              </a:ext>
            </a:extLst>
          </p:cNvPr>
          <p:cNvCxnSpPr>
            <a:cxnSpLocks/>
          </p:cNvCxnSpPr>
          <p:nvPr/>
        </p:nvCxnSpPr>
        <p:spPr>
          <a:xfrm>
            <a:off x="5371301" y="2877633"/>
            <a:ext cx="501204" cy="377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27A2696C-2D8B-46BD-AFAC-D75B5B4E8F4B}"/>
              </a:ext>
            </a:extLst>
          </p:cNvPr>
          <p:cNvSpPr/>
          <p:nvPr/>
        </p:nvSpPr>
        <p:spPr>
          <a:xfrm>
            <a:off x="6975505" y="2121060"/>
            <a:ext cx="8512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B95DF65D-9D66-4C32-80E7-BB27574D98A9}"/>
              </a:ext>
            </a:extLst>
          </p:cNvPr>
          <p:cNvCxnSpPr>
            <a:cxnSpLocks/>
          </p:cNvCxnSpPr>
          <p:nvPr/>
        </p:nvCxnSpPr>
        <p:spPr>
          <a:xfrm>
            <a:off x="7873958" y="2283072"/>
            <a:ext cx="1781594" cy="9716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240F4E0-BED2-4121-8E96-E0B8B564A9F1}"/>
              </a:ext>
            </a:extLst>
          </p:cNvPr>
          <p:cNvSpPr/>
          <p:nvPr/>
        </p:nvSpPr>
        <p:spPr>
          <a:xfrm>
            <a:off x="4444114" y="2662102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5BDC46D1-A8B6-4691-85CF-3662F3CFE629}"/>
              </a:ext>
            </a:extLst>
          </p:cNvPr>
          <p:cNvCxnSpPr>
            <a:cxnSpLocks/>
          </p:cNvCxnSpPr>
          <p:nvPr/>
        </p:nvCxnSpPr>
        <p:spPr>
          <a:xfrm>
            <a:off x="4744649" y="2877633"/>
            <a:ext cx="382392" cy="1201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C6BA76D5-1634-4AAC-BDE4-685C90A39C70}"/>
              </a:ext>
            </a:extLst>
          </p:cNvPr>
          <p:cNvSpPr txBox="1"/>
          <p:nvPr/>
        </p:nvSpPr>
        <p:spPr>
          <a:xfrm>
            <a:off x="889491" y="5586392"/>
            <a:ext cx="6094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>
                <a:solidFill>
                  <a:srgbClr val="C00000"/>
                </a:solidFill>
              </a:rPr>
              <a:t>For macOS (Apple Silicon) users: </a:t>
            </a:r>
            <a:r>
              <a:rPr lang="en-HK" dirty="0"/>
              <a:t>please follow the setup instructions in our GitHub repo.</a:t>
            </a:r>
          </a:p>
        </p:txBody>
      </p:sp>
    </p:spTree>
    <p:extLst>
      <p:ext uri="{BB962C8B-B14F-4D97-AF65-F5344CB8AC3E}">
        <p14:creationId xmlns:p14="http://schemas.microsoft.com/office/powerpoint/2010/main" val="1580223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3331"/>
          </a:xfrm>
        </p:spPr>
        <p:txBody>
          <a:bodyPr/>
          <a:lstStyle/>
          <a:p>
            <a:r>
              <a:rPr lang="en-US" b="1" dirty="0"/>
              <a:t>Assignment 2&amp;3 Group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93C4DF01-83FA-4E10-AE51-839B708EA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421" y="1629698"/>
            <a:ext cx="4736808" cy="4588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B677AC68-0EBE-43C2-8478-901F8AC41A2A}"/>
              </a:ext>
            </a:extLst>
          </p:cNvPr>
          <p:cNvSpPr txBox="1"/>
          <p:nvPr/>
        </p:nvSpPr>
        <p:spPr>
          <a:xfrm>
            <a:off x="5623627" y="1629698"/>
            <a:ext cx="57656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The </a:t>
            </a:r>
            <a:r>
              <a:rPr lang="en-HK" b="1" dirty="0"/>
              <a:t>deadline for grouping</a:t>
            </a:r>
            <a:r>
              <a:rPr lang="en-HK" dirty="0"/>
              <a:t> is</a:t>
            </a:r>
            <a:r>
              <a:rPr lang="en-HK" strike="sngStrike" dirty="0"/>
              <a:t> </a:t>
            </a:r>
            <a:r>
              <a:rPr lang="en-HK" b="1" dirty="0">
                <a:solidFill>
                  <a:srgbClr val="C00000"/>
                </a:solidFill>
              </a:rPr>
              <a:t>23:59:59, </a:t>
            </a:r>
            <a:r>
              <a:rPr lang="en-HK" b="1" dirty="0" smtClean="0">
                <a:solidFill>
                  <a:srgbClr val="C00000"/>
                </a:solidFill>
              </a:rPr>
              <a:t>S</a:t>
            </a:r>
            <a:r>
              <a:rPr lang="en-US" altLang="zh-CN" b="1" dirty="0" smtClean="0">
                <a:solidFill>
                  <a:srgbClr val="C00000"/>
                </a:solidFill>
              </a:rPr>
              <a:t>ep</a:t>
            </a:r>
            <a:r>
              <a:rPr lang="en-HK" b="1" dirty="0" smtClean="0">
                <a:solidFill>
                  <a:srgbClr val="C00000"/>
                </a:solidFill>
              </a:rPr>
              <a:t>. 21</a:t>
            </a:r>
            <a:r>
              <a:rPr lang="en-US" altLang="zh-CN" b="1" baseline="30000" dirty="0" err="1" smtClean="0">
                <a:solidFill>
                  <a:srgbClr val="C00000"/>
                </a:solidFill>
              </a:rPr>
              <a:t>st</a:t>
            </a:r>
            <a:r>
              <a:rPr lang="en-US" altLang="zh-CN" b="1" dirty="0" smtClean="0">
                <a:solidFill>
                  <a:srgbClr val="C00000"/>
                </a:solidFill>
              </a:rPr>
              <a:t> </a:t>
            </a:r>
            <a:r>
              <a:rPr lang="en-HK" b="1" dirty="0" smtClean="0">
                <a:solidFill>
                  <a:srgbClr val="C00000"/>
                </a:solidFill>
              </a:rPr>
              <a:t>2025, same as the </a:t>
            </a:r>
            <a:r>
              <a:rPr lang="en-HK" b="1" dirty="0" err="1" smtClean="0">
                <a:solidFill>
                  <a:srgbClr val="C00000"/>
                </a:solidFill>
              </a:rPr>
              <a:t>DDL</a:t>
            </a:r>
            <a:r>
              <a:rPr lang="en-HK" b="1" dirty="0" smtClean="0">
                <a:solidFill>
                  <a:srgbClr val="C00000"/>
                </a:solidFill>
              </a:rPr>
              <a:t> of </a:t>
            </a:r>
            <a:r>
              <a:rPr lang="en-HK" b="1" dirty="0" err="1" smtClean="0">
                <a:solidFill>
                  <a:srgbClr val="C00000"/>
                </a:solidFill>
              </a:rPr>
              <a:t>ASG1</a:t>
            </a:r>
            <a:r>
              <a:rPr lang="en-HK" b="1" dirty="0" smtClean="0">
                <a:solidFill>
                  <a:srgbClr val="C00000"/>
                </a:solidFill>
              </a:rPr>
              <a:t>.</a:t>
            </a:r>
            <a:endParaRPr lang="en-HK" dirty="0">
              <a:solidFill>
                <a:srgbClr val="C0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D9F8D6A-27AB-4CF5-A228-373D6BC6290B}"/>
              </a:ext>
            </a:extLst>
          </p:cNvPr>
          <p:cNvSpPr txBox="1"/>
          <p:nvPr/>
        </p:nvSpPr>
        <p:spPr>
          <a:xfrm>
            <a:off x="5630714" y="256239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For </a:t>
            </a:r>
            <a:r>
              <a:rPr lang="en-HK" b="1" dirty="0"/>
              <a:t>assignments 2 and 3</a:t>
            </a:r>
            <a:r>
              <a:rPr lang="en-HK" dirty="0"/>
              <a:t>, you need to form a group of </a:t>
            </a:r>
            <a:r>
              <a:rPr lang="en-HK" b="1" u="sng" dirty="0">
                <a:solidFill>
                  <a:srgbClr val="C00000"/>
                </a:solidFill>
              </a:rPr>
              <a:t>exactly 2 students</a:t>
            </a:r>
            <a:r>
              <a:rPr lang="en-HK" dirty="0"/>
              <a:t> and finish the assignment as a group. We use </a:t>
            </a:r>
            <a:r>
              <a:rPr lang="en-HK" b="1" dirty="0"/>
              <a:t>Blackboard</a:t>
            </a:r>
            <a:r>
              <a:rPr lang="en-HK" dirty="0"/>
              <a:t> as the tool to form groups. 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B270DF-DF10-4B5E-88B5-6B10DCCDCF5B}"/>
              </a:ext>
            </a:extLst>
          </p:cNvPr>
          <p:cNvSpPr txBox="1"/>
          <p:nvPr/>
        </p:nvSpPr>
        <p:spPr>
          <a:xfrm>
            <a:off x="5630715" y="3657166"/>
            <a:ext cx="6625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More information, </a:t>
            </a:r>
            <a:r>
              <a:rPr lang="en-HK" dirty="0" err="1"/>
              <a:t>plz</a:t>
            </a:r>
            <a:r>
              <a:rPr lang="en-HK" dirty="0"/>
              <a:t> check Piazza announcement: https://</a:t>
            </a:r>
            <a:r>
              <a:rPr lang="en-HK" dirty="0" err="1"/>
              <a:t>piazza.com</a:t>
            </a:r>
            <a:r>
              <a:rPr lang="en-HK" dirty="0"/>
              <a:t>/class/</a:t>
            </a:r>
            <a:r>
              <a:rPr lang="en-HK" dirty="0" err="1"/>
              <a:t>meqreqb8il6t</a:t>
            </a:r>
            <a:r>
              <a:rPr lang="en-HK" dirty="0"/>
              <a:t>/post/</a:t>
            </a:r>
            <a:r>
              <a:rPr lang="en-HK" dirty="0" err="1"/>
              <a:t>mfj47ya4cme61l</a:t>
            </a:r>
            <a:endParaRPr lang="en-HK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7515" y="4336152"/>
            <a:ext cx="6006181" cy="177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702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HTTP Request</a:t>
            </a:r>
          </a:p>
          <a:p>
            <a:r>
              <a:rPr lang="en-US" sz="3200" dirty="0"/>
              <a:t>HTTP Response</a:t>
            </a:r>
          </a:p>
          <a:p>
            <a:r>
              <a:rPr lang="en-US" altLang="zh-CN" sz="3200" dirty="0"/>
              <a:t>Exercises</a:t>
            </a:r>
          </a:p>
          <a:p>
            <a:r>
              <a:rPr lang="en-US" sz="3200" dirty="0"/>
              <a:t>Open-source</a:t>
            </a:r>
            <a:r>
              <a:rPr lang="zh-CN" altLang="en-US" sz="3200" dirty="0"/>
              <a:t> </a:t>
            </a:r>
            <a:r>
              <a:rPr lang="en-US" altLang="zh-CN" sz="3200" dirty="0"/>
              <a:t>project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000"/>
            <a:ext cx="10515600" cy="1325563"/>
          </a:xfrm>
        </p:spPr>
        <p:txBody>
          <a:bodyPr/>
          <a:lstStyle/>
          <a:p>
            <a:r>
              <a:rPr lang="en-US" b="1" dirty="0"/>
              <a:t>HTTP Request</a:t>
            </a:r>
          </a:p>
        </p:txBody>
      </p:sp>
      <p:pic>
        <p:nvPicPr>
          <p:cNvPr id="7" name="Content Placeholder 6" descr="Graphical user interface&#10;&#10;Description automatically generated">
            <a:extLst>
              <a:ext uri="{FF2B5EF4-FFF2-40B4-BE49-F238E27FC236}">
                <a16:creationId xmlns:a16="http://schemas.microsoft.com/office/drawing/2014/main" id="{17577C16-079E-4952-83FD-888293C83B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86038" y="1828978"/>
            <a:ext cx="6821037" cy="4351338"/>
          </a:xfr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9495223E-C9EC-CBC6-74C7-CEEF9D7BD718}"/>
              </a:ext>
            </a:extLst>
          </p:cNvPr>
          <p:cNvSpPr txBox="1">
            <a:spLocks/>
          </p:cNvSpPr>
          <p:nvPr/>
        </p:nvSpPr>
        <p:spPr>
          <a:xfrm>
            <a:off x="420329" y="2679084"/>
            <a:ext cx="263750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000"/>
            <a:ext cx="10515600" cy="1325563"/>
          </a:xfrm>
        </p:spPr>
        <p:txBody>
          <a:bodyPr/>
          <a:lstStyle/>
          <a:p>
            <a:r>
              <a:rPr lang="en-US" b="1" dirty="0"/>
              <a:t>HTTP Request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95223E-C9EC-CBC6-74C7-CEEF9D7BD718}"/>
              </a:ext>
            </a:extLst>
          </p:cNvPr>
          <p:cNvSpPr txBox="1">
            <a:spLocks/>
          </p:cNvSpPr>
          <p:nvPr/>
        </p:nvSpPr>
        <p:spPr>
          <a:xfrm>
            <a:off x="420329" y="2679084"/>
            <a:ext cx="263750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0C1BE-9CC7-CF83-32C5-362D4DACD687}"/>
              </a:ext>
            </a:extLst>
          </p:cNvPr>
          <p:cNvSpPr txBox="1"/>
          <p:nvPr/>
        </p:nvSpPr>
        <p:spPr>
          <a:xfrm>
            <a:off x="838199" y="1923024"/>
            <a:ext cx="1093347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Curl get:</a:t>
            </a:r>
          </a:p>
          <a:p>
            <a:r>
              <a:rPr lang="en-US" sz="2400" dirty="0"/>
              <a:t>"GET /test HTTP/1.1\r\n"</a:t>
            </a:r>
          </a:p>
          <a:p>
            <a:r>
              <a:rPr lang="en-US" sz="2400" dirty="0"/>
              <a:t>"User-Agent: curl/7.18.0 (i486-pc-linux-gnu) </a:t>
            </a:r>
            <a:r>
              <a:rPr lang="en-US" sz="2400" dirty="0" err="1"/>
              <a:t>libcurl</a:t>
            </a:r>
            <a:r>
              <a:rPr lang="en-US" sz="2400" dirty="0"/>
              <a:t>/7.18.0 OpenSSL/0.9.8g </a:t>
            </a:r>
            <a:r>
              <a:rPr lang="en-US" sz="2400" dirty="0" err="1"/>
              <a:t>zlib</a:t>
            </a:r>
            <a:r>
              <a:rPr lang="en-US" sz="2400" dirty="0"/>
              <a:t>/1.2.3.3 </a:t>
            </a:r>
            <a:r>
              <a:rPr lang="en-US" sz="2400" dirty="0" err="1"/>
              <a:t>libidn</a:t>
            </a:r>
            <a:r>
              <a:rPr lang="en-US" sz="2400" dirty="0"/>
              <a:t>/1.1\r\n"</a:t>
            </a:r>
          </a:p>
          <a:p>
            <a:r>
              <a:rPr lang="en-US" sz="2400" dirty="0"/>
              <a:t>"Host: 0.0.0.0=5000\r\n"</a:t>
            </a:r>
          </a:p>
          <a:p>
            <a:r>
              <a:rPr lang="en-US" sz="2400" dirty="0"/>
              <a:t>"Accept: */*\r\n"</a:t>
            </a:r>
          </a:p>
          <a:p>
            <a:r>
              <a:rPr lang="en-US" sz="2400" dirty="0"/>
              <a:t>"\r\n"</a:t>
            </a:r>
          </a:p>
        </p:txBody>
      </p:sp>
    </p:spTree>
    <p:extLst>
      <p:ext uri="{BB962C8B-B14F-4D97-AF65-F5344CB8AC3E}">
        <p14:creationId xmlns:p14="http://schemas.microsoft.com/office/powerpoint/2010/main" val="1654054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HTTP Response</a:t>
            </a:r>
          </a:p>
        </p:txBody>
      </p:sp>
      <p:pic>
        <p:nvPicPr>
          <p:cNvPr id="6" name="Content Placeholder 5" descr="Diagram&#10;&#10;Description automatically generated with low confidence">
            <a:extLst>
              <a:ext uri="{FF2B5EF4-FFF2-40B4-BE49-F238E27FC236}">
                <a16:creationId xmlns:a16="http://schemas.microsoft.com/office/drawing/2014/main" id="{A700B8F1-E63D-4F1D-95AA-573D9C5397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702" y="1828978"/>
            <a:ext cx="6893625" cy="4351338"/>
          </a:xfrm>
        </p:spPr>
      </p:pic>
    </p:spTree>
    <p:extLst>
      <p:ext uri="{BB962C8B-B14F-4D97-AF65-F5344CB8AC3E}">
        <p14:creationId xmlns:p14="http://schemas.microsoft.com/office/powerpoint/2010/main" val="2673518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HTTP Response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B5EF8B-4B95-A782-9633-CD70A28D304C}"/>
              </a:ext>
            </a:extLst>
          </p:cNvPr>
          <p:cNvSpPr txBox="1"/>
          <p:nvPr/>
        </p:nvSpPr>
        <p:spPr>
          <a:xfrm>
            <a:off x="3048000" y="1433076"/>
            <a:ext cx="60960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Google 301 response:</a:t>
            </a:r>
          </a:p>
          <a:p>
            <a:r>
              <a:rPr lang="en-US" dirty="0"/>
              <a:t>"HTTP/1.1 301 Moved Permanently\r\n"</a:t>
            </a:r>
          </a:p>
          <a:p>
            <a:r>
              <a:rPr lang="en-US" dirty="0"/>
              <a:t>"Location: http://www.google.com/\r\n"</a:t>
            </a:r>
          </a:p>
          <a:p>
            <a:r>
              <a:rPr lang="en-US" dirty="0"/>
              <a:t>"Content-Type: text/html; charset=UTF-8\r\n"</a:t>
            </a:r>
          </a:p>
          <a:p>
            <a:r>
              <a:rPr lang="en-US" dirty="0"/>
              <a:t>"Date: Sun, 26 Apr 2009 11:11:49 GMT\r\n"</a:t>
            </a:r>
          </a:p>
          <a:p>
            <a:r>
              <a:rPr lang="en-US" dirty="0"/>
              <a:t>"Expires: Tue, 26 May 2009 11:11:49 GMT\r\n"</a:t>
            </a:r>
          </a:p>
          <a:p>
            <a:r>
              <a:rPr lang="en-US" dirty="0"/>
              <a:t>"X-$</a:t>
            </a:r>
            <a:r>
              <a:rPr lang="en-US" dirty="0" err="1"/>
              <a:t>PrototypeBI</a:t>
            </a:r>
            <a:r>
              <a:rPr lang="en-US" dirty="0"/>
              <a:t>-Version: 1.6.0.3\r\n" /* $ char in header field */</a:t>
            </a:r>
          </a:p>
          <a:p>
            <a:r>
              <a:rPr lang="en-US" dirty="0"/>
              <a:t>"Cache-Control: public, max-age=2592000\r\n"</a:t>
            </a:r>
          </a:p>
          <a:p>
            <a:r>
              <a:rPr lang="en-US" dirty="0"/>
              <a:t>"Server: </a:t>
            </a:r>
            <a:r>
              <a:rPr lang="en-US" dirty="0" err="1"/>
              <a:t>gws</a:t>
            </a:r>
            <a:r>
              <a:rPr lang="en-US" dirty="0"/>
              <a:t>\r\n"</a:t>
            </a:r>
          </a:p>
          <a:p>
            <a:r>
              <a:rPr lang="en-US" dirty="0"/>
              <a:t>"Content-Length:  219  \r\n"</a:t>
            </a:r>
          </a:p>
          <a:p>
            <a:r>
              <a:rPr lang="en-US" dirty="0"/>
              <a:t>"\r\n"</a:t>
            </a:r>
          </a:p>
          <a:p>
            <a:r>
              <a:rPr lang="en-US" dirty="0"/>
              <a:t>"&lt;HTML&gt;&lt;HEAD&gt;&lt;meta http-</a:t>
            </a:r>
            <a:r>
              <a:rPr lang="en-US" dirty="0" err="1"/>
              <a:t>equiv</a:t>
            </a:r>
            <a:r>
              <a:rPr lang="en-US" dirty="0"/>
              <a:t>=\"content-type\" content=\"text/</a:t>
            </a:r>
            <a:r>
              <a:rPr lang="en-US" dirty="0" err="1"/>
              <a:t>html;charset</a:t>
            </a:r>
            <a:r>
              <a:rPr lang="en-US" dirty="0"/>
              <a:t>=utf-8\"&gt;\n"</a:t>
            </a:r>
          </a:p>
          <a:p>
            <a:r>
              <a:rPr lang="en-US" dirty="0"/>
              <a:t>"&lt;TITLE&gt;301 Moved&lt;/TITLE&gt;&lt;/HEAD&gt;&lt;BODY&gt;\n"</a:t>
            </a:r>
          </a:p>
          <a:p>
            <a:r>
              <a:rPr lang="en-US" dirty="0"/>
              <a:t>"&lt;H1&gt;301 Moved&lt;/H1&gt;\n"</a:t>
            </a:r>
          </a:p>
          <a:p>
            <a:r>
              <a:rPr lang="en-US" dirty="0"/>
              <a:t>"The document has moved\n"</a:t>
            </a:r>
          </a:p>
          <a:p>
            <a:r>
              <a:rPr lang="en-US" dirty="0"/>
              <a:t>"&lt;A HREF=\"http://www.google.com/\"&gt;here&lt;/A&gt;.\r\n"</a:t>
            </a:r>
          </a:p>
          <a:p>
            <a:r>
              <a:rPr lang="en-US" dirty="0"/>
              <a:t>"&lt;/BODY&gt;&lt;/HTML&gt;\r\n"</a:t>
            </a:r>
          </a:p>
        </p:txBody>
      </p:sp>
    </p:spTree>
    <p:extLst>
      <p:ext uri="{BB962C8B-B14F-4D97-AF65-F5344CB8AC3E}">
        <p14:creationId xmlns:p14="http://schemas.microsoft.com/office/powerpoint/2010/main" val="3433006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Q1 True or False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5850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HTTP response messages never have an empty message body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2414032"/>
            <a:ext cx="979516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False.</a:t>
            </a:r>
          </a:p>
          <a:p>
            <a:r>
              <a:rPr lang="en-US" sz="2800" dirty="0">
                <a:solidFill>
                  <a:srgbClr val="FF0000"/>
                </a:solidFill>
              </a:rPr>
              <a:t>• Some HTTP response messages have an empty message body. </a:t>
            </a:r>
          </a:p>
          <a:p>
            <a:pPr marL="457200" indent="-457200">
              <a:buAutoNum type="arabicPeriod"/>
            </a:pPr>
            <a:r>
              <a:rPr lang="en-US" sz="2800" dirty="0">
                <a:solidFill>
                  <a:srgbClr val="FF0000"/>
                </a:solidFill>
              </a:rPr>
              <a:t>HTTP Status-Code of 200 for HEAD request can be sent without message-body</a:t>
            </a:r>
          </a:p>
          <a:p>
            <a:pPr marL="457200" indent="-457200">
              <a:buAutoNum type="arabicPeriod"/>
            </a:pPr>
            <a:r>
              <a:rPr lang="en-US" sz="2800" dirty="0">
                <a:solidFill>
                  <a:srgbClr val="FF0000"/>
                </a:solidFill>
              </a:rPr>
              <a:t>HTTP Status-Code of 204 and 304 MUST NOT include a message body. (RFC 2616) </a:t>
            </a:r>
            <a:endParaRPr lang="en-HK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6100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Q2 True or False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325562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Two distinct Web pages (for example, www.mit.edu/research.html and www.mit.edu/students.html) can be sent over the same persistent connection.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3429000"/>
            <a:ext cx="97951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accent1">
                    <a:lumMod val="75000"/>
                  </a:schemeClr>
                </a:solidFill>
              </a:rPr>
              <a:t>True. </a:t>
            </a:r>
          </a:p>
          <a:p>
            <a:r>
              <a:rPr lang="en-US" sz="2800" dirty="0">
                <a:solidFill>
                  <a:schemeClr val="accent1">
                    <a:lumMod val="75000"/>
                  </a:schemeClr>
                </a:solidFill>
              </a:rPr>
              <a:t>• It is because both of these web pages are on the same physical server (www.mit.edu).</a:t>
            </a:r>
            <a:endParaRPr lang="en-HK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2376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Q3 True or False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325562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With non-persistent connections between browser and origin server, it is possible for a single TCP segment to carry two distinct HTTP request messages.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3429000"/>
            <a:ext cx="979516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False.</a:t>
            </a:r>
          </a:p>
          <a:p>
            <a:r>
              <a:rPr lang="en-US" sz="2800" dirty="0">
                <a:solidFill>
                  <a:srgbClr val="FF0000"/>
                </a:solidFill>
              </a:rPr>
              <a:t>• In a non-persistent connection, the connection closes after each request-response. In this case, the connection will close once the first message is received, and there will be a new connection opened to send the second message.</a:t>
            </a:r>
            <a:endParaRPr lang="en-HK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972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Q4.1 Consider the Following Request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337"/>
            <a:ext cx="7197436" cy="4921538"/>
          </a:xfrm>
        </p:spPr>
        <p:txBody>
          <a:bodyPr>
            <a:noAutofit/>
          </a:bodyPr>
          <a:lstStyle/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GET /cs453/index.html HTTP/1.1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Host: gaia.cs.umass.edu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Connection: keep-alive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Cache-Control: max-age=0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Upgrade-Insecure-Requests: 1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User-Agent: Mozilla/5.0 (Windows NT 10.0; Win64; x64)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AppleWebKit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/537.36 (KHTML, like Gecko) Chrome/97.0.4692.71 Safari/537.36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Edg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/97.0.1072.62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Accept: text/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html,application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xhtml+xml,application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xml;q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=0.9,image/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webp,image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apng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,*/*;q=0.8,application/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signed-exchange;v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=b3;q=0.9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Accept-Encoding: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gzip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, deflate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Accept-Language: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en-US,en;q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=0.9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If-None-Match: "db1-4161d5aad1d80"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If-Modified-Since: Tue, 13 Jun 2006 16:13:58 GMT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140E36-BCA6-425A-9074-E9BFA0A39A27}"/>
              </a:ext>
            </a:extLst>
          </p:cNvPr>
          <p:cNvSpPr txBox="1">
            <a:spLocks/>
          </p:cNvSpPr>
          <p:nvPr/>
        </p:nvSpPr>
        <p:spPr>
          <a:xfrm>
            <a:off x="8742218" y="1472334"/>
            <a:ext cx="3304309" cy="15825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1. What is the URL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(w/o scheme) of the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document requested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by the browser?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EE766A3-14D8-4D99-B605-4AB17C302828}"/>
              </a:ext>
            </a:extLst>
          </p:cNvPr>
          <p:cNvSpPr txBox="1">
            <a:spLocks/>
          </p:cNvSpPr>
          <p:nvPr/>
        </p:nvSpPr>
        <p:spPr>
          <a:xfrm>
            <a:off x="8742217" y="3976248"/>
            <a:ext cx="3304309" cy="15825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2. Does the browser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request a persistent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or non-persistent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connection?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B993B0-775B-4F9C-ABAA-98333E9CA840}"/>
              </a:ext>
            </a:extLst>
          </p:cNvPr>
          <p:cNvSpPr txBox="1"/>
          <p:nvPr/>
        </p:nvSpPr>
        <p:spPr>
          <a:xfrm>
            <a:off x="8804563" y="3085053"/>
            <a:ext cx="232756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gaia.cs.umass.edu/ </a:t>
            </a:r>
          </a:p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cs453/index.html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7A1CFB-88C6-4AE8-8B97-8B267329D727}"/>
              </a:ext>
            </a:extLst>
          </p:cNvPr>
          <p:cNvSpPr txBox="1"/>
          <p:nvPr/>
        </p:nvSpPr>
        <p:spPr>
          <a:xfrm>
            <a:off x="8804563" y="5668393"/>
            <a:ext cx="2327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Persistent</a:t>
            </a:r>
          </a:p>
        </p:txBody>
      </p:sp>
    </p:spTree>
    <p:extLst>
      <p:ext uri="{BB962C8B-B14F-4D97-AF65-F5344CB8AC3E}">
        <p14:creationId xmlns:p14="http://schemas.microsoft.com/office/powerpoint/2010/main" val="1965192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Q4</a:t>
            </a:r>
            <a:r>
              <a:rPr lang="en-HK" altLang="zh-CN" b="1" dirty="0"/>
              <a:t>.2</a:t>
            </a:r>
            <a:r>
              <a:rPr lang="en-US" altLang="zh-CN" b="1" dirty="0"/>
              <a:t> Consider the Following Request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337"/>
            <a:ext cx="7197436" cy="4921538"/>
          </a:xfrm>
        </p:spPr>
        <p:txBody>
          <a:bodyPr>
            <a:noAutofit/>
          </a:bodyPr>
          <a:lstStyle/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GET /cs453/index.html HTTP/1.1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Host: gaia.cs.umass.edu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Connection: keep-alive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Cache-Control: max-age=0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Upgrade-Insecure-Requests: 1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User-Agent: Mozilla/5.0 (Windows NT 10.0; Win64; x64)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AppleWebKit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/537.36 (KHTML, like Gecko) Chrome/97.0.4692.71 Safari/537.36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Edg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/97.0.1072.62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Accept: text/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html,application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xhtml+xml,application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xml;q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=0.9,image/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webp,image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apng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,*/*;q=0.8,application/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signed-exchange;v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=b3;q=0.9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Accept-Encoding: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gzip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, deflate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Accept-Language: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en-US,en;q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=0.9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If-None-Match: "db1-4161d5aad1d80"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If-Modified-Since: Tue, 13 Jun 2006 16:13:58 GMT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140E36-BCA6-425A-9074-E9BFA0A39A27}"/>
              </a:ext>
            </a:extLst>
          </p:cNvPr>
          <p:cNvSpPr txBox="1">
            <a:spLocks/>
          </p:cNvSpPr>
          <p:nvPr/>
        </p:nvSpPr>
        <p:spPr>
          <a:xfrm>
            <a:off x="8742218" y="1472334"/>
            <a:ext cx="3304309" cy="15825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1. What type of browser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initiates this message?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Why is browser type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needed in an HTTP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request message?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B993B0-775B-4F9C-ABAA-98333E9CA840}"/>
              </a:ext>
            </a:extLst>
          </p:cNvPr>
          <p:cNvSpPr txBox="1"/>
          <p:nvPr/>
        </p:nvSpPr>
        <p:spPr>
          <a:xfrm>
            <a:off x="8804563" y="3613578"/>
            <a:ext cx="295101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Mozilla/5.0</a:t>
            </a:r>
          </a:p>
          <a:p>
            <a:endParaRPr lang="en-US" altLang="zh-CN" sz="20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zh-CN" sz="2000" dirty="0">
                <a:solidFill>
                  <a:schemeClr val="accent1">
                    <a:lumMod val="75000"/>
                  </a:schemeClr>
                </a:solidFill>
              </a:rPr>
              <a:t>D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ifferent browsers may handle the same webpage differently, due to having different capabilities.</a:t>
            </a:r>
          </a:p>
        </p:txBody>
      </p:sp>
    </p:spTree>
    <p:extLst>
      <p:ext uri="{BB962C8B-B14F-4D97-AF65-F5344CB8AC3E}">
        <p14:creationId xmlns:p14="http://schemas.microsoft.com/office/powerpoint/2010/main" val="1796905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</a:t>
            </a:r>
            <a:r>
              <a:rPr lang="en-HK" altLang="zh-CN" b="1" dirty="0"/>
              <a:t>5.1 </a:t>
            </a:r>
            <a:r>
              <a:rPr lang="en-US" altLang="zh-CN" b="1" dirty="0"/>
              <a:t>Consider the Following Response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140E36-BCA6-425A-9074-E9BFA0A39A27}"/>
              </a:ext>
            </a:extLst>
          </p:cNvPr>
          <p:cNvSpPr txBox="1">
            <a:spLocks/>
          </p:cNvSpPr>
          <p:nvPr/>
        </p:nvSpPr>
        <p:spPr>
          <a:xfrm>
            <a:off x="8742218" y="1472334"/>
            <a:ext cx="3304309" cy="12729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1. Did the server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successfully find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the document?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B993B0-775B-4F9C-ABAA-98333E9CA840}"/>
              </a:ext>
            </a:extLst>
          </p:cNvPr>
          <p:cNvSpPr txBox="1"/>
          <p:nvPr/>
        </p:nvSpPr>
        <p:spPr>
          <a:xfrm>
            <a:off x="8804563" y="2858015"/>
            <a:ext cx="2327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chemeClr val="accent1">
                    <a:lumMod val="75000"/>
                  </a:schemeClr>
                </a:solidFill>
              </a:rPr>
              <a:t>Yes</a:t>
            </a:r>
            <a:endParaRPr lang="en-US" sz="2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DC17833-84C4-48D3-A6C7-4809121587C7}"/>
              </a:ext>
            </a:extLst>
          </p:cNvPr>
          <p:cNvSpPr txBox="1">
            <a:spLocks/>
          </p:cNvSpPr>
          <p:nvPr/>
        </p:nvSpPr>
        <p:spPr>
          <a:xfrm>
            <a:off x="8742218" y="3794037"/>
            <a:ext cx="3304309" cy="19566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2. How many bytes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are being returned in the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document?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CB3BF5-E017-46FF-8B3D-3D6FD04A53FD}"/>
              </a:ext>
            </a:extLst>
          </p:cNvPr>
          <p:cNvSpPr txBox="1"/>
          <p:nvPr/>
        </p:nvSpPr>
        <p:spPr>
          <a:xfrm>
            <a:off x="8804563" y="5185611"/>
            <a:ext cx="2327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3505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77EA5-141F-4753-A3C8-508FB587083E}"/>
              </a:ext>
            </a:extLst>
          </p:cNvPr>
          <p:cNvSpPr txBox="1">
            <a:spLocks/>
          </p:cNvSpPr>
          <p:nvPr/>
        </p:nvSpPr>
        <p:spPr>
          <a:xfrm>
            <a:off x="284018" y="1571337"/>
            <a:ext cx="8181109" cy="47394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HTTP/1.1 200 OK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Date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Fri, 21 Jan 2022 06:38:29 GMT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Server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Apache/2.4.6 (CentOS)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OpenSSL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/1.0.2k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fips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PHP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/7.4.25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mod_perl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/2.0.11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Perl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/v5.16.3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Last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-Modified: Tue, 13 Jun 2006 16:13:58 GMT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ETag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"db1-4161d5aad1d80"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-Ranges: bytes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Content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-Length: 3505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Keep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-Alive: timeout=5, max=100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Connection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Keep-Alive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Content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-Type: text/html; charset=UTF-8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\r\n\r\n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&lt;!doctype html public "-//w3c//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dtd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html 4.0 transitional//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&lt;html&gt;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&lt;head&gt;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&lt;meta http-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equiv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="Content-Type" content="text/html; charset=iso-8859-1"&gt;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&lt;meta name="GENERATOR" content="Mozilla/4.79 [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] 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(Windows NT 5.0; U) [Netscape]"&gt;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&lt;title&gt;CMPSCI 453 / 591 / NTU-ST550A  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Spring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2005  homepage&lt;/title&gt;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&lt;/head&gt; &lt;much more document text following here (not shown)&gt;</a:t>
            </a:r>
          </a:p>
        </p:txBody>
      </p:sp>
    </p:spTree>
    <p:extLst>
      <p:ext uri="{BB962C8B-B14F-4D97-AF65-F5344CB8AC3E}">
        <p14:creationId xmlns:p14="http://schemas.microsoft.com/office/powerpoint/2010/main" val="481406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</a:t>
            </a:r>
            <a:r>
              <a:rPr lang="en-HK" altLang="zh-CN" b="1" dirty="0"/>
              <a:t>5.2 </a:t>
            </a:r>
            <a:r>
              <a:rPr lang="en-US" altLang="zh-CN" b="1" dirty="0"/>
              <a:t>Consider the Following Response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18" y="1571337"/>
            <a:ext cx="8181109" cy="4739408"/>
          </a:xfrm>
        </p:spPr>
        <p:txBody>
          <a:bodyPr>
            <a:noAutofit/>
          </a:bodyPr>
          <a:lstStyle/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HTTP/1.1 200 OK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Date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Fri, 21 Jan 2022 06:38:29 GMT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Server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Apache/2.4.6 (CentOS)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OpenSSL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/1.0.2k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fips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PHP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/7.4.25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mod_perl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/2.0.11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Perl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/v5.16.3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Last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-Modified: Tue, 13 Jun 2006 16:13:58 GMT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ETag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"db1-4161d5aad1d80"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-Ranges: bytes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Content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-Length: 3505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Keep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-Alive: timeout=5, max=100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Connection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Keep-Alive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Content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-Type: text/html; charset=UTF-8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\r\n\r\n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&lt;!doctype html public "-//w3c//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dtd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html 4.0 transitional//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&lt;html&gt;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&lt;head&gt;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&lt;meta http-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equiv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="Content-Type" content="text/html; charset=iso-8859-1"&gt;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&lt;meta name="GENERATOR" content="Mozilla/4.79 [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] 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(Windows NT 5.0; U) [Netscape]"&gt;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&lt;title&gt;CMPSCI 453 / 591 / NTU-ST550A  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Spring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2005  homepage&lt;/title&gt;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&lt;/head&gt; &lt;much more document text following here (not shown)&gt;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140E36-BCA6-425A-9074-E9BFA0A39A27}"/>
              </a:ext>
            </a:extLst>
          </p:cNvPr>
          <p:cNvSpPr txBox="1">
            <a:spLocks/>
          </p:cNvSpPr>
          <p:nvPr/>
        </p:nvSpPr>
        <p:spPr>
          <a:xfrm>
            <a:off x="8742218" y="1472334"/>
            <a:ext cx="3304309" cy="12729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1. What are the first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5 bytes of the document being returned?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B993B0-775B-4F9C-ABAA-98333E9CA840}"/>
              </a:ext>
            </a:extLst>
          </p:cNvPr>
          <p:cNvSpPr txBox="1"/>
          <p:nvPr/>
        </p:nvSpPr>
        <p:spPr>
          <a:xfrm>
            <a:off x="8804563" y="2858015"/>
            <a:ext cx="2327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chemeClr val="accent1">
                    <a:lumMod val="75000"/>
                  </a:schemeClr>
                </a:solidFill>
              </a:rPr>
              <a:t>&lt;!doc</a:t>
            </a:r>
            <a:endParaRPr lang="en-US" sz="2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DC17833-84C4-48D3-A6C7-4809121587C7}"/>
              </a:ext>
            </a:extLst>
          </p:cNvPr>
          <p:cNvSpPr txBox="1">
            <a:spLocks/>
          </p:cNvSpPr>
          <p:nvPr/>
        </p:nvSpPr>
        <p:spPr>
          <a:xfrm>
            <a:off x="8742218" y="3794037"/>
            <a:ext cx="3304309" cy="19566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2. Did the server agree to a persistent connection?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CB3BF5-E017-46FF-8B3D-3D6FD04A53FD}"/>
              </a:ext>
            </a:extLst>
          </p:cNvPr>
          <p:cNvSpPr txBox="1"/>
          <p:nvPr/>
        </p:nvSpPr>
        <p:spPr>
          <a:xfrm>
            <a:off x="8804563" y="5185611"/>
            <a:ext cx="2327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530493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3A16D17-E2D3-4A8D-B30D-A20DE8DB8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HTTP Connections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876CB890-2F12-4E11-AFB3-B6FDCDFE7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639" y="1924152"/>
            <a:ext cx="5645361" cy="3513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EA9071D4-B889-4590-8ACB-260E28718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729596"/>
            <a:ext cx="6248400" cy="434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CC5C230-674C-46E7-BE34-0A186E277C28}"/>
              </a:ext>
            </a:extLst>
          </p:cNvPr>
          <p:cNvSpPr txBox="1"/>
          <p:nvPr/>
        </p:nvSpPr>
        <p:spPr>
          <a:xfrm>
            <a:off x="528460" y="6181217"/>
            <a:ext cx="3917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dirty="0">
                <a:hlinkClick r:id="rId4"/>
              </a:rPr>
              <a:t>HTTP persistent connection – Wikipedia</a:t>
            </a:r>
            <a:endParaRPr lang="en-HK" dirty="0"/>
          </a:p>
          <a:p>
            <a:r>
              <a:rPr lang="en-HK" dirty="0">
                <a:hlinkClick r:id="rId5"/>
              </a:rPr>
              <a:t>HTTP pipelining - Wikipedia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783104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Q6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325562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You request a very small HTML file from a server. This HTML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references eight other very small images. Let X denote the RTT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between the localhost and the server. How much time elapses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with: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3938365"/>
            <a:ext cx="97951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800" dirty="0"/>
              <a:t>1. </a:t>
            </a:r>
            <a:r>
              <a:rPr lang="en-US" sz="2800" dirty="0"/>
              <a:t>Non-persistent HTTP with no parallel TCP connections</a:t>
            </a:r>
            <a:endParaRPr lang="en-HK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FB35E-000B-487E-B98E-ED33C98C7DB6}"/>
              </a:ext>
            </a:extLst>
          </p:cNvPr>
          <p:cNvSpPr txBox="1"/>
          <p:nvPr/>
        </p:nvSpPr>
        <p:spPr>
          <a:xfrm>
            <a:off x="838200" y="4613985"/>
            <a:ext cx="979516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800" dirty="0"/>
              <a:t>2. </a:t>
            </a:r>
            <a:r>
              <a:rPr lang="en-US" sz="2800" dirty="0"/>
              <a:t>Non-persistent HTTP with the browser configured for 5 parallel </a:t>
            </a:r>
          </a:p>
          <a:p>
            <a:r>
              <a:rPr lang="en-US" sz="2800" dirty="0"/>
              <a:t>connections</a:t>
            </a:r>
            <a:endParaRPr lang="en-HK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5253AC-173F-4086-BE54-ED6380CAD181}"/>
              </a:ext>
            </a:extLst>
          </p:cNvPr>
          <p:cNvSpPr txBox="1"/>
          <p:nvPr/>
        </p:nvSpPr>
        <p:spPr>
          <a:xfrm>
            <a:off x="838200" y="5739456"/>
            <a:ext cx="97951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800" dirty="0"/>
              <a:t>3. </a:t>
            </a:r>
            <a:r>
              <a:rPr lang="en-US" sz="2800" dirty="0"/>
              <a:t>Persistent HTTP with pipelining</a:t>
            </a:r>
            <a:endParaRPr lang="en-HK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B67F5A-D374-4267-88D2-A0A1F1E1E092}"/>
                  </a:ext>
                </a:extLst>
              </p:cNvPr>
              <p:cNvSpPr txBox="1"/>
              <p:nvPr/>
            </p:nvSpPr>
            <p:spPr>
              <a:xfrm>
                <a:off x="9393381" y="3999920"/>
                <a:ext cx="232756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HK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9∗2</m:t>
                      </m:r>
                      <m:r>
                        <a:rPr lang="en-HK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HK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=18</m:t>
                      </m:r>
                      <m:r>
                        <a:rPr lang="en-HK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0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B67F5A-D374-4267-88D2-A0A1F1E1E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3381" y="3999920"/>
                <a:ext cx="2327563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H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593623-DC96-4C38-A12C-AD824F962C7C}"/>
                  </a:ext>
                </a:extLst>
              </p:cNvPr>
              <p:cNvSpPr txBox="1"/>
              <p:nvPr/>
            </p:nvSpPr>
            <p:spPr>
              <a:xfrm>
                <a:off x="2867891" y="5091038"/>
                <a:ext cx="33528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HK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=6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0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593623-DC96-4C38-A12C-AD824F962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7891" y="5091038"/>
                <a:ext cx="3352800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H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F7CC234-D458-4F4D-AC1A-5318789C1632}"/>
                  </a:ext>
                </a:extLst>
              </p:cNvPr>
              <p:cNvSpPr txBox="1"/>
              <p:nvPr/>
            </p:nvSpPr>
            <p:spPr>
              <a:xfrm>
                <a:off x="5881255" y="5801011"/>
                <a:ext cx="33528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0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F7CC234-D458-4F4D-AC1A-5318789C1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1255" y="5801011"/>
                <a:ext cx="335280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H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883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Open-source</a:t>
            </a:r>
            <a:r>
              <a:rPr lang="zh-CN" altLang="en-US" b="1" dirty="0"/>
              <a:t> </a:t>
            </a:r>
            <a:r>
              <a:rPr lang="en-US" altLang="zh-CN" b="1" dirty="0"/>
              <a:t>Project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182" y="2255117"/>
            <a:ext cx="10515600" cy="1325562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800" dirty="0"/>
              <a:t>http-parser: </a:t>
            </a:r>
            <a:r>
              <a:rPr lang="nb-NO" dirty="0">
                <a:hlinkClick r:id="rId2"/>
              </a:rPr>
              <a:t>nodejs/http-parser: http request/response parser for c (github.com)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7424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Summary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182" y="2255117"/>
            <a:ext cx="10515600" cy="1325562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800" dirty="0"/>
              <a:t>Non-persistent: redundant first handshake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800" dirty="0"/>
              <a:t>Parallel: redundant request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Pipelining: response </a:t>
            </a:r>
            <a:r>
              <a:rPr lang="en-HK" dirty="0"/>
              <a:t>“</a:t>
            </a:r>
            <a:r>
              <a:rPr lang="en-US" dirty="0"/>
              <a:t>in parallel”</a:t>
            </a:r>
          </a:p>
        </p:txBody>
      </p:sp>
    </p:spTree>
    <p:extLst>
      <p:ext uri="{BB962C8B-B14F-4D97-AF65-F5344CB8AC3E}">
        <p14:creationId xmlns:p14="http://schemas.microsoft.com/office/powerpoint/2010/main" val="31564972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432260" y="2951946"/>
            <a:ext cx="13274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/>
              <a:t>Q&amp;A</a:t>
            </a:r>
          </a:p>
          <a:p>
            <a:pPr algn="ctr"/>
            <a:r>
              <a:rPr lang="en-US" sz="2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2712</TotalTime>
  <Words>1163</Words>
  <Application>Microsoft Office PowerPoint</Application>
  <PresentationFormat>宽屏</PresentationFormat>
  <Paragraphs>148</Paragraphs>
  <Slides>20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8" baseType="lpstr">
      <vt:lpstr>等线</vt:lpstr>
      <vt:lpstr>等线 Light</vt:lpstr>
      <vt:lpstr>Arial</vt:lpstr>
      <vt:lpstr>Calibri</vt:lpstr>
      <vt:lpstr>Calibri Light</vt:lpstr>
      <vt:lpstr>Cambria Math</vt:lpstr>
      <vt:lpstr>Microsoft Himalaya</vt:lpstr>
      <vt:lpstr>Office Theme</vt:lpstr>
      <vt:lpstr>CSCI 4430 - FALL 25</vt:lpstr>
      <vt:lpstr>Assignment 1 </vt:lpstr>
      <vt:lpstr>Assignment 2&amp;3 Group</vt:lpstr>
      <vt:lpstr>Outline</vt:lpstr>
      <vt:lpstr>HTTP Request</vt:lpstr>
      <vt:lpstr>HTTP Request</vt:lpstr>
      <vt:lpstr>HTTP Response</vt:lpstr>
      <vt:lpstr>HTTP Response</vt:lpstr>
      <vt:lpstr>Q1 True or False</vt:lpstr>
      <vt:lpstr>Q2 True or False</vt:lpstr>
      <vt:lpstr>Q3 True or False</vt:lpstr>
      <vt:lpstr>Q4.1 Consider the Following Request</vt:lpstr>
      <vt:lpstr>Q4.2 Consider the Following Request</vt:lpstr>
      <vt:lpstr>Q5.1 Consider the Following Response</vt:lpstr>
      <vt:lpstr>Q5.2 Consider the Following Response</vt:lpstr>
      <vt:lpstr>HTTP Connections</vt:lpstr>
      <vt:lpstr>Q6</vt:lpstr>
      <vt:lpstr>Open-source Project</vt:lpstr>
      <vt:lpstr>Summary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admin</cp:lastModifiedBy>
  <cp:revision>130</cp:revision>
  <dcterms:created xsi:type="dcterms:W3CDTF">2022-01-09T08:27:06Z</dcterms:created>
  <dcterms:modified xsi:type="dcterms:W3CDTF">2025-09-14T04:49:11Z</dcterms:modified>
</cp:coreProperties>
</file>
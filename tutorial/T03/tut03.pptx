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93" r:id="rId3"/>
    <p:sldId id="258" r:id="rId4"/>
    <p:sldId id="259" r:id="rId5"/>
    <p:sldId id="282" r:id="rId6"/>
    <p:sldId id="274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4" r:id="rId15"/>
    <p:sldId id="290" r:id="rId16"/>
    <p:sldId id="292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170F1-21E7-4E48-8F6E-684554C3F2E3}" v="3" dt="2022-01-26T14:34:32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60" autoAdjust="0"/>
    <p:restoredTop sz="84848" autoAdjust="0"/>
  </p:normalViewPr>
  <p:slideViewPr>
    <p:cSldViewPr snapToGrid="0" snapToObjects="1">
      <p:cViewPr varScale="1">
        <p:scale>
          <a:sx n="97" d="100"/>
          <a:sy n="97" d="100"/>
        </p:scale>
        <p:origin x="4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AF170F1-21E7-4E48-8F6E-684554C3F2E3}"/>
    <pc:docChg chg="undo custSel addSld modSld">
      <pc:chgData name="SONG, Qingyu" userId="498998f4-7f18-4549-a740-dcfb6e1e3d22" providerId="ADAL" clId="{AAF170F1-21E7-4E48-8F6E-684554C3F2E3}" dt="2022-01-27T04:23:00.186" v="232" actId="20577"/>
      <pc:docMkLst>
        <pc:docMk/>
      </pc:docMkLst>
      <pc:sldChg chg="modSp mod">
        <pc:chgData name="SONG, Qingyu" userId="498998f4-7f18-4549-a740-dcfb6e1e3d22" providerId="ADAL" clId="{AAF170F1-21E7-4E48-8F6E-684554C3F2E3}" dt="2022-01-27T04:23:00.186" v="232" actId="20577"/>
        <pc:sldMkLst>
          <pc:docMk/>
          <pc:sldMk cId="1947847713" sldId="257"/>
        </pc:sldMkLst>
        <pc:spChg chg="mod">
          <ac:chgData name="SONG, Qingyu" userId="498998f4-7f18-4549-a740-dcfb6e1e3d22" providerId="ADAL" clId="{AAF170F1-21E7-4E48-8F6E-684554C3F2E3}" dt="2022-01-27T04:23:00.186" v="23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delSp modSp add mod delAnim">
        <pc:chgData name="SONG, Qingyu" userId="498998f4-7f18-4549-a740-dcfb6e1e3d22" providerId="ADAL" clId="{AAF170F1-21E7-4E48-8F6E-684554C3F2E3}" dt="2022-01-26T14:36:38.363" v="217" actId="12"/>
        <pc:sldMkLst>
          <pc:docMk/>
          <pc:sldMk cId="3156497293" sldId="290"/>
        </pc:sldMkLst>
        <pc:spChg chg="mod">
          <ac:chgData name="SONG, Qingyu" userId="498998f4-7f18-4549-a740-dcfb6e1e3d22" providerId="ADAL" clId="{AAF170F1-21E7-4E48-8F6E-684554C3F2E3}" dt="2022-01-26T14:33:51.858" v="10" actId="20577"/>
          <ac:spMkLst>
            <pc:docMk/>
            <pc:sldMk cId="3156497293" sldId="290"/>
            <ac:spMk id="2" creationId="{45C79BA1-37A3-5741-B0A1-E64646E4283C}"/>
          </ac:spMkLst>
        </pc:spChg>
        <pc:spChg chg="mod">
          <ac:chgData name="SONG, Qingyu" userId="498998f4-7f18-4549-a740-dcfb6e1e3d22" providerId="ADAL" clId="{AAF170F1-21E7-4E48-8F6E-684554C3F2E3}" dt="2022-01-26T14:36:38.363" v="217" actId="12"/>
          <ac:spMkLst>
            <pc:docMk/>
            <pc:sldMk cId="3156497293" sldId="290"/>
            <ac:spMk id="3" creationId="{8F20472D-613F-3748-9CBD-88055CDB4B08}"/>
          </ac:spMkLst>
        </pc:spChg>
        <pc:spChg chg="del">
          <ac:chgData name="SONG, Qingyu" userId="498998f4-7f18-4549-a740-dcfb6e1e3d22" providerId="ADAL" clId="{AAF170F1-21E7-4E48-8F6E-684554C3F2E3}" dt="2022-01-26T14:36:29.279" v="212" actId="478"/>
          <ac:spMkLst>
            <pc:docMk/>
            <pc:sldMk cId="3156497293" sldId="290"/>
            <ac:spMk id="5" creationId="{E3DFB35E-000B-487E-B98E-ED33C98C7DB6}"/>
          </ac:spMkLst>
        </pc:spChg>
        <pc:spChg chg="del">
          <ac:chgData name="SONG, Qingyu" userId="498998f4-7f18-4549-a740-dcfb6e1e3d22" providerId="ADAL" clId="{AAF170F1-21E7-4E48-8F6E-684554C3F2E3}" dt="2022-01-26T14:36:31.511" v="214" actId="478"/>
          <ac:spMkLst>
            <pc:docMk/>
            <pc:sldMk cId="3156497293" sldId="290"/>
            <ac:spMk id="6" creationId="{285253AC-173F-4086-BE54-ED6380CAD181}"/>
          </ac:spMkLst>
        </pc:spChg>
        <pc:spChg chg="del">
          <ac:chgData name="SONG, Qingyu" userId="498998f4-7f18-4549-a740-dcfb6e1e3d22" providerId="ADAL" clId="{AAF170F1-21E7-4E48-8F6E-684554C3F2E3}" dt="2022-01-26T14:36:26.556" v="210" actId="478"/>
          <ac:spMkLst>
            <pc:docMk/>
            <pc:sldMk cId="3156497293" sldId="290"/>
            <ac:spMk id="7" creationId="{B4F2FCAB-565E-4178-BECE-B014B8B03F74}"/>
          </ac:spMkLst>
        </pc:spChg>
        <pc:spChg chg="del">
          <ac:chgData name="SONG, Qingyu" userId="498998f4-7f18-4549-a740-dcfb6e1e3d22" providerId="ADAL" clId="{AAF170F1-21E7-4E48-8F6E-684554C3F2E3}" dt="2022-01-26T14:36:28.260" v="211" actId="478"/>
          <ac:spMkLst>
            <pc:docMk/>
            <pc:sldMk cId="3156497293" sldId="290"/>
            <ac:spMk id="8" creationId="{1DB67F5A-D374-4267-88D2-A0A1F1E1E092}"/>
          </ac:spMkLst>
        </pc:spChg>
        <pc:spChg chg="del">
          <ac:chgData name="SONG, Qingyu" userId="498998f4-7f18-4549-a740-dcfb6e1e3d22" providerId="ADAL" clId="{AAF170F1-21E7-4E48-8F6E-684554C3F2E3}" dt="2022-01-26T14:36:30.521" v="213" actId="478"/>
          <ac:spMkLst>
            <pc:docMk/>
            <pc:sldMk cId="3156497293" sldId="290"/>
            <ac:spMk id="9" creationId="{90593623-DC96-4C38-A12C-AD824F962C7C}"/>
          </ac:spMkLst>
        </pc:spChg>
        <pc:spChg chg="del">
          <ac:chgData name="SONG, Qingyu" userId="498998f4-7f18-4549-a740-dcfb6e1e3d22" providerId="ADAL" clId="{AAF170F1-21E7-4E48-8F6E-684554C3F2E3}" dt="2022-01-26T14:36:33.288" v="215" actId="478"/>
          <ac:spMkLst>
            <pc:docMk/>
            <pc:sldMk cId="3156497293" sldId="290"/>
            <ac:spMk id="10" creationId="{5F7CC234-D458-4F4D-AC1A-5318789C1632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  <pc:picChg chg="add">
          <ac:chgData name="SONG, Qingyu" userId="498998f4-7f18-4549-a740-dcfb6e1e3d22" providerId="ADAL" clId="{0F84402B-494A-D841-9A43-F49E88B6429E}" dt="2022-01-19T14:28:08.480" v="0"/>
          <ac:picMkLst>
            <pc:docMk/>
            <pc:sldMk cId="356419186" sldId="256"/>
            <ac:picMk id="6" creationId="{919BED88-AA1D-3144-ABB6-9C775BCC2765}"/>
          </ac:picMkLst>
        </pc:picChg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  <pc:spChg chg="mod">
          <ac:chgData name="SONG, Qingyu" userId="498998f4-7f18-4549-a740-dcfb6e1e3d22" providerId="ADAL" clId="{0F84402B-494A-D841-9A43-F49E88B6429E}" dt="2022-01-19T14:28:15.459" v="2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  <pc:spChg chg="mod">
          <ac:chgData name="SONG, Qingyu" userId="498998f4-7f18-4549-a740-dcfb6e1e3d22" providerId="ADAL" clId="{0F84402B-494A-D841-9A43-F49E88B6429E}" dt="2022-01-19T14:28:33.707" v="8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  <pc:spChg chg="mod">
          <ac:chgData name="SONG, Qingyu" userId="498998f4-7f18-4549-a740-dcfb6e1e3d22" providerId="ADAL" clId="{0F84402B-494A-D841-9A43-F49E88B6429E}" dt="2022-01-19T14:30:51.589" v="9" actId="20577"/>
          <ac:spMkLst>
            <pc:docMk/>
            <pc:sldMk cId="746100141" sldId="274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2:36.846" v="53" actId="20577"/>
          <ac:spMkLst>
            <pc:docMk/>
            <pc:sldMk cId="746100141" sldId="274"/>
            <ac:spMk id="3" creationId="{8F20472D-613F-3748-9CBD-88055CDB4B08}"/>
          </ac:spMkLst>
        </pc:spChg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  <pc:spChg chg="mod">
          <ac:chgData name="SONG, Qingyu" userId="498998f4-7f18-4549-a740-dcfb6e1e3d22" providerId="ADAL" clId="{0F84402B-494A-D841-9A43-F49E88B6429E}" dt="2022-01-19T14:30:56.113" v="10"/>
          <ac:spMkLst>
            <pc:docMk/>
            <pc:sldMk cId="442365464" sldId="275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19T14:53:09.710" v="57" actId="20577"/>
          <ac:spMkLst>
            <pc:docMk/>
            <pc:sldMk cId="442365464" sldId="275"/>
            <ac:spMk id="3" creationId="{8F20472D-613F-3748-9CBD-88055CDB4B08}"/>
          </ac:spMkLst>
        </pc:spChg>
        <pc:spChg chg="mod">
          <ac:chgData name="SONG, Qingyu" userId="498998f4-7f18-4549-a740-dcfb6e1e3d22" providerId="ADAL" clId="{0F84402B-494A-D841-9A43-F49E88B6429E}" dt="2022-01-19T14:52:30.806" v="49" actId="1036"/>
          <ac:spMkLst>
            <pc:docMk/>
            <pc:sldMk cId="442365464" sldId="275"/>
            <ac:spMk id="7" creationId="{B4F2FCAB-565E-4178-BECE-B014B8B03F74}"/>
          </ac:spMkLst>
        </pc:spChg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  <pc:spChg chg="mod">
          <ac:chgData name="SONG, Qingyu" userId="498998f4-7f18-4549-a740-dcfb6e1e3d22" providerId="ADAL" clId="{0F84402B-494A-D841-9A43-F49E88B6429E}" dt="2022-01-19T14:31:04.578" v="12"/>
          <ac:spMkLst>
            <pc:docMk/>
            <pc:sldMk cId="3494430642" sldId="276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  <pc:spChg chg="mod">
          <ac:chgData name="SONG, Qingyu" userId="498998f4-7f18-4549-a740-dcfb6e1e3d22" providerId="ADAL" clId="{0F84402B-494A-D841-9A43-F49E88B6429E}" dt="2022-01-19T14:31:06.498" v="13" actId="20577"/>
          <ac:spMkLst>
            <pc:docMk/>
            <pc:sldMk cId="4278079293" sldId="277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31.128" v="89" actId="20577"/>
          <ac:spMkLst>
            <pc:docMk/>
            <pc:sldMk cId="4278079293" sldId="277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  <pc:spChg chg="mod">
          <ac:chgData name="SONG, Qingyu" userId="498998f4-7f18-4549-a740-dcfb6e1e3d22" providerId="ADAL" clId="{0F84402B-494A-D841-9A43-F49E88B6429E}" dt="2022-01-19T14:31:13.089" v="14"/>
          <ac:spMkLst>
            <pc:docMk/>
            <pc:sldMk cId="3882663473" sldId="278"/>
            <ac:spMk id="2" creationId="{45C79BA1-37A3-5741-B0A1-E64646E4283C}"/>
          </ac:spMkLst>
        </pc:spChg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  <pc:spChg chg="mod">
          <ac:chgData name="SONG, Qingyu" userId="498998f4-7f18-4549-a740-dcfb6e1e3d22" providerId="ADAL" clId="{0F84402B-494A-D841-9A43-F49E88B6429E}" dt="2022-01-19T14:31:16.215" v="15"/>
          <ac:spMkLst>
            <pc:docMk/>
            <pc:sldMk cId="3927078520" sldId="279"/>
            <ac:spMk id="2" creationId="{45C79BA1-37A3-5741-B0A1-E64646E4283C}"/>
          </ac:spMkLst>
        </pc:spChg>
        <pc:spChg chg="mod">
          <ac:chgData name="SONG, Qingyu" userId="498998f4-7f18-4549-a740-dcfb6e1e3d22" providerId="ADAL" clId="{0F84402B-494A-D841-9A43-F49E88B6429E}" dt="2022-01-20T01:06:45.773" v="90"/>
          <ac:spMkLst>
            <pc:docMk/>
            <pc:sldMk cId="3927078520" sldId="279"/>
            <ac:spMk id="3" creationId="{8F20472D-613F-3748-9CBD-88055CDB4B08}"/>
          </ac:spMkLst>
        </pc:spChg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  <pc:spChg chg="mod">
          <ac:chgData name="SONG, Qingyu" userId="498998f4-7f18-4549-a740-dcfb6e1e3d22" providerId="ADAL" clId="{0F84402B-494A-D841-9A43-F49E88B6429E}" dt="2022-01-19T14:31:20.046" v="16"/>
          <ac:spMkLst>
            <pc:docMk/>
            <pc:sldMk cId="1261831385" sldId="280"/>
            <ac:spMk id="2" creationId="{45C79BA1-37A3-5741-B0A1-E64646E4283C}"/>
          </ac:spMkLst>
        </pc:spChg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  <pc:spChg chg="mod">
          <ac:chgData name="SONG, Qingyu" userId="498998f4-7f18-4549-a740-dcfb6e1e3d22" providerId="ADAL" clId="{0F84402B-494A-D841-9A43-F49E88B6429E}" dt="2022-01-19T14:55:18" v="62" actId="20577"/>
          <ac:spMkLst>
            <pc:docMk/>
            <pc:sldMk cId="11664182" sldId="28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C180A1-1F0C-4A71-B8A3-AA47FCAE6790}" type="datetimeFigureOut">
              <a:rPr lang="en-HK" smtClean="0"/>
              <a:t>21/1/2025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3D3AD6-25BE-408D-BED6-106C0DD989BD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373202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0520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7E5830-6A7B-473E-B69D-2E2616132BAF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04385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3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248835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537986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59591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104087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3D3AD6-25BE-408D-BED6-106C0DD989BD}" type="slidenum">
              <a:rPr lang="en-HK" smtClean="0"/>
              <a:t>14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74891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TTP_pipelining" TargetMode="External"/><Relationship Id="rId4" Type="http://schemas.openxmlformats.org/officeDocument/2006/relationships/hyperlink" Target="https://en.wikipedia.org/wiki/HTTP_persistent_connection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</a:t>
            </a:r>
            <a:r>
              <a:rPr lang="en-US" sz="6600" b="1" dirty="0" smtClean="0"/>
              <a:t>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3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3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594" y="149951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Due: </a:t>
            </a:r>
            <a:r>
              <a:rPr lang="en-HK" sz="3200" dirty="0">
                <a:solidFill>
                  <a:srgbClr val="FF0000"/>
                </a:solidFill>
              </a:rPr>
              <a:t>11:59:59 p.m., Sat, F</a:t>
            </a:r>
            <a:r>
              <a:rPr lang="en-US" altLang="zh-CN" sz="3200" dirty="0">
                <a:solidFill>
                  <a:srgbClr val="FF0000"/>
                </a:solidFill>
              </a:rPr>
              <a:t>eb</a:t>
            </a:r>
            <a:r>
              <a:rPr lang="en-HK" sz="3200" dirty="0">
                <a:solidFill>
                  <a:srgbClr val="FF0000"/>
                </a:solidFill>
              </a:rPr>
              <a:t>. </a:t>
            </a:r>
            <a:r>
              <a:rPr lang="en-US" sz="3200" dirty="0">
                <a:solidFill>
                  <a:srgbClr val="FF0000"/>
                </a:solidFill>
              </a:rPr>
              <a:t>1st</a:t>
            </a:r>
          </a:p>
          <a:p>
            <a:endParaRPr lang="en-US" sz="3200" dirty="0">
              <a:solidFill>
                <a:srgbClr val="FF0000"/>
              </a:solidFill>
            </a:endParaRPr>
          </a:p>
          <a:p>
            <a:endParaRPr lang="en-US" sz="3200" dirty="0">
              <a:solidFill>
                <a:srgbClr val="FF0000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148393-6CCB-44FE-80D6-264EBD55C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97" y="2077598"/>
            <a:ext cx="6070917" cy="292620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8500EE3-5D69-464B-86C6-810B4B529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11" y="2140242"/>
            <a:ext cx="4828567" cy="390243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6A98220-9D71-40C9-AF25-67464820F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4632" y="2871239"/>
            <a:ext cx="2300262" cy="95919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F1D3F1C2-C0E3-4976-93C2-29E5E2E3E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464" y="3911301"/>
            <a:ext cx="1542081" cy="10700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3EC4E7F-4158-448B-991A-F95A51025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7041" y="3299031"/>
            <a:ext cx="1542081" cy="25912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E9A1B174-3DA2-4036-B5CF-D675C31532A0}"/>
              </a:ext>
            </a:extLst>
          </p:cNvPr>
          <p:cNvSpPr/>
          <p:nvPr/>
        </p:nvSpPr>
        <p:spPr>
          <a:xfrm>
            <a:off x="4971119" y="2367087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E4DFA63-AADE-47E2-8269-BD7E2ADF5265}"/>
              </a:ext>
            </a:extLst>
          </p:cNvPr>
          <p:cNvCxnSpPr>
            <a:cxnSpLocks/>
          </p:cNvCxnSpPr>
          <p:nvPr/>
        </p:nvCxnSpPr>
        <p:spPr>
          <a:xfrm>
            <a:off x="5345906" y="2588419"/>
            <a:ext cx="526599" cy="6663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27A2696C-2D8B-46BD-AFAC-D75B5B4E8F4B}"/>
              </a:ext>
            </a:extLst>
          </p:cNvPr>
          <p:cNvSpPr/>
          <p:nvPr/>
        </p:nvSpPr>
        <p:spPr>
          <a:xfrm>
            <a:off x="6975505" y="2121060"/>
            <a:ext cx="8512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95DF65D-9D66-4C32-80E7-BB27574D98A9}"/>
              </a:ext>
            </a:extLst>
          </p:cNvPr>
          <p:cNvCxnSpPr>
            <a:cxnSpLocks/>
          </p:cNvCxnSpPr>
          <p:nvPr/>
        </p:nvCxnSpPr>
        <p:spPr>
          <a:xfrm>
            <a:off x="7873958" y="2283072"/>
            <a:ext cx="1781594" cy="9716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240F4E0-BED2-4121-8E96-E0B8B564A9F1}"/>
              </a:ext>
            </a:extLst>
          </p:cNvPr>
          <p:cNvSpPr/>
          <p:nvPr/>
        </p:nvSpPr>
        <p:spPr>
          <a:xfrm>
            <a:off x="4453174" y="2368998"/>
            <a:ext cx="51794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4354CD-9609-44F6-A39F-8F04899C6E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470" y="3341111"/>
            <a:ext cx="4099442" cy="3325377"/>
          </a:xfrm>
          <a:prstGeom prst="rect">
            <a:avLst/>
          </a:prstGeom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6D395BC-64BB-4891-8E2A-1FACC2727795}"/>
              </a:ext>
            </a:extLst>
          </p:cNvPr>
          <p:cNvCxnSpPr>
            <a:cxnSpLocks/>
          </p:cNvCxnSpPr>
          <p:nvPr/>
        </p:nvCxnSpPr>
        <p:spPr>
          <a:xfrm>
            <a:off x="4805895" y="2588419"/>
            <a:ext cx="321146" cy="14912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E093CB40-FC0F-4100-8325-83CE6744067B}"/>
              </a:ext>
            </a:extLst>
          </p:cNvPr>
          <p:cNvSpPr/>
          <p:nvPr/>
        </p:nvSpPr>
        <p:spPr>
          <a:xfrm>
            <a:off x="921823" y="3328411"/>
            <a:ext cx="258972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3712862-03A5-4B60-BE61-B1F0AF6D3EE9}"/>
              </a:ext>
            </a:extLst>
          </p:cNvPr>
          <p:cNvSpPr/>
          <p:nvPr/>
        </p:nvSpPr>
        <p:spPr>
          <a:xfrm>
            <a:off x="921823" y="2077598"/>
            <a:ext cx="2113477" cy="1841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4862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HTTP Request</a:t>
            </a:r>
          </a:p>
          <a:p>
            <a:r>
              <a:rPr lang="en-US" sz="3200" dirty="0"/>
              <a:t>HTTP Response</a:t>
            </a:r>
          </a:p>
          <a:p>
            <a:r>
              <a:rPr lang="en-US" altLang="zh-CN" sz="3200" dirty="0"/>
              <a:t>Exercises</a:t>
            </a:r>
          </a:p>
          <a:p>
            <a:r>
              <a:rPr lang="en-US" altLang="zh-CN" sz="3200" dirty="0"/>
              <a:t>Quiz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HTTP Request</a:t>
            </a:r>
          </a:p>
        </p:txBody>
      </p:sp>
      <p:pic>
        <p:nvPicPr>
          <p:cNvPr id="7" name="Content Placeholder 6" descr="Graphical user interface&#10;&#10;Description automatically generated">
            <a:extLst>
              <a:ext uri="{FF2B5EF4-FFF2-40B4-BE49-F238E27FC236}">
                <a16:creationId xmlns:a16="http://schemas.microsoft.com/office/drawing/2014/main" id="{17577C16-079E-4952-83FD-888293C83B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31828" y="1825625"/>
            <a:ext cx="6928344" cy="4351338"/>
          </a:xfrm>
        </p:spPr>
      </p:pic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HTTP Response</a:t>
            </a:r>
          </a:p>
        </p:txBody>
      </p:sp>
      <p:pic>
        <p:nvPicPr>
          <p:cNvPr id="6" name="Content Placeholder 5" descr="Diagram&#10;&#10;Description automatically generated with low confidence">
            <a:extLst>
              <a:ext uri="{FF2B5EF4-FFF2-40B4-BE49-F238E27FC236}">
                <a16:creationId xmlns:a16="http://schemas.microsoft.com/office/drawing/2014/main" id="{A700B8F1-E63D-4F1D-95AA-573D9C5397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9187" y="1825625"/>
            <a:ext cx="6893625" cy="4351338"/>
          </a:xfrm>
        </p:spPr>
      </p:pic>
    </p:spTree>
    <p:extLst>
      <p:ext uri="{BB962C8B-B14F-4D97-AF65-F5344CB8AC3E}">
        <p14:creationId xmlns:p14="http://schemas.microsoft.com/office/powerpoint/2010/main" val="2673518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Q1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850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HTTP response messages never have an empty message body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2414032"/>
            <a:ext cx="97951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False.</a:t>
            </a:r>
          </a:p>
          <a:p>
            <a:r>
              <a:rPr lang="en-US" sz="2800" dirty="0">
                <a:solidFill>
                  <a:srgbClr val="FF0000"/>
                </a:solidFill>
              </a:rPr>
              <a:t>• Some HTTP response messages have an empty message body. </a:t>
            </a: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HTTP Status-Code of 200 for HEAD request can be sent without message-body</a:t>
            </a: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HTTP Status-Code of 204 and 304 MUST NOT include a message body. (RFC 2616) </a:t>
            </a:r>
            <a:endParaRPr lang="en-HK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Q2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Two distinct Web pages (for example, www.mit.edu/research.html and www.mit.edu/students.html) can be sent over the same persistent connection.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429000"/>
            <a:ext cx="97951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1">
                    <a:lumMod val="75000"/>
                  </a:schemeClr>
                </a:solidFill>
              </a:rPr>
              <a:t>True. </a:t>
            </a:r>
          </a:p>
          <a:p>
            <a:r>
              <a:rPr lang="en-US" sz="2800" dirty="0">
                <a:solidFill>
                  <a:schemeClr val="accent1">
                    <a:lumMod val="75000"/>
                  </a:schemeClr>
                </a:solidFill>
              </a:rPr>
              <a:t>• It is because both of these web pages are on the same physical server (www.mit.edu).</a:t>
            </a:r>
            <a:endParaRPr lang="en-HK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237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Q3 True or False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With non-persistent connections between browser and origin server, it is possible for a single TCP segment to carry two distinct HTTP request messages.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429000"/>
            <a:ext cx="979516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False.</a:t>
            </a:r>
          </a:p>
          <a:p>
            <a:r>
              <a:rPr lang="en-US" sz="2800" dirty="0">
                <a:solidFill>
                  <a:srgbClr val="FF0000"/>
                </a:solidFill>
              </a:rPr>
              <a:t>• In a non-persistent connection, the connection closes after each request-response. In this case, the connection will close once the first message is received, and there will be a new connection opened to send the second message.</a:t>
            </a:r>
            <a:endParaRPr lang="en-HK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972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Q4.1 Consider the Following Request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337"/>
            <a:ext cx="7197436" cy="492153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GET /cs453/index.html HTTP/1.1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Host: gaia.cs.umass.edu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Connection: keep-alive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Cache-Control: max-age=0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Upgrade-Insecure-Requests: 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User-Agent: Mozilla/5.0 (Windows NT 10.0; Win64; x64)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AppleWebKit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/537.36 (KHTML, like Gecko) Chrome/97.0.4692.71 Safari/537.36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Edg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/97.0.1072.62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Accept: text/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xhtml+xml,application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xml;q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=0.9,image/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webp,image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apng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,*/*;q=0.8,application/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signed-exchange;v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=b3;q=0.9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Accept-Encoding: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gzip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 deflate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Accept-Language: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en-US,en;q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If-None-Match: "db1-4161d5aad1d80"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If-Modified-Since: Tue, 13 Jun 2006 16:13:58 GMT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1. What is the URL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(w/o scheme) of the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document requested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by the browser?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EE766A3-14D8-4D99-B605-4AB17C302828}"/>
              </a:ext>
            </a:extLst>
          </p:cNvPr>
          <p:cNvSpPr txBox="1">
            <a:spLocks/>
          </p:cNvSpPr>
          <p:nvPr/>
        </p:nvSpPr>
        <p:spPr>
          <a:xfrm>
            <a:off x="8742217" y="3976248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2. Does the browser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request a persistent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or non-persistent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dirty="0"/>
              <a:t>connection?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3085053"/>
            <a:ext cx="232756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gaia.cs.umass.edu/ </a:t>
            </a:r>
          </a:p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cs453/index.html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7A1CFB-88C6-4AE8-8B97-8B267329D727}"/>
              </a:ext>
            </a:extLst>
          </p:cNvPr>
          <p:cNvSpPr txBox="1"/>
          <p:nvPr/>
        </p:nvSpPr>
        <p:spPr>
          <a:xfrm>
            <a:off x="8804563" y="5668393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Persistent</a:t>
            </a:r>
          </a:p>
        </p:txBody>
      </p:sp>
    </p:spTree>
    <p:extLst>
      <p:ext uri="{BB962C8B-B14F-4D97-AF65-F5344CB8AC3E}">
        <p14:creationId xmlns:p14="http://schemas.microsoft.com/office/powerpoint/2010/main" val="196519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Q4</a:t>
            </a:r>
            <a:r>
              <a:rPr lang="en-HK" altLang="zh-CN" b="1" dirty="0"/>
              <a:t>.2</a:t>
            </a:r>
            <a:r>
              <a:rPr lang="en-US" altLang="zh-CN" b="1" dirty="0"/>
              <a:t> Consider the Following Request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337"/>
            <a:ext cx="7197436" cy="492153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GET /cs453/index.html HTTP/1.1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Host: gaia.cs.umass.edu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Connection: keep-alive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Cache-Control: max-age=0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Upgrade-Insecure-Requests: 1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User-Agent: Mozilla/5.0 (Windows NT 10.0; Win64; x64)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AppleWebKit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/537.36 (KHTML, like Gecko) Chrome/97.0.4692.71 Safari/537.36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Edg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/97.0.1072.62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Accept: text/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xhtml+xml,application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xml;q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=0.9,image/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webp,image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apng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,*/*;q=0.8,application/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signed-exchange;v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=b3;q=0.9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Accept-Encoding: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gzip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, deflate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Accept-Language: </a:t>
            </a:r>
            <a:r>
              <a:rPr lang="en-US" sz="2400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en-US,en;q</a:t>
            </a: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=0.9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If-None-Match: "db1-4161d5aad1d80"</a:t>
            </a:r>
          </a:p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If-Modified-Since: Tue, 13 Jun 2006 16:13:58 GMT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582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What type of browser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initiates this message?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Why is browser type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needed in an HTTP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request message?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3613578"/>
            <a:ext cx="295101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Mozilla/5.0</a:t>
            </a:r>
          </a:p>
          <a:p>
            <a:endParaRPr lang="en-US" altLang="zh-CN" sz="20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ifferent browsers may handle the same webpage differently, due to having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1796905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</a:t>
            </a:r>
            <a:r>
              <a:rPr lang="en-HK" altLang="zh-CN" b="1" dirty="0"/>
              <a:t>5.1 </a:t>
            </a:r>
            <a:r>
              <a:rPr lang="en-US" altLang="zh-CN" b="1" dirty="0"/>
              <a:t>Consider the Following Response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2729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Did the server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successfully find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the document?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2858015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Yes</a:t>
            </a: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C17833-84C4-48D3-A6C7-4809121587C7}"/>
              </a:ext>
            </a:extLst>
          </p:cNvPr>
          <p:cNvSpPr txBox="1">
            <a:spLocks/>
          </p:cNvSpPr>
          <p:nvPr/>
        </p:nvSpPr>
        <p:spPr>
          <a:xfrm>
            <a:off x="8742218" y="3794037"/>
            <a:ext cx="3304309" cy="19566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2. How many bytes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are being returned in the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document?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B3BF5-E017-46FF-8B3D-3D6FD04A53FD}"/>
              </a:ext>
            </a:extLst>
          </p:cNvPr>
          <p:cNvSpPr txBox="1"/>
          <p:nvPr/>
        </p:nvSpPr>
        <p:spPr>
          <a:xfrm>
            <a:off x="8804563" y="5185611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3505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77EA5-141F-4753-A3C8-508FB587083E}"/>
              </a:ext>
            </a:extLst>
          </p:cNvPr>
          <p:cNvSpPr txBox="1">
            <a:spLocks/>
          </p:cNvSpPr>
          <p:nvPr/>
        </p:nvSpPr>
        <p:spPr>
          <a:xfrm>
            <a:off x="284018" y="1571337"/>
            <a:ext cx="8181109" cy="47394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HTTP/1.1 200 OK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Date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Fri, 21 Jan 2022 06:38:29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Server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Apache/2.4.6 (CentOS)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OpenSSL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/1.0.2k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fips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PHP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/7.4.25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mod_perl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/2.0.11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/v5.16.3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Last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-Modified: Tue, 13 Jun 2006 16:13:58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ETag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"db1-4161d5aad1d80"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-Ranges: bytes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-Length: 3505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Keep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-Alive: timeout=5, max=100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Keep-Alive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-Type: text/html; charset=UTF-8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\r\n\r\n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&lt;!doctype html public "-//w3c//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dtd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html 4.0 transitional//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&lt;html&gt;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&lt;head&gt;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http-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equiv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="Content-Type" content="text/html; charset=iso-8859-1"&gt;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name="GENERATOR" content="Mozilla/4.79 [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]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(Windows NT 5.0; U) [Netscape]"&gt;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&lt;title&gt;CMPSCI 453 / 591 / NTU-ST550A 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Spring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2005  homepage&lt;/title&gt;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&lt;/head&gt; &lt;much more document text following here (not shown)&gt;</a:t>
            </a:r>
          </a:p>
        </p:txBody>
      </p:sp>
    </p:spTree>
    <p:extLst>
      <p:ext uri="{BB962C8B-B14F-4D97-AF65-F5344CB8AC3E}">
        <p14:creationId xmlns:p14="http://schemas.microsoft.com/office/powerpoint/2010/main" val="48140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</a:t>
            </a:r>
            <a:r>
              <a:rPr lang="en-HK" altLang="zh-CN" b="1" dirty="0"/>
              <a:t>5.2 </a:t>
            </a:r>
            <a:r>
              <a:rPr lang="en-US" altLang="zh-CN" b="1" dirty="0"/>
              <a:t>Consider the Following Response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18" y="1571337"/>
            <a:ext cx="8181109" cy="4739408"/>
          </a:xfrm>
        </p:spPr>
        <p:txBody>
          <a:bodyPr>
            <a:noAutofit/>
          </a:bodyPr>
          <a:lstStyle/>
          <a:p>
            <a:pPr marL="0" indent="0" eaLnBrk="0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HTTP/1.1 200 OK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Date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Fri, 21 Jan 2022 06:38:29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Server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Apache/2.4.6 (CentOS)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OpenSSL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/1.0.2k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fips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PHP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/7.4.25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mod_perl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/2.0.11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Perl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/v5.16.3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Last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-Modified: Tue, 13 Jun 2006 16:13:58 GMT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ETag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"db1-4161d5aad1d80"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Accept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-Ranges: bytes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-Length: 3505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Keep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-Alive: timeout=5, max=100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Connection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: Keep-Alive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Content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-Type: text/html; charset=UTF-8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\r\n\r\n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&lt;!doctype html public "-//w3c//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dtd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html 4.0 transitional//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&lt;html&gt;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&lt;head&gt;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http-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equiv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="Content-Type" content="text/html; charset=iso-8859-1"&gt;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&lt;meta name="GENERATOR" content="Mozilla/4.79 [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en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]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(Windows NT 5.0; U) [Netscape]"&gt;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  &lt;title&gt;CMPSCI 453 / 591 / NTU-ST550A  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</a:t>
            </a:r>
            <a:r>
              <a:rPr lang="en-US" b="1" dirty="0" err="1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n</a:t>
            </a:r>
            <a:r>
              <a:rPr lang="en-US" b="1" dirty="0" err="1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Spring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 2005  homepage&lt;/title&gt;</a:t>
            </a:r>
            <a:r>
              <a:rPr lang="en-US" b="1" dirty="0">
                <a:solidFill>
                  <a:srgbClr val="FF0000"/>
                </a:solidFill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\n</a:t>
            </a:r>
            <a:r>
              <a:rPr lang="en-US" b="1" dirty="0">
                <a:latin typeface="Microsoft Himalaya" panose="01010100010101010101" pitchFamily="2" charset="0"/>
                <a:ea typeface="Microsoft Himalaya" panose="01010100010101010101" pitchFamily="2" charset="0"/>
                <a:cs typeface="Microsoft Himalaya" panose="01010100010101010101" pitchFamily="2" charset="0"/>
              </a:rPr>
              <a:t>&lt;/head&gt; &lt;much more document text following here (not shown)&gt;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140E36-BCA6-425A-9074-E9BFA0A39A27}"/>
              </a:ext>
            </a:extLst>
          </p:cNvPr>
          <p:cNvSpPr txBox="1">
            <a:spLocks/>
          </p:cNvSpPr>
          <p:nvPr/>
        </p:nvSpPr>
        <p:spPr>
          <a:xfrm>
            <a:off x="8742218" y="1472334"/>
            <a:ext cx="3304309" cy="12729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1. What are the first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5 bytes of the document being returned?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993B0-775B-4F9C-ABAA-98333E9CA840}"/>
              </a:ext>
            </a:extLst>
          </p:cNvPr>
          <p:cNvSpPr txBox="1"/>
          <p:nvPr/>
        </p:nvSpPr>
        <p:spPr>
          <a:xfrm>
            <a:off x="8804563" y="2858015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chemeClr val="accent1">
                    <a:lumMod val="75000"/>
                  </a:schemeClr>
                </a:solidFill>
              </a:rPr>
              <a:t>&lt;!doc</a:t>
            </a: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C17833-84C4-48D3-A6C7-4809121587C7}"/>
              </a:ext>
            </a:extLst>
          </p:cNvPr>
          <p:cNvSpPr txBox="1">
            <a:spLocks/>
          </p:cNvSpPr>
          <p:nvPr/>
        </p:nvSpPr>
        <p:spPr>
          <a:xfrm>
            <a:off x="8742218" y="3794037"/>
            <a:ext cx="3304309" cy="19566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2. Did the server agree to a persistent connection?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B3BF5-E017-46FF-8B3D-3D6FD04A53FD}"/>
              </a:ext>
            </a:extLst>
          </p:cNvPr>
          <p:cNvSpPr txBox="1"/>
          <p:nvPr/>
        </p:nvSpPr>
        <p:spPr>
          <a:xfrm>
            <a:off x="8804563" y="5185611"/>
            <a:ext cx="23275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53049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3A16D17-E2D3-4A8D-B30D-A20DE8DB8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HTTP Connections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876CB890-2F12-4E11-AFB3-B6FDCDFE7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639" y="1924152"/>
            <a:ext cx="5645361" cy="3513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EA9071D4-B889-4590-8ACB-260E28718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29596"/>
            <a:ext cx="6248400" cy="43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CC5C230-674C-46E7-BE34-0A186E277C28}"/>
              </a:ext>
            </a:extLst>
          </p:cNvPr>
          <p:cNvSpPr txBox="1"/>
          <p:nvPr/>
        </p:nvSpPr>
        <p:spPr>
          <a:xfrm>
            <a:off x="528460" y="6181217"/>
            <a:ext cx="3917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>
                <a:hlinkClick r:id="rId4"/>
              </a:rPr>
              <a:t>HTTP persistent connection – Wikipedia</a:t>
            </a:r>
            <a:endParaRPr lang="en-HK" dirty="0"/>
          </a:p>
          <a:p>
            <a:r>
              <a:rPr lang="en-HK" dirty="0">
                <a:hlinkClick r:id="rId5"/>
              </a:rPr>
              <a:t>HTTP pipelining - Wikipedia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783104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Q6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2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You request a very small HTML file from a server. This HTML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references eight other very small images. Let X denote the RTT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between the localhost and the server. How much time elapses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with: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2FCAB-565E-4178-BECE-B014B8B03F74}"/>
              </a:ext>
            </a:extLst>
          </p:cNvPr>
          <p:cNvSpPr txBox="1"/>
          <p:nvPr/>
        </p:nvSpPr>
        <p:spPr>
          <a:xfrm>
            <a:off x="838200" y="3938365"/>
            <a:ext cx="97951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1. </a:t>
            </a:r>
            <a:r>
              <a:rPr lang="en-US" sz="2800" dirty="0"/>
              <a:t>Non-persistent HTTP with no parallel TCP connections</a:t>
            </a:r>
            <a:endParaRPr lang="en-HK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FB35E-000B-487E-B98E-ED33C98C7DB6}"/>
              </a:ext>
            </a:extLst>
          </p:cNvPr>
          <p:cNvSpPr txBox="1"/>
          <p:nvPr/>
        </p:nvSpPr>
        <p:spPr>
          <a:xfrm>
            <a:off x="838200" y="4613985"/>
            <a:ext cx="97951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2. </a:t>
            </a:r>
            <a:r>
              <a:rPr lang="en-US" sz="2800" dirty="0"/>
              <a:t>Non-persistent HTTP with the browser configured for 5 parallel </a:t>
            </a:r>
          </a:p>
          <a:p>
            <a:r>
              <a:rPr lang="en-US" sz="2800" dirty="0"/>
              <a:t>connections</a:t>
            </a:r>
            <a:endParaRPr lang="en-HK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5253AC-173F-4086-BE54-ED6380CAD181}"/>
              </a:ext>
            </a:extLst>
          </p:cNvPr>
          <p:cNvSpPr txBox="1"/>
          <p:nvPr/>
        </p:nvSpPr>
        <p:spPr>
          <a:xfrm>
            <a:off x="838200" y="5739456"/>
            <a:ext cx="97951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800" dirty="0"/>
              <a:t>3. </a:t>
            </a:r>
            <a:r>
              <a:rPr lang="en-US" sz="2800" dirty="0"/>
              <a:t>Persistent HTTP with pipelining</a:t>
            </a:r>
            <a:endParaRPr lang="en-HK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B67F5A-D374-4267-88D2-A0A1F1E1E092}"/>
                  </a:ext>
                </a:extLst>
              </p:cNvPr>
              <p:cNvSpPr txBox="1"/>
              <p:nvPr/>
            </p:nvSpPr>
            <p:spPr>
              <a:xfrm>
                <a:off x="9112135" y="3879865"/>
                <a:ext cx="3049386" cy="700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𝐻𝑇𝑀𝐿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𝑓𝑖𝑙𝑒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+8 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𝑓𝑖𝑔𝑢𝑟𝑒𝑠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)∗2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=18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B67F5A-D374-4267-88D2-A0A1F1E1E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2135" y="3879865"/>
                <a:ext cx="3049386" cy="700769"/>
              </a:xfrm>
              <a:prstGeom prst="rect">
                <a:avLst/>
              </a:prstGeom>
              <a:blipFill>
                <a:blip r:embed="rId3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593623-DC96-4C38-A12C-AD824F962C7C}"/>
                  </a:ext>
                </a:extLst>
              </p:cNvPr>
              <p:cNvSpPr txBox="1"/>
              <p:nvPr/>
            </p:nvSpPr>
            <p:spPr>
              <a:xfrm>
                <a:off x="2867891" y="5091038"/>
                <a:ext cx="63661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𝐻𝑇𝑀𝐿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𝑓𝑖𝑙𝑒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(5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𝑓𝑖𝑔𝑢𝑟𝑒𝑠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HK" sz="2000" b="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(3 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𝑓𝑖𝑔𝑢𝑟𝑒𝑠</m:t>
                      </m:r>
                      <m:r>
                        <a:rPr lang="en-US" sz="20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)=6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593623-DC96-4C38-A12C-AD824F962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891" y="5091038"/>
                <a:ext cx="6366164" cy="400110"/>
              </a:xfrm>
              <a:prstGeom prst="rect">
                <a:avLst/>
              </a:prstGeom>
              <a:blipFill>
                <a:blip r:embed="rId4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F7CC234-D458-4F4D-AC1A-5318789C1632}"/>
                  </a:ext>
                </a:extLst>
              </p:cNvPr>
              <p:cNvSpPr txBox="1"/>
              <p:nvPr/>
            </p:nvSpPr>
            <p:spPr>
              <a:xfrm>
                <a:off x="5881254" y="5841897"/>
                <a:ext cx="512964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HK" sz="2000" i="1" smtClean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𝐻𝑇𝑀𝐿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𝑓𝑖𝑙𝑒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HK" altLang="zh-CN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(8 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𝑓𝑖𝑔𝑢𝑟𝑒𝑠</m:t>
                      </m:r>
                      <m:r>
                        <a:rPr lang="en-US" altLang="zh-CN" sz="20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)=3</m:t>
                      </m:r>
                      <m:r>
                        <a:rPr lang="en-HK" sz="2000" i="1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F7CC234-D458-4F4D-AC1A-5318789C1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254" y="5841897"/>
                <a:ext cx="5129645" cy="400110"/>
              </a:xfrm>
              <a:prstGeom prst="rect">
                <a:avLst/>
              </a:prstGeom>
              <a:blipFill>
                <a:blip r:embed="rId5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03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Summary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2" y="2255117"/>
            <a:ext cx="10515600" cy="13255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Non-persistent: redundant first handshake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Parallel: redundant request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Pipelining: response </a:t>
            </a:r>
            <a:r>
              <a:rPr lang="en-HK" dirty="0"/>
              <a:t>“</a:t>
            </a:r>
            <a:r>
              <a:rPr lang="en-US" dirty="0"/>
              <a:t>in parallel”</a:t>
            </a:r>
          </a:p>
        </p:txBody>
      </p:sp>
    </p:spTree>
    <p:extLst>
      <p:ext uri="{BB962C8B-B14F-4D97-AF65-F5344CB8AC3E}">
        <p14:creationId xmlns:p14="http://schemas.microsoft.com/office/powerpoint/2010/main" val="3156497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144" y="2651125"/>
            <a:ext cx="1639824" cy="1325563"/>
          </a:xfrm>
        </p:spPr>
        <p:txBody>
          <a:bodyPr>
            <a:normAutofit/>
          </a:bodyPr>
          <a:lstStyle/>
          <a:p>
            <a:r>
              <a:rPr lang="en-US" sz="5400" b="1" dirty="0" smtClean="0"/>
              <a:t>QUIZ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3279985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86665" y="2951946"/>
            <a:ext cx="241867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4800" dirty="0" smtClean="0"/>
              <a:t>THANKS!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2468</TotalTime>
  <Words>895</Words>
  <Application>Microsoft Office PowerPoint</Application>
  <PresentationFormat>宽屏</PresentationFormat>
  <Paragraphs>115</Paragraphs>
  <Slides>17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等线</vt:lpstr>
      <vt:lpstr>等线 Light</vt:lpstr>
      <vt:lpstr>Arial</vt:lpstr>
      <vt:lpstr>Calibri</vt:lpstr>
      <vt:lpstr>Calibri Light</vt:lpstr>
      <vt:lpstr>Cambria Math</vt:lpstr>
      <vt:lpstr>Microsoft Himalaya</vt:lpstr>
      <vt:lpstr>Office Theme</vt:lpstr>
      <vt:lpstr>CSCI 4430 - Spring 25</vt:lpstr>
      <vt:lpstr>Assignment 1 </vt:lpstr>
      <vt:lpstr>Outline</vt:lpstr>
      <vt:lpstr>HTTP Request</vt:lpstr>
      <vt:lpstr>HTTP Response</vt:lpstr>
      <vt:lpstr>Q1 True or False</vt:lpstr>
      <vt:lpstr>Q2 True or False</vt:lpstr>
      <vt:lpstr>Q3 True or False</vt:lpstr>
      <vt:lpstr>Q4.1 Consider the Following Request</vt:lpstr>
      <vt:lpstr>Q4.2 Consider the Following Request</vt:lpstr>
      <vt:lpstr>Q5.1 Consider the Following Response</vt:lpstr>
      <vt:lpstr>Q5.2 Consider the Following Response</vt:lpstr>
      <vt:lpstr>HTTP Connections</vt:lpstr>
      <vt:lpstr>Q6</vt:lpstr>
      <vt:lpstr>Summary</vt:lpstr>
      <vt:lpstr>QUIZ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admin</cp:lastModifiedBy>
  <cp:revision>138</cp:revision>
  <dcterms:created xsi:type="dcterms:W3CDTF">2022-01-09T08:27:06Z</dcterms:created>
  <dcterms:modified xsi:type="dcterms:W3CDTF">2025-01-21T06:23:34Z</dcterms:modified>
</cp:coreProperties>
</file>
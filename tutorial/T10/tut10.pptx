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94" r:id="rId3"/>
    <p:sldId id="295" r:id="rId4"/>
    <p:sldId id="287" r:id="rId5"/>
    <p:sldId id="288" r:id="rId6"/>
    <p:sldId id="290" r:id="rId7"/>
    <p:sldId id="274" r:id="rId8"/>
    <p:sldId id="291" r:id="rId9"/>
    <p:sldId id="292" r:id="rId10"/>
    <p:sldId id="296" r:id="rId11"/>
    <p:sldId id="297" r:id="rId12"/>
    <p:sldId id="293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08"/>
    <p:restoredTop sz="94752"/>
  </p:normalViewPr>
  <p:slideViewPr>
    <p:cSldViewPr snapToGrid="0" snapToObjects="1">
      <p:cViewPr>
        <p:scale>
          <a:sx n="88" d="100"/>
          <a:sy n="88" d="100"/>
        </p:scale>
        <p:origin x="1088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ofeng Wu" userId="16cc59afe9483dd5" providerId="LiveId" clId="{30DD9446-2F1B-4451-BBF3-34E308469A01}"/>
    <pc:docChg chg="undo custSel delSld modSld">
      <pc:chgData name="Shaofeng Wu" userId="16cc59afe9483dd5" providerId="LiveId" clId="{30DD9446-2F1B-4451-BBF3-34E308469A01}" dt="2025-03-24T23:49:26.112" v="18" actId="20577"/>
      <pc:docMkLst>
        <pc:docMk/>
      </pc:docMkLst>
      <pc:sldChg chg="modSp mod">
        <pc:chgData name="Shaofeng Wu" userId="16cc59afe9483dd5" providerId="LiveId" clId="{30DD9446-2F1B-4451-BBF3-34E308469A01}" dt="2025-03-23T13:28:34.350" v="6" actId="20577"/>
        <pc:sldMkLst>
          <pc:docMk/>
          <pc:sldMk cId="1485044418" sldId="288"/>
        </pc:sldMkLst>
        <pc:spChg chg="mod">
          <ac:chgData name="Shaofeng Wu" userId="16cc59afe9483dd5" providerId="LiveId" clId="{30DD9446-2F1B-4451-BBF3-34E308469A01}" dt="2025-03-23T13:28:34.350" v="6" actId="20577"/>
          <ac:spMkLst>
            <pc:docMk/>
            <pc:sldMk cId="1485044418" sldId="288"/>
            <ac:spMk id="10" creationId="{22E50F3B-8764-E942-4A7C-439C893FCE64}"/>
          </ac:spMkLst>
        </pc:spChg>
      </pc:sldChg>
      <pc:sldChg chg="modSp mod">
        <pc:chgData name="Shaofeng Wu" userId="16cc59afe9483dd5" providerId="LiveId" clId="{30DD9446-2F1B-4451-BBF3-34E308469A01}" dt="2025-03-24T23:49:26.112" v="18" actId="20577"/>
        <pc:sldMkLst>
          <pc:docMk/>
          <pc:sldMk cId="2626515644" sldId="290"/>
        </pc:sldMkLst>
        <pc:spChg chg="mod">
          <ac:chgData name="Shaofeng Wu" userId="16cc59afe9483dd5" providerId="LiveId" clId="{30DD9446-2F1B-4451-BBF3-34E308469A01}" dt="2025-03-24T23:49:26.112" v="18" actId="20577"/>
          <ac:spMkLst>
            <pc:docMk/>
            <pc:sldMk cId="2626515644" sldId="290"/>
            <ac:spMk id="8" creationId="{CB197AB9-D666-0CF1-8B71-F9D14429C4EA}"/>
          </ac:spMkLst>
        </pc:spChg>
      </pc:sldChg>
      <pc:sldChg chg="modSp mod">
        <pc:chgData name="Shaofeng Wu" userId="16cc59afe9483dd5" providerId="LiveId" clId="{30DD9446-2F1B-4451-BBF3-34E308469A01}" dt="2025-03-24T02:15:37.321" v="8" actId="20577"/>
        <pc:sldMkLst>
          <pc:docMk/>
          <pc:sldMk cId="51523668" sldId="291"/>
        </pc:sldMkLst>
        <pc:spChg chg="mod">
          <ac:chgData name="Shaofeng Wu" userId="16cc59afe9483dd5" providerId="LiveId" clId="{30DD9446-2F1B-4451-BBF3-34E308469A01}" dt="2025-03-24T02:15:37.321" v="8" actId="20577"/>
          <ac:spMkLst>
            <pc:docMk/>
            <pc:sldMk cId="51523668" sldId="291"/>
            <ac:spMk id="8" creationId="{BC4C8BCA-4A3C-FEA2-2B3F-2EFBEA54C5F6}"/>
          </ac:spMkLst>
        </pc:spChg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3039411878" sldId="294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3381083490" sldId="295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2015864520" sldId="296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1229357586" sldId="297"/>
        </pc:sldMkLst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Shaofeng Wu" userId="16cc59afe9483dd5" providerId="LiveId" clId="{3FBC4DD9-68A0-4077-851D-3D3DC6AC0CDA}"/>
    <pc:docChg chg="custSel delSld modSld">
      <pc:chgData name="Shaofeng Wu" userId="16cc59afe9483dd5" providerId="LiveId" clId="{3FBC4DD9-68A0-4077-851D-3D3DC6AC0CDA}" dt="2025-02-18T12:15:22.101" v="17" actId="2696"/>
      <pc:docMkLst>
        <pc:docMk/>
      </pc:docMkLst>
      <pc:sldChg chg="modSp mod">
        <pc:chgData name="Shaofeng Wu" userId="16cc59afe9483dd5" providerId="LiveId" clId="{3FBC4DD9-68A0-4077-851D-3D3DC6AC0CDA}" dt="2025-02-18T12:14:15.643" v="16" actId="20577"/>
        <pc:sldMkLst>
          <pc:docMk/>
          <pc:sldMk cId="356419186" sldId="256"/>
        </pc:sldMkLst>
        <pc:spChg chg="mod">
          <ac:chgData name="Shaofeng Wu" userId="16cc59afe9483dd5" providerId="LiveId" clId="{3FBC4DD9-68A0-4077-851D-3D3DC6AC0CDA}" dt="2025-02-18T12:14:15.643" v="16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del">
        <pc:chgData name="Shaofeng Wu" userId="16cc59afe9483dd5" providerId="LiveId" clId="{3FBC4DD9-68A0-4077-851D-3D3DC6AC0CDA}" dt="2025-02-18T12:15:22.101" v="17" actId="2696"/>
        <pc:sldMkLst>
          <pc:docMk/>
          <pc:sldMk cId="1947847713" sldId="257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DING, Wenlong" userId="2462c282-915a-45d3-817d-b87203e0e2e0" providerId="ADAL" clId="{6FD17247-E81F-7949-B4C6-FEEA5B59708B}"/>
    <pc:docChg chg="undo custSel addSld delSld modSld sldOrd">
      <pc:chgData name="DING, Wenlong" userId="2462c282-915a-45d3-817d-b87203e0e2e0" providerId="ADAL" clId="{6FD17247-E81F-7949-B4C6-FEEA5B59708B}" dt="2023-11-08T06:59:42.737" v="1839" actId="1076"/>
      <pc:docMkLst>
        <pc:docMk/>
      </pc:docMkLst>
      <pc:sldChg chg="modSp mod">
        <pc:chgData name="DING, Wenlong" userId="2462c282-915a-45d3-817d-b87203e0e2e0" providerId="ADAL" clId="{6FD17247-E81F-7949-B4C6-FEEA5B59708B}" dt="2023-11-08T06:35:23.733" v="1744" actId="20577"/>
        <pc:sldMkLst>
          <pc:docMk/>
          <pc:sldMk cId="356419186" sldId="256"/>
        </pc:sldMkLst>
      </pc:sldChg>
      <pc:sldChg chg="modSp mod">
        <pc:chgData name="DING, Wenlong" userId="2462c282-915a-45d3-817d-b87203e0e2e0" providerId="ADAL" clId="{6FD17247-E81F-7949-B4C6-FEEA5B59708B}" dt="2023-11-07T13:41:32.939" v="1721" actId="1076"/>
        <pc:sldMkLst>
          <pc:docMk/>
          <pc:sldMk cId="1947847713" sldId="257"/>
        </pc:sldMkLst>
      </pc:sldChg>
      <pc:sldChg chg="addSp modSp mod">
        <pc:chgData name="DING, Wenlong" userId="2462c282-915a-45d3-817d-b87203e0e2e0" providerId="ADAL" clId="{6FD17247-E81F-7949-B4C6-FEEA5B59708B}" dt="2023-11-08T06:59:42.737" v="1839" actId="1076"/>
        <pc:sldMkLst>
          <pc:docMk/>
          <pc:sldMk cId="2292626886" sldId="293"/>
        </pc:sldMkLst>
      </pc:sldChg>
      <pc:sldChg chg="addSp delSp modSp add mod">
        <pc:chgData name="DING, Wenlong" userId="2462c282-915a-45d3-817d-b87203e0e2e0" providerId="ADAL" clId="{6FD17247-E81F-7949-B4C6-FEEA5B59708B}" dt="2023-11-07T12:53:49.078" v="1002" actId="20577"/>
        <pc:sldMkLst>
          <pc:docMk/>
          <pc:sldMk cId="3039411878" sldId="294"/>
        </pc:sldMkLst>
      </pc:sldChg>
      <pc:sldChg chg="addSp delSp modSp add mod">
        <pc:chgData name="DING, Wenlong" userId="2462c282-915a-45d3-817d-b87203e0e2e0" providerId="ADAL" clId="{6FD17247-E81F-7949-B4C6-FEEA5B59708B}" dt="2023-11-07T14:09:37.586" v="1736" actId="1076"/>
        <pc:sldMkLst>
          <pc:docMk/>
          <pc:sldMk cId="3381083490" sldId="295"/>
        </pc:sldMkLst>
      </pc:sldChg>
      <pc:sldChg chg="addSp delSp modSp add mod ord">
        <pc:chgData name="DING, Wenlong" userId="2462c282-915a-45d3-817d-b87203e0e2e0" providerId="ADAL" clId="{6FD17247-E81F-7949-B4C6-FEEA5B59708B}" dt="2023-11-07T14:09:55.341" v="1740" actId="1076"/>
        <pc:sldMkLst>
          <pc:docMk/>
          <pc:sldMk cId="2015864520" sldId="296"/>
        </pc:sldMkLst>
      </pc:sldChg>
      <pc:sldChg chg="addSp delSp modSp add mod">
        <pc:chgData name="DING, Wenlong" userId="2462c282-915a-45d3-817d-b87203e0e2e0" providerId="ADAL" clId="{6FD17247-E81F-7949-B4C6-FEEA5B59708B}" dt="2023-11-07T12:55:09.462" v="1090" actId="20577"/>
        <pc:sldMkLst>
          <pc:docMk/>
          <pc:sldMk cId="1229357586" sldId="297"/>
        </pc:sldMkLst>
      </pc:sldChg>
      <pc:sldChg chg="modSp add del mod">
        <pc:chgData name="DING, Wenlong" userId="2462c282-915a-45d3-817d-b87203e0e2e0" providerId="ADAL" clId="{6FD17247-E81F-7949-B4C6-FEEA5B59708B}" dt="2023-11-08T06:57:02.401" v="1754" actId="2696"/>
        <pc:sldMkLst>
          <pc:docMk/>
          <pc:sldMk cId="828139001" sldId="298"/>
        </pc:sldMkLst>
      </pc:sldChg>
    </pc:docChg>
  </pc:docChgLst>
  <pc:docChgLst>
    <pc:chgData name="Shaofeng Wu" userId="16cc59afe9483dd5" providerId="LiveId" clId="{1A064B3B-73BC-4474-9998-A959232E99B8}"/>
    <pc:docChg chg="modSld">
      <pc:chgData name="Shaofeng Wu" userId="16cc59afe9483dd5" providerId="LiveId" clId="{1A064B3B-73BC-4474-9998-A959232E99B8}" dt="2025-03-20T12:27:23.019" v="0" actId="20577"/>
      <pc:docMkLst>
        <pc:docMk/>
      </pc:docMkLst>
      <pc:sldChg chg="modSp mod">
        <pc:chgData name="Shaofeng Wu" userId="16cc59afe9483dd5" providerId="LiveId" clId="{1A064B3B-73BC-4474-9998-A959232E99B8}" dt="2025-03-20T12:27:23.019" v="0" actId="20577"/>
        <pc:sldMkLst>
          <pc:docMk/>
          <pc:sldMk cId="2292626886" sldId="293"/>
        </pc:sldMkLst>
        <pc:spChg chg="mod">
          <ac:chgData name="Shaofeng Wu" userId="16cc59afe9483dd5" providerId="LiveId" clId="{1A064B3B-73BC-4474-9998-A959232E99B8}" dt="2025-03-20T12:27:23.019" v="0" actId="20577"/>
          <ac:spMkLst>
            <pc:docMk/>
            <pc:sldMk cId="2292626886" sldId="293"/>
            <ac:spMk id="5" creationId="{E8F71926-39FF-3A84-7BE0-15AD94B7F03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</a:t>
            </a:r>
            <a:r>
              <a:rPr lang="en-US" sz="6600" b="1"/>
              <a:t>– Fall </a:t>
            </a:r>
            <a:r>
              <a:rPr lang="en-US" sz="6600" b="1" dirty="0"/>
              <a:t>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608745"/>
          </a:xfrm>
        </p:spPr>
        <p:txBody>
          <a:bodyPr>
            <a:normAutofit/>
          </a:bodyPr>
          <a:lstStyle/>
          <a:p>
            <a:r>
              <a:rPr lang="en-US" sz="3600" b="1"/>
              <a:t>Tutorial </a:t>
            </a:r>
            <a:r>
              <a:rPr lang="en-US" altLang="zh-CN" sz="3600" b="1"/>
              <a:t>10</a:t>
            </a:r>
            <a:endParaRPr lang="en-US" altLang="zh-CN" sz="3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895DE4C-99AF-D2AE-2B1C-F6EB8AE50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050" y="692150"/>
            <a:ext cx="5803900" cy="547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39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1C00E82C-A639-7686-B0C3-60588B47595F}"/>
              </a:ext>
            </a:extLst>
          </p:cNvPr>
          <p:cNvGrpSpPr/>
          <p:nvPr/>
        </p:nvGrpSpPr>
        <p:grpSpPr>
          <a:xfrm>
            <a:off x="936584" y="233152"/>
            <a:ext cx="10360307" cy="5690669"/>
            <a:chOff x="936584" y="603542"/>
            <a:chExt cx="10360307" cy="569066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260BC26A-BA8B-217A-29F6-E75B22423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6584" y="603542"/>
              <a:ext cx="10360307" cy="5677015"/>
            </a:xfrm>
            <a:prstGeom prst="rect">
              <a:avLst/>
            </a:prstGeom>
          </p:spPr>
        </p:pic>
        <p:sp>
          <p:nvSpPr>
            <p:cNvPr id="3" name="圆角矩形 2">
              <a:extLst>
                <a:ext uri="{FF2B5EF4-FFF2-40B4-BE49-F238E27FC236}">
                  <a16:creationId xmlns:a16="http://schemas.microsoft.com/office/drawing/2014/main" id="{B607BC10-AB9F-BCC9-E514-36F437EDDFE3}"/>
                </a:ext>
              </a:extLst>
            </p:cNvPr>
            <p:cNvSpPr/>
            <p:nvPr/>
          </p:nvSpPr>
          <p:spPr>
            <a:xfrm>
              <a:off x="2500829" y="4549966"/>
              <a:ext cx="1784732" cy="352540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" name="圆角矩形 3">
              <a:extLst>
                <a:ext uri="{FF2B5EF4-FFF2-40B4-BE49-F238E27FC236}">
                  <a16:creationId xmlns:a16="http://schemas.microsoft.com/office/drawing/2014/main" id="{1D943F31-74A6-643A-4F04-454DC6D0B3F5}"/>
                </a:ext>
              </a:extLst>
            </p:cNvPr>
            <p:cNvSpPr/>
            <p:nvPr/>
          </p:nvSpPr>
          <p:spPr>
            <a:xfrm>
              <a:off x="2062920" y="5593616"/>
              <a:ext cx="622407" cy="352540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BF522035-3247-6A40-97CA-D668C0C36242}"/>
                </a:ext>
              </a:extLst>
            </p:cNvPr>
            <p:cNvSpPr/>
            <p:nvPr/>
          </p:nvSpPr>
          <p:spPr>
            <a:xfrm>
              <a:off x="1981897" y="5941671"/>
              <a:ext cx="1050670" cy="352540"/>
            </a:xfrm>
            <a:prstGeom prst="round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79BFDFA6-3D07-07CE-193E-10EC9BC0A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83" y="2835797"/>
            <a:ext cx="1413042" cy="388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440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b="1" dirty="0"/>
              <a:t>WTP: basis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Google Shape;61;p14">
            <a:extLst>
              <a:ext uri="{FF2B5EF4-FFF2-40B4-BE49-F238E27FC236}">
                <a16:creationId xmlns:a16="http://schemas.microsoft.com/office/drawing/2014/main" id="{0ECB66EA-6CCA-929C-87DB-5710F122D6E4}"/>
              </a:ext>
            </a:extLst>
          </p:cNvPr>
          <p:cNvSpPr txBox="1">
            <a:spLocks/>
          </p:cNvSpPr>
          <p:nvPr/>
        </p:nvSpPr>
        <p:spPr>
          <a:xfrm>
            <a:off x="665383" y="1321357"/>
            <a:ext cx="8403462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b="1" dirty="0">
                <a:cs typeface="Calibri" panose="020F0502020204030204" pitchFamily="34" charset="0"/>
              </a:rPr>
              <a:t>Aim</a:t>
            </a:r>
            <a:r>
              <a:rPr lang="en-US" altLang="zh-CN" dirty="0">
                <a:cs typeface="Calibri" panose="020F0502020204030204" pitchFamily="34" charset="0"/>
              </a:rPr>
              <a:t>: a reliable transport protocol for file transfer</a:t>
            </a:r>
          </a:p>
          <a:p>
            <a:pPr marL="457200" indent="-342900"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b="1" dirty="0">
                <a:cs typeface="Calibri" panose="020F0502020204030204" pitchFamily="34" charset="0"/>
              </a:rPr>
              <a:t>Packet types: </a:t>
            </a:r>
            <a:r>
              <a:rPr lang="en-US" altLang="zh-CN" dirty="0">
                <a:cs typeface="Calibri" panose="020F0502020204030204" pitchFamily="34" charset="0"/>
              </a:rPr>
              <a:t>START; END; DATA; ACK</a:t>
            </a:r>
            <a:br>
              <a:rPr lang="en-US" altLang="zh-CN" dirty="0"/>
            </a:br>
            <a:endParaRPr lang="en-US" dirty="0"/>
          </a:p>
        </p:txBody>
      </p:sp>
      <p:graphicFrame>
        <p:nvGraphicFramePr>
          <p:cNvPr id="27" name="Google Shape;64;p14">
            <a:extLst>
              <a:ext uri="{FF2B5EF4-FFF2-40B4-BE49-F238E27FC236}">
                <a16:creationId xmlns:a16="http://schemas.microsoft.com/office/drawing/2014/main" id="{E3896BA1-37D6-1CA7-2A2C-1CB1A33F41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99236513"/>
              </p:ext>
            </p:extLst>
          </p:nvPr>
        </p:nvGraphicFramePr>
        <p:xfrm>
          <a:off x="8208520" y="962437"/>
          <a:ext cx="3789680" cy="2438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38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WTP hdr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WTP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>
                          <a:solidFill>
                            <a:schemeClr val="dk1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rPr>
                        <a:t>UDP hdr</a:t>
                      </a: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UDP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87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zh-CN" sz="1600">
                          <a:solidFill>
                            <a:schemeClr val="dk1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rPr>
                        <a:t>IP hdr</a:t>
                      </a: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IP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036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Ethernet frame 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文本框 30">
            <a:extLst>
              <a:ext uri="{FF2B5EF4-FFF2-40B4-BE49-F238E27FC236}">
                <a16:creationId xmlns:a16="http://schemas.microsoft.com/office/drawing/2014/main" id="{8E3FC45F-9090-3D15-B3E1-95A53E05F137}"/>
              </a:ext>
            </a:extLst>
          </p:cNvPr>
          <p:cNvSpPr txBox="1"/>
          <p:nvPr/>
        </p:nvSpPr>
        <p:spPr>
          <a:xfrm>
            <a:off x="664963" y="3395091"/>
            <a:ext cx="7182554" cy="2181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800" b="1" dirty="0"/>
              <a:t>Packet size</a:t>
            </a:r>
          </a:p>
          <a:p>
            <a:pPr marL="914400" lvl="1" indent="-317500">
              <a:lnSpc>
                <a:spcPct val="150000"/>
              </a:lnSpc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Ethernet frame up to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1500B</a:t>
            </a:r>
            <a:endParaRPr lang="en-US" altLang="zh-CN" sz="2400" dirty="0">
              <a:solidFill>
                <a:schemeClr val="accent2">
                  <a:lumMod val="75000"/>
                </a:schemeClr>
              </a:solidFill>
            </a:endParaRP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IP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20B</a:t>
            </a:r>
            <a:r>
              <a:rPr lang="en-US" altLang="zh-CN" sz="2400" dirty="0"/>
              <a:t>; UDP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8B 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WTP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16B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5A3CAC7-D925-D9B8-ECDB-D60A823F5257}"/>
              </a:ext>
            </a:extLst>
          </p:cNvPr>
          <p:cNvSpPr txBox="1"/>
          <p:nvPr/>
        </p:nvSpPr>
        <p:spPr>
          <a:xfrm>
            <a:off x="838200" y="5732158"/>
            <a:ext cx="6874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1472B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for the whole WTP with header </a:t>
            </a:r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and 1456B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for WTP data only. </a:t>
            </a:r>
            <a:endParaRPr lang="zh-CN" altLang="en-US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E1CE6125-0DDF-EFC5-9E09-8646B0081ACD}"/>
              </a:ext>
            </a:extLst>
          </p:cNvPr>
          <p:cNvGrpSpPr/>
          <p:nvPr/>
        </p:nvGrpSpPr>
        <p:grpSpPr>
          <a:xfrm>
            <a:off x="7902211" y="3675114"/>
            <a:ext cx="4095989" cy="2972458"/>
            <a:chOff x="6756496" y="2033511"/>
            <a:chExt cx="4095989" cy="2972458"/>
          </a:xfrm>
        </p:grpSpPr>
        <p:graphicFrame>
          <p:nvGraphicFramePr>
            <p:cNvPr id="38" name="Google Shape;62;p14">
              <a:extLst>
                <a:ext uri="{FF2B5EF4-FFF2-40B4-BE49-F238E27FC236}">
                  <a16:creationId xmlns:a16="http://schemas.microsoft.com/office/drawing/2014/main" id="{B4352FF8-9ADF-032B-5EA8-F56382E20E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880414791"/>
                </p:ext>
              </p:extLst>
            </p:nvPr>
          </p:nvGraphicFramePr>
          <p:xfrm>
            <a:off x="6941477" y="2080119"/>
            <a:ext cx="1542575" cy="2925850"/>
          </p:xfrm>
          <a:graphic>
            <a:graphicData uri="http://schemas.openxmlformats.org/drawingml/2006/table">
              <a:tbl>
                <a:tblPr>
                  <a:noFill/>
                </a:tblPr>
                <a:tblGrid>
                  <a:gridCol w="15425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type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 err="1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seqNum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length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checksum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rgbClr val="FF0000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data</a:t>
                        </a:r>
                        <a:endParaRPr sz="1600" dirty="0">
                          <a:solidFill>
                            <a:srgbClr val="FF0000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 anchor="ctr"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latin typeface="+mn-lt"/>
                          </a:rPr>
                          <a:t>UDP header</a:t>
                        </a:r>
                        <a:endParaRPr lang="zh-CN" sz="1600" dirty="0">
                          <a:latin typeface="+mn-lt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latin typeface="+mn-lt"/>
                          </a:rPr>
                          <a:t>IP header</a:t>
                        </a:r>
                        <a:endParaRPr lang="zh-CN" sz="1600" dirty="0">
                          <a:latin typeface="+mn-lt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</a:tbl>
            </a:graphicData>
          </a:graphic>
        </p:graphicFrame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8404077-7E38-AEA4-D56E-D95EED9F35F6}"/>
                </a:ext>
              </a:extLst>
            </p:cNvPr>
            <p:cNvSpPr txBox="1"/>
            <p:nvPr/>
          </p:nvSpPr>
          <p:spPr>
            <a:xfrm>
              <a:off x="8567530" y="2141599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1D73D581-1B62-B4D3-C70A-CB03E25F0CA7}"/>
                </a:ext>
              </a:extLst>
            </p:cNvPr>
            <p:cNvSpPr txBox="1"/>
            <p:nvPr/>
          </p:nvSpPr>
          <p:spPr>
            <a:xfrm>
              <a:off x="8567530" y="3758945"/>
              <a:ext cx="135156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up to 1456B</a:t>
              </a: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3E27C0B-B92A-8171-8F28-BB502B636E98}"/>
                </a:ext>
              </a:extLst>
            </p:cNvPr>
            <p:cNvSpPr txBox="1"/>
            <p:nvPr/>
          </p:nvSpPr>
          <p:spPr>
            <a:xfrm>
              <a:off x="8567530" y="2545058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F8038AA-8C75-CB97-6484-86FB762CDB7D}"/>
                </a:ext>
              </a:extLst>
            </p:cNvPr>
            <p:cNvSpPr txBox="1"/>
            <p:nvPr/>
          </p:nvSpPr>
          <p:spPr>
            <a:xfrm>
              <a:off x="8567530" y="2989046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6F6A95A-55BF-3FBB-F346-BC8C8EE5DC3B}"/>
                </a:ext>
              </a:extLst>
            </p:cNvPr>
            <p:cNvSpPr txBox="1"/>
            <p:nvPr/>
          </p:nvSpPr>
          <p:spPr>
            <a:xfrm>
              <a:off x="8567530" y="3358378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FEEC2427-E085-2E68-ED90-DD93C5B1F9B0}"/>
                </a:ext>
              </a:extLst>
            </p:cNvPr>
            <p:cNvSpPr/>
            <p:nvPr/>
          </p:nvSpPr>
          <p:spPr>
            <a:xfrm>
              <a:off x="6756496" y="2033511"/>
              <a:ext cx="4095988" cy="2241710"/>
            </a:xfrm>
            <a:prstGeom prst="rect">
              <a:avLst/>
            </a:prstGeom>
            <a:noFill/>
            <a:ln w="50800" cmpd="tri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3164C1B9-F433-F5AB-B49F-485417915C4B}"/>
                </a:ext>
              </a:extLst>
            </p:cNvPr>
            <p:cNvSpPr/>
            <p:nvPr/>
          </p:nvSpPr>
          <p:spPr>
            <a:xfrm>
              <a:off x="6856954" y="2141599"/>
              <a:ext cx="3324651" cy="1986678"/>
            </a:xfrm>
            <a:prstGeom prst="rect">
              <a:avLst/>
            </a:prstGeom>
            <a:noFill/>
            <a:ln w="19050" cmpd="sng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01B5944-DFA7-CCF5-96C0-75B395207886}"/>
                </a:ext>
              </a:extLst>
            </p:cNvPr>
            <p:cNvSpPr txBox="1"/>
            <p:nvPr/>
          </p:nvSpPr>
          <p:spPr>
            <a:xfrm>
              <a:off x="10181605" y="2141599"/>
              <a:ext cx="6708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WTP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26019EF6-6EFE-E21E-18E9-14D9A0F5DBA0}"/>
                </a:ext>
              </a:extLst>
            </p:cNvPr>
            <p:cNvSpPr txBox="1"/>
            <p:nvPr/>
          </p:nvSpPr>
          <p:spPr>
            <a:xfrm>
              <a:off x="8916277" y="2136453"/>
              <a:ext cx="13832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chemeClr val="accent2"/>
                  </a:solidFill>
                </a:rPr>
                <a:t>WTP header</a:t>
              </a:r>
              <a:endParaRPr lang="zh-CN" altLang="en-US" dirty="0">
                <a:solidFill>
                  <a:schemeClr val="accent2"/>
                </a:solidFill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3AA76C84-288A-95A9-BCBA-C79628B9D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78" y="2181577"/>
            <a:ext cx="6787587" cy="1278380"/>
          </a:xfrm>
          <a:prstGeom prst="rect">
            <a:avLst/>
          </a:prstGeom>
        </p:spPr>
      </p:pic>
      <p:cxnSp>
        <p:nvCxnSpPr>
          <p:cNvPr id="6" name="直线连接符 5">
            <a:extLst>
              <a:ext uri="{FF2B5EF4-FFF2-40B4-BE49-F238E27FC236}">
                <a16:creationId xmlns:a16="http://schemas.microsoft.com/office/drawing/2014/main" id="{EDC8471E-3349-CE60-C2A6-AEA389316FC5}"/>
              </a:ext>
            </a:extLst>
          </p:cNvPr>
          <p:cNvCxnSpPr/>
          <p:nvPr/>
        </p:nvCxnSpPr>
        <p:spPr>
          <a:xfrm>
            <a:off x="3518704" y="2592729"/>
            <a:ext cx="2777924" cy="0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 stages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Google Shape;70;p15">
            <a:extLst>
              <a:ext uri="{FF2B5EF4-FFF2-40B4-BE49-F238E27FC236}">
                <a16:creationId xmlns:a16="http://schemas.microsoft.com/office/drawing/2014/main" id="{22E50F3B-8764-E942-4A7C-439C893FCE64}"/>
              </a:ext>
            </a:extLst>
          </p:cNvPr>
          <p:cNvSpPr txBox="1">
            <a:spLocks/>
          </p:cNvSpPr>
          <p:nvPr/>
        </p:nvSpPr>
        <p:spPr>
          <a:xfrm>
            <a:off x="838199" y="863716"/>
            <a:ext cx="9857763" cy="599428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Header format: </a:t>
            </a:r>
            <a:r>
              <a:rPr lang="en-US" altLang="zh-CN" sz="2000" dirty="0"/>
              <a:t>&lt;type, </a:t>
            </a:r>
            <a:r>
              <a:rPr lang="en-US" altLang="zh-CN" sz="2000" dirty="0" err="1"/>
              <a:t>seqNum</a:t>
            </a:r>
            <a:r>
              <a:rPr lang="en-US" altLang="zh-CN" sz="2000" dirty="0"/>
              <a:t>, length, checksum&gt;</a:t>
            </a:r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Initiate: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“I have something for you!” &lt;</a:t>
            </a:r>
            <a:r>
              <a:rPr lang="en-US" altLang="zh-CN" sz="1800" dirty="0">
                <a:solidFill>
                  <a:schemeClr val="accent2"/>
                </a:solidFill>
              </a:rPr>
              <a:t>START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 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“I am ready, please proceed.”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Data transmission: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“Here is the </a:t>
            </a:r>
            <a:r>
              <a:rPr lang="en-US" altLang="zh-CN" sz="1800" i="1" dirty="0" err="1"/>
              <a:t>i</a:t>
            </a:r>
            <a:r>
              <a:rPr lang="en-US" altLang="zh-CN" sz="1800" dirty="0" err="1"/>
              <a:t>-th</a:t>
            </a:r>
            <a:r>
              <a:rPr lang="en-US" altLang="zh-CN" sz="1800" dirty="0"/>
              <a:t> packet.” &lt;</a:t>
            </a:r>
            <a:r>
              <a:rPr lang="en-US" altLang="zh-CN" sz="1800" dirty="0">
                <a:solidFill>
                  <a:schemeClr val="accent2"/>
                </a:solidFill>
              </a:rPr>
              <a:t>DATA</a:t>
            </a:r>
            <a:r>
              <a:rPr lang="en-US" altLang="zh-CN" sz="1800" dirty="0"/>
              <a:t>, </a:t>
            </a:r>
            <a:r>
              <a:rPr lang="en-US" altLang="zh-CN" sz="1800" i="1" dirty="0" err="1"/>
              <a:t>i</a:t>
            </a:r>
            <a:r>
              <a:rPr lang="en-US" altLang="zh-CN" sz="1800" dirty="0"/>
              <a:t>, LEN, SUM&gt;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“Got you, please send me the next packet (</a:t>
            </a:r>
            <a:r>
              <a:rPr lang="en-US" altLang="zh-CN" sz="1800" i="1" dirty="0"/>
              <a:t>j</a:t>
            </a:r>
            <a:r>
              <a:rPr lang="en-US" altLang="zh-CN" sz="1800" dirty="0"/>
              <a:t>-</a:t>
            </a:r>
            <a:r>
              <a:rPr lang="en-US" altLang="zh-CN" sz="1800" dirty="0" err="1"/>
              <a:t>th</a:t>
            </a:r>
            <a:r>
              <a:rPr lang="en-US" altLang="zh-CN" sz="1800" dirty="0"/>
              <a:t> packet).”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j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Finish: 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“That’s all there is for file R” &lt;</a:t>
            </a:r>
            <a:r>
              <a:rPr lang="en-US" altLang="zh-CN" sz="1800" dirty="0">
                <a:solidFill>
                  <a:schemeClr val="accent2"/>
                </a:solidFill>
              </a:rPr>
              <a:t>END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“I have saved it.”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Special note: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dirty="0"/>
              <a:t>initiate and finish stages use the same random </a:t>
            </a:r>
            <a:r>
              <a:rPr lang="en-US" altLang="zh-CN" sz="1800" dirty="0" err="1">
                <a:solidFill>
                  <a:schemeClr val="accent2"/>
                </a:solidFill>
              </a:rPr>
              <a:t>seqNum</a:t>
            </a:r>
            <a:r>
              <a:rPr lang="en-US" altLang="zh-CN" sz="1800" dirty="0"/>
              <a:t> </a:t>
            </a:r>
            <a:r>
              <a:rPr lang="en-US" altLang="zh-CN" sz="1800" i="1" dirty="0"/>
              <a:t>R</a:t>
            </a:r>
            <a:endParaRPr lang="en-US" sz="1800" i="1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SzPct val="100000"/>
              <a:buFont typeface="Wingdings" pitchFamily="2" charset="2"/>
              <a:buChar char="ü"/>
            </a:pPr>
            <a:r>
              <a:rPr lang="en-US" altLang="zh-CN" sz="1800" dirty="0"/>
              <a:t>unrelated to data packets</a:t>
            </a:r>
            <a:endParaRPr lang="en-US" sz="1800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SzPct val="100000"/>
              <a:buFont typeface="Wingdings" pitchFamily="2" charset="2"/>
              <a:buChar char="ü"/>
            </a:pPr>
            <a:r>
              <a:rPr lang="en-US" altLang="zh-CN" sz="1800" dirty="0"/>
              <a:t>to mark the begin and end of the same file</a:t>
            </a:r>
            <a:endParaRPr lang="en-US" altLang="zh-CN" sz="18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dirty="0" err="1">
                <a:solidFill>
                  <a:schemeClr val="accent2"/>
                </a:solidFill>
              </a:rPr>
              <a:t>seqNum</a:t>
            </a:r>
            <a:r>
              <a:rPr lang="en-US" altLang="zh-CN" sz="1800" dirty="0"/>
              <a:t> in </a:t>
            </a:r>
            <a:r>
              <a:rPr lang="en-US" altLang="zh-CN" sz="1800" i="1" dirty="0"/>
              <a:t>ACK</a:t>
            </a:r>
            <a:r>
              <a:rPr lang="zh-CN" altLang="en-US" sz="1800" dirty="0"/>
              <a:t> </a:t>
            </a:r>
            <a:r>
              <a:rPr lang="en-US" altLang="zh-CN" sz="1800" dirty="0"/>
              <a:t>packet is the </a:t>
            </a:r>
            <a:r>
              <a:rPr lang="en-US" altLang="zh-CN" sz="1800" b="1" i="1" dirty="0"/>
              <a:t>next </a:t>
            </a:r>
            <a:r>
              <a:rPr lang="en-US" altLang="zh-CN" sz="1800" dirty="0"/>
              <a:t>packet to be expected just like TCP</a:t>
            </a:r>
            <a:endParaRPr lang="en-US" sz="1800" b="1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Wingdings" pitchFamily="2" charset="2"/>
              <a:buChar char="ü"/>
            </a:pPr>
            <a:r>
              <a:rPr lang="en-US" altLang="zh-CN" sz="1800" i="1" dirty="0" err="1"/>
              <a:t>seqNum</a:t>
            </a:r>
            <a:r>
              <a:rPr lang="en-US" altLang="zh-CN" sz="1800" dirty="0"/>
              <a:t> begin at 0 and increment by 1 for each packet</a:t>
            </a:r>
            <a:r>
              <a:rPr lang="zh-CN" altLang="en-US" sz="1800" dirty="0"/>
              <a:t> </a:t>
            </a:r>
            <a:r>
              <a:rPr lang="en-US" altLang="zh-CN" sz="1800" dirty="0"/>
              <a:t>in</a:t>
            </a:r>
            <a:r>
              <a:rPr lang="zh-CN" altLang="en-US" sz="1800" dirty="0"/>
              <a:t> </a:t>
            </a:r>
            <a:r>
              <a:rPr lang="en-US" altLang="zh-CN" sz="1800" i="1" dirty="0"/>
              <a:t>sender </a:t>
            </a:r>
            <a:r>
              <a:rPr lang="en-US" altLang="zh-CN" sz="1800" dirty="0"/>
              <a:t>when transferring data</a:t>
            </a:r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Wingdings" pitchFamily="2" charset="2"/>
              <a:buChar char="ü"/>
            </a:pPr>
            <a:r>
              <a:rPr lang="en-US" sz="1800" i="1" dirty="0"/>
              <a:t>Receiver</a:t>
            </a:r>
            <a:r>
              <a:rPr lang="en-US" sz="1800" dirty="0"/>
              <a:t> can just send one </a:t>
            </a:r>
            <a:r>
              <a:rPr lang="en-US" altLang="zh-CN" sz="1800" dirty="0"/>
              <a:t>cumulative</a:t>
            </a:r>
            <a:r>
              <a:rPr lang="en-US" sz="1800" dirty="0"/>
              <a:t> ACK after receiving all packets in a window rather than ACK for each packet</a:t>
            </a:r>
          </a:p>
        </p:txBody>
      </p:sp>
    </p:spTree>
    <p:extLst>
      <p:ext uri="{BB962C8B-B14F-4D97-AF65-F5344CB8AC3E}">
        <p14:creationId xmlns:p14="http://schemas.microsoft.com/office/powerpoint/2010/main" val="1485044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WTP: </a:t>
            </a:r>
            <a:r>
              <a:rPr lang="zh-CN" altLang="zh-CN" b="1" dirty="0"/>
              <a:t>sliding window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76;p16">
            <a:extLst>
              <a:ext uri="{FF2B5EF4-FFF2-40B4-BE49-F238E27FC236}">
                <a16:creationId xmlns:a16="http://schemas.microsoft.com/office/drawing/2014/main" id="{CB197AB9-D666-0CF1-8B71-F9D14429C4EA}"/>
              </a:ext>
            </a:extLst>
          </p:cNvPr>
          <p:cNvSpPr txBox="1">
            <a:spLocks/>
          </p:cNvSpPr>
          <p:nvPr/>
        </p:nvSpPr>
        <p:spPr>
          <a:xfrm>
            <a:off x="838200" y="852327"/>
            <a:ext cx="10582656" cy="196402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dirty="0"/>
              <a:t>Initially</a:t>
            </a:r>
            <a:endParaRPr lang="en-US" sz="2200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Send a window of packets</a:t>
            </a:r>
            <a:endParaRPr lang="en-US" sz="1800" dirty="0"/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dirty="0"/>
              <a:t>When sender sees a new </a:t>
            </a:r>
            <a:r>
              <a:rPr lang="en-US" altLang="zh-CN" sz="2200" i="1" dirty="0"/>
              <a:t>ACK</a:t>
            </a:r>
            <a:endParaRPr lang="en-US" sz="2200" i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Advance the window by how many pkt </a:t>
            </a:r>
            <a:r>
              <a:rPr lang="en-US" altLang="zh-CN" sz="1800" dirty="0" err="1"/>
              <a:t>acked</a:t>
            </a:r>
            <a:r>
              <a:rPr lang="en-US" altLang="zh-CN" sz="1800" dirty="0"/>
              <a:t> (could &gt; 1: cumulative ack)</a:t>
            </a:r>
            <a:endParaRPr lang="en-US" sz="1800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Send new packets covered by the window</a:t>
            </a:r>
            <a:endParaRPr lang="en-US" sz="18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36D3ACA-7329-6A33-335E-621584B65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26846"/>
            <a:ext cx="9073837" cy="401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515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 sender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3;p17">
            <a:extLst>
              <a:ext uri="{FF2B5EF4-FFF2-40B4-BE49-F238E27FC236}">
                <a16:creationId xmlns:a16="http://schemas.microsoft.com/office/drawing/2014/main" id="{090BEAF3-E38A-D357-DD2B-221412EE44DE}"/>
              </a:ext>
            </a:extLst>
          </p:cNvPr>
          <p:cNvSpPr txBox="1">
            <a:spLocks/>
          </p:cNvSpPr>
          <p:nvPr/>
        </p:nvSpPr>
        <p:spPr>
          <a:xfrm>
            <a:off x="838199" y="1199833"/>
            <a:ext cx="10200503" cy="556169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sz="12800" b="1" dirty="0"/>
              <a:t>Special Cases Strategy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Packet Loss</a:t>
            </a:r>
            <a:r>
              <a:rPr lang="en-US" altLang="zh-CN" sz="9600" dirty="0"/>
              <a:t>: retransmission timer</a:t>
            </a:r>
            <a:endParaRPr lang="en-US" sz="96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Reordered/delayed/duplicated ACK</a:t>
            </a:r>
            <a:r>
              <a:rPr lang="en-US" altLang="zh-CN" sz="9600" dirty="0"/>
              <a:t>: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Clr>
                <a:schemeClr val="tx1"/>
              </a:buClr>
              <a:buSzPts val="1400"/>
              <a:buFont typeface="Arial" panose="020B0604020202020204" pitchFamily="34" charset="0"/>
              <a:buChar char="○"/>
            </a:pPr>
            <a:r>
              <a:rPr lang="en-US" altLang="zh-CN" sz="8000" i="1" dirty="0">
                <a:solidFill>
                  <a:schemeClr val="accent2"/>
                </a:solidFill>
              </a:rPr>
              <a:t>Ignore</a:t>
            </a:r>
            <a:r>
              <a:rPr lang="en-US" altLang="zh-CN" sz="8000" dirty="0"/>
              <a:t> if the </a:t>
            </a:r>
            <a:r>
              <a:rPr lang="en-US" altLang="zh-CN" sz="8000" dirty="0" err="1"/>
              <a:t>ACKed</a:t>
            </a:r>
            <a:r>
              <a:rPr lang="en-US" altLang="zh-CN" sz="8000" dirty="0"/>
              <a:t> packet is not in the sliding window in the sender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Otherwise </a:t>
            </a:r>
            <a:r>
              <a:rPr lang="en-US" altLang="zh-CN" sz="8000" i="1" dirty="0">
                <a:solidFill>
                  <a:schemeClr val="accent2"/>
                </a:solidFill>
              </a:rPr>
              <a:t>retransmit</a:t>
            </a:r>
            <a:r>
              <a:rPr lang="en-US" altLang="zh-CN" sz="8000" dirty="0"/>
              <a:t> the desired packet</a:t>
            </a:r>
            <a:br>
              <a:rPr lang="en-US" altLang="zh-CN" sz="3300" dirty="0"/>
            </a:br>
            <a:endParaRPr lang="en-US" sz="33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dirty="0"/>
              <a:t>Implementation of </a:t>
            </a:r>
            <a:r>
              <a:rPr lang="en-US" altLang="zh-CN" sz="9600" i="1" dirty="0"/>
              <a:t>retransmission timer</a:t>
            </a:r>
            <a:endParaRPr lang="en-US" sz="9600" i="1" dirty="0"/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Use a </a:t>
            </a:r>
            <a:r>
              <a:rPr lang="en-US" altLang="zh-CN" sz="8000" i="1" dirty="0">
                <a:solidFill>
                  <a:schemeClr val="accent2"/>
                </a:solidFill>
              </a:rPr>
              <a:t>timestamp</a:t>
            </a:r>
            <a:r>
              <a:rPr lang="en-US" altLang="zh-CN" sz="8000" dirty="0"/>
              <a:t> to record packet </a:t>
            </a:r>
            <a:r>
              <a:rPr lang="en-US" altLang="zh-CN" sz="8000" i="1" dirty="0"/>
              <a:t>sending</a:t>
            </a:r>
            <a:r>
              <a:rPr lang="en-US" altLang="zh-CN" sz="8000" dirty="0"/>
              <a:t> time.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After sending, then wait for </a:t>
            </a:r>
            <a:r>
              <a:rPr lang="en-US" altLang="zh-CN" sz="8000" i="1" dirty="0"/>
              <a:t>ACK</a:t>
            </a:r>
            <a:r>
              <a:rPr lang="en-US" altLang="zh-CN" sz="8000" dirty="0"/>
              <a:t> receiving, </a:t>
            </a:r>
            <a:r>
              <a:rPr lang="en-US" altLang="zh-CN" sz="8000" i="1" dirty="0">
                <a:solidFill>
                  <a:schemeClr val="accent2"/>
                </a:solidFill>
              </a:rPr>
              <a:t>check the time </a:t>
            </a:r>
            <a:r>
              <a:rPr lang="en-US" altLang="zh-CN" sz="8000" i="1" dirty="0"/>
              <a:t>from timestamp to now</a:t>
            </a:r>
            <a:r>
              <a:rPr lang="en-US" altLang="zh-CN" sz="8000" dirty="0"/>
              <a:t>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If the time does not exceed timeout when receiving </a:t>
            </a:r>
            <a:r>
              <a:rPr lang="en-US" altLang="zh-CN" sz="8000" i="1" dirty="0"/>
              <a:t>ACK</a:t>
            </a:r>
            <a:r>
              <a:rPr lang="en-US" altLang="zh-CN" sz="8000" dirty="0"/>
              <a:t>, then:</a:t>
            </a:r>
            <a:endParaRPr lang="en-US" altLang="zh-CN" sz="7600" dirty="0"/>
          </a:p>
          <a:p>
            <a:pPr marL="1377950" lvl="2" indent="-350838">
              <a:lnSpc>
                <a:spcPct val="145000"/>
              </a:lnSpc>
              <a:spcBef>
                <a:spcPts val="0"/>
              </a:spcBef>
              <a:buSzPts val="1400"/>
              <a:buFont typeface="Wingdings" pitchFamily="2" charset="2"/>
              <a:buChar char="ü"/>
            </a:pPr>
            <a:r>
              <a:rPr lang="en-US" altLang="zh-CN" sz="7600" dirty="0"/>
              <a:t>Move sliding window and send new packet in window</a:t>
            </a:r>
          </a:p>
          <a:p>
            <a:pPr marL="1377950" lvl="2" indent="-350838">
              <a:lnSpc>
                <a:spcPct val="145000"/>
              </a:lnSpc>
              <a:spcBef>
                <a:spcPts val="0"/>
              </a:spcBef>
              <a:buSzPts val="1400"/>
              <a:buFont typeface="Wingdings" pitchFamily="2" charset="2"/>
              <a:buChar char="ü"/>
            </a:pPr>
            <a:r>
              <a:rPr lang="en-US" altLang="zh-CN" sz="7600" dirty="0"/>
              <a:t>Update timestamp when sending new data packet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sz="8000" dirty="0"/>
              <a:t>If the time exceed timeout, then: </a:t>
            </a:r>
            <a:r>
              <a:rPr lang="en-US" sz="8000" i="1" dirty="0"/>
              <a:t>re-transmit</a:t>
            </a:r>
            <a:r>
              <a:rPr lang="en-US" sz="8000" dirty="0"/>
              <a:t> the un-</a:t>
            </a:r>
            <a:r>
              <a:rPr lang="en-US" sz="8000" dirty="0" err="1"/>
              <a:t>ACKed</a:t>
            </a:r>
            <a:r>
              <a:rPr lang="en-US" sz="8000" dirty="0"/>
              <a:t> data.</a:t>
            </a: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Hint: non-blocking recv</a:t>
            </a:r>
            <a:r>
              <a:rPr lang="zh-CN" altLang="en-US" b="1" dirty="0"/>
              <a:t> </a:t>
            </a:r>
            <a:r>
              <a:rPr lang="en-US" altLang="zh-CN" b="1" dirty="0"/>
              <a:t>in sender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9;p18">
            <a:extLst>
              <a:ext uri="{FF2B5EF4-FFF2-40B4-BE49-F238E27FC236}">
                <a16:creationId xmlns:a16="http://schemas.microsoft.com/office/drawing/2014/main" id="{BC4C8BCA-4A3C-FEA2-2B3F-2EFBEA54C5F6}"/>
              </a:ext>
            </a:extLst>
          </p:cNvPr>
          <p:cNvSpPr txBox="1">
            <a:spLocks/>
          </p:cNvSpPr>
          <p:nvPr/>
        </p:nvSpPr>
        <p:spPr>
          <a:xfrm>
            <a:off x="838199" y="1160496"/>
            <a:ext cx="10936705" cy="326042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i="1" dirty="0"/>
              <a:t>recvfrom() </a:t>
            </a:r>
            <a:r>
              <a:rPr lang="en-US" altLang="zh-CN" sz="2200" b="1" dirty="0"/>
              <a:t>is a </a:t>
            </a:r>
            <a:r>
              <a:rPr lang="en-US" altLang="zh-CN" sz="2200" b="1" i="1" dirty="0">
                <a:solidFill>
                  <a:schemeClr val="accent2"/>
                </a:solidFill>
              </a:rPr>
              <a:t>blocking</a:t>
            </a:r>
            <a:r>
              <a:rPr lang="en-US" altLang="zh-CN" sz="2200" b="1" dirty="0"/>
              <a:t> function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Consider a special situation: the ACK packet is </a:t>
            </a:r>
            <a:r>
              <a:rPr lang="en-US" altLang="zh-CN" sz="1800" i="1" dirty="0"/>
              <a:t>lost</a:t>
            </a:r>
            <a:r>
              <a:rPr lang="en-US" altLang="zh-CN" sz="1800" dirty="0"/>
              <a:t>, and sender cannot receive it anymore.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We cannot check </a:t>
            </a:r>
            <a:r>
              <a:rPr lang="en-US" altLang="zh-CN" sz="1800" i="1" dirty="0"/>
              <a:t>timeout</a:t>
            </a:r>
            <a:r>
              <a:rPr lang="en-US" altLang="zh-CN" sz="1800" dirty="0"/>
              <a:t> if the process is </a:t>
            </a:r>
            <a:r>
              <a:rPr lang="en-US" altLang="zh-CN" sz="1800" i="1" dirty="0">
                <a:solidFill>
                  <a:schemeClr val="accent2"/>
                </a:solidFill>
              </a:rPr>
              <a:t>blocked</a:t>
            </a:r>
            <a:r>
              <a:rPr lang="en-US" altLang="zh-CN" sz="1800" dirty="0"/>
              <a:t> at checking </a:t>
            </a:r>
            <a:r>
              <a:rPr lang="en-US" altLang="zh-CN" sz="1800" i="1" dirty="0"/>
              <a:t>ACK</a:t>
            </a:r>
            <a:r>
              <a:rPr lang="en-US" altLang="zh-CN" sz="1800" dirty="0"/>
              <a:t>!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We should use the loop of non-blocking </a:t>
            </a:r>
            <a:r>
              <a:rPr lang="en-US" altLang="zh-CN" sz="1800" dirty="0" err="1"/>
              <a:t>recv</a:t>
            </a:r>
            <a:r>
              <a:rPr lang="en-US" altLang="zh-CN" sz="1800" dirty="0"/>
              <a:t> while checking timeout.</a:t>
            </a:r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dirty="0"/>
              <a:t>non-blocking </a:t>
            </a:r>
            <a:r>
              <a:rPr lang="en-US" altLang="zh-CN" sz="2200" b="1" dirty="0" err="1"/>
              <a:t>recv</a:t>
            </a:r>
            <a:r>
              <a:rPr lang="en-US" altLang="zh-CN" sz="2200" b="1" dirty="0"/>
              <a:t>: recvfrom with flag MSG_DONTWAIT</a:t>
            </a:r>
            <a:endParaRPr lang="en-US" sz="2200" b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If the operation would block, recvfrom() returns </a:t>
            </a:r>
            <a:r>
              <a:rPr lang="en-US" altLang="zh-CN" sz="1800" b="1" dirty="0"/>
              <a:t>EWOULDBLOCK</a:t>
            </a:r>
            <a:r>
              <a:rPr lang="en-US" altLang="zh-CN" sz="1800" dirty="0"/>
              <a:t>.</a:t>
            </a:r>
            <a:endParaRPr lang="en-US" sz="1800" dirty="0"/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dirty="0"/>
              <a:t>Is possible that I </a:t>
            </a:r>
            <a:r>
              <a:rPr lang="en-US" altLang="zh-CN" sz="2200" b="1" i="1" dirty="0">
                <a:solidFill>
                  <a:schemeClr val="accent2"/>
                </a:solidFill>
              </a:rPr>
              <a:t>miss</a:t>
            </a:r>
            <a:r>
              <a:rPr lang="en-US" altLang="zh-CN" sz="2200" b="1" dirty="0"/>
              <a:t> some </a:t>
            </a:r>
            <a:r>
              <a:rPr lang="en-US" altLang="zh-CN" sz="2200" b="1" i="1" dirty="0"/>
              <a:t>ACK</a:t>
            </a:r>
            <a:r>
              <a:rPr lang="en-US" altLang="zh-CN" sz="2200" b="1" dirty="0"/>
              <a:t> packet?</a:t>
            </a:r>
            <a:endParaRPr lang="en-US" sz="2200" b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No, if you did not receive anything in current loop, you will eventually get them in the next few loops.</a:t>
            </a:r>
            <a:endParaRPr lang="en-US" sz="18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4040FF8-A535-AF66-4C62-093C4C1A7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8" y="4420925"/>
            <a:ext cx="7772400" cy="2140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3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18CA799-E4E9-A1C8-5C60-A3F3D99D6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</a:t>
            </a:r>
            <a:r>
              <a:rPr lang="en-US" altLang="zh-CN" b="1" dirty="0"/>
              <a:t> receiver</a:t>
            </a:r>
            <a:endParaRPr lang="en-US" b="1" dirty="0"/>
          </a:p>
        </p:txBody>
      </p:sp>
      <p:sp>
        <p:nvSpPr>
          <p:cNvPr id="2" name="Google Shape;83;p17">
            <a:extLst>
              <a:ext uri="{FF2B5EF4-FFF2-40B4-BE49-F238E27FC236}">
                <a16:creationId xmlns:a16="http://schemas.microsoft.com/office/drawing/2014/main" id="{6BBEA3AE-E29F-6D3D-CADA-51EE73C22525}"/>
              </a:ext>
            </a:extLst>
          </p:cNvPr>
          <p:cNvSpPr txBox="1">
            <a:spLocks/>
          </p:cNvSpPr>
          <p:nvPr/>
        </p:nvSpPr>
        <p:spPr>
          <a:xfrm>
            <a:off x="838200" y="1117456"/>
            <a:ext cx="10981888" cy="281698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sz="12800" b="1" dirty="0"/>
              <a:t>Special Cases Strategy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Packet Corruption</a:t>
            </a:r>
            <a:r>
              <a:rPr lang="en-US" altLang="zh-CN" sz="9600" dirty="0"/>
              <a:t>: drop and do not ACK the packet if calculated checksum is wrong.</a:t>
            </a:r>
            <a:endParaRPr lang="en-US" sz="96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Reordered/delayed/duplicated packets</a:t>
            </a:r>
            <a:r>
              <a:rPr lang="en-US" altLang="zh-CN" sz="9600" dirty="0"/>
              <a:t>: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Maintain the sender’s sliding window range in receiver.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Ignore and do not ACK if the packet’s </a:t>
            </a:r>
            <a:r>
              <a:rPr lang="en-US" altLang="zh-CN" sz="8000" dirty="0" err="1"/>
              <a:t>seqNum</a:t>
            </a:r>
            <a:r>
              <a:rPr lang="en-US" altLang="zh-CN" sz="8000" dirty="0"/>
              <a:t> is not in the sliding window.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Only receive and send ACK for the packets with sequential </a:t>
            </a:r>
            <a:r>
              <a:rPr lang="en-US" altLang="zh-CN" sz="8000" dirty="0" err="1"/>
              <a:t>seqNum</a:t>
            </a:r>
            <a:r>
              <a:rPr lang="en-US" altLang="zh-CN" sz="8000" dirty="0"/>
              <a:t>.</a:t>
            </a:r>
            <a:br>
              <a:rPr lang="en-US" altLang="zh-CN" sz="3300" dirty="0"/>
            </a:br>
            <a:endParaRPr lang="en-US" altLang="zh-CN" sz="33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28F95AA-248A-0A12-F081-D8214799A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8249"/>
            <a:ext cx="6762177" cy="2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86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18CA799-E4E9-A1C8-5C60-A3F3D99D6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" altLang="zh-CN" b="1" dirty="0"/>
              <a:t>Static Router</a:t>
            </a:r>
            <a:r>
              <a:rPr lang="zh-CN" altLang="zh-CN" b="1" dirty="0"/>
              <a:t>:</a:t>
            </a:r>
            <a:r>
              <a:rPr lang="en-US" altLang="zh-CN" b="1" dirty="0"/>
              <a:t> receiver</a:t>
            </a:r>
            <a:endParaRPr lang="en-US" b="1" dirty="0"/>
          </a:p>
        </p:txBody>
      </p:sp>
      <p:sp>
        <p:nvSpPr>
          <p:cNvPr id="2" name="Google Shape;83;p17">
            <a:extLst>
              <a:ext uri="{FF2B5EF4-FFF2-40B4-BE49-F238E27FC236}">
                <a16:creationId xmlns:a16="http://schemas.microsoft.com/office/drawing/2014/main" id="{6BBEA3AE-E29F-6D3D-CADA-51EE73C22525}"/>
              </a:ext>
            </a:extLst>
          </p:cNvPr>
          <p:cNvSpPr txBox="1">
            <a:spLocks/>
          </p:cNvSpPr>
          <p:nvPr/>
        </p:nvSpPr>
        <p:spPr>
          <a:xfrm>
            <a:off x="838199" y="1117456"/>
            <a:ext cx="10990943" cy="281698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sz="12800" b="1" dirty="0"/>
              <a:t>Steps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Check that the packet is valid (has a correct </a:t>
            </a:r>
            <a:r>
              <a:rPr lang="en-US" altLang="zh-CN" sz="9600" b="1" i="1" dirty="0"/>
              <a:t>checksum</a:t>
            </a:r>
            <a:r>
              <a:rPr lang="en-US" altLang="zh-CN" sz="9600" i="1" dirty="0"/>
              <a:t>).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b="1" i="1" dirty="0"/>
              <a:t>Decrement the TTL</a:t>
            </a:r>
            <a:r>
              <a:rPr lang="en-US" altLang="zh-CN" sz="9600" i="1" dirty="0"/>
              <a:t> by 1, and recompute the packet checksum over the modified header.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Find out which entry in the routing table has the </a:t>
            </a:r>
            <a:r>
              <a:rPr lang="en-US" altLang="zh-CN" sz="9600" b="1" i="1" dirty="0"/>
              <a:t>longest prefix match </a:t>
            </a:r>
            <a:r>
              <a:rPr lang="en-US" altLang="zh-CN" sz="9600" i="1" dirty="0"/>
              <a:t>with the destination IP address.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Check the ARP cache for the </a:t>
            </a:r>
            <a:r>
              <a:rPr lang="en-US" altLang="zh-CN" sz="9600" b="1" i="1" dirty="0"/>
              <a:t>next-hop MAC address </a:t>
            </a:r>
            <a:r>
              <a:rPr lang="en-US" altLang="zh-CN" sz="9600" i="1" dirty="0"/>
              <a:t>corresponding to the next-hop IP. If it's there, send it. Otherwise, send an ARP request for the next-hop IP (if one hasn't been sent within the last second), and add the packet to the queue of packets waiting on this ARP request.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endParaRPr lang="en-US" altLang="zh-CN" sz="9600" i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endParaRPr lang="en-US" altLang="zh-CN" sz="9600" i="1" dirty="0"/>
          </a:p>
        </p:txBody>
      </p:sp>
    </p:spTree>
    <p:extLst>
      <p:ext uri="{BB962C8B-B14F-4D97-AF65-F5344CB8AC3E}">
        <p14:creationId xmlns:p14="http://schemas.microsoft.com/office/powerpoint/2010/main" val="2988958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18CA799-E4E9-A1C8-5C60-A3F3D99D6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" altLang="zh-CN" b="1" dirty="0"/>
              <a:t>Static Router</a:t>
            </a:r>
            <a:r>
              <a:rPr lang="zh-CN" altLang="zh-CN" b="1" dirty="0"/>
              <a:t>:</a:t>
            </a:r>
            <a:r>
              <a:rPr lang="en-US" altLang="zh-CN" b="1" dirty="0"/>
              <a:t> receiver</a:t>
            </a:r>
            <a:endParaRPr lang="en-US" b="1" dirty="0"/>
          </a:p>
        </p:txBody>
      </p:sp>
      <p:sp>
        <p:nvSpPr>
          <p:cNvPr id="2" name="Google Shape;83;p17">
            <a:extLst>
              <a:ext uri="{FF2B5EF4-FFF2-40B4-BE49-F238E27FC236}">
                <a16:creationId xmlns:a16="http://schemas.microsoft.com/office/drawing/2014/main" id="{6BBEA3AE-E29F-6D3D-CADA-51EE73C22525}"/>
              </a:ext>
            </a:extLst>
          </p:cNvPr>
          <p:cNvSpPr txBox="1">
            <a:spLocks/>
          </p:cNvSpPr>
          <p:nvPr/>
        </p:nvSpPr>
        <p:spPr>
          <a:xfrm>
            <a:off x="838199" y="1117456"/>
            <a:ext cx="10990943" cy="281698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" altLang="zh-CN" sz="12800" b="1" dirty="0"/>
              <a:t> Handling IPv4 forwarding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endParaRPr lang="en-US" altLang="zh-CN" sz="9600" b="1" i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Return: the egress interface (packet modified with MAC address), or NULL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Hint: you may adjust the entries inside </a:t>
            </a:r>
            <a:r>
              <a:rPr lang="en-US" altLang="zh-CN" sz="9600" b="1" i="1" dirty="0" err="1"/>
              <a:t>rtable</a:t>
            </a:r>
            <a:r>
              <a:rPr lang="en-US" altLang="zh-CN" sz="9600" b="1" i="1" dirty="0"/>
              <a:t> and </a:t>
            </a:r>
            <a:r>
              <a:rPr lang="en-US" altLang="zh-CN" sz="9600" b="1" i="1" dirty="0" err="1"/>
              <a:t>arp_cache</a:t>
            </a:r>
            <a:r>
              <a:rPr lang="en-US" altLang="zh-CN" sz="9600" b="1" i="1" dirty="0"/>
              <a:t> </a:t>
            </a:r>
            <a:r>
              <a:rPr lang="en-US" altLang="zh-CN" sz="9600" i="1" dirty="0"/>
              <a:t>to suit your configurations.</a:t>
            </a:r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endParaRPr lang="en-US" altLang="zh-CN" sz="9600" i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endParaRPr lang="en-US" altLang="zh-CN" sz="9600" i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A986952-0CCD-4467-FD4F-B630C0CF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70" y="1940301"/>
            <a:ext cx="11324399" cy="502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19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7A4BFD-FF2E-4FE5-8458-67338C96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8711"/>
            <a:ext cx="10515600" cy="646331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Assignment 3 Q &amp; A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1C77E84-359B-B990-B568-A3302507241B}"/>
              </a:ext>
            </a:extLst>
          </p:cNvPr>
          <p:cNvSpPr txBox="1">
            <a:spLocks/>
          </p:cNvSpPr>
          <p:nvPr/>
        </p:nvSpPr>
        <p:spPr>
          <a:xfrm>
            <a:off x="838200" y="11387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Please</a:t>
            </a:r>
            <a:r>
              <a:rPr lang="zh-CN" altLang="en-US" b="1" dirty="0"/>
              <a:t> </a:t>
            </a:r>
            <a:r>
              <a:rPr lang="en-US" altLang="zh-CN" b="1" dirty="0"/>
              <a:t>refer</a:t>
            </a:r>
            <a:r>
              <a:rPr lang="zh-CN" altLang="en-US" b="1" dirty="0"/>
              <a:t> </a:t>
            </a:r>
            <a:r>
              <a:rPr lang="en-US" altLang="zh-CN" b="1" dirty="0"/>
              <a:t>to the </a:t>
            </a:r>
            <a:r>
              <a:rPr lang="en-US" altLang="zh-CN" b="1" dirty="0" err="1"/>
              <a:t>Github</a:t>
            </a:r>
            <a:r>
              <a:rPr lang="en-US" altLang="zh-CN" b="1" dirty="0"/>
              <a:t> Webpage for more detailed implementation hints.</a:t>
            </a:r>
            <a:endParaRPr lang="en-US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81EC202-5887-D163-A62A-3C0264C98434}"/>
              </a:ext>
            </a:extLst>
          </p:cNvPr>
          <p:cNvSpPr txBox="1"/>
          <p:nvPr/>
        </p:nvSpPr>
        <p:spPr>
          <a:xfrm>
            <a:off x="838200" y="2753343"/>
            <a:ext cx="10086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Note: the </a:t>
            </a:r>
            <a:r>
              <a:rPr kumimoji="1" lang="en-US" altLang="zh-CN" i="1" dirty="0"/>
              <a:t>base part </a:t>
            </a:r>
            <a:r>
              <a:rPr kumimoji="1" lang="en-US" altLang="zh-CN" dirty="0"/>
              <a:t>of WTP is not the typical Go-Back-N method (we do not ACK for every received packet), please follow the information in </a:t>
            </a:r>
            <a:r>
              <a:rPr kumimoji="1" lang="en-US" altLang="zh-CN" dirty="0" err="1"/>
              <a:t>Github</a:t>
            </a:r>
            <a:r>
              <a:rPr kumimoji="1" lang="en-US" altLang="zh-CN" dirty="0"/>
              <a:t> Webpage and this tutorial strictly for implementation.</a:t>
            </a:r>
            <a:endParaRPr kumimoji="1" lang="zh-CN" altLang="en-US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8F71926-39FF-3A84-7BE0-15AD94B7F033}"/>
              </a:ext>
            </a:extLst>
          </p:cNvPr>
          <p:cNvSpPr txBox="1">
            <a:spLocks/>
          </p:cNvSpPr>
          <p:nvPr/>
        </p:nvSpPr>
        <p:spPr>
          <a:xfrm>
            <a:off x="623893" y="4782879"/>
            <a:ext cx="10515600" cy="646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626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4254</TotalTime>
  <Words>841</Words>
  <Application>Microsoft Macintosh PowerPoint</Application>
  <PresentationFormat>宽屏</PresentationFormat>
  <Paragraphs>99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Office Theme</vt:lpstr>
      <vt:lpstr>CSCI 4430 – Fall 25</vt:lpstr>
      <vt:lpstr>PowerPoint 演示文稿</vt:lpstr>
      <vt:lpstr>PowerPoint 演示文稿</vt:lpstr>
      <vt:lpstr>WTP: basis</vt:lpstr>
      <vt:lpstr>WTP: stages</vt:lpstr>
      <vt:lpstr>WTP: sliding window</vt:lpstr>
      <vt:lpstr>WTP: sender</vt:lpstr>
      <vt:lpstr>Hint: non-blocking recv in sender</vt:lpstr>
      <vt:lpstr>WTP: receiver</vt:lpstr>
      <vt:lpstr>Static Router: receiver</vt:lpstr>
      <vt:lpstr>Static Router: receiver</vt:lpstr>
      <vt:lpstr>Assignment 3 Q &amp; A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Yangtao Deng</cp:lastModifiedBy>
  <cp:revision>940</cp:revision>
  <dcterms:created xsi:type="dcterms:W3CDTF">2022-01-09T08:27:06Z</dcterms:created>
  <dcterms:modified xsi:type="dcterms:W3CDTF">2025-11-10T04:09:23Z</dcterms:modified>
</cp:coreProperties>
</file>
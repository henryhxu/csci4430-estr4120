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88" r:id="rId3"/>
    <p:sldId id="258" r:id="rId4"/>
    <p:sldId id="283" r:id="rId5"/>
    <p:sldId id="261" r:id="rId6"/>
    <p:sldId id="260" r:id="rId7"/>
    <p:sldId id="284" r:id="rId8"/>
    <p:sldId id="286" r:id="rId9"/>
    <p:sldId id="287" r:id="rId10"/>
    <p:sldId id="285" r:id="rId11"/>
    <p:sldId id="259" r:id="rId12"/>
    <p:sldId id="282" r:id="rId13"/>
    <p:sldId id="289" r:id="rId14"/>
    <p:sldId id="290" r:id="rId15"/>
    <p:sldId id="281" r:id="rId16"/>
    <p:sldId id="275" r:id="rId17"/>
    <p:sldId id="291" r:id="rId18"/>
    <p:sldId id="278" r:id="rId19"/>
    <p:sldId id="279" r:id="rId20"/>
    <p:sldId id="280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14" autoAdjust="0"/>
    <p:restoredTop sz="88843" autoAdjust="0"/>
  </p:normalViewPr>
  <p:slideViewPr>
    <p:cSldViewPr snapToGrid="0" snapToObjects="1">
      <p:cViewPr varScale="1">
        <p:scale>
          <a:sx n="143" d="100"/>
          <a:sy n="143" d="100"/>
        </p:scale>
        <p:origin x="4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FF167-5468-407F-BF08-399F401F3E28}" type="datetimeFigureOut">
              <a:rPr lang="en-HK" smtClean="0"/>
              <a:t>9/9/2025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E5830-6A7B-473E-B69D-2E2616132BAF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48189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388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56266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10012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6808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894503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83856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9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60211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500BF2-E5AC-4DD5-8465-7E367A3CF6CA}" type="slidenum">
              <a:rPr lang="en-HK" smtClean="0"/>
              <a:t>10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105647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02161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91191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15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905881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17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889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upload.wikimedia.org/wikipedia/en/3/32/Graphical_Description_of_Network_Delay.pn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2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2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</a:t>
            </a:r>
            <a:r>
              <a:rPr lang="en-US" altLang="zh-CN" sz="3200" dirty="0">
                <a:solidFill>
                  <a:srgbClr val="FF0000"/>
                </a:solidFill>
              </a:rPr>
              <a:t>un</a:t>
            </a:r>
            <a:r>
              <a:rPr lang="en-HK" sz="3200" dirty="0">
                <a:solidFill>
                  <a:srgbClr val="FF0000"/>
                </a:solidFill>
              </a:rPr>
              <a:t>, S</a:t>
            </a:r>
            <a:r>
              <a:rPr lang="en-US" altLang="zh-CN" sz="3200" dirty="0">
                <a:solidFill>
                  <a:srgbClr val="FF0000"/>
                </a:solidFill>
              </a:rPr>
              <a:t>ep</a:t>
            </a:r>
            <a:r>
              <a:rPr lang="en-HK" sz="3200" dirty="0">
                <a:solidFill>
                  <a:srgbClr val="FF0000"/>
                </a:solidFill>
              </a:rPr>
              <a:t>. 21</a:t>
            </a:r>
            <a:r>
              <a:rPr lang="en-US" altLang="zh-CN" sz="3200" dirty="0" err="1">
                <a:solidFill>
                  <a:srgbClr val="FF0000"/>
                </a:solidFill>
              </a:rPr>
              <a:t>st</a:t>
            </a:r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88" y="2358734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62059" y="2660191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71301" y="2877633"/>
            <a:ext cx="501204" cy="377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44114" y="2662102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BDC46D1-A8B6-4691-85CF-3662F3CFE629}"/>
              </a:ext>
            </a:extLst>
          </p:cNvPr>
          <p:cNvCxnSpPr>
            <a:cxnSpLocks/>
          </p:cNvCxnSpPr>
          <p:nvPr/>
        </p:nvCxnSpPr>
        <p:spPr>
          <a:xfrm>
            <a:off x="4744649" y="2877633"/>
            <a:ext cx="382392" cy="1201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C6BA76D5-1634-4AAC-BDE4-685C90A39C70}"/>
              </a:ext>
            </a:extLst>
          </p:cNvPr>
          <p:cNvSpPr txBox="1"/>
          <p:nvPr/>
        </p:nvSpPr>
        <p:spPr>
          <a:xfrm>
            <a:off x="889491" y="5586392"/>
            <a:ext cx="6094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>
                <a:solidFill>
                  <a:srgbClr val="C00000"/>
                </a:solidFill>
              </a:rPr>
              <a:t>For macOS (Apple Silicon) users: </a:t>
            </a:r>
            <a:r>
              <a:rPr lang="en-HK" dirty="0"/>
              <a:t>please follow the setup instructions in our GitHub repo.</a:t>
            </a:r>
          </a:p>
        </p:txBody>
      </p:sp>
    </p:spTree>
    <p:extLst>
      <p:ext uri="{BB962C8B-B14F-4D97-AF65-F5344CB8AC3E}">
        <p14:creationId xmlns:p14="http://schemas.microsoft.com/office/powerpoint/2010/main" val="3948842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Socket Programming R</a:t>
            </a:r>
            <a:r>
              <a:rPr lang="en-US" altLang="zh-CN" sz="3200" dirty="0"/>
              <a:t>evisiting</a:t>
            </a:r>
            <a:endParaRPr lang="en-US" sz="3200" dirty="0"/>
          </a:p>
          <a:p>
            <a:r>
              <a:rPr lang="en-US" sz="3200" dirty="0"/>
              <a:t>Performance Metrics - Delay</a:t>
            </a:r>
          </a:p>
          <a:p>
            <a:r>
              <a:rPr lang="en-US" sz="3200" dirty="0"/>
              <a:t>Performance Metrics - Throughput</a:t>
            </a:r>
          </a:p>
          <a:p>
            <a:r>
              <a:rPr lang="en-US" altLang="zh-CN" sz="3200" dirty="0"/>
              <a:t>Exercise </a:t>
            </a:r>
            <a:r>
              <a:rPr lang="en-US" sz="3200" dirty="0"/>
              <a:t>1</a:t>
            </a:r>
          </a:p>
          <a:p>
            <a:r>
              <a:rPr lang="en-US" altLang="zh-CN" sz="3200" dirty="0"/>
              <a:t>Exercise 2</a:t>
            </a:r>
            <a:endParaRPr lang="en-US" sz="3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/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/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DEB41D64-1C01-4C1A-9347-D467748297AD}"/>
              </a:ext>
            </a:extLst>
          </p:cNvPr>
          <p:cNvSpPr txBox="1">
            <a:spLocks/>
          </p:cNvSpPr>
          <p:nvPr/>
        </p:nvSpPr>
        <p:spPr bwMode="auto">
          <a:xfrm>
            <a:off x="7827065" y="6813550"/>
            <a:ext cx="2057400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Comic Sans MS" pitchFamily="66" charset="0"/>
                <a:ea typeface="+mn-ea"/>
                <a:cs typeface="+mn-cs"/>
              </a:defRPr>
            </a:lvl9pPr>
          </a:lstStyle>
          <a:p>
            <a:fld id="{2AEB5DB0-1750-46EA-AC7C-282DFECA4821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37" name="Text Box 24">
            <a:extLst>
              <a:ext uri="{FF2B5EF4-FFF2-40B4-BE49-F238E27FC236}">
                <a16:creationId xmlns:a16="http://schemas.microsoft.com/office/drawing/2014/main" id="{51B30D0A-CD98-4973-BEB1-35D60C728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8" name="Text Box 25">
            <a:extLst>
              <a:ext uri="{FF2B5EF4-FFF2-40B4-BE49-F238E27FC236}">
                <a16:creationId xmlns:a16="http://schemas.microsoft.com/office/drawing/2014/main" id="{F4F2D922-2A40-4728-B07F-F97E9499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500" y="196691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9" name="Line 28">
            <a:extLst>
              <a:ext uri="{FF2B5EF4-FFF2-40B4-BE49-F238E27FC236}">
                <a16:creationId xmlns:a16="http://schemas.microsoft.com/office/drawing/2014/main" id="{37957464-8D89-40C2-9BE8-080A73E5B7F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623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839DA00A-3817-4C09-A444-EF9F5FF93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1900" y="196691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41" name="Line 30">
            <a:extLst>
              <a:ext uri="{FF2B5EF4-FFF2-40B4-BE49-F238E27FC236}">
                <a16:creationId xmlns:a16="http://schemas.microsoft.com/office/drawing/2014/main" id="{B582D3F4-8994-45DB-A311-DAB3B0927E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ine 32">
            <a:extLst>
              <a:ext uri="{FF2B5EF4-FFF2-40B4-BE49-F238E27FC236}">
                <a16:creationId xmlns:a16="http://schemas.microsoft.com/office/drawing/2014/main" id="{B0497BEB-F867-4B38-ACD4-28877191F7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05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Box 33">
            <a:extLst>
              <a:ext uri="{FF2B5EF4-FFF2-40B4-BE49-F238E27FC236}">
                <a16:creationId xmlns:a16="http://schemas.microsoft.com/office/drawing/2014/main" id="{EA0AB052-545B-418A-BDCA-94F5B1B46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2662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flow chart</a:t>
            </a:r>
          </a:p>
        </p:txBody>
      </p:sp>
      <p:sp>
        <p:nvSpPr>
          <p:cNvPr id="44" name="Text Box 38">
            <a:extLst>
              <a:ext uri="{FF2B5EF4-FFF2-40B4-BE49-F238E27FC236}">
                <a16:creationId xmlns:a16="http://schemas.microsoft.com/office/drawing/2014/main" id="{EB1D262D-EE47-42CD-BFAC-EB7B8AA386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9500" y="1981200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45" name="Text Box 40">
            <a:extLst>
              <a:ext uri="{FF2B5EF4-FFF2-40B4-BE49-F238E27FC236}">
                <a16:creationId xmlns:a16="http://schemas.microsoft.com/office/drawing/2014/main" id="{61EE0599-9820-493F-A50A-DD9DC1E94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3124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46" name="Line 41">
            <a:extLst>
              <a:ext uri="{FF2B5EF4-FFF2-40B4-BE49-F238E27FC236}">
                <a16:creationId xmlns:a16="http://schemas.microsoft.com/office/drawing/2014/main" id="{9626CDC9-A961-4D24-82E4-4FFE60317AF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9900" y="21336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5A5563DE-AD7D-4E38-918D-3C47E88D3C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67700" y="24384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Box 43">
            <a:extLst>
              <a:ext uri="{FF2B5EF4-FFF2-40B4-BE49-F238E27FC236}">
                <a16:creationId xmlns:a16="http://schemas.microsoft.com/office/drawing/2014/main" id="{88690CBE-AA7B-43AD-97C5-B4B0594603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2438400"/>
            <a:ext cx="10906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50" name="Text Box 45">
            <a:extLst>
              <a:ext uri="{FF2B5EF4-FFF2-40B4-BE49-F238E27FC236}">
                <a16:creationId xmlns:a16="http://schemas.microsoft.com/office/drawing/2014/main" id="{22236891-0D8E-41D9-8A74-99855881E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0700" y="5553075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51" name="Text Box 46">
            <a:extLst>
              <a:ext uri="{FF2B5EF4-FFF2-40B4-BE49-F238E27FC236}">
                <a16:creationId xmlns:a16="http://schemas.microsoft.com/office/drawing/2014/main" id="{3D6E55C1-A2EB-4F0C-AFBA-51D9E95BB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2100" y="5553075"/>
            <a:ext cx="1322388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52" name="Line 49">
            <a:extLst>
              <a:ext uri="{FF2B5EF4-FFF2-40B4-BE49-F238E27FC236}">
                <a16:creationId xmlns:a16="http://schemas.microsoft.com/office/drawing/2014/main" id="{E92FE10C-0B44-43F7-9979-EDB192EA0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99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Box 50">
            <a:extLst>
              <a:ext uri="{FF2B5EF4-FFF2-40B4-BE49-F238E27FC236}">
                <a16:creationId xmlns:a16="http://schemas.microsoft.com/office/drawing/2014/main" id="{5F0B5415-152B-4799-9812-36EA759F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54" name="Line 51">
            <a:extLst>
              <a:ext uri="{FF2B5EF4-FFF2-40B4-BE49-F238E27FC236}">
                <a16:creationId xmlns:a16="http://schemas.microsoft.com/office/drawing/2014/main" id="{5CC90200-4A25-467A-ACA6-0A2590CEA4E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62500" y="571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5" name="Line 52">
            <a:extLst>
              <a:ext uri="{FF2B5EF4-FFF2-40B4-BE49-F238E27FC236}">
                <a16:creationId xmlns:a16="http://schemas.microsoft.com/office/drawing/2014/main" id="{576A67B6-D3E7-49A7-BCB9-CF766C6F44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913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Box 54">
            <a:extLst>
              <a:ext uri="{FF2B5EF4-FFF2-40B4-BE49-F238E27FC236}">
                <a16:creationId xmlns:a16="http://schemas.microsoft.com/office/drawing/2014/main" id="{7ECD3367-8826-4AD9-BB93-79CA84F71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0" y="609123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57" name="Text Box 55">
            <a:extLst>
              <a:ext uri="{FF2B5EF4-FFF2-40B4-BE49-F238E27FC236}">
                <a16:creationId xmlns:a16="http://schemas.microsoft.com/office/drawing/2014/main" id="{037689BF-C248-4497-AC96-927F2CE42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500" y="4648200"/>
            <a:ext cx="2952750" cy="376238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7ACE4599-881F-49AE-97C9-E0341301F4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5700" y="50292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Box 58">
            <a:extLst>
              <a:ext uri="{FF2B5EF4-FFF2-40B4-BE49-F238E27FC236}">
                <a16:creationId xmlns:a16="http://schemas.microsoft.com/office/drawing/2014/main" id="{A7C8A413-15D5-4680-9A0B-C59CCBE94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1900" y="5126038"/>
            <a:ext cx="609600" cy="2841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DONE!</a:t>
            </a:r>
          </a:p>
        </p:txBody>
      </p:sp>
      <p:sp>
        <p:nvSpPr>
          <p:cNvPr id="60" name="Text Box 59">
            <a:extLst>
              <a:ext uri="{FF2B5EF4-FFF2-40B4-BE49-F238E27FC236}">
                <a16:creationId xmlns:a16="http://schemas.microsoft.com/office/drawing/2014/main" id="{BDDEFD4A-280B-4539-AF2B-FD88846C4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2300" y="555307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close()</a:t>
            </a:r>
          </a:p>
        </p:txBody>
      </p:sp>
      <p:sp>
        <p:nvSpPr>
          <p:cNvPr id="61" name="Text Box 60">
            <a:extLst>
              <a:ext uri="{FF2B5EF4-FFF2-40B4-BE49-F238E27FC236}">
                <a16:creationId xmlns:a16="http://schemas.microsoft.com/office/drawing/2014/main" id="{6575A854-6A15-4828-8C23-C59F89925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0750" y="5553075"/>
            <a:ext cx="946150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</a:t>
            </a:r>
          </a:p>
        </p:txBody>
      </p:sp>
      <p:sp>
        <p:nvSpPr>
          <p:cNvPr id="62" name="Line 61">
            <a:extLst>
              <a:ext uri="{FF2B5EF4-FFF2-40B4-BE49-F238E27FC236}">
                <a16:creationId xmlns:a16="http://schemas.microsoft.com/office/drawing/2014/main" id="{1066E067-0460-4F9B-91F2-E1AC32C187D3}"/>
              </a:ext>
            </a:extLst>
          </p:cNvPr>
          <p:cNvSpPr>
            <a:spLocks noChangeShapeType="1"/>
          </p:cNvSpPr>
          <p:nvPr/>
        </p:nvSpPr>
        <p:spPr bwMode="auto">
          <a:xfrm>
            <a:off x="8115300" y="57912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3" name="AutoShape 62">
            <a:extLst>
              <a:ext uri="{FF2B5EF4-FFF2-40B4-BE49-F238E27FC236}">
                <a16:creationId xmlns:a16="http://schemas.microsoft.com/office/drawing/2014/main" id="{6E60F802-48A2-4B44-A4B6-2901EDF69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3581400"/>
            <a:ext cx="1981200" cy="990600"/>
          </a:xfrm>
          <a:prstGeom prst="upDownArrow">
            <a:avLst>
              <a:gd name="adj1" fmla="val 50000"/>
              <a:gd name="adj2" fmla="val 20000"/>
            </a:avLst>
          </a:prstGeom>
          <a:solidFill>
            <a:srgbClr val="FFCC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altLang="zh-TW" b="1">
                <a:latin typeface="Consolas" pitchFamily="49" charset="0"/>
              </a:rPr>
              <a:t>read()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&amp;</a:t>
            </a:r>
          </a:p>
          <a:p>
            <a:pPr algn="ctr"/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64" name="AutoShape 64">
            <a:extLst>
              <a:ext uri="{FF2B5EF4-FFF2-40B4-BE49-F238E27FC236}">
                <a16:creationId xmlns:a16="http://schemas.microsoft.com/office/drawing/2014/main" id="{B5A7C90F-0E3B-43E1-B93D-6D9F31A9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3636963"/>
            <a:ext cx="2895600" cy="1011237"/>
          </a:xfrm>
          <a:prstGeom prst="flowChartAlternateProcess">
            <a:avLst/>
          </a:prstGeom>
          <a:solidFill>
            <a:srgbClr val="DDDDDD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zh-TW" sz="1600" b="1" u="sng" dirty="0">
                <a:latin typeface="Calibri" pitchFamily="34" charset="0"/>
              </a:rPr>
              <a:t>Limitation: </a:t>
            </a:r>
          </a:p>
          <a:p>
            <a:r>
              <a:rPr lang="en-US" altLang="zh-TW" sz="1600" dirty="0">
                <a:latin typeface="Calibri" pitchFamily="34" charset="0"/>
              </a:rPr>
              <a:t>Only supports a single client!</a:t>
            </a:r>
          </a:p>
        </p:txBody>
      </p:sp>
      <p:sp>
        <p:nvSpPr>
          <p:cNvPr id="65" name="Text Box 65">
            <a:extLst>
              <a:ext uri="{FF2B5EF4-FFF2-40B4-BE49-F238E27FC236}">
                <a16:creationId xmlns:a16="http://schemas.microsoft.com/office/drawing/2014/main" id="{242C7A80-C4AA-4815-AC4C-3E93D22F7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2438400"/>
            <a:ext cx="13954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0313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altLang="zh-TW" b="1" dirty="0"/>
              <a:t>Server Parallelization</a:t>
            </a:r>
            <a:endParaRPr lang="en-US" b="1" dirty="0"/>
          </a:p>
        </p:txBody>
      </p:sp>
      <p:sp>
        <p:nvSpPr>
          <p:cNvPr id="34" name="Text Box 5">
            <a:extLst>
              <a:ext uri="{FF2B5EF4-FFF2-40B4-BE49-F238E27FC236}">
                <a16:creationId xmlns:a16="http://schemas.microsoft.com/office/drawing/2014/main" id="{4AC9FC81-0627-4B71-86BC-7628F17482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4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BCFE8564-0D96-4CD2-9BC6-499365BA8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2275" y="2124075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36" name="Line 7">
            <a:extLst>
              <a:ext uri="{FF2B5EF4-FFF2-40B4-BE49-F238E27FC236}">
                <a16:creationId xmlns:a16="http://schemas.microsoft.com/office/drawing/2014/main" id="{E5E71293-3382-4BC4-9CF6-FD4B0F6224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Box 8">
            <a:extLst>
              <a:ext uri="{FF2B5EF4-FFF2-40B4-BE49-F238E27FC236}">
                <a16:creationId xmlns:a16="http://schemas.microsoft.com/office/drawing/2014/main" id="{B784DA10-4EAB-4DC3-AEF5-68E32F499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9675" y="2124075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94643CD-8472-432D-A408-19FCC4A92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92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Box 11">
            <a:extLst>
              <a:ext uri="{FF2B5EF4-FFF2-40B4-BE49-F238E27FC236}">
                <a16:creationId xmlns:a16="http://schemas.microsoft.com/office/drawing/2014/main" id="{1294C81E-8DD3-4B24-B6A2-9E172AC18A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2819400"/>
            <a:ext cx="1276350" cy="527050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main</a:t>
            </a:r>
          </a:p>
          <a:p>
            <a:r>
              <a:rPr lang="en-US" altLang="zh-TW" sz="1400" b="1">
                <a:latin typeface="Consolas" pitchFamily="49" charset="0"/>
              </a:rPr>
              <a:t>flow chart</a:t>
            </a:r>
          </a:p>
        </p:txBody>
      </p:sp>
      <p:sp>
        <p:nvSpPr>
          <p:cNvPr id="68" name="Text Box 12">
            <a:extLst>
              <a:ext uri="{FF2B5EF4-FFF2-40B4-BE49-F238E27FC236}">
                <a16:creationId xmlns:a16="http://schemas.microsoft.com/office/drawing/2014/main" id="{A83E6211-FE6F-4BC2-9279-501DB073F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2138362"/>
            <a:ext cx="1196975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accept()</a:t>
            </a: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0589CC9B-2FAC-40C5-AE4B-E2A07D041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6325" y="4687887"/>
            <a:ext cx="1657350" cy="650875"/>
          </a:xfrm>
          <a:prstGeom prst="rect">
            <a:avLst/>
          </a:prstGeom>
          <a:solidFill>
            <a:srgbClr val="FFCC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Application-layer code</a:t>
            </a:r>
          </a:p>
        </p:txBody>
      </p:sp>
      <p:sp>
        <p:nvSpPr>
          <p:cNvPr id="70" name="Line 14">
            <a:extLst>
              <a:ext uri="{FF2B5EF4-FFF2-40B4-BE49-F238E27FC236}">
                <a16:creationId xmlns:a16="http://schemas.microsoft.com/office/drawing/2014/main" id="{855F7553-5C12-4AF6-93CE-579CDDCE9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7675" y="22907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Box 18">
            <a:extLst>
              <a:ext uri="{FF2B5EF4-FFF2-40B4-BE49-F238E27FC236}">
                <a16:creationId xmlns:a16="http://schemas.microsoft.com/office/drawing/2014/main" id="{01751F0C-58E5-4F6C-BAFA-C8D6CFAC3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75" y="3362325"/>
            <a:ext cx="39179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altLang="zh-TW" b="1" dirty="0">
                <a:latin typeface="Consolas" pitchFamily="49" charset="0"/>
              </a:rPr>
              <a:t>fork() or </a:t>
            </a:r>
            <a:r>
              <a:rPr lang="en-US" altLang="zh-TW" b="1" dirty="0" err="1">
                <a:latin typeface="Consolas" pitchFamily="49" charset="0"/>
              </a:rPr>
              <a:t>pthread_create</a:t>
            </a:r>
            <a:r>
              <a:rPr lang="en-US" altLang="zh-TW" b="1" dirty="0">
                <a:latin typeface="Consolas" pitchFamily="49" charset="0"/>
              </a:rPr>
              <a:t>()</a:t>
            </a:r>
          </a:p>
        </p:txBody>
      </p:sp>
      <p:sp>
        <p:nvSpPr>
          <p:cNvPr id="72" name="Line 21">
            <a:extLst>
              <a:ext uri="{FF2B5EF4-FFF2-40B4-BE49-F238E27FC236}">
                <a16:creationId xmlns:a16="http://schemas.microsoft.com/office/drawing/2014/main" id="{5048673B-FD5E-4AC6-BDFC-7342D119D6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49925" y="5033962"/>
            <a:ext cx="1600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3" name="Text Box 16">
            <a:extLst>
              <a:ext uri="{FF2B5EF4-FFF2-40B4-BE49-F238E27FC236}">
                <a16:creationId xmlns:a16="http://schemas.microsoft.com/office/drawing/2014/main" id="{A7A49A50-3CA3-4FA5-B08A-C3380D889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0913" y="4795837"/>
            <a:ext cx="1090612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connection is closed.</a:t>
            </a:r>
          </a:p>
        </p:txBody>
      </p:sp>
      <p:sp>
        <p:nvSpPr>
          <p:cNvPr id="74" name="Text Box 23">
            <a:extLst>
              <a:ext uri="{FF2B5EF4-FFF2-40B4-BE49-F238E27FC236}">
                <a16:creationId xmlns:a16="http://schemas.microsoft.com/office/drawing/2014/main" id="{D77CC3D0-5ADF-4F8F-A4FF-172DBD3C2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2525" y="4652962"/>
            <a:ext cx="194945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exit() or</a:t>
            </a:r>
          </a:p>
          <a:p>
            <a:r>
              <a:rPr lang="en-US" altLang="zh-TW" b="1">
                <a:latin typeface="Consolas" pitchFamily="49" charset="0"/>
              </a:rPr>
              <a:t>pthread_exit()</a:t>
            </a:r>
          </a:p>
        </p:txBody>
      </p:sp>
      <p:sp>
        <p:nvSpPr>
          <p:cNvPr id="75" name="Line 24">
            <a:extLst>
              <a:ext uri="{FF2B5EF4-FFF2-40B4-BE49-F238E27FC236}">
                <a16:creationId xmlns:a16="http://schemas.microsoft.com/office/drawing/2014/main" id="{5E6552E1-DE21-473E-B000-FE76B12F5935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3814762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6" name="Text Box 25">
            <a:extLst>
              <a:ext uri="{FF2B5EF4-FFF2-40B4-BE49-F238E27FC236}">
                <a16:creationId xmlns:a16="http://schemas.microsoft.com/office/drawing/2014/main" id="{32F94719-8F28-4DFF-A14E-982864C85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5875" y="4043362"/>
            <a:ext cx="6858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child</a:t>
            </a:r>
          </a:p>
        </p:txBody>
      </p:sp>
      <p:sp>
        <p:nvSpPr>
          <p:cNvPr id="77" name="Line 26">
            <a:extLst>
              <a:ext uri="{FF2B5EF4-FFF2-40B4-BE49-F238E27FC236}">
                <a16:creationId xmlns:a16="http://schemas.microsoft.com/office/drawing/2014/main" id="{CE17BBD3-09CA-4E6B-8347-B3C285BA6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16875" y="2595562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8" name="Line 27">
            <a:extLst>
              <a:ext uri="{FF2B5EF4-FFF2-40B4-BE49-F238E27FC236}">
                <a16:creationId xmlns:a16="http://schemas.microsoft.com/office/drawing/2014/main" id="{9FBC52DC-90B9-4B97-9011-B26D7EAD8B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626475" y="2290762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79" name="Line 28">
            <a:extLst>
              <a:ext uri="{FF2B5EF4-FFF2-40B4-BE49-F238E27FC236}">
                <a16:creationId xmlns:a16="http://schemas.microsoft.com/office/drawing/2014/main" id="{85CC7AD9-D641-426B-A611-843784356599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7475" y="2290762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0" name="Line 29">
            <a:extLst>
              <a:ext uri="{FF2B5EF4-FFF2-40B4-BE49-F238E27FC236}">
                <a16:creationId xmlns:a16="http://schemas.microsoft.com/office/drawing/2014/main" id="{08C4E711-3A7B-450E-BA21-AFE77C36DF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0275" y="3509962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81" name="Text Box 30">
            <a:extLst>
              <a:ext uri="{FF2B5EF4-FFF2-40B4-BE49-F238E27FC236}">
                <a16:creationId xmlns:a16="http://schemas.microsoft.com/office/drawing/2014/main" id="{2F07CAF5-4724-46FC-BA4A-6DD2C34C7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0275" y="2595562"/>
            <a:ext cx="914400" cy="284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parent</a:t>
            </a:r>
          </a:p>
        </p:txBody>
      </p:sp>
      <p:sp>
        <p:nvSpPr>
          <p:cNvPr id="82" name="Text Box 31">
            <a:extLst>
              <a:ext uri="{FF2B5EF4-FFF2-40B4-BE49-F238E27FC236}">
                <a16:creationId xmlns:a16="http://schemas.microsoft.com/office/drawing/2014/main" id="{4F08A940-1BE8-4B41-A27D-F3960F52D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275" y="4576762"/>
            <a:ext cx="1600200" cy="739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Server client-handler flow chart</a:t>
            </a:r>
          </a:p>
        </p:txBody>
      </p:sp>
      <p:sp>
        <p:nvSpPr>
          <p:cNvPr id="83" name="Text Box 33">
            <a:extLst>
              <a:ext uri="{FF2B5EF4-FFF2-40B4-BE49-F238E27FC236}">
                <a16:creationId xmlns:a16="http://schemas.microsoft.com/office/drawing/2014/main" id="{028C2B4C-9E72-4C06-99C3-6500F58E3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2875" y="2671762"/>
            <a:ext cx="1395413" cy="4667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New connection arrives</a:t>
            </a:r>
          </a:p>
        </p:txBody>
      </p:sp>
    </p:spTree>
    <p:extLst>
      <p:ext uri="{BB962C8B-B14F-4D97-AF65-F5344CB8AC3E}">
        <p14:creationId xmlns:p14="http://schemas.microsoft.com/office/powerpoint/2010/main" val="1729902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736" y="53405"/>
            <a:ext cx="10515600" cy="793935"/>
          </a:xfrm>
        </p:spPr>
        <p:txBody>
          <a:bodyPr/>
          <a:lstStyle/>
          <a:p>
            <a:r>
              <a:rPr lang="en-US" b="1" dirty="0"/>
              <a:t>Socket Programming: C++ D</a:t>
            </a:r>
            <a:r>
              <a:rPr lang="en-US" altLang="zh-CN" b="1" dirty="0"/>
              <a:t>emo</a:t>
            </a:r>
            <a:endParaRPr 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F3D9E-9166-4273-8B03-7022E90DEFDD}"/>
              </a:ext>
            </a:extLst>
          </p:cNvPr>
          <p:cNvSpPr txBox="1"/>
          <p:nvPr/>
        </p:nvSpPr>
        <p:spPr>
          <a:xfrm>
            <a:off x="5799626" y="6461157"/>
            <a:ext cx="63923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dirty="0"/>
              <a:t>https://github.com/henryhxu/CSCI4430/tree/2025_</a:t>
            </a:r>
            <a:r>
              <a:rPr lang="en-US" altLang="zh-CN" sz="1200" dirty="0"/>
              <a:t>fall</a:t>
            </a:r>
            <a:r>
              <a:rPr lang="en-HK" sz="1200" dirty="0"/>
              <a:t>/tutorial/T01/bgreeves-socket-example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FB4A832-769B-4D5F-9DE0-7FC7B505E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523" y="998472"/>
            <a:ext cx="4241523" cy="562948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CBC7BFA0-DA89-4C74-B056-99EE5AAC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8486" y="1454101"/>
            <a:ext cx="3660898" cy="39133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AC2F1D03-6241-4515-AD65-B405F2A8B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349" y="3009074"/>
            <a:ext cx="3535037" cy="3412039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1CD11CC1-F2C8-4277-B8F0-3B9C4BA3A899}"/>
              </a:ext>
            </a:extLst>
          </p:cNvPr>
          <p:cNvSpPr/>
          <p:nvPr/>
        </p:nvSpPr>
        <p:spPr>
          <a:xfrm>
            <a:off x="1330036" y="5978769"/>
            <a:ext cx="2346747" cy="306932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9B237F-D1E8-494E-B87B-7831F0F8EDE5}"/>
              </a:ext>
            </a:extLst>
          </p:cNvPr>
          <p:cNvCxnSpPr>
            <a:cxnSpLocks/>
          </p:cNvCxnSpPr>
          <p:nvPr/>
        </p:nvCxnSpPr>
        <p:spPr>
          <a:xfrm flipV="1">
            <a:off x="3606445" y="4623155"/>
            <a:ext cx="709779" cy="1325563"/>
          </a:xfrm>
          <a:prstGeom prst="straightConnector1">
            <a:avLst/>
          </a:prstGeom>
          <a:ln w="127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69F019B-D00F-48D3-9D08-D540CCE69A35}"/>
              </a:ext>
            </a:extLst>
          </p:cNvPr>
          <p:cNvSpPr txBox="1"/>
          <p:nvPr/>
        </p:nvSpPr>
        <p:spPr>
          <a:xfrm>
            <a:off x="3779094" y="1287844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9C0A796-6341-4329-99D9-38EEA781A9F0}"/>
              </a:ext>
            </a:extLst>
          </p:cNvPr>
          <p:cNvSpPr txBox="1"/>
          <p:nvPr/>
        </p:nvSpPr>
        <p:spPr>
          <a:xfrm>
            <a:off x="6450610" y="3271356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Server-side</a:t>
            </a:r>
            <a:endParaRPr lang="en-HK" dirty="0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D201568-4544-4A40-A3A3-18695576894A}"/>
              </a:ext>
            </a:extLst>
          </p:cNvPr>
          <p:cNvSpPr txBox="1"/>
          <p:nvPr/>
        </p:nvSpPr>
        <p:spPr>
          <a:xfrm>
            <a:off x="10425423" y="4942879"/>
            <a:ext cx="127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solidFill>
                  <a:schemeClr val="bg1"/>
                </a:solidFill>
                <a:latin typeface="Calibri" pitchFamily="34" charset="0"/>
              </a:rPr>
              <a:t>Client-side</a:t>
            </a:r>
            <a:endParaRPr lang="en-HK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933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Link properties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Transmission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Propagation delay</a:t>
            </a:r>
          </a:p>
          <a:p>
            <a:pPr marL="0" indent="0">
              <a:buNone/>
            </a:pPr>
            <a:endParaRPr lang="en-US" sz="32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3EAC27-E08F-47FC-A318-3E4F125289D3}"/>
              </a:ext>
            </a:extLst>
          </p:cNvPr>
          <p:cNvGrpSpPr/>
          <p:nvPr/>
        </p:nvGrpSpPr>
        <p:grpSpPr>
          <a:xfrm>
            <a:off x="4405745" y="2542309"/>
            <a:ext cx="6891759" cy="3425391"/>
            <a:chOff x="6016420" y="2075995"/>
            <a:chExt cx="5976575" cy="3025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63B62-D650-40E3-9114-5B0B776EAE3F}"/>
                </a:ext>
              </a:extLst>
            </p:cNvPr>
            <p:cNvGrpSpPr/>
            <p:nvPr/>
          </p:nvGrpSpPr>
          <p:grpSpPr>
            <a:xfrm>
              <a:off x="7204375" y="2079313"/>
              <a:ext cx="851584" cy="3022478"/>
              <a:chOff x="8007939" y="1999795"/>
              <a:chExt cx="851584" cy="3022478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23C554-B0C4-419F-9F14-746DAE6988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7F972B-059F-4447-AF63-20C16818A38A}"/>
                  </a:ext>
                </a:extLst>
              </p:cNvPr>
              <p:cNvSpPr txBox="1"/>
              <p:nvPr/>
            </p:nvSpPr>
            <p:spPr>
              <a:xfrm>
                <a:off x="8007939" y="1999795"/>
                <a:ext cx="851584" cy="353434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Sender</a:t>
                </a:r>
                <a:endParaRPr lang="en-HK" sz="2000" b="1" dirty="0"/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2AA2FB-31FE-40EF-B8AA-62C4E760D0AF}"/>
                </a:ext>
              </a:extLst>
            </p:cNvPr>
            <p:cNvCxnSpPr/>
            <p:nvPr/>
          </p:nvCxnSpPr>
          <p:spPr>
            <a:xfrm>
              <a:off x="7287502" y="2580264"/>
              <a:ext cx="3262734" cy="0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DE616F1-3B30-41E1-9A2A-B0DD39EF5253}"/>
                </a:ext>
              </a:extLst>
            </p:cNvPr>
            <p:cNvGrpSpPr/>
            <p:nvPr/>
          </p:nvGrpSpPr>
          <p:grpSpPr>
            <a:xfrm>
              <a:off x="9763485" y="2075995"/>
              <a:ext cx="999551" cy="3025796"/>
              <a:chOff x="7938143" y="1996477"/>
              <a:chExt cx="999551" cy="3025796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0E9F338-FFA9-422F-AD24-B7C4ABB069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0490" y="2369127"/>
                <a:ext cx="0" cy="265314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0B164B1-1E27-435E-818E-D5A3E813E1A1}"/>
                  </a:ext>
                </a:extLst>
              </p:cNvPr>
              <p:cNvSpPr txBox="1"/>
              <p:nvPr/>
            </p:nvSpPr>
            <p:spPr>
              <a:xfrm>
                <a:off x="7938143" y="1996477"/>
                <a:ext cx="999551" cy="353434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b="1" dirty="0"/>
                  <a:t>Receiver</a:t>
                </a:r>
                <a:endParaRPr lang="en-HK" sz="2000" b="1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71689FA-5487-495C-A6D7-3F8B1058BCF8}"/>
                </a:ext>
              </a:extLst>
            </p:cNvPr>
            <p:cNvCxnSpPr/>
            <p:nvPr/>
          </p:nvCxnSpPr>
          <p:spPr>
            <a:xfrm>
              <a:off x="7626926" y="2580264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C2DA02-B551-41D3-ADC5-6E762A567E0B}"/>
                </a:ext>
              </a:extLst>
            </p:cNvPr>
            <p:cNvCxnSpPr/>
            <p:nvPr/>
          </p:nvCxnSpPr>
          <p:spPr>
            <a:xfrm>
              <a:off x="7626926" y="4499119"/>
              <a:ext cx="2628906" cy="5264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1F7687EA-E3D3-47DD-844D-31C41471817F}"/>
                </a:ext>
              </a:extLst>
            </p:cNvPr>
            <p:cNvSpPr/>
            <p:nvPr/>
          </p:nvSpPr>
          <p:spPr>
            <a:xfrm>
              <a:off x="10336894" y="2580263"/>
              <a:ext cx="197942" cy="52647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 dirty="0">
                <a:highlight>
                  <a:srgbClr val="000000"/>
                </a:highlight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29A73E-472F-46A0-AF6F-65609AECBF45}"/>
                </a:ext>
              </a:extLst>
            </p:cNvPr>
            <p:cNvSpPr txBox="1"/>
            <p:nvPr/>
          </p:nvSpPr>
          <p:spPr>
            <a:xfrm>
              <a:off x="10614455" y="2520334"/>
              <a:ext cx="137854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Propagation delay</a:t>
              </a:r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F8885BED-7AF8-4E02-94BB-187FBA97E1C0}"/>
                </a:ext>
              </a:extLst>
            </p:cNvPr>
            <p:cNvSpPr/>
            <p:nvPr/>
          </p:nvSpPr>
          <p:spPr>
            <a:xfrm rot="10800000">
              <a:off x="7357161" y="2582410"/>
              <a:ext cx="179843" cy="1918855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HK" sz="2000" b="1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C2DB60-63E6-4A7D-A242-92FB87EAE5FE}"/>
                </a:ext>
              </a:extLst>
            </p:cNvPr>
            <p:cNvSpPr txBox="1"/>
            <p:nvPr/>
          </p:nvSpPr>
          <p:spPr>
            <a:xfrm>
              <a:off x="6016420" y="3277497"/>
              <a:ext cx="138372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Transmission delay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Delay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Traffic mix and switch internals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Queuing delay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Processing delay (negligible?)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81220-A227-48C1-BD9E-0AC99BAA9538}"/>
              </a:ext>
            </a:extLst>
          </p:cNvPr>
          <p:cNvSpPr txBox="1"/>
          <p:nvPr/>
        </p:nvSpPr>
        <p:spPr>
          <a:xfrm>
            <a:off x="477982" y="6329341"/>
            <a:ext cx="6563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2"/>
              </a:rPr>
              <a:t>[1] Graphical_Description_of_Network_Delay.png (428×233) (wikimedia.org)</a:t>
            </a:r>
            <a:endParaRPr lang="en-HK" sz="16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EEC492E9-D4EE-4DD8-B9DE-58DAD6BF8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578" y="2673927"/>
            <a:ext cx="5767781" cy="31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30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Performance Metrics - Throughput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710" y="1837532"/>
            <a:ext cx="11491913" cy="4351338"/>
          </a:xfrm>
        </p:spPr>
        <p:txBody>
          <a:bodyPr>
            <a:normAutofit/>
          </a:bodyPr>
          <a:lstStyle/>
          <a:p>
            <a:r>
              <a:rPr lang="en-US" sz="3200" dirty="0"/>
              <a:t>Throughput = Data transferred / Transfer time</a:t>
            </a:r>
          </a:p>
          <a:p>
            <a:endParaRPr lang="en-US" sz="3200" dirty="0"/>
          </a:p>
          <a:p>
            <a:r>
              <a:rPr lang="en-US" sz="3200" dirty="0"/>
              <a:t>Transfer time = </a:t>
            </a:r>
            <a:r>
              <a:rPr lang="zh-CN" altLang="en-US" sz="3200" dirty="0"/>
              <a:t>① </a:t>
            </a:r>
            <a:r>
              <a:rPr lang="en-US" sz="3200" dirty="0"/>
              <a:t>transmission delay + propagation delay</a:t>
            </a:r>
          </a:p>
          <a:p>
            <a:pPr marL="0" indent="0">
              <a:buNone/>
            </a:pPr>
            <a:r>
              <a:rPr lang="en-US" sz="3200" dirty="0"/>
              <a:t>                     </a:t>
            </a:r>
            <a:r>
              <a:rPr lang="en-US" altLang="zh-CN" sz="3200" dirty="0"/>
              <a:t>o</a:t>
            </a:r>
            <a:r>
              <a:rPr lang="en-US" sz="3200" dirty="0"/>
              <a:t>r,  = </a:t>
            </a:r>
            <a:r>
              <a:rPr lang="zh-CN" altLang="en-US" sz="3200" dirty="0"/>
              <a:t>② </a:t>
            </a:r>
            <a:r>
              <a:rPr lang="en-US" sz="3200" dirty="0"/>
              <a:t>transmission delay + </a:t>
            </a:r>
            <a:r>
              <a:rPr lang="en-US" sz="3200" u="sng" dirty="0"/>
              <a:t>2 * propagation delay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zh-CN" altLang="en-US" sz="3200" dirty="0"/>
              <a:t>①</a:t>
            </a:r>
            <a:r>
              <a:rPr lang="en-HK" altLang="zh-CN" sz="3200" dirty="0"/>
              <a:t>: </a:t>
            </a:r>
            <a:r>
              <a:rPr lang="en-US" altLang="zh-CN" sz="3200" dirty="0"/>
              <a:t>one-way transfer time, only care about single travel</a:t>
            </a:r>
          </a:p>
          <a:p>
            <a:pPr marL="0" indent="0">
              <a:buNone/>
            </a:pPr>
            <a:r>
              <a:rPr lang="zh-CN" altLang="en-US" sz="3200" dirty="0"/>
              <a:t>②</a:t>
            </a:r>
            <a:r>
              <a:rPr lang="en-HK" altLang="zh-CN" sz="3200" dirty="0"/>
              <a:t>: </a:t>
            </a:r>
            <a:r>
              <a:rPr lang="en-HK" sz="3200" dirty="0"/>
              <a:t>request-</a:t>
            </a:r>
            <a:r>
              <a:rPr lang="en-US" altLang="zh-CN" sz="3200" dirty="0"/>
              <a:t>r</a:t>
            </a:r>
            <a:r>
              <a:rPr lang="en-HK" sz="3200" dirty="0" err="1"/>
              <a:t>esponse</a:t>
            </a:r>
            <a:r>
              <a:rPr lang="en-HK" sz="3200" dirty="0"/>
              <a:t> time, serving scenario like client-server.</a:t>
            </a:r>
            <a:endParaRPr lang="en-US" sz="3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6DD02FD-DEF6-4D8A-BAC7-F20A3EFC827A}"/>
              </a:ext>
            </a:extLst>
          </p:cNvPr>
          <p:cNvSpPr txBox="1"/>
          <p:nvPr/>
        </p:nvSpPr>
        <p:spPr>
          <a:xfrm>
            <a:off x="8413551" y="4013201"/>
            <a:ext cx="2344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RTT (R</a:t>
            </a:r>
            <a:r>
              <a:rPr lang="en-US" altLang="zh-CN" sz="1800" dirty="0">
                <a:solidFill>
                  <a:srgbClr val="C00000"/>
                </a:solidFill>
              </a:rPr>
              <a:t>ound trip time</a:t>
            </a:r>
            <a:r>
              <a:rPr lang="en-US" sz="1800" dirty="0">
                <a:solidFill>
                  <a:srgbClr val="C00000"/>
                </a:solidFill>
              </a:rPr>
              <a:t>)</a:t>
            </a:r>
            <a:endParaRPr lang="en-HK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76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Calculate the minimum RTT</a:t>
            </a:r>
            <a:r>
              <a:rPr lang="en-US" altLang="zh-CN" sz="2400" dirty="0"/>
              <a:t>(round-trip time)</a:t>
            </a:r>
            <a:r>
              <a:rPr lang="en-US" sz="2400" dirty="0"/>
              <a:t> for the link.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970195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>
                <a:solidFill>
                  <a:srgbClr val="FF0000"/>
                </a:solidFill>
              </a:rPr>
              <a:t>propagation delay = 385000 km / (3 * 10^5 km/s) = 1.28333s</a:t>
            </a:r>
          </a:p>
          <a:p>
            <a:r>
              <a:rPr lang="en-HK" sz="2400" dirty="0">
                <a:solidFill>
                  <a:srgbClr val="FF0000"/>
                </a:solidFill>
              </a:rPr>
              <a:t>RTT = 2 * propagation delay =  2 * 1.28333 = 2.56666s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DA9ABA-D072-4FE6-9224-857C70199408}"/>
              </a:ext>
            </a:extLst>
          </p:cNvPr>
          <p:cNvSpPr txBox="1"/>
          <p:nvPr/>
        </p:nvSpPr>
        <p:spPr>
          <a:xfrm>
            <a:off x="5468619" y="869364"/>
            <a:ext cx="63402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zh-CN" altLang="en-US" sz="1800" dirty="0"/>
              <a:t>② </a:t>
            </a:r>
            <a:r>
              <a:rPr lang="en-US" sz="1800" dirty="0"/>
              <a:t>Transfer time = transmission delay + </a:t>
            </a:r>
            <a:r>
              <a:rPr lang="en-US" sz="1800" u="sng" dirty="0"/>
              <a:t>2 * propagation delay</a:t>
            </a:r>
          </a:p>
        </p:txBody>
      </p:sp>
    </p:spTree>
    <p:extLst>
      <p:ext uri="{BB962C8B-B14F-4D97-AF65-F5344CB8AC3E}">
        <p14:creationId xmlns:p14="http://schemas.microsoft.com/office/powerpoint/2010/main" val="1294186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(b) Suppose Mission Control on Earth wishes to download a 25MB (1MB = 10^6B) image from a camera on the lunar base.</a:t>
            </a:r>
            <a:r>
              <a:rPr lang="zh-CN" altLang="en-US" sz="2400" dirty="0"/>
              <a:t> </a:t>
            </a:r>
            <a:r>
              <a:rPr lang="en-US" sz="2400" dirty="0"/>
              <a:t>What is the minimum amount of time that will elapse between when the request for the data goes out and the transfer is finished? Throughput?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5157912"/>
            <a:ext cx="9260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transmission delay = 25MB / 100Mbps = 25 * 8 / 100 = 2s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delay = RTT + transmission delay = 2.5666 + 2 = 4.57s </a:t>
            </a:r>
          </a:p>
          <a:p>
            <a:r>
              <a:rPr lang="en-US" sz="2400" dirty="0">
                <a:solidFill>
                  <a:srgbClr val="FF0000"/>
                </a:solidFill>
              </a:rPr>
              <a:t>throughput = 25MB * 8 / 4.57= 43.76 Mbps </a:t>
            </a: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39"/>
            <a:ext cx="10515600" cy="27057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Suppose a 100-Mbps point-to-point link is being set up between Earth and a new lunar colony. </a:t>
            </a:r>
          </a:p>
          <a:p>
            <a:pPr marL="0" indent="0">
              <a:buNone/>
            </a:pPr>
            <a:r>
              <a:rPr lang="en-US" sz="2400" dirty="0"/>
              <a:t>The distance from the moon to Earth is approximately 385,000 km, and data travels over the link at the speed of light = 3∗10^8 m/s.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(</a:t>
            </a:r>
            <a:r>
              <a:rPr lang="en-US" altLang="zh-CN" sz="2400" dirty="0"/>
              <a:t>c</a:t>
            </a:r>
            <a:r>
              <a:rPr lang="en-US" sz="2400" dirty="0"/>
              <a:t>) The maximum number of flying bits on the link?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790786" y="4983741"/>
            <a:ext cx="9260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# bits = propagation delay * bandwidth</a:t>
            </a:r>
          </a:p>
          <a:p>
            <a:r>
              <a:rPr lang="en-US" sz="2400" dirty="0">
                <a:solidFill>
                  <a:srgbClr val="FF0000"/>
                </a:solidFill>
              </a:rPr>
              <a:t>           = 1.28333s * 100Mbps = 1.28333 * 10^8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36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(a) A 10-Mbps link with a single store-and-forward switch in the path, and a packet size of 5,000 bits. Assume that each section of the link introduces a propagation delay of 10 microseconds, and that the switch begins retransmitting immediately after it has finished receiving the packet.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5456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57FE7-3192-4E2E-8A82-067993A46EB8}"/>
              </a:ext>
            </a:extLst>
          </p:cNvPr>
          <p:cNvSpPr/>
          <p:nvPr/>
        </p:nvSpPr>
        <p:spPr>
          <a:xfrm>
            <a:off x="7012691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14B795-94E8-42ED-A686-292C209FE97A}"/>
              </a:ext>
            </a:extLst>
          </p:cNvPr>
          <p:cNvSpPr/>
          <p:nvPr/>
        </p:nvSpPr>
        <p:spPr>
          <a:xfrm>
            <a:off x="8225857" y="4352175"/>
            <a:ext cx="495013" cy="794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88E036-D62B-4B5A-8DA9-B91971C4D5AF}"/>
              </a:ext>
            </a:extLst>
          </p:cNvPr>
          <p:cNvSpPr txBox="1"/>
          <p:nvPr/>
        </p:nvSpPr>
        <p:spPr>
          <a:xfrm>
            <a:off x="8092098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switch</a:t>
            </a:r>
            <a:endParaRPr lang="en-HK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690A62-7B81-446B-A37B-DCFB899EE93F}"/>
              </a:ext>
            </a:extLst>
          </p:cNvPr>
          <p:cNvSpPr txBox="1"/>
          <p:nvPr/>
        </p:nvSpPr>
        <p:spPr>
          <a:xfrm>
            <a:off x="6883822" y="5184153"/>
            <a:ext cx="121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sender</a:t>
            </a:r>
            <a:endParaRPr lang="en-HK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261F6B-DC27-4A26-916A-02483C3E0A65}"/>
              </a:ext>
            </a:extLst>
          </p:cNvPr>
          <p:cNvSpPr/>
          <p:nvPr/>
        </p:nvSpPr>
        <p:spPr>
          <a:xfrm>
            <a:off x="9447040" y="4617511"/>
            <a:ext cx="495013" cy="26289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CD1DC0-0FB1-495F-8A7D-B4860FF046CE}"/>
              </a:ext>
            </a:extLst>
          </p:cNvPr>
          <p:cNvSpPr txBox="1"/>
          <p:nvPr/>
        </p:nvSpPr>
        <p:spPr>
          <a:xfrm>
            <a:off x="9272031" y="5184153"/>
            <a:ext cx="1013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receiver</a:t>
            </a:r>
            <a:endParaRPr lang="en-HK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7DF12A7-EF3B-42FC-A64F-60AC297AB4C1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7507704" y="4748959"/>
            <a:ext cx="718153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D86C3B0-0E09-45B0-B0D8-1A5C568D255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8720870" y="4748959"/>
            <a:ext cx="726170" cy="2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C32D1-749E-43E5-ACC1-955FA4E6EBD5}"/>
              </a:ext>
            </a:extLst>
          </p:cNvPr>
          <p:cNvSpPr txBox="1"/>
          <p:nvPr/>
        </p:nvSpPr>
        <p:spPr>
          <a:xfrm>
            <a:off x="5221876" y="803500"/>
            <a:ext cx="5535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① </a:t>
            </a:r>
            <a:r>
              <a:rPr lang="en-US" sz="1800" dirty="0"/>
              <a:t>Transfer time = transmission delay + propagation delay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401704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(5000 b / 10Mbps + 10us) * 2 = 1.02ms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22" name="Content Placeholder 21" descr="Diagram&#10;&#10;Description automatically generated">
            <a:extLst>
              <a:ext uri="{FF2B5EF4-FFF2-40B4-BE49-F238E27FC236}">
                <a16:creationId xmlns:a16="http://schemas.microsoft.com/office/drawing/2014/main" id="{DFF2D468-519E-4691-ACEC-0EED62F7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358" y="1534679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3882663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05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Calculate the latency (from first bit sent to last bit received) for the following: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(b) A 10-Mbps link with a single cut-off switch in the path, and a packet size of 5,000 bits. Assume that each section of the link introduces a propagation delay of 10 microseconds, and that the switch begins retransmitting immediately after the first 200 bits have been received.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4685185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Exercise</a:t>
            </a:r>
            <a:r>
              <a:rPr lang="zh-CN" altLang="en-US" b="1" dirty="0"/>
              <a:t> </a:t>
            </a:r>
            <a:r>
              <a:rPr lang="en-US" b="1" dirty="0"/>
              <a:t>- Q2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2843107" y="5978892"/>
            <a:ext cx="9260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0.51ms + 200b / 10Mbps + 10us = 0.54ms</a:t>
            </a:r>
            <a:endParaRPr lang="en-HK" sz="2400" dirty="0">
              <a:solidFill>
                <a:srgbClr val="FF0000"/>
              </a:solidFill>
            </a:endParaRPr>
          </a:p>
        </p:txBody>
      </p:sp>
      <p:pic>
        <p:nvPicPr>
          <p:cNvPr id="12" name="Content Placeholder 11" descr="Chart&#10;&#10;Description automatically generated">
            <a:extLst>
              <a:ext uri="{FF2B5EF4-FFF2-40B4-BE49-F238E27FC236}">
                <a16:creationId xmlns:a16="http://schemas.microsoft.com/office/drawing/2014/main" id="{66B09C93-3DD9-4BA2-8D2C-824A872D4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358" y="1405678"/>
            <a:ext cx="6549283" cy="4351338"/>
          </a:xfrm>
        </p:spPr>
      </p:pic>
    </p:spTree>
    <p:extLst>
      <p:ext uri="{BB962C8B-B14F-4D97-AF65-F5344CB8AC3E}">
        <p14:creationId xmlns:p14="http://schemas.microsoft.com/office/powerpoint/2010/main" val="1261831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18211" y="2760582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2867</TotalTime>
  <Words>1222</Words>
  <Application>Microsoft Office PowerPoint</Application>
  <PresentationFormat>宽屏</PresentationFormat>
  <Paragraphs>211</Paragraphs>
  <Slides>21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Courier New</vt:lpstr>
      <vt:lpstr>Office Theme</vt:lpstr>
      <vt:lpstr>CSCI 4430 - FALL 25</vt:lpstr>
      <vt:lpstr>Assignment 1 </vt:lpstr>
      <vt:lpstr>Outline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Server Parallelization</vt:lpstr>
      <vt:lpstr>Socket Programming: C++ Demo</vt:lpstr>
      <vt:lpstr>Performance Metrics - Delay</vt:lpstr>
      <vt:lpstr>Performance Metrics - Delay</vt:lpstr>
      <vt:lpstr>Performance Metrics - Throughput</vt:lpstr>
      <vt:lpstr>Exercise - Q1</vt:lpstr>
      <vt:lpstr>Exercise - Q1</vt:lpstr>
      <vt:lpstr>Exercise - Q1</vt:lpstr>
      <vt:lpstr>Exercise - Q2</vt:lpstr>
      <vt:lpstr>Exercise - Q2</vt:lpstr>
      <vt:lpstr>Exercise - Q2</vt:lpstr>
      <vt:lpstr>Exercise - Q2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103</cp:revision>
  <dcterms:created xsi:type="dcterms:W3CDTF">2022-01-09T08:27:06Z</dcterms:created>
  <dcterms:modified xsi:type="dcterms:W3CDTF">2025-09-09T05:00:09Z</dcterms:modified>
</cp:coreProperties>
</file>
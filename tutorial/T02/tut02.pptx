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3"/>
  </p:notesMasterIdLst>
  <p:sldIdLst>
    <p:sldId id="256" r:id="rId2"/>
    <p:sldId id="288" r:id="rId3"/>
    <p:sldId id="258" r:id="rId4"/>
    <p:sldId id="283" r:id="rId5"/>
    <p:sldId id="261" r:id="rId6"/>
    <p:sldId id="260" r:id="rId7"/>
    <p:sldId id="284" r:id="rId8"/>
    <p:sldId id="286" r:id="rId9"/>
    <p:sldId id="287" r:id="rId10"/>
    <p:sldId id="285" r:id="rId11"/>
    <p:sldId id="259" r:id="rId12"/>
    <p:sldId id="282" r:id="rId13"/>
    <p:sldId id="289" r:id="rId14"/>
    <p:sldId id="290" r:id="rId15"/>
    <p:sldId id="281" r:id="rId16"/>
    <p:sldId id="275" r:id="rId17"/>
    <p:sldId id="291" r:id="rId18"/>
    <p:sldId id="278" r:id="rId19"/>
    <p:sldId id="279" r:id="rId20"/>
    <p:sldId id="280" r:id="rId21"/>
    <p:sldId id="272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714" autoAdjust="0"/>
    <p:restoredTop sz="88843" autoAdjust="0"/>
  </p:normalViewPr>
  <p:slideViewPr>
    <p:cSldViewPr snapToGrid="0" snapToObjects="1">
      <p:cViewPr varScale="1">
        <p:scale>
          <a:sx n="143" d="100"/>
          <a:sy n="143" d="100"/>
        </p:scale>
        <p:origin x="414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HK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03FF167-5468-407F-BF08-399F401F3E28}" type="datetimeFigureOut">
              <a:rPr lang="en-HK" smtClean="0"/>
              <a:t>7/9/2025</a:t>
            </a:fld>
            <a:endParaRPr lang="en-HK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HK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HK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HK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17E5830-6A7B-473E-B69D-2E2616132BAF}" type="slidenum">
              <a:rPr lang="en-HK" smtClean="0"/>
              <a:t>‹#›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14481896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7E5830-6A7B-473E-B69D-2E2616132BAF}" type="slidenum">
              <a:rPr lang="en-HK" smtClean="0"/>
              <a:t>2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163886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HK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500BF2-E5AC-4DD5-8465-7E367A3CF6CA}" type="slidenum">
              <a:rPr lang="en-HK" smtClean="0"/>
              <a:t>4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105626674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HK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500BF2-E5AC-4DD5-8465-7E367A3CF6CA}" type="slidenum">
              <a:rPr lang="en-HK" smtClean="0"/>
              <a:t>5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221001279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HK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500BF2-E5AC-4DD5-8465-7E367A3CF6CA}" type="slidenum">
              <a:rPr lang="en-HK" smtClean="0"/>
              <a:t>6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568085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HK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500BF2-E5AC-4DD5-8465-7E367A3CF6CA}" type="slidenum">
              <a:rPr lang="en-HK" smtClean="0"/>
              <a:t>7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338945034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HK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500BF2-E5AC-4DD5-8465-7E367A3CF6CA}" type="slidenum">
              <a:rPr lang="en-HK" smtClean="0"/>
              <a:t>8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189838563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HK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500BF2-E5AC-4DD5-8465-7E367A3CF6CA}" type="slidenum">
              <a:rPr lang="en-HK" smtClean="0"/>
              <a:t>9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16021154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HK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500BF2-E5AC-4DD5-8465-7E367A3CF6CA}" type="slidenum">
              <a:rPr lang="en-HK" smtClean="0"/>
              <a:t>10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210564710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HK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7E5830-6A7B-473E-B69D-2E2616132BAF}" type="slidenum">
              <a:rPr lang="en-HK" smtClean="0"/>
              <a:t>13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230216106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HK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7E5830-6A7B-473E-B69D-2E2616132BAF}" type="slidenum">
              <a:rPr lang="en-HK" smtClean="0"/>
              <a:t>14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369119181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HK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7E5830-6A7B-473E-B69D-2E2616132BAF}" type="slidenum">
              <a:rPr lang="en-HK" smtClean="0"/>
              <a:t>17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421889091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CA81B1-2540-6743-ABB4-0E292A122B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15AD417-B984-E443-AB4F-C92143CD1BA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6006C3-5569-404A-A00F-D4521490E5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9/7/2025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19AC1B-9F9B-7C4C-AD2B-75AB838743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C20CFE-8FE9-EB4E-A8E1-AE36C51E48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41128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3D011E-DCDE-C342-A56C-2EAC9B225B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98A12E-F58F-7A41-BFC0-F72ABF92C8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59EBF6-8755-7E49-B0D7-FB2F3BB92C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9/7/2025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FEA0E9-4BD6-7644-BA8D-7470DF7661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40FEFB-6605-6C41-87AB-0F5AA21FDE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91281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F64326-D9A3-1A44-8452-04D5A488E2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EA07CA1-149F-4C4E-8D54-13D1A92527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D652F9-B0E8-F941-8A14-1BEB86F97E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9/7/2025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8F3F9B-475A-C14C-A0E3-E96F9ED3BD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CFE635-695A-2C43-855F-CF2C41BD89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13299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97B479-481A-0E49-8D52-0BE021ED29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C541EA-D1C3-8E4A-B80B-8390B466F6E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0AE356B-D1EA-5247-B0F3-0476CB9307B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9A32C0-D4EC-FD47-BD75-CDDACA4419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9/7/2025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343B967-A303-124B-BA06-4BAEC0497F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193EAE9-F2F8-7E42-9BF7-5A60A32A39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65045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1C2CE6-C39C-9045-94F8-9B43CA9D24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F926E9-9778-2846-B43B-4A7267120C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A996341-9374-DF4E-B9F6-A94758E38A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D5E4306-B762-C746-B6F4-16DFD70CB64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A704D85-B6B3-0A42-925A-38933F782EE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75CA7DE-DF2D-DD4B-8D9A-4B40F820DC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9/7/2025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D6E122F-5BD1-454E-A133-FE0AB5CD2D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5903D25-9E17-0044-9543-53299894B8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12543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3D4217-17EF-3B45-93F5-B23C54148C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D4CDDD4-A221-CE49-9EB3-456758E56F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9/7/2025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65879A2-4394-CD4B-9263-3DDC707A45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21ECC98-0E91-594B-AC7F-127A4DD398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00218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1D70CAD-9D94-0544-90C0-985EDEA907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9/7/2025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C739153-BA93-C64C-B9BC-ECAD241737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2EC52B-8EB5-C146-B069-115FF80454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68761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FB9339-BB2A-AB4C-A011-36281FB8C2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BB9FD2-C72C-D746-8FEF-4B09D248F9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14212A7-AD11-0642-87B6-8FC8A57634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1FEE618-4BEB-D848-A755-D0B3815B69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9/7/2025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49F7CBA-7A19-1743-9814-DDBE48E60A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1CF1DF5-1759-1846-85A4-293FE90605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16225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8FE6E1-ED4F-1D4C-B60C-89E3D8EF6C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0A6747D-0A18-D14E-9E1F-8914CD61187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99873C7-5733-564B-AEBA-F2F0FEFCC92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CB7B211-4DF6-9442-9953-6292F18757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9/7/2025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0D0981E-2ABE-7048-AC75-D8C8477246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466DC9-3D33-FE44-A5E3-A0B734DF51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39687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08CAB9-FB2B-C540-B5C7-A162BB5F27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5B419EE-DACB-ED41-9BC3-137129D6FE4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F4D66E-AA24-0A49-872D-17B778563E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9/7/2025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8B7280-38D0-E542-8CFE-089B78DF08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BE1198-80CE-3D48-8EEE-D994007D70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70468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AF88F6-3858-2147-8565-3ABE064ABAE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3579688-6666-4A47-AB44-B55E2BF0EBB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CEBA88-1DD5-DC4A-AFB4-8B03BBD45A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9/7/2025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D9944A-C4EB-B943-8190-BF118811DF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4E4696-702A-BD44-9A3C-F8C85C27C8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06531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873DFB7-9581-4D48-AAE2-C17529315D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C3503A-E2B1-0944-B035-77EF7A9439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89E476-F670-2B47-81DC-675E7D1F7DC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25905D-C0C4-D040-B3F5-79CCA23FA4EB}" type="datetimeFigureOut">
              <a:rPr lang="en-US" smtClean="0"/>
              <a:t>9/7/2025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1F1A25-0D30-0E4C-A201-3259214DFAC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92BE1C-D630-6544-8677-F74CB5078C9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00349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em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em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hyperlink" Target="https://upload.wikimedia.org/wikipedia/en/3/32/Graphical_Description_of_Network_Delay.png" TargetMode="Externa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E55C1B-43BC-8B40-A7BE-D3C3F3D8A40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705674"/>
            <a:ext cx="9144000" cy="2387600"/>
          </a:xfrm>
        </p:spPr>
        <p:txBody>
          <a:bodyPr>
            <a:normAutofit/>
          </a:bodyPr>
          <a:lstStyle/>
          <a:p>
            <a:r>
              <a:rPr lang="en-US" sz="6600" b="1" dirty="0"/>
              <a:t>CSCI 4430 - FALL 25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CEAD46B-2981-B54E-B7BD-5B165BCFE3E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342817"/>
            <a:ext cx="9144000" cy="1655762"/>
          </a:xfrm>
        </p:spPr>
        <p:txBody>
          <a:bodyPr>
            <a:normAutofit/>
          </a:bodyPr>
          <a:lstStyle/>
          <a:p>
            <a:r>
              <a:rPr lang="en-US" sz="3600" b="1" dirty="0"/>
              <a:t>Tutorial 2</a:t>
            </a:r>
          </a:p>
          <a:p>
            <a:endParaRPr lang="en-US" sz="3600" b="1" dirty="0"/>
          </a:p>
          <a:p>
            <a:pPr algn="r"/>
            <a:r>
              <a:rPr lang="en-US" sz="2000" b="1" dirty="0"/>
              <a:t>Credits to </a:t>
            </a:r>
            <a:r>
              <a:rPr lang="en-US" altLang="zh-CN" sz="2000" b="1" dirty="0" err="1"/>
              <a:t>Umich</a:t>
            </a:r>
            <a:r>
              <a:rPr lang="en-US" altLang="zh-CN" sz="2000" b="1" dirty="0"/>
              <a:t> </a:t>
            </a:r>
            <a:r>
              <a:rPr lang="en-US" sz="2000" b="1" dirty="0"/>
              <a:t>EECS 489 Discussion 2</a:t>
            </a:r>
            <a:endParaRPr lang="en-US" sz="3200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D90C243-66EE-9844-B6C9-297837E8D7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0000" y="1270000"/>
            <a:ext cx="63500" cy="762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19BED88-AA1D-3144-ABB6-9C775BCC27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0000" y="1270000"/>
            <a:ext cx="63500" cy="76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4191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Assignment 1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4594" y="1499511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Due: </a:t>
            </a:r>
            <a:r>
              <a:rPr lang="en-HK" sz="3200" dirty="0">
                <a:solidFill>
                  <a:srgbClr val="FF0000"/>
                </a:solidFill>
              </a:rPr>
              <a:t>11:59:59 p.m., S</a:t>
            </a:r>
            <a:r>
              <a:rPr lang="en-US" altLang="zh-CN" sz="3200" dirty="0">
                <a:solidFill>
                  <a:srgbClr val="FF0000"/>
                </a:solidFill>
              </a:rPr>
              <a:t>un</a:t>
            </a:r>
            <a:r>
              <a:rPr lang="en-HK" sz="3200" dirty="0">
                <a:solidFill>
                  <a:srgbClr val="FF0000"/>
                </a:solidFill>
              </a:rPr>
              <a:t>, S</a:t>
            </a:r>
            <a:r>
              <a:rPr lang="en-US" altLang="zh-CN" sz="3200" dirty="0">
                <a:solidFill>
                  <a:srgbClr val="FF0000"/>
                </a:solidFill>
              </a:rPr>
              <a:t>ep</a:t>
            </a:r>
            <a:r>
              <a:rPr lang="en-HK" sz="3200" dirty="0">
                <a:solidFill>
                  <a:srgbClr val="FF0000"/>
                </a:solidFill>
              </a:rPr>
              <a:t>. 21</a:t>
            </a:r>
            <a:r>
              <a:rPr lang="en-US" altLang="zh-CN" sz="3200" dirty="0" err="1">
                <a:solidFill>
                  <a:srgbClr val="FF0000"/>
                </a:solidFill>
              </a:rPr>
              <a:t>st</a:t>
            </a:r>
            <a:endParaRPr lang="en-US" sz="3200" dirty="0">
              <a:solidFill>
                <a:srgbClr val="FF0000"/>
              </a:solidFill>
            </a:endParaRPr>
          </a:p>
          <a:p>
            <a:endParaRPr lang="en-US" sz="3200" dirty="0">
              <a:solidFill>
                <a:srgbClr val="FF0000"/>
              </a:solidFill>
            </a:endParaRP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94148393-6CCB-44FE-80D6-264EBD55CF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988" y="2358734"/>
            <a:ext cx="6070917" cy="2926201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18500EE3-5D69-464B-86C6-810B4B529FB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69111" y="2140242"/>
            <a:ext cx="4828567" cy="3902439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E6A98220-9D71-40C9-AF25-67464820F08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84632" y="2871239"/>
            <a:ext cx="2300262" cy="959194"/>
          </a:xfrm>
          <a:prstGeom prst="rect">
            <a:avLst/>
          </a:prstGeom>
        </p:spPr>
      </p:pic>
      <p:pic>
        <p:nvPicPr>
          <p:cNvPr id="15" name="图片 14">
            <a:extLst>
              <a:ext uri="{FF2B5EF4-FFF2-40B4-BE49-F238E27FC236}">
                <a16:creationId xmlns:a16="http://schemas.microsoft.com/office/drawing/2014/main" id="{F1D3F1C2-C0E3-4976-93C2-29E5E2E3EBB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01464" y="3911301"/>
            <a:ext cx="1542081" cy="1070075"/>
          </a:xfrm>
          <a:prstGeom prst="rect">
            <a:avLst/>
          </a:prstGeom>
        </p:spPr>
      </p:pic>
      <p:pic>
        <p:nvPicPr>
          <p:cNvPr id="17" name="图片 16">
            <a:extLst>
              <a:ext uri="{FF2B5EF4-FFF2-40B4-BE49-F238E27FC236}">
                <a16:creationId xmlns:a16="http://schemas.microsoft.com/office/drawing/2014/main" id="{C3EC4E7F-4158-448B-991A-F95A510256D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27041" y="3299031"/>
            <a:ext cx="1542081" cy="259120"/>
          </a:xfrm>
          <a:prstGeom prst="rect">
            <a:avLst/>
          </a:prstGeom>
        </p:spPr>
      </p:pic>
      <p:sp>
        <p:nvSpPr>
          <p:cNvPr id="18" name="矩形 17">
            <a:extLst>
              <a:ext uri="{FF2B5EF4-FFF2-40B4-BE49-F238E27FC236}">
                <a16:creationId xmlns:a16="http://schemas.microsoft.com/office/drawing/2014/main" id="{E9A1B174-3DA2-4036-B5CF-D675C31532A0}"/>
              </a:ext>
            </a:extLst>
          </p:cNvPr>
          <p:cNvSpPr/>
          <p:nvPr/>
        </p:nvSpPr>
        <p:spPr>
          <a:xfrm>
            <a:off x="4962059" y="2660191"/>
            <a:ext cx="517947" cy="18418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HK"/>
          </a:p>
        </p:txBody>
      </p:sp>
      <p:cxnSp>
        <p:nvCxnSpPr>
          <p:cNvPr id="20" name="直接箭头连接符 19">
            <a:extLst>
              <a:ext uri="{FF2B5EF4-FFF2-40B4-BE49-F238E27FC236}">
                <a16:creationId xmlns:a16="http://schemas.microsoft.com/office/drawing/2014/main" id="{8E4DFA63-AADE-47E2-8269-BD7E2ADF5265}"/>
              </a:ext>
            </a:extLst>
          </p:cNvPr>
          <p:cNvCxnSpPr>
            <a:cxnSpLocks/>
          </p:cNvCxnSpPr>
          <p:nvPr/>
        </p:nvCxnSpPr>
        <p:spPr>
          <a:xfrm>
            <a:off x="5371301" y="2877633"/>
            <a:ext cx="501204" cy="37711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矩形 25">
            <a:extLst>
              <a:ext uri="{FF2B5EF4-FFF2-40B4-BE49-F238E27FC236}">
                <a16:creationId xmlns:a16="http://schemas.microsoft.com/office/drawing/2014/main" id="{27A2696C-2D8B-46BD-AFAC-D75B5B4E8F4B}"/>
              </a:ext>
            </a:extLst>
          </p:cNvPr>
          <p:cNvSpPr/>
          <p:nvPr/>
        </p:nvSpPr>
        <p:spPr>
          <a:xfrm>
            <a:off x="6975505" y="2121060"/>
            <a:ext cx="851247" cy="18418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HK"/>
          </a:p>
        </p:txBody>
      </p:sp>
      <p:cxnSp>
        <p:nvCxnSpPr>
          <p:cNvPr id="27" name="直接箭头连接符 26">
            <a:extLst>
              <a:ext uri="{FF2B5EF4-FFF2-40B4-BE49-F238E27FC236}">
                <a16:creationId xmlns:a16="http://schemas.microsoft.com/office/drawing/2014/main" id="{B95DF65D-9D66-4C32-80E7-BB27574D98A9}"/>
              </a:ext>
            </a:extLst>
          </p:cNvPr>
          <p:cNvCxnSpPr>
            <a:cxnSpLocks/>
          </p:cNvCxnSpPr>
          <p:nvPr/>
        </p:nvCxnSpPr>
        <p:spPr>
          <a:xfrm>
            <a:off x="7873958" y="2283072"/>
            <a:ext cx="1781594" cy="97168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矩形 28">
            <a:extLst>
              <a:ext uri="{FF2B5EF4-FFF2-40B4-BE49-F238E27FC236}">
                <a16:creationId xmlns:a16="http://schemas.microsoft.com/office/drawing/2014/main" id="{8240F4E0-BED2-4121-8E96-E0B8B564A9F1}"/>
              </a:ext>
            </a:extLst>
          </p:cNvPr>
          <p:cNvSpPr/>
          <p:nvPr/>
        </p:nvSpPr>
        <p:spPr>
          <a:xfrm>
            <a:off x="4444114" y="2662102"/>
            <a:ext cx="517947" cy="18418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HK"/>
          </a:p>
        </p:txBody>
      </p:sp>
      <p:cxnSp>
        <p:nvCxnSpPr>
          <p:cNvPr id="30" name="直接箭头连接符 29">
            <a:extLst>
              <a:ext uri="{FF2B5EF4-FFF2-40B4-BE49-F238E27FC236}">
                <a16:creationId xmlns:a16="http://schemas.microsoft.com/office/drawing/2014/main" id="{5BDC46D1-A8B6-4691-85CF-3662F3CFE629}"/>
              </a:ext>
            </a:extLst>
          </p:cNvPr>
          <p:cNvCxnSpPr>
            <a:cxnSpLocks/>
          </p:cNvCxnSpPr>
          <p:nvPr/>
        </p:nvCxnSpPr>
        <p:spPr>
          <a:xfrm>
            <a:off x="4744649" y="2877633"/>
            <a:ext cx="382392" cy="120199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文本框 15">
            <a:extLst>
              <a:ext uri="{FF2B5EF4-FFF2-40B4-BE49-F238E27FC236}">
                <a16:creationId xmlns:a16="http://schemas.microsoft.com/office/drawing/2014/main" id="{C6BA76D5-1634-4AAC-BDE4-685C90A39C70}"/>
              </a:ext>
            </a:extLst>
          </p:cNvPr>
          <p:cNvSpPr txBox="1"/>
          <p:nvPr/>
        </p:nvSpPr>
        <p:spPr>
          <a:xfrm>
            <a:off x="889491" y="5586392"/>
            <a:ext cx="609485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HK" dirty="0">
                <a:solidFill>
                  <a:srgbClr val="C00000"/>
                </a:solidFill>
              </a:rPr>
              <a:t>For macOS (Apple Silicon) users: </a:t>
            </a:r>
            <a:r>
              <a:rPr lang="en-HK" dirty="0"/>
              <a:t>please follow the setup instructions in our GitHub repo.</a:t>
            </a:r>
          </a:p>
        </p:txBody>
      </p:sp>
    </p:spTree>
    <p:extLst>
      <p:ext uri="{BB962C8B-B14F-4D97-AF65-F5344CB8AC3E}">
        <p14:creationId xmlns:p14="http://schemas.microsoft.com/office/powerpoint/2010/main" val="39488424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Socket Programming R</a:t>
            </a:r>
            <a:r>
              <a:rPr lang="en-US" altLang="zh-CN" sz="3200" dirty="0"/>
              <a:t>evisiting</a:t>
            </a:r>
            <a:endParaRPr lang="en-US" sz="3200" dirty="0"/>
          </a:p>
          <a:p>
            <a:r>
              <a:rPr lang="en-US" sz="3200" dirty="0"/>
              <a:t>Performance Metrics - Delay</a:t>
            </a:r>
          </a:p>
          <a:p>
            <a:r>
              <a:rPr lang="en-US" sz="3200" dirty="0"/>
              <a:t>Performance Metrics - Throughput</a:t>
            </a:r>
          </a:p>
          <a:p>
            <a:r>
              <a:rPr lang="en-US" altLang="zh-CN" sz="3200" dirty="0"/>
              <a:t>Exercise </a:t>
            </a:r>
            <a:r>
              <a:rPr lang="en-US" sz="3200" dirty="0"/>
              <a:t>1</a:t>
            </a:r>
          </a:p>
          <a:p>
            <a:r>
              <a:rPr lang="en-US" altLang="zh-CN" sz="3200" dirty="0"/>
              <a:t>Exercise 2</a:t>
            </a:r>
            <a:endParaRPr lang="en-US" sz="32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Outline</a:t>
            </a:r>
          </a:p>
        </p:txBody>
      </p:sp>
    </p:spTree>
    <p:extLst>
      <p:ext uri="{BB962C8B-B14F-4D97-AF65-F5344CB8AC3E}">
        <p14:creationId xmlns:p14="http://schemas.microsoft.com/office/powerpoint/2010/main" val="4404150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Socket Programming: Complete Flow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8D11AF92-8AD0-444F-83E3-E1153227798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3276290" y="1825625"/>
            <a:ext cx="5639420" cy="435133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9B591B7-0ED3-894C-A352-8477ED74F3BB}"/>
              </a:ext>
            </a:extLst>
          </p:cNvPr>
          <p:cNvSpPr txBox="1"/>
          <p:nvPr/>
        </p:nvSpPr>
        <p:spPr>
          <a:xfrm>
            <a:off x="1436914" y="3708906"/>
            <a:ext cx="125200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Server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5A8685D-FCCD-1D48-84F7-D47520F09B5B}"/>
              </a:ext>
            </a:extLst>
          </p:cNvPr>
          <p:cNvSpPr txBox="1"/>
          <p:nvPr/>
        </p:nvSpPr>
        <p:spPr>
          <a:xfrm>
            <a:off x="9688285" y="3708906"/>
            <a:ext cx="114749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Client</a:t>
            </a:r>
          </a:p>
        </p:txBody>
      </p:sp>
    </p:spTree>
    <p:extLst>
      <p:ext uri="{BB962C8B-B14F-4D97-AF65-F5344CB8AC3E}">
        <p14:creationId xmlns:p14="http://schemas.microsoft.com/office/powerpoint/2010/main" val="5224214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Socket Programming: Client Side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E0803F26-69FA-F141-8053-17ADFC76B87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654267" y="2193925"/>
            <a:ext cx="1955800" cy="3238500"/>
          </a:xfrm>
          <a:prstGeom prst="rect">
            <a:avLst/>
          </a:prstGeom>
        </p:spPr>
      </p:pic>
      <p:graphicFrame>
        <p:nvGraphicFramePr>
          <p:cNvPr id="25" name="Group 4">
            <a:extLst>
              <a:ext uri="{FF2B5EF4-FFF2-40B4-BE49-F238E27FC236}">
                <a16:creationId xmlns:a16="http://schemas.microsoft.com/office/drawing/2014/main" id="{B790D8A6-3FF2-4898-8C0B-11A5983724CF}"/>
              </a:ext>
            </a:extLst>
          </p:cNvPr>
          <p:cNvGraphicFramePr>
            <a:graphicFrameLocks noGrp="1"/>
          </p:cNvGraphicFramePr>
          <p:nvPr/>
        </p:nvGraphicFramePr>
        <p:xfrm>
          <a:off x="8298873" y="4090988"/>
          <a:ext cx="3505200" cy="2377440"/>
        </p:xfrm>
        <a:graphic>
          <a:graphicData uri="http://schemas.openxmlformats.org/drawingml/2006/table">
            <a:tbl>
              <a:tblPr/>
              <a:tblGrid>
                <a:gridCol w="1752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20675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" pitchFamily="34" charset="0"/>
                          <a:ea typeface="新細明體" pitchFamily="18" charset="-120"/>
                        </a:rPr>
                        <a:t>Important System calls</a:t>
                      </a:r>
                    </a:p>
                  </a:txBody>
                  <a:tcPr marT="91440" marB="9144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908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" pitchFamily="34" charset="0"/>
                          <a:ea typeface="新細明體" pitchFamily="18" charset="-120"/>
                        </a:rPr>
                        <a:t>Client side</a:t>
                      </a:r>
                    </a:p>
                  </a:txBody>
                  <a:tcPr marT="91440" marB="9144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" pitchFamily="34" charset="0"/>
                          <a:ea typeface="新細明體" pitchFamily="18" charset="-120"/>
                        </a:rPr>
                        <a:t>Server side</a:t>
                      </a:r>
                    </a:p>
                  </a:txBody>
                  <a:tcPr marT="91440" marB="9144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675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itchFamily="49" charset="0"/>
                          <a:ea typeface="新細明體" pitchFamily="18" charset="-120"/>
                        </a:rPr>
                        <a:t>socket()</a:t>
                      </a:r>
                    </a:p>
                  </a:txBody>
                  <a:tcPr marT="91440" marB="9144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6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itchFamily="49" charset="0"/>
                          <a:ea typeface="新細明體" pitchFamily="18" charset="-120"/>
                        </a:rPr>
                        <a:t>bind()*</a:t>
                      </a:r>
                    </a:p>
                  </a:txBody>
                  <a:tcPr marT="91440" marB="9144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itchFamily="49" charset="0"/>
                          <a:ea typeface="新細明體" pitchFamily="18" charset="-120"/>
                        </a:rPr>
                        <a:t>bind()</a:t>
                      </a:r>
                    </a:p>
                  </a:txBody>
                  <a:tcPr marT="91440" marB="9144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06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itchFamily="49" charset="0"/>
                          <a:ea typeface="新細明體" pitchFamily="18" charset="-120"/>
                        </a:rPr>
                        <a:t>connect()</a:t>
                      </a:r>
                    </a:p>
                  </a:txBody>
                  <a:tcPr marT="91440" marB="9144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itchFamily="49" charset="0"/>
                          <a:ea typeface="新細明體" pitchFamily="18" charset="-120"/>
                        </a:rPr>
                        <a:t>listen() and accept()</a:t>
                      </a:r>
                    </a:p>
                  </a:txBody>
                  <a:tcPr marT="91440" marB="9144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6" name="Text Box 23">
            <a:extLst>
              <a:ext uri="{FF2B5EF4-FFF2-40B4-BE49-F238E27FC236}">
                <a16:creationId xmlns:a16="http://schemas.microsoft.com/office/drawing/2014/main" id="{7A54562F-34E2-483C-B5CF-18BB05D3859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289473" y="6553200"/>
            <a:ext cx="1624013" cy="284163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sz="1200" b="1">
                <a:latin typeface="Consolas" pitchFamily="49" charset="0"/>
              </a:rPr>
              <a:t>* means optional.</a:t>
            </a:r>
          </a:p>
        </p:txBody>
      </p:sp>
      <p:sp>
        <p:nvSpPr>
          <p:cNvPr id="28" name="Text Box 25">
            <a:extLst>
              <a:ext uri="{FF2B5EF4-FFF2-40B4-BE49-F238E27FC236}">
                <a16:creationId xmlns:a16="http://schemas.microsoft.com/office/drawing/2014/main" id="{B349E0B2-B1CC-4E2B-8A05-26F655F0CC7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79273" y="1731963"/>
            <a:ext cx="1196975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socket()</a:t>
            </a:r>
          </a:p>
        </p:txBody>
      </p:sp>
      <p:sp>
        <p:nvSpPr>
          <p:cNvPr id="29" name="Text Box 26">
            <a:extLst>
              <a:ext uri="{FF2B5EF4-FFF2-40B4-BE49-F238E27FC236}">
                <a16:creationId xmlns:a16="http://schemas.microsoft.com/office/drawing/2014/main" id="{5F967E97-62E0-49CC-9B1F-80CF9AFA461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13073" y="1731963"/>
            <a:ext cx="1322388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connect()</a:t>
            </a:r>
          </a:p>
        </p:txBody>
      </p:sp>
      <p:sp>
        <p:nvSpPr>
          <p:cNvPr id="30" name="Text Box 27">
            <a:extLst>
              <a:ext uri="{FF2B5EF4-FFF2-40B4-BE49-F238E27FC236}">
                <a16:creationId xmlns:a16="http://schemas.microsoft.com/office/drawing/2014/main" id="{36394CA4-56E8-4F71-BF9C-8942D3D99C2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045123" y="1579563"/>
            <a:ext cx="946150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read()</a:t>
            </a:r>
          </a:p>
        </p:txBody>
      </p:sp>
      <p:sp>
        <p:nvSpPr>
          <p:cNvPr id="31" name="Text Box 28">
            <a:extLst>
              <a:ext uri="{FF2B5EF4-FFF2-40B4-BE49-F238E27FC236}">
                <a16:creationId xmlns:a16="http://schemas.microsoft.com/office/drawing/2014/main" id="{4F254A27-E9B8-4605-B129-6E3DCF15A37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197523" y="2193925"/>
            <a:ext cx="1071563" cy="376238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write()</a:t>
            </a:r>
          </a:p>
        </p:txBody>
      </p:sp>
      <p:sp>
        <p:nvSpPr>
          <p:cNvPr id="32" name="Line 29">
            <a:extLst>
              <a:ext uri="{FF2B5EF4-FFF2-40B4-BE49-F238E27FC236}">
                <a16:creationId xmlns:a16="http://schemas.microsoft.com/office/drawing/2014/main" id="{EE022D9B-70C9-49F4-867D-EB2F6CE90012}"/>
              </a:ext>
            </a:extLst>
          </p:cNvPr>
          <p:cNvSpPr>
            <a:spLocks noChangeShapeType="1"/>
          </p:cNvSpPr>
          <p:nvPr/>
        </p:nvSpPr>
        <p:spPr bwMode="auto">
          <a:xfrm>
            <a:off x="5250873" y="1898650"/>
            <a:ext cx="457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Box 30">
            <a:extLst>
              <a:ext uri="{FF2B5EF4-FFF2-40B4-BE49-F238E27FC236}">
                <a16:creationId xmlns:a16="http://schemas.microsoft.com/office/drawing/2014/main" id="{5C981432-1053-4886-994D-96FD62A4313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60473" y="1731963"/>
            <a:ext cx="946150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bind()</a:t>
            </a:r>
          </a:p>
        </p:txBody>
      </p:sp>
      <p:sp>
        <p:nvSpPr>
          <p:cNvPr id="34" name="Line 31">
            <a:extLst>
              <a:ext uri="{FF2B5EF4-FFF2-40B4-BE49-F238E27FC236}">
                <a16:creationId xmlns:a16="http://schemas.microsoft.com/office/drawing/2014/main" id="{D03A8788-6318-45CC-ABD4-27871781EA33}"/>
              </a:ext>
            </a:extLst>
          </p:cNvPr>
          <p:cNvSpPr>
            <a:spLocks noChangeShapeType="1"/>
          </p:cNvSpPr>
          <p:nvPr/>
        </p:nvSpPr>
        <p:spPr bwMode="auto">
          <a:xfrm>
            <a:off x="7003473" y="1898650"/>
            <a:ext cx="457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35" name="Line 32">
            <a:extLst>
              <a:ext uri="{FF2B5EF4-FFF2-40B4-BE49-F238E27FC236}">
                <a16:creationId xmlns:a16="http://schemas.microsoft.com/office/drawing/2014/main" id="{6BC02E92-741B-4076-9CA5-EE3BF3B45AF2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9137073" y="1746250"/>
            <a:ext cx="838200" cy="152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36" name="Line 33">
            <a:extLst>
              <a:ext uri="{FF2B5EF4-FFF2-40B4-BE49-F238E27FC236}">
                <a16:creationId xmlns:a16="http://schemas.microsoft.com/office/drawing/2014/main" id="{02BCE078-78EF-4D78-8F82-5AFC53B73CCD}"/>
              </a:ext>
            </a:extLst>
          </p:cNvPr>
          <p:cNvSpPr>
            <a:spLocks noChangeShapeType="1"/>
          </p:cNvSpPr>
          <p:nvPr/>
        </p:nvSpPr>
        <p:spPr bwMode="auto">
          <a:xfrm>
            <a:off x="9213273" y="1974850"/>
            <a:ext cx="914400" cy="381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Box 34">
            <a:extLst>
              <a:ext uri="{FF2B5EF4-FFF2-40B4-BE49-F238E27FC236}">
                <a16:creationId xmlns:a16="http://schemas.microsoft.com/office/drawing/2014/main" id="{54855DA5-3B7B-400A-85BC-4B77A3CAA49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03073" y="2427288"/>
            <a:ext cx="1866900" cy="314325"/>
          </a:xfrm>
          <a:prstGeom prst="rect">
            <a:avLst/>
          </a:prstGeom>
          <a:solidFill>
            <a:schemeClr val="bg1"/>
          </a:solidFill>
          <a:ln w="9525">
            <a:solidFill>
              <a:srgbClr val="FF3300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sz="1400" b="1">
                <a:latin typeface="Consolas" pitchFamily="49" charset="0"/>
              </a:rPr>
              <a:t>Client flow chart</a:t>
            </a:r>
          </a:p>
        </p:txBody>
      </p:sp>
      <p:sp>
        <p:nvSpPr>
          <p:cNvPr id="39" name="Text Box 35">
            <a:extLst>
              <a:ext uri="{FF2B5EF4-FFF2-40B4-BE49-F238E27FC236}">
                <a16:creationId xmlns:a16="http://schemas.microsoft.com/office/drawing/2014/main" id="{0BA18B2A-53F2-429B-94D1-4347D91C872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10998" y="3205163"/>
            <a:ext cx="4054475" cy="677862"/>
          </a:xfrm>
          <a:prstGeom prst="rect">
            <a:avLst/>
          </a:prstGeom>
          <a:solidFill>
            <a:schemeClr val="bg1"/>
          </a:solidFill>
          <a:ln w="9525">
            <a:solidFill>
              <a:srgbClr val="000000"/>
            </a:solidFill>
            <a:miter lim="800000"/>
            <a:headEnd/>
            <a:tailEnd/>
          </a:ln>
          <a:effectLst/>
        </p:spPr>
        <p:txBody>
          <a:bodyPr tIns="91440" bIns="9144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zh-TW" sz="1600" kern="0" dirty="0">
                <a:solidFill>
                  <a:sysClr val="windowText" lastClr="000000"/>
                </a:solidFill>
                <a:latin typeface="Calibri" pitchFamily="34" charset="0"/>
              </a:rPr>
              <a:t>Step (1). </a:t>
            </a:r>
            <a:r>
              <a:rPr kumimoji="0" lang="en-US" altLang="zh-TW" sz="1600" b="1" kern="0" dirty="0">
                <a:solidFill>
                  <a:sysClr val="windowText" lastClr="000000"/>
                </a:solidFill>
                <a:latin typeface="Calibri" pitchFamily="34" charset="0"/>
              </a:rPr>
              <a:t>socket()</a:t>
            </a:r>
            <a:endParaRPr kumimoji="0" lang="en-US" altLang="zh-TW" sz="1600" kern="0" dirty="0">
              <a:solidFill>
                <a:sysClr val="windowText" lastClr="000000"/>
              </a:solidFill>
              <a:latin typeface="Calibri" pitchFamily="34" charset="0"/>
            </a:endParaRP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zh-TW" sz="1600" kern="0" dirty="0">
                <a:solidFill>
                  <a:sysClr val="windowText" lastClr="000000"/>
                </a:solidFill>
                <a:latin typeface="Calibri" pitchFamily="34" charset="0"/>
              </a:rPr>
              <a:t>- Create a socket.</a:t>
            </a:r>
          </a:p>
        </p:txBody>
      </p:sp>
      <p:sp>
        <p:nvSpPr>
          <p:cNvPr id="40" name="Text Box 38">
            <a:extLst>
              <a:ext uri="{FF2B5EF4-FFF2-40B4-BE49-F238E27FC236}">
                <a16:creationId xmlns:a16="http://schemas.microsoft.com/office/drawing/2014/main" id="{4FD705B2-E615-4486-8E51-8D9E89067FC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26873" y="4029075"/>
            <a:ext cx="4054475" cy="1169988"/>
          </a:xfrm>
          <a:prstGeom prst="rect">
            <a:avLst/>
          </a:prstGeom>
          <a:solidFill>
            <a:schemeClr val="bg1"/>
          </a:solidFill>
          <a:ln w="9525">
            <a:solidFill>
              <a:srgbClr val="000000"/>
            </a:solidFill>
            <a:miter lim="800000"/>
            <a:headEnd/>
            <a:tailEnd/>
          </a:ln>
          <a:effectLst/>
        </p:spPr>
        <p:txBody>
          <a:bodyPr tIns="91440" bIns="9144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zh-TW" sz="1600" kern="0" dirty="0">
                <a:solidFill>
                  <a:sysClr val="windowText" lastClr="000000"/>
                </a:solidFill>
                <a:latin typeface="Calibri" pitchFamily="34" charset="0"/>
              </a:rPr>
              <a:t>Step (2). </a:t>
            </a:r>
            <a:r>
              <a:rPr kumimoji="0" lang="en-US" altLang="zh-TW" sz="1600" b="1" kern="0" dirty="0">
                <a:solidFill>
                  <a:sysClr val="windowText" lastClr="000000"/>
                </a:solidFill>
                <a:latin typeface="Calibri" pitchFamily="34" charset="0"/>
              </a:rPr>
              <a:t>bind() [optional]</a:t>
            </a:r>
            <a:endParaRPr kumimoji="0" lang="en-US" altLang="zh-TW" sz="1600" kern="0" dirty="0">
              <a:solidFill>
                <a:sysClr val="windowText" lastClr="000000"/>
              </a:solidFill>
              <a:latin typeface="Calibri" pitchFamily="34" charset="0"/>
            </a:endParaRP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zh-TW" sz="1600" kern="0" dirty="0">
                <a:solidFill>
                  <a:sysClr val="windowText" lastClr="000000"/>
                </a:solidFill>
                <a:latin typeface="Calibri" pitchFamily="34" charset="0"/>
              </a:rPr>
              <a:t>- Assign the socket a port number.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zh-TW" sz="1600" kern="0" dirty="0">
                <a:solidFill>
                  <a:sysClr val="windowText" lastClr="000000"/>
                </a:solidFill>
                <a:latin typeface="Calibri" pitchFamily="34" charset="0"/>
              </a:rPr>
              <a:t>- Skip this step and will have a random port number assigned.</a:t>
            </a:r>
          </a:p>
        </p:txBody>
      </p:sp>
      <p:sp>
        <p:nvSpPr>
          <p:cNvPr id="41" name="Text Box 39">
            <a:extLst>
              <a:ext uri="{FF2B5EF4-FFF2-40B4-BE49-F238E27FC236}">
                <a16:creationId xmlns:a16="http://schemas.microsoft.com/office/drawing/2014/main" id="{425660A0-F0FC-4EAD-8E96-5425A334D0A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26873" y="5327650"/>
            <a:ext cx="4054475" cy="923925"/>
          </a:xfrm>
          <a:prstGeom prst="rect">
            <a:avLst/>
          </a:prstGeom>
          <a:solidFill>
            <a:schemeClr val="bg1"/>
          </a:solidFill>
          <a:ln w="9525">
            <a:solidFill>
              <a:srgbClr val="000000"/>
            </a:solidFill>
            <a:miter lim="800000"/>
            <a:headEnd/>
            <a:tailEnd/>
          </a:ln>
          <a:effectLst/>
        </p:spPr>
        <p:txBody>
          <a:bodyPr tIns="91440" bIns="9144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zh-TW" sz="1600" kern="0" dirty="0">
                <a:solidFill>
                  <a:sysClr val="windowText" lastClr="000000"/>
                </a:solidFill>
                <a:latin typeface="Calibri" pitchFamily="34" charset="0"/>
              </a:rPr>
              <a:t>Step (3). </a:t>
            </a:r>
            <a:r>
              <a:rPr kumimoji="0" lang="en-US" altLang="zh-TW" sz="1600" b="1" kern="0" dirty="0">
                <a:solidFill>
                  <a:sysClr val="windowText" lastClr="000000"/>
                </a:solidFill>
                <a:latin typeface="Calibri" pitchFamily="34" charset="0"/>
              </a:rPr>
              <a:t>connect()</a:t>
            </a:r>
            <a:endParaRPr kumimoji="0" lang="en-US" altLang="zh-TW" sz="1600" kern="0" dirty="0">
              <a:solidFill>
                <a:sysClr val="windowText" lastClr="000000"/>
              </a:solidFill>
              <a:latin typeface="Calibri" pitchFamily="34" charset="0"/>
            </a:endParaRP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zh-TW" sz="1600" kern="0" dirty="0">
                <a:solidFill>
                  <a:sysClr val="windowText" lastClr="000000"/>
                </a:solidFill>
                <a:latin typeface="Calibri" pitchFamily="34" charset="0"/>
              </a:rPr>
              <a:t>- Connect to the remote server.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zh-TW" sz="1600" kern="0" dirty="0">
                <a:solidFill>
                  <a:sysClr val="windowText" lastClr="000000"/>
                </a:solidFill>
                <a:latin typeface="Calibri" pitchFamily="34" charset="0"/>
              </a:rPr>
              <a:t>- It is a blocking system call.</a:t>
            </a:r>
          </a:p>
        </p:txBody>
      </p:sp>
      <p:sp>
        <p:nvSpPr>
          <p:cNvPr id="42" name="Text Box 40">
            <a:extLst>
              <a:ext uri="{FF2B5EF4-FFF2-40B4-BE49-F238E27FC236}">
                <a16:creationId xmlns:a16="http://schemas.microsoft.com/office/drawing/2014/main" id="{B79A84F8-8051-49DE-BB9D-732F6E45B1C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27473" y="3111500"/>
            <a:ext cx="2500313" cy="8302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zh-TW" sz="1600" b="1" kern="0">
                <a:solidFill>
                  <a:sysClr val="windowText" lastClr="000000"/>
                </a:solidFill>
                <a:latin typeface="Calibri" pitchFamily="34" charset="0"/>
              </a:rPr>
              <a:t>read()</a:t>
            </a:r>
            <a:r>
              <a:rPr kumimoji="0" lang="en-US" altLang="zh-TW" sz="1600" kern="0">
                <a:solidFill>
                  <a:sysClr val="windowText" lastClr="000000"/>
                </a:solidFill>
                <a:latin typeface="Calibri" pitchFamily="34" charset="0"/>
              </a:rPr>
              <a:t> – to receive data.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zh-TW" sz="1600" b="1" kern="0">
                <a:solidFill>
                  <a:sysClr val="windowText" lastClr="000000"/>
                </a:solidFill>
                <a:latin typeface="Calibri" pitchFamily="34" charset="0"/>
              </a:rPr>
              <a:t>write()</a:t>
            </a:r>
            <a:r>
              <a:rPr kumimoji="0" lang="en-US" altLang="zh-TW" sz="1600" kern="0">
                <a:solidFill>
                  <a:sysClr val="windowText" lastClr="000000"/>
                </a:solidFill>
                <a:latin typeface="Calibri" pitchFamily="34" charset="0"/>
              </a:rPr>
              <a:t> – to send data.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zh-TW" sz="1600" b="1" kern="0">
                <a:solidFill>
                  <a:sysClr val="windowText" lastClr="000000"/>
                </a:solidFill>
                <a:latin typeface="Calibri" pitchFamily="34" charset="0"/>
              </a:rPr>
              <a:t>close()</a:t>
            </a:r>
            <a:r>
              <a:rPr kumimoji="0" lang="en-US" altLang="zh-TW" sz="1600" kern="0">
                <a:solidFill>
                  <a:sysClr val="windowText" lastClr="000000"/>
                </a:solidFill>
                <a:latin typeface="Calibri" pitchFamily="34" charset="0"/>
              </a:rPr>
              <a:t> – to close the socket</a:t>
            </a:r>
          </a:p>
        </p:txBody>
      </p:sp>
    </p:spTree>
    <p:extLst>
      <p:ext uri="{BB962C8B-B14F-4D97-AF65-F5344CB8AC3E}">
        <p14:creationId xmlns:p14="http://schemas.microsoft.com/office/powerpoint/2010/main" val="22790247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Socket Programming: Server Side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E1F1B7FF-0FBF-3D45-81DD-BA45BC44D74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744919" y="1555113"/>
            <a:ext cx="1863856" cy="4824100"/>
          </a:xfrm>
          <a:prstGeom prst="rect">
            <a:avLst/>
          </a:prstGeom>
        </p:spPr>
      </p:pic>
      <p:graphicFrame>
        <p:nvGraphicFramePr>
          <p:cNvPr id="6" name="Group 4">
            <a:extLst>
              <a:ext uri="{FF2B5EF4-FFF2-40B4-BE49-F238E27FC236}">
                <a16:creationId xmlns:a16="http://schemas.microsoft.com/office/drawing/2014/main" id="{5EE5234C-2895-47D5-BEE5-B6EAF2F4F088}"/>
              </a:ext>
            </a:extLst>
          </p:cNvPr>
          <p:cNvGraphicFramePr>
            <a:graphicFrameLocks noGrp="1"/>
          </p:cNvGraphicFramePr>
          <p:nvPr/>
        </p:nvGraphicFramePr>
        <p:xfrm>
          <a:off x="8548688" y="4102101"/>
          <a:ext cx="3505200" cy="2377440"/>
        </p:xfrm>
        <a:graphic>
          <a:graphicData uri="http://schemas.openxmlformats.org/drawingml/2006/table">
            <a:tbl>
              <a:tblPr/>
              <a:tblGrid>
                <a:gridCol w="1752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20675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" pitchFamily="34" charset="0"/>
                          <a:ea typeface="新細明體" pitchFamily="18" charset="-120"/>
                        </a:rPr>
                        <a:t>Important System calls</a:t>
                      </a:r>
                    </a:p>
                  </a:txBody>
                  <a:tcPr marT="91440" marB="9144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908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" pitchFamily="34" charset="0"/>
                          <a:ea typeface="新細明體" pitchFamily="18" charset="-120"/>
                        </a:rPr>
                        <a:t>Client side</a:t>
                      </a:r>
                    </a:p>
                  </a:txBody>
                  <a:tcPr marT="91440" marB="9144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" pitchFamily="34" charset="0"/>
                          <a:ea typeface="新細明體" pitchFamily="18" charset="-120"/>
                        </a:rPr>
                        <a:t>Server side</a:t>
                      </a:r>
                    </a:p>
                  </a:txBody>
                  <a:tcPr marT="91440" marB="9144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675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itchFamily="49" charset="0"/>
                          <a:ea typeface="新細明體" pitchFamily="18" charset="-120"/>
                        </a:rPr>
                        <a:t>socket()</a:t>
                      </a:r>
                    </a:p>
                  </a:txBody>
                  <a:tcPr marT="91440" marB="9144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6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itchFamily="49" charset="0"/>
                          <a:ea typeface="新細明體" pitchFamily="18" charset="-120"/>
                        </a:rPr>
                        <a:t>bind()*</a:t>
                      </a:r>
                    </a:p>
                  </a:txBody>
                  <a:tcPr marT="91440" marB="9144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itchFamily="49" charset="0"/>
                          <a:ea typeface="新細明體" pitchFamily="18" charset="-120"/>
                        </a:rPr>
                        <a:t>bind()</a:t>
                      </a:r>
                    </a:p>
                  </a:txBody>
                  <a:tcPr marT="91440" marB="9144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06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itchFamily="49" charset="0"/>
                          <a:ea typeface="新細明體" pitchFamily="18" charset="-120"/>
                        </a:rPr>
                        <a:t>connect()</a:t>
                      </a:r>
                    </a:p>
                  </a:txBody>
                  <a:tcPr marT="91440" marB="9144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itchFamily="49" charset="0"/>
                          <a:ea typeface="新細明體" pitchFamily="18" charset="-120"/>
                        </a:rPr>
                        <a:t>listen() and accept()</a:t>
                      </a:r>
                    </a:p>
                  </a:txBody>
                  <a:tcPr marT="91440" marB="9144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Box 25">
            <a:extLst>
              <a:ext uri="{FF2B5EF4-FFF2-40B4-BE49-F238E27FC236}">
                <a16:creationId xmlns:a16="http://schemas.microsoft.com/office/drawing/2014/main" id="{70714A64-A22E-499D-A5F9-BAEE59F850B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129088" y="1743076"/>
            <a:ext cx="1196975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 dirty="0">
                <a:latin typeface="Consolas" pitchFamily="49" charset="0"/>
              </a:rPr>
              <a:t>socket()</a:t>
            </a:r>
          </a:p>
        </p:txBody>
      </p:sp>
      <p:sp>
        <p:nvSpPr>
          <p:cNvPr id="9" name="Text Box 26">
            <a:extLst>
              <a:ext uri="{FF2B5EF4-FFF2-40B4-BE49-F238E27FC236}">
                <a16:creationId xmlns:a16="http://schemas.microsoft.com/office/drawing/2014/main" id="{AAB19A18-9873-4911-BFDE-D5B965E362F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862888" y="1743076"/>
            <a:ext cx="1196975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listen()</a:t>
            </a:r>
          </a:p>
        </p:txBody>
      </p:sp>
      <p:sp>
        <p:nvSpPr>
          <p:cNvPr id="10" name="Text Box 27">
            <a:extLst>
              <a:ext uri="{FF2B5EF4-FFF2-40B4-BE49-F238E27FC236}">
                <a16:creationId xmlns:a16="http://schemas.microsoft.com/office/drawing/2014/main" id="{CF6365C8-AAD7-4AC0-926D-27E0580F5FD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599738" y="1762126"/>
            <a:ext cx="946150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read()</a:t>
            </a:r>
          </a:p>
        </p:txBody>
      </p:sp>
      <p:sp>
        <p:nvSpPr>
          <p:cNvPr id="11" name="Text Box 28">
            <a:extLst>
              <a:ext uri="{FF2B5EF4-FFF2-40B4-BE49-F238E27FC236}">
                <a16:creationId xmlns:a16="http://schemas.microsoft.com/office/drawing/2014/main" id="{8E3C78D9-C6DE-4941-94EF-0B59567E29D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752138" y="2371726"/>
            <a:ext cx="1071563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write()</a:t>
            </a:r>
          </a:p>
        </p:txBody>
      </p:sp>
      <p:sp>
        <p:nvSpPr>
          <p:cNvPr id="12" name="Line 29">
            <a:extLst>
              <a:ext uri="{FF2B5EF4-FFF2-40B4-BE49-F238E27FC236}">
                <a16:creationId xmlns:a16="http://schemas.microsoft.com/office/drawing/2014/main" id="{0DE6630A-B88D-4468-AE78-131AE81A15AB}"/>
              </a:ext>
            </a:extLst>
          </p:cNvPr>
          <p:cNvSpPr>
            <a:spLocks noChangeShapeType="1"/>
          </p:cNvSpPr>
          <p:nvPr/>
        </p:nvSpPr>
        <p:spPr bwMode="auto">
          <a:xfrm>
            <a:off x="5500688" y="1909763"/>
            <a:ext cx="457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Box 30">
            <a:extLst>
              <a:ext uri="{FF2B5EF4-FFF2-40B4-BE49-F238E27FC236}">
                <a16:creationId xmlns:a16="http://schemas.microsoft.com/office/drawing/2014/main" id="{6E1491DA-84FF-46FE-BA55-02D6CCEFAE9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110288" y="1743076"/>
            <a:ext cx="946150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bind()</a:t>
            </a:r>
          </a:p>
        </p:txBody>
      </p:sp>
      <p:sp>
        <p:nvSpPr>
          <p:cNvPr id="14" name="Line 31">
            <a:extLst>
              <a:ext uri="{FF2B5EF4-FFF2-40B4-BE49-F238E27FC236}">
                <a16:creationId xmlns:a16="http://schemas.microsoft.com/office/drawing/2014/main" id="{74017E5F-A164-46D4-BAF4-B71F5C6CDFFB}"/>
              </a:ext>
            </a:extLst>
          </p:cNvPr>
          <p:cNvSpPr>
            <a:spLocks noChangeShapeType="1"/>
          </p:cNvSpPr>
          <p:nvPr/>
        </p:nvSpPr>
        <p:spPr bwMode="auto">
          <a:xfrm>
            <a:off x="7253288" y="1909763"/>
            <a:ext cx="457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15" name="Line 32">
            <a:extLst>
              <a:ext uri="{FF2B5EF4-FFF2-40B4-BE49-F238E27FC236}">
                <a16:creationId xmlns:a16="http://schemas.microsoft.com/office/drawing/2014/main" id="{D4D59AC5-37F2-42FD-86C4-59E687C70423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9234488" y="1985963"/>
            <a:ext cx="1219200" cy="457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16" name="Line 33">
            <a:extLst>
              <a:ext uri="{FF2B5EF4-FFF2-40B4-BE49-F238E27FC236}">
                <a16:creationId xmlns:a16="http://schemas.microsoft.com/office/drawing/2014/main" id="{5EAFD17E-38D0-4DFE-971D-79CE4A8F354B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9234488" y="2595563"/>
            <a:ext cx="14478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Box 34">
            <a:extLst>
              <a:ext uri="{FF2B5EF4-FFF2-40B4-BE49-F238E27FC236}">
                <a16:creationId xmlns:a16="http://schemas.microsoft.com/office/drawing/2014/main" id="{DC2F8C2D-A59B-4E45-8FA5-FC56637B0D8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52888" y="2438401"/>
            <a:ext cx="1866900" cy="314325"/>
          </a:xfrm>
          <a:prstGeom prst="rect">
            <a:avLst/>
          </a:prstGeom>
          <a:solidFill>
            <a:schemeClr val="bg1"/>
          </a:solidFill>
          <a:ln w="9525">
            <a:solidFill>
              <a:srgbClr val="FF3300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sz="1400" b="1" dirty="0">
                <a:latin typeface="Consolas" pitchFamily="49" charset="0"/>
              </a:rPr>
              <a:t>Server flow chart</a:t>
            </a:r>
          </a:p>
        </p:txBody>
      </p:sp>
      <p:sp>
        <p:nvSpPr>
          <p:cNvPr id="18" name="Text Box 35">
            <a:extLst>
              <a:ext uri="{FF2B5EF4-FFF2-40B4-BE49-F238E27FC236}">
                <a16:creationId xmlns:a16="http://schemas.microsoft.com/office/drawing/2014/main" id="{76BDD808-3BFD-433E-BDE6-FC23921E96F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60813" y="3216276"/>
            <a:ext cx="4054475" cy="438150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tIns="91440" bIns="91440">
            <a:spAutoFit/>
          </a:bodyPr>
          <a:lstStyle/>
          <a:p>
            <a:r>
              <a:rPr lang="en-US" altLang="zh-TW" sz="1600" dirty="0">
                <a:latin typeface="Calibri" pitchFamily="34" charset="0"/>
              </a:rPr>
              <a:t>Step (1) &amp; Step(2) [ you know them now. ]</a:t>
            </a:r>
          </a:p>
        </p:txBody>
      </p:sp>
      <p:sp>
        <p:nvSpPr>
          <p:cNvPr id="19" name="Rectangle 36">
            <a:extLst>
              <a:ext uri="{FF2B5EF4-FFF2-40B4-BE49-F238E27FC236}">
                <a16:creationId xmlns:a16="http://schemas.microsoft.com/office/drawing/2014/main" id="{E17C543E-AA26-4EE5-B6E2-E51CDE572255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8688" y="3052763"/>
            <a:ext cx="3505200" cy="914400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0" name="Text Box 37">
            <a:extLst>
              <a:ext uri="{FF2B5EF4-FFF2-40B4-BE49-F238E27FC236}">
                <a16:creationId xmlns:a16="http://schemas.microsoft.com/office/drawing/2014/main" id="{BE8C8833-AB35-4972-8EB1-3911354DF23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76688" y="4040188"/>
            <a:ext cx="4054475" cy="927100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tIns="91440" bIns="91440">
            <a:spAutoFit/>
          </a:bodyPr>
          <a:lstStyle/>
          <a:p>
            <a:r>
              <a:rPr lang="en-US" altLang="zh-TW" sz="1600">
                <a:latin typeface="Calibri" pitchFamily="34" charset="0"/>
              </a:rPr>
              <a:t>Step (3). </a:t>
            </a:r>
            <a:r>
              <a:rPr lang="en-US" altLang="zh-TW" sz="1600" b="1">
                <a:latin typeface="Calibri" pitchFamily="34" charset="0"/>
              </a:rPr>
              <a:t>listen()</a:t>
            </a:r>
            <a:endParaRPr lang="en-US" altLang="zh-TW" sz="1600">
              <a:latin typeface="Calibri" pitchFamily="34" charset="0"/>
            </a:endParaRPr>
          </a:p>
          <a:p>
            <a:r>
              <a:rPr lang="en-US" altLang="zh-TW" sz="1600">
                <a:latin typeface="Calibri" pitchFamily="34" charset="0"/>
              </a:rPr>
              <a:t>- It sets the port to be listening to incoming connections, for TCP only.</a:t>
            </a:r>
          </a:p>
        </p:txBody>
      </p:sp>
      <p:sp>
        <p:nvSpPr>
          <p:cNvPr id="21" name="Text Box 38">
            <a:extLst>
              <a:ext uri="{FF2B5EF4-FFF2-40B4-BE49-F238E27FC236}">
                <a16:creationId xmlns:a16="http://schemas.microsoft.com/office/drawing/2014/main" id="{B21DE8A7-EBC6-4163-AA06-1C09A09EF97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76688" y="5338763"/>
            <a:ext cx="4054475" cy="927100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tIns="91440" bIns="91440">
            <a:spAutoFit/>
          </a:bodyPr>
          <a:lstStyle/>
          <a:p>
            <a:r>
              <a:rPr lang="en-US" altLang="zh-TW" sz="1600" dirty="0">
                <a:latin typeface="Calibri" pitchFamily="34" charset="0"/>
              </a:rPr>
              <a:t>Step (4). </a:t>
            </a:r>
            <a:r>
              <a:rPr lang="en-US" altLang="zh-TW" sz="1600" b="1" dirty="0">
                <a:latin typeface="Calibri" pitchFamily="34" charset="0"/>
              </a:rPr>
              <a:t>accept()</a:t>
            </a:r>
            <a:endParaRPr lang="en-US" altLang="zh-TW" sz="1600" dirty="0">
              <a:latin typeface="Calibri" pitchFamily="34" charset="0"/>
            </a:endParaRPr>
          </a:p>
          <a:p>
            <a:r>
              <a:rPr lang="en-US" altLang="zh-TW" sz="1600" dirty="0">
                <a:latin typeface="Calibri" pitchFamily="34" charset="0"/>
              </a:rPr>
              <a:t>- Accept incoming connections.</a:t>
            </a:r>
          </a:p>
          <a:p>
            <a:r>
              <a:rPr lang="en-US" altLang="zh-TW" sz="1600" dirty="0">
                <a:latin typeface="Calibri" pitchFamily="34" charset="0"/>
              </a:rPr>
              <a:t>- A blocking system call.</a:t>
            </a:r>
          </a:p>
        </p:txBody>
      </p:sp>
      <p:sp>
        <p:nvSpPr>
          <p:cNvPr id="22" name="Text Box 39">
            <a:extLst>
              <a:ext uri="{FF2B5EF4-FFF2-40B4-BE49-F238E27FC236}">
                <a16:creationId xmlns:a16="http://schemas.microsoft.com/office/drawing/2014/main" id="{D4F89D13-3D02-4B3F-8DD3-7BA63D5837D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862888" y="2352676"/>
            <a:ext cx="1196975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accept()</a:t>
            </a:r>
          </a:p>
        </p:txBody>
      </p:sp>
      <p:sp>
        <p:nvSpPr>
          <p:cNvPr id="23" name="Text Box 40">
            <a:extLst>
              <a:ext uri="{FF2B5EF4-FFF2-40B4-BE49-F238E27FC236}">
                <a16:creationId xmlns:a16="http://schemas.microsoft.com/office/drawing/2014/main" id="{DCAF029B-4F63-43FF-AECF-8F6DF02482B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777288" y="3122613"/>
            <a:ext cx="2490788" cy="8302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sz="1600" b="1">
                <a:latin typeface="Calibri" pitchFamily="34" charset="0"/>
              </a:rPr>
              <a:t>read()</a:t>
            </a:r>
            <a:r>
              <a:rPr lang="en-US" altLang="zh-TW" sz="1600">
                <a:latin typeface="Calibri" pitchFamily="34" charset="0"/>
              </a:rPr>
              <a:t> – to receive data.</a:t>
            </a:r>
          </a:p>
          <a:p>
            <a:r>
              <a:rPr lang="en-US" altLang="zh-TW" sz="1600" b="1">
                <a:latin typeface="Calibri" pitchFamily="34" charset="0"/>
              </a:rPr>
              <a:t>write()</a:t>
            </a:r>
            <a:r>
              <a:rPr lang="en-US" altLang="zh-TW" sz="1600">
                <a:latin typeface="Calibri" pitchFamily="34" charset="0"/>
              </a:rPr>
              <a:t> – to send data.</a:t>
            </a:r>
          </a:p>
          <a:p>
            <a:r>
              <a:rPr lang="en-US" altLang="zh-TW" sz="1600" b="1">
                <a:latin typeface="Calibri" pitchFamily="34" charset="0"/>
              </a:rPr>
              <a:t>close()</a:t>
            </a:r>
            <a:r>
              <a:rPr lang="en-US" altLang="zh-TW" sz="1600">
                <a:latin typeface="Calibri" pitchFamily="34" charset="0"/>
              </a:rPr>
              <a:t> – to close the socket</a:t>
            </a:r>
          </a:p>
        </p:txBody>
      </p:sp>
      <p:sp>
        <p:nvSpPr>
          <p:cNvPr id="24" name="Line 41">
            <a:extLst>
              <a:ext uri="{FF2B5EF4-FFF2-40B4-BE49-F238E27FC236}">
                <a16:creationId xmlns:a16="http://schemas.microsoft.com/office/drawing/2014/main" id="{5DCD6942-DE13-4EFB-BEEB-67FAF2ED9264}"/>
              </a:ext>
            </a:extLst>
          </p:cNvPr>
          <p:cNvSpPr>
            <a:spLocks noChangeShapeType="1"/>
          </p:cNvSpPr>
          <p:nvPr/>
        </p:nvSpPr>
        <p:spPr bwMode="auto">
          <a:xfrm>
            <a:off x="8472488" y="2138363"/>
            <a:ext cx="0" cy="228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Box 42">
            <a:extLst>
              <a:ext uri="{FF2B5EF4-FFF2-40B4-BE49-F238E27FC236}">
                <a16:creationId xmlns:a16="http://schemas.microsoft.com/office/drawing/2014/main" id="{512AC3EE-D825-46FE-82E0-FBAB52551D4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539288" y="6564313"/>
            <a:ext cx="1624013" cy="284163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sz="1200" b="1">
                <a:latin typeface="Consolas" pitchFamily="49" charset="0"/>
              </a:rPr>
              <a:t>* means optional.</a:t>
            </a:r>
          </a:p>
        </p:txBody>
      </p:sp>
    </p:spTree>
    <p:extLst>
      <p:ext uri="{BB962C8B-B14F-4D97-AF65-F5344CB8AC3E}">
        <p14:creationId xmlns:p14="http://schemas.microsoft.com/office/powerpoint/2010/main" val="26480319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Socket Programming: Complete Flow</a:t>
            </a:r>
          </a:p>
        </p:txBody>
      </p:sp>
      <p:sp>
        <p:nvSpPr>
          <p:cNvPr id="9" name="Text Box 6">
            <a:extLst>
              <a:ext uri="{FF2B5EF4-FFF2-40B4-BE49-F238E27FC236}">
                <a16:creationId xmlns:a16="http://schemas.microsoft.com/office/drawing/2014/main" id="{F6AFE687-0492-4A55-AB34-D24ED6DC8C2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63775" y="1876426"/>
            <a:ext cx="1196975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 dirty="0">
                <a:latin typeface="Consolas" pitchFamily="49" charset="0"/>
              </a:rPr>
              <a:t>socket()</a:t>
            </a:r>
          </a:p>
        </p:txBody>
      </p:sp>
      <p:sp>
        <p:nvSpPr>
          <p:cNvPr id="10" name="Text Box 7">
            <a:extLst>
              <a:ext uri="{FF2B5EF4-FFF2-40B4-BE49-F238E27FC236}">
                <a16:creationId xmlns:a16="http://schemas.microsoft.com/office/drawing/2014/main" id="{34CEA3E1-E825-4190-BA28-33FC42C33F1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97575" y="1876426"/>
            <a:ext cx="1196975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listen()</a:t>
            </a:r>
          </a:p>
        </p:txBody>
      </p:sp>
      <p:sp>
        <p:nvSpPr>
          <p:cNvPr id="11" name="Text Box 9">
            <a:extLst>
              <a:ext uri="{FF2B5EF4-FFF2-40B4-BE49-F238E27FC236}">
                <a16:creationId xmlns:a16="http://schemas.microsoft.com/office/drawing/2014/main" id="{9EDF3584-74B0-4730-AA57-AAA168C844E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740775" y="2271713"/>
            <a:ext cx="1219200" cy="650875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read() &amp; write()</a:t>
            </a:r>
          </a:p>
        </p:txBody>
      </p:sp>
      <p:sp>
        <p:nvSpPr>
          <p:cNvPr id="12" name="Line 10">
            <a:extLst>
              <a:ext uri="{FF2B5EF4-FFF2-40B4-BE49-F238E27FC236}">
                <a16:creationId xmlns:a16="http://schemas.microsoft.com/office/drawing/2014/main" id="{E83C4907-AB29-4059-8561-579811A2BBEB}"/>
              </a:ext>
            </a:extLst>
          </p:cNvPr>
          <p:cNvSpPr>
            <a:spLocks noChangeShapeType="1"/>
          </p:cNvSpPr>
          <p:nvPr/>
        </p:nvSpPr>
        <p:spPr bwMode="auto">
          <a:xfrm>
            <a:off x="3635375" y="2043113"/>
            <a:ext cx="457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Box 11">
            <a:extLst>
              <a:ext uri="{FF2B5EF4-FFF2-40B4-BE49-F238E27FC236}">
                <a16:creationId xmlns:a16="http://schemas.microsoft.com/office/drawing/2014/main" id="{244D6EC8-8247-47DF-AB89-82CCA3504F2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244975" y="1876426"/>
            <a:ext cx="946150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bind()</a:t>
            </a:r>
          </a:p>
        </p:txBody>
      </p:sp>
      <p:sp>
        <p:nvSpPr>
          <p:cNvPr id="14" name="Line 12">
            <a:extLst>
              <a:ext uri="{FF2B5EF4-FFF2-40B4-BE49-F238E27FC236}">
                <a16:creationId xmlns:a16="http://schemas.microsoft.com/office/drawing/2014/main" id="{2C0B79DC-7211-46C9-9B05-933BEAB4A187}"/>
              </a:ext>
            </a:extLst>
          </p:cNvPr>
          <p:cNvSpPr>
            <a:spLocks noChangeShapeType="1"/>
          </p:cNvSpPr>
          <p:nvPr/>
        </p:nvSpPr>
        <p:spPr bwMode="auto">
          <a:xfrm>
            <a:off x="5387975" y="2043113"/>
            <a:ext cx="457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15" name="Line 14">
            <a:extLst>
              <a:ext uri="{FF2B5EF4-FFF2-40B4-BE49-F238E27FC236}">
                <a16:creationId xmlns:a16="http://schemas.microsoft.com/office/drawing/2014/main" id="{43E296AB-0EEF-4E91-94A8-7EBF3F9648E3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216775" y="2617788"/>
            <a:ext cx="14478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Box 15">
            <a:extLst>
              <a:ext uri="{FF2B5EF4-FFF2-40B4-BE49-F238E27FC236}">
                <a16:creationId xmlns:a16="http://schemas.microsoft.com/office/drawing/2014/main" id="{6BCF302D-B88D-477B-8D98-50193122576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87575" y="3709988"/>
            <a:ext cx="1866900" cy="314325"/>
          </a:xfrm>
          <a:prstGeom prst="rect">
            <a:avLst/>
          </a:prstGeom>
          <a:solidFill>
            <a:schemeClr val="bg1"/>
          </a:solidFill>
          <a:ln w="9525">
            <a:solidFill>
              <a:srgbClr val="FF3300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sz="1400" b="1" dirty="0">
                <a:latin typeface="Consolas" pitchFamily="49" charset="0"/>
              </a:rPr>
              <a:t>Server flow chart</a:t>
            </a:r>
          </a:p>
        </p:txBody>
      </p:sp>
      <p:sp>
        <p:nvSpPr>
          <p:cNvPr id="17" name="Text Box 16">
            <a:extLst>
              <a:ext uri="{FF2B5EF4-FFF2-40B4-BE49-F238E27FC236}">
                <a16:creationId xmlns:a16="http://schemas.microsoft.com/office/drawing/2014/main" id="{17F0FCD2-C122-43FA-A96E-A2EF64DB3C0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97575" y="2486026"/>
            <a:ext cx="1196975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accept()</a:t>
            </a:r>
          </a:p>
        </p:txBody>
      </p:sp>
      <p:sp>
        <p:nvSpPr>
          <p:cNvPr id="18" name="Line 17">
            <a:extLst>
              <a:ext uri="{FF2B5EF4-FFF2-40B4-BE49-F238E27FC236}">
                <a16:creationId xmlns:a16="http://schemas.microsoft.com/office/drawing/2014/main" id="{4D023969-95A2-468A-A3E0-B675ED6570BA}"/>
              </a:ext>
            </a:extLst>
          </p:cNvPr>
          <p:cNvSpPr>
            <a:spLocks noChangeShapeType="1"/>
          </p:cNvSpPr>
          <p:nvPr/>
        </p:nvSpPr>
        <p:spPr bwMode="auto">
          <a:xfrm>
            <a:off x="6607175" y="2271713"/>
            <a:ext cx="0" cy="228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4289FA5-0234-4100-9377-F65B26C0F8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39975" y="2195513"/>
            <a:ext cx="990600" cy="304800"/>
          </a:xfrm>
          <a:prstGeom prst="rect">
            <a:avLst/>
          </a:prstGeom>
          <a:solidFill>
            <a:schemeClr val="folHlink"/>
          </a:solidFill>
          <a:ln w="9525" algn="ctr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r>
              <a:rPr lang="en-US" altLang="zh-TW" sz="1400" b="1" dirty="0">
                <a:latin typeface="Consolas" pitchFamily="49" charset="0"/>
              </a:rPr>
              <a:t>Socket FD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FD8A21C-1E7E-4D09-B905-8CE711B8C75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44975" y="2195513"/>
            <a:ext cx="990600" cy="304800"/>
          </a:xfrm>
          <a:prstGeom prst="rect">
            <a:avLst/>
          </a:prstGeom>
          <a:solidFill>
            <a:schemeClr val="folHlink"/>
          </a:solidFill>
          <a:ln w="9525" algn="ctr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r>
              <a:rPr lang="en-US" altLang="zh-TW" sz="1400" b="1">
                <a:latin typeface="Consolas" pitchFamily="49" charset="0"/>
              </a:rPr>
              <a:t>Socket FD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2B94EDB-4E65-4E1D-A28A-5B6B4ED8193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73775" y="1585913"/>
            <a:ext cx="990600" cy="304800"/>
          </a:xfrm>
          <a:prstGeom prst="rect">
            <a:avLst/>
          </a:prstGeom>
          <a:solidFill>
            <a:schemeClr val="folHlink"/>
          </a:solidFill>
          <a:ln w="9525" algn="ctr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r>
              <a:rPr lang="en-US" altLang="zh-TW" sz="1400" b="1">
                <a:latin typeface="Consolas" pitchFamily="49" charset="0"/>
              </a:rPr>
              <a:t>Socket FD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9E2CC8E-EDB7-4393-86A1-74F25FC28D6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73775" y="2805113"/>
            <a:ext cx="990600" cy="304800"/>
          </a:xfrm>
          <a:prstGeom prst="rect">
            <a:avLst/>
          </a:prstGeom>
          <a:solidFill>
            <a:schemeClr val="folHlink"/>
          </a:solidFill>
          <a:ln w="9525" algn="ctr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r>
              <a:rPr lang="en-US" altLang="zh-TW" sz="1400" b="1">
                <a:latin typeface="Consolas" pitchFamily="49" charset="0"/>
              </a:rPr>
              <a:t>Socket FD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1C9CEC58-E6BE-4C40-8200-5922040D68EC}"/>
              </a:ext>
            </a:extLst>
          </p:cNvPr>
          <p:cNvSpPr>
            <a:spLocks noChangeArrowheads="1"/>
          </p:cNvSpPr>
          <p:nvPr/>
        </p:nvSpPr>
        <p:spPr bwMode="auto">
          <a:xfrm>
            <a:off x="8816975" y="2008188"/>
            <a:ext cx="990600" cy="304800"/>
          </a:xfrm>
          <a:prstGeom prst="rect">
            <a:avLst/>
          </a:prstGeom>
          <a:solidFill>
            <a:schemeClr val="hlink"/>
          </a:solidFill>
          <a:ln w="9525" algn="ctr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r>
              <a:rPr lang="en-US" altLang="zh-TW" sz="1400" b="1" dirty="0">
                <a:solidFill>
                  <a:schemeClr val="bg1"/>
                </a:solidFill>
                <a:latin typeface="Consolas" pitchFamily="49" charset="0"/>
              </a:rPr>
              <a:t>Accept FD</a:t>
            </a:r>
          </a:p>
        </p:txBody>
      </p:sp>
      <p:sp>
        <p:nvSpPr>
          <p:cNvPr id="24" name="Text Box 23">
            <a:extLst>
              <a:ext uri="{FF2B5EF4-FFF2-40B4-BE49-F238E27FC236}">
                <a16:creationId xmlns:a16="http://schemas.microsoft.com/office/drawing/2014/main" id="{94F98D6C-E4AD-4590-AE5B-B0B3DBE42A1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359775" y="3373438"/>
            <a:ext cx="1219200" cy="650875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read() &amp; write()</a:t>
            </a:r>
          </a:p>
        </p:txBody>
      </p:sp>
      <p:sp>
        <p:nvSpPr>
          <p:cNvPr id="25" name="Line 24">
            <a:extLst>
              <a:ext uri="{FF2B5EF4-FFF2-40B4-BE49-F238E27FC236}">
                <a16:creationId xmlns:a16="http://schemas.microsoft.com/office/drawing/2014/main" id="{670D0AA2-BFA6-4BC7-AE67-50825652B4B7}"/>
              </a:ext>
            </a:extLst>
          </p:cNvPr>
          <p:cNvSpPr>
            <a:spLocks noChangeShapeType="1"/>
          </p:cNvSpPr>
          <p:nvPr/>
        </p:nvSpPr>
        <p:spPr bwMode="auto">
          <a:xfrm>
            <a:off x="7292975" y="2881313"/>
            <a:ext cx="990600" cy="6858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0BC3896-39BA-478F-BF56-19FA3C5575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35975" y="3109913"/>
            <a:ext cx="990600" cy="304800"/>
          </a:xfrm>
          <a:prstGeom prst="rect">
            <a:avLst/>
          </a:prstGeom>
          <a:solidFill>
            <a:schemeClr val="hlink"/>
          </a:solidFill>
          <a:ln w="9525" algn="ctr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r>
              <a:rPr lang="en-US" altLang="zh-TW" sz="1400" b="1" dirty="0">
                <a:solidFill>
                  <a:schemeClr val="bg1"/>
                </a:solidFill>
                <a:latin typeface="Consolas" pitchFamily="49" charset="0"/>
              </a:rPr>
              <a:t>Accept FD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D04EEB0F-761A-4404-822C-C1CEB3CD10F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78775" y="2728913"/>
            <a:ext cx="76200" cy="76200"/>
          </a:xfrm>
          <a:prstGeom prst="ellipse">
            <a:avLst/>
          </a:prstGeom>
          <a:solidFill>
            <a:schemeClr val="tx1"/>
          </a:solid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5C2683EF-7905-4295-8288-A7DF6297853F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78775" y="2881313"/>
            <a:ext cx="76200" cy="76200"/>
          </a:xfrm>
          <a:prstGeom prst="ellipse">
            <a:avLst/>
          </a:prstGeom>
          <a:solidFill>
            <a:schemeClr val="tx1"/>
          </a:solid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38A9B143-8954-45B1-B481-3D090FB5787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78775" y="3033713"/>
            <a:ext cx="76200" cy="76200"/>
          </a:xfrm>
          <a:prstGeom prst="ellipse">
            <a:avLst/>
          </a:prstGeom>
          <a:solidFill>
            <a:schemeClr val="tx1"/>
          </a:solid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31" name="Text Box 30">
            <a:extLst>
              <a:ext uri="{FF2B5EF4-FFF2-40B4-BE49-F238E27FC236}">
                <a16:creationId xmlns:a16="http://schemas.microsoft.com/office/drawing/2014/main" id="{F0B5B28B-72D4-4E80-87A2-4986B998466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87575" y="4329113"/>
            <a:ext cx="7696200" cy="430213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tIns="91440" bIns="91440">
            <a:spAutoFit/>
          </a:bodyPr>
          <a:lstStyle/>
          <a:p>
            <a:r>
              <a:rPr lang="en-US" altLang="zh-TW" sz="1600" dirty="0">
                <a:latin typeface="Calibri" pitchFamily="34" charset="0"/>
              </a:rPr>
              <a:t>An interesting thing about </a:t>
            </a:r>
            <a:r>
              <a:rPr lang="en-US" altLang="zh-TW" sz="1600" b="1" dirty="0">
                <a:latin typeface="Calibri" pitchFamily="34" charset="0"/>
              </a:rPr>
              <a:t>accept()</a:t>
            </a:r>
            <a:r>
              <a:rPr lang="en-US" altLang="zh-TW" sz="1600" dirty="0">
                <a:latin typeface="Calibri" pitchFamily="34" charset="0"/>
              </a:rPr>
              <a:t> is the creation of a </a:t>
            </a:r>
            <a:r>
              <a:rPr lang="en-US" altLang="zh-TW" sz="1600" b="1" dirty="0">
                <a:solidFill>
                  <a:srgbClr val="FF3300"/>
                </a:solidFill>
                <a:latin typeface="Calibri" pitchFamily="34" charset="0"/>
              </a:rPr>
              <a:t>new file descriptor</a:t>
            </a:r>
            <a:r>
              <a:rPr lang="en-US" altLang="zh-TW" sz="1600" dirty="0">
                <a:latin typeface="Calibri" pitchFamily="34" charset="0"/>
              </a:rPr>
              <a:t>!</a:t>
            </a:r>
          </a:p>
        </p:txBody>
      </p:sp>
      <p:sp>
        <p:nvSpPr>
          <p:cNvPr id="32" name="Text Box 31">
            <a:extLst>
              <a:ext uri="{FF2B5EF4-FFF2-40B4-BE49-F238E27FC236}">
                <a16:creationId xmlns:a16="http://schemas.microsoft.com/office/drawing/2014/main" id="{3BF08CE2-AE43-465C-8504-4E22C3A2FA9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87575" y="4938713"/>
            <a:ext cx="3733800" cy="1416050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tIns="91440" bIns="91440">
            <a:spAutoFit/>
          </a:bodyPr>
          <a:lstStyle/>
          <a:p>
            <a:r>
              <a:rPr lang="en-US" altLang="zh-TW" sz="1600" b="1" u="sng" dirty="0">
                <a:latin typeface="Calibri" pitchFamily="34" charset="0"/>
              </a:rPr>
              <a:t>Application layer’s point of view.</a:t>
            </a:r>
          </a:p>
          <a:p>
            <a:endParaRPr lang="en-US" altLang="zh-TW" sz="1600" dirty="0">
              <a:latin typeface="Calibri" pitchFamily="34" charset="0"/>
            </a:endParaRPr>
          </a:p>
          <a:p>
            <a:r>
              <a:rPr lang="en-US" altLang="zh-TW" sz="1600" dirty="0">
                <a:latin typeface="Calibri" pitchFamily="34" charset="0"/>
              </a:rPr>
              <a:t>Good!  It provides each connection a new handler and we can distinguish every connection!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C29ADE9-9816-4B60-9622-82270D1BC9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92975" y="2195513"/>
            <a:ext cx="1295400" cy="304800"/>
          </a:xfrm>
          <a:prstGeom prst="rect">
            <a:avLst/>
          </a:prstGeom>
          <a:solidFill>
            <a:schemeClr val="bg1"/>
          </a:solidFill>
          <a:ln w="9525" algn="ctr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r>
              <a:rPr lang="en-US" altLang="zh-TW" sz="1200" b="1">
                <a:latin typeface="Consolas" pitchFamily="49" charset="0"/>
              </a:rPr>
              <a:t>connection #1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F75872B7-6D75-4EF2-A03D-2B66163D87F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59575" y="3414713"/>
            <a:ext cx="1295400" cy="304800"/>
          </a:xfrm>
          <a:prstGeom prst="rect">
            <a:avLst/>
          </a:prstGeom>
          <a:solidFill>
            <a:schemeClr val="bg1"/>
          </a:solidFill>
          <a:ln w="9525" algn="ctr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r>
              <a:rPr lang="en-US" altLang="zh-TW" sz="1200" b="1">
                <a:latin typeface="Consolas" pitchFamily="49" charset="0"/>
              </a:rPr>
              <a:t>connection #n</a:t>
            </a:r>
          </a:p>
        </p:txBody>
      </p:sp>
      <p:sp>
        <p:nvSpPr>
          <p:cNvPr id="35" name="Text Box 34">
            <a:extLst>
              <a:ext uri="{FF2B5EF4-FFF2-40B4-BE49-F238E27FC236}">
                <a16:creationId xmlns:a16="http://schemas.microsoft.com/office/drawing/2014/main" id="{72FED377-0EC2-45E9-8638-AA6034CD5CB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149975" y="4938713"/>
            <a:ext cx="3733800" cy="1416050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tIns="91440" bIns="91440">
            <a:spAutoFit/>
          </a:bodyPr>
          <a:lstStyle/>
          <a:p>
            <a:r>
              <a:rPr lang="en-US" altLang="zh-TW" sz="1600" b="1" u="sng" dirty="0">
                <a:latin typeface="Calibri" pitchFamily="34" charset="0"/>
              </a:rPr>
              <a:t>Transport layer’s point of view.</a:t>
            </a:r>
          </a:p>
          <a:p>
            <a:endParaRPr lang="en-US" altLang="zh-TW" sz="1600" dirty="0">
              <a:latin typeface="Calibri" pitchFamily="34" charset="0"/>
            </a:endParaRPr>
          </a:p>
          <a:p>
            <a:r>
              <a:rPr lang="en-US" altLang="zh-TW" sz="1600" dirty="0">
                <a:latin typeface="Calibri" pitchFamily="34" charset="0"/>
              </a:rPr>
              <a:t>Well, for TCP, every FD points to </a:t>
            </a:r>
            <a:r>
              <a:rPr lang="en-US" altLang="zh-TW" sz="1600" b="1" dirty="0">
                <a:solidFill>
                  <a:srgbClr val="C00000"/>
                </a:solidFill>
                <a:latin typeface="Calibri" pitchFamily="34" charset="0"/>
              </a:rPr>
              <a:t>a unique TCP control structure</a:t>
            </a:r>
            <a:r>
              <a:rPr lang="en-US" altLang="zh-TW" sz="1600" dirty="0">
                <a:latin typeface="Calibri" pitchFamily="34" charset="0"/>
              </a:rPr>
              <a:t>. It is a necessary for reliable data transfer!</a:t>
            </a:r>
          </a:p>
        </p:txBody>
      </p:sp>
    </p:spTree>
    <p:extLst>
      <p:ext uri="{BB962C8B-B14F-4D97-AF65-F5344CB8AC3E}">
        <p14:creationId xmlns:p14="http://schemas.microsoft.com/office/powerpoint/2010/main" val="22878906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Socket Programming: Complete Flow</a:t>
            </a:r>
          </a:p>
        </p:txBody>
      </p:sp>
      <p:sp>
        <p:nvSpPr>
          <p:cNvPr id="30" name="Slide Number Placeholder 2">
            <a:extLst>
              <a:ext uri="{FF2B5EF4-FFF2-40B4-BE49-F238E27FC236}">
                <a16:creationId xmlns:a16="http://schemas.microsoft.com/office/drawing/2014/main" id="{DEB41D64-1C01-4C1A-9347-D467748297AD}"/>
              </a:ext>
            </a:extLst>
          </p:cNvPr>
          <p:cNvSpPr txBox="1">
            <a:spLocks/>
          </p:cNvSpPr>
          <p:nvPr/>
        </p:nvSpPr>
        <p:spPr bwMode="auto">
          <a:xfrm>
            <a:off x="7827065" y="6813550"/>
            <a:ext cx="2057400" cy="3651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r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1pPr>
            <a:lvl2pPr marL="457200" algn="l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defRPr sz="1800" kern="1200">
                <a:solidFill>
                  <a:schemeClr val="tx1"/>
                </a:solidFill>
                <a:latin typeface="Comic Sans MS" pitchFamily="66" charset="0"/>
                <a:ea typeface="+mn-ea"/>
                <a:cs typeface="+mn-cs"/>
              </a:defRPr>
            </a:lvl2pPr>
            <a:lvl3pPr marL="914400" algn="l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defRPr sz="1800" kern="1200">
                <a:solidFill>
                  <a:schemeClr val="tx1"/>
                </a:solidFill>
                <a:latin typeface="Comic Sans MS" pitchFamily="66" charset="0"/>
                <a:ea typeface="+mn-ea"/>
                <a:cs typeface="+mn-cs"/>
              </a:defRPr>
            </a:lvl3pPr>
            <a:lvl4pPr marL="1371600" algn="l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defRPr sz="1800" kern="1200">
                <a:solidFill>
                  <a:schemeClr val="tx1"/>
                </a:solidFill>
                <a:latin typeface="Comic Sans MS" pitchFamily="66" charset="0"/>
                <a:ea typeface="+mn-ea"/>
                <a:cs typeface="+mn-cs"/>
              </a:defRPr>
            </a:lvl4pPr>
            <a:lvl5pPr marL="1828800" algn="l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defRPr sz="1800" kern="1200">
                <a:solidFill>
                  <a:schemeClr val="tx1"/>
                </a:solidFill>
                <a:latin typeface="Comic Sans MS" pitchFamily="66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Comic Sans MS" pitchFamily="66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Comic Sans MS" pitchFamily="66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Comic Sans MS" pitchFamily="66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Comic Sans MS" pitchFamily="66" charset="0"/>
                <a:ea typeface="+mn-ea"/>
                <a:cs typeface="+mn-cs"/>
              </a:defRPr>
            </a:lvl9pPr>
          </a:lstStyle>
          <a:p>
            <a:fld id="{2AEB5DB0-1750-46EA-AC7C-282DFECA4821}" type="slidenum">
              <a:rPr lang="en-US" altLang="en-US" smtClean="0"/>
              <a:pPr/>
              <a:t>8</a:t>
            </a:fld>
            <a:endParaRPr lang="en-US" altLang="en-US" dirty="0"/>
          </a:p>
        </p:txBody>
      </p:sp>
      <p:sp>
        <p:nvSpPr>
          <p:cNvPr id="37" name="Text Box 24">
            <a:extLst>
              <a:ext uri="{FF2B5EF4-FFF2-40B4-BE49-F238E27FC236}">
                <a16:creationId xmlns:a16="http://schemas.microsoft.com/office/drawing/2014/main" id="{51B30D0A-CD98-4973-BEB1-35D60C72837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90700" y="1966913"/>
            <a:ext cx="1196975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socket()</a:t>
            </a:r>
          </a:p>
        </p:txBody>
      </p:sp>
      <p:sp>
        <p:nvSpPr>
          <p:cNvPr id="38" name="Text Box 25">
            <a:extLst>
              <a:ext uri="{FF2B5EF4-FFF2-40B4-BE49-F238E27FC236}">
                <a16:creationId xmlns:a16="http://schemas.microsoft.com/office/drawing/2014/main" id="{F4F2D922-2A40-4728-B07F-F97E9499DA4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24500" y="1966913"/>
            <a:ext cx="1196975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listen()</a:t>
            </a:r>
          </a:p>
        </p:txBody>
      </p:sp>
      <p:sp>
        <p:nvSpPr>
          <p:cNvPr id="39" name="Line 28">
            <a:extLst>
              <a:ext uri="{FF2B5EF4-FFF2-40B4-BE49-F238E27FC236}">
                <a16:creationId xmlns:a16="http://schemas.microsoft.com/office/drawing/2014/main" id="{37957464-8D89-40C2-9BE8-080A73E5B7F3}"/>
              </a:ext>
            </a:extLst>
          </p:cNvPr>
          <p:cNvSpPr>
            <a:spLocks noChangeShapeType="1"/>
          </p:cNvSpPr>
          <p:nvPr/>
        </p:nvSpPr>
        <p:spPr bwMode="auto">
          <a:xfrm>
            <a:off x="3162300" y="2133600"/>
            <a:ext cx="457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Box 29">
            <a:extLst>
              <a:ext uri="{FF2B5EF4-FFF2-40B4-BE49-F238E27FC236}">
                <a16:creationId xmlns:a16="http://schemas.microsoft.com/office/drawing/2014/main" id="{839DA00A-3817-4C09-A444-EF9F5FF935F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71900" y="1966913"/>
            <a:ext cx="946150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bind()</a:t>
            </a:r>
          </a:p>
        </p:txBody>
      </p:sp>
      <p:sp>
        <p:nvSpPr>
          <p:cNvPr id="41" name="Line 30">
            <a:extLst>
              <a:ext uri="{FF2B5EF4-FFF2-40B4-BE49-F238E27FC236}">
                <a16:creationId xmlns:a16="http://schemas.microsoft.com/office/drawing/2014/main" id="{B582D3F4-8994-45DB-A311-DAB3B0927E47}"/>
              </a:ext>
            </a:extLst>
          </p:cNvPr>
          <p:cNvSpPr>
            <a:spLocks noChangeShapeType="1"/>
          </p:cNvSpPr>
          <p:nvPr/>
        </p:nvSpPr>
        <p:spPr bwMode="auto">
          <a:xfrm>
            <a:off x="4914900" y="2133600"/>
            <a:ext cx="457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42" name="Line 32">
            <a:extLst>
              <a:ext uri="{FF2B5EF4-FFF2-40B4-BE49-F238E27FC236}">
                <a16:creationId xmlns:a16="http://schemas.microsoft.com/office/drawing/2014/main" id="{B0497BEB-F867-4B38-ACD4-28877191F712}"/>
              </a:ext>
            </a:extLst>
          </p:cNvPr>
          <p:cNvSpPr>
            <a:spLocks noChangeShapeType="1"/>
          </p:cNvSpPr>
          <p:nvPr/>
        </p:nvSpPr>
        <p:spPr bwMode="auto">
          <a:xfrm>
            <a:off x="7810500" y="2438400"/>
            <a:ext cx="0" cy="6858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Box 33">
            <a:extLst>
              <a:ext uri="{FF2B5EF4-FFF2-40B4-BE49-F238E27FC236}">
                <a16:creationId xmlns:a16="http://schemas.microsoft.com/office/drawing/2014/main" id="{EA0AB052-545B-418A-BDCA-94F5B1B468C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14500" y="2662238"/>
            <a:ext cx="1866900" cy="314325"/>
          </a:xfrm>
          <a:prstGeom prst="rect">
            <a:avLst/>
          </a:prstGeom>
          <a:solidFill>
            <a:schemeClr val="bg1"/>
          </a:solidFill>
          <a:ln w="9525">
            <a:solidFill>
              <a:srgbClr val="FF3300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sz="1400" b="1">
                <a:latin typeface="Consolas" pitchFamily="49" charset="0"/>
              </a:rPr>
              <a:t>Server flow chart</a:t>
            </a:r>
          </a:p>
        </p:txBody>
      </p:sp>
      <p:sp>
        <p:nvSpPr>
          <p:cNvPr id="44" name="Text Box 38">
            <a:extLst>
              <a:ext uri="{FF2B5EF4-FFF2-40B4-BE49-F238E27FC236}">
                <a16:creationId xmlns:a16="http://schemas.microsoft.com/office/drawing/2014/main" id="{EB1D262D-EE47-42CD-BFAC-EB7B8AA3860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429500" y="1981200"/>
            <a:ext cx="1196975" cy="376238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accept()</a:t>
            </a:r>
          </a:p>
        </p:txBody>
      </p:sp>
      <p:sp>
        <p:nvSpPr>
          <p:cNvPr id="45" name="Text Box 40">
            <a:extLst>
              <a:ext uri="{FF2B5EF4-FFF2-40B4-BE49-F238E27FC236}">
                <a16:creationId xmlns:a16="http://schemas.microsoft.com/office/drawing/2014/main" id="{61EE0599-9820-493F-A50A-DD9DC1E9400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05500" y="3124200"/>
            <a:ext cx="2952750" cy="376238"/>
          </a:xfrm>
          <a:prstGeom prst="rect">
            <a:avLst/>
          </a:prstGeom>
          <a:solidFill>
            <a:srgbClr val="FFCCFF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Application-layer code</a:t>
            </a:r>
          </a:p>
        </p:txBody>
      </p:sp>
      <p:sp>
        <p:nvSpPr>
          <p:cNvPr id="46" name="Line 41">
            <a:extLst>
              <a:ext uri="{FF2B5EF4-FFF2-40B4-BE49-F238E27FC236}">
                <a16:creationId xmlns:a16="http://schemas.microsoft.com/office/drawing/2014/main" id="{9626CDC9-A961-4D24-82E4-4FFE60317AF4}"/>
              </a:ext>
            </a:extLst>
          </p:cNvPr>
          <p:cNvSpPr>
            <a:spLocks noChangeShapeType="1"/>
          </p:cNvSpPr>
          <p:nvPr/>
        </p:nvSpPr>
        <p:spPr bwMode="auto">
          <a:xfrm>
            <a:off x="6819900" y="2133600"/>
            <a:ext cx="457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47" name="Line 42">
            <a:extLst>
              <a:ext uri="{FF2B5EF4-FFF2-40B4-BE49-F238E27FC236}">
                <a16:creationId xmlns:a16="http://schemas.microsoft.com/office/drawing/2014/main" id="{5A5563DE-AD7D-4E38-918D-3C47E88D3C90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267700" y="2438400"/>
            <a:ext cx="0" cy="6858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48" name="Text Box 43">
            <a:extLst>
              <a:ext uri="{FF2B5EF4-FFF2-40B4-BE49-F238E27FC236}">
                <a16:creationId xmlns:a16="http://schemas.microsoft.com/office/drawing/2014/main" id="{88690CBE-AA7B-43AD-97C5-B4B0594603F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420100" y="2438400"/>
            <a:ext cx="1090613" cy="466725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en-US" altLang="zh-TW" sz="1200" b="1">
                <a:latin typeface="Consolas" pitchFamily="49" charset="0"/>
              </a:rPr>
              <a:t>connection is closed.</a:t>
            </a:r>
          </a:p>
        </p:txBody>
      </p:sp>
      <p:sp>
        <p:nvSpPr>
          <p:cNvPr id="50" name="Text Box 45">
            <a:extLst>
              <a:ext uri="{FF2B5EF4-FFF2-40B4-BE49-F238E27FC236}">
                <a16:creationId xmlns:a16="http://schemas.microsoft.com/office/drawing/2014/main" id="{22236891-0D8E-41D9-8A74-99855881E2A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90700" y="5553075"/>
            <a:ext cx="1196975" cy="376238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socket()</a:t>
            </a:r>
          </a:p>
        </p:txBody>
      </p:sp>
      <p:sp>
        <p:nvSpPr>
          <p:cNvPr id="51" name="Text Box 46">
            <a:extLst>
              <a:ext uri="{FF2B5EF4-FFF2-40B4-BE49-F238E27FC236}">
                <a16:creationId xmlns:a16="http://schemas.microsoft.com/office/drawing/2014/main" id="{3D6E55C1-A2EB-4F0C-AFBA-51D9E95BB88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72100" y="5553075"/>
            <a:ext cx="1322388" cy="376238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connect()</a:t>
            </a:r>
          </a:p>
        </p:txBody>
      </p:sp>
      <p:sp>
        <p:nvSpPr>
          <p:cNvPr id="52" name="Line 49">
            <a:extLst>
              <a:ext uri="{FF2B5EF4-FFF2-40B4-BE49-F238E27FC236}">
                <a16:creationId xmlns:a16="http://schemas.microsoft.com/office/drawing/2014/main" id="{E92FE10C-0B44-43F7-9979-EDB192EA05C2}"/>
              </a:ext>
            </a:extLst>
          </p:cNvPr>
          <p:cNvSpPr>
            <a:spLocks noChangeShapeType="1"/>
          </p:cNvSpPr>
          <p:nvPr/>
        </p:nvSpPr>
        <p:spPr bwMode="auto">
          <a:xfrm>
            <a:off x="3009900" y="5719763"/>
            <a:ext cx="457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53" name="Text Box 50">
            <a:extLst>
              <a:ext uri="{FF2B5EF4-FFF2-40B4-BE49-F238E27FC236}">
                <a16:creationId xmlns:a16="http://schemas.microsoft.com/office/drawing/2014/main" id="{5F0B5415-152B-4799-9812-36EA759F0B2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19500" y="5553075"/>
            <a:ext cx="946150" cy="376238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bind()</a:t>
            </a:r>
          </a:p>
        </p:txBody>
      </p:sp>
      <p:sp>
        <p:nvSpPr>
          <p:cNvPr id="54" name="Line 51">
            <a:extLst>
              <a:ext uri="{FF2B5EF4-FFF2-40B4-BE49-F238E27FC236}">
                <a16:creationId xmlns:a16="http://schemas.microsoft.com/office/drawing/2014/main" id="{5CC90200-4A25-467A-ACA6-0A2590CEA4E1}"/>
              </a:ext>
            </a:extLst>
          </p:cNvPr>
          <p:cNvSpPr>
            <a:spLocks noChangeShapeType="1"/>
          </p:cNvSpPr>
          <p:nvPr/>
        </p:nvSpPr>
        <p:spPr bwMode="auto">
          <a:xfrm>
            <a:off x="4762500" y="5719763"/>
            <a:ext cx="457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55" name="Line 52">
            <a:extLst>
              <a:ext uri="{FF2B5EF4-FFF2-40B4-BE49-F238E27FC236}">
                <a16:creationId xmlns:a16="http://schemas.microsoft.com/office/drawing/2014/main" id="{576A67B6-D3E7-49A7-BCB9-CF766C6F445A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591300" y="5029200"/>
            <a:ext cx="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56" name="Text Box 54">
            <a:extLst>
              <a:ext uri="{FF2B5EF4-FFF2-40B4-BE49-F238E27FC236}">
                <a16:creationId xmlns:a16="http://schemas.microsoft.com/office/drawing/2014/main" id="{7ECD3367-8826-4AD9-BB93-79CA84F7168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14500" y="6091238"/>
            <a:ext cx="1866900" cy="314325"/>
          </a:xfrm>
          <a:prstGeom prst="rect">
            <a:avLst/>
          </a:prstGeom>
          <a:solidFill>
            <a:schemeClr val="bg1"/>
          </a:solidFill>
          <a:ln w="9525">
            <a:solidFill>
              <a:srgbClr val="FF3300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sz="1400" b="1">
                <a:latin typeface="Consolas" pitchFamily="49" charset="0"/>
              </a:rPr>
              <a:t>Client flow chart</a:t>
            </a:r>
          </a:p>
        </p:txBody>
      </p:sp>
      <p:sp>
        <p:nvSpPr>
          <p:cNvPr id="57" name="Text Box 55">
            <a:extLst>
              <a:ext uri="{FF2B5EF4-FFF2-40B4-BE49-F238E27FC236}">
                <a16:creationId xmlns:a16="http://schemas.microsoft.com/office/drawing/2014/main" id="{037689BF-C248-4497-AC96-927F2CE4209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05500" y="4648200"/>
            <a:ext cx="2952750" cy="376238"/>
          </a:xfrm>
          <a:prstGeom prst="rect">
            <a:avLst/>
          </a:prstGeom>
          <a:solidFill>
            <a:srgbClr val="FFCCFF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Application-layer code</a:t>
            </a:r>
          </a:p>
        </p:txBody>
      </p:sp>
      <p:sp>
        <p:nvSpPr>
          <p:cNvPr id="58" name="Line 56">
            <a:extLst>
              <a:ext uri="{FF2B5EF4-FFF2-40B4-BE49-F238E27FC236}">
                <a16:creationId xmlns:a16="http://schemas.microsoft.com/office/drawing/2014/main" id="{7ACE4599-881F-49AE-97C9-E0341301F43D}"/>
              </a:ext>
            </a:extLst>
          </p:cNvPr>
          <p:cNvSpPr>
            <a:spLocks noChangeShapeType="1"/>
          </p:cNvSpPr>
          <p:nvPr/>
        </p:nvSpPr>
        <p:spPr bwMode="auto">
          <a:xfrm>
            <a:off x="7505700" y="5029200"/>
            <a:ext cx="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59" name="Text Box 58">
            <a:extLst>
              <a:ext uri="{FF2B5EF4-FFF2-40B4-BE49-F238E27FC236}">
                <a16:creationId xmlns:a16="http://schemas.microsoft.com/office/drawing/2014/main" id="{A7C8A413-15D5-4680-9A0B-C59CCBE94DA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581900" y="5126038"/>
            <a:ext cx="609600" cy="284162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en-US" altLang="zh-TW" sz="1200" b="1">
                <a:latin typeface="Consolas" pitchFamily="49" charset="0"/>
              </a:rPr>
              <a:t>DONE!</a:t>
            </a:r>
          </a:p>
        </p:txBody>
      </p:sp>
      <p:sp>
        <p:nvSpPr>
          <p:cNvPr id="60" name="Text Box 59">
            <a:extLst>
              <a:ext uri="{FF2B5EF4-FFF2-40B4-BE49-F238E27FC236}">
                <a16:creationId xmlns:a16="http://schemas.microsoft.com/office/drawing/2014/main" id="{BDDEFD4A-280B-4539-AF2B-FD88846C4C8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972300" y="5553075"/>
            <a:ext cx="1071563" cy="376238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close()</a:t>
            </a:r>
          </a:p>
        </p:txBody>
      </p:sp>
      <p:sp>
        <p:nvSpPr>
          <p:cNvPr id="61" name="Text Box 60">
            <a:extLst>
              <a:ext uri="{FF2B5EF4-FFF2-40B4-BE49-F238E27FC236}">
                <a16:creationId xmlns:a16="http://schemas.microsoft.com/office/drawing/2014/main" id="{6575A854-6A15-4828-8C23-C59F899255E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0750" y="5553075"/>
            <a:ext cx="946150" cy="376238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exit()</a:t>
            </a:r>
          </a:p>
        </p:txBody>
      </p:sp>
      <p:sp>
        <p:nvSpPr>
          <p:cNvPr id="62" name="Line 61">
            <a:extLst>
              <a:ext uri="{FF2B5EF4-FFF2-40B4-BE49-F238E27FC236}">
                <a16:creationId xmlns:a16="http://schemas.microsoft.com/office/drawing/2014/main" id="{1066E067-0460-4F9B-91F2-E1AC32C187D3}"/>
              </a:ext>
            </a:extLst>
          </p:cNvPr>
          <p:cNvSpPr>
            <a:spLocks noChangeShapeType="1"/>
          </p:cNvSpPr>
          <p:nvPr/>
        </p:nvSpPr>
        <p:spPr bwMode="auto">
          <a:xfrm>
            <a:off x="8115300" y="5791200"/>
            <a:ext cx="3048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63" name="AutoShape 62">
            <a:extLst>
              <a:ext uri="{FF2B5EF4-FFF2-40B4-BE49-F238E27FC236}">
                <a16:creationId xmlns:a16="http://schemas.microsoft.com/office/drawing/2014/main" id="{6E60F802-48A2-4B44-A4B6-2901EDF69E7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62700" y="3581400"/>
            <a:ext cx="1981200" cy="990600"/>
          </a:xfrm>
          <a:prstGeom prst="upDownArrow">
            <a:avLst>
              <a:gd name="adj1" fmla="val 50000"/>
              <a:gd name="adj2" fmla="val 20000"/>
            </a:avLst>
          </a:prstGeom>
          <a:solidFill>
            <a:srgbClr val="FFCCFF"/>
          </a:solidFill>
          <a:ln w="9525" algn="ctr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altLang="zh-TW" b="1">
                <a:latin typeface="Consolas" pitchFamily="49" charset="0"/>
              </a:rPr>
              <a:t>read()</a:t>
            </a:r>
          </a:p>
          <a:p>
            <a:pPr algn="ctr"/>
            <a:r>
              <a:rPr lang="en-US" altLang="zh-TW" b="1">
                <a:latin typeface="Consolas" pitchFamily="49" charset="0"/>
              </a:rPr>
              <a:t>&amp;</a:t>
            </a:r>
          </a:p>
          <a:p>
            <a:pPr algn="ctr"/>
            <a:r>
              <a:rPr lang="en-US" altLang="zh-TW" b="1">
                <a:latin typeface="Consolas" pitchFamily="49" charset="0"/>
              </a:rPr>
              <a:t>write()</a:t>
            </a:r>
          </a:p>
        </p:txBody>
      </p:sp>
      <p:sp>
        <p:nvSpPr>
          <p:cNvPr id="64" name="AutoShape 64">
            <a:extLst>
              <a:ext uri="{FF2B5EF4-FFF2-40B4-BE49-F238E27FC236}">
                <a16:creationId xmlns:a16="http://schemas.microsoft.com/office/drawing/2014/main" id="{B5A7C90F-0E3B-43E1-B93D-6D9F31A9BBF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95500" y="3636963"/>
            <a:ext cx="2895600" cy="1011237"/>
          </a:xfrm>
          <a:prstGeom prst="flowChartAlternateProcess">
            <a:avLst/>
          </a:prstGeom>
          <a:solidFill>
            <a:srgbClr val="DDDDDD"/>
          </a:solidFill>
          <a:ln w="9525" algn="ctr">
            <a:solidFill>
              <a:schemeClr val="tx1"/>
            </a:solidFill>
            <a:miter lim="800000"/>
            <a:headEnd/>
            <a:tailEnd/>
          </a:ln>
        </p:spPr>
        <p:txBody>
          <a:bodyPr anchor="ctr"/>
          <a:lstStyle/>
          <a:p>
            <a:r>
              <a:rPr lang="en-US" altLang="zh-TW" sz="1600" b="1" u="sng" dirty="0">
                <a:latin typeface="Calibri" pitchFamily="34" charset="0"/>
              </a:rPr>
              <a:t>Limitation: </a:t>
            </a:r>
          </a:p>
          <a:p>
            <a:r>
              <a:rPr lang="en-US" altLang="zh-TW" sz="1600" dirty="0">
                <a:latin typeface="Calibri" pitchFamily="34" charset="0"/>
              </a:rPr>
              <a:t>Only supports a single client!</a:t>
            </a:r>
          </a:p>
        </p:txBody>
      </p:sp>
      <p:sp>
        <p:nvSpPr>
          <p:cNvPr id="65" name="Text Box 65">
            <a:extLst>
              <a:ext uri="{FF2B5EF4-FFF2-40B4-BE49-F238E27FC236}">
                <a16:creationId xmlns:a16="http://schemas.microsoft.com/office/drawing/2014/main" id="{242C7A80-C4AA-4815-AC4C-3E93D22F734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62688" y="2438400"/>
            <a:ext cx="1395412" cy="466725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en-US" altLang="zh-TW" sz="1200" b="1">
                <a:latin typeface="Consolas" pitchFamily="49" charset="0"/>
              </a:rPr>
              <a:t>New connection arrives</a:t>
            </a:r>
          </a:p>
        </p:txBody>
      </p:sp>
    </p:spTree>
    <p:extLst>
      <p:ext uri="{BB962C8B-B14F-4D97-AF65-F5344CB8AC3E}">
        <p14:creationId xmlns:p14="http://schemas.microsoft.com/office/powerpoint/2010/main" val="1031367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Socket Programming: </a:t>
            </a:r>
            <a:r>
              <a:rPr lang="en-US" altLang="zh-TW" b="1" dirty="0"/>
              <a:t>Server Parallelization</a:t>
            </a:r>
            <a:endParaRPr lang="en-US" b="1" dirty="0"/>
          </a:p>
        </p:txBody>
      </p:sp>
      <p:sp>
        <p:nvSpPr>
          <p:cNvPr id="34" name="Text Box 5">
            <a:extLst>
              <a:ext uri="{FF2B5EF4-FFF2-40B4-BE49-F238E27FC236}">
                <a16:creationId xmlns:a16="http://schemas.microsoft.com/office/drawing/2014/main" id="{4AC9FC81-0627-4B71-86BC-7628F174823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68475" y="2124075"/>
            <a:ext cx="1196975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socket()</a:t>
            </a:r>
          </a:p>
        </p:txBody>
      </p:sp>
      <p:sp>
        <p:nvSpPr>
          <p:cNvPr id="35" name="Text Box 6">
            <a:extLst>
              <a:ext uri="{FF2B5EF4-FFF2-40B4-BE49-F238E27FC236}">
                <a16:creationId xmlns:a16="http://schemas.microsoft.com/office/drawing/2014/main" id="{BCFE8564-0D96-4CD2-9BC6-499365BA818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02275" y="2124075"/>
            <a:ext cx="1196975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listen()</a:t>
            </a:r>
          </a:p>
        </p:txBody>
      </p:sp>
      <p:sp>
        <p:nvSpPr>
          <p:cNvPr id="36" name="Line 7">
            <a:extLst>
              <a:ext uri="{FF2B5EF4-FFF2-40B4-BE49-F238E27FC236}">
                <a16:creationId xmlns:a16="http://schemas.microsoft.com/office/drawing/2014/main" id="{E5E71293-3382-4BC4-9CF6-FD4B0F62240D}"/>
              </a:ext>
            </a:extLst>
          </p:cNvPr>
          <p:cNvSpPr>
            <a:spLocks noChangeShapeType="1"/>
          </p:cNvSpPr>
          <p:nvPr/>
        </p:nvSpPr>
        <p:spPr bwMode="auto">
          <a:xfrm>
            <a:off x="3140075" y="2290762"/>
            <a:ext cx="457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Box 8">
            <a:extLst>
              <a:ext uri="{FF2B5EF4-FFF2-40B4-BE49-F238E27FC236}">
                <a16:creationId xmlns:a16="http://schemas.microsoft.com/office/drawing/2014/main" id="{B784DA10-4EAB-4DC3-AEF5-68E32F499B0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49675" y="2124075"/>
            <a:ext cx="946150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bind()</a:t>
            </a:r>
          </a:p>
        </p:txBody>
      </p:sp>
      <p:sp>
        <p:nvSpPr>
          <p:cNvPr id="66" name="Line 9">
            <a:extLst>
              <a:ext uri="{FF2B5EF4-FFF2-40B4-BE49-F238E27FC236}">
                <a16:creationId xmlns:a16="http://schemas.microsoft.com/office/drawing/2014/main" id="{894643CD-8472-432D-A408-19FCC4A922F6}"/>
              </a:ext>
            </a:extLst>
          </p:cNvPr>
          <p:cNvSpPr>
            <a:spLocks noChangeShapeType="1"/>
          </p:cNvSpPr>
          <p:nvPr/>
        </p:nvSpPr>
        <p:spPr bwMode="auto">
          <a:xfrm>
            <a:off x="4892675" y="2290762"/>
            <a:ext cx="457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67" name="Text Box 11">
            <a:extLst>
              <a:ext uri="{FF2B5EF4-FFF2-40B4-BE49-F238E27FC236}">
                <a16:creationId xmlns:a16="http://schemas.microsoft.com/office/drawing/2014/main" id="{1294C81E-8DD3-4B24-B6A2-9E172AC18AC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92275" y="2819400"/>
            <a:ext cx="1276350" cy="527050"/>
          </a:xfrm>
          <a:prstGeom prst="rect">
            <a:avLst/>
          </a:prstGeom>
          <a:solidFill>
            <a:schemeClr val="bg1"/>
          </a:solidFill>
          <a:ln w="9525">
            <a:solidFill>
              <a:srgbClr val="FF3300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sz="1400" b="1">
                <a:latin typeface="Consolas" pitchFamily="49" charset="0"/>
              </a:rPr>
              <a:t>Server main</a:t>
            </a:r>
          </a:p>
          <a:p>
            <a:r>
              <a:rPr lang="en-US" altLang="zh-TW" sz="1400" b="1">
                <a:latin typeface="Consolas" pitchFamily="49" charset="0"/>
              </a:rPr>
              <a:t>flow chart</a:t>
            </a:r>
          </a:p>
        </p:txBody>
      </p:sp>
      <p:sp>
        <p:nvSpPr>
          <p:cNvPr id="68" name="Text Box 12">
            <a:extLst>
              <a:ext uri="{FF2B5EF4-FFF2-40B4-BE49-F238E27FC236}">
                <a16:creationId xmlns:a16="http://schemas.microsoft.com/office/drawing/2014/main" id="{A83E6211-FE6F-4BC2-9279-501DB073F7D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407275" y="2138362"/>
            <a:ext cx="1196975" cy="376238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 dirty="0">
                <a:latin typeface="Consolas" pitchFamily="49" charset="0"/>
              </a:rPr>
              <a:t>accept()</a:t>
            </a:r>
          </a:p>
        </p:txBody>
      </p:sp>
      <p:sp>
        <p:nvSpPr>
          <p:cNvPr id="69" name="Text Box 13">
            <a:extLst>
              <a:ext uri="{FF2B5EF4-FFF2-40B4-BE49-F238E27FC236}">
                <a16:creationId xmlns:a16="http://schemas.microsoft.com/office/drawing/2014/main" id="{0589CC9B-2FAC-40C5-AE4B-E2A07D041A2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426325" y="4687887"/>
            <a:ext cx="1657350" cy="650875"/>
          </a:xfrm>
          <a:prstGeom prst="rect">
            <a:avLst/>
          </a:prstGeom>
          <a:solidFill>
            <a:srgbClr val="FFCCFF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Application-layer code</a:t>
            </a:r>
          </a:p>
        </p:txBody>
      </p:sp>
      <p:sp>
        <p:nvSpPr>
          <p:cNvPr id="70" name="Line 14">
            <a:extLst>
              <a:ext uri="{FF2B5EF4-FFF2-40B4-BE49-F238E27FC236}">
                <a16:creationId xmlns:a16="http://schemas.microsoft.com/office/drawing/2014/main" id="{855F7553-5C12-4AF6-93CE-579CDDCE9A90}"/>
              </a:ext>
            </a:extLst>
          </p:cNvPr>
          <p:cNvSpPr>
            <a:spLocks noChangeShapeType="1"/>
          </p:cNvSpPr>
          <p:nvPr/>
        </p:nvSpPr>
        <p:spPr bwMode="auto">
          <a:xfrm>
            <a:off x="6797675" y="2290762"/>
            <a:ext cx="457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71" name="Text Box 18">
            <a:extLst>
              <a:ext uri="{FF2B5EF4-FFF2-40B4-BE49-F238E27FC236}">
                <a16:creationId xmlns:a16="http://schemas.microsoft.com/office/drawing/2014/main" id="{01751F0C-58E5-4F6C-BAFA-C8D6CFAC3FB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87875" y="3362325"/>
            <a:ext cx="3917950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/>
            <a:r>
              <a:rPr lang="en-US" altLang="zh-TW" b="1" dirty="0">
                <a:latin typeface="Consolas" pitchFamily="49" charset="0"/>
              </a:rPr>
              <a:t>fork() or </a:t>
            </a:r>
            <a:r>
              <a:rPr lang="en-US" altLang="zh-TW" b="1" dirty="0" err="1">
                <a:latin typeface="Consolas" pitchFamily="49" charset="0"/>
              </a:rPr>
              <a:t>pthread_create</a:t>
            </a:r>
            <a:r>
              <a:rPr lang="en-US" altLang="zh-TW" b="1" dirty="0">
                <a:latin typeface="Consolas" pitchFamily="49" charset="0"/>
              </a:rPr>
              <a:t>()</a:t>
            </a:r>
          </a:p>
        </p:txBody>
      </p:sp>
      <p:sp>
        <p:nvSpPr>
          <p:cNvPr id="72" name="Line 21">
            <a:extLst>
              <a:ext uri="{FF2B5EF4-FFF2-40B4-BE49-F238E27FC236}">
                <a16:creationId xmlns:a16="http://schemas.microsoft.com/office/drawing/2014/main" id="{5048673B-FD5E-4AC6-BDFC-7342D119D6F6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749925" y="5033962"/>
            <a:ext cx="1600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anchor="ctr"/>
          <a:lstStyle/>
          <a:p>
            <a:endParaRPr lang="en-US"/>
          </a:p>
        </p:txBody>
      </p:sp>
      <p:sp>
        <p:nvSpPr>
          <p:cNvPr id="73" name="Text Box 16">
            <a:extLst>
              <a:ext uri="{FF2B5EF4-FFF2-40B4-BE49-F238E27FC236}">
                <a16:creationId xmlns:a16="http://schemas.microsoft.com/office/drawing/2014/main" id="{A7A49A50-3CA3-4FA5-B08A-C3380D8899D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30913" y="4795837"/>
            <a:ext cx="1090612" cy="466725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en-US" altLang="zh-TW" sz="1200" b="1">
                <a:latin typeface="Consolas" pitchFamily="49" charset="0"/>
              </a:rPr>
              <a:t>connection is closed.</a:t>
            </a:r>
          </a:p>
        </p:txBody>
      </p:sp>
      <p:sp>
        <p:nvSpPr>
          <p:cNvPr id="74" name="Text Box 23">
            <a:extLst>
              <a:ext uri="{FF2B5EF4-FFF2-40B4-BE49-F238E27FC236}">
                <a16:creationId xmlns:a16="http://schemas.microsoft.com/office/drawing/2014/main" id="{D77CC3D0-5ADF-4F8F-A4FF-172DBD3C2AD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92525" y="4652962"/>
            <a:ext cx="1949450" cy="650875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exit() or</a:t>
            </a:r>
          </a:p>
          <a:p>
            <a:r>
              <a:rPr lang="en-US" altLang="zh-TW" b="1">
                <a:latin typeface="Consolas" pitchFamily="49" charset="0"/>
              </a:rPr>
              <a:t>pthread_exit()</a:t>
            </a:r>
          </a:p>
        </p:txBody>
      </p:sp>
      <p:sp>
        <p:nvSpPr>
          <p:cNvPr id="75" name="Line 24">
            <a:extLst>
              <a:ext uri="{FF2B5EF4-FFF2-40B4-BE49-F238E27FC236}">
                <a16:creationId xmlns:a16="http://schemas.microsoft.com/office/drawing/2014/main" id="{5E6552E1-DE21-473E-B000-FE76B12F5935}"/>
              </a:ext>
            </a:extLst>
          </p:cNvPr>
          <p:cNvSpPr>
            <a:spLocks noChangeShapeType="1"/>
          </p:cNvSpPr>
          <p:nvPr/>
        </p:nvSpPr>
        <p:spPr bwMode="auto">
          <a:xfrm>
            <a:off x="8016875" y="3814762"/>
            <a:ext cx="0" cy="838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anchor="ctr"/>
          <a:lstStyle/>
          <a:p>
            <a:endParaRPr lang="en-US"/>
          </a:p>
        </p:txBody>
      </p:sp>
      <p:sp>
        <p:nvSpPr>
          <p:cNvPr id="76" name="Text Box 25">
            <a:extLst>
              <a:ext uri="{FF2B5EF4-FFF2-40B4-BE49-F238E27FC236}">
                <a16:creationId xmlns:a16="http://schemas.microsoft.com/office/drawing/2014/main" id="{32F94719-8F28-4DFF-A14E-982864C855B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35875" y="4043362"/>
            <a:ext cx="685800" cy="284163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en-US" altLang="zh-TW" sz="1200" b="1">
                <a:latin typeface="Consolas" pitchFamily="49" charset="0"/>
              </a:rPr>
              <a:t>child</a:t>
            </a:r>
          </a:p>
        </p:txBody>
      </p:sp>
      <p:sp>
        <p:nvSpPr>
          <p:cNvPr id="77" name="Line 26">
            <a:extLst>
              <a:ext uri="{FF2B5EF4-FFF2-40B4-BE49-F238E27FC236}">
                <a16:creationId xmlns:a16="http://schemas.microsoft.com/office/drawing/2014/main" id="{CE17BBD3-09CA-4E6B-8347-B3C285BA6A10}"/>
              </a:ext>
            </a:extLst>
          </p:cNvPr>
          <p:cNvSpPr>
            <a:spLocks noChangeShapeType="1"/>
          </p:cNvSpPr>
          <p:nvPr/>
        </p:nvSpPr>
        <p:spPr bwMode="auto">
          <a:xfrm>
            <a:off x="8016875" y="2595562"/>
            <a:ext cx="0" cy="762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anchor="ctr"/>
          <a:lstStyle/>
          <a:p>
            <a:endParaRPr lang="en-US"/>
          </a:p>
        </p:txBody>
      </p:sp>
      <p:sp>
        <p:nvSpPr>
          <p:cNvPr id="78" name="Line 27">
            <a:extLst>
              <a:ext uri="{FF2B5EF4-FFF2-40B4-BE49-F238E27FC236}">
                <a16:creationId xmlns:a16="http://schemas.microsoft.com/office/drawing/2014/main" id="{9FBC52DC-90B9-4B97-9011-B26D7EAD8B2E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8626475" y="2290762"/>
            <a:ext cx="381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anchor="ctr"/>
          <a:lstStyle/>
          <a:p>
            <a:endParaRPr lang="en-US"/>
          </a:p>
        </p:txBody>
      </p:sp>
      <p:sp>
        <p:nvSpPr>
          <p:cNvPr id="79" name="Line 28">
            <a:extLst>
              <a:ext uri="{FF2B5EF4-FFF2-40B4-BE49-F238E27FC236}">
                <a16:creationId xmlns:a16="http://schemas.microsoft.com/office/drawing/2014/main" id="{85CC7AD9-D641-426B-A611-843784356599}"/>
              </a:ext>
            </a:extLst>
          </p:cNvPr>
          <p:cNvSpPr>
            <a:spLocks noChangeShapeType="1"/>
          </p:cNvSpPr>
          <p:nvPr/>
        </p:nvSpPr>
        <p:spPr bwMode="auto">
          <a:xfrm>
            <a:off x="9007475" y="2290762"/>
            <a:ext cx="0" cy="1219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 anchor="ctr"/>
          <a:lstStyle/>
          <a:p>
            <a:endParaRPr lang="en-US"/>
          </a:p>
        </p:txBody>
      </p:sp>
      <p:sp>
        <p:nvSpPr>
          <p:cNvPr id="80" name="Line 29">
            <a:extLst>
              <a:ext uri="{FF2B5EF4-FFF2-40B4-BE49-F238E27FC236}">
                <a16:creationId xmlns:a16="http://schemas.microsoft.com/office/drawing/2014/main" id="{08C4E711-3A7B-450E-BA21-AFE77C36DF71}"/>
              </a:ext>
            </a:extLst>
          </p:cNvPr>
          <p:cNvSpPr>
            <a:spLocks noChangeShapeType="1"/>
          </p:cNvSpPr>
          <p:nvPr/>
        </p:nvSpPr>
        <p:spPr bwMode="auto">
          <a:xfrm>
            <a:off x="8550275" y="3509962"/>
            <a:ext cx="457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 anchor="ctr"/>
          <a:lstStyle/>
          <a:p>
            <a:endParaRPr lang="en-US"/>
          </a:p>
        </p:txBody>
      </p:sp>
      <p:sp>
        <p:nvSpPr>
          <p:cNvPr id="81" name="Text Box 30">
            <a:extLst>
              <a:ext uri="{FF2B5EF4-FFF2-40B4-BE49-F238E27FC236}">
                <a16:creationId xmlns:a16="http://schemas.microsoft.com/office/drawing/2014/main" id="{2F07CAF5-4724-46FC-BA4A-6DD2C34C721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50275" y="2595562"/>
            <a:ext cx="914400" cy="284163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en-US" altLang="zh-TW" sz="1200" b="1">
                <a:latin typeface="Consolas" pitchFamily="49" charset="0"/>
              </a:rPr>
              <a:t>parent</a:t>
            </a:r>
          </a:p>
        </p:txBody>
      </p:sp>
      <p:sp>
        <p:nvSpPr>
          <p:cNvPr id="82" name="Text Box 31">
            <a:extLst>
              <a:ext uri="{FF2B5EF4-FFF2-40B4-BE49-F238E27FC236}">
                <a16:creationId xmlns:a16="http://schemas.microsoft.com/office/drawing/2014/main" id="{4F08A940-1BE8-4B41-A27D-F3960F52DAA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92275" y="4576762"/>
            <a:ext cx="1600200" cy="739775"/>
          </a:xfrm>
          <a:prstGeom prst="rect">
            <a:avLst/>
          </a:prstGeom>
          <a:solidFill>
            <a:schemeClr val="bg1"/>
          </a:solidFill>
          <a:ln w="9525">
            <a:solidFill>
              <a:srgbClr val="FF3300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en-US" altLang="zh-TW" sz="1400" b="1">
                <a:latin typeface="Consolas" pitchFamily="49" charset="0"/>
              </a:rPr>
              <a:t>Server client-handler flow chart</a:t>
            </a:r>
          </a:p>
        </p:txBody>
      </p:sp>
      <p:sp>
        <p:nvSpPr>
          <p:cNvPr id="83" name="Text Box 33">
            <a:extLst>
              <a:ext uri="{FF2B5EF4-FFF2-40B4-BE49-F238E27FC236}">
                <a16:creationId xmlns:a16="http://schemas.microsoft.com/office/drawing/2014/main" id="{028C2B4C-9E72-4C06-99C3-6500F58E37B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92875" y="2671762"/>
            <a:ext cx="1395413" cy="466725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en-US" altLang="zh-TW" sz="1200" b="1">
                <a:latin typeface="Consolas" pitchFamily="49" charset="0"/>
              </a:rPr>
              <a:t>New connection arrives</a:t>
            </a:r>
          </a:p>
        </p:txBody>
      </p:sp>
    </p:spTree>
    <p:extLst>
      <p:ext uri="{BB962C8B-B14F-4D97-AF65-F5344CB8AC3E}">
        <p14:creationId xmlns:p14="http://schemas.microsoft.com/office/powerpoint/2010/main" val="172990215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4736" y="53405"/>
            <a:ext cx="10515600" cy="793935"/>
          </a:xfrm>
        </p:spPr>
        <p:txBody>
          <a:bodyPr/>
          <a:lstStyle/>
          <a:p>
            <a:r>
              <a:rPr lang="en-US" b="1" dirty="0"/>
              <a:t>Socket Programming: C++ D</a:t>
            </a:r>
            <a:r>
              <a:rPr lang="en-US" altLang="zh-CN" b="1" dirty="0"/>
              <a:t>emo</a:t>
            </a:r>
            <a:endParaRPr lang="en-US" b="1" dirty="0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B64F3D9E-9166-4273-8B03-7022E90DEFDD}"/>
              </a:ext>
            </a:extLst>
          </p:cNvPr>
          <p:cNvSpPr txBox="1"/>
          <p:nvPr/>
        </p:nvSpPr>
        <p:spPr>
          <a:xfrm>
            <a:off x="5799626" y="6461157"/>
            <a:ext cx="639237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HK" sz="1200" dirty="0"/>
              <a:t>https://github.com/henryhxu/CSCI4430/tree/2025_spring/tutorial/T01/bgreeves-socket-example</a:t>
            </a:r>
          </a:p>
        </p:txBody>
      </p:sp>
      <p:pic>
        <p:nvPicPr>
          <p:cNvPr id="13" name="图片 12">
            <a:extLst>
              <a:ext uri="{FF2B5EF4-FFF2-40B4-BE49-F238E27FC236}">
                <a16:creationId xmlns:a16="http://schemas.microsoft.com/office/drawing/2014/main" id="{3FB4A832-769B-4D5F-9DE0-7FC7B505E6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3523" y="998472"/>
            <a:ext cx="4241523" cy="5629481"/>
          </a:xfrm>
          <a:prstGeom prst="rect">
            <a:avLst/>
          </a:prstGeom>
        </p:spPr>
      </p:pic>
      <p:pic>
        <p:nvPicPr>
          <p:cNvPr id="15" name="图片 14">
            <a:extLst>
              <a:ext uri="{FF2B5EF4-FFF2-40B4-BE49-F238E27FC236}">
                <a16:creationId xmlns:a16="http://schemas.microsoft.com/office/drawing/2014/main" id="{CBC7BFA0-DA89-4C74-B056-99EE5AAC14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18486" y="1454101"/>
            <a:ext cx="3660898" cy="3913375"/>
          </a:xfrm>
          <a:prstGeom prst="rect">
            <a:avLst/>
          </a:prstGeom>
        </p:spPr>
      </p:pic>
      <p:pic>
        <p:nvPicPr>
          <p:cNvPr id="17" name="图片 16">
            <a:extLst>
              <a:ext uri="{FF2B5EF4-FFF2-40B4-BE49-F238E27FC236}">
                <a16:creationId xmlns:a16="http://schemas.microsoft.com/office/drawing/2014/main" id="{AC2F1D03-6241-4515-AD65-B405F2A8BB5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53349" y="3009074"/>
            <a:ext cx="3535037" cy="3412039"/>
          </a:xfrm>
          <a:prstGeom prst="rect">
            <a:avLst/>
          </a:prstGeom>
        </p:spPr>
      </p:pic>
      <p:sp>
        <p:nvSpPr>
          <p:cNvPr id="18" name="矩形 17">
            <a:extLst>
              <a:ext uri="{FF2B5EF4-FFF2-40B4-BE49-F238E27FC236}">
                <a16:creationId xmlns:a16="http://schemas.microsoft.com/office/drawing/2014/main" id="{1CD11CC1-F2C8-4277-B8F0-3B9C4BA3A899}"/>
              </a:ext>
            </a:extLst>
          </p:cNvPr>
          <p:cNvSpPr/>
          <p:nvPr/>
        </p:nvSpPr>
        <p:spPr>
          <a:xfrm>
            <a:off x="1330036" y="5978769"/>
            <a:ext cx="2346747" cy="306932"/>
          </a:xfrm>
          <a:prstGeom prst="rect">
            <a:avLst/>
          </a:prstGeom>
          <a:noFill/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HK"/>
          </a:p>
        </p:txBody>
      </p:sp>
      <p:cxnSp>
        <p:nvCxnSpPr>
          <p:cNvPr id="20" name="直接箭头连接符 19">
            <a:extLst>
              <a:ext uri="{FF2B5EF4-FFF2-40B4-BE49-F238E27FC236}">
                <a16:creationId xmlns:a16="http://schemas.microsoft.com/office/drawing/2014/main" id="{A19B237F-D1E8-494E-B87B-7831F0F8EDE5}"/>
              </a:ext>
            </a:extLst>
          </p:cNvPr>
          <p:cNvCxnSpPr>
            <a:cxnSpLocks/>
          </p:cNvCxnSpPr>
          <p:nvPr/>
        </p:nvCxnSpPr>
        <p:spPr>
          <a:xfrm flipV="1">
            <a:off x="3606445" y="4623155"/>
            <a:ext cx="709779" cy="1325563"/>
          </a:xfrm>
          <a:prstGeom prst="straightConnector1">
            <a:avLst/>
          </a:prstGeom>
          <a:ln w="12700">
            <a:solidFill>
              <a:schemeClr val="bg2">
                <a:lumMod val="9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文本框 24">
            <a:extLst>
              <a:ext uri="{FF2B5EF4-FFF2-40B4-BE49-F238E27FC236}">
                <a16:creationId xmlns:a16="http://schemas.microsoft.com/office/drawing/2014/main" id="{869F019B-D00F-48D3-9D08-D540CCE69A35}"/>
              </a:ext>
            </a:extLst>
          </p:cNvPr>
          <p:cNvSpPr txBox="1"/>
          <p:nvPr/>
        </p:nvSpPr>
        <p:spPr>
          <a:xfrm>
            <a:off x="3779094" y="1287844"/>
            <a:ext cx="127888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800" dirty="0">
                <a:solidFill>
                  <a:schemeClr val="bg1"/>
                </a:solidFill>
                <a:latin typeface="Calibri" pitchFamily="34" charset="0"/>
              </a:rPr>
              <a:t>Server-side</a:t>
            </a:r>
            <a:endParaRPr lang="en-HK" dirty="0">
              <a:solidFill>
                <a:schemeClr val="bg1"/>
              </a:solidFill>
            </a:endParaRP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E9C0A796-6341-4329-99D9-38EEA781A9F0}"/>
              </a:ext>
            </a:extLst>
          </p:cNvPr>
          <p:cNvSpPr txBox="1"/>
          <p:nvPr/>
        </p:nvSpPr>
        <p:spPr>
          <a:xfrm>
            <a:off x="6450610" y="3271356"/>
            <a:ext cx="127888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800" dirty="0">
                <a:solidFill>
                  <a:schemeClr val="bg1"/>
                </a:solidFill>
                <a:latin typeface="Calibri" pitchFamily="34" charset="0"/>
              </a:rPr>
              <a:t>Server-side</a:t>
            </a:r>
            <a:endParaRPr lang="en-HK" dirty="0">
              <a:solidFill>
                <a:schemeClr val="bg1"/>
              </a:solidFill>
            </a:endParaRP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9D201568-4544-4A40-A3A3-18695576894A}"/>
              </a:ext>
            </a:extLst>
          </p:cNvPr>
          <p:cNvSpPr txBox="1"/>
          <p:nvPr/>
        </p:nvSpPr>
        <p:spPr>
          <a:xfrm>
            <a:off x="10425423" y="4942879"/>
            <a:ext cx="127888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800" dirty="0">
                <a:solidFill>
                  <a:schemeClr val="bg1"/>
                </a:solidFill>
                <a:latin typeface="Calibri" pitchFamily="34" charset="0"/>
              </a:rPr>
              <a:t>Client-side</a:t>
            </a:r>
            <a:endParaRPr lang="en-HK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3393395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Performance Metrics - Delay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Link properties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en-US" dirty="0"/>
              <a:t>Transmission delay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en-US" dirty="0"/>
              <a:t>Propagation delay</a:t>
            </a:r>
          </a:p>
          <a:p>
            <a:pPr marL="0" indent="0">
              <a:buNone/>
            </a:pPr>
            <a:endParaRPr lang="en-US" sz="3200" dirty="0"/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413EAC27-E08F-47FC-A318-3E4F125289D3}"/>
              </a:ext>
            </a:extLst>
          </p:cNvPr>
          <p:cNvGrpSpPr/>
          <p:nvPr/>
        </p:nvGrpSpPr>
        <p:grpSpPr>
          <a:xfrm>
            <a:off x="4405745" y="2542309"/>
            <a:ext cx="6891759" cy="3425391"/>
            <a:chOff x="6016420" y="2075995"/>
            <a:chExt cx="5976575" cy="3025796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7F763B62-D650-40E3-9114-5B0B776EAE3F}"/>
                </a:ext>
              </a:extLst>
            </p:cNvPr>
            <p:cNvGrpSpPr/>
            <p:nvPr/>
          </p:nvGrpSpPr>
          <p:grpSpPr>
            <a:xfrm>
              <a:off x="7204375" y="2079313"/>
              <a:ext cx="851584" cy="3022478"/>
              <a:chOff x="8007939" y="1999795"/>
              <a:chExt cx="851584" cy="3022478"/>
            </a:xfrm>
          </p:grpSpPr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B923C554-B0C4-419F-9F14-746DAE69886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430490" y="2369127"/>
                <a:ext cx="0" cy="2653146"/>
              </a:xfrm>
              <a:prstGeom prst="line">
                <a:avLst/>
              </a:prstGeom>
              <a:ln w="127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B7F972B-059F-4447-AF63-20C16818A38A}"/>
                  </a:ext>
                </a:extLst>
              </p:cNvPr>
              <p:cNvSpPr txBox="1"/>
              <p:nvPr/>
            </p:nvSpPr>
            <p:spPr>
              <a:xfrm>
                <a:off x="8007939" y="1999795"/>
                <a:ext cx="851584" cy="353434"/>
              </a:xfrm>
              <a:prstGeom prst="rect">
                <a:avLst/>
              </a:prstGeom>
              <a:noFill/>
              <a:ln w="12700">
                <a:solidFill>
                  <a:schemeClr val="bg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altLang="zh-CN" sz="2000" b="1" dirty="0"/>
                  <a:t>Sender</a:t>
                </a:r>
                <a:endParaRPr lang="en-HK" sz="2000" b="1" dirty="0"/>
              </a:p>
            </p:txBody>
          </p:sp>
        </p:grp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C12AA2FB-31FE-40EF-B8AA-62C4E760D0AF}"/>
                </a:ext>
              </a:extLst>
            </p:cNvPr>
            <p:cNvCxnSpPr/>
            <p:nvPr/>
          </p:nvCxnSpPr>
          <p:spPr>
            <a:xfrm>
              <a:off x="7287502" y="2580264"/>
              <a:ext cx="3262734" cy="0"/>
            </a:xfrm>
            <a:prstGeom prst="line">
              <a:avLst/>
            </a:prstGeom>
            <a:ln w="12700" cap="flat" cmpd="sng" algn="ctr">
              <a:solidFill>
                <a:schemeClr val="dk1"/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EDE616F1-3B30-41E1-9A2A-B0DD39EF5253}"/>
                </a:ext>
              </a:extLst>
            </p:cNvPr>
            <p:cNvGrpSpPr/>
            <p:nvPr/>
          </p:nvGrpSpPr>
          <p:grpSpPr>
            <a:xfrm>
              <a:off x="9763485" y="2075995"/>
              <a:ext cx="999551" cy="3025796"/>
              <a:chOff x="7938143" y="1996477"/>
              <a:chExt cx="999551" cy="3025796"/>
            </a:xfrm>
          </p:grpSpPr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B0E9F338-FFA9-422F-AD24-B7C4ABB0694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430490" y="2369127"/>
                <a:ext cx="0" cy="2653146"/>
              </a:xfrm>
              <a:prstGeom prst="line">
                <a:avLst/>
              </a:prstGeom>
              <a:ln w="127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D0B164B1-1E27-435E-818E-D5A3E813E1A1}"/>
                  </a:ext>
                </a:extLst>
              </p:cNvPr>
              <p:cNvSpPr txBox="1"/>
              <p:nvPr/>
            </p:nvSpPr>
            <p:spPr>
              <a:xfrm>
                <a:off x="7938143" y="1996477"/>
                <a:ext cx="999551" cy="353434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altLang="zh-CN" sz="2000" b="1" dirty="0"/>
                  <a:t>Receiver</a:t>
                </a:r>
                <a:endParaRPr lang="en-HK" sz="2000" b="1" dirty="0"/>
              </a:p>
            </p:txBody>
          </p:sp>
        </p:grp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A71689FA-5487-495C-A6D7-3F8B1058BCF8}"/>
                </a:ext>
              </a:extLst>
            </p:cNvPr>
            <p:cNvCxnSpPr/>
            <p:nvPr/>
          </p:nvCxnSpPr>
          <p:spPr>
            <a:xfrm>
              <a:off x="7626926" y="2580264"/>
              <a:ext cx="2628906" cy="526472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ABC2DA02-B551-41D3-ADC5-6E762A567E0B}"/>
                </a:ext>
              </a:extLst>
            </p:cNvPr>
            <p:cNvCxnSpPr/>
            <p:nvPr/>
          </p:nvCxnSpPr>
          <p:spPr>
            <a:xfrm>
              <a:off x="7626926" y="4499119"/>
              <a:ext cx="2628906" cy="526472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Right Brace 20">
              <a:extLst>
                <a:ext uri="{FF2B5EF4-FFF2-40B4-BE49-F238E27FC236}">
                  <a16:creationId xmlns:a16="http://schemas.microsoft.com/office/drawing/2014/main" id="{1F7687EA-E3D3-47DD-844D-31C41471817F}"/>
                </a:ext>
              </a:extLst>
            </p:cNvPr>
            <p:cNvSpPr/>
            <p:nvPr/>
          </p:nvSpPr>
          <p:spPr>
            <a:xfrm>
              <a:off x="10336894" y="2580263"/>
              <a:ext cx="197942" cy="526472"/>
            </a:xfrm>
            <a:prstGeom prst="rightBrac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HK" sz="2000" b="1" dirty="0">
                <a:highlight>
                  <a:srgbClr val="000000"/>
                </a:highlight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A329A73E-472F-46A0-AF6F-65609AECBF45}"/>
                </a:ext>
              </a:extLst>
            </p:cNvPr>
            <p:cNvSpPr txBox="1"/>
            <p:nvPr/>
          </p:nvSpPr>
          <p:spPr>
            <a:xfrm>
              <a:off x="10614455" y="2520334"/>
              <a:ext cx="1378540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dirty="0"/>
                <a:t>Propagation delay</a:t>
              </a:r>
            </a:p>
          </p:txBody>
        </p:sp>
        <p:sp>
          <p:nvSpPr>
            <p:cNvPr id="24" name="Right Brace 23">
              <a:extLst>
                <a:ext uri="{FF2B5EF4-FFF2-40B4-BE49-F238E27FC236}">
                  <a16:creationId xmlns:a16="http://schemas.microsoft.com/office/drawing/2014/main" id="{F8885BED-7AF8-4E02-94BB-187FBA97E1C0}"/>
                </a:ext>
              </a:extLst>
            </p:cNvPr>
            <p:cNvSpPr/>
            <p:nvPr/>
          </p:nvSpPr>
          <p:spPr>
            <a:xfrm rot="10800000">
              <a:off x="7357161" y="2582410"/>
              <a:ext cx="179843" cy="1918855"/>
            </a:xfrm>
            <a:prstGeom prst="rightBrac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HK" sz="2000" b="1"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F6C2DB60-63E6-4A7D-A242-92FB87EAE5FE}"/>
                </a:ext>
              </a:extLst>
            </p:cNvPr>
            <p:cNvSpPr txBox="1"/>
            <p:nvPr/>
          </p:nvSpPr>
          <p:spPr>
            <a:xfrm>
              <a:off x="6016420" y="3277497"/>
              <a:ext cx="1383723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dirty="0"/>
                <a:t>Transmission delay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7373792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Performance Metrics - Delay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Traffic mix and switch internals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en-US" dirty="0"/>
              <a:t>Queuing delay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en-US" dirty="0"/>
              <a:t>Processing delay (negligible?)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E081220-A227-48C1-BD9E-0AC99BAA9538}"/>
              </a:ext>
            </a:extLst>
          </p:cNvPr>
          <p:cNvSpPr txBox="1"/>
          <p:nvPr/>
        </p:nvSpPr>
        <p:spPr>
          <a:xfrm>
            <a:off x="477982" y="6329341"/>
            <a:ext cx="656346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hlinkClick r:id="rId2"/>
              </a:rPr>
              <a:t>[1] Graphical_Description_of_Network_Delay.png (428×233) (wikimedia.org)</a:t>
            </a:r>
            <a:endParaRPr lang="en-HK" sz="1600" dirty="0"/>
          </a:p>
        </p:txBody>
      </p:sp>
      <p:pic>
        <p:nvPicPr>
          <p:cNvPr id="9" name="Picture 8" descr="Diagram&#10;&#10;Description automatically generated">
            <a:extLst>
              <a:ext uri="{FF2B5EF4-FFF2-40B4-BE49-F238E27FC236}">
                <a16:creationId xmlns:a16="http://schemas.microsoft.com/office/drawing/2014/main" id="{EEC492E9-D4EE-4DD8-B9DE-58DAD6BF82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4578" y="2673927"/>
            <a:ext cx="5767781" cy="31393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323001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Performance Metrics - Throughput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6710" y="1837532"/>
            <a:ext cx="11491913" cy="4351338"/>
          </a:xfrm>
        </p:spPr>
        <p:txBody>
          <a:bodyPr>
            <a:normAutofit/>
          </a:bodyPr>
          <a:lstStyle/>
          <a:p>
            <a:r>
              <a:rPr lang="en-US" sz="3200" dirty="0"/>
              <a:t>Throughput = Data transferred / Transfer time</a:t>
            </a:r>
          </a:p>
          <a:p>
            <a:endParaRPr lang="en-US" sz="3200" dirty="0"/>
          </a:p>
          <a:p>
            <a:r>
              <a:rPr lang="en-US" sz="3200" dirty="0"/>
              <a:t>Transfer time = </a:t>
            </a:r>
            <a:r>
              <a:rPr lang="zh-CN" altLang="en-US" sz="3200" dirty="0"/>
              <a:t>① </a:t>
            </a:r>
            <a:r>
              <a:rPr lang="en-US" sz="3200" dirty="0"/>
              <a:t>transmission delay + propagation delay</a:t>
            </a:r>
          </a:p>
          <a:p>
            <a:pPr marL="0" indent="0">
              <a:buNone/>
            </a:pPr>
            <a:r>
              <a:rPr lang="en-US" sz="3200" dirty="0"/>
              <a:t>                     </a:t>
            </a:r>
            <a:r>
              <a:rPr lang="en-US" altLang="zh-CN" sz="3200" dirty="0"/>
              <a:t>o</a:t>
            </a:r>
            <a:r>
              <a:rPr lang="en-US" sz="3200" dirty="0"/>
              <a:t>r,  = </a:t>
            </a:r>
            <a:r>
              <a:rPr lang="zh-CN" altLang="en-US" sz="3200" dirty="0"/>
              <a:t>② </a:t>
            </a:r>
            <a:r>
              <a:rPr lang="en-US" sz="3200" dirty="0"/>
              <a:t>transmission delay + </a:t>
            </a:r>
            <a:r>
              <a:rPr lang="en-US" sz="3200" u="sng" dirty="0"/>
              <a:t>2 * propagation delay</a:t>
            </a:r>
          </a:p>
          <a:p>
            <a:pPr marL="0" indent="0">
              <a:buNone/>
            </a:pPr>
            <a:endParaRPr lang="en-US" sz="3200" dirty="0"/>
          </a:p>
          <a:p>
            <a:pPr marL="0" indent="0">
              <a:buNone/>
            </a:pPr>
            <a:r>
              <a:rPr lang="zh-CN" altLang="en-US" sz="3200" dirty="0"/>
              <a:t>①</a:t>
            </a:r>
            <a:r>
              <a:rPr lang="en-HK" altLang="zh-CN" sz="3200" dirty="0"/>
              <a:t>: </a:t>
            </a:r>
            <a:r>
              <a:rPr lang="en-US" altLang="zh-CN" sz="3200" dirty="0"/>
              <a:t>one-way transfer time, only care about single travel</a:t>
            </a:r>
          </a:p>
          <a:p>
            <a:pPr marL="0" indent="0">
              <a:buNone/>
            </a:pPr>
            <a:r>
              <a:rPr lang="zh-CN" altLang="en-US" sz="3200" dirty="0"/>
              <a:t>②</a:t>
            </a:r>
            <a:r>
              <a:rPr lang="en-HK" altLang="zh-CN" sz="3200" dirty="0"/>
              <a:t>: </a:t>
            </a:r>
            <a:r>
              <a:rPr lang="en-HK" sz="3200" dirty="0"/>
              <a:t>request-</a:t>
            </a:r>
            <a:r>
              <a:rPr lang="en-US" altLang="zh-CN" sz="3200" dirty="0"/>
              <a:t>r</a:t>
            </a:r>
            <a:r>
              <a:rPr lang="en-HK" sz="3200" dirty="0" err="1"/>
              <a:t>esponse</a:t>
            </a:r>
            <a:r>
              <a:rPr lang="en-HK" sz="3200" dirty="0"/>
              <a:t> time, serving scenario like client-server.</a:t>
            </a:r>
            <a:endParaRPr lang="en-US" sz="3200" dirty="0"/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E6DD02FD-DEF6-4D8A-BAC7-F20A3EFC827A}"/>
              </a:ext>
            </a:extLst>
          </p:cNvPr>
          <p:cNvSpPr txBox="1"/>
          <p:nvPr/>
        </p:nvSpPr>
        <p:spPr>
          <a:xfrm>
            <a:off x="8413551" y="4013201"/>
            <a:ext cx="23449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C00000"/>
                </a:solidFill>
              </a:rPr>
              <a:t>RTT (R</a:t>
            </a:r>
            <a:r>
              <a:rPr lang="en-US" altLang="zh-CN" sz="1800" dirty="0">
                <a:solidFill>
                  <a:srgbClr val="C00000"/>
                </a:solidFill>
              </a:rPr>
              <a:t>ound trip time</a:t>
            </a:r>
            <a:r>
              <a:rPr lang="en-US" sz="1800" dirty="0">
                <a:solidFill>
                  <a:srgbClr val="C00000"/>
                </a:solidFill>
              </a:rPr>
              <a:t>)</a:t>
            </a:r>
            <a:endParaRPr lang="en-HK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2007617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 dirty="0"/>
              <a:t>Exercise</a:t>
            </a:r>
            <a:r>
              <a:rPr lang="zh-CN" altLang="en-US" b="1" dirty="0"/>
              <a:t> </a:t>
            </a:r>
            <a:r>
              <a:rPr lang="en-US" b="1" dirty="0"/>
              <a:t>- Q1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270573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/>
              <a:t>Suppose a 100-Mbps point-to-point link is being set up between Earth and a new lunar colony. </a:t>
            </a:r>
          </a:p>
          <a:p>
            <a:pPr marL="0" indent="0">
              <a:buNone/>
            </a:pPr>
            <a:r>
              <a:rPr lang="en-US" sz="2400" dirty="0"/>
              <a:t>The distance from the moon to Earth is approximately 385,000 km, and data travels over the link at the speed of light = 3∗10^8 m/s.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(a) Calculate the minimum RTT</a:t>
            </a:r>
            <a:r>
              <a:rPr lang="en-US" altLang="zh-CN" sz="2400" dirty="0"/>
              <a:t>(round-trip time)</a:t>
            </a:r>
            <a:r>
              <a:rPr lang="en-US" sz="2400" dirty="0"/>
              <a:t> for the link.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4F2FCAB-565E-4178-BECE-B014B8B03F74}"/>
              </a:ext>
            </a:extLst>
          </p:cNvPr>
          <p:cNvSpPr txBox="1"/>
          <p:nvPr/>
        </p:nvSpPr>
        <p:spPr>
          <a:xfrm>
            <a:off x="838200" y="4970195"/>
            <a:ext cx="926084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HK" sz="2400" dirty="0">
                <a:solidFill>
                  <a:srgbClr val="FF0000"/>
                </a:solidFill>
              </a:rPr>
              <a:t>propagation delay = 385000 km / (3 * 10^5 km/s) = 1.28333s</a:t>
            </a:r>
          </a:p>
          <a:p>
            <a:r>
              <a:rPr lang="en-HK" sz="2400" dirty="0">
                <a:solidFill>
                  <a:srgbClr val="FF0000"/>
                </a:solidFill>
              </a:rPr>
              <a:t>RTT = 2 * propagation delay =  2 * 1.28333 = 2.56666s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ABDA9ABA-D072-4FE6-9224-857C70199408}"/>
              </a:ext>
            </a:extLst>
          </p:cNvPr>
          <p:cNvSpPr txBox="1"/>
          <p:nvPr/>
        </p:nvSpPr>
        <p:spPr>
          <a:xfrm>
            <a:off x="5468619" y="869364"/>
            <a:ext cx="634020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zh-CN" altLang="en-US" sz="1800" dirty="0"/>
              <a:t>② </a:t>
            </a:r>
            <a:r>
              <a:rPr lang="en-US" sz="1800" dirty="0"/>
              <a:t>Transfer time = transmission delay + </a:t>
            </a:r>
            <a:r>
              <a:rPr lang="en-US" sz="1800" u="sng" dirty="0"/>
              <a:t>2 * propagation delay</a:t>
            </a:r>
          </a:p>
        </p:txBody>
      </p:sp>
    </p:spTree>
    <p:extLst>
      <p:ext uri="{BB962C8B-B14F-4D97-AF65-F5344CB8AC3E}">
        <p14:creationId xmlns:p14="http://schemas.microsoft.com/office/powerpoint/2010/main" val="12941862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 dirty="0"/>
              <a:t>Exercise</a:t>
            </a:r>
            <a:r>
              <a:rPr lang="zh-CN" altLang="en-US" b="1" dirty="0"/>
              <a:t> </a:t>
            </a:r>
            <a:r>
              <a:rPr lang="en-US" b="1" dirty="0"/>
              <a:t>- Q1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71439"/>
            <a:ext cx="10515600" cy="2705735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400" dirty="0"/>
              <a:t>Suppose a 100-Mbps point-to-point link is being set up between Earth and a new lunar colony. </a:t>
            </a:r>
          </a:p>
          <a:p>
            <a:pPr marL="0" indent="0">
              <a:buNone/>
            </a:pPr>
            <a:r>
              <a:rPr lang="en-US" sz="2400" dirty="0"/>
              <a:t>The distance from the moon to Earth is approximately 385,000 km, and data travels over the link at the speed of light = 3∗10^8 m/s.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2400" dirty="0"/>
              <a:t>(b) Suppose Mission Control on Earth wishes to download a 25MB (1MB = 10^6B) image from a camera on the lunar base.</a:t>
            </a:r>
            <a:r>
              <a:rPr lang="zh-CN" altLang="en-US" sz="2400" dirty="0"/>
              <a:t> </a:t>
            </a:r>
            <a:r>
              <a:rPr lang="en-US" sz="2400" dirty="0"/>
              <a:t>What is the minimum amount of time that will elapse between when the request for the data goes out and the transfer is finished? Throughput?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4F2FCAB-565E-4178-BECE-B014B8B03F74}"/>
              </a:ext>
            </a:extLst>
          </p:cNvPr>
          <p:cNvSpPr txBox="1"/>
          <p:nvPr/>
        </p:nvSpPr>
        <p:spPr>
          <a:xfrm>
            <a:off x="790786" y="5157912"/>
            <a:ext cx="926084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</a:rPr>
              <a:t>transmission delay = 25MB / 100Mbps = 25 * 8 / 100 = 2s </a:t>
            </a:r>
          </a:p>
          <a:p>
            <a:r>
              <a:rPr lang="en-US" sz="2400" dirty="0">
                <a:solidFill>
                  <a:srgbClr val="FF0000"/>
                </a:solidFill>
              </a:rPr>
              <a:t>delay = RTT + transmission delay = 2.5666 + 2 = 4.5666s </a:t>
            </a:r>
          </a:p>
          <a:p>
            <a:r>
              <a:rPr lang="en-US" sz="2400" dirty="0">
                <a:solidFill>
                  <a:srgbClr val="FF0000"/>
                </a:solidFill>
              </a:rPr>
              <a:t>throughput = 25MB * 8 / (2s + 1.28333s) = 60.9 Mbps </a:t>
            </a:r>
          </a:p>
        </p:txBody>
      </p:sp>
    </p:spTree>
    <p:extLst>
      <p:ext uri="{BB962C8B-B14F-4D97-AF65-F5344CB8AC3E}">
        <p14:creationId xmlns:p14="http://schemas.microsoft.com/office/powerpoint/2010/main" val="116641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 dirty="0"/>
              <a:t>Exercise</a:t>
            </a:r>
            <a:r>
              <a:rPr lang="zh-CN" altLang="en-US" b="1" dirty="0"/>
              <a:t> </a:t>
            </a:r>
            <a:r>
              <a:rPr lang="en-US" b="1" dirty="0"/>
              <a:t>- Q1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71439"/>
            <a:ext cx="10515600" cy="2705735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400" dirty="0"/>
              <a:t>Suppose a 100-Mbps point-to-point link is being set up between Earth and a new lunar colony. </a:t>
            </a:r>
          </a:p>
          <a:p>
            <a:pPr marL="0" indent="0">
              <a:buNone/>
            </a:pPr>
            <a:r>
              <a:rPr lang="en-US" sz="2400" dirty="0"/>
              <a:t>The distance from the moon to Earth is approximately 385,000 km, and data travels over the link at the speed of light = 3∗10^8 m/s.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2400" dirty="0"/>
              <a:t>(</a:t>
            </a:r>
            <a:r>
              <a:rPr lang="en-US" altLang="zh-CN" sz="2400" dirty="0"/>
              <a:t>c</a:t>
            </a:r>
            <a:r>
              <a:rPr lang="en-US" sz="2400" dirty="0"/>
              <a:t>) The maximum number of flying bits on the link?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4F2FCAB-565E-4178-BECE-B014B8B03F74}"/>
              </a:ext>
            </a:extLst>
          </p:cNvPr>
          <p:cNvSpPr txBox="1"/>
          <p:nvPr/>
        </p:nvSpPr>
        <p:spPr>
          <a:xfrm>
            <a:off x="790786" y="4983741"/>
            <a:ext cx="926084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</a:rPr>
              <a:t># bits = propagation delay * bandwidth</a:t>
            </a:r>
          </a:p>
          <a:p>
            <a:r>
              <a:rPr lang="en-US" sz="2400" dirty="0">
                <a:solidFill>
                  <a:srgbClr val="FF0000"/>
                </a:solidFill>
              </a:rPr>
              <a:t>           = 1.28333s * 100Mbps = 1.28333 * 10^8</a:t>
            </a:r>
            <a:endParaRPr lang="en-HK" sz="24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423654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 dirty="0"/>
              <a:t>Exercise</a:t>
            </a:r>
            <a:r>
              <a:rPr lang="zh-CN" altLang="en-US" b="1" dirty="0"/>
              <a:t> </a:t>
            </a:r>
            <a:r>
              <a:rPr lang="en-US" b="1" dirty="0"/>
              <a:t>- Q2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270573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/>
              <a:t>Calculate the latency (from first bit sent to last bit received) for the following: 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(a) A 10-Mbps link with a single store-and-forward switch in the path, and a packet size of 5,000 bits. Assume that each section of the link introduces a propagation delay of 10 microseconds, and that the switch begins retransmitting immediately after it has finished receiving the packet.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4F2FCAB-565E-4178-BECE-B014B8B03F74}"/>
              </a:ext>
            </a:extLst>
          </p:cNvPr>
          <p:cNvSpPr txBox="1"/>
          <p:nvPr/>
        </p:nvSpPr>
        <p:spPr>
          <a:xfrm>
            <a:off x="838200" y="4685185"/>
            <a:ext cx="545633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</a:rPr>
              <a:t>(5000 b / 10Mbps + 10us) * 2 = 1.02ms</a:t>
            </a:r>
            <a:endParaRPr lang="en-HK" sz="2400" dirty="0">
              <a:solidFill>
                <a:srgbClr val="FF0000"/>
              </a:solidFill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EA957FE7-3192-4E2E-8A82-067993A46EB8}"/>
              </a:ext>
            </a:extLst>
          </p:cNvPr>
          <p:cNvSpPr/>
          <p:nvPr/>
        </p:nvSpPr>
        <p:spPr>
          <a:xfrm>
            <a:off x="7012691" y="4617511"/>
            <a:ext cx="495013" cy="26289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HK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3414B795-94E8-42ED-A686-292C209FE97A}"/>
              </a:ext>
            </a:extLst>
          </p:cNvPr>
          <p:cNvSpPr/>
          <p:nvPr/>
        </p:nvSpPr>
        <p:spPr>
          <a:xfrm>
            <a:off x="8225857" y="4352175"/>
            <a:ext cx="495013" cy="79408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HK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CD88E036-D62B-4B5A-8DA9-B91971C4D5AF}"/>
              </a:ext>
            </a:extLst>
          </p:cNvPr>
          <p:cNvSpPr txBox="1"/>
          <p:nvPr/>
        </p:nvSpPr>
        <p:spPr>
          <a:xfrm>
            <a:off x="8092098" y="5184153"/>
            <a:ext cx="121629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/>
              <a:t>switch</a:t>
            </a:r>
            <a:endParaRPr lang="en-HK" dirty="0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0690A62-7B81-446B-A37B-DCFB899EE93F}"/>
              </a:ext>
            </a:extLst>
          </p:cNvPr>
          <p:cNvSpPr txBox="1"/>
          <p:nvPr/>
        </p:nvSpPr>
        <p:spPr>
          <a:xfrm>
            <a:off x="6883822" y="5184153"/>
            <a:ext cx="121629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dirty="0"/>
              <a:t>sender</a:t>
            </a:r>
            <a:endParaRPr lang="en-HK" dirty="0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B6261F6B-DC27-4A26-916A-02483C3E0A65}"/>
              </a:ext>
            </a:extLst>
          </p:cNvPr>
          <p:cNvSpPr/>
          <p:nvPr/>
        </p:nvSpPr>
        <p:spPr>
          <a:xfrm>
            <a:off x="9447040" y="4617511"/>
            <a:ext cx="495013" cy="26289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HK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E6CD1DC0-0FB1-495F-8A7D-B4860FF046CE}"/>
              </a:ext>
            </a:extLst>
          </p:cNvPr>
          <p:cNvSpPr txBox="1"/>
          <p:nvPr/>
        </p:nvSpPr>
        <p:spPr>
          <a:xfrm>
            <a:off x="9272031" y="5184153"/>
            <a:ext cx="10132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dirty="0"/>
              <a:t>receiver</a:t>
            </a:r>
            <a:endParaRPr lang="en-HK" dirty="0"/>
          </a:p>
        </p:txBody>
      </p:sp>
      <p:cxnSp>
        <p:nvCxnSpPr>
          <p:cNvPr id="14" name="直接箭头连接符 13">
            <a:extLst>
              <a:ext uri="{FF2B5EF4-FFF2-40B4-BE49-F238E27FC236}">
                <a16:creationId xmlns:a16="http://schemas.microsoft.com/office/drawing/2014/main" id="{37DF12A7-EF3B-42FC-A64F-60AC297AB4C1}"/>
              </a:ext>
            </a:extLst>
          </p:cNvPr>
          <p:cNvCxnSpPr>
            <a:stCxn id="4" idx="3"/>
            <a:endCxn id="6" idx="1"/>
          </p:cNvCxnSpPr>
          <p:nvPr/>
        </p:nvCxnSpPr>
        <p:spPr>
          <a:xfrm>
            <a:off x="7507704" y="4748959"/>
            <a:ext cx="718153" cy="25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箭头连接符 14">
            <a:extLst>
              <a:ext uri="{FF2B5EF4-FFF2-40B4-BE49-F238E27FC236}">
                <a16:creationId xmlns:a16="http://schemas.microsoft.com/office/drawing/2014/main" id="{3D86C3B0-0E09-45B0-B0D8-1A5C568D255D}"/>
              </a:ext>
            </a:extLst>
          </p:cNvPr>
          <p:cNvCxnSpPr>
            <a:cxnSpLocks/>
            <a:stCxn id="6" idx="3"/>
            <a:endCxn id="11" idx="1"/>
          </p:cNvCxnSpPr>
          <p:nvPr/>
        </p:nvCxnSpPr>
        <p:spPr>
          <a:xfrm flipV="1">
            <a:off x="8720870" y="4748959"/>
            <a:ext cx="726170" cy="25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文本框 15">
            <a:extLst>
              <a:ext uri="{FF2B5EF4-FFF2-40B4-BE49-F238E27FC236}">
                <a16:creationId xmlns:a16="http://schemas.microsoft.com/office/drawing/2014/main" id="{8C1C32D1-749E-43E5-ACC1-955FA4E6EBD5}"/>
              </a:ext>
            </a:extLst>
          </p:cNvPr>
          <p:cNvSpPr txBox="1"/>
          <p:nvPr/>
        </p:nvSpPr>
        <p:spPr>
          <a:xfrm>
            <a:off x="5221876" y="803500"/>
            <a:ext cx="55353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800" dirty="0"/>
              <a:t>① </a:t>
            </a:r>
            <a:r>
              <a:rPr lang="en-US" sz="1800" dirty="0"/>
              <a:t>Transfer time = transmission delay + propagation delay</a:t>
            </a:r>
            <a:endParaRPr lang="en-HK" dirty="0"/>
          </a:p>
        </p:txBody>
      </p:sp>
    </p:spTree>
    <p:extLst>
      <p:ext uri="{BB962C8B-B14F-4D97-AF65-F5344CB8AC3E}">
        <p14:creationId xmlns:p14="http://schemas.microsoft.com/office/powerpoint/2010/main" val="40170495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 dirty="0"/>
              <a:t>Exercise</a:t>
            </a:r>
            <a:r>
              <a:rPr lang="zh-CN" altLang="en-US" b="1" dirty="0"/>
              <a:t> </a:t>
            </a:r>
            <a:r>
              <a:rPr lang="en-US" b="1" dirty="0"/>
              <a:t>- Q2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4F2FCAB-565E-4178-BECE-B014B8B03F74}"/>
              </a:ext>
            </a:extLst>
          </p:cNvPr>
          <p:cNvSpPr txBox="1"/>
          <p:nvPr/>
        </p:nvSpPr>
        <p:spPr>
          <a:xfrm>
            <a:off x="2843107" y="5978892"/>
            <a:ext cx="92608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</a:rPr>
              <a:t>(5000 b / 10Mbps + 10us) * 2 = 1.02ms</a:t>
            </a:r>
            <a:endParaRPr lang="en-HK" sz="2400" dirty="0">
              <a:solidFill>
                <a:srgbClr val="FF0000"/>
              </a:solidFill>
            </a:endParaRPr>
          </a:p>
        </p:txBody>
      </p:sp>
      <p:pic>
        <p:nvPicPr>
          <p:cNvPr id="22" name="Content Placeholder 21" descr="Diagram&#10;&#10;Description automatically generated">
            <a:extLst>
              <a:ext uri="{FF2B5EF4-FFF2-40B4-BE49-F238E27FC236}">
                <a16:creationId xmlns:a16="http://schemas.microsoft.com/office/drawing/2014/main" id="{DFF2D468-519E-4691-ACEC-0EED62F76F7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821358" y="1534679"/>
            <a:ext cx="6549283" cy="4351338"/>
          </a:xfrm>
        </p:spPr>
      </p:pic>
    </p:spTree>
    <p:extLst>
      <p:ext uri="{BB962C8B-B14F-4D97-AF65-F5344CB8AC3E}">
        <p14:creationId xmlns:p14="http://schemas.microsoft.com/office/powerpoint/2010/main" val="388266347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 dirty="0"/>
              <a:t>Exercise</a:t>
            </a:r>
            <a:r>
              <a:rPr lang="zh-CN" altLang="en-US" b="1" dirty="0"/>
              <a:t> </a:t>
            </a:r>
            <a:r>
              <a:rPr lang="en-US" b="1" dirty="0"/>
              <a:t>- Q2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270573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/>
              <a:t>Calculate the latency (from first bit sent to last bit received) for the following: 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(b) A 10-Mbps link with a single cut-off switch in the path, and a packet size of 5,000 bits. Assume that each section of the link introduces a propagation delay of 10 microseconds, and that the switch begins retransmitting immediately after the first 200 bits have been received.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4F2FCAB-565E-4178-BECE-B014B8B03F74}"/>
              </a:ext>
            </a:extLst>
          </p:cNvPr>
          <p:cNvSpPr txBox="1"/>
          <p:nvPr/>
        </p:nvSpPr>
        <p:spPr>
          <a:xfrm>
            <a:off x="838200" y="4685185"/>
            <a:ext cx="92608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</a:rPr>
              <a:t>0.51ms + 200b / 10Mbps + 10us = 0.54ms</a:t>
            </a:r>
            <a:endParaRPr lang="en-HK" sz="24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270785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 dirty="0"/>
              <a:t>Exercise</a:t>
            </a:r>
            <a:r>
              <a:rPr lang="zh-CN" altLang="en-US" b="1" dirty="0"/>
              <a:t> </a:t>
            </a:r>
            <a:r>
              <a:rPr lang="en-US" b="1" dirty="0"/>
              <a:t>- Q2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4F2FCAB-565E-4178-BECE-B014B8B03F74}"/>
              </a:ext>
            </a:extLst>
          </p:cNvPr>
          <p:cNvSpPr txBox="1"/>
          <p:nvPr/>
        </p:nvSpPr>
        <p:spPr>
          <a:xfrm>
            <a:off x="2843107" y="5978892"/>
            <a:ext cx="92608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</a:rPr>
              <a:t>0.51ms + 200b / 10Mbps + 10us = 0.54ms</a:t>
            </a:r>
            <a:endParaRPr lang="en-HK" sz="2400" dirty="0">
              <a:solidFill>
                <a:srgbClr val="FF0000"/>
              </a:solidFill>
            </a:endParaRPr>
          </a:p>
        </p:txBody>
      </p:sp>
      <p:pic>
        <p:nvPicPr>
          <p:cNvPr id="12" name="Content Placeholder 11" descr="Chart&#10;&#10;Description automatically generated">
            <a:extLst>
              <a:ext uri="{FF2B5EF4-FFF2-40B4-BE49-F238E27FC236}">
                <a16:creationId xmlns:a16="http://schemas.microsoft.com/office/drawing/2014/main" id="{66B09C93-3DD9-4BA2-8D2C-824A872D426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821358" y="1405678"/>
            <a:ext cx="6549283" cy="4351338"/>
          </a:xfrm>
        </p:spPr>
      </p:pic>
    </p:spTree>
    <p:extLst>
      <p:ext uri="{BB962C8B-B14F-4D97-AF65-F5344CB8AC3E}">
        <p14:creationId xmlns:p14="http://schemas.microsoft.com/office/powerpoint/2010/main" val="126183138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8D2CAE8-E323-A14E-A62F-188A25405FEA}"/>
              </a:ext>
            </a:extLst>
          </p:cNvPr>
          <p:cNvSpPr/>
          <p:nvPr/>
        </p:nvSpPr>
        <p:spPr>
          <a:xfrm>
            <a:off x="4818211" y="2760582"/>
            <a:ext cx="2418675" cy="83099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4800" dirty="0"/>
              <a:t>THANKS!</a:t>
            </a:r>
          </a:p>
        </p:txBody>
      </p:sp>
    </p:spTree>
    <p:extLst>
      <p:ext uri="{BB962C8B-B14F-4D97-AF65-F5344CB8AC3E}">
        <p14:creationId xmlns:p14="http://schemas.microsoft.com/office/powerpoint/2010/main" val="32166189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2866</TotalTime>
  <Words>1225</Words>
  <Application>Microsoft Office PowerPoint</Application>
  <PresentationFormat>宽屏</PresentationFormat>
  <Paragraphs>210</Paragraphs>
  <Slides>21</Slides>
  <Notes>11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21</vt:i4>
      </vt:variant>
    </vt:vector>
  </HeadingPairs>
  <TitlesOfParts>
    <vt:vector size="27" baseType="lpstr">
      <vt:lpstr>Arial</vt:lpstr>
      <vt:lpstr>Calibri</vt:lpstr>
      <vt:lpstr>Calibri Light</vt:lpstr>
      <vt:lpstr>Consolas</vt:lpstr>
      <vt:lpstr>Courier New</vt:lpstr>
      <vt:lpstr>Office Theme</vt:lpstr>
      <vt:lpstr>CSCI 4430 - FALL 25</vt:lpstr>
      <vt:lpstr>Assignment 1 </vt:lpstr>
      <vt:lpstr>Outline</vt:lpstr>
      <vt:lpstr>Socket Programming: Complete Flow</vt:lpstr>
      <vt:lpstr>Socket Programming: Client Side</vt:lpstr>
      <vt:lpstr>Socket Programming: Server Side</vt:lpstr>
      <vt:lpstr>Socket Programming: Complete Flow</vt:lpstr>
      <vt:lpstr>Socket Programming: Complete Flow</vt:lpstr>
      <vt:lpstr>Socket Programming: Server Parallelization</vt:lpstr>
      <vt:lpstr>Socket Programming: C++ Demo</vt:lpstr>
      <vt:lpstr>Performance Metrics - Delay</vt:lpstr>
      <vt:lpstr>Performance Metrics - Delay</vt:lpstr>
      <vt:lpstr>Performance Metrics - Throughput</vt:lpstr>
      <vt:lpstr>Exercise - Q1</vt:lpstr>
      <vt:lpstr>Exercise - Q1</vt:lpstr>
      <vt:lpstr>Exercise - Q1</vt:lpstr>
      <vt:lpstr>Exercise - Q2</vt:lpstr>
      <vt:lpstr>Exercise - Q2</vt:lpstr>
      <vt:lpstr>Exercise - Q2</vt:lpstr>
      <vt:lpstr>Exercise - Q2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CSCI 4430 - Spring 22</dc:title>
  <dc:creator>SONG, Qingyu</dc:creator>
  <cp:lastModifiedBy>FENG, Yicheng</cp:lastModifiedBy>
  <cp:revision>99</cp:revision>
  <dcterms:created xsi:type="dcterms:W3CDTF">2022-01-09T08:27:06Z</dcterms:created>
  <dcterms:modified xsi:type="dcterms:W3CDTF">2025-09-07T08:04:48Z</dcterms:modified>
</cp:coreProperties>
</file>
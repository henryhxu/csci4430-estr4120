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90" r:id="rId4"/>
    <p:sldId id="274" r:id="rId5"/>
    <p:sldId id="283" r:id="rId6"/>
    <p:sldId id="284" r:id="rId7"/>
    <p:sldId id="288" r:id="rId8"/>
    <p:sldId id="285" r:id="rId9"/>
    <p:sldId id="289" r:id="rId10"/>
    <p:sldId id="291" r:id="rId11"/>
    <p:sldId id="292" r:id="rId12"/>
    <p:sldId id="293" r:id="rId13"/>
    <p:sldId id="294" r:id="rId14"/>
    <p:sldId id="295" r:id="rId15"/>
    <p:sldId id="296" r:id="rId16"/>
    <p:sldId id="281" r:id="rId17"/>
    <p:sldId id="301" r:id="rId18"/>
    <p:sldId id="298" r:id="rId19"/>
    <p:sldId id="275" r:id="rId20"/>
    <p:sldId id="279" r:id="rId21"/>
    <p:sldId id="299" r:id="rId22"/>
    <p:sldId id="280" r:id="rId23"/>
    <p:sldId id="300" r:id="rId24"/>
    <p:sldId id="282" r:id="rId25"/>
    <p:sldId id="272" r:id="rId26"/>
    <p:sldId id="277" r:id="rId27"/>
    <p:sldId id="278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514"/>
    <p:restoredTop sz="94608"/>
  </p:normalViewPr>
  <p:slideViewPr>
    <p:cSldViewPr snapToGrid="0" snapToObjects="1">
      <p:cViewPr varScale="1">
        <p:scale>
          <a:sx n="112" d="100"/>
          <a:sy n="112" d="100"/>
        </p:scale>
        <p:origin x="224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  <pc:picChg chg="add">
          <ac:chgData name="SONG, Qingyu" userId="498998f4-7f18-4549-a740-dcfb6e1e3d22" providerId="ADAL" clId="{0F84402B-494A-D841-9A43-F49E88B6429E}" dt="2022-01-19T14:28:08.480" v="0"/>
          <ac:picMkLst>
            <pc:docMk/>
            <pc:sldMk cId="356419186" sldId="256"/>
            <ac:picMk id="6" creationId="{919BED88-AA1D-3144-ABB6-9C775BCC2765}"/>
          </ac:picMkLst>
        </pc:picChg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  <pc:spChg chg="mod">
          <ac:chgData name="SONG, Qingyu" userId="498998f4-7f18-4549-a740-dcfb6e1e3d22" providerId="ADAL" clId="{0F84402B-494A-D841-9A43-F49E88B6429E}" dt="2022-01-19T14:28:15.459" v="2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  <pc:spChg chg="mod">
          <ac:chgData name="SONG, Qingyu" userId="498998f4-7f18-4549-a740-dcfb6e1e3d22" providerId="ADAL" clId="{0F84402B-494A-D841-9A43-F49E88B6429E}" dt="2022-01-19T14:28:33.707" v="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  <pc:spChg chg="mod">
          <ac:chgData name="SONG, Qingyu" userId="498998f4-7f18-4549-a740-dcfb6e1e3d22" providerId="ADAL" clId="{0F84402B-494A-D841-9A43-F49E88B6429E}" dt="2022-01-19T14:30:51.589" v="9" actId="20577"/>
          <ac:spMkLst>
            <pc:docMk/>
            <pc:sldMk cId="746100141" sldId="274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2:36.846" v="53" actId="20577"/>
          <ac:spMkLst>
            <pc:docMk/>
            <pc:sldMk cId="746100141" sldId="274"/>
            <ac:spMk id="3" creationId="{8F20472D-613F-3748-9CBD-88055CDB4B08}"/>
          </ac:spMkLst>
        </pc:spChg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  <pc:spChg chg="mod">
          <ac:chgData name="SONG, Qingyu" userId="498998f4-7f18-4549-a740-dcfb6e1e3d22" providerId="ADAL" clId="{0F84402B-494A-D841-9A43-F49E88B6429E}" dt="2022-01-19T14:30:56.113" v="10"/>
          <ac:spMkLst>
            <pc:docMk/>
            <pc:sldMk cId="442365464" sldId="275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3:09.710" v="57" actId="20577"/>
          <ac:spMkLst>
            <pc:docMk/>
            <pc:sldMk cId="442365464" sldId="275"/>
            <ac:spMk id="3" creationId="{8F20472D-613F-3748-9CBD-88055CDB4B08}"/>
          </ac:spMkLst>
        </pc:spChg>
        <pc:spChg chg="mod">
          <ac:chgData name="SONG, Qingyu" userId="498998f4-7f18-4549-a740-dcfb6e1e3d22" providerId="ADAL" clId="{0F84402B-494A-D841-9A43-F49E88B6429E}" dt="2022-01-19T14:52:30.806" v="49" actId="1036"/>
          <ac:spMkLst>
            <pc:docMk/>
            <pc:sldMk cId="442365464" sldId="275"/>
            <ac:spMk id="7" creationId="{B4F2FCAB-565E-4178-BECE-B014B8B03F74}"/>
          </ac:spMkLst>
        </pc:spChg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  <pc:spChg chg="mod">
          <ac:chgData name="SONG, Qingyu" userId="498998f4-7f18-4549-a740-dcfb6e1e3d22" providerId="ADAL" clId="{0F84402B-494A-D841-9A43-F49E88B6429E}" dt="2022-01-19T14:31:04.578" v="12"/>
          <ac:spMkLst>
            <pc:docMk/>
            <pc:sldMk cId="3494430642" sldId="276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  <pc:spChg chg="mod">
          <ac:chgData name="SONG, Qingyu" userId="498998f4-7f18-4549-a740-dcfb6e1e3d22" providerId="ADAL" clId="{0F84402B-494A-D841-9A43-F49E88B6429E}" dt="2022-01-19T14:31:06.498" v="13" actId="20577"/>
          <ac:spMkLst>
            <pc:docMk/>
            <pc:sldMk cId="4278079293" sldId="277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31.128" v="89" actId="20577"/>
          <ac:spMkLst>
            <pc:docMk/>
            <pc:sldMk cId="4278079293" sldId="277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  <pc:spChg chg="mod">
          <ac:chgData name="SONG, Qingyu" userId="498998f4-7f18-4549-a740-dcfb6e1e3d22" providerId="ADAL" clId="{0F84402B-494A-D841-9A43-F49E88B6429E}" dt="2022-01-19T14:31:13.089" v="14"/>
          <ac:spMkLst>
            <pc:docMk/>
            <pc:sldMk cId="3882663473" sldId="278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  <pc:spChg chg="mod">
          <ac:chgData name="SONG, Qingyu" userId="498998f4-7f18-4549-a740-dcfb6e1e3d22" providerId="ADAL" clId="{0F84402B-494A-D841-9A43-F49E88B6429E}" dt="2022-01-19T14:31:16.215" v="15"/>
          <ac:spMkLst>
            <pc:docMk/>
            <pc:sldMk cId="3927078520" sldId="279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45.773" v="90"/>
          <ac:spMkLst>
            <pc:docMk/>
            <pc:sldMk cId="3927078520" sldId="279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  <pc:spChg chg="mod">
          <ac:chgData name="SONG, Qingyu" userId="498998f4-7f18-4549-a740-dcfb6e1e3d22" providerId="ADAL" clId="{0F84402B-494A-D841-9A43-F49E88B6429E}" dt="2022-01-19T14:31:20.046" v="16"/>
          <ac:spMkLst>
            <pc:docMk/>
            <pc:sldMk cId="1261831385" sldId="280"/>
            <ac:spMk id="2" creationId="{45C79BA1-37A3-5741-B0A1-E64646E4283C}"/>
          </ac:spMkLst>
        </pc:spChg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  <pc:spChg chg="mod">
          <ac:chgData name="SONG, Qingyu" userId="498998f4-7f18-4549-a740-dcfb6e1e3d22" providerId="ADAL" clId="{0F84402B-494A-D841-9A43-F49E88B6429E}" dt="2022-01-19T14:55:18" v="62" actId="20577"/>
          <ac:spMkLst>
            <pc:docMk/>
            <pc:sldMk cId="11664182" sldId="281"/>
            <ac:spMk id="3" creationId="{8F20472D-613F-3748-9CBD-88055CDB4B0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57E1DE-EE62-4F4F-8498-944AA5CE2831}" type="datetimeFigureOut">
              <a:rPr lang="zh-CN" altLang="en-US" smtClean="0"/>
              <a:t>2025/2/12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BC58A6-A143-45AB-9298-8A14980D6F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8686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Frame2 network contention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86222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Frame2 network contention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13427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4400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4438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BC58A6-A143-45AB-9298-8A14980D6F04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8354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hyperlink" Target="mailto:ytyang@cse.cuhk.edu.hk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projgw.cse.cuhk.edu.hk:2913/" TargetMode="External"/><Relationship Id="rId2" Type="http://schemas.openxmlformats.org/officeDocument/2006/relationships/hyperlink" Target="http://projgw.cse.cuhk.edu.hk:2913/web/course/5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caler.com/topics/computer-network/selective-repeat-arq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aler.com/topics/computer-network/selective-repeat-arq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javatpoint.com/go-back-n-arq" TargetMode="Externa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vatpoint.com/go-back-n-arq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– Spring</a:t>
            </a:r>
            <a:r>
              <a:rPr lang="en-US" altLang="zh-CN" sz="6600" b="1" dirty="0"/>
              <a:t> </a:t>
            </a:r>
            <a:r>
              <a:rPr lang="en-US" sz="6600" b="1" dirty="0"/>
              <a:t>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sz="3600" b="1" dirty="0"/>
              <a:t>YANG </a:t>
            </a:r>
            <a:r>
              <a:rPr lang="en-US" altLang="zh-CN" sz="3600" b="1" dirty="0" err="1"/>
              <a:t>Yitao</a:t>
            </a:r>
            <a:endParaRPr lang="en-US" altLang="zh-CN" sz="3600" b="1" dirty="0"/>
          </a:p>
          <a:p>
            <a:r>
              <a:rPr lang="en-US" altLang="zh-CN" sz="3600" b="1" dirty="0">
                <a:hlinkClick r:id="rId2"/>
              </a:rPr>
              <a:t>ytyang@cse.cuhk.edu.hk</a:t>
            </a:r>
            <a:endParaRPr lang="en-US" sz="3600" b="1" dirty="0"/>
          </a:p>
          <a:p>
            <a:r>
              <a:rPr lang="en-US" sz="3600" b="1" dirty="0"/>
              <a:t>Tutorial </a:t>
            </a:r>
            <a:r>
              <a:rPr lang="en-US" altLang="zh-CN" sz="3600" b="1" dirty="0"/>
              <a:t>5</a:t>
            </a:r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</a:t>
            </a:r>
            <a:r>
              <a:rPr lang="en-US" altLang="zh-CN" sz="2000" b="1" dirty="0"/>
              <a:t>5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</a:t>
            </a:r>
            <a:r>
              <a:rPr lang="en-US" altLang="zh-CN" b="1" dirty="0"/>
              <a:t>2</a:t>
            </a:r>
            <a:r>
              <a:rPr lang="en-US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Release: </a:t>
            </a:r>
            <a:r>
              <a:rPr lang="en-US" sz="3200" dirty="0">
                <a:solidFill>
                  <a:srgbClr val="FF0000"/>
                </a:solidFill>
              </a:rPr>
              <a:t>Sun, 9th Mar.</a:t>
            </a:r>
          </a:p>
          <a:p>
            <a:r>
              <a:rPr lang="en-US" sz="3200" dirty="0"/>
              <a:t>Asg2 and Asg3 are both group projects.</a:t>
            </a:r>
          </a:p>
          <a:p>
            <a:r>
              <a:rPr lang="en-US" sz="3200" dirty="0" err="1"/>
              <a:t>Autograder</a:t>
            </a:r>
            <a:r>
              <a:rPr lang="en-US" sz="3200" dirty="0"/>
              <a:t> and bonus part will be released in next few weeks. Please be sure to submit your team information on the </a:t>
            </a:r>
            <a:r>
              <a:rPr lang="en-US" sz="3200" dirty="0" err="1">
                <a:solidFill>
                  <a:srgbClr val="FF0000"/>
                </a:solidFill>
              </a:rPr>
              <a:t>Autograder</a:t>
            </a:r>
            <a:r>
              <a:rPr lang="en-US" sz="3200" dirty="0">
                <a:solidFill>
                  <a:srgbClr val="FF0000"/>
                </a:solidFill>
              </a:rPr>
              <a:t> website</a:t>
            </a:r>
            <a:r>
              <a:rPr lang="en-US" sz="3200" dirty="0"/>
              <a:t>. </a:t>
            </a:r>
            <a:r>
              <a:rPr lang="en-US" altLang="zh-CN" dirty="0" err="1">
                <a:solidFill>
                  <a:srgbClr val="0563C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Autograder</a:t>
            </a:r>
            <a:r>
              <a:rPr lang="en-US" altLang="zh-CN" dirty="0">
                <a:solidFill>
                  <a:srgbClr val="0563C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</a:t>
            </a:r>
            <a:r>
              <a:rPr lang="en-US" altLang="zh-CN" dirty="0">
                <a:solidFill>
                  <a:srgbClr val="0563C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cuhk</a:t>
            </a:r>
            <a:r>
              <a:rPr lang="en-US" altLang="zh-CN" dirty="0">
                <a:solidFill>
                  <a:srgbClr val="0563C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.edu.hk)</a:t>
            </a:r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01817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3607AE-4FC0-ED15-C06D-0D33B62119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b="1" dirty="0"/>
              <a:t>Video Streaming</a:t>
            </a:r>
            <a:endParaRPr kumimoji="1" lang="zh-CN" altLang="en-US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15F643D-5A8C-1570-8C8E-13C68855E2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23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188F2A-4142-E048-B3A0-3DF53FF7B70D}"/>
              </a:ext>
            </a:extLst>
          </p:cNvPr>
          <p:cNvSpPr txBox="1"/>
          <p:nvPr/>
        </p:nvSpPr>
        <p:spPr>
          <a:xfrm>
            <a:off x="838200" y="4279900"/>
            <a:ext cx="4635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Describe the behavior of the video output? </a:t>
            </a:r>
            <a:endParaRPr lang="en-US" altLang="zh-CN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46100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188F2A-4142-E048-B3A0-3DF53FF7B70D}"/>
              </a:ext>
            </a:extLst>
          </p:cNvPr>
          <p:cNvSpPr txBox="1"/>
          <p:nvPr/>
        </p:nvSpPr>
        <p:spPr>
          <a:xfrm>
            <a:off x="838200" y="4279900"/>
            <a:ext cx="5210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Describe the behavior of the video output? </a:t>
            </a:r>
            <a:endParaRPr lang="en-US" altLang="zh-CN" sz="2000" b="1" dirty="0">
              <a:effectLst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72AB98-FEB9-BA41-8381-4271E43F2E34}"/>
              </a:ext>
            </a:extLst>
          </p:cNvPr>
          <p:cNvSpPr txBox="1"/>
          <p:nvPr/>
        </p:nvSpPr>
        <p:spPr>
          <a:xfrm>
            <a:off x="838200" y="4856241"/>
            <a:ext cx="44538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Alternate between playout and freeze. </a:t>
            </a:r>
          </a:p>
        </p:txBody>
      </p:sp>
    </p:spTree>
    <p:extLst>
      <p:ext uri="{BB962C8B-B14F-4D97-AF65-F5344CB8AC3E}">
        <p14:creationId xmlns:p14="http://schemas.microsoft.com/office/powerpoint/2010/main" val="146841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738030-1D1E-CF4A-9FDD-9412F3530063}"/>
              </a:ext>
            </a:extLst>
          </p:cNvPr>
          <p:cNvSpPr txBox="1"/>
          <p:nvPr/>
        </p:nvSpPr>
        <p:spPr>
          <a:xfrm>
            <a:off x="838200" y="4002901"/>
            <a:ext cx="632841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Suppose the buffer starts out empty.</a:t>
            </a:r>
            <a:br>
              <a:rPr lang="en-US" altLang="zh-CN" sz="2000" b="1" dirty="0"/>
            </a:br>
            <a:r>
              <a:rPr lang="en-US" altLang="zh-CN" sz="2000" b="1" dirty="0"/>
              <a:t>How long will it be before the video can begin playout? </a:t>
            </a:r>
          </a:p>
          <a:p>
            <a:endParaRPr kumimoji="1"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82837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738030-1D1E-CF4A-9FDD-9412F3530063}"/>
              </a:ext>
            </a:extLst>
          </p:cNvPr>
          <p:cNvSpPr txBox="1"/>
          <p:nvPr/>
        </p:nvSpPr>
        <p:spPr>
          <a:xfrm>
            <a:off x="838200" y="4018803"/>
            <a:ext cx="63055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Suppose the buffer starts out empty.</a:t>
            </a:r>
            <a:br>
              <a:rPr lang="en-US" altLang="zh-CN" sz="2000" b="1" dirty="0"/>
            </a:br>
            <a:r>
              <a:rPr lang="en-US" altLang="zh-CN" sz="2000" b="1" dirty="0"/>
              <a:t>How long will it be before the video can begin playout? 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0BF4A73-65F2-946E-8B15-3E1EEB7F8500}"/>
              </a:ext>
            </a:extLst>
          </p:cNvPr>
          <p:cNvSpPr txBox="1"/>
          <p:nvPr/>
        </p:nvSpPr>
        <p:spPr>
          <a:xfrm>
            <a:off x="838199" y="4741565"/>
            <a:ext cx="2382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Q</a:t>
            </a:r>
            <a:r>
              <a:rPr lang="zh-CN" altLang="en-US" sz="2000" b="1" dirty="0">
                <a:solidFill>
                  <a:srgbClr val="FF0000"/>
                </a:solidFill>
              </a:rPr>
              <a:t> </a:t>
            </a:r>
            <a:r>
              <a:rPr lang="en-US" altLang="zh-CN" sz="2000" b="1" dirty="0">
                <a:solidFill>
                  <a:srgbClr val="FF0000"/>
                </a:solidFill>
              </a:rPr>
              <a:t>/ x </a:t>
            </a:r>
          </a:p>
        </p:txBody>
      </p:sp>
    </p:spTree>
    <p:extLst>
      <p:ext uri="{BB962C8B-B14F-4D97-AF65-F5344CB8AC3E}">
        <p14:creationId xmlns:p14="http://schemas.microsoft.com/office/powerpoint/2010/main" val="3290183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B54859-C4C5-4C47-8230-F46B40AE7E03}"/>
              </a:ext>
            </a:extLst>
          </p:cNvPr>
          <p:cNvSpPr txBox="1"/>
          <p:nvPr/>
        </p:nvSpPr>
        <p:spPr>
          <a:xfrm>
            <a:off x="838200" y="4059664"/>
            <a:ext cx="63055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Assume the number of bits in buffer currently is Z (&gt; 𝑄). </a:t>
            </a:r>
          </a:p>
          <a:p>
            <a:r>
              <a:rPr lang="en-US" altLang="zh-CN" sz="2000" b="1" dirty="0"/>
              <a:t>How long will the playout last? </a:t>
            </a:r>
            <a:endParaRPr lang="en-US" altLang="zh-CN" sz="20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41658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  <a:r>
              <a:rPr lang="zh-CN" altLang="en-US" b="1" dirty="0"/>
              <a:t> </a:t>
            </a:r>
            <a:r>
              <a:rPr lang="en-US" altLang="zh-CN" b="1" dirty="0"/>
              <a:t>HTTP</a:t>
            </a:r>
            <a:r>
              <a:rPr lang="zh-CN" altLang="en-US" b="1" dirty="0"/>
              <a:t> </a:t>
            </a:r>
            <a:r>
              <a:rPr lang="en-US" altLang="zh-CN" b="1" dirty="0"/>
              <a:t>Streaming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2427"/>
            <a:ext cx="10515600" cy="270573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simple HTTP streaming model.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</a:b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r>
              <a:rPr lang="en-US" altLang="zh-CN" dirty="0"/>
              <a:t>𝑄 is the number of bits that must be buffered before the client application begins playout. </a:t>
            </a:r>
          </a:p>
          <a:p>
            <a:r>
              <a:rPr lang="en-US" altLang="zh-CN" dirty="0"/>
              <a:t>𝑟 is the video consumption rate.</a:t>
            </a:r>
          </a:p>
          <a:p>
            <a:r>
              <a:rPr lang="en-US" altLang="zh-CN" dirty="0"/>
              <a:t>𝑥 is the bits sending rate whenever the client buffer is not full. </a:t>
            </a:r>
            <a:endParaRPr lang="en-US" altLang="zh-CN" sz="1600" dirty="0"/>
          </a:p>
          <a:p>
            <a:r>
              <a:rPr lang="en-US" altLang="zh-CN" dirty="0"/>
              <a:t>Also assume that 𝑥 &lt; 𝑟.</a:t>
            </a:r>
          </a:p>
          <a:p>
            <a:pPr marL="0" indent="0">
              <a:buNone/>
            </a:pPr>
            <a:br>
              <a:rPr lang="en-US" altLang="zh-CN" dirty="0"/>
            </a:b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B54859-C4C5-4C47-8230-F46B40AE7E03}"/>
              </a:ext>
            </a:extLst>
          </p:cNvPr>
          <p:cNvSpPr txBox="1"/>
          <p:nvPr/>
        </p:nvSpPr>
        <p:spPr>
          <a:xfrm>
            <a:off x="838200" y="4059664"/>
            <a:ext cx="6134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Assume the number of bits in buffer currently is Z (&gt; 𝑄). </a:t>
            </a:r>
          </a:p>
          <a:p>
            <a:r>
              <a:rPr lang="en-US" altLang="zh-CN" sz="2000" b="1" dirty="0"/>
              <a:t>How long will the playout last? </a:t>
            </a:r>
            <a:endParaRPr lang="en-US" altLang="zh-CN" sz="2000" b="1" dirty="0">
              <a:effectLst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3526F4-BA12-377A-E896-2398F63616DB}"/>
              </a:ext>
            </a:extLst>
          </p:cNvPr>
          <p:cNvSpPr txBox="1"/>
          <p:nvPr/>
        </p:nvSpPr>
        <p:spPr>
          <a:xfrm>
            <a:off x="838199" y="4856241"/>
            <a:ext cx="19935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b="1" dirty="0">
                <a:solidFill>
                  <a:srgbClr val="FF0000"/>
                </a:solidFill>
              </a:rPr>
              <a:t>Z</a:t>
            </a:r>
            <a:r>
              <a:rPr kumimoji="1" lang="zh-CN" altLang="en-US" sz="2000" b="1" dirty="0">
                <a:solidFill>
                  <a:srgbClr val="FF0000"/>
                </a:solidFill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</a:rPr>
              <a:t>/</a:t>
            </a:r>
            <a:r>
              <a:rPr kumimoji="1" lang="zh-CN" altLang="en-US" sz="2000" b="1" dirty="0">
                <a:solidFill>
                  <a:srgbClr val="FF0000"/>
                </a:solidFill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</a:rPr>
              <a:t>(r</a:t>
            </a:r>
            <a:r>
              <a:rPr kumimoji="1" lang="zh-CN" altLang="en-US" sz="2000" b="1" dirty="0">
                <a:solidFill>
                  <a:srgbClr val="FF0000"/>
                </a:solidFill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</a:rPr>
              <a:t>-</a:t>
            </a:r>
            <a:r>
              <a:rPr kumimoji="1" lang="zh-CN" altLang="en-US" sz="2000" b="1" dirty="0">
                <a:solidFill>
                  <a:srgbClr val="FF0000"/>
                </a:solidFill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</a:rPr>
              <a:t>x)</a:t>
            </a:r>
            <a:endParaRPr kumimoji="1" lang="zh-CN" alt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442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3607AE-4FC0-ED15-C06D-0D33B62119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b="1" dirty="0"/>
              <a:t>Reliable Transport</a:t>
            </a:r>
            <a:endParaRPr kumimoji="1" lang="zh-CN" altLang="en-US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15F643D-5A8C-1570-8C8E-13C68855E2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366438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B79B61-3C0C-03DD-01A2-BDD8F525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Review: Reliable Transport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5FF2CC-8350-18F2-AE61-59B016354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CN" b="1" dirty="0"/>
              <a:t>Motivation: </a:t>
            </a:r>
          </a:p>
          <a:p>
            <a:pPr lvl="1"/>
            <a:r>
              <a:rPr lang="en-GB" altLang="zh-CN" dirty="0"/>
              <a:t>IP provides a best-effort packet delivery service – this means that packets sometimes get corrupted or dropped! </a:t>
            </a:r>
          </a:p>
          <a:p>
            <a:pPr lvl="1"/>
            <a:r>
              <a:rPr lang="en-GB" altLang="zh-CN" dirty="0"/>
              <a:t>We need some way to build reliable transport on top of an unreliable network.</a:t>
            </a:r>
          </a:p>
          <a:p>
            <a:endParaRPr lang="en-GB" altLang="zh-CN" dirty="0"/>
          </a:p>
          <a:p>
            <a:r>
              <a:rPr lang="en-GB" altLang="zh-CN" b="1" dirty="0"/>
              <a:t>Key Question: </a:t>
            </a:r>
          </a:p>
          <a:p>
            <a:pPr lvl="1"/>
            <a:r>
              <a:rPr lang="en-GB" altLang="zh-CN" dirty="0"/>
              <a:t>How does sender figure out what to send / resend?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20415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B79B61-3C0C-03DD-01A2-BDD8F525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Review: Reliable Transport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5FF2CC-8350-18F2-AE61-59B016354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CN" b="1" dirty="0"/>
              <a:t>Common Techniques: </a:t>
            </a:r>
          </a:p>
          <a:p>
            <a:pPr lvl="1"/>
            <a:r>
              <a:rPr lang="en-GB" altLang="zh-CN" dirty="0"/>
              <a:t>Checksums </a:t>
            </a:r>
          </a:p>
          <a:p>
            <a:pPr lvl="1"/>
            <a:r>
              <a:rPr lang="en-GB" altLang="zh-CN" dirty="0"/>
              <a:t>Sequence numbers </a:t>
            </a:r>
          </a:p>
          <a:p>
            <a:pPr lvl="1"/>
            <a:r>
              <a:rPr lang="en-GB" altLang="zh-CN" dirty="0"/>
              <a:t>Acknowledgements upon receiving packet </a:t>
            </a:r>
          </a:p>
          <a:p>
            <a:pPr lvl="1"/>
            <a:r>
              <a:rPr lang="en-GB" altLang="zh-CN" dirty="0"/>
              <a:t>Sender-side timers to trigger resending packets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13855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B79B61-3C0C-03DD-01A2-BDD8F525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Review: Sliding Window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5FF2CC-8350-18F2-AE61-59B016354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CN" dirty="0"/>
              <a:t>A window is a set of adjacent sequence numbers. If the window size is </a:t>
            </a:r>
            <a:r>
              <a:rPr lang="en-GB" altLang="zh-CN" b="1" dirty="0"/>
              <a:t>n</a:t>
            </a:r>
            <a:r>
              <a:rPr lang="en-GB" altLang="zh-CN" dirty="0"/>
              <a:t> and the window starts at sequence number s, it will consist of packets </a:t>
            </a:r>
          </a:p>
          <a:p>
            <a:pPr marL="0" indent="0" algn="ctr">
              <a:buNone/>
            </a:pPr>
            <a:r>
              <a:rPr lang="en-GB" altLang="zh-CN" dirty="0"/>
              <a:t>s, s + 1, s + 2, …, s + n - 1. </a:t>
            </a:r>
          </a:p>
          <a:p>
            <a:r>
              <a:rPr lang="en-GB" altLang="zh-CN" dirty="0"/>
              <a:t>A larger window enables </a:t>
            </a:r>
            <a:r>
              <a:rPr lang="en-GB" altLang="zh-CN" b="1" dirty="0"/>
              <a:t>more throughput</a:t>
            </a:r>
            <a:r>
              <a:rPr lang="en-GB" altLang="zh-CN" dirty="0"/>
              <a:t>, as more packets can be in-flight at once. </a:t>
            </a:r>
          </a:p>
          <a:p>
            <a:r>
              <a:rPr lang="en-GB" altLang="zh-CN" dirty="0"/>
              <a:t>A window that is </a:t>
            </a:r>
            <a:r>
              <a:rPr lang="en-GB" altLang="zh-CN" b="1" dirty="0"/>
              <a:t>too large </a:t>
            </a:r>
            <a:r>
              <a:rPr lang="en-GB" altLang="zh-CN" dirty="0"/>
              <a:t>leads to the sender/receiver having to buffer and keep track of too many packets, which can create slowness. 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7522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B79B61-3C0C-03DD-01A2-BDD8F525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Review: Sliding Window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5FF2CC-8350-18F2-AE61-59B016354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CN" dirty="0"/>
              <a:t>To communicate that a packet has been received, the receiver sends an ACK (acknowledgement) back to the sender for every packet it receives. </a:t>
            </a:r>
          </a:p>
          <a:p>
            <a:pPr lvl="1"/>
            <a:r>
              <a:rPr lang="en-GB" altLang="zh-CN" b="1" dirty="0"/>
              <a:t>Cumulative ACKs: </a:t>
            </a:r>
            <a:r>
              <a:rPr lang="en-GB" altLang="zh-CN" dirty="0"/>
              <a:t>The receiver sends an ACK containing the sequence number of the next packet it expects. </a:t>
            </a:r>
          </a:p>
          <a:p>
            <a:pPr lvl="1"/>
            <a:r>
              <a:rPr lang="en-GB" altLang="zh-CN" b="1" dirty="0"/>
              <a:t>Selective ACKs: </a:t>
            </a:r>
            <a:r>
              <a:rPr lang="en-GB" altLang="zh-CN" dirty="0"/>
              <a:t>The receiver just sends back the sequence number of the packet it just received. </a:t>
            </a:r>
          </a:p>
          <a:p>
            <a:endParaRPr lang="en-GB" altLang="zh-CN" dirty="0"/>
          </a:p>
          <a:p>
            <a:r>
              <a:rPr lang="en-GB" altLang="zh-CN" dirty="0"/>
              <a:t>Selective ACKs convey more information, but the sender and receiver have to keep track of a lot more state. </a:t>
            </a:r>
            <a:r>
              <a:rPr lang="en-GB" altLang="zh-CN" i="1" dirty="0"/>
              <a:t>Why?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3254279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A57C8B-AD9C-E5F8-5D5F-73A2F8E69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b="1" dirty="0"/>
              <a:t>Go-Back-N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vs. Selective Repeat</a:t>
            </a:r>
            <a:endParaRPr kumimoji="1" lang="zh-CN" altLang="en-US" b="1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A78E88CF-F61E-3D89-6579-2066939E4B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8416321"/>
              </p:ext>
            </p:extLst>
          </p:nvPr>
        </p:nvGraphicFramePr>
        <p:xfrm>
          <a:off x="838200" y="1825624"/>
          <a:ext cx="10515600" cy="40620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94929274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33051690"/>
                    </a:ext>
                  </a:extLst>
                </a:gridCol>
              </a:tblGrid>
              <a:tr h="56154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/>
                        <a:t>Go-Back-N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Selective Repeat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919857"/>
                  </a:ext>
                </a:extLst>
              </a:tr>
              <a:tr h="561548"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Used with sliding window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Used with sliding window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82080"/>
                  </a:ext>
                </a:extLst>
              </a:tr>
              <a:tr h="1119511"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Receiver only accepts packets in-order, and discards out-of-order packets (i.e. does not ACK nor buffer). 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Receiver accepts any packet that is in its window, possibly buffering until it can recreate them in-order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8647286"/>
                  </a:ext>
                </a:extLst>
              </a:tr>
              <a:tr h="561548"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Cumulative ACKs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Selective ACKs. 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180893"/>
                  </a:ext>
                </a:extLst>
              </a:tr>
              <a:tr h="1119511"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Sender maintains one timer (for first outstanding ACK) and resends </a:t>
                      </a:r>
                      <a:r>
                        <a:rPr lang="en-GB" altLang="zh-CN" sz="2400" b="1" dirty="0"/>
                        <a:t>n</a:t>
                      </a:r>
                      <a:r>
                        <a:rPr lang="en-GB" altLang="zh-CN" sz="2400" dirty="0"/>
                        <a:t> packets if the timer expires. 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2400" dirty="0"/>
                        <a:t>Sender maintains one timer per packet, resending just that packet if ACK is not received in time.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1788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6824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2</a:t>
            </a:r>
            <a:r>
              <a:rPr lang="zh-CN" altLang="en-US" b="1" dirty="0"/>
              <a:t> </a:t>
            </a:r>
            <a:r>
              <a:rPr lang="en-US" altLang="zh-CN" b="1" dirty="0"/>
              <a:t>Selective</a:t>
            </a:r>
            <a:r>
              <a:rPr lang="zh-CN" altLang="en-US" b="1" dirty="0"/>
              <a:t> </a:t>
            </a:r>
            <a:r>
              <a:rPr lang="en-US" altLang="zh-CN" b="1" dirty="0"/>
              <a:t>Repeat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6076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With the Selective Repeat (SR) protocol, Is it possible for the sender to receive an ACK for a packet that falls outside of its current window? Why? </a:t>
            </a: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010B901-E06C-8A4E-AC29-A071B187A7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9AE7E9E-B17D-BBC8-3737-29E439E38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011" y="2470389"/>
            <a:ext cx="4931860" cy="335298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3F1A7566-C802-4AD0-AB5E-D1097EEE0F30}"/>
              </a:ext>
            </a:extLst>
          </p:cNvPr>
          <p:cNvSpPr txBox="1"/>
          <p:nvPr/>
        </p:nvSpPr>
        <p:spPr>
          <a:xfrm>
            <a:off x="965314" y="6403065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hlinkClick r:id="rId4"/>
              </a:rPr>
              <a:t>Selective Repeat ARQ Protocol | Scaler Topics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B0CFA70-F05A-DC17-0317-69681B70D170}"/>
              </a:ext>
            </a:extLst>
          </p:cNvPr>
          <p:cNvSpPr txBox="1"/>
          <p:nvPr/>
        </p:nvSpPr>
        <p:spPr>
          <a:xfrm>
            <a:off x="3729162" y="5893494"/>
            <a:ext cx="4317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Selective Repeat Protocol</a:t>
            </a:r>
            <a:r>
              <a:rPr kumimoji="1" lang="zh-CN" altLang="en-US" dirty="0"/>
              <a:t> </a:t>
            </a:r>
            <a:r>
              <a:rPr kumimoji="1" lang="en-US" altLang="zh-CN" dirty="0"/>
              <a:t>Explanation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2</a:t>
            </a:r>
            <a:r>
              <a:rPr lang="zh-CN" altLang="en-US" b="1" dirty="0"/>
              <a:t> </a:t>
            </a:r>
            <a:r>
              <a:rPr lang="en-US" altLang="zh-CN" b="1" dirty="0"/>
              <a:t>Selective</a:t>
            </a:r>
            <a:r>
              <a:rPr lang="zh-CN" altLang="en-US" b="1" dirty="0"/>
              <a:t> </a:t>
            </a:r>
            <a:r>
              <a:rPr lang="en-US" altLang="zh-CN" b="1" dirty="0"/>
              <a:t>Repeat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6076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With the Selective Repeat (SR) protocol, Is it possible for the sender to receive an ACK for a packet that falls outside of its current window? Why? </a:t>
            </a:r>
            <a:endParaRPr lang="zh-CN" altLang="zh-CN" sz="16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010B901-E06C-8A4E-AC29-A071B187A7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A879B5-D847-A94C-98A1-55818E2B540F}"/>
              </a:ext>
            </a:extLst>
          </p:cNvPr>
          <p:cNvSpPr txBox="1"/>
          <p:nvPr/>
        </p:nvSpPr>
        <p:spPr>
          <a:xfrm>
            <a:off x="1193800" y="2796577"/>
            <a:ext cx="151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</a:rPr>
              <a:t>True</a:t>
            </a:r>
            <a:endParaRPr kumimoji="1" lang="zh-CN" altLang="en-US" sz="2400" b="1" dirty="0">
              <a:solidFill>
                <a:srgbClr val="FF000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F1A7566-C802-4AD0-AB5E-D1097EEE0F30}"/>
              </a:ext>
            </a:extLst>
          </p:cNvPr>
          <p:cNvSpPr txBox="1"/>
          <p:nvPr/>
        </p:nvSpPr>
        <p:spPr>
          <a:xfrm>
            <a:off x="965314" y="6403065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hlinkClick r:id="rId3"/>
              </a:rPr>
              <a:t>Selective Repeat ARQ Protocol | Scaler Topics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2323614-0BD3-674E-459C-45B1A45899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6322" y="2673985"/>
            <a:ext cx="6165575" cy="313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659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3</a:t>
            </a:r>
            <a:r>
              <a:rPr lang="zh-CN" altLang="en-US" b="1" dirty="0"/>
              <a:t> </a:t>
            </a:r>
            <a:r>
              <a:rPr lang="en-US" altLang="zh-CN" b="1" dirty="0"/>
              <a:t>Go-Back-N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2400" dirty="0"/>
              <a:t>W</a:t>
            </a:r>
            <a:r>
              <a:rPr lang="en-US" altLang="zh-CN" dirty="0"/>
              <a:t>ith the Go-Back-N (GBN) protocol, Is it possible for the sender to receive an ACK for a packet that falls outside of its current window? Why? </a:t>
            </a:r>
            <a:endParaRPr lang="en-US" altLang="zh-CN" sz="24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EE06C49-BD6E-B6E5-18E6-391DA07A4B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05"/>
          <a:stretch/>
        </p:blipFill>
        <p:spPr>
          <a:xfrm>
            <a:off x="6558399" y="3332574"/>
            <a:ext cx="4015201" cy="228395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A02D2D8-C4E5-DEE2-09D1-F98080AECD2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309" b="4114"/>
          <a:stretch/>
        </p:blipFill>
        <p:spPr>
          <a:xfrm>
            <a:off x="1647129" y="3335198"/>
            <a:ext cx="4911270" cy="228395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907839E7-7C4F-0E69-5FE2-EB4A6825384C}"/>
              </a:ext>
            </a:extLst>
          </p:cNvPr>
          <p:cNvSpPr txBox="1"/>
          <p:nvPr/>
        </p:nvSpPr>
        <p:spPr>
          <a:xfrm>
            <a:off x="879844" y="6410906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hlinkClick r:id="rId5"/>
              </a:rPr>
              <a:t>Go-Back-N ARQ - </a:t>
            </a:r>
            <a:r>
              <a:rPr lang="en-US" altLang="zh-CN" sz="1800" dirty="0" err="1">
                <a:hlinkClick r:id="rId5"/>
              </a:rPr>
              <a:t>javatpoint</a:t>
            </a:r>
            <a:endParaRPr lang="en-US" altLang="zh-CN" sz="1800" dirty="0">
              <a:solidFill>
                <a:srgbClr val="FF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A09A26-D14B-3020-0E32-3DD901DCA954}"/>
              </a:ext>
            </a:extLst>
          </p:cNvPr>
          <p:cNvSpPr txBox="1"/>
          <p:nvPr/>
        </p:nvSpPr>
        <p:spPr>
          <a:xfrm>
            <a:off x="4176983" y="5732890"/>
            <a:ext cx="476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Go-Back-N Explanation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25124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3</a:t>
            </a:r>
            <a:r>
              <a:rPr lang="zh-CN" altLang="en-US" b="1" dirty="0"/>
              <a:t> </a:t>
            </a:r>
            <a:r>
              <a:rPr lang="en-US" altLang="zh-CN" b="1" dirty="0"/>
              <a:t>Go-Back-N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2400" dirty="0"/>
              <a:t>W</a:t>
            </a:r>
            <a:r>
              <a:rPr lang="en-US" altLang="zh-CN" dirty="0"/>
              <a:t>ith the Go-Back-N (GBN) protocol, Is it possible for the sender to receive an ACK for a packet that falls outside of its current window? Why? </a:t>
            </a:r>
            <a:endParaRPr lang="en-US" altLang="zh-C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01296" y="3124306"/>
            <a:ext cx="92608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True </a:t>
            </a:r>
            <a:br>
              <a:rPr lang="en-US" altLang="zh-CN" sz="2000" dirty="0">
                <a:solidFill>
                  <a:srgbClr val="FF0000"/>
                </a:solidFill>
              </a:rPr>
            </a:br>
            <a:r>
              <a:rPr lang="en-US" altLang="zh-CN" sz="2000" dirty="0">
                <a:solidFill>
                  <a:srgbClr val="FF0000"/>
                </a:solidFill>
              </a:rPr>
              <a:t>(for the same reason)</a:t>
            </a:r>
            <a:r>
              <a:rPr lang="en-US" altLang="zh-CN" sz="2000" dirty="0">
                <a:hlinkClick r:id="rId3"/>
              </a:rPr>
              <a:t> 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7839E7-7C4F-0E69-5FE2-EB4A6825384C}"/>
              </a:ext>
            </a:extLst>
          </p:cNvPr>
          <p:cNvSpPr txBox="1"/>
          <p:nvPr/>
        </p:nvSpPr>
        <p:spPr>
          <a:xfrm>
            <a:off x="879844" y="6410906"/>
            <a:ext cx="60953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hlinkClick r:id="rId3"/>
              </a:rPr>
              <a:t>Go-Back-N ARQ - </a:t>
            </a:r>
            <a:r>
              <a:rPr lang="en-US" altLang="zh-CN" sz="1800" dirty="0" err="1">
                <a:hlinkClick r:id="rId3"/>
              </a:rPr>
              <a:t>javatpoint</a:t>
            </a:r>
            <a:endParaRPr lang="en-US" altLang="zh-CN" sz="1800" dirty="0">
              <a:solidFill>
                <a:srgbClr val="FF0000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FF740F8-1273-3A20-61A5-0F9970569A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487" y="2959999"/>
            <a:ext cx="5319871" cy="2705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36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Q4</a:t>
            </a:r>
            <a:r>
              <a:rPr lang="zh-CN" altLang="en-US" b="1" dirty="0"/>
              <a:t> </a:t>
            </a:r>
            <a:r>
              <a:rPr lang="en-US" altLang="zh-CN" b="1" dirty="0"/>
              <a:t>Sliding</a:t>
            </a:r>
            <a:r>
              <a:rPr lang="zh-CN" altLang="en-US" b="1" dirty="0"/>
              <a:t> </a:t>
            </a:r>
            <a:r>
              <a:rPr lang="en-US" altLang="zh-CN" b="1" dirty="0"/>
              <a:t>Window</a:t>
            </a:r>
            <a:r>
              <a:rPr lang="zh-CN" altLang="en-US" b="1" dirty="0"/>
              <a:t> </a:t>
            </a:r>
            <a:r>
              <a:rPr lang="en-US" altLang="zh-CN" b="1" dirty="0"/>
              <a:t>Protocols</a:t>
            </a:r>
            <a:r>
              <a:rPr lang="zh-CN" altLang="en-US" b="1" dirty="0"/>
              <a:t> </a:t>
            </a:r>
            <a:r>
              <a:rPr lang="en-US" altLang="zh-CN" b="1" dirty="0"/>
              <a:t>(1)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3525"/>
            <a:ext cx="10230016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/>
              <a:t>Consider the sliding window protocol in the following figure. Does this figure indicate that GBN is being used, SR is being used, or there is not enough information to tell? </a:t>
            </a:r>
            <a:endParaRPr lang="en-US" altLang="zh-C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6451600" y="3154659"/>
            <a:ext cx="3860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There is not enough information to tell, since both GBN and SR will individually ACK each of the first two messages as they are received correctly. </a:t>
            </a:r>
            <a:endParaRPr lang="en-US" altLang="zh-CN" sz="2800" dirty="0">
              <a:solidFill>
                <a:srgbClr val="FF0000"/>
              </a:solidFill>
              <a:effectLst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DCC79F-796B-5F4C-9F76-33E56F4CF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2997200"/>
            <a:ext cx="3848100" cy="299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7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Q4</a:t>
            </a:r>
            <a:r>
              <a:rPr lang="zh-CN" altLang="en-US" b="1" dirty="0"/>
              <a:t> </a:t>
            </a:r>
            <a:r>
              <a:rPr lang="en-US" altLang="zh-CN" b="1" dirty="0"/>
              <a:t>Sliding</a:t>
            </a:r>
            <a:r>
              <a:rPr lang="zh-CN" altLang="en-US" b="1" dirty="0"/>
              <a:t> </a:t>
            </a:r>
            <a:r>
              <a:rPr lang="en-US" altLang="zh-CN" b="1" dirty="0"/>
              <a:t>Window</a:t>
            </a:r>
            <a:r>
              <a:rPr lang="zh-CN" altLang="en-US" b="1" dirty="0"/>
              <a:t> </a:t>
            </a:r>
            <a:r>
              <a:rPr lang="en-US" altLang="zh-CN" b="1" dirty="0"/>
              <a:t>Protocols</a:t>
            </a:r>
            <a:r>
              <a:rPr lang="zh-CN" altLang="en-US" b="1" dirty="0"/>
              <a:t> </a:t>
            </a:r>
            <a:r>
              <a:rPr lang="en-US" altLang="zh-CN" b="1" dirty="0"/>
              <a:t>(1)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3525"/>
            <a:ext cx="10230016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/>
              <a:t>Consider the sliding window protocol in the following figure. Does this figure indicate that GBN is being used, SR is being used, or there is not enough information to tell? </a:t>
            </a:r>
            <a:endParaRPr lang="en-US" altLang="zh-CN" sz="24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DCC79F-796B-5F4C-9F76-33E56F4CF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328" y="2949492"/>
            <a:ext cx="4311760" cy="299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635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/>
              <a:t>– Q4</a:t>
            </a:r>
            <a:r>
              <a:rPr lang="zh-CN" altLang="en-US" b="1"/>
              <a:t> </a:t>
            </a:r>
            <a:r>
              <a:rPr lang="en-US" altLang="zh-CN" b="1" dirty="0"/>
              <a:t>Sliding</a:t>
            </a:r>
            <a:r>
              <a:rPr lang="zh-CN" altLang="en-US" b="1" dirty="0"/>
              <a:t> </a:t>
            </a:r>
            <a:r>
              <a:rPr lang="en-US" altLang="zh-CN" b="1" dirty="0"/>
              <a:t>Window</a:t>
            </a:r>
            <a:r>
              <a:rPr lang="zh-CN" altLang="en-US" b="1" dirty="0"/>
              <a:t> </a:t>
            </a:r>
            <a:r>
              <a:rPr lang="en-US" altLang="zh-CN" b="1" dirty="0"/>
              <a:t>Protocols</a:t>
            </a:r>
            <a:r>
              <a:rPr lang="zh-CN" altLang="en-US" b="1" dirty="0"/>
              <a:t> </a:t>
            </a:r>
            <a:r>
              <a:rPr lang="en-US" altLang="zh-CN" b="1" dirty="0"/>
              <a:t>(2)</a:t>
            </a:r>
            <a:endParaRPr lang="en-US" b="1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75D33A9-F459-464D-A210-139AE1460B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9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the sliding window protocol in the following figure. Does this figure indicate that GBN is being used, SR is being used, or there is not enough information to tell? </a:t>
            </a:r>
            <a:endParaRPr lang="zh-CN" altLang="zh-CN" sz="18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zh-CN" altLang="en-US" sz="24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2EFD80E-1B4E-4546-B536-9CB84609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264" y="2842718"/>
            <a:ext cx="4313472" cy="3352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8313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/>
              <a:t>– Q4</a:t>
            </a:r>
            <a:r>
              <a:rPr lang="zh-CN" altLang="en-US" b="1"/>
              <a:t> </a:t>
            </a:r>
            <a:r>
              <a:rPr lang="en-US" altLang="zh-CN" b="1" dirty="0"/>
              <a:t>Sliding</a:t>
            </a:r>
            <a:r>
              <a:rPr lang="zh-CN" altLang="en-US" b="1" dirty="0"/>
              <a:t> </a:t>
            </a:r>
            <a:r>
              <a:rPr lang="en-US" altLang="zh-CN" b="1" dirty="0"/>
              <a:t>Window</a:t>
            </a:r>
            <a:r>
              <a:rPr lang="zh-CN" altLang="en-US" b="1" dirty="0"/>
              <a:t> </a:t>
            </a:r>
            <a:r>
              <a:rPr lang="en-US" altLang="zh-CN" b="1" dirty="0"/>
              <a:t>Protocols</a:t>
            </a:r>
            <a:r>
              <a:rPr lang="zh-CN" altLang="en-US" b="1" dirty="0"/>
              <a:t> </a:t>
            </a:r>
            <a:r>
              <a:rPr lang="en-US" altLang="zh-CN" b="1" dirty="0"/>
              <a:t>(2)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6324600" y="2959543"/>
            <a:ext cx="462434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</a:rPr>
              <a:t>This must be the SR protocol since pkt3 is </a:t>
            </a:r>
            <a:r>
              <a:rPr lang="en-US" altLang="zh-CN" sz="2000" b="1" dirty="0" err="1">
                <a:solidFill>
                  <a:srgbClr val="FF0000"/>
                </a:solidFill>
              </a:rPr>
              <a:t>acked</a:t>
            </a:r>
            <a:r>
              <a:rPr lang="en-US" altLang="zh-CN" sz="2000" b="1" dirty="0">
                <a:solidFill>
                  <a:srgbClr val="FF0000"/>
                </a:solidFill>
              </a:rPr>
              <a:t> even though pkt2 was lost. </a:t>
            </a:r>
          </a:p>
          <a:p>
            <a:endParaRPr lang="en-US" altLang="zh-CN" sz="2000" b="1" dirty="0">
              <a:solidFill>
                <a:srgbClr val="FF0000"/>
              </a:solidFill>
            </a:endParaRPr>
          </a:p>
          <a:p>
            <a:r>
              <a:rPr lang="en-US" altLang="zh-CN" sz="2000" b="1" dirty="0">
                <a:solidFill>
                  <a:srgbClr val="FF0000"/>
                </a:solidFill>
              </a:rPr>
              <a:t>GBN will discard pkt3 if pkt2 was dropped. </a:t>
            </a:r>
            <a:endParaRPr lang="en-US" altLang="zh-CN" sz="2800" dirty="0">
              <a:solidFill>
                <a:srgbClr val="FF0000"/>
              </a:solidFill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75D33A9-F459-464D-A210-139AE1460B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9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the sliding window protocol in the following figure. Does this figure indicate that GBN is being used, SR is being used, or there is not enough information to tell? </a:t>
            </a:r>
            <a:endParaRPr lang="zh-CN" altLang="zh-CN" sz="18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zh-CN" altLang="en-US" sz="24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2EFD80E-1B4E-4546-B536-9CB84609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100" y="2959543"/>
            <a:ext cx="4313472" cy="3352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655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8</a:t>
            </a:r>
            <a:r>
              <a:rPr lang="zh-CN" altLang="en-US" b="1" dirty="0"/>
              <a:t> </a:t>
            </a:r>
            <a:r>
              <a:rPr lang="en-US" altLang="zh-CN" b="1" dirty="0"/>
              <a:t>Sliding</a:t>
            </a:r>
            <a:r>
              <a:rPr lang="zh-CN" altLang="en-US" b="1" dirty="0"/>
              <a:t> </a:t>
            </a:r>
            <a:r>
              <a:rPr lang="en-US" altLang="zh-CN" b="1" dirty="0"/>
              <a:t>Window</a:t>
            </a:r>
            <a:r>
              <a:rPr lang="zh-CN" altLang="en-US" b="1" dirty="0"/>
              <a:t> </a:t>
            </a:r>
            <a:r>
              <a:rPr lang="en-US" altLang="zh-CN" b="1" dirty="0"/>
              <a:t>Protocols</a:t>
            </a:r>
            <a:r>
              <a:rPr lang="zh-CN" altLang="en-US" b="1" dirty="0"/>
              <a:t> </a:t>
            </a:r>
            <a:r>
              <a:rPr lang="en-US" altLang="zh-CN" b="1" dirty="0"/>
              <a:t>(3)</a:t>
            </a:r>
            <a:r>
              <a:rPr lang="zh-CN" altLang="en-US" b="1" dirty="0"/>
              <a:t> </a:t>
            </a:r>
            <a:endParaRPr lang="en-US" b="1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9D3873-AA04-874B-B397-5A5F5770B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2356"/>
            <a:ext cx="10515600" cy="12858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the sliding window protocol in the following figure. Suppose the window size = 5 for both sides. Show the positions of windows for the sender and receiver at time = t (no ack has been received). </a:t>
            </a:r>
            <a:endParaRPr lang="zh-CN" altLang="zh-CN" sz="1800" dirty="0">
              <a:latin typeface="Arial" panose="020B0604020202020204" pitchFamily="34" charset="0"/>
            </a:endParaRPr>
          </a:p>
          <a:p>
            <a:endParaRPr lang="zh-CN" altLang="en-US" sz="24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25A2C6B-CEF7-F14E-AB39-42B5EEA47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2985463"/>
            <a:ext cx="4406900" cy="35632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92AA018-DE40-ED4D-AF0E-38D0AC151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672" y="3351027"/>
            <a:ext cx="4359729" cy="1824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81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432260" y="3167390"/>
            <a:ext cx="165192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4</a:t>
            </a:r>
            <a:r>
              <a:rPr lang="zh-CN" altLang="en-US" b="1" dirty="0"/>
              <a:t> </a:t>
            </a:r>
            <a:r>
              <a:rPr lang="en-US" altLang="zh-CN" b="1" dirty="0"/>
              <a:t>(N)ACK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5"/>
            <a:ext cx="100711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a reliable data transfer protocol that uses only negative acknowledgments (NACK). Suppose the sender sends data only</a:t>
            </a:r>
            <a:r>
              <a:rPr lang="zh-CN" altLang="en-US" sz="2400" dirty="0">
                <a:latin typeface="Arial" panose="020B0604020202020204" pitchFamily="34" charset="0"/>
                <a:ea typeface="GillSans" panose="020B0502020104020203" pitchFamily="34" charset="-79"/>
              </a:rPr>
              <a:t> </a:t>
            </a:r>
            <a:r>
              <a:rPr lang="zh-CN" altLang="zh-CN" sz="2400" b="1" dirty="0">
                <a:latin typeface="Arial" panose="020B0604020202020204" pitchFamily="34" charset="0"/>
                <a:ea typeface="GillSans" panose="020B0502020104020203" pitchFamily="34" charset="-79"/>
              </a:rPr>
              <a:t>infrequently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.</a:t>
            </a:r>
            <a:r>
              <a:rPr lang="zh-CN" altLang="en-US" sz="2400" dirty="0">
                <a:latin typeface="Arial" panose="020B0604020202020204" pitchFamily="34" charset="0"/>
                <a:ea typeface="GillSans" panose="020B0502020104020203" pitchFamily="34" charset="-79"/>
              </a:rPr>
              <a:t>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Would a NACK-only protocol be preferable to a protocol that uses ACKs? Why? </a:t>
            </a:r>
            <a:endParaRPr lang="zh-CN" altLang="zh-CN" sz="1600" dirty="0">
              <a:latin typeface="Arial" panose="020B0604020202020204" pitchFamily="34" charset="0"/>
            </a:endParaRPr>
          </a:p>
          <a:p>
            <a:r>
              <a:rPr lang="en-US" altLang="zh-CN" dirty="0"/>
              <a:t>ACK: send ACK upon packet arrival </a:t>
            </a:r>
            <a:endParaRPr lang="en-US" altLang="zh-CN" sz="2400" dirty="0"/>
          </a:p>
          <a:p>
            <a:r>
              <a:rPr lang="en-US" altLang="zh-CN" dirty="0"/>
              <a:t>NACK: send NACK upon packet loss </a:t>
            </a:r>
            <a:endParaRPr lang="en-US" altLang="zh-CN" sz="24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F45C83-B996-874C-9934-BB323100CCA8}"/>
              </a:ext>
            </a:extLst>
          </p:cNvPr>
          <p:cNvSpPr txBox="1"/>
          <p:nvPr/>
        </p:nvSpPr>
        <p:spPr>
          <a:xfrm>
            <a:off x="838200" y="4488497"/>
            <a:ext cx="100711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2000" b="1" dirty="0">
                <a:solidFill>
                  <a:srgbClr val="B71E1E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No. In a NAK only protocol, the loss of packet x is only detected by the receiver when packet x+1 is received. If there is a long delay between the transmission of x and the transmission of x+1, then it will be a long time until x can be recovered, under a NAK only protocol </a:t>
            </a:r>
            <a:endParaRPr lang="zh-CN" altLang="zh-CN" sz="9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07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– Q</a:t>
            </a:r>
            <a:r>
              <a:rPr lang="en-US" altLang="zh-CN" b="1" dirty="0"/>
              <a:t>5</a:t>
            </a:r>
            <a:r>
              <a:rPr lang="zh-CN" altLang="en-US" b="1" dirty="0"/>
              <a:t> </a:t>
            </a:r>
            <a:r>
              <a:rPr lang="en-US" altLang="zh-CN" b="1" dirty="0"/>
              <a:t>(N)ACK</a:t>
            </a:r>
            <a:endParaRPr lang="en-US" b="1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0EDC20-98DD-BA46-AF7A-3056F37B7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2517775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Now suppose the sender has </a:t>
            </a:r>
            <a:r>
              <a:rPr lang="zh-CN" altLang="zh-CN" sz="2400" b="1" dirty="0">
                <a:latin typeface="Arial" panose="020B0604020202020204" pitchFamily="34" charset="0"/>
                <a:ea typeface="GillSans" panose="020B0502020104020203" pitchFamily="34" charset="-79"/>
              </a:rPr>
              <a:t>a lot of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data to send and the end-to-end connection experiences few losses. In this second case, would a NACK-only protocol be preferable to a protocol that uses ACKs? Why? (Assuming ACK/NACK is never lost) </a:t>
            </a:r>
            <a:endParaRPr lang="en-US" altLang="zh-CN" sz="2400" dirty="0">
              <a:latin typeface="Arial" panose="020B0604020202020204" pitchFamily="34" charset="0"/>
              <a:ea typeface="GillSans" panose="020B0502020104020203" pitchFamily="34" charset="-79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en-US" sz="2400" dirty="0">
                <a:latin typeface="Arial" panose="020B0604020202020204" pitchFamily="34" charset="0"/>
                <a:ea typeface="GillSans" panose="020B0502020104020203" pitchFamily="34" charset="-79"/>
              </a:rPr>
              <a:t>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ACK: send ACK upon packet arrival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en-US" sz="2400" dirty="0">
                <a:latin typeface="Arial" panose="020B0604020202020204" pitchFamily="34" charset="0"/>
                <a:ea typeface="GillSans" panose="020B0502020104020203" pitchFamily="34" charset="-79"/>
              </a:rPr>
              <a:t>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NACK: send NACK upon packet loss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zh-CN" altLang="zh-CN" sz="1800" dirty="0"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26F908B-914F-004A-9D1F-3306C8569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28103B9-27EC-3348-9F0B-6171CD320AA2}"/>
              </a:ext>
            </a:extLst>
          </p:cNvPr>
          <p:cNvSpPr txBox="1"/>
          <p:nvPr/>
        </p:nvSpPr>
        <p:spPr>
          <a:xfrm>
            <a:off x="838200" y="4579937"/>
            <a:ext cx="91821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2000" b="1" dirty="0">
                <a:solidFill>
                  <a:srgbClr val="B71E1E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Yes. If data is being sent often, then recovery under a NAK</a:t>
            </a:r>
            <a:r>
              <a:rPr lang="en-US" altLang="zh-CN" sz="2000" b="1">
                <a:solidFill>
                  <a:srgbClr val="B71E1E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-</a:t>
            </a:r>
            <a:r>
              <a:rPr lang="zh-CN" altLang="zh-CN" sz="2000" b="1">
                <a:solidFill>
                  <a:srgbClr val="B71E1E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only </a:t>
            </a:r>
            <a:r>
              <a:rPr lang="zh-CN" altLang="zh-CN" sz="2000" b="1" dirty="0">
                <a:solidFill>
                  <a:srgbClr val="B71E1E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scheme could happen quickly. Moreover, if errors are infrequent, then NAKs are only occasionally sent (when needed). </a:t>
            </a:r>
            <a:endParaRPr lang="zh-CN" altLang="zh-CN" sz="9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266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3543</TotalTime>
  <Words>1613</Words>
  <Application>Microsoft Macintosh PowerPoint</Application>
  <PresentationFormat>宽屏</PresentationFormat>
  <Paragraphs>148</Paragraphs>
  <Slides>27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2" baseType="lpstr">
      <vt:lpstr>等线</vt:lpstr>
      <vt:lpstr>Arial</vt:lpstr>
      <vt:lpstr>Calibri</vt:lpstr>
      <vt:lpstr>Calibri Light</vt:lpstr>
      <vt:lpstr>Office Theme</vt:lpstr>
      <vt:lpstr>CSCI 4430 – Spring 25</vt:lpstr>
      <vt:lpstr>Assignment 2 </vt:lpstr>
      <vt:lpstr>Video Streaming</vt:lpstr>
      <vt:lpstr>Exercise - Q1 HTTP Streaming</vt:lpstr>
      <vt:lpstr>Exercise - Q1 HTTP Streaming</vt:lpstr>
      <vt:lpstr>Exercise - Q1 HTTP Streaming</vt:lpstr>
      <vt:lpstr>Exercise - Q1 HTTP Streaming</vt:lpstr>
      <vt:lpstr>Exercise - Q1 HTTP Streaming</vt:lpstr>
      <vt:lpstr>Exercise - Q1 HTTP Streaming</vt:lpstr>
      <vt:lpstr>Reliable Transport</vt:lpstr>
      <vt:lpstr>Review: Reliable Transport</vt:lpstr>
      <vt:lpstr>Review: Reliable Transport</vt:lpstr>
      <vt:lpstr>Review: Sliding Window</vt:lpstr>
      <vt:lpstr>Review: Sliding Window</vt:lpstr>
      <vt:lpstr>Go-Back-N vs. Selective Repeat</vt:lpstr>
      <vt:lpstr>Exercise – Q2 Selective Repeat</vt:lpstr>
      <vt:lpstr>Exercise – Q2 Selective Repeat</vt:lpstr>
      <vt:lpstr>Exercise – Q3 Go-Back-N</vt:lpstr>
      <vt:lpstr>Exercise – Q3 Go-Back-N</vt:lpstr>
      <vt:lpstr>Exercise – Q4 Sliding Window Protocols (1)</vt:lpstr>
      <vt:lpstr>Exercise – Q4 Sliding Window Protocols (1)</vt:lpstr>
      <vt:lpstr>Exercise – Q4 Sliding Window Protocols (2)</vt:lpstr>
      <vt:lpstr>Exercise – Q4 Sliding Window Protocols (2)</vt:lpstr>
      <vt:lpstr>Exercise – Q8 Sliding Window Protocols (3) </vt:lpstr>
      <vt:lpstr>PowerPoint 演示文稿</vt:lpstr>
      <vt:lpstr>Exercise – Q4 (N)ACK</vt:lpstr>
      <vt:lpstr>Exercise – Q5 (N)ACK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YANG, Yitao</cp:lastModifiedBy>
  <cp:revision>218</cp:revision>
  <dcterms:created xsi:type="dcterms:W3CDTF">2022-01-09T08:27:06Z</dcterms:created>
  <dcterms:modified xsi:type="dcterms:W3CDTF">2025-02-12T05:21:40Z</dcterms:modified>
</cp:coreProperties>
</file>
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85" r:id="rId4"/>
    <p:sldId id="294" r:id="rId5"/>
    <p:sldId id="281" r:id="rId6"/>
    <p:sldId id="286" r:id="rId7"/>
    <p:sldId id="287" r:id="rId8"/>
    <p:sldId id="288" r:id="rId9"/>
    <p:sldId id="290" r:id="rId10"/>
    <p:sldId id="293" r:id="rId11"/>
    <p:sldId id="272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1207"/>
  </p:normalViewPr>
  <p:slideViewPr>
    <p:cSldViewPr snapToGrid="0">
      <p:cViewPr varScale="1">
        <p:scale>
          <a:sx n="124" d="100"/>
          <a:sy n="124" d="100"/>
        </p:scale>
        <p:origin x="22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B43BD0-E404-A16A-33B8-2CEADDE73D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89F2310-3F99-16E9-DDC4-C544FF4649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E73EF6-F208-9162-20D0-EF97F9CC01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3800820-D3BE-9DF1-2E96-772E4DF81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133DF8F-2629-C99B-A529-AC633DFF6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7242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D37E6FE-7113-5D8A-89FB-E6BD934F6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21C857-B8E9-5C38-AC16-9477CDBEBC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54C1838-8FA0-CADF-4149-6FD52912F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35BA4EC-E876-6917-0EA5-945B55F12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5483CC-15AE-419E-5825-AC1D90249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72184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7499B44-9063-8025-8F32-AFA815A1F9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05FDC2-FCF2-B437-6284-370EDE5DCB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F922484-E066-327B-AB31-9DC5D21A6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85B2B64-F253-2A69-CA51-22DA64304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E75168-18B1-EA6A-15CF-14DAC0F30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732104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2B4857-56E6-66BC-F109-1ABA199D46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C94CA1-01DA-22BB-EE6A-C84FE7366D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E6EE35AB-B337-BEF1-A84A-24AED157AF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2962B81-4689-0942-E054-94DFAB89C3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78C135-B7BB-8E12-26B7-CDDD204CB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0D2E43-306A-E0C2-0F07-06023516A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8223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8299AF-BB00-31BE-663D-9C01EE818C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AFCA6B-FA77-0065-D898-41B607F095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1E922279-5707-CF95-A9F0-EDD4BAD34B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8D1630B-880C-FE04-C500-4C72168DA0D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3352AF3-0D49-FA30-CF47-78A8C02128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3437124-EA58-B8ED-F7DB-F33E551B2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F47550C2-FA05-9E02-6A42-ED7F83A13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A30FEC9-F961-E43B-F4ED-1E8D4C026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33514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2FCBDF-B6D2-DF24-87A1-D3127417B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6DBDBB8-AE05-5E43-00EE-89D0A53AAC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F9B0DA6-425A-BCD2-D889-0F5340003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B386C96-C3CE-1942-926C-755F13A44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3295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04389A04-1AE0-52A5-F744-C549AACD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E4C4599B-5AB9-D90C-BC6C-98262C277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30765A7-4634-C0EB-3426-C18B3B248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472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1121096-DBFB-A0DF-BD16-CB8C0B63F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FE4099B-395A-0A08-2E08-F7EFCD7E8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6BE8EB-4859-D63E-C7AF-D8F59660DA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2F5FEC4-6EBB-3894-3755-BABB67CEB7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74FD242-CD2D-7465-C417-C5E9F8EEF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9EB0F49-4320-BB46-8EBA-18F5125AAD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51198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31C172C-0869-9F25-FFC7-66F1CF494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AA625A8-BD9A-A159-CAA7-C95ABD479AA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AA3A3D6-D107-4BFE-63E0-19BC02650E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62E0338-25BC-FD88-172F-D7525F2B2B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8BAC519-8DAE-73F9-9CED-A6F2F4093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2EAC693-93E9-B49E-4D9E-5DFECF8DDF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94182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5B6E3CB-195E-7202-7DF4-E0871A66B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9375E20-162D-3D86-5553-1855B6E7B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02E264-7B61-7327-FF46-7CFAC5CD5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BF0BFC-00EF-7D6E-3425-28B949AB1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432D411-F927-3B3A-D5AE-9D16A4C25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911790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F69D3A5-E6CF-C193-990C-E06C83545D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66278FC-92EF-4E3C-81E8-3A65F49DA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3F1668A-1D69-3690-94AD-623975615A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1592DFB-763F-3D1C-BD26-D74C339C4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84567F6-DDD9-D786-D36A-027DD5A3D6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868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120EA6C-481E-B83F-C158-62AB029742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81E4D31-E687-B255-737C-ECD2DAD19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A3DB9D-C5E9-0748-DD55-C7C3E3A7F7D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55BCCB-63DF-4C10-BABD-690A1C60C87A}" type="datetimeFigureOut">
              <a:rPr lang="zh-CN" altLang="en-US" smtClean="0"/>
              <a:t>2025/2/25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2168422-DAAA-A106-CCDB-F73A28B4779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FE080E-3442-20C7-765D-B6660D94C4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FB363-B629-435D-BBC2-26C3E701E3D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5005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55C1B-43BC-8B40-A7BE-D3C3F3D8A4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705674"/>
            <a:ext cx="9144000" cy="2387600"/>
          </a:xfrm>
        </p:spPr>
        <p:txBody>
          <a:bodyPr>
            <a:normAutofit/>
          </a:bodyPr>
          <a:lstStyle/>
          <a:p>
            <a:r>
              <a:rPr lang="en-US" sz="6600" b="1" dirty="0"/>
              <a:t>CSCI 4430 - Spring 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EAD46B-2981-B54E-B7BD-5B165BCFE3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42817"/>
            <a:ext cx="9144000" cy="1655762"/>
          </a:xfrm>
        </p:spPr>
        <p:txBody>
          <a:bodyPr>
            <a:normAutofit/>
          </a:bodyPr>
          <a:lstStyle/>
          <a:p>
            <a:r>
              <a:rPr lang="en-US" sz="3600" b="1" dirty="0"/>
              <a:t>Tutorial </a:t>
            </a:r>
            <a:r>
              <a:rPr lang="en-US" altLang="zh-CN" sz="3600" b="1" dirty="0"/>
              <a:t>7</a:t>
            </a:r>
            <a:endParaRPr lang="en-US" sz="3600" b="1" dirty="0"/>
          </a:p>
          <a:p>
            <a:endParaRPr lang="en-US" sz="3600" b="1" dirty="0"/>
          </a:p>
          <a:p>
            <a:pPr algn="r"/>
            <a:r>
              <a:rPr lang="en-US" sz="2000" b="1" dirty="0"/>
              <a:t>Credits to </a:t>
            </a:r>
            <a:r>
              <a:rPr lang="en-US" altLang="zh-CN" sz="2000" b="1" i="1" dirty="0"/>
              <a:t>Computer</a:t>
            </a:r>
            <a:r>
              <a:rPr lang="zh-CN" altLang="en-US" sz="2000" b="1" i="1" dirty="0"/>
              <a:t> </a:t>
            </a:r>
            <a:r>
              <a:rPr lang="en-US" altLang="zh-CN" sz="2000" b="1" i="1" dirty="0"/>
              <a:t>Networking</a:t>
            </a:r>
            <a:r>
              <a:rPr lang="zh-CN" altLang="en-US" sz="2000" b="1" i="1" dirty="0"/>
              <a:t> </a:t>
            </a:r>
            <a:r>
              <a:rPr lang="en-US" altLang="zh-CN" sz="2000" b="1" dirty="0"/>
              <a:t>by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Jim</a:t>
            </a:r>
            <a:r>
              <a:rPr lang="zh-CN" altLang="en-US" sz="2000" b="1" dirty="0"/>
              <a:t> </a:t>
            </a:r>
            <a:r>
              <a:rPr lang="en-US" altLang="zh-CN" sz="2000" b="1" dirty="0"/>
              <a:t>Kurose</a:t>
            </a:r>
            <a:endParaRPr lang="en-US" sz="3200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90C243-66EE-9844-B6C9-297837E8D7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19BED88-AA1D-3144-ABB6-9C775BCC27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1270000"/>
            <a:ext cx="63500" cy="7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19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Assignment </a:t>
            </a:r>
            <a:r>
              <a:rPr lang="en-US" altLang="zh-CN" b="1" dirty="0"/>
              <a:t>2</a:t>
            </a:r>
            <a:r>
              <a:rPr lang="en-US" b="1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Due: Sun</a:t>
            </a:r>
            <a:r>
              <a:rPr lang="en-US" altLang="zh-CN" dirty="0">
                <a:solidFill>
                  <a:srgbClr val="FF0000"/>
                </a:solidFill>
              </a:rPr>
              <a:t>,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9</a:t>
            </a:r>
            <a:r>
              <a:rPr lang="en-US" altLang="zh-CN" baseline="30000" dirty="0">
                <a:solidFill>
                  <a:srgbClr val="FF0000"/>
                </a:solidFill>
              </a:rPr>
              <a:t>th</a:t>
            </a:r>
            <a:r>
              <a:rPr lang="en-US" altLang="zh-CN" dirty="0">
                <a:solidFill>
                  <a:srgbClr val="FF0000"/>
                </a:solidFill>
              </a:rPr>
              <a:t> March.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11:59:59</a:t>
            </a:r>
            <a:r>
              <a:rPr lang="zh-CN" altLang="en-US" dirty="0">
                <a:solidFill>
                  <a:srgbClr val="FF0000"/>
                </a:solidFill>
              </a:rPr>
              <a:t> </a:t>
            </a:r>
            <a:r>
              <a:rPr lang="en-US" altLang="zh-CN" dirty="0">
                <a:solidFill>
                  <a:srgbClr val="FF0000"/>
                </a:solidFill>
              </a:rPr>
              <a:t>p.m.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EB84CE60-32E9-A04D-9F48-033E43846BE3}"/>
              </a:ext>
            </a:extLst>
          </p:cNvPr>
          <p:cNvSpPr txBox="1"/>
          <p:nvPr/>
        </p:nvSpPr>
        <p:spPr>
          <a:xfrm>
            <a:off x="1746250" y="3124200"/>
            <a:ext cx="83693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7200" dirty="0"/>
              <a:t>Start</a:t>
            </a:r>
            <a:r>
              <a:rPr kumimoji="1" lang="zh-CN" altLang="en-US" sz="7200" dirty="0"/>
              <a:t> </a:t>
            </a:r>
            <a:r>
              <a:rPr kumimoji="1" lang="en-US" altLang="zh-CN" sz="7200" dirty="0"/>
              <a:t>early!</a:t>
            </a:r>
            <a:endParaRPr kumimoji="1" lang="zh-CN" altLang="en-US" sz="7200" dirty="0"/>
          </a:p>
        </p:txBody>
      </p:sp>
    </p:spTree>
    <p:extLst>
      <p:ext uri="{BB962C8B-B14F-4D97-AF65-F5344CB8AC3E}">
        <p14:creationId xmlns:p14="http://schemas.microsoft.com/office/powerpoint/2010/main" val="1947847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TCP:</a:t>
            </a:r>
            <a:r>
              <a:rPr lang="zh-CN" altLang="en-US" b="1" dirty="0"/>
              <a:t> </a:t>
            </a:r>
            <a:r>
              <a:rPr lang="en-US" altLang="zh-CN" b="1" dirty="0"/>
              <a:t>Transmission</a:t>
            </a:r>
            <a:r>
              <a:rPr lang="zh-CN" altLang="en-US" b="1" dirty="0"/>
              <a:t> </a:t>
            </a:r>
            <a:r>
              <a:rPr lang="en-US" altLang="zh-CN" b="1" dirty="0"/>
              <a:t>Control</a:t>
            </a:r>
            <a:r>
              <a:rPr lang="zh-CN" altLang="en-US" b="1" dirty="0"/>
              <a:t> </a:t>
            </a:r>
            <a:r>
              <a:rPr lang="en-US" altLang="zh-CN" b="1" dirty="0"/>
              <a:t>Protocol</a:t>
            </a:r>
            <a:endParaRPr lang="en-US" b="1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025" name="Picture 1" descr="page5image579262464">
            <a:extLst>
              <a:ext uri="{FF2B5EF4-FFF2-40B4-BE49-F238E27FC236}">
                <a16:creationId xmlns:a16="http://schemas.microsoft.com/office/drawing/2014/main" id="{1677E1CE-E8D5-A041-9D3A-D0EEC22D31A9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4321" y="1219200"/>
            <a:ext cx="7423357" cy="4945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82883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File</a:t>
            </a:r>
            <a:r>
              <a:rPr lang="zh-CN" altLang="en-US" b="1" dirty="0"/>
              <a:t> </a:t>
            </a:r>
            <a:r>
              <a:rPr lang="en-US" altLang="zh-CN" b="1" dirty="0"/>
              <a:t>Transfer</a:t>
            </a:r>
            <a:r>
              <a:rPr lang="zh-CN" altLang="en-US" b="1" dirty="0"/>
              <a:t> 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Consider transferring an enormous file of </a:t>
            </a:r>
            <a:r>
              <a:rPr lang="zh-CN" altLang="zh-CN" sz="2400" b="1" i="1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L</a:t>
            </a:r>
            <a:r>
              <a:rPr lang="zh-CN" altLang="zh-CN" sz="2400" b="1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bytes from host A to host B.</a:t>
            </a:r>
            <a:b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</a:b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What is the maximum value of </a:t>
            </a:r>
            <a:r>
              <a:rPr lang="zh-CN" altLang="zh-CN" sz="2400" b="1" i="1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L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such that we don’t run out of TCP sequence numbers? </a:t>
            </a:r>
            <a:endParaRPr lang="zh-CN" altLang="zh-CN" sz="9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  <a:cs typeface="Arial" panose="020B0604020202020204" pitchFamily="34" charset="0"/>
              </a:rPr>
              <a:t>- Note:TCP sequence number is 4 bytes in the header </a:t>
            </a:r>
            <a:endParaRPr lang="zh-CN" altLang="zh-C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3272AB98-FEB9-BA41-8381-4271E43F2E34}"/>
              </a:ext>
            </a:extLst>
          </p:cNvPr>
          <p:cNvSpPr txBox="1"/>
          <p:nvPr/>
        </p:nvSpPr>
        <p:spPr>
          <a:xfrm>
            <a:off x="1333500" y="2873276"/>
            <a:ext cx="40259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2^32</a:t>
            </a:r>
            <a:r>
              <a:rPr lang="zh-CN" altLang="en-US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Bytes</a:t>
            </a: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3463686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Given </a:t>
            </a:r>
            <a:r>
              <a:rPr lang="en-US" altLang="zh-CN" sz="2400" b="1" i="1" dirty="0">
                <a:latin typeface="Calibri" panose="020F0502020204030204" pitchFamily="34" charset="0"/>
                <a:cs typeface="Calibri" panose="020F0502020204030204" pitchFamily="34" charset="0"/>
              </a:rPr>
              <a:t>L</a:t>
            </a:r>
            <a:r>
              <a:rPr lang="en-US" altLang="zh-CN" sz="2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= 2^32 bytes, find how long it takes to transmit the file. Assume: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MSS (max segment size) = 1460 Bytes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MTU (max transmission unit) = 1500 Bytes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128 </a:t>
            </a:r>
            <a:r>
              <a:rPr lang="en-US" altLang="zh-CN" sz="2400" dirty="0" err="1">
                <a:latin typeface="Calibri" panose="020F0502020204030204" pitchFamily="34" charset="0"/>
                <a:cs typeface="Calibri" panose="020F0502020204030204" pitchFamily="34" charset="0"/>
              </a:rPr>
              <a:t>Mbps</a:t>
            </a:r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 link from A to B </a:t>
            </a:r>
          </a:p>
          <a:p>
            <a:r>
              <a:rPr lang="en-US" altLang="zh-CN" sz="2400" dirty="0">
                <a:latin typeface="Calibri" panose="020F0502020204030204" pitchFamily="34" charset="0"/>
                <a:cs typeface="Calibri" panose="020F0502020204030204" pitchFamily="34" charset="0"/>
              </a:rPr>
              <a:t>-  Ignore flow and congestion control, assume A sends as fast as possible contiguously. </a:t>
            </a:r>
          </a:p>
          <a:p>
            <a:endParaRPr kumimoji="1" lang="zh-CN" altLang="en-US" sz="2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AE19F061-4194-2D4E-BB91-A3AA7D72FCD5}"/>
              </a:ext>
            </a:extLst>
          </p:cNvPr>
          <p:cNvSpPr txBox="1"/>
          <p:nvPr/>
        </p:nvSpPr>
        <p:spPr>
          <a:xfrm>
            <a:off x="1181100" y="5389004"/>
            <a:ext cx="6946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(2^32 / 1460 * 1500) / (128 *10^6 / 8) = 276 s </a:t>
            </a:r>
          </a:p>
          <a:p>
            <a:r>
              <a:rPr lang="en-US" altLang="zh-CN" sz="24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amount of data / bandwidth </a:t>
            </a:r>
            <a:endParaRPr lang="en-US" altLang="zh-CN" sz="3200" dirty="0">
              <a:solidFill>
                <a:srgbClr val="FF0000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29213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7" grpId="0"/>
      <p:bldP spid="18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b="1" dirty="0"/>
              <a:t>Q2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Segment</a:t>
            </a:r>
            <a:r>
              <a:rPr lang="zh-CN" altLang="en-US" b="1" dirty="0"/>
              <a:t> </a:t>
            </a:r>
            <a:r>
              <a:rPr lang="en-US" altLang="zh-CN" b="1" dirty="0"/>
              <a:t>Metadata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2377"/>
            <a:ext cx="10515600" cy="2181224"/>
          </a:xfrm>
          <a:ln w="31750"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Host A (sender) and B (receiver) are communicating over a TCP connection. Assume the following events happen in order: </a:t>
            </a:r>
            <a:endParaRPr lang="zh-CN" altLang="zh-CN" sz="105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B has received the first 127 bytes of the flow from A, this consumes seq num 0-126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A then sends two segments, S1 (80 bytes of data), S2 (40 bytes of data)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S1 has sequence num 127, source port 30302, destination port 80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000" dirty="0">
                <a:latin typeface="Arial" panose="020B0604020202020204" pitchFamily="34" charset="0"/>
                <a:ea typeface="GillSans" panose="020B0502020104020203" pitchFamily="34" charset="-79"/>
              </a:rPr>
              <a:t>  B sends ACK1 and ACK2 to A when it receives the first / second segment respectively </a:t>
            </a:r>
            <a:endParaRPr lang="zh-CN" altLang="zh-CN" sz="10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18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zh-CN" altLang="zh-CN" sz="2000" dirty="0"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90AF7EF-3AB5-8043-BA72-F8A7FA4BA3CE}"/>
              </a:ext>
            </a:extLst>
          </p:cNvPr>
          <p:cNvSpPr txBox="1"/>
          <p:nvPr/>
        </p:nvSpPr>
        <p:spPr>
          <a:xfrm>
            <a:off x="838200" y="3570270"/>
            <a:ext cx="91694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2000" b="1" dirty="0">
                <a:latin typeface="Arial" panose="020B0604020202020204" pitchFamily="34" charset="0"/>
                <a:ea typeface="GillSans" panose="020B0502020104020203" pitchFamily="34" charset="-79"/>
              </a:rPr>
              <a:t>Assume S1 and S2 arrive in order </a:t>
            </a:r>
            <a:endParaRPr lang="zh-CN" altLang="zh-CN" sz="2000" dirty="0">
              <a:latin typeface="Arial" panose="020B0604020202020204" pitchFamily="34" charset="0"/>
            </a:endParaRP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 For S2, what are the sequence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source port and destination port? </a:t>
            </a:r>
          </a:p>
          <a:p>
            <a:r>
              <a:rPr lang="zh-CN" altLang="en-U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lang="en-US" altLang="zh-CN" sz="20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207, Source port: 30302, Destination port: 80 </a:t>
            </a:r>
          </a:p>
          <a:p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Q: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For ACK1, what are the ack </a:t>
            </a:r>
            <a:r>
              <a:rPr lang="en-US" altLang="zh-CN" sz="2000" dirty="0" err="1"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, source port and destination port? </a:t>
            </a:r>
          </a:p>
          <a:p>
            <a:r>
              <a:rPr lang="zh-CN" altLang="en-US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     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 </a:t>
            </a:r>
            <a:r>
              <a:rPr lang="en-US" altLang="zh-CN" sz="2000" dirty="0" err="1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num</a:t>
            </a:r>
            <a:r>
              <a:rPr lang="en-US" altLang="zh-CN" sz="20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: 207, Source port: 80, Destination port: 30302 </a:t>
            </a:r>
          </a:p>
          <a:p>
            <a:endParaRPr lang="en-US" altLang="zh-CN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641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altLang="zh-CN" b="1" dirty="0"/>
              <a:t>Q3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Segment</a:t>
            </a:r>
            <a:r>
              <a:rPr lang="zh-CN" altLang="en-US" b="1" dirty="0"/>
              <a:t> </a:t>
            </a:r>
            <a:r>
              <a:rPr lang="en-US" altLang="zh-CN" b="1" dirty="0"/>
              <a:t>CWND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2377"/>
            <a:ext cx="10515600" cy="2181224"/>
          </a:xfrm>
          <a:ln w="31750">
            <a:solidFill>
              <a:schemeClr val="tx1"/>
            </a:solidFill>
          </a:ln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Consider sending a large file over a lossless TCP connection Assume: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TCP uses AIMD for congestion control with slow start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ssthres = 16 MSS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Approximately constant RTT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 CWND starts at 1 MSS </a:t>
            </a:r>
            <a:endParaRPr lang="zh-CN" altLang="zh-CN" sz="900" dirty="0"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010B901-E06C-8A4E-AC29-A071B187A7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90AF7EF-3AB5-8043-BA72-F8A7FA4BA3CE}"/>
              </a:ext>
            </a:extLst>
          </p:cNvPr>
          <p:cNvSpPr txBox="1"/>
          <p:nvPr/>
        </p:nvSpPr>
        <p:spPr>
          <a:xfrm>
            <a:off x="838200" y="3794981"/>
            <a:ext cx="102489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Q: </a:t>
            </a:r>
            <a:r>
              <a:rPr lang="zh-CN" altLang="zh-CN" sz="2400" dirty="0">
                <a:latin typeface="Arial" panose="020B0604020202020204" pitchFamily="34" charset="0"/>
              </a:rPr>
              <a:t>How long does it take for CWND to increase </a:t>
            </a:r>
            <a:r>
              <a:rPr lang="zh-CN" altLang="zh-CN" sz="2400" dirty="0">
                <a:latin typeface="Arial" panose="020B0604020202020204" pitchFamily="34" charset="0"/>
                <a:ea typeface="GillSans" panose="020B0502020104020203" pitchFamily="34" charset="-79"/>
              </a:rPr>
              <a:t>from 1 MSS to 20 MSS? </a:t>
            </a:r>
            <a:endParaRPr lang="zh-CN" altLang="zh-CN" sz="900" dirty="0"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zh-CN" altLang="en-US" sz="2400" dirty="0">
                <a:solidFill>
                  <a:srgbClr val="FF0000"/>
                </a:solidFill>
                <a:latin typeface="Arial" panose="020B0604020202020204" pitchFamily="34" charset="0"/>
                <a:ea typeface="GillSans" panose="020B0502020104020203" pitchFamily="34" charset="-79"/>
              </a:rPr>
              <a:t>      </a:t>
            </a:r>
            <a:r>
              <a:rPr lang="zh-CN" altLang="zh-CN" sz="2400" dirty="0">
                <a:solidFill>
                  <a:srgbClr val="FF0000"/>
                </a:solidFill>
                <a:latin typeface="Arial" panose="020B0604020202020204" pitchFamily="34" charset="0"/>
                <a:ea typeface="GillSans" panose="020B0502020104020203" pitchFamily="34" charset="-79"/>
              </a:rPr>
              <a:t>CWND: 1 2 4 8 16 17 18 19 20; 8 RTT </a:t>
            </a:r>
            <a:endParaRPr lang="zh-CN" altLang="zh-CN" sz="1600" dirty="0">
              <a:solidFill>
                <a:srgbClr val="FF0000"/>
              </a:solidFill>
              <a:latin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3361F6D1-8918-B14A-B889-CE8C761EA891}"/>
              </a:ext>
            </a:extLst>
          </p:cNvPr>
          <p:cNvSpPr txBox="1"/>
          <p:nvPr/>
        </p:nvSpPr>
        <p:spPr>
          <a:xfrm>
            <a:off x="838200" y="4756322"/>
            <a:ext cx="1051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</a:rPr>
              <a:t>Q:</a:t>
            </a:r>
            <a:r>
              <a:rPr lang="zh-CN" altLang="en-US" sz="2400" dirty="0">
                <a:latin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</a:rPr>
              <a:t>What is the average throughput (in terms of MSS and RTT) of the above </a:t>
            </a:r>
            <a:r>
              <a:rPr lang="zh-CN" altLang="en-US" sz="2400" dirty="0">
                <a:latin typeface="Arial" panose="020B0604020202020204" pitchFamily="34" charset="0"/>
              </a:rPr>
              <a:t>      </a:t>
            </a:r>
            <a:endParaRPr lang="en-US" altLang="zh-CN" sz="2400" dirty="0">
              <a:latin typeface="Arial" panose="020B0604020202020204" pitchFamily="34" charset="0"/>
            </a:endParaRPr>
          </a:p>
          <a:p>
            <a:r>
              <a:rPr lang="zh-CN" altLang="en-US" sz="2400" dirty="0">
                <a:latin typeface="Arial" panose="020B0604020202020204" pitchFamily="34" charset="0"/>
              </a:rPr>
              <a:t>     </a:t>
            </a:r>
            <a:r>
              <a:rPr lang="en-US" altLang="zh-CN" sz="2400" dirty="0">
                <a:latin typeface="Arial" panose="020B0604020202020204" pitchFamily="34" charset="0"/>
              </a:rPr>
              <a:t>process? </a:t>
            </a:r>
          </a:p>
          <a:p>
            <a:r>
              <a:rPr lang="zh-CN" altLang="en-US" sz="2400" dirty="0">
                <a:solidFill>
                  <a:srgbClr val="FF0000"/>
                </a:solidFill>
                <a:latin typeface="Arial" panose="020B0604020202020204" pitchFamily="34" charset="0"/>
              </a:rPr>
              <a:t>      </a:t>
            </a:r>
            <a:r>
              <a:rPr lang="en-US" altLang="zh-CN" sz="2400" dirty="0">
                <a:solidFill>
                  <a:srgbClr val="FF0000"/>
                </a:solidFill>
                <a:latin typeface="Arial" panose="020B0604020202020204" pitchFamily="34" charset="0"/>
              </a:rPr>
              <a:t>(1+2+4+8+16+17+18+19) / 8 = 85 MSS / 8 RTT </a:t>
            </a:r>
          </a:p>
        </p:txBody>
      </p:sp>
    </p:spTree>
    <p:extLst>
      <p:ext uri="{BB962C8B-B14F-4D97-AF65-F5344CB8AC3E}">
        <p14:creationId xmlns:p14="http://schemas.microsoft.com/office/powerpoint/2010/main" val="986868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Congestion</a:t>
            </a:r>
            <a:r>
              <a:rPr lang="zh-CN" altLang="en-US" b="1" dirty="0"/>
              <a:t> </a:t>
            </a:r>
            <a:r>
              <a:rPr lang="en-US" altLang="zh-CN" b="1" dirty="0"/>
              <a:t>Control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Assuming TCP Reno is the protocol experiencing the behavior shown above, answer the following questions. In all cases, you should provide a short discussion justifying your answer. </a:t>
            </a:r>
            <a:endParaRPr lang="en-US" altLang="zh-CN" sz="18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5609690" y="2999651"/>
            <a:ext cx="574411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1900595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400" dirty="0"/>
              <a:t>1.</a:t>
            </a:r>
            <a:r>
              <a:rPr lang="zh-CN" altLang="en-US" sz="2400" dirty="0"/>
              <a:t> </a:t>
            </a:r>
            <a:r>
              <a:rPr lang="en-US" altLang="zh-CN" sz="2400" dirty="0"/>
              <a:t>Identify the intervals of time when TCP slow start is operating. </a:t>
            </a:r>
          </a:p>
          <a:p>
            <a:pPr marL="0" indent="0">
              <a:buNone/>
            </a:pPr>
            <a:r>
              <a:rPr lang="en-US" altLang="zh-CN" sz="2400" dirty="0"/>
              <a:t>2.</a:t>
            </a:r>
            <a:r>
              <a:rPr lang="zh-CN" altLang="en-US" sz="2400" dirty="0"/>
              <a:t> </a:t>
            </a:r>
            <a:r>
              <a:rPr lang="en-US" altLang="zh-CN" sz="2400" dirty="0"/>
              <a:t>Identify the intervals of time when TCP congestion avoidance is operating. </a:t>
            </a:r>
          </a:p>
        </p:txBody>
      </p:sp>
      <p:pic>
        <p:nvPicPr>
          <p:cNvPr id="1025" name="Picture 1" descr="page340image655428608">
            <a:extLst>
              <a:ext uri="{FF2B5EF4-FFF2-40B4-BE49-F238E27FC236}">
                <a16:creationId xmlns:a16="http://schemas.microsoft.com/office/drawing/2014/main" id="{00529F8E-5F83-AF4F-95D7-6842C66B0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964704"/>
            <a:ext cx="4445000" cy="345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B2F0F3FF-AE4A-F4A7-F52C-54F16BC5861E}"/>
              </a:ext>
            </a:extLst>
          </p:cNvPr>
          <p:cNvSpPr txBox="1"/>
          <p:nvPr/>
        </p:nvSpPr>
        <p:spPr>
          <a:xfrm>
            <a:off x="5717001" y="3090425"/>
            <a:ext cx="225574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[1,6] and [23,26]</a:t>
            </a:r>
          </a:p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[6,16] and [17,22]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7997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9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Congestion</a:t>
            </a:r>
            <a:r>
              <a:rPr lang="zh-CN" altLang="en-US" b="1" dirty="0"/>
              <a:t> </a:t>
            </a:r>
            <a:r>
              <a:rPr lang="en-US" altLang="zh-CN" b="1" dirty="0"/>
              <a:t>Control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Assuming TCP Reno is the protocol experiencing the behavior shown above, answer the following questions. In all cases, you should provide a short discussion justifying your answer. </a:t>
            </a:r>
            <a:endParaRPr lang="en-US" altLang="zh-CN" sz="18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1900595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000" dirty="0"/>
              <a:t>3.</a:t>
            </a:r>
            <a:r>
              <a:rPr lang="zh-CN" altLang="en-US" sz="2000" dirty="0"/>
              <a:t> </a:t>
            </a:r>
            <a:r>
              <a:rPr lang="en-US" altLang="zh-CN" sz="2000" dirty="0"/>
              <a:t>After the 16th transmission round, is segment loss detected by a triple duplicate ACK or by a timeout? </a:t>
            </a:r>
          </a:p>
          <a:p>
            <a:pPr marL="0" indent="0">
              <a:buNone/>
            </a:pPr>
            <a:r>
              <a:rPr lang="en-US" altLang="zh-CN" sz="2000" dirty="0"/>
              <a:t>4.</a:t>
            </a:r>
            <a:r>
              <a:rPr lang="zh-CN" altLang="en-US" sz="2000" dirty="0"/>
              <a:t> </a:t>
            </a:r>
            <a:r>
              <a:rPr lang="en-US" altLang="zh-CN" sz="2000" dirty="0"/>
              <a:t>After the 22nd transmission round, is segment loss detected by a triple duplicate ACK or by a timeout? </a:t>
            </a:r>
          </a:p>
        </p:txBody>
      </p:sp>
      <p:pic>
        <p:nvPicPr>
          <p:cNvPr id="1025" name="Picture 1" descr="page340image655428608">
            <a:extLst>
              <a:ext uri="{FF2B5EF4-FFF2-40B4-BE49-F238E27FC236}">
                <a16:creationId xmlns:a16="http://schemas.microsoft.com/office/drawing/2014/main" id="{00529F8E-5F83-AF4F-95D7-6842C66B0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14063"/>
            <a:ext cx="4445000" cy="345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D4BEA162-AFAC-5630-C08C-1DC2BE83EB68}"/>
              </a:ext>
            </a:extLst>
          </p:cNvPr>
          <p:cNvSpPr txBox="1"/>
          <p:nvPr/>
        </p:nvSpPr>
        <p:spPr>
          <a:xfrm>
            <a:off x="5535728" y="3204429"/>
            <a:ext cx="632256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Duplicate ACK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rgbClr val="FF0000"/>
                </a:solidFill>
              </a:rPr>
              <a:t>Cut the </a:t>
            </a:r>
            <a:r>
              <a:rPr kumimoji="1" lang="en-US" altLang="zh-CN" dirty="0" err="1">
                <a:solidFill>
                  <a:srgbClr val="FF0000"/>
                </a:solidFill>
              </a:rPr>
              <a:t>ssthresh</a:t>
            </a:r>
            <a:r>
              <a:rPr kumimoji="1" lang="en-US" altLang="zh-CN" dirty="0">
                <a:solidFill>
                  <a:srgbClr val="FF0000"/>
                </a:solidFill>
              </a:rPr>
              <a:t> in half and set CWND to </a:t>
            </a:r>
            <a:r>
              <a:rPr kumimoji="1" lang="en-US" altLang="zh-CN" dirty="0" err="1">
                <a:solidFill>
                  <a:srgbClr val="FF0000"/>
                </a:solidFill>
              </a:rPr>
              <a:t>ssthresh</a:t>
            </a:r>
            <a:r>
              <a:rPr kumimoji="1" lang="en-US" altLang="zh-CN" dirty="0">
                <a:solidFill>
                  <a:srgbClr val="FF0000"/>
                </a:solidFill>
              </a:rPr>
              <a:t> + 2</a:t>
            </a:r>
          </a:p>
          <a:p>
            <a:pPr marL="342900" indent="-342900">
              <a:buAutoNum type="arabicPeriod"/>
            </a:pPr>
            <a:r>
              <a:rPr kumimoji="1" lang="en-US" altLang="zh-CN" dirty="0">
                <a:solidFill>
                  <a:srgbClr val="FF0000"/>
                </a:solidFill>
              </a:rPr>
              <a:t>Timeout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kumimoji="1" lang="en-US" altLang="zh-CN" dirty="0">
                <a:solidFill>
                  <a:srgbClr val="FF0000"/>
                </a:solidFill>
              </a:rPr>
              <a:t>Return to slow start</a:t>
            </a:r>
            <a:endParaRPr kumimoji="1" lang="zh-CN" alt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50444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3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C79BA1-37A3-5741-B0A1-E64646E42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206"/>
            <a:ext cx="10515600" cy="1325563"/>
          </a:xfrm>
        </p:spPr>
        <p:txBody>
          <a:bodyPr/>
          <a:lstStyle/>
          <a:p>
            <a:r>
              <a:rPr lang="en-US" altLang="zh-CN" b="1" dirty="0"/>
              <a:t>Q1</a:t>
            </a:r>
            <a:r>
              <a:rPr lang="zh-CN" altLang="en-US" b="1" dirty="0"/>
              <a:t> </a:t>
            </a:r>
            <a:r>
              <a:rPr lang="en-US" altLang="zh-CN" b="1" dirty="0"/>
              <a:t>TCP</a:t>
            </a:r>
            <a:r>
              <a:rPr lang="zh-CN" altLang="en-US" b="1" dirty="0"/>
              <a:t> </a:t>
            </a:r>
            <a:r>
              <a:rPr lang="en-US" altLang="zh-CN" b="1" dirty="0"/>
              <a:t>Congestion</a:t>
            </a:r>
            <a:r>
              <a:rPr lang="zh-CN" altLang="en-US" b="1" dirty="0"/>
              <a:t> </a:t>
            </a:r>
            <a:r>
              <a:rPr lang="en-US" altLang="zh-CN" b="1" dirty="0"/>
              <a:t>Control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20472D-613F-3748-9CBD-88055CDB4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3490"/>
            <a:ext cx="10515600" cy="17965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2000" dirty="0"/>
              <a:t>Assuming TCP Reno is the protocol experiencing the behavior shown above, answer the following questions. In all cases, you should provide a short discussion justifying your answer. </a:t>
            </a:r>
            <a:endParaRPr lang="en-US" altLang="zh-CN" sz="1800" dirty="0">
              <a:effectLst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3A7EC6F6-3A9C-6A4E-9F5B-60AABA1D4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Rectangle 2">
            <a:extLst>
              <a:ext uri="{FF2B5EF4-FFF2-40B4-BE49-F238E27FC236}">
                <a16:creationId xmlns:a16="http://schemas.microsoft.com/office/drawing/2014/main" id="{1EE3D794-DB4E-C14E-A5D2-84852F6CC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zh-CN" altLang="zh-CN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C7F3A056-7FE7-B442-B5F9-555066272DB9}"/>
              </a:ext>
            </a:extLst>
          </p:cNvPr>
          <p:cNvSpPr txBox="1">
            <a:spLocks/>
          </p:cNvSpPr>
          <p:nvPr/>
        </p:nvSpPr>
        <p:spPr>
          <a:xfrm>
            <a:off x="838200" y="3512990"/>
            <a:ext cx="10515600" cy="17965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8DE9AFD5-F739-1940-89F5-7B1C83C2CD31}"/>
              </a:ext>
            </a:extLst>
          </p:cNvPr>
          <p:cNvSpPr txBox="1">
            <a:spLocks/>
          </p:cNvSpPr>
          <p:nvPr/>
        </p:nvSpPr>
        <p:spPr>
          <a:xfrm>
            <a:off x="838200" y="1857179"/>
            <a:ext cx="10515600" cy="13134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CN" sz="2000" dirty="0"/>
              <a:t>5.</a:t>
            </a:r>
            <a:r>
              <a:rPr lang="zh-CN" altLang="en-US" sz="2000" dirty="0"/>
              <a:t> </a:t>
            </a:r>
            <a:r>
              <a:rPr lang="en-US" altLang="zh-CN" sz="2000" dirty="0"/>
              <a:t>What is the initial value of </a:t>
            </a:r>
            <a:r>
              <a:rPr lang="en-US" altLang="zh-CN" sz="2000" i="1" dirty="0" err="1"/>
              <a:t>ssthresh</a:t>
            </a:r>
            <a:r>
              <a:rPr lang="en-US" altLang="zh-CN" sz="2000" i="1" dirty="0"/>
              <a:t> </a:t>
            </a:r>
            <a:r>
              <a:rPr lang="en-US" altLang="zh-CN" sz="2000" dirty="0"/>
              <a:t>at the first transmission round? </a:t>
            </a:r>
          </a:p>
          <a:p>
            <a:pPr marL="0" indent="0">
              <a:buNone/>
            </a:pPr>
            <a:r>
              <a:rPr lang="en-US" altLang="zh-CN" sz="2000" dirty="0"/>
              <a:t>6.</a:t>
            </a:r>
            <a:r>
              <a:rPr lang="zh-CN" altLang="en-US" sz="2000" dirty="0"/>
              <a:t> </a:t>
            </a:r>
            <a:r>
              <a:rPr lang="en-US" altLang="zh-CN" sz="2000" dirty="0"/>
              <a:t>What is the value of </a:t>
            </a:r>
            <a:r>
              <a:rPr lang="en-US" altLang="zh-CN" sz="2000" i="1" dirty="0" err="1"/>
              <a:t>ssthresh</a:t>
            </a:r>
            <a:r>
              <a:rPr lang="en-US" altLang="zh-CN" sz="2000" i="1" dirty="0"/>
              <a:t> </a:t>
            </a:r>
            <a:r>
              <a:rPr lang="en-US" altLang="zh-CN" sz="2000" dirty="0"/>
              <a:t>at the 18th transmission round? </a:t>
            </a:r>
          </a:p>
          <a:p>
            <a:pPr marL="0" indent="0">
              <a:buNone/>
            </a:pPr>
            <a:r>
              <a:rPr lang="en-US" altLang="zh-CN" sz="2000" dirty="0"/>
              <a:t>7.</a:t>
            </a:r>
            <a:r>
              <a:rPr lang="zh-CN" altLang="en-US" sz="2000" dirty="0"/>
              <a:t> </a:t>
            </a:r>
            <a:r>
              <a:rPr lang="en-US" altLang="zh-CN" sz="2000" dirty="0"/>
              <a:t>What is the value of </a:t>
            </a:r>
            <a:r>
              <a:rPr lang="en-US" altLang="zh-CN" sz="2000" i="1" dirty="0" err="1"/>
              <a:t>ssthresh</a:t>
            </a:r>
            <a:r>
              <a:rPr lang="en-US" altLang="zh-CN" sz="2000" i="1" dirty="0"/>
              <a:t> </a:t>
            </a:r>
            <a:r>
              <a:rPr lang="en-US" altLang="zh-CN" sz="2000" dirty="0"/>
              <a:t>at the 24th transmission round? </a:t>
            </a:r>
          </a:p>
          <a:p>
            <a:endParaRPr lang="en-US" altLang="zh-CN" sz="2000" dirty="0"/>
          </a:p>
        </p:txBody>
      </p:sp>
      <p:pic>
        <p:nvPicPr>
          <p:cNvPr id="1025" name="Picture 1" descr="page340image655428608">
            <a:extLst>
              <a:ext uri="{FF2B5EF4-FFF2-40B4-BE49-F238E27FC236}">
                <a16:creationId xmlns:a16="http://schemas.microsoft.com/office/drawing/2014/main" id="{00529F8E-5F83-AF4F-95D7-6842C66B09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3214063"/>
            <a:ext cx="4445000" cy="345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25A57893-D7D3-F85D-64CC-79A3D8530124}"/>
              </a:ext>
            </a:extLst>
          </p:cNvPr>
          <p:cNvSpPr txBox="1"/>
          <p:nvPr/>
        </p:nvSpPr>
        <p:spPr>
          <a:xfrm>
            <a:off x="6616557" y="3667874"/>
            <a:ext cx="66396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zh-CN" dirty="0">
                <a:solidFill>
                  <a:srgbClr val="FF0000"/>
                </a:solidFill>
              </a:rPr>
              <a:t>5.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32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6.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21</a:t>
            </a:r>
          </a:p>
          <a:p>
            <a:r>
              <a:rPr kumimoji="1" lang="en-US" altLang="zh-CN" dirty="0">
                <a:solidFill>
                  <a:srgbClr val="FF0000"/>
                </a:solidFill>
              </a:rPr>
              <a:t>7.</a:t>
            </a:r>
            <a:r>
              <a:rPr kumimoji="1" lang="zh-CN" altLang="en-US" dirty="0">
                <a:solidFill>
                  <a:srgbClr val="FF0000"/>
                </a:solidFill>
              </a:rPr>
              <a:t> </a:t>
            </a:r>
            <a:r>
              <a:rPr kumimoji="1" lang="en-US" altLang="zh-CN" dirty="0">
                <a:solidFill>
                  <a:srgbClr val="FF0000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62651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1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" presetClass="entr" presetSubtype="1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heckerboard(across)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7A4BFD-FF2E-4FE5-8458-67338C96B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677" y="264721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5400" b="1" dirty="0"/>
              <a:t>Assignment 2 Q &amp; A</a:t>
            </a:r>
          </a:p>
        </p:txBody>
      </p:sp>
    </p:spTree>
    <p:extLst>
      <p:ext uri="{BB962C8B-B14F-4D97-AF65-F5344CB8AC3E}">
        <p14:creationId xmlns:p14="http://schemas.microsoft.com/office/powerpoint/2010/main" val="2292626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8D2CAE8-E323-A14E-A62F-188A25405FEA}"/>
              </a:ext>
            </a:extLst>
          </p:cNvPr>
          <p:cNvSpPr/>
          <p:nvPr/>
        </p:nvSpPr>
        <p:spPr>
          <a:xfrm>
            <a:off x="4851400" y="3167390"/>
            <a:ext cx="26035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4800" dirty="0"/>
              <a:t>Thanks!</a:t>
            </a:r>
          </a:p>
        </p:txBody>
      </p:sp>
    </p:spTree>
    <p:extLst>
      <p:ext uri="{BB962C8B-B14F-4D97-AF65-F5344CB8AC3E}">
        <p14:creationId xmlns:p14="http://schemas.microsoft.com/office/powerpoint/2010/main" val="32166189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723</Words>
  <Application>Microsoft Macintosh PowerPoint</Application>
  <PresentationFormat>宽屏</PresentationFormat>
  <Paragraphs>65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6" baseType="lpstr">
      <vt:lpstr>等线</vt:lpstr>
      <vt:lpstr>等线 Light</vt:lpstr>
      <vt:lpstr>Arial</vt:lpstr>
      <vt:lpstr>Calibri</vt:lpstr>
      <vt:lpstr>Office 主题​​</vt:lpstr>
      <vt:lpstr>CSCI 4430 - Spring 25</vt:lpstr>
      <vt:lpstr>Assignment 2 </vt:lpstr>
      <vt:lpstr>TCP: Transmission Control Protocol</vt:lpstr>
      <vt:lpstr>Q1 TCP File Transfer </vt:lpstr>
      <vt:lpstr>Q2 TCP Segment Metadata</vt:lpstr>
      <vt:lpstr>Q3 TCP Segment CWND</vt:lpstr>
      <vt:lpstr>Q1 TCP Congestion Control</vt:lpstr>
      <vt:lpstr>Q1 TCP Congestion Control</vt:lpstr>
      <vt:lpstr>Q1 TCP Congestion Control</vt:lpstr>
      <vt:lpstr>Assignment 2 Q &amp; A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CSCI 4430 - Fall 23</dc:title>
  <dc:creator>YANG, Yitao</dc:creator>
  <cp:lastModifiedBy>YANG, Yitao</cp:lastModifiedBy>
  <cp:revision>8</cp:revision>
  <dcterms:created xsi:type="dcterms:W3CDTF">2023-10-18T06:38:25Z</dcterms:created>
  <dcterms:modified xsi:type="dcterms:W3CDTF">2025-02-25T13:49:57Z</dcterms:modified>
</cp:coreProperties>
</file>
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562" r:id="rId3"/>
    <p:sldId id="563" r:id="rId4"/>
    <p:sldId id="573" r:id="rId5"/>
    <p:sldId id="572" r:id="rId6"/>
    <p:sldId id="294" r:id="rId7"/>
    <p:sldId id="281" r:id="rId8"/>
    <p:sldId id="286" r:id="rId9"/>
    <p:sldId id="287" r:id="rId10"/>
    <p:sldId id="288" r:id="rId11"/>
    <p:sldId id="290" r:id="rId12"/>
    <p:sldId id="272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1206"/>
  </p:normalViewPr>
  <p:slideViewPr>
    <p:cSldViewPr snapToGrid="0">
      <p:cViewPr varScale="1">
        <p:scale>
          <a:sx n="111" d="100"/>
          <a:sy n="111" d="100"/>
        </p:scale>
        <p:origin x="76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AC88A3-225C-C54C-8A34-E1556A06088C}" type="datetimeFigureOut">
              <a:rPr kumimoji="1" lang="zh-CN" altLang="en-US" smtClean="0"/>
              <a:t>2025/10/19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092774-4017-1642-A6FA-0BE759D4C45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0376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1141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92774-4017-1642-A6FA-0BE759D4C452}" type="slidenum">
              <a:rPr kumimoji="1" lang="zh-CN" altLang="en-US" smtClean="0"/>
              <a:t>6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559615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92774-4017-1642-A6FA-0BE759D4C452}" type="slidenum">
              <a:rPr kumimoji="1" lang="zh-CN" altLang="en-US" smtClean="0"/>
              <a:t>8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331866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92774-4017-1642-A6FA-0BE759D4C452}" type="slidenum">
              <a:rPr kumimoji="1" lang="zh-CN" altLang="en-US" smtClean="0"/>
              <a:t>9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253644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092774-4017-1642-A6FA-0BE759D4C452}" type="slidenum">
              <a:rPr kumimoji="1" lang="zh-CN" altLang="en-US" smtClean="0"/>
              <a:t>11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69024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B43BD0-E404-A16A-33B8-2CEADDE73D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89F2310-3F99-16E9-DDC4-C544FF464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E73EF6-F208-9162-20D0-EF97F9CC0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800820-D3BE-9DF1-2E96-772E4DF81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33DF8F-2629-C99B-A529-AC633DFF6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242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37E6FE-7113-5D8A-89FB-E6BD934F6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21C857-B8E9-5C38-AC16-9477CDBEB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4C1838-8FA0-CADF-4149-6FD52912F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5BA4EC-E876-6917-0EA5-945B55F12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483CC-15AE-419E-5825-AC1D9024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7218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99B44-9063-8025-8F32-AFA815A1F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05FDC2-FCF2-B437-6284-370EDE5DC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922484-E066-327B-AB31-9DC5D21A6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5B2B64-F253-2A69-CA51-22DA64304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E75168-18B1-EA6A-15CF-14DAC0F3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3210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2B4857-56E6-66BC-F109-1ABA199D4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C94CA1-01DA-22BB-EE6A-C84FE7366D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6EE35AB-B337-BEF1-A84A-24AED157AF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962B81-4689-0942-E054-94DFAB89C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B78C135-B7BB-8E12-26B7-CDDD204CB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0D2E43-306A-E0C2-0F07-06023516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8223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8299AF-BB00-31BE-663D-9C01EE818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AFCA6B-FA77-0065-D898-41B607F09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E922279-5707-CF95-A9F0-EDD4BAD34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8D1630B-880C-FE04-C500-4C72168DA0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3352AF3-0D49-FA30-CF47-78A8C02128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3437124-EA58-B8ED-F7DB-F33E551B2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47550C2-FA05-9E02-6A42-ED7F83A13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A30FEC9-F961-E43B-F4ED-1E8D4C026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514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2FCBDF-B6D2-DF24-87A1-D3127417B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6DBDBB8-AE05-5E43-00EE-89D0A53AA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F9B0DA6-425A-BCD2-D889-0F5340003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B386C96-C3CE-1942-926C-755F13A44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3295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4389A04-1AE0-52A5-F744-C549AACD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4C4599B-5AB9-D90C-BC6C-98262C277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0765A7-4634-C0EB-3426-C18B3B248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472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121096-DBFB-A0DF-BD16-CB8C0B63F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E4099B-395A-0A08-2E08-F7EFCD7E8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6BE8EB-4859-D63E-C7AF-D8F59660D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F5FEC4-6EBB-3894-3755-BABB67CEB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74FD242-CD2D-7465-C417-C5E9F8EEF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9EB0F49-4320-BB46-8EBA-18F5125AA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119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1C172C-0869-9F25-FFC7-66F1CF494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AA625A8-BD9A-A159-CAA7-C95ABD479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A3A3D6-D107-4BFE-63E0-19BC02650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62E0338-25BC-FD88-172F-D7525F2B2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BAC519-8DAE-73F9-9CED-A6F2F4093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EAC693-93E9-B49E-4D9E-5DFECF8D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9418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B6E3CB-195E-7202-7DF4-E0871A66B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375E20-162D-3D86-5553-1855B6E7B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02E264-7B61-7327-FF46-7CFAC5CD5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BF0BFC-00EF-7D6E-3425-28B949AB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2D411-F927-3B3A-D5AE-9D16A4C25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117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F69D3A5-E6CF-C193-990C-E06C83545D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66278FC-92EF-4E3C-81E8-3A65F49DA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F1668A-1D69-3690-94AD-623975615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92DFB-763F-3D1C-BD26-D74C339C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4567F6-DDD9-D786-D36A-027DD5A3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86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120EA6C-481E-B83F-C158-62AB0297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1E4D31-E687-B255-737C-ECD2DAD19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A3DB9D-C5E9-0748-DD55-C7C3E3A7F7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55BCCB-63DF-4C10-BABD-690A1C60C87A}" type="datetimeFigureOut">
              <a:rPr lang="zh-CN" altLang="en-US" smtClean="0"/>
              <a:t>2025/10/19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2168422-DAAA-A106-CCDB-F73A28B477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6FE080E-3442-20C7-765D-B6660D94C4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5005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Fall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</a:t>
            </a:r>
            <a:r>
              <a:rPr lang="en-US" altLang="zh-CN" sz="3600" b="1" dirty="0"/>
              <a:t>7</a:t>
            </a:r>
            <a:endParaRPr lang="en-US" sz="3600" b="1" dirty="0"/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i="1" dirty="0"/>
              <a:t>Computer</a:t>
            </a:r>
            <a:r>
              <a:rPr lang="zh-CN" altLang="en-US" sz="2000" b="1" i="1" dirty="0"/>
              <a:t> </a:t>
            </a:r>
            <a:r>
              <a:rPr lang="en-US" altLang="zh-CN" sz="2000" b="1" i="1" dirty="0"/>
              <a:t>Networking</a:t>
            </a:r>
            <a:r>
              <a:rPr lang="zh-CN" altLang="en-US" sz="2000" b="1" i="1" dirty="0"/>
              <a:t> </a:t>
            </a:r>
            <a:r>
              <a:rPr lang="en-US" altLang="zh-CN" sz="2000" b="1" dirty="0"/>
              <a:t>by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Jim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Kurose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GBN example with errors</a:t>
            </a:r>
          </a:p>
        </p:txBody>
      </p:sp>
      <p:sp>
        <p:nvSpPr>
          <p:cNvPr id="1127427" name="Line 3"/>
          <p:cNvSpPr>
            <a:spLocks noChangeShapeType="1"/>
          </p:cNvSpPr>
          <p:nvPr/>
        </p:nvSpPr>
        <p:spPr bwMode="auto">
          <a:xfrm>
            <a:off x="5957840" y="5638800"/>
            <a:ext cx="0" cy="1219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28" name="Text Box 4"/>
          <p:cNvSpPr txBox="1">
            <a:spLocks noChangeArrowheads="1"/>
          </p:cNvSpPr>
          <p:nvPr/>
        </p:nvSpPr>
        <p:spPr bwMode="auto">
          <a:xfrm>
            <a:off x="5969674" y="6144575"/>
            <a:ext cx="805006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/>
              <a:t>Time</a:t>
            </a:r>
          </a:p>
        </p:txBody>
      </p:sp>
      <p:sp>
        <p:nvSpPr>
          <p:cNvPr id="1127429" name="Text Box 5"/>
          <p:cNvSpPr txBox="1">
            <a:spLocks noChangeArrowheads="1"/>
          </p:cNvSpPr>
          <p:nvPr/>
        </p:nvSpPr>
        <p:spPr bwMode="auto">
          <a:xfrm>
            <a:off x="4511675" y="1524001"/>
            <a:ext cx="3221822" cy="46165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2400" dirty="0">
                <a:solidFill>
                  <a:srgbClr val="0000FF"/>
                </a:solidFill>
              </a:rPr>
              <a:t>Window size = 3 packets</a:t>
            </a:r>
          </a:p>
        </p:txBody>
      </p:sp>
      <p:sp>
        <p:nvSpPr>
          <p:cNvPr id="1127430" name="Line 6"/>
          <p:cNvSpPr>
            <a:spLocks noChangeShapeType="1"/>
          </p:cNvSpPr>
          <p:nvPr/>
        </p:nvSpPr>
        <p:spPr bwMode="auto">
          <a:xfrm flipH="1">
            <a:off x="3505201" y="2124076"/>
            <a:ext cx="30163" cy="36353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1" name="Line 7"/>
          <p:cNvSpPr>
            <a:spLocks noChangeShapeType="1"/>
          </p:cNvSpPr>
          <p:nvPr/>
        </p:nvSpPr>
        <p:spPr bwMode="auto">
          <a:xfrm flipH="1">
            <a:off x="8886826" y="2124076"/>
            <a:ext cx="3175" cy="37576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5" name="Text Box 11"/>
          <p:cNvSpPr txBox="1">
            <a:spLocks noChangeArrowheads="1"/>
          </p:cNvSpPr>
          <p:nvPr/>
        </p:nvSpPr>
        <p:spPr bwMode="auto">
          <a:xfrm>
            <a:off x="3021274" y="5865175"/>
            <a:ext cx="1064693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/>
              <a:t>Sender</a:t>
            </a:r>
          </a:p>
        </p:txBody>
      </p:sp>
      <p:sp>
        <p:nvSpPr>
          <p:cNvPr id="1127436" name="Text Box 12"/>
          <p:cNvSpPr txBox="1">
            <a:spLocks noChangeArrowheads="1"/>
          </p:cNvSpPr>
          <p:nvPr/>
        </p:nvSpPr>
        <p:spPr bwMode="auto">
          <a:xfrm>
            <a:off x="8387896" y="5865175"/>
            <a:ext cx="1251859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/>
              <a:t>Receiver</a:t>
            </a:r>
          </a:p>
        </p:txBody>
      </p:sp>
      <p:sp>
        <p:nvSpPr>
          <p:cNvPr id="1127483" name="Text Box 59"/>
          <p:cNvSpPr txBox="1">
            <a:spLocks noChangeArrowheads="1"/>
          </p:cNvSpPr>
          <p:nvPr/>
        </p:nvSpPr>
        <p:spPr bwMode="auto">
          <a:xfrm>
            <a:off x="1530350" y="1524001"/>
            <a:ext cx="1847238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dirty="0"/>
              <a:t>Sender Window</a:t>
            </a:r>
          </a:p>
        </p:txBody>
      </p:sp>
      <p:sp>
        <p:nvSpPr>
          <p:cNvPr id="1127484" name="Text Box 60"/>
          <p:cNvSpPr txBox="1">
            <a:spLocks noChangeArrowheads="1"/>
          </p:cNvSpPr>
          <p:nvPr/>
        </p:nvSpPr>
        <p:spPr bwMode="auto">
          <a:xfrm>
            <a:off x="8229601" y="1600201"/>
            <a:ext cx="2003755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dirty="0"/>
              <a:t>Receiver Window</a:t>
            </a:r>
          </a:p>
        </p:txBody>
      </p:sp>
      <p:grpSp>
        <p:nvGrpSpPr>
          <p:cNvPr id="47" name="Group 57"/>
          <p:cNvGrpSpPr>
            <a:grpSpLocks/>
          </p:cNvGrpSpPr>
          <p:nvPr/>
        </p:nvGrpSpPr>
        <p:grpSpPr bwMode="auto">
          <a:xfrm>
            <a:off x="3071812" y="1905000"/>
            <a:ext cx="5843588" cy="2057400"/>
            <a:chOff x="915" y="1024"/>
            <a:chExt cx="3681" cy="1296"/>
          </a:xfrm>
        </p:grpSpPr>
        <p:sp>
          <p:nvSpPr>
            <p:cNvPr id="48" name="Line 8"/>
            <p:cNvSpPr>
              <a:spLocks noChangeShapeType="1"/>
            </p:cNvSpPr>
            <p:nvPr/>
          </p:nvSpPr>
          <p:spPr bwMode="auto">
            <a:xfrm>
              <a:off x="1215" y="1210"/>
              <a:ext cx="3381" cy="336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Line 9"/>
            <p:cNvSpPr>
              <a:spLocks noChangeShapeType="1"/>
            </p:cNvSpPr>
            <p:nvPr/>
          </p:nvSpPr>
          <p:spPr bwMode="auto">
            <a:xfrm flipH="1">
              <a:off x="1215" y="1594"/>
              <a:ext cx="3381" cy="336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" name="Line 10"/>
            <p:cNvSpPr>
              <a:spLocks noChangeShapeType="1"/>
            </p:cNvSpPr>
            <p:nvPr/>
          </p:nvSpPr>
          <p:spPr bwMode="auto">
            <a:xfrm>
              <a:off x="1215" y="1984"/>
              <a:ext cx="2295" cy="24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Line 13"/>
            <p:cNvSpPr>
              <a:spLocks noChangeShapeType="1"/>
            </p:cNvSpPr>
            <p:nvPr/>
          </p:nvSpPr>
          <p:spPr bwMode="auto">
            <a:xfrm>
              <a:off x="1215" y="1402"/>
              <a:ext cx="3381" cy="33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Line 14"/>
            <p:cNvSpPr>
              <a:spLocks noChangeShapeType="1"/>
            </p:cNvSpPr>
            <p:nvPr/>
          </p:nvSpPr>
          <p:spPr bwMode="auto">
            <a:xfrm>
              <a:off x="1215" y="1594"/>
              <a:ext cx="3381" cy="336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3" name="Line 15"/>
            <p:cNvSpPr>
              <a:spLocks noChangeShapeType="1"/>
            </p:cNvSpPr>
            <p:nvPr/>
          </p:nvSpPr>
          <p:spPr bwMode="auto">
            <a:xfrm flipH="1">
              <a:off x="1215" y="1786"/>
              <a:ext cx="3381" cy="336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Line 16"/>
            <p:cNvSpPr>
              <a:spLocks noChangeShapeType="1"/>
            </p:cNvSpPr>
            <p:nvPr/>
          </p:nvSpPr>
          <p:spPr bwMode="auto">
            <a:xfrm flipH="1">
              <a:off x="1215" y="1978"/>
              <a:ext cx="3381" cy="336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Text Box 20"/>
            <p:cNvSpPr txBox="1">
              <a:spLocks noChangeArrowheads="1"/>
            </p:cNvSpPr>
            <p:nvPr/>
          </p:nvSpPr>
          <p:spPr bwMode="auto">
            <a:xfrm>
              <a:off x="915" y="102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1</a:t>
              </a:r>
            </a:p>
          </p:txBody>
        </p:sp>
        <p:sp>
          <p:nvSpPr>
            <p:cNvPr id="56" name="Text Box 21"/>
            <p:cNvSpPr txBox="1">
              <a:spLocks noChangeArrowheads="1"/>
            </p:cNvSpPr>
            <p:nvPr/>
          </p:nvSpPr>
          <p:spPr bwMode="auto">
            <a:xfrm>
              <a:off x="919" y="1236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2</a:t>
              </a:r>
            </a:p>
          </p:txBody>
        </p:sp>
        <p:sp>
          <p:nvSpPr>
            <p:cNvPr id="57" name="Text Box 22"/>
            <p:cNvSpPr txBox="1">
              <a:spLocks noChangeArrowheads="1"/>
            </p:cNvSpPr>
            <p:nvPr/>
          </p:nvSpPr>
          <p:spPr bwMode="auto">
            <a:xfrm>
              <a:off x="919" y="146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3</a:t>
              </a:r>
            </a:p>
          </p:txBody>
        </p:sp>
        <p:sp>
          <p:nvSpPr>
            <p:cNvPr id="58" name="Text Box 23"/>
            <p:cNvSpPr txBox="1">
              <a:spLocks noChangeArrowheads="1"/>
            </p:cNvSpPr>
            <p:nvPr/>
          </p:nvSpPr>
          <p:spPr bwMode="auto">
            <a:xfrm>
              <a:off x="919" y="174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4</a:t>
              </a:r>
            </a:p>
          </p:txBody>
        </p:sp>
        <p:sp>
          <p:nvSpPr>
            <p:cNvPr id="59" name="Text Box 24"/>
            <p:cNvSpPr txBox="1">
              <a:spLocks noChangeArrowheads="1"/>
            </p:cNvSpPr>
            <p:nvPr/>
          </p:nvSpPr>
          <p:spPr bwMode="auto">
            <a:xfrm>
              <a:off x="919" y="1998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5</a:t>
              </a:r>
            </a:p>
          </p:txBody>
        </p:sp>
        <p:sp>
          <p:nvSpPr>
            <p:cNvPr id="60" name="Line 40"/>
            <p:cNvSpPr>
              <a:spLocks noChangeShapeType="1"/>
            </p:cNvSpPr>
            <p:nvPr/>
          </p:nvSpPr>
          <p:spPr bwMode="auto">
            <a:xfrm>
              <a:off x="3462" y="2128"/>
              <a:ext cx="96" cy="192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endParaRPr lang="en-US"/>
            </a:p>
          </p:txBody>
        </p:sp>
        <p:sp>
          <p:nvSpPr>
            <p:cNvPr id="61" name="Line 41"/>
            <p:cNvSpPr>
              <a:spLocks noChangeShapeType="1"/>
            </p:cNvSpPr>
            <p:nvPr/>
          </p:nvSpPr>
          <p:spPr bwMode="auto">
            <a:xfrm flipH="1">
              <a:off x="3462" y="2128"/>
              <a:ext cx="96" cy="192"/>
            </a:xfrm>
            <a:prstGeom prst="line">
              <a:avLst/>
            </a:prstGeom>
            <a:noFill/>
            <a:ln w="38100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endParaRPr lang="en-US"/>
            </a:p>
          </p:txBody>
        </p:sp>
      </p:grpSp>
      <p:grpSp>
        <p:nvGrpSpPr>
          <p:cNvPr id="62" name="Group 61"/>
          <p:cNvGrpSpPr>
            <a:grpSpLocks/>
          </p:cNvGrpSpPr>
          <p:nvPr/>
        </p:nvGrpSpPr>
        <p:grpSpPr bwMode="auto">
          <a:xfrm>
            <a:off x="1436688" y="3429000"/>
            <a:ext cx="2036763" cy="1374136"/>
            <a:chOff x="-55" y="1968"/>
            <a:chExt cx="1283" cy="1200"/>
          </a:xfrm>
        </p:grpSpPr>
        <p:sp>
          <p:nvSpPr>
            <p:cNvPr id="63" name="Line 62"/>
            <p:cNvSpPr>
              <a:spLocks noChangeShapeType="1"/>
            </p:cNvSpPr>
            <p:nvPr/>
          </p:nvSpPr>
          <p:spPr bwMode="auto">
            <a:xfrm flipH="1">
              <a:off x="399" y="1968"/>
              <a:ext cx="8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4" name="Line 63"/>
            <p:cNvSpPr>
              <a:spLocks noChangeShapeType="1"/>
            </p:cNvSpPr>
            <p:nvPr/>
          </p:nvSpPr>
          <p:spPr bwMode="auto">
            <a:xfrm flipH="1">
              <a:off x="399" y="3168"/>
              <a:ext cx="82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5" name="Line 64"/>
            <p:cNvSpPr>
              <a:spLocks noChangeShapeType="1"/>
            </p:cNvSpPr>
            <p:nvPr/>
          </p:nvSpPr>
          <p:spPr bwMode="auto">
            <a:xfrm>
              <a:off x="720" y="1968"/>
              <a:ext cx="0" cy="1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6" name="Text Box 65"/>
            <p:cNvSpPr txBox="1">
              <a:spLocks noChangeArrowheads="1"/>
            </p:cNvSpPr>
            <p:nvPr/>
          </p:nvSpPr>
          <p:spPr bwMode="auto">
            <a:xfrm>
              <a:off x="-55" y="2160"/>
              <a:ext cx="655" cy="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2000">
                  <a:solidFill>
                    <a:srgbClr val="FF0000"/>
                  </a:solidFill>
                  <a:latin typeface="+mn-lt"/>
                </a:rPr>
                <a:t>Timeout</a:t>
              </a:r>
            </a:p>
            <a:p>
              <a:pPr eaLnBrk="1" hangingPunct="1"/>
              <a:r>
                <a:rPr lang="en-US" sz="2000">
                  <a:solidFill>
                    <a:srgbClr val="FF0000"/>
                  </a:solidFill>
                  <a:latin typeface="+mn-lt"/>
                </a:rPr>
                <a:t>Packet 4</a:t>
              </a:r>
            </a:p>
          </p:txBody>
        </p:sp>
      </p:grpSp>
      <p:grpSp>
        <p:nvGrpSpPr>
          <p:cNvPr id="67" name="Group 58"/>
          <p:cNvGrpSpPr>
            <a:grpSpLocks/>
          </p:cNvGrpSpPr>
          <p:nvPr/>
        </p:nvGrpSpPr>
        <p:grpSpPr bwMode="auto">
          <a:xfrm>
            <a:off x="3078162" y="3733801"/>
            <a:ext cx="5837238" cy="828675"/>
            <a:chOff x="919" y="2176"/>
            <a:chExt cx="3677" cy="522"/>
          </a:xfrm>
        </p:grpSpPr>
        <p:sp>
          <p:nvSpPr>
            <p:cNvPr id="68" name="Line 17"/>
            <p:cNvSpPr>
              <a:spLocks noChangeShapeType="1"/>
            </p:cNvSpPr>
            <p:nvPr/>
          </p:nvSpPr>
          <p:spPr bwMode="auto">
            <a:xfrm>
              <a:off x="1215" y="2176"/>
              <a:ext cx="3381" cy="33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9" name="Line 18"/>
            <p:cNvSpPr>
              <a:spLocks noChangeShapeType="1"/>
            </p:cNvSpPr>
            <p:nvPr/>
          </p:nvSpPr>
          <p:spPr bwMode="auto">
            <a:xfrm>
              <a:off x="1215" y="2362"/>
              <a:ext cx="3381" cy="336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0" name="Text Box 25"/>
            <p:cNvSpPr txBox="1">
              <a:spLocks noChangeArrowheads="1"/>
            </p:cNvSpPr>
            <p:nvPr/>
          </p:nvSpPr>
          <p:spPr bwMode="auto">
            <a:xfrm>
              <a:off x="919" y="218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6</a:t>
              </a:r>
            </a:p>
          </p:txBody>
        </p:sp>
      </p:grpSp>
      <p:grpSp>
        <p:nvGrpSpPr>
          <p:cNvPr id="71" name="Group 70"/>
          <p:cNvGrpSpPr/>
          <p:nvPr/>
        </p:nvGrpSpPr>
        <p:grpSpPr>
          <a:xfrm>
            <a:off x="3238499" y="4727576"/>
            <a:ext cx="5648326" cy="1031875"/>
            <a:chOff x="1633537" y="4810125"/>
            <a:chExt cx="5648326" cy="1031875"/>
          </a:xfrm>
        </p:grpSpPr>
        <p:sp>
          <p:nvSpPr>
            <p:cNvPr id="72" name="Text Box 67"/>
            <p:cNvSpPr txBox="1">
              <a:spLocks noChangeArrowheads="1"/>
            </p:cNvSpPr>
            <p:nvPr/>
          </p:nvSpPr>
          <p:spPr bwMode="auto">
            <a:xfrm>
              <a:off x="1633537" y="4810125"/>
              <a:ext cx="321210" cy="4521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4</a:t>
              </a:r>
            </a:p>
          </p:txBody>
        </p:sp>
        <p:sp>
          <p:nvSpPr>
            <p:cNvPr id="73" name="Text Box 68"/>
            <p:cNvSpPr txBox="1">
              <a:spLocks noChangeArrowheads="1"/>
            </p:cNvSpPr>
            <p:nvPr/>
          </p:nvSpPr>
          <p:spPr bwMode="auto">
            <a:xfrm>
              <a:off x="1633537" y="5038725"/>
              <a:ext cx="321210" cy="4521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5</a:t>
              </a:r>
            </a:p>
          </p:txBody>
        </p:sp>
        <p:sp>
          <p:nvSpPr>
            <p:cNvPr id="74" name="Text Box 69"/>
            <p:cNvSpPr txBox="1">
              <a:spLocks noChangeArrowheads="1"/>
            </p:cNvSpPr>
            <p:nvPr/>
          </p:nvSpPr>
          <p:spPr bwMode="auto">
            <a:xfrm>
              <a:off x="1633537" y="5267325"/>
              <a:ext cx="321210" cy="4521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6</a:t>
              </a:r>
            </a:p>
          </p:txBody>
        </p:sp>
        <p:sp>
          <p:nvSpPr>
            <p:cNvPr id="75" name="Line 70"/>
            <p:cNvSpPr>
              <a:spLocks noChangeShapeType="1"/>
            </p:cNvSpPr>
            <p:nvPr/>
          </p:nvSpPr>
          <p:spPr bwMode="auto">
            <a:xfrm>
              <a:off x="1914525" y="5029200"/>
              <a:ext cx="5367338" cy="53340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6" name="Line 71"/>
            <p:cNvSpPr>
              <a:spLocks noChangeShapeType="1"/>
            </p:cNvSpPr>
            <p:nvPr/>
          </p:nvSpPr>
          <p:spPr bwMode="auto">
            <a:xfrm>
              <a:off x="1914525" y="5156200"/>
              <a:ext cx="5367338" cy="53340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7" name="Line 72"/>
            <p:cNvSpPr>
              <a:spLocks noChangeShapeType="1"/>
            </p:cNvSpPr>
            <p:nvPr/>
          </p:nvSpPr>
          <p:spPr bwMode="auto">
            <a:xfrm>
              <a:off x="1914525" y="5308600"/>
              <a:ext cx="5367338" cy="533400"/>
            </a:xfrm>
            <a:prstGeom prst="line">
              <a:avLst/>
            </a:prstGeom>
            <a:noFill/>
            <a:ln w="38100">
              <a:solidFill>
                <a:srgbClr val="000000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rgbClr val="000000">
                        <a:alpha val="74998"/>
                      </a:srgb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8893325" y="4096393"/>
            <a:ext cx="875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Discard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02774" y="4381500"/>
            <a:ext cx="875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Discard</a:t>
            </a:r>
          </a:p>
        </p:txBody>
      </p:sp>
    </p:spTree>
    <p:extLst>
      <p:ext uri="{BB962C8B-B14F-4D97-AF65-F5344CB8AC3E}">
        <p14:creationId xmlns:p14="http://schemas.microsoft.com/office/powerpoint/2010/main" val="1466495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4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SR example with errors</a:t>
            </a:r>
          </a:p>
        </p:txBody>
      </p:sp>
      <p:sp>
        <p:nvSpPr>
          <p:cNvPr id="1127429" name="Text Box 5"/>
          <p:cNvSpPr txBox="1">
            <a:spLocks noChangeArrowheads="1"/>
          </p:cNvSpPr>
          <p:nvPr/>
        </p:nvSpPr>
        <p:spPr bwMode="auto">
          <a:xfrm>
            <a:off x="4511675" y="1524001"/>
            <a:ext cx="3221822" cy="461653"/>
          </a:xfrm>
          <a:prstGeom prst="rect">
            <a:avLst/>
          </a:prstGeom>
          <a:solidFill>
            <a:schemeClr val="accent2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2400" dirty="0">
                <a:solidFill>
                  <a:srgbClr val="0000FF"/>
                </a:solidFill>
              </a:rPr>
              <a:t>Window size = 3 packets</a:t>
            </a:r>
          </a:p>
        </p:txBody>
      </p:sp>
      <p:sp>
        <p:nvSpPr>
          <p:cNvPr id="1127430" name="Line 6"/>
          <p:cNvSpPr>
            <a:spLocks noChangeShapeType="1"/>
          </p:cNvSpPr>
          <p:nvPr/>
        </p:nvSpPr>
        <p:spPr bwMode="auto">
          <a:xfrm flipH="1">
            <a:off x="3505201" y="2124076"/>
            <a:ext cx="30163" cy="3635375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1" name="Line 7"/>
          <p:cNvSpPr>
            <a:spLocks noChangeShapeType="1"/>
          </p:cNvSpPr>
          <p:nvPr/>
        </p:nvSpPr>
        <p:spPr bwMode="auto">
          <a:xfrm flipH="1">
            <a:off x="8886826" y="2124076"/>
            <a:ext cx="3175" cy="3757613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2" name="Line 8"/>
          <p:cNvSpPr>
            <a:spLocks noChangeShapeType="1"/>
          </p:cNvSpPr>
          <p:nvPr/>
        </p:nvSpPr>
        <p:spPr bwMode="auto">
          <a:xfrm>
            <a:off x="3535364" y="2276475"/>
            <a:ext cx="5367337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3" name="Line 9"/>
          <p:cNvSpPr>
            <a:spLocks noChangeShapeType="1"/>
          </p:cNvSpPr>
          <p:nvPr/>
        </p:nvSpPr>
        <p:spPr bwMode="auto">
          <a:xfrm flipH="1">
            <a:off x="3535364" y="2886075"/>
            <a:ext cx="5367337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7" name="Line 13"/>
          <p:cNvSpPr>
            <a:spLocks noChangeShapeType="1"/>
          </p:cNvSpPr>
          <p:nvPr/>
        </p:nvSpPr>
        <p:spPr bwMode="auto">
          <a:xfrm>
            <a:off x="3535364" y="2581275"/>
            <a:ext cx="5367337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8" name="Line 14"/>
          <p:cNvSpPr>
            <a:spLocks noChangeShapeType="1"/>
          </p:cNvSpPr>
          <p:nvPr/>
        </p:nvSpPr>
        <p:spPr bwMode="auto">
          <a:xfrm>
            <a:off x="3535364" y="2886075"/>
            <a:ext cx="5367337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39" name="Line 15"/>
          <p:cNvSpPr>
            <a:spLocks noChangeShapeType="1"/>
          </p:cNvSpPr>
          <p:nvPr/>
        </p:nvSpPr>
        <p:spPr bwMode="auto">
          <a:xfrm flipH="1">
            <a:off x="3535364" y="3190875"/>
            <a:ext cx="5367337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41" name="Line 17"/>
          <p:cNvSpPr>
            <a:spLocks noChangeShapeType="1"/>
          </p:cNvSpPr>
          <p:nvPr/>
        </p:nvSpPr>
        <p:spPr bwMode="auto">
          <a:xfrm>
            <a:off x="3535364" y="3495675"/>
            <a:ext cx="3856037" cy="429574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66" name="Line 42"/>
          <p:cNvSpPr>
            <a:spLocks noChangeShapeType="1"/>
          </p:cNvSpPr>
          <p:nvPr/>
        </p:nvSpPr>
        <p:spPr bwMode="auto">
          <a:xfrm flipH="1">
            <a:off x="3521075" y="3505200"/>
            <a:ext cx="5367338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127488" name="Group 64"/>
          <p:cNvGrpSpPr>
            <a:grpSpLocks/>
          </p:cNvGrpSpPr>
          <p:nvPr/>
        </p:nvGrpSpPr>
        <p:grpSpPr bwMode="auto">
          <a:xfrm>
            <a:off x="2205039" y="1946278"/>
            <a:ext cx="1174751" cy="487363"/>
            <a:chOff x="429" y="1226"/>
            <a:chExt cx="740" cy="307"/>
          </a:xfrm>
        </p:grpSpPr>
        <p:sp>
          <p:nvSpPr>
            <p:cNvPr id="1127444" name="Text Box 20"/>
            <p:cNvSpPr txBox="1">
              <a:spLocks noChangeArrowheads="1"/>
            </p:cNvSpPr>
            <p:nvPr/>
          </p:nvSpPr>
          <p:spPr bwMode="auto">
            <a:xfrm>
              <a:off x="967" y="1248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1</a:t>
              </a:r>
            </a:p>
          </p:txBody>
        </p:sp>
        <p:sp>
          <p:nvSpPr>
            <p:cNvPr id="1127476" name="Text Box 52"/>
            <p:cNvSpPr txBox="1">
              <a:spLocks noChangeArrowheads="1"/>
            </p:cNvSpPr>
            <p:nvPr/>
          </p:nvSpPr>
          <p:spPr bwMode="auto">
            <a:xfrm>
              <a:off x="429" y="1226"/>
              <a:ext cx="33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{1}</a:t>
              </a:r>
            </a:p>
          </p:txBody>
        </p:sp>
      </p:grpSp>
      <p:grpSp>
        <p:nvGrpSpPr>
          <p:cNvPr id="1127489" name="Group 65"/>
          <p:cNvGrpSpPr>
            <a:grpSpLocks/>
          </p:cNvGrpSpPr>
          <p:nvPr/>
        </p:nvGrpSpPr>
        <p:grpSpPr bwMode="auto">
          <a:xfrm>
            <a:off x="1862139" y="2289178"/>
            <a:ext cx="1524001" cy="481013"/>
            <a:chOff x="213" y="1442"/>
            <a:chExt cx="960" cy="303"/>
          </a:xfrm>
        </p:grpSpPr>
        <p:sp>
          <p:nvSpPr>
            <p:cNvPr id="1127445" name="Text Box 21"/>
            <p:cNvSpPr txBox="1">
              <a:spLocks noChangeArrowheads="1"/>
            </p:cNvSpPr>
            <p:nvPr/>
          </p:nvSpPr>
          <p:spPr bwMode="auto">
            <a:xfrm>
              <a:off x="971" y="1460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2</a:t>
              </a:r>
            </a:p>
          </p:txBody>
        </p:sp>
        <p:sp>
          <p:nvSpPr>
            <p:cNvPr id="1127477" name="Text Box 53"/>
            <p:cNvSpPr txBox="1">
              <a:spLocks noChangeArrowheads="1"/>
            </p:cNvSpPr>
            <p:nvPr/>
          </p:nvSpPr>
          <p:spPr bwMode="auto">
            <a:xfrm>
              <a:off x="213" y="1442"/>
              <a:ext cx="52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{1, 2}</a:t>
              </a:r>
            </a:p>
          </p:txBody>
        </p:sp>
      </p:grpSp>
      <p:grpSp>
        <p:nvGrpSpPr>
          <p:cNvPr id="1127492" name="Group 68"/>
          <p:cNvGrpSpPr>
            <a:grpSpLocks/>
          </p:cNvGrpSpPr>
          <p:nvPr/>
        </p:nvGrpSpPr>
        <p:grpSpPr bwMode="auto">
          <a:xfrm>
            <a:off x="1628776" y="2670179"/>
            <a:ext cx="1757363" cy="461963"/>
            <a:chOff x="66" y="1682"/>
            <a:chExt cx="1107" cy="291"/>
          </a:xfrm>
        </p:grpSpPr>
        <p:sp>
          <p:nvSpPr>
            <p:cNvPr id="1127446" name="Text Box 22"/>
            <p:cNvSpPr txBox="1">
              <a:spLocks noChangeArrowheads="1"/>
            </p:cNvSpPr>
            <p:nvPr/>
          </p:nvSpPr>
          <p:spPr bwMode="auto">
            <a:xfrm>
              <a:off x="971" y="1688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3</a:t>
              </a:r>
            </a:p>
          </p:txBody>
        </p:sp>
        <p:sp>
          <p:nvSpPr>
            <p:cNvPr id="1127478" name="Text Box 54"/>
            <p:cNvSpPr txBox="1">
              <a:spLocks noChangeArrowheads="1"/>
            </p:cNvSpPr>
            <p:nvPr/>
          </p:nvSpPr>
          <p:spPr bwMode="auto">
            <a:xfrm>
              <a:off x="66" y="1682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{1, 2, 3}</a:t>
              </a:r>
            </a:p>
          </p:txBody>
        </p:sp>
      </p:grpSp>
      <p:grpSp>
        <p:nvGrpSpPr>
          <p:cNvPr id="1127494" name="Group 70"/>
          <p:cNvGrpSpPr>
            <a:grpSpLocks/>
          </p:cNvGrpSpPr>
          <p:nvPr/>
        </p:nvGrpSpPr>
        <p:grpSpPr bwMode="auto">
          <a:xfrm>
            <a:off x="1628776" y="3124204"/>
            <a:ext cx="1757363" cy="519113"/>
            <a:chOff x="66" y="1968"/>
            <a:chExt cx="1107" cy="327"/>
          </a:xfrm>
        </p:grpSpPr>
        <p:sp>
          <p:nvSpPr>
            <p:cNvPr id="1127447" name="Text Box 23"/>
            <p:cNvSpPr txBox="1">
              <a:spLocks noChangeArrowheads="1"/>
            </p:cNvSpPr>
            <p:nvPr/>
          </p:nvSpPr>
          <p:spPr bwMode="auto">
            <a:xfrm>
              <a:off x="971" y="2010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4</a:t>
              </a:r>
            </a:p>
          </p:txBody>
        </p:sp>
        <p:sp>
          <p:nvSpPr>
            <p:cNvPr id="1127479" name="Text Box 55"/>
            <p:cNvSpPr txBox="1">
              <a:spLocks noChangeArrowheads="1"/>
            </p:cNvSpPr>
            <p:nvPr/>
          </p:nvSpPr>
          <p:spPr bwMode="auto">
            <a:xfrm>
              <a:off x="66" y="1968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{2, 3, 4}</a:t>
              </a:r>
            </a:p>
          </p:txBody>
        </p:sp>
      </p:grpSp>
      <p:grpSp>
        <p:nvGrpSpPr>
          <p:cNvPr id="1127495" name="Group 71"/>
          <p:cNvGrpSpPr>
            <a:grpSpLocks/>
          </p:cNvGrpSpPr>
          <p:nvPr/>
        </p:nvGrpSpPr>
        <p:grpSpPr bwMode="auto">
          <a:xfrm>
            <a:off x="1628776" y="3505205"/>
            <a:ext cx="1757363" cy="474663"/>
            <a:chOff x="66" y="2208"/>
            <a:chExt cx="1107" cy="299"/>
          </a:xfrm>
        </p:grpSpPr>
        <p:sp>
          <p:nvSpPr>
            <p:cNvPr id="1127448" name="Text Box 24"/>
            <p:cNvSpPr txBox="1">
              <a:spLocks noChangeArrowheads="1"/>
            </p:cNvSpPr>
            <p:nvPr/>
          </p:nvSpPr>
          <p:spPr bwMode="auto">
            <a:xfrm>
              <a:off x="971" y="2222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5</a:t>
              </a:r>
            </a:p>
          </p:txBody>
        </p:sp>
        <p:sp>
          <p:nvSpPr>
            <p:cNvPr id="1127480" name="Text Box 56"/>
            <p:cNvSpPr txBox="1">
              <a:spLocks noChangeArrowheads="1"/>
            </p:cNvSpPr>
            <p:nvPr/>
          </p:nvSpPr>
          <p:spPr bwMode="auto">
            <a:xfrm>
              <a:off x="66" y="2208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 dirty="0"/>
                <a:t>{3, 4, 5}</a:t>
              </a:r>
            </a:p>
          </p:txBody>
        </p:sp>
      </p:grpSp>
      <p:sp>
        <p:nvSpPr>
          <p:cNvPr id="1127483" name="Text Box 59"/>
          <p:cNvSpPr txBox="1">
            <a:spLocks noChangeArrowheads="1"/>
          </p:cNvSpPr>
          <p:nvPr/>
        </p:nvSpPr>
        <p:spPr bwMode="auto">
          <a:xfrm>
            <a:off x="1530350" y="1524001"/>
            <a:ext cx="1847238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dirty="0"/>
              <a:t>Sender Window</a:t>
            </a:r>
          </a:p>
        </p:txBody>
      </p:sp>
      <p:sp>
        <p:nvSpPr>
          <p:cNvPr id="1127484" name="Text Box 60"/>
          <p:cNvSpPr txBox="1">
            <a:spLocks noChangeArrowheads="1"/>
          </p:cNvSpPr>
          <p:nvPr/>
        </p:nvSpPr>
        <p:spPr bwMode="auto">
          <a:xfrm>
            <a:off x="8229601" y="1600201"/>
            <a:ext cx="2003755" cy="397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000" dirty="0"/>
              <a:t>Receiver Window</a:t>
            </a:r>
          </a:p>
        </p:txBody>
      </p:sp>
      <p:sp>
        <p:nvSpPr>
          <p:cNvPr id="1127468" name="Line 44"/>
          <p:cNvSpPr>
            <a:spLocks noChangeShapeType="1"/>
          </p:cNvSpPr>
          <p:nvPr/>
        </p:nvSpPr>
        <p:spPr bwMode="auto">
          <a:xfrm flipH="1">
            <a:off x="3507456" y="5600882"/>
            <a:ext cx="5367338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69" name="Line 45"/>
          <p:cNvSpPr>
            <a:spLocks noChangeShapeType="1"/>
          </p:cNvSpPr>
          <p:nvPr/>
        </p:nvSpPr>
        <p:spPr bwMode="auto">
          <a:xfrm>
            <a:off x="3521075" y="3810000"/>
            <a:ext cx="5367338" cy="5334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70" name="Line 46"/>
          <p:cNvSpPr>
            <a:spLocks noChangeShapeType="1"/>
          </p:cNvSpPr>
          <p:nvPr/>
        </p:nvSpPr>
        <p:spPr bwMode="auto">
          <a:xfrm>
            <a:off x="3521075" y="4114800"/>
            <a:ext cx="5367338" cy="5334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72" name="Line 48"/>
          <p:cNvSpPr>
            <a:spLocks noChangeShapeType="1"/>
          </p:cNvSpPr>
          <p:nvPr/>
        </p:nvSpPr>
        <p:spPr bwMode="auto">
          <a:xfrm flipH="1">
            <a:off x="3521075" y="4419600"/>
            <a:ext cx="5367338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73" name="Line 49"/>
          <p:cNvSpPr>
            <a:spLocks noChangeShapeType="1"/>
          </p:cNvSpPr>
          <p:nvPr/>
        </p:nvSpPr>
        <p:spPr bwMode="auto">
          <a:xfrm flipH="1">
            <a:off x="3521075" y="4724400"/>
            <a:ext cx="5367338" cy="53340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7474" name="Line 50"/>
          <p:cNvSpPr>
            <a:spLocks noChangeShapeType="1"/>
          </p:cNvSpPr>
          <p:nvPr/>
        </p:nvSpPr>
        <p:spPr bwMode="auto">
          <a:xfrm>
            <a:off x="3521075" y="5029200"/>
            <a:ext cx="5367338" cy="533400"/>
          </a:xfrm>
          <a:prstGeom prst="line">
            <a:avLst/>
          </a:prstGeom>
          <a:noFill/>
          <a:ln w="38100">
            <a:solidFill>
              <a:srgbClr val="00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127496" name="Group 72"/>
          <p:cNvGrpSpPr>
            <a:grpSpLocks/>
          </p:cNvGrpSpPr>
          <p:nvPr/>
        </p:nvGrpSpPr>
        <p:grpSpPr bwMode="auto">
          <a:xfrm>
            <a:off x="1628776" y="3889379"/>
            <a:ext cx="1751013" cy="458788"/>
            <a:chOff x="66" y="2450"/>
            <a:chExt cx="1103" cy="289"/>
          </a:xfrm>
        </p:grpSpPr>
        <p:sp>
          <p:nvSpPr>
            <p:cNvPr id="1127471" name="Text Box 47"/>
            <p:cNvSpPr txBox="1">
              <a:spLocks noChangeArrowheads="1"/>
            </p:cNvSpPr>
            <p:nvPr/>
          </p:nvSpPr>
          <p:spPr bwMode="auto">
            <a:xfrm>
              <a:off x="967" y="2454"/>
              <a:ext cx="202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>
                  <a:latin typeface="+mn-lt"/>
                </a:rPr>
                <a:t>6</a:t>
              </a:r>
            </a:p>
          </p:txBody>
        </p:sp>
        <p:sp>
          <p:nvSpPr>
            <p:cNvPr id="1127481" name="Text Box 57"/>
            <p:cNvSpPr txBox="1">
              <a:spLocks noChangeArrowheads="1"/>
            </p:cNvSpPr>
            <p:nvPr/>
          </p:nvSpPr>
          <p:spPr bwMode="auto">
            <a:xfrm>
              <a:off x="66" y="2450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/>
                <a:t>{4, 5, 6}</a:t>
              </a:r>
            </a:p>
          </p:txBody>
        </p:sp>
      </p:grpSp>
      <p:sp>
        <p:nvSpPr>
          <p:cNvPr id="47" name="Line 33"/>
          <p:cNvSpPr>
            <a:spLocks noChangeShapeType="1"/>
          </p:cNvSpPr>
          <p:nvPr/>
        </p:nvSpPr>
        <p:spPr bwMode="auto">
          <a:xfrm>
            <a:off x="7391400" y="3810000"/>
            <a:ext cx="1524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48" name="Line 34"/>
          <p:cNvSpPr>
            <a:spLocks noChangeShapeType="1"/>
          </p:cNvSpPr>
          <p:nvPr/>
        </p:nvSpPr>
        <p:spPr bwMode="auto">
          <a:xfrm flipH="1">
            <a:off x="7391400" y="3810000"/>
            <a:ext cx="152400" cy="304800"/>
          </a:xfrm>
          <a:prstGeom prst="line">
            <a:avLst/>
          </a:prstGeom>
          <a:noFill/>
          <a:ln w="381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49" name="Text Box 32"/>
          <p:cNvSpPr txBox="1">
            <a:spLocks noChangeArrowheads="1"/>
          </p:cNvSpPr>
          <p:nvPr/>
        </p:nvSpPr>
        <p:spPr bwMode="auto">
          <a:xfrm rot="21254809">
            <a:off x="5769561" y="4385319"/>
            <a:ext cx="79214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99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ACK=5</a:t>
            </a:r>
          </a:p>
        </p:txBody>
      </p:sp>
      <p:sp>
        <p:nvSpPr>
          <p:cNvPr id="50" name="Text Box 32"/>
          <p:cNvSpPr txBox="1">
            <a:spLocks noChangeArrowheads="1"/>
          </p:cNvSpPr>
          <p:nvPr/>
        </p:nvSpPr>
        <p:spPr bwMode="auto">
          <a:xfrm rot="21254809">
            <a:off x="5769561" y="4694149"/>
            <a:ext cx="79214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99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ACK=6</a:t>
            </a:r>
          </a:p>
        </p:txBody>
      </p:sp>
      <p:grpSp>
        <p:nvGrpSpPr>
          <p:cNvPr id="51" name="Group 72"/>
          <p:cNvGrpSpPr>
            <a:grpSpLocks/>
          </p:cNvGrpSpPr>
          <p:nvPr/>
        </p:nvGrpSpPr>
        <p:grpSpPr bwMode="auto">
          <a:xfrm>
            <a:off x="1625984" y="4693126"/>
            <a:ext cx="1595438" cy="458788"/>
            <a:chOff x="66" y="2450"/>
            <a:chExt cx="1005" cy="289"/>
          </a:xfrm>
        </p:grpSpPr>
        <p:sp>
          <p:nvSpPr>
            <p:cNvPr id="52" name="Text Box 47"/>
            <p:cNvSpPr txBox="1">
              <a:spLocks noChangeArrowheads="1"/>
            </p:cNvSpPr>
            <p:nvPr/>
          </p:nvSpPr>
          <p:spPr bwMode="auto">
            <a:xfrm>
              <a:off x="967" y="2454"/>
              <a:ext cx="104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endParaRPr lang="en-US" dirty="0">
                <a:latin typeface="+mn-lt"/>
              </a:endParaRPr>
            </a:p>
          </p:txBody>
        </p:sp>
        <p:sp>
          <p:nvSpPr>
            <p:cNvPr id="53" name="Text Box 57"/>
            <p:cNvSpPr txBox="1">
              <a:spLocks noChangeArrowheads="1"/>
            </p:cNvSpPr>
            <p:nvPr/>
          </p:nvSpPr>
          <p:spPr bwMode="auto">
            <a:xfrm>
              <a:off x="66" y="2450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 dirty="0"/>
                <a:t>{4, 5, 6}</a:t>
              </a:r>
            </a:p>
          </p:txBody>
        </p:sp>
      </p:grpSp>
      <p:grpSp>
        <p:nvGrpSpPr>
          <p:cNvPr id="54" name="Group 72"/>
          <p:cNvGrpSpPr>
            <a:grpSpLocks/>
          </p:cNvGrpSpPr>
          <p:nvPr/>
        </p:nvGrpSpPr>
        <p:grpSpPr bwMode="auto">
          <a:xfrm>
            <a:off x="1622531" y="5061427"/>
            <a:ext cx="1595438" cy="458788"/>
            <a:chOff x="66" y="2450"/>
            <a:chExt cx="1005" cy="289"/>
          </a:xfrm>
        </p:grpSpPr>
        <p:sp>
          <p:nvSpPr>
            <p:cNvPr id="55" name="Text Box 47"/>
            <p:cNvSpPr txBox="1">
              <a:spLocks noChangeArrowheads="1"/>
            </p:cNvSpPr>
            <p:nvPr/>
          </p:nvSpPr>
          <p:spPr bwMode="auto">
            <a:xfrm>
              <a:off x="967" y="2454"/>
              <a:ext cx="104" cy="2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endParaRPr lang="en-US" dirty="0">
                <a:latin typeface="+mn-lt"/>
              </a:endParaRPr>
            </a:p>
          </p:txBody>
        </p:sp>
        <p:sp>
          <p:nvSpPr>
            <p:cNvPr id="56" name="Text Box 57"/>
            <p:cNvSpPr txBox="1">
              <a:spLocks noChangeArrowheads="1"/>
            </p:cNvSpPr>
            <p:nvPr/>
          </p:nvSpPr>
          <p:spPr bwMode="auto">
            <a:xfrm>
              <a:off x="66" y="2450"/>
              <a:ext cx="714" cy="2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="" xmlns:a14="http://schemas.microsoft.com/office/drawing/2010/main">
                  <a:solidFill>
                    <a:schemeClr val="bg2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r>
                <a:rPr lang="en-US" sz="2400" dirty="0"/>
                <a:t>{4, 5, 6}</a:t>
              </a:r>
            </a:p>
          </p:txBody>
        </p:sp>
      </p:grpSp>
      <p:grpSp>
        <p:nvGrpSpPr>
          <p:cNvPr id="57" name="Group 61"/>
          <p:cNvGrpSpPr>
            <a:grpSpLocks/>
          </p:cNvGrpSpPr>
          <p:nvPr/>
        </p:nvGrpSpPr>
        <p:grpSpPr bwMode="auto">
          <a:xfrm>
            <a:off x="1704976" y="3581401"/>
            <a:ext cx="1800225" cy="1172051"/>
            <a:chOff x="94" y="1968"/>
            <a:chExt cx="1134" cy="1200"/>
          </a:xfrm>
        </p:grpSpPr>
        <p:sp>
          <p:nvSpPr>
            <p:cNvPr id="58" name="Line 62"/>
            <p:cNvSpPr>
              <a:spLocks noChangeShapeType="1"/>
            </p:cNvSpPr>
            <p:nvPr/>
          </p:nvSpPr>
          <p:spPr bwMode="auto">
            <a:xfrm flipH="1">
              <a:off x="399" y="1968"/>
              <a:ext cx="829" cy="0"/>
            </a:xfrm>
            <a:prstGeom prst="line">
              <a:avLst/>
            </a:prstGeom>
            <a:noFill/>
            <a:ln w="38100" cmpd="sng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59" name="Line 63"/>
            <p:cNvSpPr>
              <a:spLocks noChangeShapeType="1"/>
            </p:cNvSpPr>
            <p:nvPr/>
          </p:nvSpPr>
          <p:spPr bwMode="auto">
            <a:xfrm flipH="1">
              <a:off x="399" y="3168"/>
              <a:ext cx="829" cy="0"/>
            </a:xfrm>
            <a:prstGeom prst="line">
              <a:avLst/>
            </a:prstGeom>
            <a:noFill/>
            <a:ln w="38100" cmpd="sng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0" name="Line 64"/>
            <p:cNvSpPr>
              <a:spLocks noChangeShapeType="1"/>
            </p:cNvSpPr>
            <p:nvPr/>
          </p:nvSpPr>
          <p:spPr bwMode="auto">
            <a:xfrm>
              <a:off x="940" y="1968"/>
              <a:ext cx="0" cy="1200"/>
            </a:xfrm>
            <a:prstGeom prst="line">
              <a:avLst/>
            </a:prstGeom>
            <a:noFill/>
            <a:ln w="38100" cmpd="sng">
              <a:solidFill>
                <a:srgbClr val="FF00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en-US"/>
            </a:p>
          </p:txBody>
        </p:sp>
        <p:sp>
          <p:nvSpPr>
            <p:cNvPr id="61" name="Text Box 65"/>
            <p:cNvSpPr txBox="1">
              <a:spLocks noChangeArrowheads="1"/>
            </p:cNvSpPr>
            <p:nvPr/>
          </p:nvSpPr>
          <p:spPr bwMode="auto">
            <a:xfrm>
              <a:off x="94" y="2241"/>
              <a:ext cx="798" cy="7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="" xmlns:a14="http://schemas.microsoft.com/office/drawing/2010/main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 lIns="82058" tIns="41029" rIns="82058" bIns="41029">
              <a:spAutoFit/>
            </a:bodyPr>
            <a:lstStyle>
              <a:lvl1pPr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1pPr>
              <a:lvl2pPr marL="4095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2pPr>
              <a:lvl3pPr marL="820738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3pPr>
              <a:lvl4pPr marL="1230313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4pPr>
              <a:lvl5pPr marL="1641475" defTabSz="820738"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5pPr>
              <a:lvl6pPr marL="20986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6pPr>
              <a:lvl7pPr marL="25558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7pPr>
              <a:lvl8pPr marL="30130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8pPr>
              <a:lvl9pPr marL="3470275" defTabSz="82073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charset="0"/>
                  <a:ea typeface="ＭＳ Ｐゴシック" charset="0"/>
                </a:defRPr>
              </a:lvl9pPr>
            </a:lstStyle>
            <a:p>
              <a:pPr eaLnBrk="1" hangingPunct="1"/>
              <a:r>
                <a:rPr lang="en-US" sz="2000" dirty="0">
                  <a:solidFill>
                    <a:srgbClr val="FF0000"/>
                  </a:solidFill>
                  <a:latin typeface="+mn-lt"/>
                </a:rPr>
                <a:t>Timeout</a:t>
              </a:r>
            </a:p>
            <a:p>
              <a:pPr eaLnBrk="1" hangingPunct="1"/>
              <a:r>
                <a:rPr lang="en-US" sz="2000" dirty="0">
                  <a:solidFill>
                    <a:srgbClr val="FF0000"/>
                  </a:solidFill>
                  <a:latin typeface="+mn-lt"/>
                </a:rPr>
                <a:t>Packet 4</a:t>
              </a:r>
            </a:p>
          </p:txBody>
        </p:sp>
      </p:grpSp>
      <p:sp>
        <p:nvSpPr>
          <p:cNvPr id="62" name="Text Box 21"/>
          <p:cNvSpPr txBox="1">
            <a:spLocks noChangeArrowheads="1"/>
          </p:cNvSpPr>
          <p:nvPr/>
        </p:nvSpPr>
        <p:spPr bwMode="auto">
          <a:xfrm>
            <a:off x="3056322" y="4776126"/>
            <a:ext cx="321210" cy="452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82058" tIns="41029" rIns="82058" bIns="41029">
            <a:spAutoFit/>
          </a:bodyPr>
          <a:lstStyle>
            <a:lvl1pPr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1pPr>
            <a:lvl2pPr marL="409575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820738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230313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1641475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0986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5558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0130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4702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r>
              <a:rPr lang="en-US" dirty="0">
                <a:latin typeface="+mn-lt"/>
              </a:rPr>
              <a:t>4</a:t>
            </a:r>
          </a:p>
        </p:txBody>
      </p:sp>
      <p:sp>
        <p:nvSpPr>
          <p:cNvPr id="63" name="Text Box 32"/>
          <p:cNvSpPr txBox="1">
            <a:spLocks noChangeArrowheads="1"/>
          </p:cNvSpPr>
          <p:nvPr/>
        </p:nvSpPr>
        <p:spPr bwMode="auto">
          <a:xfrm rot="21254809">
            <a:off x="5755942" y="5566601"/>
            <a:ext cx="79214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99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ACK=4</a:t>
            </a:r>
          </a:p>
        </p:txBody>
      </p:sp>
      <p:sp>
        <p:nvSpPr>
          <p:cNvPr id="64" name="Text Box 26"/>
          <p:cNvSpPr txBox="1">
            <a:spLocks noChangeArrowheads="1"/>
          </p:cNvSpPr>
          <p:nvPr/>
        </p:nvSpPr>
        <p:spPr bwMode="auto">
          <a:xfrm>
            <a:off x="3048000" y="5948610"/>
            <a:ext cx="321210" cy="4521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82058" tIns="41029" rIns="82058" bIns="41029">
            <a:spAutoFit/>
          </a:bodyPr>
          <a:lstStyle>
            <a:lvl1pPr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1pPr>
            <a:lvl2pPr marL="409575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2pPr>
            <a:lvl3pPr marL="820738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3pPr>
            <a:lvl4pPr marL="1230313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4pPr>
            <a:lvl5pPr marL="1641475" defTabSz="820738"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5pPr>
            <a:lvl6pPr marL="20986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6pPr>
            <a:lvl7pPr marL="25558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7pPr>
            <a:lvl8pPr marL="30130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8pPr>
            <a:lvl9pPr marL="3470275" defTabSz="820738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charset="0"/>
                <a:ea typeface="ＭＳ Ｐゴシック" charset="0"/>
              </a:defRPr>
            </a:lvl9pPr>
          </a:lstStyle>
          <a:p>
            <a:pPr eaLnBrk="1" hangingPunct="1"/>
            <a:r>
              <a:rPr lang="en-US">
                <a:latin typeface="+mn-lt"/>
              </a:rPr>
              <a:t>7</a:t>
            </a:r>
          </a:p>
        </p:txBody>
      </p:sp>
      <p:sp>
        <p:nvSpPr>
          <p:cNvPr id="65" name="Line 45"/>
          <p:cNvSpPr>
            <a:spLocks noChangeShapeType="1"/>
          </p:cNvSpPr>
          <p:nvPr/>
        </p:nvSpPr>
        <p:spPr bwMode="auto">
          <a:xfrm>
            <a:off x="3581400" y="6248400"/>
            <a:ext cx="3048000" cy="304800"/>
          </a:xfrm>
          <a:prstGeom prst="line">
            <a:avLst/>
          </a:prstGeom>
          <a:noFill/>
          <a:ln w="38100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6" name="Text Box 46"/>
          <p:cNvSpPr txBox="1">
            <a:spLocks noChangeArrowheads="1"/>
          </p:cNvSpPr>
          <p:nvPr/>
        </p:nvSpPr>
        <p:spPr bwMode="auto">
          <a:xfrm>
            <a:off x="1622065" y="5907247"/>
            <a:ext cx="1133325" cy="459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bg2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r>
              <a:rPr lang="en-US" sz="2400" dirty="0"/>
              <a:t>{7, 8, 9}</a:t>
            </a:r>
          </a:p>
        </p:txBody>
      </p:sp>
      <p:sp>
        <p:nvSpPr>
          <p:cNvPr id="67" name="Text Box 10"/>
          <p:cNvSpPr txBox="1">
            <a:spLocks noChangeArrowheads="1"/>
          </p:cNvSpPr>
          <p:nvPr/>
        </p:nvSpPr>
        <p:spPr bwMode="auto">
          <a:xfrm>
            <a:off x="2813311" y="6400801"/>
            <a:ext cx="1064693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 dirty="0"/>
              <a:t>Sender</a:t>
            </a:r>
          </a:p>
        </p:txBody>
      </p:sp>
      <p:sp>
        <p:nvSpPr>
          <p:cNvPr id="68" name="Text Box 11"/>
          <p:cNvSpPr txBox="1">
            <a:spLocks noChangeArrowheads="1"/>
          </p:cNvSpPr>
          <p:nvPr/>
        </p:nvSpPr>
        <p:spPr bwMode="auto">
          <a:xfrm>
            <a:off x="8184696" y="6400801"/>
            <a:ext cx="1251859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91429" tIns="45714" rIns="91429" bIns="45714" anchor="ctr">
            <a:spAutoFit/>
          </a:bodyPr>
          <a:lstStyle/>
          <a:p>
            <a:pPr algn="ctr">
              <a:spcBef>
                <a:spcPct val="20000"/>
              </a:spcBef>
            </a:pPr>
            <a:r>
              <a:rPr lang="en-US" sz="2400" dirty="0"/>
              <a:t>Receiver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93326" y="4233446"/>
            <a:ext cx="99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Buffered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890001" y="4552063"/>
            <a:ext cx="99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Buffered</a:t>
            </a:r>
          </a:p>
        </p:txBody>
      </p:sp>
    </p:spTree>
    <p:extLst>
      <p:ext uri="{BB962C8B-B14F-4D97-AF65-F5344CB8AC3E}">
        <p14:creationId xmlns:p14="http://schemas.microsoft.com/office/powerpoint/2010/main" val="883541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7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7468" grpId="0" animBg="1"/>
      <p:bldP spid="1127469" grpId="0" animBg="1"/>
      <p:bldP spid="1127470" grpId="0" animBg="1"/>
      <p:bldP spid="1127472" grpId="0" animBg="1"/>
      <p:bldP spid="1127472" grpId="1" animBg="1"/>
      <p:bldP spid="1127473" grpId="0" animBg="1"/>
      <p:bldP spid="1127473" grpId="1" animBg="1"/>
      <p:bldP spid="1127474" grpId="0" animBg="1"/>
      <p:bldP spid="49" grpId="0"/>
      <p:bldP spid="50" grpId="0"/>
      <p:bldP spid="62" grpId="0"/>
      <p:bldP spid="63" grpId="0"/>
      <p:bldP spid="64" grpId="0"/>
      <p:bldP spid="65" grpId="0" animBg="1"/>
      <p:bldP spid="66" grpId="0"/>
      <p:bldP spid="69" grpId="0"/>
      <p:bldP spid="7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pPr algn="l"/>
            <a:r>
              <a:rPr lang="en-GB" altLang="zh-CN" dirty="0"/>
              <a:t>TCP is a transport layer protocol on top of IP</a:t>
            </a:r>
          </a:p>
          <a:p>
            <a:pPr lvl="1"/>
            <a:r>
              <a:rPr lang="en-GB" altLang="zh-CN" dirty="0"/>
              <a:t>It provides a reliable, ordered, and error-checked byte stream abstraction</a:t>
            </a:r>
          </a:p>
          <a:p>
            <a:r>
              <a:rPr lang="en-GB" altLang="zh-CN" dirty="0"/>
              <a:t>TCP headers look like the following</a:t>
            </a:r>
            <a:r>
              <a:rPr lang="en-US" altLang="zh-CN" dirty="0"/>
              <a:t>:</a:t>
            </a:r>
            <a:endParaRPr lang="en-GB" altLang="zh-CN" b="0" i="0" dirty="0">
              <a:solidFill>
                <a:srgbClr val="333333"/>
              </a:solidFill>
              <a:effectLst/>
              <a:latin typeface="Arial" panose="020B0604020202020204" pitchFamily="34" charset="0"/>
            </a:endParaRPr>
          </a:p>
          <a:p>
            <a:pPr lvl="2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TCP: Overview</a:t>
            </a:r>
            <a:endParaRPr lang="en-US" b="1" dirty="0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E9AA9C4-9EA4-E7E2-3352-19E65C3C6C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2966843"/>
            <a:ext cx="7772400" cy="3142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8924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2EB615-7686-AE1A-FD7F-131B6241A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altLang="zh-CN" b="1" dirty="0"/>
              <a:t>TCP: Overview</a:t>
            </a:r>
            <a:endParaRPr lang="zh-CN" altLang="en-US" b="1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55D30E2-659E-77E4-7578-5410273753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altLang="zh-CN" dirty="0"/>
              <a:t>Reliable</a:t>
            </a:r>
          </a:p>
          <a:p>
            <a:pPr lvl="1"/>
            <a:r>
              <a:rPr lang="en-GB" altLang="zh-CN" dirty="0"/>
              <a:t>TCP attempts to resend lost packets; provides a “lossless” view to the application</a:t>
            </a:r>
          </a:p>
          <a:p>
            <a:r>
              <a:rPr lang="en-GB" altLang="zh-CN" dirty="0"/>
              <a:t>Ordered </a:t>
            </a:r>
          </a:p>
          <a:p>
            <a:pPr lvl="1"/>
            <a:r>
              <a:rPr lang="en-GB" altLang="zh-CN" dirty="0"/>
              <a:t>TCP guarantees that the receiver application reads the data in the same order that it was sent</a:t>
            </a:r>
          </a:p>
          <a:p>
            <a:r>
              <a:rPr lang="en-GB" altLang="zh-CN" dirty="0"/>
              <a:t>Error-checked </a:t>
            </a:r>
          </a:p>
          <a:p>
            <a:pPr lvl="1"/>
            <a:r>
              <a:rPr lang="en-GB" altLang="zh-CN" dirty="0"/>
              <a:t>TCP provides a checksum to detect errors in the received data</a:t>
            </a:r>
          </a:p>
          <a:p>
            <a:r>
              <a:rPr lang="en-GB" altLang="zh-CN" dirty="0"/>
              <a:t>Byte stream </a:t>
            </a:r>
          </a:p>
          <a:p>
            <a:pPr lvl="1"/>
            <a:r>
              <a:rPr lang="en-GB" altLang="zh-CN" dirty="0"/>
              <a:t>TCP provides the view of a “stream of bytes” rather than discrete packets to the application 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3276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Q1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File</a:t>
            </a:r>
            <a:r>
              <a:rPr lang="zh-CN" altLang="en-US" b="1" dirty="0"/>
              <a:t> </a:t>
            </a:r>
            <a:r>
              <a:rPr lang="en-US" altLang="zh-CN" b="1" dirty="0"/>
              <a:t>Transfer</a:t>
            </a:r>
            <a:r>
              <a:rPr lang="zh-CN" altLang="en-US" b="1" dirty="0"/>
              <a:t> 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90"/>
            <a:ext cx="10515600" cy="1796573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Consider transferring an enormous file of </a:t>
            </a:r>
            <a:r>
              <a:rPr lang="zh-CN" altLang="zh-CN" sz="2400" b="1" i="1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L</a:t>
            </a:r>
            <a:r>
              <a:rPr lang="zh-CN" altLang="zh-CN" sz="2400" b="1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bytes from host A to host B.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</a:b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What is the maximum value of </a:t>
            </a:r>
            <a:r>
              <a:rPr lang="zh-CN" altLang="zh-CN" sz="2400" b="1" i="1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L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such that we don’t run out of TCP sequence numbers? </a:t>
            </a:r>
            <a:endParaRPr lang="zh-CN" altLang="zh-CN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- Note:TCP sequence number is 4 bytes in the header </a:t>
            </a:r>
            <a:endParaRPr lang="zh-CN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72AB98-FEB9-BA41-8381-4271E43F2E34}"/>
              </a:ext>
            </a:extLst>
          </p:cNvPr>
          <p:cNvSpPr txBox="1"/>
          <p:nvPr/>
        </p:nvSpPr>
        <p:spPr>
          <a:xfrm>
            <a:off x="1333500" y="2873276"/>
            <a:ext cx="4025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2^32</a:t>
            </a:r>
            <a:r>
              <a:rPr lang="zh-CN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Bytes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3463686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Given </a:t>
            </a:r>
            <a:r>
              <a:rPr lang="en-US" altLang="zh-CN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L</a:t>
            </a:r>
            <a:r>
              <a:rPr lang="en-US" altLang="zh-CN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= 2^32 bytes, find how long it takes to transmit the file. Assume: </a:t>
            </a:r>
          </a:p>
          <a:p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-  MSS (max segment size) = 1460 Bytes </a:t>
            </a:r>
          </a:p>
          <a:p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-  MTU (max transmission unit) = 1500 Bytes </a:t>
            </a:r>
          </a:p>
          <a:p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-  128 </a:t>
            </a:r>
            <a:r>
              <a:rPr lang="en-US" altLang="zh-CN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Mbps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 link from A to B </a:t>
            </a:r>
          </a:p>
          <a:p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-  Ignore flow and congestion control, assume A sends as fast as possible contiguously. </a:t>
            </a:r>
          </a:p>
          <a:p>
            <a:endParaRPr kumimoji="1" lang="zh-CN" alt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E19F061-4194-2D4E-BB91-A3AA7D72FCD5}"/>
              </a:ext>
            </a:extLst>
          </p:cNvPr>
          <p:cNvSpPr txBox="1"/>
          <p:nvPr/>
        </p:nvSpPr>
        <p:spPr>
          <a:xfrm>
            <a:off x="1181100" y="5389004"/>
            <a:ext cx="6946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(2^32 / 1460 * 1500) / (128 *10^6 / 8) = 276 s 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amount of data / bandwidth </a:t>
            </a:r>
            <a:endParaRPr lang="en-US" altLang="zh-CN" sz="3200" dirty="0">
              <a:solidFill>
                <a:srgbClr val="FF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921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/>
      <p:bldP spid="1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b="1" dirty="0"/>
              <a:t>Q2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Segment</a:t>
            </a:r>
            <a:r>
              <a:rPr lang="zh-CN" altLang="en-US" b="1" dirty="0"/>
              <a:t> </a:t>
            </a:r>
            <a:r>
              <a:rPr lang="en-US" altLang="zh-CN" b="1" dirty="0"/>
              <a:t>Metadata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2377"/>
            <a:ext cx="10515600" cy="2181224"/>
          </a:xfrm>
          <a:ln w="31750"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Host A (sender) and B (receiver) are communicating over a TCP connection. Assume the following events happen in order: </a:t>
            </a:r>
            <a:endParaRPr lang="zh-CN" altLang="zh-CN" sz="105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000" dirty="0">
                <a:latin typeface="Arial" panose="020B0604020202020204" pitchFamily="34" charset="0"/>
                <a:ea typeface="GillSans" panose="020B0502020104020203" pitchFamily="34" charset="-79"/>
              </a:rPr>
              <a:t>  B has received the first 127 bytes of the flow from A, this consumes seq num 0-126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000" dirty="0">
                <a:latin typeface="Arial" panose="020B0604020202020204" pitchFamily="34" charset="0"/>
                <a:ea typeface="GillSans" panose="020B0502020104020203" pitchFamily="34" charset="-79"/>
              </a:rPr>
              <a:t>  A then sends two segments, S1 (80 bytes of data), S2 (40 bytes of data)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000" dirty="0">
                <a:latin typeface="Arial" panose="020B0604020202020204" pitchFamily="34" charset="0"/>
                <a:ea typeface="GillSans" panose="020B0502020104020203" pitchFamily="34" charset="-79"/>
              </a:rPr>
              <a:t>  S1 has sequence num 127, source port 30302, destination port 80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000" dirty="0">
                <a:latin typeface="Arial" panose="020B0604020202020204" pitchFamily="34" charset="0"/>
                <a:ea typeface="GillSans" panose="020B0502020104020203" pitchFamily="34" charset="-79"/>
              </a:rPr>
              <a:t>  B sends ACK1 and ACK2 to A when it receives the first / second segment respectively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zh-CN" altLang="zh-CN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zh-CN" altLang="zh-CN" sz="2000" dirty="0"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010B901-E06C-8A4E-AC29-A071B187A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90AF7EF-3AB5-8043-BA72-F8A7FA4BA3CE}"/>
              </a:ext>
            </a:extLst>
          </p:cNvPr>
          <p:cNvSpPr txBox="1"/>
          <p:nvPr/>
        </p:nvSpPr>
        <p:spPr>
          <a:xfrm>
            <a:off x="838200" y="3570270"/>
            <a:ext cx="9169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b="1" dirty="0">
                <a:latin typeface="Arial" panose="020B0604020202020204" pitchFamily="34" charset="0"/>
                <a:ea typeface="GillSans" panose="020B0502020104020203" pitchFamily="34" charset="-79"/>
              </a:rPr>
              <a:t>Assume S1 and S2 arrive in order </a:t>
            </a:r>
            <a:endParaRPr lang="zh-CN" altLang="zh-CN" sz="2000" dirty="0">
              <a:latin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For S2, what are the sequence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source port and destination port? </a:t>
            </a:r>
          </a:p>
          <a:p>
            <a:r>
              <a:rPr lang="zh-CN" altLang="en-U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lang="en-US" altLang="zh-CN" sz="20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207, Source port: 30302, Destination port: 80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For ACK1, what are the ack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source port and destination port? </a:t>
            </a:r>
          </a:p>
          <a:p>
            <a:r>
              <a:rPr lang="zh-CN" altLang="en-U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 </a:t>
            </a:r>
            <a:r>
              <a:rPr lang="en-US" altLang="zh-CN" sz="20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207, Source port: 80, Destination port: 30302 </a:t>
            </a:r>
          </a:p>
          <a:p>
            <a:endParaRPr lang="en-US" altLang="zh-CN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b="1" dirty="0"/>
              <a:t>Q3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Segment</a:t>
            </a:r>
            <a:r>
              <a:rPr lang="zh-CN" altLang="en-US" b="1" dirty="0"/>
              <a:t> </a:t>
            </a:r>
            <a:r>
              <a:rPr lang="en-US" altLang="zh-CN" b="1" dirty="0"/>
              <a:t>CWND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2377"/>
            <a:ext cx="10515600" cy="2181224"/>
          </a:xfrm>
          <a:ln w="31750"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sending a large file over a lossless TCP connection Assume: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 TCP uses AIMD for congestion control with slow start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 ssthres = 16 MSS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 Approximately constant RTT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 CWND starts at 1 MSS </a:t>
            </a:r>
            <a:endParaRPr lang="zh-CN" altLang="zh-CN" sz="900" dirty="0"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010B901-E06C-8A4E-AC29-A071B187A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90AF7EF-3AB5-8043-BA72-F8A7FA4BA3CE}"/>
              </a:ext>
            </a:extLst>
          </p:cNvPr>
          <p:cNvSpPr txBox="1"/>
          <p:nvPr/>
        </p:nvSpPr>
        <p:spPr>
          <a:xfrm>
            <a:off x="838200" y="3794981"/>
            <a:ext cx="10248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Q: </a:t>
            </a:r>
            <a:r>
              <a:rPr lang="zh-CN" altLang="zh-CN" sz="2400" dirty="0">
                <a:latin typeface="Arial" panose="020B0604020202020204" pitchFamily="34" charset="0"/>
              </a:rPr>
              <a:t>How long does it take for CWND to increase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from 1 MSS to 20 MSS?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2400" dirty="0">
                <a:solidFill>
                  <a:srgbClr val="FF0000"/>
                </a:solidFill>
                <a:latin typeface="Arial" panose="020B0604020202020204" pitchFamily="34" charset="0"/>
                <a:ea typeface="GillSans" panose="020B0502020104020203" pitchFamily="34" charset="-79"/>
              </a:rPr>
              <a:t>      </a:t>
            </a:r>
            <a:r>
              <a:rPr lang="zh-CN" altLang="zh-CN" sz="2400" dirty="0">
                <a:solidFill>
                  <a:srgbClr val="FF0000"/>
                </a:solidFill>
                <a:latin typeface="Arial" panose="020B0604020202020204" pitchFamily="34" charset="0"/>
                <a:ea typeface="GillSans" panose="020B0502020104020203" pitchFamily="34" charset="-79"/>
              </a:rPr>
              <a:t>CWND: 1 2 4 8 16 17 18 19 20; 8 RTT </a:t>
            </a:r>
            <a:endParaRPr lang="zh-CN" altLang="zh-CN" sz="1600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361F6D1-8918-B14A-B889-CE8C761EA891}"/>
              </a:ext>
            </a:extLst>
          </p:cNvPr>
          <p:cNvSpPr txBox="1"/>
          <p:nvPr/>
        </p:nvSpPr>
        <p:spPr>
          <a:xfrm>
            <a:off x="838200" y="4756322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</a:rPr>
              <a:t>Q:</a:t>
            </a:r>
            <a:r>
              <a:rPr lang="zh-CN" altLang="en-US" sz="2400" dirty="0">
                <a:latin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</a:rPr>
              <a:t>What is the average throughput (in terms of MSS and RTT) of the above </a:t>
            </a:r>
            <a:r>
              <a:rPr lang="zh-CN" altLang="en-US" sz="2400" dirty="0">
                <a:latin typeface="Arial" panose="020B0604020202020204" pitchFamily="34" charset="0"/>
              </a:rPr>
              <a:t>      </a:t>
            </a:r>
            <a:endParaRPr lang="en-US" altLang="zh-CN" sz="2400" dirty="0">
              <a:latin typeface="Arial" panose="020B0604020202020204" pitchFamily="34" charset="0"/>
            </a:endParaRPr>
          </a:p>
          <a:p>
            <a:r>
              <a:rPr lang="zh-CN" altLang="en-US" sz="2400" dirty="0">
                <a:latin typeface="Arial" panose="020B0604020202020204" pitchFamily="34" charset="0"/>
              </a:rPr>
              <a:t>     </a:t>
            </a:r>
            <a:r>
              <a:rPr lang="en-US" altLang="zh-CN" sz="2400" dirty="0">
                <a:latin typeface="Arial" panose="020B0604020202020204" pitchFamily="34" charset="0"/>
              </a:rPr>
              <a:t>process? </a:t>
            </a:r>
          </a:p>
          <a:p>
            <a:r>
              <a:rPr lang="zh-CN" altLang="en-US" sz="2400" dirty="0">
                <a:solidFill>
                  <a:srgbClr val="FF0000"/>
                </a:solidFill>
                <a:latin typeface="Arial" panose="020B0604020202020204" pitchFamily="34" charset="0"/>
              </a:rPr>
              <a:t>      </a:t>
            </a:r>
            <a:r>
              <a:rPr lang="en-US" altLang="zh-CN" sz="2400" dirty="0">
                <a:solidFill>
                  <a:srgbClr val="FF0000"/>
                </a:solidFill>
                <a:latin typeface="Arial" panose="020B0604020202020204" pitchFamily="34" charset="0"/>
              </a:rPr>
              <a:t>(1+2+4+8+16+17+18+19) / 8 = 85 MSS / 8 RTT </a:t>
            </a:r>
          </a:p>
        </p:txBody>
      </p:sp>
    </p:spTree>
    <p:extLst>
      <p:ext uri="{BB962C8B-B14F-4D97-AF65-F5344CB8AC3E}">
        <p14:creationId xmlns:p14="http://schemas.microsoft.com/office/powerpoint/2010/main" val="986868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Q1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Congestion</a:t>
            </a:r>
            <a:r>
              <a:rPr lang="zh-CN" altLang="en-US" b="1" dirty="0"/>
              <a:t> </a:t>
            </a:r>
            <a:r>
              <a:rPr lang="en-US" altLang="zh-CN" b="1" dirty="0"/>
              <a:t>Control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90"/>
            <a:ext cx="10515600" cy="1796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Assuming TCP Reno is the protocol experiencing the behavior shown above, answer the following questions. In all cases, you should provide a short discussion justifying your answer. </a:t>
            </a:r>
            <a:endParaRPr lang="en-US" altLang="zh-CN" sz="1800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5609690" y="2999651"/>
            <a:ext cx="574411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1900595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400" dirty="0"/>
              <a:t>1.</a:t>
            </a:r>
            <a:r>
              <a:rPr lang="zh-CN" altLang="en-US" sz="2400" dirty="0"/>
              <a:t> </a:t>
            </a:r>
            <a:r>
              <a:rPr lang="en-US" altLang="zh-CN" sz="2400" dirty="0"/>
              <a:t>Identify the intervals of time when TCP slow start is operating. </a:t>
            </a:r>
          </a:p>
          <a:p>
            <a:pPr marL="0" indent="0">
              <a:buNone/>
            </a:pPr>
            <a:r>
              <a:rPr lang="en-US" altLang="zh-CN" sz="2400" dirty="0"/>
              <a:t>2.</a:t>
            </a:r>
            <a:r>
              <a:rPr lang="zh-CN" altLang="en-US" sz="2400" dirty="0"/>
              <a:t> </a:t>
            </a:r>
            <a:r>
              <a:rPr lang="en-US" altLang="zh-CN" sz="2400" dirty="0"/>
              <a:t>Identify the intervals of time when TCP congestion avoidance is operating. </a:t>
            </a:r>
          </a:p>
        </p:txBody>
      </p:sp>
      <p:pic>
        <p:nvPicPr>
          <p:cNvPr id="1025" name="Picture 1" descr="page340image655428608">
            <a:extLst>
              <a:ext uri="{FF2B5EF4-FFF2-40B4-BE49-F238E27FC236}">
                <a16:creationId xmlns:a16="http://schemas.microsoft.com/office/drawing/2014/main" id="{00529F8E-5F83-AF4F-95D7-6842C66B09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964704"/>
            <a:ext cx="4445000" cy="345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2F0F3FF-AE4A-F4A7-F52C-54F16BC5861E}"/>
              </a:ext>
            </a:extLst>
          </p:cNvPr>
          <p:cNvSpPr txBox="1"/>
          <p:nvPr/>
        </p:nvSpPr>
        <p:spPr>
          <a:xfrm>
            <a:off x="5717001" y="3090425"/>
            <a:ext cx="22557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0000"/>
                </a:solidFill>
              </a:rPr>
              <a:t>[1,6] and [23,26]</a:t>
            </a:r>
          </a:p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0000"/>
                </a:solidFill>
              </a:rPr>
              <a:t>[6,16] and [17,22]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99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Q1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Congestion</a:t>
            </a:r>
            <a:r>
              <a:rPr lang="zh-CN" altLang="en-US" b="1" dirty="0"/>
              <a:t> </a:t>
            </a:r>
            <a:r>
              <a:rPr lang="en-US" altLang="zh-CN" b="1" dirty="0"/>
              <a:t>Control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90"/>
            <a:ext cx="10515600" cy="1796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Assuming TCP Reno is the protocol experiencing the behavior shown above, answer the following questions. In all cases, you should provide a short discussion justifying your answer. </a:t>
            </a:r>
            <a:endParaRPr lang="en-US" altLang="zh-CN" sz="1800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1900595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After the 16th transmission round, is segment loss detected by a triple duplicate ACK or by a timeout? </a:t>
            </a:r>
          </a:p>
          <a:p>
            <a:pPr marL="0" indent="0">
              <a:buNone/>
            </a:pPr>
            <a:r>
              <a:rPr lang="en-US" altLang="zh-CN" sz="2000" dirty="0"/>
              <a:t>4.</a:t>
            </a:r>
            <a:r>
              <a:rPr lang="zh-CN" altLang="en-US" sz="2000" dirty="0"/>
              <a:t> </a:t>
            </a:r>
            <a:r>
              <a:rPr lang="en-US" altLang="zh-CN" sz="2000" dirty="0"/>
              <a:t>After the 22nd transmission round, is segment loss detected by a triple duplicate ACK or by a timeout? </a:t>
            </a:r>
          </a:p>
        </p:txBody>
      </p:sp>
      <p:pic>
        <p:nvPicPr>
          <p:cNvPr id="1025" name="Picture 1" descr="page340image655428608">
            <a:extLst>
              <a:ext uri="{FF2B5EF4-FFF2-40B4-BE49-F238E27FC236}">
                <a16:creationId xmlns:a16="http://schemas.microsoft.com/office/drawing/2014/main" id="{00529F8E-5F83-AF4F-95D7-6842C66B09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214063"/>
            <a:ext cx="4445000" cy="345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4BEA162-AFAC-5630-C08C-1DC2BE83EB68}"/>
              </a:ext>
            </a:extLst>
          </p:cNvPr>
          <p:cNvSpPr txBox="1"/>
          <p:nvPr/>
        </p:nvSpPr>
        <p:spPr>
          <a:xfrm>
            <a:off x="5535728" y="3204429"/>
            <a:ext cx="63225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0000"/>
                </a:solidFill>
              </a:rPr>
              <a:t>Duplicate ACK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rgbClr val="FF0000"/>
                </a:solidFill>
              </a:rPr>
              <a:t>Cut the </a:t>
            </a:r>
            <a:r>
              <a:rPr kumimoji="1" lang="en-US" altLang="zh-CN" dirty="0" err="1">
                <a:solidFill>
                  <a:srgbClr val="FF0000"/>
                </a:solidFill>
              </a:rPr>
              <a:t>ssthresh</a:t>
            </a:r>
            <a:r>
              <a:rPr kumimoji="1" lang="en-US" altLang="zh-CN" dirty="0">
                <a:solidFill>
                  <a:srgbClr val="FF0000"/>
                </a:solidFill>
              </a:rPr>
              <a:t> in half and set CWND to </a:t>
            </a:r>
            <a:r>
              <a:rPr kumimoji="1" lang="en-US" altLang="zh-CN" dirty="0" err="1">
                <a:solidFill>
                  <a:srgbClr val="FF0000"/>
                </a:solidFill>
              </a:rPr>
              <a:t>ssthresh</a:t>
            </a:r>
            <a:r>
              <a:rPr kumimoji="1" lang="en-US" altLang="zh-CN" dirty="0">
                <a:solidFill>
                  <a:srgbClr val="FF0000"/>
                </a:solidFill>
              </a:rPr>
              <a:t> </a:t>
            </a:r>
            <a:r>
              <a:rPr kumimoji="1" lang="en-US" altLang="zh-CN">
                <a:solidFill>
                  <a:srgbClr val="FF0000"/>
                </a:solidFill>
              </a:rPr>
              <a:t>+ 3</a:t>
            </a:r>
            <a:endParaRPr kumimoji="1" lang="en-US" altLang="zh-CN" dirty="0">
              <a:solidFill>
                <a:srgbClr val="FF0000"/>
              </a:solidFill>
            </a:endParaRPr>
          </a:p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0000"/>
                </a:solidFill>
              </a:rPr>
              <a:t>Timeout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rgbClr val="FF0000"/>
                </a:solidFill>
              </a:rPr>
              <a:t>Return to slow start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504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Q1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Congestion</a:t>
            </a:r>
            <a:r>
              <a:rPr lang="zh-CN" altLang="en-US" b="1" dirty="0"/>
              <a:t> </a:t>
            </a:r>
            <a:r>
              <a:rPr lang="en-US" altLang="zh-CN" b="1" dirty="0"/>
              <a:t>Control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90"/>
            <a:ext cx="10515600" cy="1796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Assuming TCP Reno is the protocol experiencing the behavior shown above, answer the following questions. In all cases, you should provide a short discussion justifying your answer. </a:t>
            </a:r>
            <a:endParaRPr lang="en-US" altLang="zh-CN" sz="1800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1857179"/>
            <a:ext cx="10515600" cy="13134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000" dirty="0"/>
              <a:t>5.</a:t>
            </a:r>
            <a:r>
              <a:rPr lang="zh-CN" altLang="en-US" sz="2000" dirty="0"/>
              <a:t> </a:t>
            </a:r>
            <a:r>
              <a:rPr lang="en-US" altLang="zh-CN" sz="2000" dirty="0"/>
              <a:t>What is the initial value of </a:t>
            </a:r>
            <a:r>
              <a:rPr lang="en-US" altLang="zh-CN" sz="2000" i="1" dirty="0" err="1"/>
              <a:t>ssthresh</a:t>
            </a:r>
            <a:r>
              <a:rPr lang="en-US" altLang="zh-CN" sz="2000" i="1" dirty="0"/>
              <a:t> </a:t>
            </a:r>
            <a:r>
              <a:rPr lang="en-US" altLang="zh-CN" sz="2000" dirty="0"/>
              <a:t>at the first transmission round? </a:t>
            </a:r>
          </a:p>
          <a:p>
            <a:pPr marL="0" indent="0">
              <a:buNone/>
            </a:pPr>
            <a:r>
              <a:rPr lang="en-US" altLang="zh-CN" sz="2000" dirty="0"/>
              <a:t>6.</a:t>
            </a:r>
            <a:r>
              <a:rPr lang="zh-CN" altLang="en-US" sz="2000" dirty="0"/>
              <a:t> </a:t>
            </a:r>
            <a:r>
              <a:rPr lang="en-US" altLang="zh-CN" sz="2000" dirty="0"/>
              <a:t>What is the value of </a:t>
            </a:r>
            <a:r>
              <a:rPr lang="en-US" altLang="zh-CN" sz="2000" i="1" dirty="0" err="1"/>
              <a:t>ssthresh</a:t>
            </a:r>
            <a:r>
              <a:rPr lang="en-US" altLang="zh-CN" sz="2000" i="1" dirty="0"/>
              <a:t> </a:t>
            </a:r>
            <a:r>
              <a:rPr lang="en-US" altLang="zh-CN" sz="2000" dirty="0"/>
              <a:t>at the 18th transmission round? </a:t>
            </a:r>
          </a:p>
          <a:p>
            <a:pPr marL="0" indent="0">
              <a:buNone/>
            </a:pPr>
            <a:r>
              <a:rPr lang="en-US" altLang="zh-CN" sz="2000" dirty="0"/>
              <a:t>7.</a:t>
            </a:r>
            <a:r>
              <a:rPr lang="zh-CN" altLang="en-US" sz="2000" dirty="0"/>
              <a:t> </a:t>
            </a:r>
            <a:r>
              <a:rPr lang="en-US" altLang="zh-CN" sz="2000" dirty="0"/>
              <a:t>What is the value of </a:t>
            </a:r>
            <a:r>
              <a:rPr lang="en-US" altLang="zh-CN" sz="2000" i="1" dirty="0" err="1"/>
              <a:t>ssthresh</a:t>
            </a:r>
            <a:r>
              <a:rPr lang="en-US" altLang="zh-CN" sz="2000" i="1" dirty="0"/>
              <a:t> </a:t>
            </a:r>
            <a:r>
              <a:rPr lang="en-US" altLang="zh-CN" sz="2000" dirty="0"/>
              <a:t>at the 24th transmission round? </a:t>
            </a:r>
          </a:p>
          <a:p>
            <a:endParaRPr lang="en-US" altLang="zh-CN" sz="2000" dirty="0"/>
          </a:p>
        </p:txBody>
      </p:sp>
      <p:pic>
        <p:nvPicPr>
          <p:cNvPr id="1025" name="Picture 1" descr="page340image655428608">
            <a:extLst>
              <a:ext uri="{FF2B5EF4-FFF2-40B4-BE49-F238E27FC236}">
                <a16:creationId xmlns:a16="http://schemas.microsoft.com/office/drawing/2014/main" id="{00529F8E-5F83-AF4F-95D7-6842C66B09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214063"/>
            <a:ext cx="4445000" cy="345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5A57893-D7D3-F85D-64CC-79A3D8530124}"/>
              </a:ext>
            </a:extLst>
          </p:cNvPr>
          <p:cNvSpPr txBox="1"/>
          <p:nvPr/>
        </p:nvSpPr>
        <p:spPr>
          <a:xfrm>
            <a:off x="6616557" y="3667874"/>
            <a:ext cx="6639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5.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6.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21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7.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62651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51400" y="3167390"/>
            <a:ext cx="26035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</TotalTime>
  <Words>927</Words>
  <Application>Microsoft Macintosh PowerPoint</Application>
  <PresentationFormat>宽屏</PresentationFormat>
  <Paragraphs>128</Paragraphs>
  <Slides>12</Slides>
  <Notes>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等线 Light</vt:lpstr>
      <vt:lpstr>Arial</vt:lpstr>
      <vt:lpstr>Calibri</vt:lpstr>
      <vt:lpstr>Office 主题​​</vt:lpstr>
      <vt:lpstr>CSCI 4430 - Fall 25</vt:lpstr>
      <vt:lpstr>GBN example with errors</vt:lpstr>
      <vt:lpstr>SR example with errors</vt:lpstr>
      <vt:lpstr>PowerPoint 演示文稿</vt:lpstr>
      <vt:lpstr>TCP: Overview</vt:lpstr>
      <vt:lpstr>Q1 TCP File Transfer </vt:lpstr>
      <vt:lpstr>Q2 TCP Segment Metadata</vt:lpstr>
      <vt:lpstr>Q3 TCP Segment CWND</vt:lpstr>
      <vt:lpstr>Q1 TCP Congestion Control</vt:lpstr>
      <vt:lpstr>Q1 TCP Congestion Control</vt:lpstr>
      <vt:lpstr>Q1 TCP Congestion Control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Fall 23</dc:title>
  <dc:creator>YANG, Yitao</dc:creator>
  <cp:lastModifiedBy>Yangtao Deng</cp:lastModifiedBy>
  <cp:revision>27</cp:revision>
  <dcterms:created xsi:type="dcterms:W3CDTF">2023-10-18T06:38:25Z</dcterms:created>
  <dcterms:modified xsi:type="dcterms:W3CDTF">2025-10-19T12:01:51Z</dcterms:modified>
</cp:coreProperties>
</file>
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562" r:id="rId3"/>
    <p:sldId id="563" r:id="rId4"/>
    <p:sldId id="573" r:id="rId5"/>
    <p:sldId id="572" r:id="rId6"/>
    <p:sldId id="294" r:id="rId7"/>
    <p:sldId id="281" r:id="rId8"/>
    <p:sldId id="286" r:id="rId9"/>
    <p:sldId id="287" r:id="rId10"/>
    <p:sldId id="288" r:id="rId11"/>
    <p:sldId id="290" r:id="rId12"/>
    <p:sldId id="2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1206"/>
  </p:normalViewPr>
  <p:slideViewPr>
    <p:cSldViewPr snapToGrid="0">
      <p:cViewPr varScale="1">
        <p:scale>
          <a:sx n="111" d="100"/>
          <a:sy n="111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C88A3-225C-C54C-8A34-E1556A06088C}" type="datetimeFigureOut">
              <a:rPr kumimoji="1" lang="zh-CN" altLang="en-US" smtClean="0"/>
              <a:t>2025/10/19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92774-4017-1642-A6FA-0BE759D4C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037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1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92774-4017-1642-A6FA-0BE759D4C45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615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92774-4017-1642-A6FA-0BE759D4C45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318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92774-4017-1642-A6FA-0BE759D4C45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536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92774-4017-1642-A6FA-0BE759D4C45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690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43BD0-E404-A16A-33B8-2CEADDE73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9F2310-3F99-16E9-DDC4-C544FF464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E73EF6-F208-9162-20D0-EF97F9CC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800820-D3BE-9DF1-2E96-772E4DF8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3DF8F-2629-C99B-A529-AC633DFF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7E6FE-7113-5D8A-89FB-E6BD934F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1C857-B8E9-5C38-AC16-9477CDBEB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C1838-8FA0-CADF-4149-6FD52912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BA4EC-E876-6917-0EA5-945B55F1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483CC-15AE-419E-5825-AC1D9024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1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99B44-9063-8025-8F32-AFA815A1F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05FDC2-FCF2-B437-6284-370EDE5DC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22484-E066-327B-AB31-9DC5D21A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B2B64-F253-2A69-CA51-22DA6430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75168-18B1-EA6A-15CF-14DAC0F3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21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B4857-56E6-66BC-F109-1ABA199D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94CA1-01DA-22BB-EE6A-C84FE7366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EE35AB-B337-BEF1-A84A-24AED157A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962B81-4689-0942-E054-94DFAB89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78C135-B7BB-8E12-26B7-CDDD204C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0D2E43-306A-E0C2-0F07-06023516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22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299AF-BB00-31BE-663D-9C01EE8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AFCA6B-FA77-0065-D898-41B607F09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922279-5707-CF95-A9F0-EDD4BAD3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D1630B-880C-FE04-C500-4C72168DA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352AF3-0D49-FA30-CF47-78A8C0212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37124-EA58-B8ED-F7DB-F33E551B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7550C2-FA05-9E02-6A42-ED7F83A1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30FEC9-F961-E43B-F4ED-1E8D4C02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1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FCBDF-B6D2-DF24-87A1-D3127417B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DBDBB8-AE05-5E43-00EE-89D0A53A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9B0DA6-425A-BCD2-D889-0F534000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386C96-C3CE-1942-926C-755F13A4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29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89A04-1AE0-52A5-F744-C549AACD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C4599B-5AB9-D90C-BC6C-98262C27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0765A7-4634-C0EB-3426-C18B3B24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7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1096-DBFB-A0DF-BD16-CB8C0B63F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4099B-395A-0A08-2E08-F7EFCD7E8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6BE8EB-4859-D63E-C7AF-D8F59660D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F5FEC4-6EBB-3894-3755-BABB67CE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4FD242-CD2D-7465-C417-C5E9F8EE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EB0F49-4320-BB46-8EBA-18F5125A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11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C172C-0869-9F25-FFC7-66F1CF49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A625A8-BD9A-A159-CAA7-C95ABD479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A3A3D6-D107-4BFE-63E0-19BC02650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2E0338-25BC-FD88-172F-D7525F2B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BAC519-8DAE-73F9-9CED-A6F2F409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EAC693-93E9-B49E-4D9E-5DFECF8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41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6E3CB-195E-7202-7DF4-E0871A66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375E20-162D-3D86-5553-1855B6E7B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2E264-7B61-7327-FF46-7CFAC5CD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F0BFC-00EF-7D6E-3425-28B949AB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2D411-F927-3B3A-D5AE-9D16A4C2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17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69D3A5-E6CF-C193-990C-E06C83545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6278FC-92EF-4E3C-81E8-3A65F49D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1668A-1D69-3690-94AD-62397561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92DFB-763F-3D1C-BD26-D74C339C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4567F6-DDD9-D786-D36A-027DD5A3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8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20EA6C-481E-B83F-C158-62AB0297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1E4D31-E687-B255-737C-ECD2DAD19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3DB9D-C5E9-0748-DD55-C7C3E3A7F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5BCCB-63DF-4C10-BABD-690A1C60C87A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68422-DAAA-A106-CCDB-F73A28B47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FE080E-3442-20C7-765D-B6660D94C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FB363-B629-435D-BBC2-26C3E701E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0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4430 - Fall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</a:t>
            </a:r>
            <a:r>
              <a:rPr lang="en-US" altLang="zh-CN" sz="3600" b="1" dirty="0"/>
              <a:t>7</a:t>
            </a:r>
            <a:endParaRPr lang="en-US" sz="3600" b="1" dirty="0"/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i="1" dirty="0"/>
              <a:t>Computer</a:t>
            </a:r>
            <a:r>
              <a:rPr lang="zh-CN" altLang="en-US" sz="2000" b="1" i="1" dirty="0"/>
              <a:t> </a:t>
            </a:r>
            <a:r>
              <a:rPr lang="en-US" altLang="zh-CN" sz="2000" b="1" i="1" dirty="0"/>
              <a:t>Networking</a:t>
            </a:r>
            <a:r>
              <a:rPr lang="zh-CN" altLang="en-US" sz="2000" b="1" i="1" dirty="0"/>
              <a:t> </a:t>
            </a:r>
            <a:r>
              <a:rPr lang="en-US" altLang="zh-CN" sz="2000" b="1" dirty="0"/>
              <a:t>by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Jim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Kurose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with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5957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5969674" y="6144575"/>
            <a:ext cx="80500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4511675" y="1524001"/>
            <a:ext cx="3221822" cy="46165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00FF"/>
                </a:solidFill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3505201" y="2124076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8886826" y="2124076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3021274" y="5865175"/>
            <a:ext cx="106469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8387896" y="5865175"/>
            <a:ext cx="1251859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Receiver</a:t>
            </a:r>
          </a:p>
        </p:txBody>
      </p: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1530350" y="1524001"/>
            <a:ext cx="18472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8229601" y="1600201"/>
            <a:ext cx="200375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Receiver Window</a:t>
            </a:r>
          </a:p>
        </p:txBody>
      </p:sp>
      <p:grpSp>
        <p:nvGrpSpPr>
          <p:cNvPr id="47" name="Group 57"/>
          <p:cNvGrpSpPr>
            <a:grpSpLocks/>
          </p:cNvGrpSpPr>
          <p:nvPr/>
        </p:nvGrpSpPr>
        <p:grpSpPr bwMode="auto">
          <a:xfrm>
            <a:off x="3071812" y="1905000"/>
            <a:ext cx="5843588" cy="2057400"/>
            <a:chOff x="915" y="1024"/>
            <a:chExt cx="3681" cy="1296"/>
          </a:xfrm>
        </p:grpSpPr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1215" y="1210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 flipH="1"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1215" y="1984"/>
              <a:ext cx="2295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215" y="140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H="1">
              <a:off x="1215" y="178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215" y="1978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915" y="102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919" y="1236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919" y="146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919" y="174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919" y="199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1436688" y="3429000"/>
            <a:ext cx="2036763" cy="1374136"/>
            <a:chOff x="-55" y="1968"/>
            <a:chExt cx="1283" cy="1200"/>
          </a:xfrm>
        </p:grpSpPr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-55" y="2160"/>
              <a:ext cx="655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grpSp>
        <p:nvGrpSpPr>
          <p:cNvPr id="67" name="Group 58"/>
          <p:cNvGrpSpPr>
            <a:grpSpLocks/>
          </p:cNvGrpSpPr>
          <p:nvPr/>
        </p:nvGrpSpPr>
        <p:grpSpPr bwMode="auto">
          <a:xfrm>
            <a:off x="3078162" y="3733801"/>
            <a:ext cx="5837238" cy="828675"/>
            <a:chOff x="919" y="2176"/>
            <a:chExt cx="3677" cy="522"/>
          </a:xfrm>
        </p:grpSpPr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1215" y="21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1215" y="236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919" y="218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238499" y="4727576"/>
            <a:ext cx="5648326" cy="1031875"/>
            <a:chOff x="1633537" y="4810125"/>
            <a:chExt cx="5648326" cy="1031875"/>
          </a:xfrm>
        </p:grpSpPr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1633537" y="48101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1633537" y="50387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633537" y="52673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1914525" y="5029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1914525" y="5156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1914525" y="53086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893325" y="4096393"/>
            <a:ext cx="87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02774" y="4381500"/>
            <a:ext cx="87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</p:spTree>
    <p:extLst>
      <p:ext uri="{BB962C8B-B14F-4D97-AF65-F5344CB8AC3E}">
        <p14:creationId xmlns:p14="http://schemas.microsoft.com/office/powerpoint/2010/main" val="1466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example with errors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4511675" y="1524001"/>
            <a:ext cx="3221822" cy="46165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00FF"/>
                </a:solidFill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3505201" y="2124076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8886826" y="2124076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3535364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3535364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3535364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3535364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3535364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3535364" y="3495675"/>
            <a:ext cx="3856037" cy="429574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3521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2205039" y="1946278"/>
            <a:ext cx="1174751" cy="487363"/>
            <a:chOff x="429" y="1226"/>
            <a:chExt cx="74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3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1862139" y="2289178"/>
            <a:ext cx="1524001" cy="481013"/>
            <a:chOff x="213" y="1442"/>
            <a:chExt cx="96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2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628776" y="2670179"/>
            <a:ext cx="1757363" cy="461963"/>
            <a:chOff x="66" y="1682"/>
            <a:chExt cx="110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628776" y="3124204"/>
            <a:ext cx="1757363" cy="519113"/>
            <a:chOff x="66" y="1968"/>
            <a:chExt cx="110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628776" y="3505205"/>
            <a:ext cx="1757363" cy="474663"/>
            <a:chOff x="66" y="2208"/>
            <a:chExt cx="110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1530350" y="1524001"/>
            <a:ext cx="18472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8229601" y="1600201"/>
            <a:ext cx="200375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3507456" y="5600882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3521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3521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H="1">
            <a:off x="3521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3" name="Line 49"/>
          <p:cNvSpPr>
            <a:spLocks noChangeShapeType="1"/>
          </p:cNvSpPr>
          <p:nvPr/>
        </p:nvSpPr>
        <p:spPr bwMode="auto">
          <a:xfrm flipH="1">
            <a:off x="3521075" y="47244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3521075" y="50292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628776" y="3889379"/>
            <a:ext cx="1751013" cy="458788"/>
            <a:chOff x="66" y="2450"/>
            <a:chExt cx="110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{4, 5, 6}</a:t>
              </a:r>
            </a:p>
          </p:txBody>
        </p:sp>
      </p:grpSp>
      <p:sp>
        <p:nvSpPr>
          <p:cNvPr id="47" name="Line 33"/>
          <p:cNvSpPr>
            <a:spLocks noChangeShapeType="1"/>
          </p:cNvSpPr>
          <p:nvPr/>
        </p:nvSpPr>
        <p:spPr bwMode="auto">
          <a:xfrm>
            <a:off x="7391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 flipH="1">
            <a:off x="7391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 rot="21254809">
            <a:off x="5769561" y="4385319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ACK=5</a:t>
            </a:r>
          </a:p>
        </p:txBody>
      </p:sp>
      <p:sp>
        <p:nvSpPr>
          <p:cNvPr id="50" name="Text Box 32"/>
          <p:cNvSpPr txBox="1">
            <a:spLocks noChangeArrowheads="1"/>
          </p:cNvSpPr>
          <p:nvPr/>
        </p:nvSpPr>
        <p:spPr bwMode="auto">
          <a:xfrm rot="21254809">
            <a:off x="5769561" y="4694149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ACK=6</a:t>
            </a:r>
          </a:p>
        </p:txBody>
      </p:sp>
      <p:grpSp>
        <p:nvGrpSpPr>
          <p:cNvPr id="51" name="Group 72"/>
          <p:cNvGrpSpPr>
            <a:grpSpLocks/>
          </p:cNvGrpSpPr>
          <p:nvPr/>
        </p:nvGrpSpPr>
        <p:grpSpPr bwMode="auto">
          <a:xfrm>
            <a:off x="1625984" y="4693126"/>
            <a:ext cx="1595438" cy="458788"/>
            <a:chOff x="66" y="2450"/>
            <a:chExt cx="1005" cy="289"/>
          </a:xfrm>
        </p:grpSpPr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dirty="0">
                <a:latin typeface="+mn-lt"/>
              </a:endParaRPr>
            </a:p>
          </p:txBody>
        </p:sp>
        <p:sp>
          <p:nvSpPr>
            <p:cNvPr id="53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{4, 5, 6}</a:t>
              </a:r>
            </a:p>
          </p:txBody>
        </p:sp>
      </p:grpSp>
      <p:grpSp>
        <p:nvGrpSpPr>
          <p:cNvPr id="54" name="Group 72"/>
          <p:cNvGrpSpPr>
            <a:grpSpLocks/>
          </p:cNvGrpSpPr>
          <p:nvPr/>
        </p:nvGrpSpPr>
        <p:grpSpPr bwMode="auto">
          <a:xfrm>
            <a:off x="1622531" y="5061427"/>
            <a:ext cx="1595438" cy="458788"/>
            <a:chOff x="66" y="2450"/>
            <a:chExt cx="1005" cy="289"/>
          </a:xfrm>
        </p:grpSpPr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dirty="0">
                <a:latin typeface="+mn-lt"/>
              </a:endParaRP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{4, 5, 6}</a:t>
              </a:r>
            </a:p>
          </p:txBody>
        </p:sp>
      </p:grpSp>
      <p:grpSp>
        <p:nvGrpSpPr>
          <p:cNvPr id="57" name="Group 61"/>
          <p:cNvGrpSpPr>
            <a:grpSpLocks/>
          </p:cNvGrpSpPr>
          <p:nvPr/>
        </p:nvGrpSpPr>
        <p:grpSpPr bwMode="auto">
          <a:xfrm>
            <a:off x="1704976" y="3581401"/>
            <a:ext cx="1800225" cy="1172051"/>
            <a:chOff x="94" y="1968"/>
            <a:chExt cx="1134" cy="1200"/>
          </a:xfrm>
        </p:grpSpPr>
        <p:sp>
          <p:nvSpPr>
            <p:cNvPr id="58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940" y="1968"/>
              <a:ext cx="0" cy="120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" name="Text Box 65"/>
            <p:cNvSpPr txBox="1">
              <a:spLocks noChangeArrowheads="1"/>
            </p:cNvSpPr>
            <p:nvPr/>
          </p:nvSpPr>
          <p:spPr bwMode="auto">
            <a:xfrm>
              <a:off x="94" y="2241"/>
              <a:ext cx="798" cy="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3056322" y="4776126"/>
            <a:ext cx="321210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+mn-lt"/>
              </a:rPr>
              <a:t>4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 rot="21254809">
            <a:off x="5755942" y="5566601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ACK=4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3048000" y="5948610"/>
            <a:ext cx="321210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+mn-lt"/>
              </a:rPr>
              <a:t>7</a:t>
            </a:r>
          </a:p>
        </p:txBody>
      </p:sp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3581400" y="6248400"/>
            <a:ext cx="30480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1622065" y="5907247"/>
            <a:ext cx="11333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dirty="0"/>
              <a:t>{7, 8, 9}</a:t>
            </a: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2813311" y="6400801"/>
            <a:ext cx="106469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/>
              <a:t>Sender</a:t>
            </a: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8184696" y="6400801"/>
            <a:ext cx="1251859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/>
              <a:t>Receiver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93326" y="4233446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90001" y="4552063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</p:spTree>
    <p:extLst>
      <p:ext uri="{BB962C8B-B14F-4D97-AF65-F5344CB8AC3E}">
        <p14:creationId xmlns:p14="http://schemas.microsoft.com/office/powerpoint/2010/main" val="88354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68" grpId="0" animBg="1"/>
      <p:bldP spid="1127469" grpId="0" animBg="1"/>
      <p:bldP spid="1127470" grpId="0" animBg="1"/>
      <p:bldP spid="1127472" grpId="0" animBg="1"/>
      <p:bldP spid="1127472" grpId="1" animBg="1"/>
      <p:bldP spid="1127473" grpId="0" animBg="1"/>
      <p:bldP spid="1127473" grpId="1" animBg="1"/>
      <p:bldP spid="1127474" grpId="0" animBg="1"/>
      <p:bldP spid="49" grpId="0"/>
      <p:bldP spid="50" grpId="0"/>
      <p:bldP spid="62" grpId="0"/>
      <p:bldP spid="63" grpId="0"/>
      <p:bldP spid="64" grpId="0"/>
      <p:bldP spid="65" grpId="0" animBg="1"/>
      <p:bldP spid="66" grpId="0"/>
      <p:bldP spid="69" grpId="0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pPr algn="l"/>
            <a:r>
              <a:rPr lang="en-GB" altLang="zh-CN" dirty="0"/>
              <a:t>TCP is a transport layer protocol on top of IP</a:t>
            </a:r>
          </a:p>
          <a:p>
            <a:pPr lvl="1"/>
            <a:r>
              <a:rPr lang="en-GB" altLang="zh-CN" dirty="0"/>
              <a:t>It provides a reliable, ordered, and error-checked byte stream abstraction</a:t>
            </a:r>
          </a:p>
          <a:p>
            <a:r>
              <a:rPr lang="en-GB" altLang="zh-CN" dirty="0"/>
              <a:t>TCP headers look like the following</a:t>
            </a:r>
            <a:r>
              <a:rPr lang="en-US" altLang="zh-CN" dirty="0"/>
              <a:t>:</a:t>
            </a:r>
            <a:endParaRPr lang="en-GB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lvl="2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TCP: Overview</a:t>
            </a:r>
            <a:endParaRPr lang="en-US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9AA9C4-9EA4-E7E2-3352-19E65C3C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66843"/>
            <a:ext cx="7772400" cy="31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9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EB615-7686-AE1A-FD7F-131B6241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TCP: 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D30E2-659E-77E4-7578-541027375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zh-CN" dirty="0"/>
              <a:t>Reliable</a:t>
            </a:r>
          </a:p>
          <a:p>
            <a:pPr lvl="1"/>
            <a:r>
              <a:rPr lang="en-GB" altLang="zh-CN" dirty="0"/>
              <a:t>TCP attempts to resend lost packets; provides a “lossless” view to the application</a:t>
            </a:r>
          </a:p>
          <a:p>
            <a:r>
              <a:rPr lang="en-GB" altLang="zh-CN" dirty="0"/>
              <a:t>Ordered </a:t>
            </a:r>
          </a:p>
          <a:p>
            <a:pPr lvl="1"/>
            <a:r>
              <a:rPr lang="en-GB" altLang="zh-CN" dirty="0"/>
              <a:t>TCP guarantees that the receiver application reads the data in the same order that it was sent</a:t>
            </a:r>
          </a:p>
          <a:p>
            <a:r>
              <a:rPr lang="en-GB" altLang="zh-CN" dirty="0"/>
              <a:t>Error-checked </a:t>
            </a:r>
          </a:p>
          <a:p>
            <a:pPr lvl="1"/>
            <a:r>
              <a:rPr lang="en-GB" altLang="zh-CN" dirty="0"/>
              <a:t>TCP provides a checksum to detect errors in the received data</a:t>
            </a:r>
          </a:p>
          <a:p>
            <a:r>
              <a:rPr lang="en-GB" altLang="zh-CN" dirty="0"/>
              <a:t>Byte stream </a:t>
            </a:r>
          </a:p>
          <a:p>
            <a:pPr lvl="1"/>
            <a:r>
              <a:rPr lang="en-GB" altLang="zh-CN" dirty="0"/>
              <a:t>TCP provides the view of a “stream of bytes” rather than discrete packets to the application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327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b="1" dirty="0"/>
              <a:t>Q1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File</a:t>
            </a:r>
            <a:r>
              <a:rPr lang="zh-CN" altLang="en-US" b="1" dirty="0"/>
              <a:t> </a:t>
            </a:r>
            <a:r>
              <a:rPr lang="en-US" altLang="zh-CN" b="1" dirty="0"/>
              <a:t>Transfer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490"/>
            <a:ext cx="10515600" cy="179657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Consider transferring an enormous file of </a:t>
            </a:r>
            <a:r>
              <a:rPr lang="zh-CN" altLang="zh-CN" sz="2400" b="1" i="1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L</a:t>
            </a:r>
            <a:r>
              <a:rPr lang="zh-CN" altLang="zh-CN" sz="2400" b="1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bytes from host A to host B.</a:t>
            </a:r>
            <a:b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</a:b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What is the maximum value of </a:t>
            </a:r>
            <a:r>
              <a:rPr lang="zh-CN" altLang="zh-CN" sz="2400" b="1" i="1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L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such that we don’t run out of TCP sequence numbers? </a:t>
            </a:r>
            <a:endParaRPr lang="zh-CN" altLang="zh-CN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  <a:cs typeface="Arial" panose="020B0604020202020204" pitchFamily="34" charset="0"/>
              </a:rPr>
              <a:t>- Note:TCP sequence number is 4 bytes in the header </a:t>
            </a:r>
            <a:endParaRPr lang="zh-CN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72AB98-FEB9-BA41-8381-4271E43F2E34}"/>
              </a:ext>
            </a:extLst>
          </p:cNvPr>
          <p:cNvSpPr txBox="1"/>
          <p:nvPr/>
        </p:nvSpPr>
        <p:spPr>
          <a:xfrm>
            <a:off x="1333500" y="2873276"/>
            <a:ext cx="402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2^32</a:t>
            </a:r>
            <a:r>
              <a:rPr lang="zh-CN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Bytes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3463686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Given </a:t>
            </a:r>
            <a:r>
              <a:rPr lang="en-US" altLang="zh-CN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2^32 bytes, find how long it takes to transmit the file. Assume: 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-  MSS (max segment size) = 1460 Bytes 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-  MTU (max transmission unit) = 1500 Bytes 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-  128 </a:t>
            </a:r>
            <a:r>
              <a:rPr lang="en-US" altLang="zh-CN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Mbps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link from A to B 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-  Ignore flow and congestion control, assume A sends as fast as possible contiguously. </a:t>
            </a:r>
          </a:p>
          <a:p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19F061-4194-2D4E-BB91-A3AA7D72FCD5}"/>
              </a:ext>
            </a:extLst>
          </p:cNvPr>
          <p:cNvSpPr txBox="1"/>
          <p:nvPr/>
        </p:nvSpPr>
        <p:spPr>
          <a:xfrm>
            <a:off x="1181100" y="5389004"/>
            <a:ext cx="6946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(2^32 / 1460 * 1500) / (128 *10^6 / 8) = 276 s 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amount of data / bandwidth </a:t>
            </a:r>
            <a:endParaRPr lang="en-US" altLang="zh-CN" sz="3200" dirty="0">
              <a:solidFill>
                <a:srgbClr val="FF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92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b="1" dirty="0"/>
              <a:t>Q2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Segment</a:t>
            </a:r>
            <a:r>
              <a:rPr lang="zh-CN" altLang="en-US" b="1" dirty="0"/>
              <a:t> </a:t>
            </a:r>
            <a:r>
              <a:rPr lang="en-US" altLang="zh-CN" b="1" dirty="0"/>
              <a:t>Metadata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377"/>
            <a:ext cx="10515600" cy="2181224"/>
          </a:xfrm>
          <a:ln w="317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Host A (sender) and B (receiver) are communicating over a TCP connection. Assume the following events happen in order: </a:t>
            </a:r>
            <a:endParaRPr lang="zh-CN" altLang="zh-CN" sz="105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  <a:ea typeface="GillSans" panose="020B0502020104020203" pitchFamily="34" charset="-79"/>
              </a:rPr>
              <a:t>  B has received the first 127 bytes of the flow from A, this consumes seq num 0-126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  <a:ea typeface="GillSans" panose="020B0502020104020203" pitchFamily="34" charset="-79"/>
              </a:rPr>
              <a:t>  A then sends two segments, S1 (80 bytes of data), S2 (40 bytes of data)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  <a:ea typeface="GillSans" panose="020B0502020104020203" pitchFamily="34" charset="-79"/>
              </a:rPr>
              <a:t>  S1 has sequence num 127, source port 30302, destination port 80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000" dirty="0">
                <a:latin typeface="Arial" panose="020B0604020202020204" pitchFamily="34" charset="0"/>
                <a:ea typeface="GillSans" panose="020B0502020104020203" pitchFamily="34" charset="-79"/>
              </a:rPr>
              <a:t>  B sends ACK1 and ACK2 to A when it receives the first / second segment respectively </a:t>
            </a:r>
            <a:endParaRPr lang="zh-CN" altLang="zh-CN" sz="1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10B901-E06C-8A4E-AC29-A071B187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0AF7EF-3AB5-8043-BA72-F8A7FA4BA3CE}"/>
              </a:ext>
            </a:extLst>
          </p:cNvPr>
          <p:cNvSpPr txBox="1"/>
          <p:nvPr/>
        </p:nvSpPr>
        <p:spPr>
          <a:xfrm>
            <a:off x="838200" y="3570270"/>
            <a:ext cx="916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>
                <a:latin typeface="Arial" panose="020B0604020202020204" pitchFamily="34" charset="0"/>
                <a:ea typeface="GillSans" panose="020B0502020104020203" pitchFamily="34" charset="-79"/>
              </a:rPr>
              <a:t>Assume S1 and S2 arrive in order </a:t>
            </a:r>
            <a:endParaRPr lang="zh-CN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Q: For S2, what are the sequence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source port and destination port? 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207, Source port: 30302, Destination port: 80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Q: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For ACK1, what are the ack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source port and destination port? 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 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207, Source port: 80, Destination port: 30302 </a:t>
            </a:r>
          </a:p>
          <a:p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b="1" dirty="0"/>
              <a:t>Q3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Segment</a:t>
            </a:r>
            <a:r>
              <a:rPr lang="zh-CN" altLang="en-US" b="1" dirty="0"/>
              <a:t> </a:t>
            </a:r>
            <a:r>
              <a:rPr lang="en-US" altLang="zh-CN" b="1" dirty="0"/>
              <a:t>CWND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377"/>
            <a:ext cx="10515600" cy="2181224"/>
          </a:xfrm>
          <a:ln w="317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Consider sending a large file over a lossless TCP connection Assume: </a:t>
            </a:r>
            <a:endParaRPr lang="zh-CN" altLang="zh-CN" sz="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 TCP uses AIMD for congestion control with slow start </a:t>
            </a:r>
            <a:endParaRPr lang="zh-CN" altLang="zh-CN" sz="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 ssthres = 16 MSS </a:t>
            </a:r>
            <a:endParaRPr lang="zh-CN" altLang="zh-CN" sz="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 Approximately constant RTT </a:t>
            </a:r>
            <a:endParaRPr lang="zh-CN" altLang="zh-CN" sz="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 CWND starts at 1 MSS </a:t>
            </a:r>
            <a:endParaRPr lang="zh-CN" altLang="zh-CN" sz="900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10B901-E06C-8A4E-AC29-A071B187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0AF7EF-3AB5-8043-BA72-F8A7FA4BA3CE}"/>
              </a:ext>
            </a:extLst>
          </p:cNvPr>
          <p:cNvSpPr txBox="1"/>
          <p:nvPr/>
        </p:nvSpPr>
        <p:spPr>
          <a:xfrm>
            <a:off x="838200" y="3794981"/>
            <a:ext cx="1024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Q: </a:t>
            </a:r>
            <a:r>
              <a:rPr lang="zh-CN" altLang="zh-CN" sz="2400" dirty="0">
                <a:latin typeface="Arial" panose="020B0604020202020204" pitchFamily="34" charset="0"/>
              </a:rPr>
              <a:t>How long does it take for CWND to increase </a:t>
            </a:r>
            <a:r>
              <a:rPr lang="zh-CN" altLang="zh-CN" sz="2400" dirty="0">
                <a:latin typeface="Arial" panose="020B0604020202020204" pitchFamily="34" charset="0"/>
                <a:ea typeface="GillSans" panose="020B0502020104020203" pitchFamily="34" charset="-79"/>
              </a:rPr>
              <a:t>from 1 MSS to 20 MSS? </a:t>
            </a:r>
            <a:endParaRPr lang="zh-CN" altLang="zh-CN" sz="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GillSans" panose="020B0502020104020203" pitchFamily="34" charset="-79"/>
              </a:rPr>
              <a:t>      </a:t>
            </a:r>
            <a:r>
              <a:rPr lang="zh-CN" altLang="zh-CN" sz="2400" dirty="0">
                <a:solidFill>
                  <a:srgbClr val="FF0000"/>
                </a:solidFill>
                <a:latin typeface="Arial" panose="020B0604020202020204" pitchFamily="34" charset="0"/>
                <a:ea typeface="GillSans" panose="020B0502020104020203" pitchFamily="34" charset="-79"/>
              </a:rPr>
              <a:t>CWND: 1 2 4 8 16 17 18 19 20; 8 RTT </a:t>
            </a:r>
            <a:endParaRPr lang="zh-CN" altLang="zh-CN" sz="16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61F6D1-8918-B14A-B889-CE8C761EA891}"/>
              </a:ext>
            </a:extLst>
          </p:cNvPr>
          <p:cNvSpPr txBox="1"/>
          <p:nvPr/>
        </p:nvSpPr>
        <p:spPr>
          <a:xfrm>
            <a:off x="838200" y="475632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Q:</a:t>
            </a:r>
            <a:r>
              <a:rPr lang="zh-CN" altLang="en-US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What is the average throughput (in terms of MSS and RTT) of the above </a:t>
            </a:r>
            <a:r>
              <a:rPr lang="zh-CN" altLang="en-US" sz="2400" dirty="0">
                <a:latin typeface="Arial" panose="020B0604020202020204" pitchFamily="34" charset="0"/>
              </a:rPr>
              <a:t> 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     </a:t>
            </a:r>
            <a:r>
              <a:rPr lang="en-US" altLang="zh-CN" sz="2400" dirty="0">
                <a:latin typeface="Arial" panose="020B0604020202020204" pitchFamily="34" charset="0"/>
              </a:rPr>
              <a:t>process? 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(1+2+4+8+16+17+18+19) / 8 = 85 MSS / 8 RTT </a:t>
            </a:r>
          </a:p>
        </p:txBody>
      </p:sp>
    </p:spTree>
    <p:extLst>
      <p:ext uri="{BB962C8B-B14F-4D97-AF65-F5344CB8AC3E}">
        <p14:creationId xmlns:p14="http://schemas.microsoft.com/office/powerpoint/2010/main" val="98686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b="1" dirty="0"/>
              <a:t>Q1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Congestion</a:t>
            </a:r>
            <a:r>
              <a:rPr lang="zh-CN" altLang="en-US" b="1" dirty="0"/>
              <a:t> </a:t>
            </a:r>
            <a:r>
              <a:rPr lang="en-US" altLang="zh-CN" b="1" dirty="0"/>
              <a:t>Control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490"/>
            <a:ext cx="10515600" cy="1796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Assuming TCP Reno is the protocol experiencing the behavior shown above, answer the following questions. In all cases, you should provide a short discussion justifying your answer. </a:t>
            </a:r>
            <a:endParaRPr lang="en-US" altLang="zh-CN" sz="1800" dirty="0"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5609690" y="2999651"/>
            <a:ext cx="574411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1900595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 </a:t>
            </a:r>
            <a:r>
              <a:rPr lang="en-US" altLang="zh-CN" sz="2400" dirty="0"/>
              <a:t>Identify the intervals of time when TCP slow start is operating. </a:t>
            </a:r>
          </a:p>
          <a:p>
            <a:pPr marL="0" indent="0"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 </a:t>
            </a:r>
            <a:r>
              <a:rPr lang="en-US" altLang="zh-CN" sz="2400" dirty="0"/>
              <a:t>Identify the intervals of time when TCP congestion avoidance is operating. </a:t>
            </a:r>
          </a:p>
        </p:txBody>
      </p:sp>
      <p:pic>
        <p:nvPicPr>
          <p:cNvPr id="1025" name="Picture 1" descr="page340image655428608">
            <a:extLst>
              <a:ext uri="{FF2B5EF4-FFF2-40B4-BE49-F238E27FC236}">
                <a16:creationId xmlns:a16="http://schemas.microsoft.com/office/drawing/2014/main" id="{00529F8E-5F83-AF4F-95D7-6842C66B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64704"/>
            <a:ext cx="44450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F0F3FF-AE4A-F4A7-F52C-54F16BC5861E}"/>
              </a:ext>
            </a:extLst>
          </p:cNvPr>
          <p:cNvSpPr txBox="1"/>
          <p:nvPr/>
        </p:nvSpPr>
        <p:spPr>
          <a:xfrm>
            <a:off x="5717001" y="3090425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FF0000"/>
                </a:solidFill>
              </a:rPr>
              <a:t>[1,6] and [23,26]</a:t>
            </a:r>
          </a:p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FF0000"/>
                </a:solidFill>
              </a:rPr>
              <a:t>[6,16] and [17,22]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9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b="1" dirty="0"/>
              <a:t>Q1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Congestion</a:t>
            </a:r>
            <a:r>
              <a:rPr lang="zh-CN" altLang="en-US" b="1" dirty="0"/>
              <a:t> </a:t>
            </a:r>
            <a:r>
              <a:rPr lang="en-US" altLang="zh-CN" b="1" dirty="0"/>
              <a:t>Control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490"/>
            <a:ext cx="10515600" cy="1796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Assuming TCP Reno is the protocol experiencing the behavior shown above, answer the following questions. In all cases, you should provide a short discussion justifying your answer. </a:t>
            </a:r>
            <a:endParaRPr lang="en-US" altLang="zh-CN" sz="1800" dirty="0"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1900595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After the 16th transmission round, is segment loss detected by a triple duplicate ACK or by a timeout? </a:t>
            </a:r>
          </a:p>
          <a:p>
            <a:pPr marL="0" indent="0">
              <a:buNone/>
            </a:pPr>
            <a:r>
              <a:rPr lang="en-US" altLang="zh-CN" sz="2000" dirty="0"/>
              <a:t>4.</a:t>
            </a:r>
            <a:r>
              <a:rPr lang="zh-CN" altLang="en-US" sz="2000" dirty="0"/>
              <a:t> </a:t>
            </a:r>
            <a:r>
              <a:rPr lang="en-US" altLang="zh-CN" sz="2000" dirty="0"/>
              <a:t>After the 22nd transmission round, is segment loss detected by a triple duplicate ACK or by a timeout? </a:t>
            </a:r>
          </a:p>
        </p:txBody>
      </p:sp>
      <p:pic>
        <p:nvPicPr>
          <p:cNvPr id="1025" name="Picture 1" descr="page340image655428608">
            <a:extLst>
              <a:ext uri="{FF2B5EF4-FFF2-40B4-BE49-F238E27FC236}">
                <a16:creationId xmlns:a16="http://schemas.microsoft.com/office/drawing/2014/main" id="{00529F8E-5F83-AF4F-95D7-6842C66B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14063"/>
            <a:ext cx="44450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BEA162-AFAC-5630-C08C-1DC2BE83EB68}"/>
              </a:ext>
            </a:extLst>
          </p:cNvPr>
          <p:cNvSpPr txBox="1"/>
          <p:nvPr/>
        </p:nvSpPr>
        <p:spPr>
          <a:xfrm>
            <a:off x="5535728" y="3204429"/>
            <a:ext cx="6322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FF0000"/>
                </a:solidFill>
              </a:rPr>
              <a:t>Duplicate 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FF0000"/>
                </a:solidFill>
              </a:rPr>
              <a:t>Cut the </a:t>
            </a:r>
            <a:r>
              <a:rPr kumimoji="1" lang="en-US" altLang="zh-CN" dirty="0" err="1">
                <a:solidFill>
                  <a:srgbClr val="FF0000"/>
                </a:solidFill>
              </a:rPr>
              <a:t>ssthresh</a:t>
            </a:r>
            <a:r>
              <a:rPr kumimoji="1" lang="en-US" altLang="zh-CN" dirty="0">
                <a:solidFill>
                  <a:srgbClr val="FF0000"/>
                </a:solidFill>
              </a:rPr>
              <a:t> in half and set CWND to </a:t>
            </a:r>
            <a:r>
              <a:rPr kumimoji="1" lang="en-US" altLang="zh-CN" dirty="0" err="1">
                <a:solidFill>
                  <a:srgbClr val="FF0000"/>
                </a:solidFill>
              </a:rPr>
              <a:t>ssthresh</a:t>
            </a:r>
            <a:r>
              <a:rPr kumimoji="1" lang="en-US" altLang="zh-CN" dirty="0">
                <a:solidFill>
                  <a:srgbClr val="FF0000"/>
                </a:solidFill>
              </a:rPr>
              <a:t> + 2</a:t>
            </a:r>
          </a:p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FF0000"/>
                </a:solidFill>
              </a:rPr>
              <a:t>Timeout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FF0000"/>
                </a:solidFill>
              </a:rPr>
              <a:t>Return to slow start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04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b="1" dirty="0"/>
              <a:t>Q1</a:t>
            </a:r>
            <a:r>
              <a:rPr lang="zh-CN" altLang="en-US" b="1" dirty="0"/>
              <a:t> </a:t>
            </a:r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altLang="zh-CN" b="1" dirty="0"/>
              <a:t>Congestion</a:t>
            </a:r>
            <a:r>
              <a:rPr lang="zh-CN" altLang="en-US" b="1" dirty="0"/>
              <a:t> </a:t>
            </a:r>
            <a:r>
              <a:rPr lang="en-US" altLang="zh-CN" b="1" dirty="0"/>
              <a:t>Control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490"/>
            <a:ext cx="10515600" cy="1796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Assuming TCP Reno is the protocol experiencing the behavior shown above, answer the following questions. In all cases, you should provide a short discussion justifying your answer. </a:t>
            </a:r>
            <a:endParaRPr lang="en-US" altLang="zh-CN" sz="1800" dirty="0">
              <a:effectLst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7F3A056-7FE7-B442-B5F9-555066272DB9}"/>
              </a:ext>
            </a:extLst>
          </p:cNvPr>
          <p:cNvSpPr txBox="1">
            <a:spLocks/>
          </p:cNvSpPr>
          <p:nvPr/>
        </p:nvSpPr>
        <p:spPr>
          <a:xfrm>
            <a:off x="838200" y="3512990"/>
            <a:ext cx="10515600" cy="179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E9AFD5-F739-1940-89F5-7B1C83C2CD31}"/>
              </a:ext>
            </a:extLst>
          </p:cNvPr>
          <p:cNvSpPr txBox="1">
            <a:spLocks/>
          </p:cNvSpPr>
          <p:nvPr/>
        </p:nvSpPr>
        <p:spPr>
          <a:xfrm>
            <a:off x="838200" y="1857179"/>
            <a:ext cx="10515600" cy="1313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5.</a:t>
            </a:r>
            <a:r>
              <a:rPr lang="zh-CN" altLang="en-US" sz="2000" dirty="0"/>
              <a:t> </a:t>
            </a:r>
            <a:r>
              <a:rPr lang="en-US" altLang="zh-CN" sz="2000" dirty="0"/>
              <a:t>What is the initial value of </a:t>
            </a:r>
            <a:r>
              <a:rPr lang="en-US" altLang="zh-CN" sz="2000" i="1" dirty="0" err="1"/>
              <a:t>ssthresh</a:t>
            </a:r>
            <a:r>
              <a:rPr lang="en-US" altLang="zh-CN" sz="2000" i="1" dirty="0"/>
              <a:t> </a:t>
            </a:r>
            <a:r>
              <a:rPr lang="en-US" altLang="zh-CN" sz="2000" dirty="0"/>
              <a:t>at the first transmission round? </a:t>
            </a:r>
          </a:p>
          <a:p>
            <a:pPr marL="0" indent="0">
              <a:buNone/>
            </a:pPr>
            <a:r>
              <a:rPr lang="en-US" altLang="zh-CN" sz="2000" dirty="0"/>
              <a:t>6.</a:t>
            </a:r>
            <a:r>
              <a:rPr lang="zh-CN" altLang="en-US" sz="2000" dirty="0"/>
              <a:t> </a:t>
            </a:r>
            <a:r>
              <a:rPr lang="en-US" altLang="zh-CN" sz="2000" dirty="0"/>
              <a:t>What is the value of </a:t>
            </a:r>
            <a:r>
              <a:rPr lang="en-US" altLang="zh-CN" sz="2000" i="1" dirty="0" err="1"/>
              <a:t>ssthresh</a:t>
            </a:r>
            <a:r>
              <a:rPr lang="en-US" altLang="zh-CN" sz="2000" i="1" dirty="0"/>
              <a:t> </a:t>
            </a:r>
            <a:r>
              <a:rPr lang="en-US" altLang="zh-CN" sz="2000" dirty="0"/>
              <a:t>at the 18th transmission round? </a:t>
            </a:r>
          </a:p>
          <a:p>
            <a:pPr marL="0" indent="0">
              <a:buNone/>
            </a:pPr>
            <a:r>
              <a:rPr lang="en-US" altLang="zh-CN" sz="2000" dirty="0"/>
              <a:t>7.</a:t>
            </a:r>
            <a:r>
              <a:rPr lang="zh-CN" altLang="en-US" sz="2000" dirty="0"/>
              <a:t> </a:t>
            </a:r>
            <a:r>
              <a:rPr lang="en-US" altLang="zh-CN" sz="2000" dirty="0"/>
              <a:t>What is the value of </a:t>
            </a:r>
            <a:r>
              <a:rPr lang="en-US" altLang="zh-CN" sz="2000" i="1" dirty="0" err="1"/>
              <a:t>ssthresh</a:t>
            </a:r>
            <a:r>
              <a:rPr lang="en-US" altLang="zh-CN" sz="2000" i="1" dirty="0"/>
              <a:t> </a:t>
            </a:r>
            <a:r>
              <a:rPr lang="en-US" altLang="zh-CN" sz="2000" dirty="0"/>
              <a:t>at the 24th transmission round? </a:t>
            </a:r>
          </a:p>
          <a:p>
            <a:endParaRPr lang="en-US" altLang="zh-CN" sz="2000" dirty="0"/>
          </a:p>
        </p:txBody>
      </p:sp>
      <p:pic>
        <p:nvPicPr>
          <p:cNvPr id="1025" name="Picture 1" descr="page340image655428608">
            <a:extLst>
              <a:ext uri="{FF2B5EF4-FFF2-40B4-BE49-F238E27FC236}">
                <a16:creationId xmlns:a16="http://schemas.microsoft.com/office/drawing/2014/main" id="{00529F8E-5F83-AF4F-95D7-6842C66B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14063"/>
            <a:ext cx="44450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A57893-D7D3-F85D-64CC-79A3D8530124}"/>
              </a:ext>
            </a:extLst>
          </p:cNvPr>
          <p:cNvSpPr txBox="1"/>
          <p:nvPr/>
        </p:nvSpPr>
        <p:spPr>
          <a:xfrm>
            <a:off x="6616557" y="3667874"/>
            <a:ext cx="663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5.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32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6.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21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7.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2651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51400" y="3167390"/>
            <a:ext cx="260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927</Words>
  <Application>Microsoft Macintosh PowerPoint</Application>
  <PresentationFormat>宽屏</PresentationFormat>
  <Paragraphs>128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Calibri</vt:lpstr>
      <vt:lpstr>Office 主题​​</vt:lpstr>
      <vt:lpstr>CSCI 4430 - Fall 25</vt:lpstr>
      <vt:lpstr>GBN example with errors</vt:lpstr>
      <vt:lpstr>SR example with errors</vt:lpstr>
      <vt:lpstr>PowerPoint 演示文稿</vt:lpstr>
      <vt:lpstr>TCP: Overview</vt:lpstr>
      <vt:lpstr>Q1 TCP File Transfer </vt:lpstr>
      <vt:lpstr>Q2 TCP Segment Metadata</vt:lpstr>
      <vt:lpstr>Q3 TCP Segment CWND</vt:lpstr>
      <vt:lpstr>Q1 TCP Congestion Control</vt:lpstr>
      <vt:lpstr>Q1 TCP Congestion Control</vt:lpstr>
      <vt:lpstr>Q1 TCP Congestion Control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Fall 23</dc:title>
  <dc:creator>YANG, Yitao</dc:creator>
  <cp:lastModifiedBy>Yangtao Deng</cp:lastModifiedBy>
  <cp:revision>26</cp:revision>
  <dcterms:created xsi:type="dcterms:W3CDTF">2023-10-18T06:38:25Z</dcterms:created>
  <dcterms:modified xsi:type="dcterms:W3CDTF">2025-10-19T11:33:19Z</dcterms:modified>
</cp:coreProperties>
</file>
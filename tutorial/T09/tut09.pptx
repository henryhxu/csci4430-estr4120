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87" r:id="rId4"/>
    <p:sldId id="294" r:id="rId5"/>
    <p:sldId id="295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4EF938-52EB-4FAE-9B3C-E68038366E87}" v="3" dt="2025-03-18T15:44:42.4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6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3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ofeng Wu" userId="16cc59afe9483dd5" providerId="LiveId" clId="{AF4EF938-52EB-4FAE-9B3C-E68038366E87}"/>
    <pc:docChg chg="modSld">
      <pc:chgData name="Shaofeng Wu" userId="16cc59afe9483dd5" providerId="LiveId" clId="{AF4EF938-52EB-4FAE-9B3C-E68038366E87}" dt="2025-03-18T15:45:22.513" v="9" actId="20577"/>
      <pc:docMkLst>
        <pc:docMk/>
      </pc:docMkLst>
      <pc:sldChg chg="addSp modSp mod">
        <pc:chgData name="Shaofeng Wu" userId="16cc59afe9483dd5" providerId="LiveId" clId="{AF4EF938-52EB-4FAE-9B3C-E68038366E87}" dt="2025-03-18T15:45:05.645" v="7" actId="1076"/>
        <pc:sldMkLst>
          <pc:docMk/>
          <pc:sldMk cId="267997120" sldId="287"/>
        </pc:sldMkLst>
        <pc:picChg chg="add mod">
          <ac:chgData name="Shaofeng Wu" userId="16cc59afe9483dd5" providerId="LiveId" clId="{AF4EF938-52EB-4FAE-9B3C-E68038366E87}" dt="2025-03-18T15:45:05.645" v="7" actId="1076"/>
          <ac:picMkLst>
            <pc:docMk/>
            <pc:sldMk cId="267997120" sldId="287"/>
            <ac:picMk id="6" creationId="{253C3C66-D225-D617-4457-222DEBBBAEF1}"/>
          </ac:picMkLst>
        </pc:picChg>
        <pc:picChg chg="add mod">
          <ac:chgData name="Shaofeng Wu" userId="16cc59afe9483dd5" providerId="LiveId" clId="{AF4EF938-52EB-4FAE-9B3C-E68038366E87}" dt="2025-03-18T15:44:42.440" v="2" actId="1076"/>
          <ac:picMkLst>
            <pc:docMk/>
            <pc:sldMk cId="267997120" sldId="287"/>
            <ac:picMk id="1026" creationId="{4FF6D860-7D67-912E-563A-BDF1D4054485}"/>
          </ac:picMkLst>
        </pc:picChg>
      </pc:sldChg>
      <pc:sldChg chg="modSp mod">
        <pc:chgData name="Shaofeng Wu" userId="16cc59afe9483dd5" providerId="LiveId" clId="{AF4EF938-52EB-4FAE-9B3C-E68038366E87}" dt="2025-03-18T15:45:22.513" v="9" actId="20577"/>
        <pc:sldMkLst>
          <pc:docMk/>
          <pc:sldMk cId="1908193616" sldId="300"/>
        </pc:sldMkLst>
        <pc:spChg chg="mod">
          <ac:chgData name="Shaofeng Wu" userId="16cc59afe9483dd5" providerId="LiveId" clId="{AF4EF938-52EB-4FAE-9B3C-E68038366E87}" dt="2025-03-18T15:45:22.513" v="9" actId="20577"/>
          <ac:spMkLst>
            <pc:docMk/>
            <pc:sldMk cId="1908193616" sldId="300"/>
            <ac:spMk id="37" creationId="{A758C430-D682-C646-8B66-4341DDBCEF6F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</pc:sldChg>
    </pc:docChg>
  </pc:docChgLst>
  <pc:docChgLst>
    <pc:chgData name="Shaofeng Wu" userId="16cc59afe9483dd5" providerId="LiveId" clId="{4C8E25FF-694E-492B-A7BA-7579B8070BA3}"/>
    <pc:docChg chg="custSel addSld modSld">
      <pc:chgData name="Shaofeng Wu" userId="16cc59afe9483dd5" providerId="LiveId" clId="{4C8E25FF-694E-492B-A7BA-7579B8070BA3}" dt="2025-02-18T12:13:57.030" v="46" actId="20577"/>
      <pc:docMkLst>
        <pc:docMk/>
      </pc:docMkLst>
      <pc:sldChg chg="modSp mod">
        <pc:chgData name="Shaofeng Wu" userId="16cc59afe9483dd5" providerId="LiveId" clId="{4C8E25FF-694E-492B-A7BA-7579B8070BA3}" dt="2025-02-18T12:12:09.840" v="10" actId="20577"/>
        <pc:sldMkLst>
          <pc:docMk/>
          <pc:sldMk cId="356419186" sldId="256"/>
        </pc:sldMkLst>
        <pc:spChg chg="mod">
          <ac:chgData name="Shaofeng Wu" userId="16cc59afe9483dd5" providerId="LiveId" clId="{4C8E25FF-694E-492B-A7BA-7579B8070BA3}" dt="2025-02-18T12:12:09.840" v="10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add mod">
        <pc:chgData name="Shaofeng Wu" userId="16cc59afe9483dd5" providerId="LiveId" clId="{4C8E25FF-694E-492B-A7BA-7579B8070BA3}" dt="2025-02-18T12:13:57.030" v="46" actId="20577"/>
        <pc:sldMkLst>
          <pc:docMk/>
          <pc:sldMk cId="440415094" sldId="258"/>
        </pc:sldMkLst>
        <pc:spChg chg="mod">
          <ac:chgData name="Shaofeng Wu" userId="16cc59afe9483dd5" providerId="LiveId" clId="{4C8E25FF-694E-492B-A7BA-7579B8070BA3}" dt="2025-02-18T12:13:57.030" v="46" actId="20577"/>
          <ac:spMkLst>
            <pc:docMk/>
            <pc:sldMk cId="440415094" sldId="258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5656F-E94E-4266-B808-01646AFF721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418493-4DB9-4761-89EA-EC89205FC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– S</a:t>
            </a:r>
            <a:r>
              <a:rPr lang="en-US" altLang="zh-CN" sz="6600" b="1" dirty="0"/>
              <a:t>pring 25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9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altLang="zh-CN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EECS 489 Discussion 7</a:t>
            </a:r>
            <a:endParaRPr lang="en-US" altLang="zh-CN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Questions on IP and IP routing</a:t>
            </a:r>
            <a:endParaRPr lang="en-US" sz="32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Q1 IP True or False 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53"/>
            <a:ext cx="10515600" cy="1796573"/>
          </a:xfrm>
          <a:ln w="190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IPv6 packet headers have fixed size and thus are more efficient to process. However, because an IPv6 header uses 128-bit source and destination addresses instead of 32-bit ones, it is larger than any IPv4 header. </a:t>
            </a:r>
            <a:endParaRPr lang="en-US" altLang="zh-CN" sz="20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4065917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solidFill>
                  <a:srgbClr val="BF0000"/>
                </a:solidFill>
                <a:latin typeface="Arial" panose="020B0604020202020204" pitchFamily="34" charset="0"/>
                <a:ea typeface="GillSans" panose="020B0502020104020203" pitchFamily="34" charset="-79"/>
              </a:rPr>
              <a:t>False. IPv6 headers are always 40 B and IPv4 headers can be 20 - 60 B. </a:t>
            </a:r>
            <a:endParaRPr lang="zh-CN" altLang="zh-CN" sz="1600" dirty="0">
              <a:latin typeface="Arial" panose="020B0604020202020204" pitchFamily="34" charset="0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FF6D860-7D67-912E-563A-BDF1D40544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5872" y="4579687"/>
            <a:ext cx="4757928" cy="2173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3C3C66-D225-D617-4457-222DEBBBA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03960"/>
            <a:ext cx="5354333" cy="212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9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IP MCQ 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53"/>
            <a:ext cx="10515600" cy="3176292"/>
          </a:xfrm>
          <a:ln w="19050"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US" altLang="zh-CN" sz="3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CN" sz="3800" dirty="0">
                <a:latin typeface="Arial" panose="020B0604020202020204" pitchFamily="34" charset="0"/>
                <a:cs typeface="Arial" panose="020B0604020202020204" pitchFamily="34" charset="0"/>
              </a:rPr>
              <a:t>Which is </a:t>
            </a:r>
            <a:r>
              <a:rPr lang="en-US" altLang="zh-CN" sz="3800" b="1" dirty="0">
                <a:latin typeface="Arial" panose="020B0604020202020204" pitchFamily="34" charset="0"/>
                <a:cs typeface="Arial" panose="020B0604020202020204" pitchFamily="34" charset="0"/>
              </a:rPr>
              <a:t>NOT </a:t>
            </a:r>
            <a:r>
              <a:rPr lang="en-US" altLang="zh-CN" sz="3800" dirty="0">
                <a:latin typeface="Arial" panose="020B0604020202020204" pitchFamily="34" charset="0"/>
                <a:cs typeface="Arial" panose="020B0604020202020204" pitchFamily="34" charset="0"/>
              </a:rPr>
              <a:t>the four basic processes used in the IP to accomplish end-to-end transport? </a:t>
            </a:r>
          </a:p>
          <a:p>
            <a:pPr marL="0" indent="0"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Addressing packets with an IP address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Encapsulation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Guaranteed delivery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4.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Routing </a:t>
            </a:r>
          </a:p>
          <a:p>
            <a:pPr marL="0" indent="0"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5.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Decapsulation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5043948"/>
            <a:ext cx="10515600" cy="818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IP only provides best-effort delivery.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Guaranteed delivery is provided by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Transport Layer (</a:t>
            </a:r>
            <a:r>
              <a:rPr lang="en-US" altLang="zh-CN" dirty="0" err="1">
                <a:solidFill>
                  <a:srgbClr val="FF0000"/>
                </a:solidFill>
              </a:rPr>
              <a:t>e.g.TCP</a:t>
            </a:r>
            <a:r>
              <a:rPr lang="en-US" altLang="zh-CN" dirty="0">
                <a:solidFill>
                  <a:srgbClr val="FF0000"/>
                </a:solidFill>
              </a:rPr>
              <a:t>) </a:t>
            </a:r>
            <a:endParaRPr lang="en-US" altLang="zh-CN" sz="2400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22873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 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952"/>
            <a:ext cx="10515600" cy="3690847"/>
          </a:xfrm>
          <a:ln w="19050"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Suppose</a:t>
            </a:r>
            <a:r>
              <a:rPr lang="zh-CN" altLang="en-US" dirty="0"/>
              <a:t> </a:t>
            </a:r>
            <a:r>
              <a:rPr lang="en-US" altLang="zh-CN" dirty="0"/>
              <a:t>a TCP message containing 2048 bytes of data and 20 bytes of TCP header is passed to IP for delivery across two networks of the Internet.</a:t>
            </a:r>
            <a:r>
              <a:rPr lang="zh-CN" altLang="en-US" dirty="0"/>
              <a:t> </a:t>
            </a:r>
            <a:r>
              <a:rPr lang="en-US" altLang="zh-CN" dirty="0"/>
              <a:t>The first network has an MTU of 1024 bytes; the second has an MTU of 512 bytes. </a:t>
            </a:r>
          </a:p>
          <a:p>
            <a:pPr marL="0" indent="0">
              <a:buNone/>
            </a:pPr>
            <a:r>
              <a:rPr lang="en-US" altLang="zh-CN" dirty="0"/>
              <a:t>Give the sizes and offsets of the fragments delivered to the network layer at the destination host.</a:t>
            </a:r>
            <a:br>
              <a:rPr lang="en-US" altLang="zh-CN" dirty="0"/>
            </a:br>
            <a:r>
              <a:rPr lang="en-US" altLang="zh-CN" dirty="0"/>
              <a:t>Assume all IP headers are 20 bytes.</a:t>
            </a:r>
            <a:r>
              <a:rPr lang="zh-CN" altLang="en-US" dirty="0"/>
              <a:t> </a:t>
            </a:r>
            <a:r>
              <a:rPr lang="en-US" altLang="zh-CN" dirty="0"/>
              <a:t>Assume we send out the largest fragments whenever we can. </a:t>
            </a:r>
          </a:p>
          <a:p>
            <a:pPr marL="0" indent="0"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810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" y="2026320"/>
            <a:ext cx="1814448" cy="4550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2000" b="1" dirty="0"/>
              <a:t>IP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Header</a:t>
            </a:r>
            <a:endParaRPr lang="en-US" altLang="zh-CN" sz="2000" b="1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E19F061-4194-2D4E-BB91-A3AA7D72FCD5}"/>
                  </a:ext>
                </a:extLst>
              </p:cNvPr>
              <p:cNvSpPr txBox="1"/>
              <p:nvPr/>
            </p:nvSpPr>
            <p:spPr>
              <a:xfrm>
                <a:off x="7470775" y="3728050"/>
                <a:ext cx="28575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FF0000"/>
                    </a:solidFill>
                  </a:rPr>
                  <a:t>Payload:</a:t>
                </a:r>
                <a:r>
                  <a:rPr lang="zh-CN" alt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𝟏𝟎𝟎𝟎</m:t>
                    </m:r>
                  </m:oMath>
                </a14:m>
                <a:endParaRPr lang="en-US" altLang="zh-CN" sz="3200" b="1" dirty="0">
                  <a:solidFill>
                    <a:srgbClr val="FF0000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E19F061-4194-2D4E-BB91-A3AA7D72F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0775" y="3728050"/>
                <a:ext cx="2857500" cy="461665"/>
              </a:xfrm>
              <a:prstGeom prst="rect">
                <a:avLst/>
              </a:prstGeom>
              <a:blipFill>
                <a:blip r:embed="rId2"/>
                <a:stretch>
                  <a:fillRect l="-3556" t="-8108" b="-270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54D0D7F-F10F-C148-B3BF-91C56F5EDE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7957" y="3251013"/>
                <a:ext cx="3868543" cy="46040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&lt;1024−20, 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altLang="zh-CN" sz="2400" dirty="0"/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54D0D7F-F10F-C148-B3BF-91C56F5ED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957" y="3251013"/>
                <a:ext cx="3868543" cy="4604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圆角矩形 8">
            <a:extLst>
              <a:ext uri="{FF2B5EF4-FFF2-40B4-BE49-F238E27FC236}">
                <a16:creationId xmlns:a16="http://schemas.microsoft.com/office/drawing/2014/main" id="{8F03D957-D890-FA4A-91C3-0A82C84D9F01}"/>
              </a:ext>
            </a:extLst>
          </p:cNvPr>
          <p:cNvSpPr/>
          <p:nvPr/>
        </p:nvSpPr>
        <p:spPr>
          <a:xfrm>
            <a:off x="876300" y="1557959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B82ABAD4-9FDC-894D-B24B-CAC5EC6200C7}"/>
              </a:ext>
            </a:extLst>
          </p:cNvPr>
          <p:cNvSpPr/>
          <p:nvPr/>
        </p:nvSpPr>
        <p:spPr>
          <a:xfrm>
            <a:off x="1863978" y="1557959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2068B</a:t>
            </a:r>
            <a:endParaRPr kumimoji="1" lang="zh-CN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144EA01-E79B-AF4C-9359-1226150F1C32}"/>
              </a:ext>
            </a:extLst>
          </p:cNvPr>
          <p:cNvSpPr txBox="1">
            <a:spLocks/>
          </p:cNvSpPr>
          <p:nvPr/>
        </p:nvSpPr>
        <p:spPr>
          <a:xfrm>
            <a:off x="2322448" y="2038676"/>
            <a:ext cx="1873250" cy="455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000" b="1" dirty="0"/>
              <a:t>IP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Payload</a:t>
            </a:r>
            <a:endParaRPr lang="en-US" altLang="zh-CN" sz="1800" b="1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A34CE17-A028-A044-834B-4FA18763ACA1}"/>
              </a:ext>
            </a:extLst>
          </p:cNvPr>
          <p:cNvSpPr txBox="1">
            <a:spLocks/>
          </p:cNvSpPr>
          <p:nvPr/>
        </p:nvSpPr>
        <p:spPr>
          <a:xfrm>
            <a:off x="4895850" y="1513804"/>
            <a:ext cx="5149850" cy="10525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IP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Datagram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(2048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+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20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+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20)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Bytes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IP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Payload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(2048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+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20)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Bytes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807064" y="2899069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442EDD3-CCC0-2A4A-A2F7-6405D866F078}"/>
              </a:ext>
            </a:extLst>
          </p:cNvPr>
          <p:cNvSpPr/>
          <p:nvPr/>
        </p:nvSpPr>
        <p:spPr>
          <a:xfrm>
            <a:off x="2124391" y="3847153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7BF68ED2-C477-0F46-A097-707BE13909BC}"/>
              </a:ext>
            </a:extLst>
          </p:cNvPr>
          <p:cNvSpPr/>
          <p:nvPr/>
        </p:nvSpPr>
        <p:spPr>
          <a:xfrm>
            <a:off x="3112069" y="3847153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731FD4CA-E640-CC44-BDDA-36094C936D8E}"/>
              </a:ext>
            </a:extLst>
          </p:cNvPr>
          <p:cNvSpPr/>
          <p:nvPr/>
        </p:nvSpPr>
        <p:spPr>
          <a:xfrm>
            <a:off x="2124391" y="4668014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4F5849F1-1B4A-3B41-967C-DDB337815D07}"/>
              </a:ext>
            </a:extLst>
          </p:cNvPr>
          <p:cNvSpPr/>
          <p:nvPr/>
        </p:nvSpPr>
        <p:spPr>
          <a:xfrm>
            <a:off x="3112069" y="4668014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6E579AAA-770E-0046-B843-F68934376E4A}"/>
              </a:ext>
            </a:extLst>
          </p:cNvPr>
          <p:cNvSpPr/>
          <p:nvPr/>
        </p:nvSpPr>
        <p:spPr>
          <a:xfrm>
            <a:off x="2124391" y="5500138"/>
            <a:ext cx="840022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644A2F66-7271-5148-AD9E-6CE2AD3270E0}"/>
              </a:ext>
            </a:extLst>
          </p:cNvPr>
          <p:cNvSpPr/>
          <p:nvPr/>
        </p:nvSpPr>
        <p:spPr>
          <a:xfrm>
            <a:off x="3112069" y="5500138"/>
            <a:ext cx="2167258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EA69996-AFF0-F341-A67A-FBB245BFDB66}"/>
              </a:ext>
            </a:extLst>
          </p:cNvPr>
          <p:cNvSpPr txBox="1">
            <a:spLocks/>
          </p:cNvSpPr>
          <p:nvPr/>
        </p:nvSpPr>
        <p:spPr>
          <a:xfrm>
            <a:off x="442958" y="3897884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</a:t>
            </a:r>
            <a:endParaRPr lang="en-US" altLang="zh-CN" sz="2000" b="1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CFDA49-9E71-8342-ADBB-0E73F4484F9F}"/>
              </a:ext>
            </a:extLst>
          </p:cNvPr>
          <p:cNvSpPr txBox="1">
            <a:spLocks/>
          </p:cNvSpPr>
          <p:nvPr/>
        </p:nvSpPr>
        <p:spPr>
          <a:xfrm>
            <a:off x="442958" y="4699011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</a:t>
            </a:r>
            <a:endParaRPr lang="en-US" altLang="zh-CN" sz="2000" b="1" dirty="0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EA69996-AFF0-F341-A67A-FBB245BFDB66}"/>
              </a:ext>
            </a:extLst>
          </p:cNvPr>
          <p:cNvSpPr txBox="1">
            <a:spLocks/>
          </p:cNvSpPr>
          <p:nvPr/>
        </p:nvSpPr>
        <p:spPr>
          <a:xfrm>
            <a:off x="442958" y="5519798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3</a:t>
            </a:r>
            <a:endParaRPr lang="en-US" altLang="zh-CN" sz="2000" b="1" dirty="0"/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AC2FF127-7B10-3441-91B1-E7D3C57854A4}"/>
              </a:ext>
            </a:extLst>
          </p:cNvPr>
          <p:cNvSpPr txBox="1">
            <a:spLocks/>
          </p:cNvSpPr>
          <p:nvPr/>
        </p:nvSpPr>
        <p:spPr>
          <a:xfrm>
            <a:off x="5488615" y="3897884"/>
            <a:ext cx="1533777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83CF991-2DF2-3646-9215-748917930759}"/>
              </a:ext>
            </a:extLst>
          </p:cNvPr>
          <p:cNvSpPr txBox="1">
            <a:spLocks/>
          </p:cNvSpPr>
          <p:nvPr/>
        </p:nvSpPr>
        <p:spPr>
          <a:xfrm>
            <a:off x="5488615" y="4668014"/>
            <a:ext cx="3402614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1000/8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=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AC2FF127-7B10-3441-91B1-E7D3C57854A4}"/>
              </a:ext>
            </a:extLst>
          </p:cNvPr>
          <p:cNvSpPr txBox="1">
            <a:spLocks/>
          </p:cNvSpPr>
          <p:nvPr/>
        </p:nvSpPr>
        <p:spPr>
          <a:xfrm>
            <a:off x="5488614" y="5493076"/>
            <a:ext cx="4963486" cy="4500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125+1000/8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=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250</a:t>
            </a:r>
            <a:r>
              <a:rPr lang="zh-CN" altLang="en-US" sz="2400" b="1" dirty="0"/>
              <a:t>  </a:t>
            </a:r>
            <a:endParaRPr lang="en-US" altLang="zh-CN" sz="2000" b="1" dirty="0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B07FACE4-917A-D34C-82D8-647AF5053076}"/>
              </a:ext>
            </a:extLst>
          </p:cNvPr>
          <p:cNvSpPr txBox="1">
            <a:spLocks/>
          </p:cNvSpPr>
          <p:nvPr/>
        </p:nvSpPr>
        <p:spPr>
          <a:xfrm>
            <a:off x="6735957" y="2718357"/>
            <a:ext cx="4310543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Fragmented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Payload:</a:t>
            </a:r>
            <a:endParaRPr lang="en-US" altLang="zh-CN" sz="2000" b="1" dirty="0"/>
          </a:p>
        </p:txBody>
      </p:sp>
    </p:spTree>
    <p:extLst>
      <p:ext uri="{BB962C8B-B14F-4D97-AF65-F5344CB8AC3E}">
        <p14:creationId xmlns:p14="http://schemas.microsoft.com/office/powerpoint/2010/main" val="102517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952500" y="132135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76E4121-46EF-304C-8A9A-EBC8C12BD25C}"/>
              </a:ext>
            </a:extLst>
          </p:cNvPr>
          <p:cNvSpPr txBox="1">
            <a:spLocks/>
          </p:cNvSpPr>
          <p:nvPr/>
        </p:nvSpPr>
        <p:spPr>
          <a:xfrm>
            <a:off x="6598264" y="129026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600" dirty="0"/>
              <a:t>Network</a:t>
            </a:r>
            <a:r>
              <a:rPr lang="zh-CN" altLang="en-US" sz="2600" dirty="0"/>
              <a:t> </a:t>
            </a:r>
            <a:r>
              <a:rPr lang="en-US" altLang="zh-CN" sz="2600" dirty="0"/>
              <a:t>2</a:t>
            </a:r>
            <a:r>
              <a:rPr lang="zh-CN" altLang="en-US" sz="2600" dirty="0"/>
              <a:t>     </a:t>
            </a:r>
            <a:r>
              <a:rPr lang="en-US" altLang="zh-CN" sz="2600" b="1" dirty="0"/>
              <a:t>MTU:</a:t>
            </a:r>
            <a:r>
              <a:rPr lang="zh-CN" altLang="en-US" sz="2600" b="1" dirty="0"/>
              <a:t> </a:t>
            </a:r>
            <a:r>
              <a:rPr lang="en-US" altLang="zh-CN" sz="2600" b="1" dirty="0"/>
              <a:t>512B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A4807F85-B733-7C4D-99B3-21DB167086BE}"/>
              </a:ext>
            </a:extLst>
          </p:cNvPr>
          <p:cNvSpPr/>
          <p:nvPr/>
        </p:nvSpPr>
        <p:spPr>
          <a:xfrm>
            <a:off x="5435176" y="1882610"/>
            <a:ext cx="1028700" cy="469900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1976660" y="1969015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2964338" y="1969015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0B902C41-03F2-DC42-BF94-EC36D446B864}"/>
              </a:ext>
            </a:extLst>
          </p:cNvPr>
          <p:cNvSpPr txBox="1">
            <a:spLocks/>
          </p:cNvSpPr>
          <p:nvPr/>
        </p:nvSpPr>
        <p:spPr>
          <a:xfrm>
            <a:off x="166587" y="1986104"/>
            <a:ext cx="1646021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</a:t>
            </a:r>
            <a:endParaRPr lang="en-US" altLang="zh-CN" sz="2000" b="1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4199757" y="1995605"/>
            <a:ext cx="1184474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0" name="圆角矩形 39">
            <a:extLst>
              <a:ext uri="{FF2B5EF4-FFF2-40B4-BE49-F238E27FC236}">
                <a16:creationId xmlns:a16="http://schemas.microsoft.com/office/drawing/2014/main" id="{1C3CDAA5-5D03-0C45-83CF-53ECF7A30418}"/>
              </a:ext>
            </a:extLst>
          </p:cNvPr>
          <p:cNvSpPr/>
          <p:nvPr/>
        </p:nvSpPr>
        <p:spPr>
          <a:xfrm>
            <a:off x="6862234" y="1919557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057C5068-2B00-0E4B-81EC-9ABBC6059EEB}"/>
              </a:ext>
            </a:extLst>
          </p:cNvPr>
          <p:cNvSpPr/>
          <p:nvPr/>
        </p:nvSpPr>
        <p:spPr>
          <a:xfrm>
            <a:off x="7849912" y="1919557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6BCF7533-92EB-554C-9438-929709CD5390}"/>
              </a:ext>
            </a:extLst>
          </p:cNvPr>
          <p:cNvSpPr txBox="1">
            <a:spLocks/>
          </p:cNvSpPr>
          <p:nvPr/>
        </p:nvSpPr>
        <p:spPr>
          <a:xfrm>
            <a:off x="9085331" y="1946147"/>
            <a:ext cx="1760470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4" name="圆角矩形 43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6862234" y="2654958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5" name="圆角矩形 44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7849912" y="2654958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085330" y="2681548"/>
            <a:ext cx="2306569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488/8=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61</a:t>
            </a:r>
            <a:endParaRPr lang="en-US" altLang="zh-CN" sz="2000" b="1" dirty="0"/>
          </a:p>
        </p:txBody>
      </p:sp>
      <p:sp>
        <p:nvSpPr>
          <p:cNvPr id="48" name="圆角矩形 47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6879168" y="3429681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7866846" y="3429681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24B</a:t>
            </a:r>
            <a:endParaRPr kumimoji="1" lang="zh-CN" altLang="en-US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102264" y="3456271"/>
            <a:ext cx="2289635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976/8=122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52" name="圆角矩形 51">
            <a:extLst>
              <a:ext uri="{FF2B5EF4-FFF2-40B4-BE49-F238E27FC236}">
                <a16:creationId xmlns:a16="http://schemas.microsoft.com/office/drawing/2014/main" id="{DD7F6E5C-297F-8844-AA5E-14BCAB0D6AEB}"/>
              </a:ext>
            </a:extLst>
          </p:cNvPr>
          <p:cNvSpPr/>
          <p:nvPr/>
        </p:nvSpPr>
        <p:spPr>
          <a:xfrm>
            <a:off x="824931" y="4661415"/>
            <a:ext cx="775721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53" name="圆角矩形 52">
            <a:extLst>
              <a:ext uri="{FF2B5EF4-FFF2-40B4-BE49-F238E27FC236}">
                <a16:creationId xmlns:a16="http://schemas.microsoft.com/office/drawing/2014/main" id="{592F6DAF-0A8B-0D45-9377-7CB34DB15B3C}"/>
              </a:ext>
            </a:extLst>
          </p:cNvPr>
          <p:cNvSpPr/>
          <p:nvPr/>
        </p:nvSpPr>
        <p:spPr>
          <a:xfrm>
            <a:off x="1812609" y="4661415"/>
            <a:ext cx="1023462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55" name="圆角矩形 54">
            <a:extLst>
              <a:ext uri="{FF2B5EF4-FFF2-40B4-BE49-F238E27FC236}">
                <a16:creationId xmlns:a16="http://schemas.microsoft.com/office/drawing/2014/main" id="{4CA270D9-D1BA-5241-9E22-1EA1CD3671FC}"/>
              </a:ext>
            </a:extLst>
          </p:cNvPr>
          <p:cNvSpPr/>
          <p:nvPr/>
        </p:nvSpPr>
        <p:spPr>
          <a:xfrm>
            <a:off x="3048027" y="4661415"/>
            <a:ext cx="1718443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Offset:</a:t>
            </a:r>
            <a:r>
              <a:rPr kumimoji="1" lang="zh-CN" altLang="en-US" dirty="0"/>
              <a:t> </a:t>
            </a:r>
            <a:r>
              <a:rPr kumimoji="1" lang="en-US" altLang="zh-CN" dirty="0"/>
              <a:t>125</a:t>
            </a:r>
            <a:endParaRPr kumimoji="1" lang="zh-CN" altLang="en-US" dirty="0"/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FEB82664-E4AB-A344-8319-0F9FEF9CD5EF}"/>
              </a:ext>
            </a:extLst>
          </p:cNvPr>
          <p:cNvSpPr/>
          <p:nvPr/>
        </p:nvSpPr>
        <p:spPr>
          <a:xfrm>
            <a:off x="824931" y="5355263"/>
            <a:ext cx="775721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57" name="圆角矩形 56">
            <a:extLst>
              <a:ext uri="{FF2B5EF4-FFF2-40B4-BE49-F238E27FC236}">
                <a16:creationId xmlns:a16="http://schemas.microsoft.com/office/drawing/2014/main" id="{6190CA80-8F21-9547-9A26-78B83B3A7A8C}"/>
              </a:ext>
            </a:extLst>
          </p:cNvPr>
          <p:cNvSpPr/>
          <p:nvPr/>
        </p:nvSpPr>
        <p:spPr>
          <a:xfrm>
            <a:off x="1812609" y="5355263"/>
            <a:ext cx="1023462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58" name="圆角矩形 57">
            <a:extLst>
              <a:ext uri="{FF2B5EF4-FFF2-40B4-BE49-F238E27FC236}">
                <a16:creationId xmlns:a16="http://schemas.microsoft.com/office/drawing/2014/main" id="{CC86929D-A37E-364E-A05B-8C8AA35F5350}"/>
              </a:ext>
            </a:extLst>
          </p:cNvPr>
          <p:cNvSpPr/>
          <p:nvPr/>
        </p:nvSpPr>
        <p:spPr>
          <a:xfrm>
            <a:off x="3048027" y="5355263"/>
            <a:ext cx="1718443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Offset:</a:t>
            </a:r>
            <a:r>
              <a:rPr kumimoji="1" lang="zh-CN" altLang="en-US" dirty="0"/>
              <a:t> </a:t>
            </a:r>
            <a:r>
              <a:rPr kumimoji="1" lang="en-US" altLang="zh-CN" dirty="0"/>
              <a:t>250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08535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952500" y="132135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76E4121-46EF-304C-8A9A-EBC8C12BD25C}"/>
              </a:ext>
            </a:extLst>
          </p:cNvPr>
          <p:cNvSpPr txBox="1">
            <a:spLocks/>
          </p:cNvSpPr>
          <p:nvPr/>
        </p:nvSpPr>
        <p:spPr>
          <a:xfrm>
            <a:off x="6991964" y="129026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600" dirty="0"/>
              <a:t>Network</a:t>
            </a:r>
            <a:r>
              <a:rPr lang="zh-CN" altLang="en-US" sz="2600" dirty="0"/>
              <a:t> </a:t>
            </a:r>
            <a:r>
              <a:rPr lang="en-US" altLang="zh-CN" sz="2600" dirty="0"/>
              <a:t>2</a:t>
            </a:r>
            <a:r>
              <a:rPr lang="zh-CN" altLang="en-US" sz="2600" dirty="0"/>
              <a:t>     </a:t>
            </a:r>
            <a:r>
              <a:rPr lang="en-US" altLang="zh-CN" sz="2600" b="1" dirty="0"/>
              <a:t>MTU:</a:t>
            </a:r>
            <a:r>
              <a:rPr lang="zh-CN" altLang="en-US" sz="2600" b="1" dirty="0"/>
              <a:t> </a:t>
            </a:r>
            <a:r>
              <a:rPr lang="en-US" altLang="zh-CN" sz="2600" b="1" dirty="0"/>
              <a:t>512B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A4807F85-B733-7C4D-99B3-21DB167086BE}"/>
              </a:ext>
            </a:extLst>
          </p:cNvPr>
          <p:cNvSpPr/>
          <p:nvPr/>
        </p:nvSpPr>
        <p:spPr>
          <a:xfrm>
            <a:off x="5752676" y="1882610"/>
            <a:ext cx="1028700" cy="469900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1976660" y="1969015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2964338" y="1969015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1000B</a:t>
            </a:r>
            <a:endParaRPr kumimoji="1" lang="zh-CN" alt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0B902C41-03F2-DC42-BF94-EC36D446B864}"/>
              </a:ext>
            </a:extLst>
          </p:cNvPr>
          <p:cNvSpPr txBox="1">
            <a:spLocks/>
          </p:cNvSpPr>
          <p:nvPr/>
        </p:nvSpPr>
        <p:spPr>
          <a:xfrm>
            <a:off x="166587" y="1986104"/>
            <a:ext cx="1646021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</a:t>
            </a:r>
            <a:endParaRPr lang="en-US" altLang="zh-CN" sz="2000" b="1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4199756" y="1995605"/>
            <a:ext cx="1552919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0" name="圆角矩形 39">
            <a:extLst>
              <a:ext uri="{FF2B5EF4-FFF2-40B4-BE49-F238E27FC236}">
                <a16:creationId xmlns:a16="http://schemas.microsoft.com/office/drawing/2014/main" id="{1C3CDAA5-5D03-0C45-83CF-53ECF7A30418}"/>
              </a:ext>
            </a:extLst>
          </p:cNvPr>
          <p:cNvSpPr/>
          <p:nvPr/>
        </p:nvSpPr>
        <p:spPr>
          <a:xfrm>
            <a:off x="7065434" y="1919557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057C5068-2B00-0E4B-81EC-9ABBC6059EEB}"/>
              </a:ext>
            </a:extLst>
          </p:cNvPr>
          <p:cNvSpPr/>
          <p:nvPr/>
        </p:nvSpPr>
        <p:spPr>
          <a:xfrm>
            <a:off x="8053112" y="1919557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6BCF7533-92EB-554C-9438-929709CD5390}"/>
              </a:ext>
            </a:extLst>
          </p:cNvPr>
          <p:cNvSpPr txBox="1">
            <a:spLocks/>
          </p:cNvSpPr>
          <p:nvPr/>
        </p:nvSpPr>
        <p:spPr>
          <a:xfrm>
            <a:off x="9288531" y="1946147"/>
            <a:ext cx="1760470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4" name="圆角矩形 43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7065434" y="2654958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5" name="圆角矩形 44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8053112" y="2654958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488B</a:t>
            </a:r>
            <a:endParaRPr kumimoji="1" lang="zh-CN" altLang="en-US" dirty="0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288530" y="2681548"/>
            <a:ext cx="2611370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125+61=186</a:t>
            </a:r>
            <a:endParaRPr lang="en-US" altLang="zh-CN" sz="2000" b="1" dirty="0"/>
          </a:p>
        </p:txBody>
      </p:sp>
      <p:sp>
        <p:nvSpPr>
          <p:cNvPr id="48" name="圆角矩形 47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7082368" y="3429681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8070046" y="3429681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dirty="0"/>
              <a:t>24B</a:t>
            </a:r>
            <a:endParaRPr kumimoji="1" lang="zh-CN" altLang="en-US" dirty="0"/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9305464" y="3456271"/>
            <a:ext cx="2823036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125+122=247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FEB82664-E4AB-A344-8319-0F9FEF9CD5EF}"/>
              </a:ext>
            </a:extLst>
          </p:cNvPr>
          <p:cNvSpPr/>
          <p:nvPr/>
        </p:nvSpPr>
        <p:spPr>
          <a:xfrm>
            <a:off x="1117439" y="4999663"/>
            <a:ext cx="775721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57" name="圆角矩形 56">
            <a:extLst>
              <a:ext uri="{FF2B5EF4-FFF2-40B4-BE49-F238E27FC236}">
                <a16:creationId xmlns:a16="http://schemas.microsoft.com/office/drawing/2014/main" id="{6190CA80-8F21-9547-9A26-78B83B3A7A8C}"/>
              </a:ext>
            </a:extLst>
          </p:cNvPr>
          <p:cNvSpPr/>
          <p:nvPr/>
        </p:nvSpPr>
        <p:spPr>
          <a:xfrm>
            <a:off x="2105117" y="4999663"/>
            <a:ext cx="1023462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58" name="圆角矩形 57">
            <a:extLst>
              <a:ext uri="{FF2B5EF4-FFF2-40B4-BE49-F238E27FC236}">
                <a16:creationId xmlns:a16="http://schemas.microsoft.com/office/drawing/2014/main" id="{CC86929D-A37E-364E-A05B-8C8AA35F5350}"/>
              </a:ext>
            </a:extLst>
          </p:cNvPr>
          <p:cNvSpPr/>
          <p:nvPr/>
        </p:nvSpPr>
        <p:spPr>
          <a:xfrm>
            <a:off x="3340535" y="4999663"/>
            <a:ext cx="1718443" cy="43596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Offset:</a:t>
            </a:r>
            <a:r>
              <a:rPr kumimoji="1" lang="zh-CN" altLang="en-US" dirty="0"/>
              <a:t> </a:t>
            </a:r>
            <a:r>
              <a:rPr kumimoji="1" lang="en-US" altLang="zh-CN" dirty="0"/>
              <a:t>250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31778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IP Fragmentation</a:t>
            </a:r>
            <a:endParaRPr lang="en-US" altLang="zh-CN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60BF8F0-923C-7E49-B6E2-E69E142B5EE1}"/>
              </a:ext>
            </a:extLst>
          </p:cNvPr>
          <p:cNvSpPr txBox="1">
            <a:spLocks/>
          </p:cNvSpPr>
          <p:nvPr/>
        </p:nvSpPr>
        <p:spPr>
          <a:xfrm>
            <a:off x="952500" y="132135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    </a:t>
            </a:r>
            <a:r>
              <a:rPr lang="en-US" altLang="zh-CN" b="1" dirty="0"/>
              <a:t>MTU:</a:t>
            </a:r>
            <a:r>
              <a:rPr lang="zh-CN" altLang="en-US" b="1" dirty="0"/>
              <a:t> </a:t>
            </a:r>
            <a:r>
              <a:rPr lang="en-US" altLang="zh-CN" b="1" dirty="0"/>
              <a:t>1024B</a:t>
            </a:r>
            <a:endParaRPr lang="en-US" altLang="zh-CN" sz="2400" b="1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76E4121-46EF-304C-8A9A-EBC8C12BD25C}"/>
              </a:ext>
            </a:extLst>
          </p:cNvPr>
          <p:cNvSpPr txBox="1">
            <a:spLocks/>
          </p:cNvSpPr>
          <p:nvPr/>
        </p:nvSpPr>
        <p:spPr>
          <a:xfrm>
            <a:off x="7334864" y="1290267"/>
            <a:ext cx="3752236" cy="538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600" dirty="0"/>
              <a:t>Network</a:t>
            </a:r>
            <a:r>
              <a:rPr lang="zh-CN" altLang="en-US" sz="2600" dirty="0"/>
              <a:t> </a:t>
            </a:r>
            <a:r>
              <a:rPr lang="en-US" altLang="zh-CN" sz="2600" dirty="0"/>
              <a:t>2</a:t>
            </a:r>
            <a:r>
              <a:rPr lang="zh-CN" altLang="en-US" sz="2600" dirty="0"/>
              <a:t>     </a:t>
            </a:r>
            <a:r>
              <a:rPr lang="en-US" altLang="zh-CN" sz="2600" b="1" dirty="0"/>
              <a:t>MTU:</a:t>
            </a:r>
            <a:r>
              <a:rPr lang="zh-CN" altLang="en-US" sz="2600" b="1" dirty="0"/>
              <a:t> </a:t>
            </a:r>
            <a:r>
              <a:rPr lang="en-US" altLang="zh-CN" sz="2600" b="1" dirty="0"/>
              <a:t>512B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A4807F85-B733-7C4D-99B3-21DB167086BE}"/>
              </a:ext>
            </a:extLst>
          </p:cNvPr>
          <p:cNvSpPr/>
          <p:nvPr/>
        </p:nvSpPr>
        <p:spPr>
          <a:xfrm>
            <a:off x="6171776" y="1882610"/>
            <a:ext cx="1028700" cy="469900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9745C7D0-F0FA-6E4C-89CC-F7CE650B56F6}"/>
              </a:ext>
            </a:extLst>
          </p:cNvPr>
          <p:cNvSpPr/>
          <p:nvPr/>
        </p:nvSpPr>
        <p:spPr>
          <a:xfrm>
            <a:off x="1976660" y="1969015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A758C430-D682-C646-8B66-4341DDBCEF6F}"/>
              </a:ext>
            </a:extLst>
          </p:cNvPr>
          <p:cNvSpPr/>
          <p:nvPr/>
        </p:nvSpPr>
        <p:spPr>
          <a:xfrm>
            <a:off x="2964338" y="1969015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0B902C41-03F2-DC42-BF94-EC36D446B864}"/>
              </a:ext>
            </a:extLst>
          </p:cNvPr>
          <p:cNvSpPr txBox="1">
            <a:spLocks/>
          </p:cNvSpPr>
          <p:nvPr/>
        </p:nvSpPr>
        <p:spPr>
          <a:xfrm>
            <a:off x="166587" y="1986104"/>
            <a:ext cx="1646021" cy="450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Fragment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3</a:t>
            </a:r>
            <a:endParaRPr lang="en-US" altLang="zh-CN" sz="2000" b="1" dirty="0"/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A1DA8869-B50B-DB4B-A832-B3328EBBE7CA}"/>
              </a:ext>
            </a:extLst>
          </p:cNvPr>
          <p:cNvSpPr txBox="1">
            <a:spLocks/>
          </p:cNvSpPr>
          <p:nvPr/>
        </p:nvSpPr>
        <p:spPr>
          <a:xfrm>
            <a:off x="4199756" y="1995605"/>
            <a:ext cx="1573661" cy="558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250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  <p:sp>
        <p:nvSpPr>
          <p:cNvPr id="40" name="圆角矩形 39">
            <a:extLst>
              <a:ext uri="{FF2B5EF4-FFF2-40B4-BE49-F238E27FC236}">
                <a16:creationId xmlns:a16="http://schemas.microsoft.com/office/drawing/2014/main" id="{1C3CDAA5-5D03-0C45-83CF-53ECF7A30418}"/>
              </a:ext>
            </a:extLst>
          </p:cNvPr>
          <p:cNvSpPr/>
          <p:nvPr/>
        </p:nvSpPr>
        <p:spPr>
          <a:xfrm>
            <a:off x="7598834" y="1919557"/>
            <a:ext cx="775721" cy="43596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20B</a:t>
            </a:r>
            <a:endParaRPr kumimoji="1" lang="zh-CN" altLang="en-US" dirty="0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057C5068-2B00-0E4B-81EC-9ABBC6059EEB}"/>
              </a:ext>
            </a:extLst>
          </p:cNvPr>
          <p:cNvSpPr/>
          <p:nvPr/>
        </p:nvSpPr>
        <p:spPr>
          <a:xfrm>
            <a:off x="8586512" y="1919557"/>
            <a:ext cx="1023462" cy="43596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68B</a:t>
            </a:r>
            <a:endParaRPr kumimoji="1" lang="zh-CN" alt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6BCF7533-92EB-554C-9438-929709CD5390}"/>
              </a:ext>
            </a:extLst>
          </p:cNvPr>
          <p:cNvSpPr txBox="1">
            <a:spLocks/>
          </p:cNvSpPr>
          <p:nvPr/>
        </p:nvSpPr>
        <p:spPr>
          <a:xfrm>
            <a:off x="9821931" y="1946147"/>
            <a:ext cx="1760470" cy="558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2400" b="1" dirty="0"/>
              <a:t>Offset: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250</a:t>
            </a:r>
            <a:r>
              <a:rPr lang="zh-CN" altLang="en-US" sz="2400" b="1" dirty="0"/>
              <a:t> </a:t>
            </a:r>
            <a:endParaRPr lang="en-US" altLang="zh-CN" sz="2000" b="1" dirty="0"/>
          </a:p>
        </p:txBody>
      </p:sp>
    </p:spTree>
    <p:extLst>
      <p:ext uri="{BB962C8B-B14F-4D97-AF65-F5344CB8AC3E}">
        <p14:creationId xmlns:p14="http://schemas.microsoft.com/office/powerpoint/2010/main" val="1908193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Q4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Forwarding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</a:t>
            </a:r>
            <a:endParaRPr lang="en-US" altLang="zh-CN" sz="5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934344D-3E9E-014A-90C0-8CBA0761A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02365"/>
            <a:ext cx="10512547" cy="4336425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3177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Q4 Forwarding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</a:t>
            </a:r>
            <a:endParaRPr lang="en-US" altLang="zh-CN" sz="5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BDB98C2-343C-A241-B81B-548C2C603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20631"/>
            <a:ext cx="10512547" cy="4099892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2769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Q4 Forwarding</a:t>
            </a:r>
            <a:r>
              <a:rPr lang="en-US" altLang="zh-CN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</a:t>
            </a:r>
            <a:endParaRPr lang="en-US" altLang="zh-CN" sz="5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2CD6899-14D2-6B4E-9446-1F5A7B43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02" y="1845426"/>
            <a:ext cx="9570543" cy="4450303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699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3042</TotalTime>
  <Words>433</Words>
  <Application>Microsoft Office PowerPoint</Application>
  <PresentationFormat>Widescreen</PresentationFormat>
  <Paragraphs>102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Office Theme</vt:lpstr>
      <vt:lpstr>CSCI 4430 – Spring 25</vt:lpstr>
      <vt:lpstr>Outline</vt:lpstr>
      <vt:lpstr>Q1 IP True or False </vt:lpstr>
      <vt:lpstr>Q2 IP MCQ </vt:lpstr>
      <vt:lpstr>Q3 IP Fragmentation </vt:lpstr>
      <vt:lpstr>Q3 IP Fragmentation</vt:lpstr>
      <vt:lpstr>Q3 IP Fragmentation</vt:lpstr>
      <vt:lpstr>Q3 IP Fragmentation</vt:lpstr>
      <vt:lpstr>Q3 IP Fragmentation</vt:lpstr>
      <vt:lpstr>Q4 Forwarding Table</vt:lpstr>
      <vt:lpstr>Q4 Forwarding Table</vt:lpstr>
      <vt:lpstr>Q4 Forwarding Table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Shaofeng Wu</cp:lastModifiedBy>
  <cp:revision>507</cp:revision>
  <dcterms:created xsi:type="dcterms:W3CDTF">2022-01-09T08:27:06Z</dcterms:created>
  <dcterms:modified xsi:type="dcterms:W3CDTF">2025-03-18T15:45:27Z</dcterms:modified>
</cp:coreProperties>
</file>